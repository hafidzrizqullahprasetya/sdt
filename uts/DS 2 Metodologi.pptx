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612" r:id="rId3"/>
    <p:sldId id="613" r:id="rId4"/>
    <p:sldId id="633" r:id="rId5"/>
    <p:sldId id="634" r:id="rId6"/>
    <p:sldId id="614" r:id="rId7"/>
    <p:sldId id="635" r:id="rId8"/>
    <p:sldId id="636" r:id="rId9"/>
    <p:sldId id="615" r:id="rId10"/>
    <p:sldId id="616" r:id="rId11"/>
    <p:sldId id="617" r:id="rId12"/>
    <p:sldId id="618" r:id="rId13"/>
    <p:sldId id="619" r:id="rId14"/>
    <p:sldId id="620" r:id="rId15"/>
    <p:sldId id="621" r:id="rId16"/>
    <p:sldId id="622" r:id="rId17"/>
    <p:sldId id="637" r:id="rId18"/>
    <p:sldId id="623" r:id="rId19"/>
    <p:sldId id="258" r:id="rId20"/>
    <p:sldId id="624" r:id="rId21"/>
    <p:sldId id="259" r:id="rId22"/>
    <p:sldId id="274" r:id="rId23"/>
    <p:sldId id="275" r:id="rId24"/>
    <p:sldId id="276" r:id="rId25"/>
    <p:sldId id="277" r:id="rId26"/>
    <p:sldId id="638" r:id="rId27"/>
    <p:sldId id="639" r:id="rId28"/>
    <p:sldId id="626" r:id="rId29"/>
    <p:sldId id="627" r:id="rId30"/>
    <p:sldId id="628" r:id="rId31"/>
    <p:sldId id="629" r:id="rId32"/>
    <p:sldId id="605" r:id="rId33"/>
    <p:sldId id="630" r:id="rId34"/>
    <p:sldId id="631" r:id="rId35"/>
    <p:sldId id="659" r:id="rId36"/>
    <p:sldId id="661" r:id="rId37"/>
    <p:sldId id="662" r:id="rId38"/>
    <p:sldId id="641" r:id="rId39"/>
    <p:sldId id="643" r:id="rId40"/>
    <p:sldId id="644" r:id="rId41"/>
    <p:sldId id="660" r:id="rId42"/>
    <p:sldId id="646" r:id="rId43"/>
    <p:sldId id="651" r:id="rId44"/>
    <p:sldId id="647" r:id="rId45"/>
    <p:sldId id="648" r:id="rId46"/>
    <p:sldId id="649" r:id="rId47"/>
    <p:sldId id="650" r:id="rId48"/>
    <p:sldId id="652" r:id="rId49"/>
    <p:sldId id="653" r:id="rId50"/>
    <p:sldId id="654" r:id="rId51"/>
    <p:sldId id="655" r:id="rId52"/>
    <p:sldId id="656" r:id="rId53"/>
    <p:sldId id="657" r:id="rId54"/>
    <p:sldId id="658" r:id="rId55"/>
    <p:sldId id="366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76340" autoAdjust="0"/>
  </p:normalViewPr>
  <p:slideViewPr>
    <p:cSldViewPr snapToGrid="0">
      <p:cViewPr varScale="1">
        <p:scale>
          <a:sx n="63" d="100"/>
          <a:sy n="63" d="100"/>
        </p:scale>
        <p:origin x="14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D5B8C-23F7-4E91-B259-614B167A5F0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030B7-44DA-4342-8AD0-73CA5C2F3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87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meniru</a:t>
            </a:r>
            <a:r>
              <a:rPr lang="en-US" dirty="0"/>
              <a:t> proses </a:t>
            </a:r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</a:t>
            </a:r>
            <a:r>
              <a:rPr lang="en-US" dirty="0" err="1"/>
              <a:t>manusia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6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28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97F3C-6B5F-ED2B-598B-7F0B64826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03B79B-B4E0-353B-EDED-B1DAE802F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6EAE55-DB38-2EFB-E8C8-A6485D475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85C6F-ED65-5874-E89D-D6F2ED284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19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Gartner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b="1" dirty="0" err="1"/>
              <a:t>perusahaan</a:t>
            </a:r>
            <a:r>
              <a:rPr lang="en-US" b="1" dirty="0"/>
              <a:t> </a:t>
            </a:r>
            <a:r>
              <a:rPr lang="en-US" b="1" dirty="0" err="1"/>
              <a:t>riset</a:t>
            </a:r>
            <a:r>
              <a:rPr lang="en-US" b="1" dirty="0"/>
              <a:t> dan </a:t>
            </a:r>
            <a:r>
              <a:rPr lang="en-US" b="1" dirty="0" err="1"/>
              <a:t>konsultan</a:t>
            </a:r>
            <a:r>
              <a:rPr lang="en-US" b="1" dirty="0"/>
              <a:t> </a:t>
            </a:r>
            <a:r>
              <a:rPr lang="en-US" b="1" dirty="0" err="1"/>
              <a:t>teknologi</a:t>
            </a:r>
            <a:r>
              <a:rPr lang="en-US" b="1" dirty="0"/>
              <a:t> </a:t>
            </a:r>
            <a:r>
              <a:rPr lang="en-US" b="1" dirty="0" err="1"/>
              <a:t>informasi</a:t>
            </a:r>
            <a:r>
              <a:rPr lang="en-US" b="1" dirty="0"/>
              <a:t> (TI) global</a:t>
            </a:r>
            <a:r>
              <a:rPr lang="en-US" dirty="0"/>
              <a:t> yang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, </a:t>
            </a:r>
            <a:r>
              <a:rPr lang="en-US" dirty="0" err="1"/>
              <a:t>bisnis</a:t>
            </a:r>
            <a:r>
              <a:rPr lang="en-US" dirty="0"/>
              <a:t>, dan </a:t>
            </a:r>
            <a:r>
              <a:rPr lang="en-US" dirty="0" err="1"/>
              <a:t>transformasi</a:t>
            </a:r>
            <a:r>
              <a:rPr lang="en-US" dirty="0"/>
              <a:t> digital.</a:t>
            </a:r>
          </a:p>
          <a:p>
            <a:r>
              <a:rPr lang="en-US" dirty="0"/>
              <a:t>1. 85% </a:t>
            </a:r>
            <a:r>
              <a:rPr lang="en-US" dirty="0" err="1"/>
              <a:t>proyek</a:t>
            </a:r>
            <a:r>
              <a:rPr lang="en-US" dirty="0"/>
              <a:t> Big Data </a:t>
            </a:r>
            <a:r>
              <a:rPr lang="en-US" dirty="0" err="1"/>
              <a:t>gagal</a:t>
            </a:r>
            <a:r>
              <a:rPr lang="en-US" dirty="0"/>
              <a:t> (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factor)</a:t>
            </a:r>
          </a:p>
          <a:p>
            <a:r>
              <a:rPr lang="en-US" dirty="0"/>
              <a:t>2. </a:t>
            </a:r>
            <a:r>
              <a:rPr lang="en-US" dirty="0" err="1"/>
              <a:t>sebagian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proyek</a:t>
            </a:r>
            <a:r>
              <a:rPr lang="en-US" dirty="0"/>
              <a:t> AI </a:t>
            </a:r>
            <a:r>
              <a:rPr lang="en-US" dirty="0" err="1"/>
              <a:t>diperkirakan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bergantung</a:t>
            </a:r>
            <a:r>
              <a:rPr lang="en-US" dirty="0"/>
              <a:t> pada </a:t>
            </a:r>
            <a:r>
              <a:rPr lang="en-US" b="1" dirty="0"/>
              <a:t>orang-orang </a:t>
            </a:r>
            <a:r>
              <a:rPr lang="en-US" b="1" dirty="0" err="1"/>
              <a:t>tertentu</a:t>
            </a:r>
            <a:r>
              <a:rPr lang="en-US" b="1" dirty="0"/>
              <a:t> yang sangat </a:t>
            </a:r>
            <a:r>
              <a:rPr lang="en-US" b="1" dirty="0" err="1"/>
              <a:t>ahli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prosesnya</a:t>
            </a:r>
            <a:r>
              <a:rPr lang="en-US" dirty="0"/>
              <a:t>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sistematis</a:t>
            </a:r>
            <a:r>
              <a:rPr lang="en-US" dirty="0"/>
              <a:t> dan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direplikasi</a:t>
            </a:r>
            <a:r>
              <a:rPr lang="en-US" dirty="0"/>
              <a:t>.</a:t>
            </a:r>
          </a:p>
          <a:p>
            <a:r>
              <a:rPr lang="en-US" dirty="0"/>
              <a:t>“Model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bagus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Andi yang </a:t>
            </a:r>
            <a:r>
              <a:rPr lang="en-US" dirty="0" err="1"/>
              <a:t>mengerjakannya</a:t>
            </a:r>
            <a:r>
              <a:rPr lang="en-US" dirty="0"/>
              <a:t>.”</a:t>
            </a:r>
          </a:p>
          <a:p>
            <a:r>
              <a:rPr lang="en-US" dirty="0"/>
              <a:t>“AI yang </a:t>
            </a:r>
            <a:r>
              <a:rPr lang="en-US" dirty="0" err="1"/>
              <a:t>dibuat</a:t>
            </a:r>
            <a:r>
              <a:rPr lang="en-US" dirty="0"/>
              <a:t> oleh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ahli</a:t>
            </a:r>
            <a:r>
              <a:rPr lang="en-US" dirty="0"/>
              <a:t>”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“AI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dikembangkan</a:t>
            </a:r>
            <a:r>
              <a:rPr lang="en-US" dirty="0"/>
              <a:t> dan </a:t>
            </a:r>
            <a:r>
              <a:rPr lang="en-US" dirty="0" err="1"/>
              <a:t>dikelola</a:t>
            </a:r>
            <a:r>
              <a:rPr lang="en-US" dirty="0"/>
              <a:t> oleh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organisasi</a:t>
            </a:r>
            <a:r>
              <a:rPr lang="en-US" dirty="0"/>
              <a:t>.”</a:t>
            </a:r>
          </a:p>
          <a:p>
            <a:r>
              <a:rPr lang="en-US" dirty="0"/>
              <a:t>3.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organisasi</a:t>
            </a:r>
            <a:r>
              <a:rPr lang="en-US" dirty="0"/>
              <a:t> </a:t>
            </a:r>
            <a:r>
              <a:rPr lang="en-US" dirty="0" err="1"/>
              <a:t>mungkin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b="1" dirty="0" err="1"/>
              <a:t>banyak</a:t>
            </a:r>
            <a:r>
              <a:rPr lang="en-US" b="1" dirty="0"/>
              <a:t> insight </a:t>
            </a:r>
            <a:r>
              <a:rPr lang="en-US" b="1" dirty="0" err="1"/>
              <a:t>dari</a:t>
            </a:r>
            <a:r>
              <a:rPr lang="en-US" b="1" dirty="0"/>
              <a:t> data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sebagian</a:t>
            </a:r>
            <a:r>
              <a:rPr lang="en-US" dirty="0"/>
              <a:t> yang </a:t>
            </a:r>
            <a:r>
              <a:rPr lang="en-US" dirty="0" err="1"/>
              <a:t>benar-benar</a:t>
            </a:r>
            <a:r>
              <a:rPr lang="en-US" dirty="0"/>
              <a:t>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dampak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.</a:t>
            </a:r>
          </a:p>
          <a:p>
            <a:r>
              <a:rPr lang="en-US" b="1" dirty="0"/>
              <a:t>insight :</a:t>
            </a:r>
            <a:endParaRPr lang="en-US" dirty="0"/>
          </a:p>
          <a:p>
            <a:r>
              <a:rPr lang="en-US" dirty="0"/>
              <a:t>4.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51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Data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dikumpulkan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Data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</a:t>
            </a:r>
            <a:r>
              <a:rPr lang="en-US" dirty="0" err="1"/>
              <a:t>kualitasnya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Hasil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pengambilan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Proyek</a:t>
            </a:r>
            <a:r>
              <a:rPr lang="en-US" dirty="0"/>
              <a:t> </a:t>
            </a:r>
            <a:r>
              <a:rPr lang="en-US" dirty="0" err="1"/>
              <a:t>berhenti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prototype. </a:t>
            </a:r>
          </a:p>
          <a:p>
            <a:pPr lvl="0"/>
            <a:r>
              <a:rPr lang="en-US" dirty="0"/>
              <a:t>Tidak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integrasi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96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sebagian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proyek</a:t>
            </a:r>
            <a:r>
              <a:rPr lang="en-US" dirty="0"/>
              <a:t> AI </a:t>
            </a:r>
            <a:r>
              <a:rPr lang="en-US" dirty="0" err="1"/>
              <a:t>diperkirakan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bergantung</a:t>
            </a:r>
            <a:r>
              <a:rPr lang="en-US" dirty="0"/>
              <a:t> pada </a:t>
            </a:r>
            <a:r>
              <a:rPr lang="en-US" b="1" dirty="0"/>
              <a:t>orang-orang </a:t>
            </a:r>
            <a:r>
              <a:rPr lang="en-US" b="1" dirty="0" err="1"/>
              <a:t>tertentu</a:t>
            </a:r>
            <a:r>
              <a:rPr lang="en-US" b="1" dirty="0"/>
              <a:t> yang sangat </a:t>
            </a:r>
            <a:r>
              <a:rPr lang="en-US" b="1" dirty="0" err="1"/>
              <a:t>ahli</a:t>
            </a:r>
            <a:r>
              <a:rPr lang="en-US" dirty="0"/>
              <a:t>, </a:t>
            </a:r>
          </a:p>
          <a:p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prosesnya</a:t>
            </a:r>
            <a:r>
              <a:rPr lang="en-US" dirty="0"/>
              <a:t>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sistematis</a:t>
            </a:r>
            <a:r>
              <a:rPr lang="en-US" dirty="0"/>
              <a:t> dan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direplikasi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10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menarik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b="1" dirty="0"/>
              <a:t>92% </a:t>
            </a:r>
            <a:r>
              <a:rPr lang="en-US" b="1" dirty="0" err="1"/>
              <a:t>sudah</a:t>
            </a:r>
            <a:r>
              <a:rPr lang="en-US" b="1" dirty="0"/>
              <a:t> </a:t>
            </a:r>
            <a:r>
              <a:rPr lang="en-US" b="1" dirty="0" err="1"/>
              <a:t>berinvestasi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b="1" dirty="0"/>
              <a:t>78% </a:t>
            </a:r>
            <a:r>
              <a:rPr lang="en-US" b="1" dirty="0" err="1"/>
              <a:t>masih</a:t>
            </a:r>
            <a:r>
              <a:rPr lang="en-US" b="1" dirty="0"/>
              <a:t> </a:t>
            </a:r>
            <a:r>
              <a:rPr lang="en-US" b="1" dirty="0" err="1"/>
              <a:t>mengalami</a:t>
            </a:r>
            <a:r>
              <a:rPr lang="en-US" b="1" dirty="0"/>
              <a:t> </a:t>
            </a:r>
            <a:r>
              <a:rPr lang="en-US" b="1" dirty="0" err="1"/>
              <a:t>kegagalan</a:t>
            </a:r>
            <a:r>
              <a:rPr lang="en-US" b="1" dirty="0"/>
              <a:t> </a:t>
            </a:r>
            <a:r>
              <a:rPr lang="en-US" b="1" dirty="0" err="1"/>
              <a:t>atau</a:t>
            </a:r>
            <a:r>
              <a:rPr lang="en-US" b="1" dirty="0"/>
              <a:t> </a:t>
            </a:r>
            <a:r>
              <a:rPr lang="en-US" b="1" dirty="0" err="1"/>
              <a:t>tidak</a:t>
            </a:r>
            <a:r>
              <a:rPr lang="en-US" b="1" dirty="0"/>
              <a:t> </a:t>
            </a:r>
            <a:r>
              <a:rPr lang="en-US" b="1" dirty="0" err="1"/>
              <a:t>berhasil</a:t>
            </a:r>
            <a:r>
              <a:rPr lang="en-US" b="1" dirty="0"/>
              <a:t> </a:t>
            </a:r>
            <a:r>
              <a:rPr lang="en-US" b="1" dirty="0" err="1"/>
              <a:t>membawa</a:t>
            </a:r>
            <a:r>
              <a:rPr lang="en-US" b="1" dirty="0"/>
              <a:t> </a:t>
            </a:r>
            <a:r>
              <a:rPr lang="en-US" b="1" dirty="0" err="1"/>
              <a:t>proyek</a:t>
            </a:r>
            <a:r>
              <a:rPr lang="en-US" b="1" dirty="0"/>
              <a:t> </a:t>
            </a:r>
            <a:r>
              <a:rPr lang="en-US" b="1" dirty="0" err="1"/>
              <a:t>melewati</a:t>
            </a:r>
            <a:r>
              <a:rPr lang="en-US" b="1" dirty="0"/>
              <a:t> </a:t>
            </a:r>
            <a:r>
              <a:rPr lang="en-US" b="1" dirty="0" err="1"/>
              <a:t>tahap</a:t>
            </a:r>
            <a:r>
              <a:rPr lang="en-US" b="1" dirty="0"/>
              <a:t> pilot</a:t>
            </a:r>
            <a:r>
              <a:rPr lang="en-US" dirty="0"/>
              <a:t>.</a:t>
            </a:r>
          </a:p>
          <a:p>
            <a:r>
              <a:rPr lang="en-US" b="1" dirty="0"/>
              <a:t>35% → </a:t>
            </a:r>
            <a:r>
              <a:rPr lang="en-US" b="1" dirty="0" err="1"/>
              <a:t>gagal</a:t>
            </a:r>
            <a:br>
              <a:rPr lang="en-US" dirty="0"/>
            </a:br>
            <a:r>
              <a:rPr lang="en-US" b="1" dirty="0"/>
              <a:t>43% → </a:t>
            </a:r>
            <a:r>
              <a:rPr lang="en-US" b="1" dirty="0" err="1"/>
              <a:t>masih</a:t>
            </a:r>
            <a:r>
              <a:rPr lang="en-US" b="1" dirty="0"/>
              <a:t> stuck di pilot</a:t>
            </a:r>
            <a:br>
              <a:rPr lang="en-US" dirty="0"/>
            </a:br>
            <a:r>
              <a:rPr lang="en-US" b="1" dirty="0"/>
              <a:t>22% → </a:t>
            </a:r>
            <a:r>
              <a:rPr lang="en-US" b="1" dirty="0" err="1"/>
              <a:t>berhasil</a:t>
            </a:r>
            <a:r>
              <a:rPr lang="en-US" b="1" dirty="0"/>
              <a:t> </a:t>
            </a:r>
            <a:r>
              <a:rPr lang="en-US" b="1" dirty="0" err="1"/>
              <a:t>melewati</a:t>
            </a:r>
            <a:r>
              <a:rPr lang="en-US" b="1" dirty="0"/>
              <a:t> </a:t>
            </a:r>
            <a:r>
              <a:rPr lang="en-US" b="1" dirty="0" err="1"/>
              <a:t>kondisi</a:t>
            </a:r>
            <a:r>
              <a:rPr lang="en-US" b="1" dirty="0"/>
              <a:t> </a:t>
            </a:r>
            <a:r>
              <a:rPr lang="en-US" b="1" dirty="0" err="1"/>
              <a:t>tersebut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perusahaan</a:t>
            </a:r>
            <a:r>
              <a:rPr lang="en-US" dirty="0"/>
              <a:t> </a:t>
            </a:r>
            <a:r>
              <a:rPr lang="en-US" dirty="0" err="1"/>
              <a:t>tertarik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AI?”</a:t>
            </a:r>
          </a:p>
          <a:p>
            <a:r>
              <a:rPr lang="en-US" dirty="0"/>
              <a:t>“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investasi</a:t>
            </a:r>
            <a:r>
              <a:rPr lang="en-US" dirty="0"/>
              <a:t> AI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solusi</a:t>
            </a:r>
            <a:r>
              <a:rPr lang="en-US" dirty="0"/>
              <a:t> yang </a:t>
            </a:r>
            <a:r>
              <a:rPr lang="en-US" dirty="0" err="1"/>
              <a:t>benar-benar</a:t>
            </a:r>
            <a:r>
              <a:rPr lang="en-US" dirty="0"/>
              <a:t> </a:t>
            </a:r>
            <a:r>
              <a:rPr lang="en-US" dirty="0" err="1"/>
              <a:t>berjalan</a:t>
            </a:r>
            <a:r>
              <a:rPr lang="en-US" dirty="0"/>
              <a:t> dan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41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0D295-BE39-32F4-9F05-5E44044E9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20CF1-18DB-5D8F-6386-EEF093515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CAE4A-D464-84A2-98CD-72A2D4999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3A4E1-E936-B508-6A1E-68ECC1D713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22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Skip the research:</a:t>
            </a:r>
            <a:r>
              <a:rPr lang="en-US" dirty="0"/>
              <a:t> </a:t>
            </a:r>
            <a:r>
              <a:rPr lang="en-US" dirty="0" err="1"/>
              <a:t>Lewati</a:t>
            </a:r>
            <a:r>
              <a:rPr lang="en-US" dirty="0"/>
              <a:t> </a:t>
            </a:r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riset</a:t>
            </a:r>
            <a:r>
              <a:rPr lang="en-US" dirty="0"/>
              <a:t>/</a:t>
            </a:r>
            <a:r>
              <a:rPr lang="en-US" dirty="0" err="1"/>
              <a:t>penelitian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Go straight to coding: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meluncur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koding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No documentations: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membaca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dokumentasi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Ignoring constraints:</a:t>
            </a:r>
            <a:r>
              <a:rPr lang="en-US" dirty="0"/>
              <a:t> </a:t>
            </a:r>
            <a:r>
              <a:rPr lang="en-US" dirty="0" err="1"/>
              <a:t>Mengabaikan</a:t>
            </a:r>
            <a:r>
              <a:rPr lang="en-US" dirty="0"/>
              <a:t> </a:t>
            </a:r>
            <a:r>
              <a:rPr lang="en-US" dirty="0" err="1"/>
              <a:t>batasan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kendala</a:t>
            </a:r>
            <a:r>
              <a:rPr lang="en-US" dirty="0"/>
              <a:t> yang </a:t>
            </a:r>
            <a:r>
              <a:rPr lang="en-US" dirty="0" err="1"/>
              <a:t>ada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Insisting on doing state-of-the-arts:</a:t>
            </a:r>
            <a:r>
              <a:rPr lang="en-US" dirty="0"/>
              <a:t> </a:t>
            </a:r>
            <a:r>
              <a:rPr lang="en-US" dirty="0" err="1"/>
              <a:t>Ngotot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/</a:t>
            </a:r>
            <a:r>
              <a:rPr lang="en-US" dirty="0" err="1"/>
              <a:t>teknologi</a:t>
            </a:r>
            <a:r>
              <a:rPr lang="en-US" dirty="0"/>
              <a:t> paling </a:t>
            </a:r>
            <a:r>
              <a:rPr lang="en-US" dirty="0" err="1"/>
              <a:t>mutakhir</a:t>
            </a:r>
            <a:r>
              <a:rPr lang="en-US" dirty="0"/>
              <a:t> (</a:t>
            </a:r>
            <a:r>
              <a:rPr lang="en-US" i="1" dirty="0"/>
              <a:t>state-of-the-art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363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8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0" name="Google Shape;330;p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9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" name="Google Shape;340;p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0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" name="Google Shape;349;p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1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8" name="Google Shape;358;p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Process Model and Notation (BPMN)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global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notasi</a:t>
            </a:r>
            <a:r>
              <a:rPr lang="en-US" dirty="0"/>
              <a:t> </a:t>
            </a:r>
            <a:r>
              <a:rPr lang="en-US" dirty="0" err="1"/>
              <a:t>grafis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memetakan</a:t>
            </a:r>
            <a:r>
              <a:rPr lang="en-US" dirty="0"/>
              <a:t> dan </a:t>
            </a:r>
            <a:r>
              <a:rPr lang="en-US" dirty="0" err="1"/>
              <a:t>memvisualisasikan</a:t>
            </a:r>
            <a:r>
              <a:rPr lang="en-US" dirty="0"/>
              <a:t> </a:t>
            </a:r>
            <a:r>
              <a:rPr lang="en-US" dirty="0" err="1"/>
              <a:t>alur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proses </a:t>
            </a:r>
            <a:r>
              <a:rPr lang="en-US" dirty="0" err="1"/>
              <a:t>bisnis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terstruktur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19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BEC70-1590-3D56-B558-53AD2DE59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F62CE-B625-50D7-5F55-843D10D26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88B43-87CF-2A60-5A6F-386CD0B16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84868-E893-DACE-7401-D37FC31F4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11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32000" marR="0" lvl="0" indent="-323278" algn="l" rtl="0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●"/>
            </a:pPr>
            <a:r>
              <a:rPr lang="sv-SE" sz="12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Bagi pengembang baru akan memudahkan</a:t>
            </a:r>
            <a:endParaRPr lang="sv-SE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3278" algn="l" rtl="0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●"/>
            </a:pPr>
            <a:r>
              <a:rPr lang="sv-SE" sz="12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Menunjukkan maturitas pekerjaan data mining</a:t>
            </a:r>
            <a:endParaRPr lang="sv-SE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3278" algn="l" rtl="0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●"/>
            </a:pPr>
            <a:r>
              <a:rPr lang="sv-SE" sz="12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Meminimalkan ke</a:t>
            </a:r>
            <a:r>
              <a:rPr lang="sv-SE" sz="1200" dirty="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sv-SE" sz="12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ergantungan pada personal utama</a:t>
            </a:r>
            <a:endParaRPr lang="sv-SE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85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SEMMA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SAS Institute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054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Non-proprietary: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terbuka</a:t>
            </a:r>
            <a:r>
              <a:rPr lang="en-US" dirty="0"/>
              <a:t> yang </a:t>
            </a:r>
            <a:r>
              <a:rPr lang="en-US" dirty="0" err="1"/>
              <a:t>bebas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oleh </a:t>
            </a:r>
            <a:r>
              <a:rPr lang="en-US" dirty="0" err="1"/>
              <a:t>siapa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terikat</a:t>
            </a:r>
            <a:r>
              <a:rPr lang="en-US" dirty="0"/>
              <a:t> </a:t>
            </a:r>
            <a:r>
              <a:rPr lang="en-US" dirty="0" err="1"/>
              <a:t>lisensi</a:t>
            </a:r>
            <a:r>
              <a:rPr lang="en-US" dirty="0"/>
              <a:t> vendor </a:t>
            </a:r>
            <a:r>
              <a:rPr lang="en-US" dirty="0" err="1"/>
              <a:t>tertentu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Aplikasi</a:t>
            </a:r>
            <a:r>
              <a:rPr lang="en-US" b="1" dirty="0"/>
              <a:t> &amp; Alat </a:t>
            </a:r>
            <a:r>
              <a:rPr lang="en-US" b="1" dirty="0" err="1"/>
              <a:t>Netral</a:t>
            </a:r>
            <a:r>
              <a:rPr lang="en-US" b="1" dirty="0"/>
              <a:t> (</a:t>
            </a:r>
            <a:r>
              <a:rPr lang="en-US" b="1" i="1" dirty="0"/>
              <a:t>Industry &amp; Tool Neutral</a:t>
            </a:r>
            <a:r>
              <a:rPr lang="en-US" b="1" dirty="0"/>
              <a:t>):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diterapkan</a:t>
            </a:r>
            <a:r>
              <a:rPr lang="en-US" dirty="0"/>
              <a:t> di </a:t>
            </a:r>
            <a:r>
              <a:rPr lang="en-US" dirty="0" err="1"/>
              <a:t>sektor</a:t>
            </a:r>
            <a:r>
              <a:rPr lang="en-US" dirty="0"/>
              <a:t> </a:t>
            </a:r>
            <a:r>
              <a:rPr lang="en-US" dirty="0" err="1"/>
              <a:t>industri</a:t>
            </a:r>
            <a:r>
              <a:rPr lang="en-US" dirty="0"/>
              <a:t> mana pun (</a:t>
            </a:r>
            <a:r>
              <a:rPr lang="en-US" dirty="0" err="1"/>
              <a:t>keuangan</a:t>
            </a:r>
            <a:r>
              <a:rPr lang="en-US" dirty="0"/>
              <a:t>, </a:t>
            </a:r>
            <a:r>
              <a:rPr lang="en-US" dirty="0" err="1"/>
              <a:t>kesehatan</a:t>
            </a:r>
            <a:r>
              <a:rPr lang="en-US" dirty="0"/>
              <a:t>, e-commerce)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pun (Python, R, SQL, Tableau, </a:t>
            </a:r>
            <a:r>
              <a:rPr lang="en-US" dirty="0" err="1"/>
              <a:t>dll</a:t>
            </a:r>
            <a:r>
              <a:rPr lang="en-US" dirty="0"/>
              <a:t>.).</a:t>
            </a:r>
          </a:p>
          <a:p>
            <a:pPr lvl="0"/>
            <a:r>
              <a:rPr lang="en-US" b="1" dirty="0" err="1"/>
              <a:t>Fokus</a:t>
            </a:r>
            <a:r>
              <a:rPr lang="en-US" b="1" dirty="0"/>
              <a:t> pada </a:t>
            </a:r>
            <a:r>
              <a:rPr lang="en-US" b="1" dirty="0" err="1"/>
              <a:t>Masalah</a:t>
            </a:r>
            <a:r>
              <a:rPr lang="en-US" b="1" dirty="0"/>
              <a:t> </a:t>
            </a:r>
            <a:r>
              <a:rPr lang="en-US" b="1" dirty="0" err="1"/>
              <a:t>Bisnis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Mengintegrasikan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teknis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solusi</a:t>
            </a:r>
            <a:r>
              <a:rPr lang="en-US" dirty="0"/>
              <a:t> </a:t>
            </a:r>
            <a:r>
              <a:rPr lang="en-US" dirty="0" err="1"/>
              <a:t>nyata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Panduan </a:t>
            </a:r>
            <a:r>
              <a:rPr lang="en-US" b="1" dirty="0" err="1"/>
              <a:t>Berbasis</a:t>
            </a:r>
            <a:r>
              <a:rPr lang="en-US" b="1" dirty="0"/>
              <a:t> </a:t>
            </a:r>
            <a:r>
              <a:rPr lang="en-US" b="1" dirty="0" err="1"/>
              <a:t>Pengalaman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cetak</a:t>
            </a:r>
            <a:r>
              <a:rPr lang="en-US" dirty="0"/>
              <a:t> </a:t>
            </a:r>
            <a:r>
              <a:rPr lang="en-US" dirty="0" err="1"/>
              <a:t>biru</a:t>
            </a:r>
            <a:r>
              <a:rPr lang="en-US" dirty="0"/>
              <a:t> (</a:t>
            </a:r>
            <a:r>
              <a:rPr lang="en-US" i="1" dirty="0"/>
              <a:t>blueprint</a:t>
            </a:r>
            <a:r>
              <a:rPr lang="en-US" dirty="0"/>
              <a:t>) dan </a:t>
            </a:r>
            <a:r>
              <a:rPr lang="en-US" dirty="0" err="1"/>
              <a:t>templat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berbasis</a:t>
            </a:r>
            <a:r>
              <a:rPr lang="en-US" dirty="0"/>
              <a:t> </a:t>
            </a:r>
            <a:r>
              <a:rPr lang="en-US" dirty="0" err="1"/>
              <a:t>praktik</a:t>
            </a:r>
            <a:r>
              <a:rPr lang="en-US" dirty="0"/>
              <a:t> </a:t>
            </a:r>
            <a:r>
              <a:rPr lang="en-US" dirty="0" err="1"/>
              <a:t>terbaik</a:t>
            </a:r>
            <a:r>
              <a:rPr lang="en-US" dirty="0"/>
              <a:t> (</a:t>
            </a:r>
            <a:r>
              <a:rPr lang="en-US" i="1" dirty="0"/>
              <a:t>best practices</a:t>
            </a:r>
            <a:r>
              <a:rPr lang="en-US" dirty="0"/>
              <a:t>) </a:t>
            </a:r>
            <a:r>
              <a:rPr lang="en-US" dirty="0" err="1"/>
              <a:t>industri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574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Non-Performing Loan</a:t>
            </a:r>
            <a:r>
              <a:rPr lang="en-US" dirty="0"/>
              <a:t> (NPL)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kredit</a:t>
            </a:r>
            <a:r>
              <a:rPr lang="en-US" dirty="0"/>
              <a:t> </a:t>
            </a:r>
            <a:r>
              <a:rPr lang="en-US" dirty="0" err="1"/>
              <a:t>bermasalah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23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kolektibilitas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en-US" dirty="0" err="1"/>
              <a:t>kemampuan</a:t>
            </a:r>
            <a:r>
              <a:rPr lang="en-US" dirty="0"/>
              <a:t> </a:t>
            </a:r>
            <a:r>
              <a:rPr lang="en-US" dirty="0" err="1"/>
              <a:t>debitur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membayar</a:t>
            </a:r>
            <a:r>
              <a:rPr lang="en-US" dirty="0"/>
              <a:t> </a:t>
            </a:r>
            <a:r>
              <a:rPr lang="en-US" dirty="0" err="1"/>
              <a:t>cicilannya</a:t>
            </a:r>
            <a:r>
              <a:rPr lang="en-US" dirty="0"/>
              <a:t> di masa </a:t>
            </a:r>
            <a:r>
              <a:rPr lang="en-US" dirty="0" err="1"/>
              <a:t>depan</a:t>
            </a:r>
            <a:endParaRPr lang="en-US" dirty="0"/>
          </a:p>
          <a:p>
            <a:r>
              <a:rPr lang="en-US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Segmentasi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nasabah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perbankan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proses </a:t>
            </a:r>
            <a:r>
              <a:rPr lang="en-US" dirty="0" err="1"/>
              <a:t>membagi</a:t>
            </a:r>
            <a:r>
              <a:rPr lang="en-US" dirty="0"/>
              <a:t> basis </a:t>
            </a:r>
            <a:r>
              <a:rPr lang="en-US" dirty="0" err="1"/>
              <a:t>nasabah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kelompok-kelompok</a:t>
            </a:r>
            <a:r>
              <a:rPr lang="en-US" dirty="0"/>
              <a:t> </a:t>
            </a:r>
            <a:r>
              <a:rPr lang="en-US" dirty="0" err="1"/>
              <a:t>homogen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.</a:t>
            </a:r>
          </a:p>
          <a:p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Asosiasi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Memprediksi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kumpulan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item/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kejadian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biasa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terjadi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Bersama</a:t>
            </a:r>
          </a:p>
          <a:p>
            <a:pPr marL="285840" marR="0" lvl="0" indent="-272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Mencari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barang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jualan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biasa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dibeli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bersama</a:t>
            </a: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72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Menyusun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portofolio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saham</a:t>
            </a: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68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 dirty="0"/>
              <a:t>Anomali:</a:t>
            </a:r>
            <a:br>
              <a:rPr lang="en-US" dirty="0"/>
            </a:br>
            <a:r>
              <a:rPr lang="en-US" dirty="0"/>
              <a:t>-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Pendeteksian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transaksi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illegal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penggunaan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kartu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kredit</a:t>
            </a: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72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Pendeteksian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penerobosan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jaringan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Sequence Mining: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Memprediksi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akan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terjadi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keadaan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saat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</a:t>
            </a:r>
            <a:endParaRPr lang="en-US"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840" marR="0" lvl="0" indent="-272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Prediksi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apakah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nasabah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berhenti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berlangganan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285840" marR="0" lvl="0" indent="-272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alur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pada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transaksi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e-commerce</a:t>
            </a:r>
          </a:p>
          <a:p>
            <a:endParaRPr lang="en-US"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877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Metrik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untuk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Regresi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Prediksi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Nilai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Kontinu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/Angka)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Root Mean Squared Error (RMSE):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Mengukur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rata-rata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besarnya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kesalahan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(margin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eror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prediksi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model.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Semakin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kecil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nilai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RMSE,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semakin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dekat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prediksi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model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dengan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data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asli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R-Square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𝑅</m:t>
                        </m:r>
                      </m:e>
                      <m:sup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Mengukur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persentase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variasi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data target yang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berhasil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dijelaskan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oleh model (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rentang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0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sampai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1).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Semakin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mendekati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1,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semakin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baik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kemampuan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model.</a:t>
                </a:r>
              </a:p>
              <a:p>
                <a:endParaRPr lang="en-US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Metrik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untuk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Kemiripan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&amp;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Segmentasi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Data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171450" lvl="0" indent="-171450">
                  <a:buFontTx/>
                  <a:buChar char="-"/>
                </a:pP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Jaccard Index: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Mengukur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tingkat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tumpang-tindih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overlap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dan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kemiripan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antara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dua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himpunan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data.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Dihitung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dari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rasio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irisan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dibagi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gabungan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dua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himpunan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∩</m:t>
                        </m:r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𝐵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|</m:t>
                        </m:r>
                      </m:num>
                      <m:den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|</m:t>
                        </m:r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𝐴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∪</m:t>
                        </m:r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𝐵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Sering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digunakan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pada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deteksi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objek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gambar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computer vision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atau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pencocokan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teks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171450" lvl="0" indent="-171450">
                  <a:buFontTx/>
                  <a:buChar char="-"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Metrik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untuk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Klasifikasi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Prediksi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Kategori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/Label)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Log-loss (Cross-Entropy Loss):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Mengukur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seberapa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akurat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probabilitas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prediksi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model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terhadap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label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sebenarnya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Memberikan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penalti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berat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jika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model sangat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yakin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pada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prediksi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yang salah;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semakin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mendekati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0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nilainya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semakin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baik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Precision: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Proporsi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prediksi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positif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yang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benar-benar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tepat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𝑇𝑃</m:t>
                        </m:r>
                      </m:num>
                      <m:den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𝑇𝑃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𝐹𝑃</m:t>
                        </m:r>
                      </m:den>
                    </m:f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Berfokus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meminimalkan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salah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tebak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positif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False Positive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misalnya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agar email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penting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tidak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sengaja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masuk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spam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Recall: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Proporsi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seluruh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kasus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positif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nyata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yang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berhasil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dideteksi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model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𝑇𝑃</m:t>
                        </m:r>
                      </m:num>
                      <m:den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𝑇𝑃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Berfokus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meminimalkan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luput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False Negative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sangat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krusial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pada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deteksi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medis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F1-Score: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Rata-rata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harmonik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antara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Precision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dan 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Recall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Digunakan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untuk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mengukur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keseimbangan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keduanya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terutama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jika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jumlah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kelas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data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tidak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seimbang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imbalanced dataset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pPr marL="0" lvl="0" indent="0">
                  <a:buFontTx/>
                  <a:buNone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Metrik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untuk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Regresi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Prediksi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Nilai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Kontinu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/Angka)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Root Mean Squared Error (RMSE):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Mengukur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rata-rata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besarnya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kesalahan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(margin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eror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prediksi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model.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Semakin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kecil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nilai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RMSE,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semakin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dekat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prediksi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model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dengan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data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asli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 R-Square 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𝑅^2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Mengukur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persentase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variasi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data target yang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berhasil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dijelaskan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oleh model (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rentang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0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sampai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1).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Semakin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mendekati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1,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semakin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baik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kemampuan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model.</a:t>
                </a:r>
              </a:p>
              <a:p>
                <a:endParaRPr lang="en-US" sz="12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Metrik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untuk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Kemiripan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&amp;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Segmentasi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Data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171450" lvl="0" indent="-171450">
                  <a:buFontTx/>
                  <a:buChar char="-"/>
                </a:pP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Jaccard Index: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Mengukur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tingkat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tumpang-tindih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overlap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dan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kemiripan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antara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dua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himpunan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data.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Dihitung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dari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rasio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irisan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dibagi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gabungan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dua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himpunan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(|𝐴∩𝐵|)/(|𝐴∪𝐵|)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Sering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digunakan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pada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deteksi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objek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gambar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computer vision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atau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pencocokan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teks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marL="171450" lvl="0" indent="-171450">
                  <a:buFontTx/>
                  <a:buChar char="-"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Metrik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untuk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Klasifikasi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Prediksi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Kategori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/Label)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Log-loss (Cross-Entropy Loss):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Mengukur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seberapa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akurat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probabilitas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prediksi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model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terhadap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label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sebenarnya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Memberikan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penalti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berat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jika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model sangat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yakin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pada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prediksi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yang salah;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semakin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mendekati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0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nilainya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semakin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baik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Precision: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Proporsi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prediksi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positif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yang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benar-benar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tepat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𝑇𝑃/(𝑇𝑃+𝐹𝑃)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Berfokus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meminimalkan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salah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tebak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positif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False Positive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misalnya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agar email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penting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tidak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sengaja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masuk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spam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Recall: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Proporsi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seluruh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kasus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positif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nyata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yang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berhasil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dideteksi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model 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𝑇𝑃/(𝑇𝑃+𝐹𝑁)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Berfokus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meminimalkan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luput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False Negative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sangat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krusial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pada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deteksi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medis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</a:t>
                </a:r>
              </a:p>
              <a:p>
                <a:pPr lvl="0"/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F1-Score: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Rata-rata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harmonik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antara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Precision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dan 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Recall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.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Digunakan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untuk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mengukur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keseimbangan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keduanya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terutama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jika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jumlah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kelas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data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tidak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seimbang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(</a:t>
                </a:r>
                <a:r>
                  <a:rPr lang="en-US" sz="1200" i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imbalanced dataset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).</a:t>
                </a:r>
              </a:p>
              <a:p>
                <a:pPr marL="0" lvl="0" indent="0">
                  <a:buFontTx/>
                  <a:buNone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538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Struktur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Bagaimana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deskripsi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(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yang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diperlukan</a:t>
            </a: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Jumlah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Berapa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banyak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(record) data yang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diperlukan</a:t>
            </a: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Sumber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</a:p>
          <a:p>
            <a:pPr marL="457200" marR="0" lvl="0" indent="-317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Darimana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diperoleh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Apakah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tersedia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</a:p>
          <a:p>
            <a:pPr marL="457200" marR="0" lvl="0" indent="-317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Internal: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Informasi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ERP, Excel,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dokumen</a:t>
            </a: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Eksternal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Web API, Web Scraping</a:t>
            </a:r>
          </a:p>
          <a:p>
            <a:pPr marL="457200" marR="0" lvl="0" indent="-317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via public data</a:t>
            </a:r>
          </a:p>
          <a:p>
            <a:pPr marL="457200" marR="0" lvl="0" indent="-3171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via open data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66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Militer</a:t>
            </a:r>
            <a:r>
              <a:rPr lang="en-US" dirty="0"/>
              <a:t> AS </a:t>
            </a:r>
            <a:r>
              <a:rPr lang="en-US" dirty="0" err="1"/>
              <a:t>awalnya</a:t>
            </a:r>
            <a:r>
              <a:rPr lang="en-US" dirty="0"/>
              <a:t>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mempertebal</a:t>
            </a:r>
            <a:r>
              <a:rPr lang="en-US" dirty="0"/>
              <a:t> </a:t>
            </a:r>
            <a:r>
              <a:rPr lang="en-US" dirty="0" err="1"/>
              <a:t>pelindung</a:t>
            </a:r>
            <a:r>
              <a:rPr lang="en-US" dirty="0"/>
              <a:t> (</a:t>
            </a:r>
            <a:r>
              <a:rPr lang="en-US" i="1" dirty="0"/>
              <a:t>armor</a:t>
            </a:r>
            <a:r>
              <a:rPr lang="en-US" dirty="0"/>
              <a:t>) pada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ekor</a:t>
            </a:r>
            <a:r>
              <a:rPr lang="en-US" dirty="0"/>
              <a:t>, badan, dan </a:t>
            </a:r>
            <a:r>
              <a:rPr lang="en-US" dirty="0" err="1"/>
              <a:t>sayap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bagian-bagian</a:t>
            </a:r>
            <a:r>
              <a:rPr lang="en-US" dirty="0"/>
              <a:t> </a:t>
            </a:r>
            <a:r>
              <a:rPr lang="en-US" dirty="0" err="1"/>
              <a:t>itulah</a:t>
            </a:r>
            <a:r>
              <a:rPr lang="en-US" dirty="0"/>
              <a:t> yang paling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bekas</a:t>
            </a:r>
            <a:r>
              <a:rPr lang="en-US" dirty="0"/>
              <a:t> </a:t>
            </a:r>
            <a:r>
              <a:rPr lang="en-US" dirty="0" err="1"/>
              <a:t>lubang</a:t>
            </a:r>
            <a:r>
              <a:rPr lang="en-US" dirty="0"/>
              <a:t> </a:t>
            </a:r>
            <a:r>
              <a:rPr lang="en-US" dirty="0" err="1"/>
              <a:t>peluru</a:t>
            </a:r>
            <a:r>
              <a:rPr lang="en-US" dirty="0"/>
              <a:t>.</a:t>
            </a:r>
          </a:p>
          <a:p>
            <a:pPr lvl="0"/>
            <a:r>
              <a:rPr lang="en-US" b="1" dirty="0" err="1"/>
              <a:t>Analisis</a:t>
            </a:r>
            <a:r>
              <a:rPr lang="en-US" b="1" dirty="0"/>
              <a:t> Abraham Wald (</a:t>
            </a:r>
            <a:r>
              <a:rPr lang="en-US" b="1" i="1" dirty="0"/>
              <a:t>Logika yang </a:t>
            </a:r>
            <a:r>
              <a:rPr lang="en-US" b="1" i="1" dirty="0" err="1"/>
              <a:t>Benar</a:t>
            </a:r>
            <a:r>
              <a:rPr lang="en-US" b="1" dirty="0"/>
              <a:t>): </a:t>
            </a:r>
            <a:r>
              <a:rPr lang="en-US" dirty="0" err="1"/>
              <a:t>Pesawat</a:t>
            </a:r>
            <a:r>
              <a:rPr lang="en-US" dirty="0"/>
              <a:t> yang </a:t>
            </a:r>
            <a:r>
              <a:rPr lang="en-US" dirty="0" err="1"/>
              <a:t>diteliti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pesawat</a:t>
            </a:r>
            <a:r>
              <a:rPr lang="en-US" dirty="0"/>
              <a:t> yang </a:t>
            </a:r>
            <a:r>
              <a:rPr lang="en-US" b="1" dirty="0" err="1"/>
              <a:t>berhasil</a:t>
            </a:r>
            <a:r>
              <a:rPr lang="en-US" b="1" dirty="0"/>
              <a:t> </a:t>
            </a:r>
            <a:r>
              <a:rPr lang="en-US" b="1" dirty="0" err="1"/>
              <a:t>selamat</a:t>
            </a:r>
            <a:r>
              <a:rPr lang="en-US" b="1" dirty="0"/>
              <a:t> dan terbang </a:t>
            </a:r>
            <a:r>
              <a:rPr lang="en-US" b="1" dirty="0" err="1"/>
              <a:t>pulang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Artinya, </a:t>
            </a:r>
            <a:r>
              <a:rPr lang="en-US" dirty="0" err="1"/>
              <a:t>tembakan</a:t>
            </a:r>
            <a:r>
              <a:rPr lang="en-US" dirty="0"/>
              <a:t> di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ekor</a:t>
            </a:r>
            <a:r>
              <a:rPr lang="en-US" dirty="0"/>
              <a:t>, badan, dan </a:t>
            </a:r>
            <a:r>
              <a:rPr lang="en-US" dirty="0" err="1"/>
              <a:t>sayap</a:t>
            </a:r>
            <a:r>
              <a:rPr lang="en-US" dirty="0"/>
              <a:t> </a:t>
            </a:r>
            <a:r>
              <a:rPr lang="en-US" b="1" dirty="0" err="1"/>
              <a:t>tidak</a:t>
            </a:r>
            <a:r>
              <a:rPr lang="en-US" b="1" dirty="0"/>
              <a:t> fatal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pesawat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bertahan</a:t>
            </a:r>
            <a:r>
              <a:rPr lang="en-US" dirty="0"/>
              <a:t> </a:t>
            </a:r>
            <a:r>
              <a:rPr lang="en-US" dirty="0" err="1"/>
              <a:t>hidup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Bagian </a:t>
            </a:r>
            <a:r>
              <a:rPr lang="en-US" dirty="0" err="1"/>
              <a:t>pesawat</a:t>
            </a:r>
            <a:r>
              <a:rPr lang="en-US" dirty="0"/>
              <a:t> yang </a:t>
            </a:r>
            <a:r>
              <a:rPr lang="en-US" b="1" dirty="0" err="1"/>
              <a:t>bersih</a:t>
            </a:r>
            <a:r>
              <a:rPr lang="en-US" b="1" dirty="0"/>
              <a:t> </a:t>
            </a:r>
            <a:r>
              <a:rPr lang="en-US" b="1" dirty="0" err="1"/>
              <a:t>dari</a:t>
            </a:r>
            <a:r>
              <a:rPr lang="en-US" b="1" dirty="0"/>
              <a:t> </a:t>
            </a:r>
            <a:r>
              <a:rPr lang="en-US" b="1" dirty="0" err="1"/>
              <a:t>lubang</a:t>
            </a:r>
            <a:r>
              <a:rPr lang="en-US" b="1" dirty="0"/>
              <a:t> </a:t>
            </a:r>
            <a:r>
              <a:rPr lang="en-US" b="1" dirty="0" err="1"/>
              <a:t>peluru</a:t>
            </a:r>
            <a:r>
              <a:rPr lang="en-US" dirty="0"/>
              <a:t> (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 dan </a:t>
            </a:r>
            <a:r>
              <a:rPr lang="en-US" dirty="0" err="1"/>
              <a:t>kokpit</a:t>
            </a:r>
            <a:r>
              <a:rPr lang="en-US" dirty="0"/>
              <a:t>) </a:t>
            </a:r>
            <a:r>
              <a:rPr lang="en-US" dirty="0" err="1"/>
              <a:t>adalah</a:t>
            </a:r>
            <a:r>
              <a:rPr lang="en-US" dirty="0"/>
              <a:t> area yang </a:t>
            </a:r>
            <a:r>
              <a:rPr lang="en-US" dirty="0" err="1"/>
              <a:t>justru</a:t>
            </a:r>
            <a:r>
              <a:rPr lang="en-US" dirty="0"/>
              <a:t> paling </a:t>
            </a:r>
            <a:r>
              <a:rPr lang="en-US" dirty="0" err="1"/>
              <a:t>berbahaya</a:t>
            </a:r>
            <a:r>
              <a:rPr lang="en-US" dirty="0"/>
              <a:t>. </a:t>
            </a:r>
            <a:r>
              <a:rPr lang="en-US" dirty="0" err="1"/>
              <a:t>Pesawat</a:t>
            </a:r>
            <a:r>
              <a:rPr lang="en-US" dirty="0"/>
              <a:t> yang </a:t>
            </a:r>
            <a:r>
              <a:rPr lang="en-US" dirty="0" err="1"/>
              <a:t>tertembak</a:t>
            </a:r>
            <a:r>
              <a:rPr lang="en-US" dirty="0"/>
              <a:t> di area </a:t>
            </a:r>
            <a:r>
              <a:rPr lang="en-US" dirty="0" err="1"/>
              <a:t>mesin</a:t>
            </a:r>
            <a:r>
              <a:rPr lang="en-US" dirty="0"/>
              <a:t>/</a:t>
            </a:r>
            <a:r>
              <a:rPr lang="en-US" dirty="0" err="1"/>
              <a:t>kokpit</a:t>
            </a:r>
            <a:r>
              <a:rPr lang="en-US" dirty="0"/>
              <a:t> </a:t>
            </a:r>
            <a:r>
              <a:rPr lang="en-US" b="1" dirty="0" err="1"/>
              <a:t>jatuh</a:t>
            </a:r>
            <a:r>
              <a:rPr lang="en-US" b="1" dirty="0"/>
              <a:t> </a:t>
            </a:r>
            <a:r>
              <a:rPr lang="en-US" b="1" dirty="0" err="1"/>
              <a:t>hancur</a:t>
            </a:r>
            <a:r>
              <a:rPr lang="en-US" b="1" dirty="0"/>
              <a:t> di </a:t>
            </a:r>
            <a:r>
              <a:rPr lang="en-US" b="1" dirty="0" err="1"/>
              <a:t>medan</a:t>
            </a:r>
            <a:r>
              <a:rPr lang="en-US" b="1" dirty="0"/>
              <a:t> </a:t>
            </a:r>
            <a:r>
              <a:rPr lang="en-US" b="1" dirty="0" err="1"/>
              <a:t>perang</a:t>
            </a:r>
            <a:r>
              <a:rPr lang="en-US" dirty="0"/>
              <a:t> dan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pernah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didata</a:t>
            </a:r>
            <a:r>
              <a:rPr lang="en-US" dirty="0"/>
              <a:t>.</a:t>
            </a:r>
          </a:p>
          <a:p>
            <a:pPr lvl="0"/>
            <a:r>
              <a:rPr lang="en-US" b="1" dirty="0"/>
              <a:t>Keputusan Akhir:</a:t>
            </a:r>
            <a:r>
              <a:rPr lang="en-US" dirty="0"/>
              <a:t> </a:t>
            </a:r>
            <a:r>
              <a:rPr lang="en-US" dirty="0" err="1"/>
              <a:t>Militer</a:t>
            </a:r>
            <a:r>
              <a:rPr lang="en-US" dirty="0"/>
              <a:t> </a:t>
            </a:r>
            <a:r>
              <a:rPr lang="en-US" dirty="0" err="1"/>
              <a:t>justru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memasang</a:t>
            </a:r>
            <a:r>
              <a:rPr lang="en-US" dirty="0"/>
              <a:t> </a:t>
            </a:r>
            <a:r>
              <a:rPr lang="en-US" dirty="0" err="1"/>
              <a:t>pelindung</a:t>
            </a:r>
            <a:r>
              <a:rPr lang="en-US" dirty="0"/>
              <a:t> </a:t>
            </a:r>
            <a:r>
              <a:rPr lang="en-US" dirty="0" err="1"/>
              <a:t>ekstra</a:t>
            </a:r>
            <a:r>
              <a:rPr lang="en-US" dirty="0"/>
              <a:t> pada area yang </a:t>
            </a:r>
            <a:r>
              <a:rPr lang="en-US" b="1" dirty="0" err="1"/>
              <a:t>tidak</a:t>
            </a:r>
            <a:r>
              <a:rPr lang="en-US" b="1" dirty="0"/>
              <a:t> </a:t>
            </a:r>
            <a:r>
              <a:rPr lang="en-US" b="1" dirty="0" err="1"/>
              <a:t>memiliki</a:t>
            </a:r>
            <a:r>
              <a:rPr lang="en-US" b="1" dirty="0"/>
              <a:t> </a:t>
            </a:r>
            <a:r>
              <a:rPr lang="en-US" b="1" dirty="0" err="1"/>
              <a:t>lubang</a:t>
            </a:r>
            <a:r>
              <a:rPr lang="en-US" b="1" dirty="0"/>
              <a:t> </a:t>
            </a:r>
            <a:r>
              <a:rPr lang="en-US" b="1" dirty="0" err="1"/>
              <a:t>peluru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1056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Laporan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Kualitas</a:t>
            </a:r>
            <a:r>
              <a:rPr lang="en-US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-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Ukuran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(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fitur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Jumlah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record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-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Deskripsi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statistical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</a:t>
            </a: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-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Relasi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antar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atribut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(dan label)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-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Visualisasi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262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Performansi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Capaian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vs Target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Memilih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Model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terbaik</a:t>
            </a: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Proses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mencari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batasan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kekurangan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model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776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5030B7-44DA-4342-8AD0-73CA5C2F33F6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17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37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92548" y="1787703"/>
            <a:ext cx="6996700" cy="1722260"/>
          </a:xfrm>
        </p:spPr>
        <p:txBody>
          <a:bodyPr anchor="b">
            <a:normAutofit/>
          </a:bodyPr>
          <a:lstStyle>
            <a:lvl1pPr algn="ctr">
              <a:defRPr sz="400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92548" y="3602038"/>
            <a:ext cx="6996700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746631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4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 </a:t>
            </a:r>
          </a:p>
        </p:txBody>
      </p:sp>
    </p:spTree>
    <p:extLst>
      <p:ext uri="{BB962C8B-B14F-4D97-AF65-F5344CB8AC3E}">
        <p14:creationId xmlns:p14="http://schemas.microsoft.com/office/powerpoint/2010/main" val="3487907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4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8030" y="2414427"/>
            <a:ext cx="6549419" cy="2148048"/>
          </a:xfrm>
        </p:spPr>
        <p:txBody>
          <a:bodyPr anchor="b">
            <a:normAutofit/>
          </a:bodyPr>
          <a:lstStyle>
            <a:lvl1pPr>
              <a:defRPr sz="400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6947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4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63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4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3pPr marL="1257300" indent="-342900">
              <a:buFont typeface="Arial" panose="020B0604020202020204" pitchFamily="34" charset="0"/>
              <a:buChar char="•"/>
              <a:defRPr/>
            </a:lvl3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13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4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61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9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baseline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4C207-7A81-4737-8BB1-F773A1644F8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8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4C207-7A81-4737-8BB1-F773A1644F8F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9561D-2BA4-460C-B7B9-A3AAE34D4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0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stackify.com/what-is-sdlc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dnuggets.com/gpspubs/aimag-kdd-overview-1996-Fayyad.pdf" TargetMode="External"/><Relationship Id="rId5" Type="http://schemas.openxmlformats.org/officeDocument/2006/relationships/image" Target="../media/image34.png"/><Relationship Id="rId4" Type="http://schemas.openxmlformats.org/officeDocument/2006/relationships/hyperlink" Target="https://documentation.sas.com/?docsetId=emref&amp;docsetTarget=n061bzurmej4j3n1jnj8bbjjm1a2.htm&amp;docsetVersion=14.3&amp;locale=en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JohnBRollinsPhD/foundational-methodology-for-data-science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microsoft.com/en-us/azure/machine-learning/team-data-science-process/overview" TargetMode="Externa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40772" y="1553787"/>
            <a:ext cx="6996700" cy="2123658"/>
          </a:xfrm>
        </p:spPr>
        <p:txBody>
          <a:bodyPr>
            <a:normAutofit/>
          </a:bodyPr>
          <a:lstStyle/>
          <a:p>
            <a:pPr algn="r"/>
            <a:r>
              <a:rPr lang="en-US" kern="50" dirty="0">
                <a:latin typeface="Times New Roman" panose="02020603050405020304" pitchFamily="18" charset="0"/>
                <a:ea typeface="Lucida Sans Unicode" panose="020B0602030504020204" pitchFamily="34" charset="0"/>
              </a:rPr>
              <a:t>Data Science – </a:t>
            </a:r>
            <a:r>
              <a:rPr lang="en-US" kern="50" dirty="0" err="1">
                <a:latin typeface="Times New Roman" panose="02020603050405020304" pitchFamily="18" charset="0"/>
                <a:ea typeface="Lucida Sans Unicode" panose="020B0602030504020204" pitchFamily="34" charset="0"/>
              </a:rPr>
              <a:t>Terapan</a:t>
            </a:r>
            <a:br>
              <a:rPr lang="en-US" kern="50" dirty="0">
                <a:latin typeface="Times New Roman" panose="02020603050405020304" pitchFamily="18" charset="0"/>
                <a:ea typeface="Lucida Sans Unicode" panose="020B0602030504020204" pitchFamily="34" charset="0"/>
              </a:rPr>
            </a:br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Metodologi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Pengembangan</a:t>
            </a:r>
            <a:r>
              <a:rPr lang="en-US" dirty="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AI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19929-5D50-4E5F-EB5C-5C6FAB814C4B}"/>
              </a:ext>
            </a:extLst>
          </p:cNvPr>
          <p:cNvSpPr txBox="1"/>
          <p:nvPr/>
        </p:nvSpPr>
        <p:spPr>
          <a:xfrm>
            <a:off x="7249886" y="4734342"/>
            <a:ext cx="48705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Muhammad Fakhrurrifqi</a:t>
            </a:r>
            <a:endParaRPr lang="en-US" sz="3600" dirty="0"/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  <a:p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44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E0F2F-1F25-5DBA-3C2F-CDA17EE45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A18C4-6C45-32F8-5D71-AD5ABA3CC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Mengapa</a:t>
            </a: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Metodologi</a:t>
            </a: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diperlukan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709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6B7DD-835D-1B2E-6150-A2123A7A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berbasis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(Big)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C83B3-DEC7-3736-FD36-5E1C93786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9184" y="1825625"/>
            <a:ext cx="3608832" cy="4351338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None/>
            </a:pPr>
            <a:r>
              <a:rPr lang="en-US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None/>
            </a:pP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None/>
            </a:pP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None/>
            </a:pPr>
            <a:r>
              <a:rPr lang="en-US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Menjadi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None/>
            </a:pP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None/>
            </a:pP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None/>
            </a:pP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None/>
            </a:pP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None/>
            </a:pPr>
            <a:r>
              <a:rPr lang="en-US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Intelijen</a:t>
            </a:r>
            <a:r>
              <a:rPr lang="en-US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berbasis</a:t>
            </a:r>
            <a:r>
              <a:rPr lang="en-US" sz="24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 err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Pengetahuan</a:t>
            </a:r>
            <a:r>
              <a:rPr lang="en-US" sz="2400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en-US"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  <a:buNone/>
            </a:pP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endParaRPr lang="en-US" dirty="0"/>
          </a:p>
        </p:txBody>
      </p:sp>
      <p:pic>
        <p:nvPicPr>
          <p:cNvPr id="5" name="Google Shape;196;p45">
            <a:extLst>
              <a:ext uri="{FF2B5EF4-FFF2-40B4-BE49-F238E27FC236}">
                <a16:creationId xmlns:a16="http://schemas.microsoft.com/office/drawing/2014/main" id="{271DE801-7B4A-8327-429F-DB109B3A199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1825624"/>
            <a:ext cx="7110984" cy="4351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9663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3826-95EA-53C5-8E04-14F29144D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9D7CC-4C24-010B-3A66-3C926F170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DIKW pyramid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7463B-EDC2-5216-E388-88EAA0D7A8C7}"/>
              </a:ext>
            </a:extLst>
          </p:cNvPr>
          <p:cNvSpPr txBox="1"/>
          <p:nvPr/>
        </p:nvSpPr>
        <p:spPr>
          <a:xfrm>
            <a:off x="143691" y="6084167"/>
            <a:ext cx="11887200" cy="264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dirty="0"/>
              <a:t>https://legoviews.com/2013/04/06/put-knowledge-into-action-and-enhance-organisational-wisdom-lsp-and-dikw/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CFCC6A-822B-5364-10A9-C33093AC3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22" b="3405"/>
          <a:stretch>
            <a:fillRect/>
          </a:stretch>
        </p:blipFill>
        <p:spPr>
          <a:xfrm>
            <a:off x="501299" y="1839348"/>
            <a:ext cx="6971886" cy="4096158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6A2CDE-6B89-05C8-805F-20A5854825D5}"/>
              </a:ext>
            </a:extLst>
          </p:cNvPr>
          <p:cNvSpPr/>
          <p:nvPr/>
        </p:nvSpPr>
        <p:spPr>
          <a:xfrm>
            <a:off x="4833250" y="4943679"/>
            <a:ext cx="3879669" cy="7778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4, 2026, 08, 27, 10, 15, 37, 38, 70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D17720B-1DB7-6B01-252B-3D77EE936EB3}"/>
              </a:ext>
            </a:extLst>
          </p:cNvPr>
          <p:cNvSpPr/>
          <p:nvPr/>
        </p:nvSpPr>
        <p:spPr>
          <a:xfrm>
            <a:off x="4833250" y="3955868"/>
            <a:ext cx="3879669" cy="7778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Today is Tuesday, Aug 27, 2026, 10:15:37, 38</a:t>
            </a:r>
            <a:r>
              <a:rPr lang="en-US" baseline="30000" dirty="0">
                <a:solidFill>
                  <a:schemeClr val="tx1"/>
                </a:solidFill>
                <a:latin typeface="Aptos" panose="020B0004020202020204" pitchFamily="34" charset="0"/>
              </a:rPr>
              <a:t>0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C , precipitation 70%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51863D-02CB-4DE8-3F8F-357C5CD50E97}"/>
              </a:ext>
            </a:extLst>
          </p:cNvPr>
          <p:cNvSpPr/>
          <p:nvPr/>
        </p:nvSpPr>
        <p:spPr>
          <a:xfrm>
            <a:off x="4833250" y="2968057"/>
            <a:ext cx="3879669" cy="7778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It’s raining, yet, the temperature is hot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3D14B98-B752-AA85-EDDC-DEF511A3BCCF}"/>
              </a:ext>
            </a:extLst>
          </p:cNvPr>
          <p:cNvSpPr/>
          <p:nvPr/>
        </p:nvSpPr>
        <p:spPr>
          <a:xfrm>
            <a:off x="4833250" y="2022562"/>
            <a:ext cx="3879669" cy="7778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Wear light and comfortable clothes and bring raincoat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D1CEEA-9FC9-7FF4-E2A1-E44E03E370C1}"/>
              </a:ext>
            </a:extLst>
          </p:cNvPr>
          <p:cNvSpPr/>
          <p:nvPr/>
        </p:nvSpPr>
        <p:spPr>
          <a:xfrm>
            <a:off x="9052560" y="2022562"/>
            <a:ext cx="2416072" cy="369896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AI mimics human in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2759974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97C80-944F-6F59-D017-9091259F4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E71DB-8182-CDC5-6457-531DF7BDB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DIKW pyramid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327E7-80C0-2D17-401E-A62E28232BE6}"/>
              </a:ext>
            </a:extLst>
          </p:cNvPr>
          <p:cNvSpPr txBox="1"/>
          <p:nvPr/>
        </p:nvSpPr>
        <p:spPr>
          <a:xfrm>
            <a:off x="143691" y="6084167"/>
            <a:ext cx="11887200" cy="264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dirty="0"/>
              <a:t>https://legoviews.com/2013/04/06/put-knowledge-into-action-and-enhance-organisational-wisdom-lsp-and-dikw/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A730AF-F5C9-2800-058C-022766AC8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22" b="3405"/>
          <a:stretch>
            <a:fillRect/>
          </a:stretch>
        </p:blipFill>
        <p:spPr>
          <a:xfrm>
            <a:off x="19517" y="1839348"/>
            <a:ext cx="6971886" cy="409615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17EDED-7CE3-B96D-7702-93E130916B3B}"/>
              </a:ext>
            </a:extLst>
          </p:cNvPr>
          <p:cNvSpPr/>
          <p:nvPr/>
        </p:nvSpPr>
        <p:spPr>
          <a:xfrm>
            <a:off x="6826812" y="4928435"/>
            <a:ext cx="2670409" cy="7778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Sets of numbers, could mean anything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E0428D-DCC4-1A83-0B6B-54639ECA5DB7}"/>
              </a:ext>
            </a:extLst>
          </p:cNvPr>
          <p:cNvSpPr/>
          <p:nvPr/>
        </p:nvSpPr>
        <p:spPr>
          <a:xfrm>
            <a:off x="6826811" y="3940625"/>
            <a:ext cx="2670409" cy="7778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The numbers represent something valuable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97EB0B-5D1D-A26E-E2F0-E66948DE40A9}"/>
              </a:ext>
            </a:extLst>
          </p:cNvPr>
          <p:cNvSpPr/>
          <p:nvPr/>
        </p:nvSpPr>
        <p:spPr>
          <a:xfrm>
            <a:off x="6826810" y="2947708"/>
            <a:ext cx="2670409" cy="7778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Relations to other information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5989E3-13CF-C03D-972E-319D39360BC4}"/>
              </a:ext>
            </a:extLst>
          </p:cNvPr>
          <p:cNvSpPr/>
          <p:nvPr/>
        </p:nvSpPr>
        <p:spPr>
          <a:xfrm>
            <a:off x="6826810" y="2004057"/>
            <a:ext cx="2670409" cy="7778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Decisions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2DB2359-5EE8-9211-61E5-47BD329DBBF7}"/>
              </a:ext>
            </a:extLst>
          </p:cNvPr>
          <p:cNvSpPr/>
          <p:nvPr/>
        </p:nvSpPr>
        <p:spPr>
          <a:xfrm>
            <a:off x="9530684" y="4928435"/>
            <a:ext cx="2670409" cy="7778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Input parameters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EED3C17-AE66-C768-A629-371A5E518A9D}"/>
              </a:ext>
            </a:extLst>
          </p:cNvPr>
          <p:cNvSpPr/>
          <p:nvPr/>
        </p:nvSpPr>
        <p:spPr>
          <a:xfrm>
            <a:off x="9530682" y="2004057"/>
            <a:ext cx="2670409" cy="14812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Results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0E09F31-AE84-1330-4354-9EF73E66D8DC}"/>
              </a:ext>
            </a:extLst>
          </p:cNvPr>
          <p:cNvSpPr/>
          <p:nvPr/>
        </p:nvSpPr>
        <p:spPr>
          <a:xfrm>
            <a:off x="9530682" y="3817925"/>
            <a:ext cx="2670409" cy="7778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ML Model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887D78-15B8-2153-B440-DC3D7357214A}"/>
              </a:ext>
            </a:extLst>
          </p:cNvPr>
          <p:cNvCxnSpPr>
            <a:stCxn id="3" idx="0"/>
            <a:endCxn id="9" idx="2"/>
          </p:cNvCxnSpPr>
          <p:nvPr/>
        </p:nvCxnSpPr>
        <p:spPr>
          <a:xfrm flipH="1" flipV="1">
            <a:off x="10865887" y="4595776"/>
            <a:ext cx="2" cy="3326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7C9864-FE18-917F-23E9-09E30440F4D4}"/>
              </a:ext>
            </a:extLst>
          </p:cNvPr>
          <p:cNvCxnSpPr>
            <a:cxnSpLocks/>
            <a:stCxn id="9" idx="0"/>
            <a:endCxn id="6" idx="2"/>
          </p:cNvCxnSpPr>
          <p:nvPr/>
        </p:nvCxnSpPr>
        <p:spPr>
          <a:xfrm flipV="1">
            <a:off x="10865887" y="3485266"/>
            <a:ext cx="0" cy="3326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398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B6F3-9FAC-31A8-1B53-B64CD66E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berbasis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(Big)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3ADCE-FA56-0FE9-5BBE-D31C335F2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dikembangkan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tahap</a:t>
            </a:r>
            <a:endParaRPr lang="en-US" dirty="0"/>
          </a:p>
        </p:txBody>
      </p:sp>
      <p:sp>
        <p:nvSpPr>
          <p:cNvPr id="5" name="Google Shape;203;p62">
            <a:extLst>
              <a:ext uri="{FF2B5EF4-FFF2-40B4-BE49-F238E27FC236}">
                <a16:creationId xmlns:a16="http://schemas.microsoft.com/office/drawing/2014/main" id="{F9236CC0-D973-71E1-DA4F-6BF72331BE7C}"/>
              </a:ext>
            </a:extLst>
          </p:cNvPr>
          <p:cNvSpPr/>
          <p:nvPr/>
        </p:nvSpPr>
        <p:spPr>
          <a:xfrm>
            <a:off x="838200" y="2549928"/>
            <a:ext cx="2845440" cy="132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Pengembangan</a:t>
            </a:r>
            <a:b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Pelatihan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04;p62">
            <a:extLst>
              <a:ext uri="{FF2B5EF4-FFF2-40B4-BE49-F238E27FC236}">
                <a16:creationId xmlns:a16="http://schemas.microsoft.com/office/drawing/2014/main" id="{BEAB57A9-35AE-2DE2-FEE1-84408E02D49C}"/>
              </a:ext>
            </a:extLst>
          </p:cNvPr>
          <p:cNvSpPr/>
          <p:nvPr/>
        </p:nvSpPr>
        <p:spPr>
          <a:xfrm>
            <a:off x="928680" y="4310576"/>
            <a:ext cx="3659040" cy="132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Penggunaan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209;p62">
            <a:extLst>
              <a:ext uri="{FF2B5EF4-FFF2-40B4-BE49-F238E27FC236}">
                <a16:creationId xmlns:a16="http://schemas.microsoft.com/office/drawing/2014/main" id="{EDC8FEC9-0584-2F90-A457-D4CB1A790C3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78488" y="5483106"/>
            <a:ext cx="6528552" cy="828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10;p62">
            <a:extLst>
              <a:ext uri="{FF2B5EF4-FFF2-40B4-BE49-F238E27FC236}">
                <a16:creationId xmlns:a16="http://schemas.microsoft.com/office/drawing/2014/main" id="{707AAB9F-8D62-3439-76DF-082B3936DB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8488" y="2370192"/>
            <a:ext cx="7446744" cy="28723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0544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3580F-A14B-E9A5-A9F5-2FBEF67FF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DBEF20-C5A2-8ED0-7064-DDC461D59F04}"/>
              </a:ext>
            </a:extLst>
          </p:cNvPr>
          <p:cNvSpPr/>
          <p:nvPr/>
        </p:nvSpPr>
        <p:spPr>
          <a:xfrm>
            <a:off x="6427811" y="1808480"/>
            <a:ext cx="3069772" cy="44100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accent2"/>
                </a:solidFill>
                <a:latin typeface="Aptos" panose="020B0004020202020204" pitchFamily="34" charset="0"/>
              </a:rPr>
              <a:t>Inference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 phase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B51AF2-0AC4-E845-99AD-15273E9F898C}"/>
              </a:ext>
            </a:extLst>
          </p:cNvPr>
          <p:cNvSpPr/>
          <p:nvPr/>
        </p:nvSpPr>
        <p:spPr>
          <a:xfrm>
            <a:off x="3260844" y="1493520"/>
            <a:ext cx="2856414" cy="47358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</a:rPr>
              <a:t>Training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 phase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B3160-7687-7C3D-1611-971D2B6DB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851899" cy="903962"/>
          </a:xfrm>
        </p:spPr>
        <p:txBody>
          <a:bodyPr/>
          <a:lstStyle/>
          <a:p>
            <a:r>
              <a:rPr lang="en-US" dirty="0"/>
              <a:t>AI solution based on (big) data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723481-602D-2DCB-9F14-6993D5006496}"/>
              </a:ext>
            </a:extLst>
          </p:cNvPr>
          <p:cNvSpPr/>
          <p:nvPr/>
        </p:nvSpPr>
        <p:spPr>
          <a:xfrm>
            <a:off x="6632462" y="5242555"/>
            <a:ext cx="2670409" cy="7778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Input parameters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5069B49-8EDF-5E06-416A-77F95CCEB3D0}"/>
              </a:ext>
            </a:extLst>
          </p:cNvPr>
          <p:cNvSpPr/>
          <p:nvPr/>
        </p:nvSpPr>
        <p:spPr>
          <a:xfrm>
            <a:off x="6632460" y="2318177"/>
            <a:ext cx="2670409" cy="14812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Results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6A1EED-2D98-7E0E-F604-BF6CFFCA3F51}"/>
              </a:ext>
            </a:extLst>
          </p:cNvPr>
          <p:cNvSpPr/>
          <p:nvPr/>
        </p:nvSpPr>
        <p:spPr>
          <a:xfrm>
            <a:off x="6632460" y="4132045"/>
            <a:ext cx="2670409" cy="7778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AI Model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E4189A-3FE2-AD73-015C-B188A1986DF2}"/>
              </a:ext>
            </a:extLst>
          </p:cNvPr>
          <p:cNvCxnSpPr>
            <a:stCxn id="4" idx="0"/>
            <a:endCxn id="6" idx="2"/>
          </p:cNvCxnSpPr>
          <p:nvPr/>
        </p:nvCxnSpPr>
        <p:spPr>
          <a:xfrm flipH="1" flipV="1">
            <a:off x="7967665" y="4909896"/>
            <a:ext cx="2" cy="3326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1C7827-986A-873A-2159-5E2A5DB47B4B}"/>
              </a:ext>
            </a:extLst>
          </p:cNvPr>
          <p:cNvCxnSpPr>
            <a:cxnSpLocks/>
            <a:stCxn id="6" idx="0"/>
            <a:endCxn id="12" idx="2"/>
          </p:cNvCxnSpPr>
          <p:nvPr/>
        </p:nvCxnSpPr>
        <p:spPr>
          <a:xfrm flipV="1">
            <a:off x="7967665" y="3799386"/>
            <a:ext cx="0" cy="3326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C9808D-201D-4A8B-B77B-421A7842CD6E}"/>
              </a:ext>
            </a:extLst>
          </p:cNvPr>
          <p:cNvSpPr/>
          <p:nvPr/>
        </p:nvSpPr>
        <p:spPr>
          <a:xfrm>
            <a:off x="3687564" y="1978151"/>
            <a:ext cx="2216333" cy="7778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Problem definition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65A5B0C-0E23-8075-5E47-BD57C8746DDE}"/>
              </a:ext>
            </a:extLst>
          </p:cNvPr>
          <p:cNvSpPr/>
          <p:nvPr/>
        </p:nvSpPr>
        <p:spPr>
          <a:xfrm>
            <a:off x="3687564" y="3070406"/>
            <a:ext cx="2216333" cy="7778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Data collection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214189-53D8-ECF8-8CFF-B0918DEF348B}"/>
              </a:ext>
            </a:extLst>
          </p:cNvPr>
          <p:cNvSpPr/>
          <p:nvPr/>
        </p:nvSpPr>
        <p:spPr>
          <a:xfrm>
            <a:off x="3687564" y="4150436"/>
            <a:ext cx="2216333" cy="7778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Model building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1D65779-2677-87E6-E889-3AB311FC6B0B}"/>
              </a:ext>
            </a:extLst>
          </p:cNvPr>
          <p:cNvSpPr/>
          <p:nvPr/>
        </p:nvSpPr>
        <p:spPr>
          <a:xfrm>
            <a:off x="3687564" y="5199986"/>
            <a:ext cx="2216333" cy="7778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Model evaluation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4693FB-D5F9-B4D9-6691-53EFAB4D89D2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>
            <a:off x="4795731" y="2756002"/>
            <a:ext cx="0" cy="3144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0BBF6A6-418E-8552-6DC9-89588AA9C2C7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>
            <a:off x="4795731" y="3848257"/>
            <a:ext cx="0" cy="3021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3A1B60D-85EA-71BA-7DA1-25E9E8507B47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>
            <a:off x="4795731" y="4928287"/>
            <a:ext cx="0" cy="271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92EBDFA6-5A56-DACD-757F-F86B53943CF9}"/>
              </a:ext>
            </a:extLst>
          </p:cNvPr>
          <p:cNvCxnSpPr>
            <a:stCxn id="22" idx="1"/>
            <a:endCxn id="18" idx="1"/>
          </p:cNvCxnSpPr>
          <p:nvPr/>
        </p:nvCxnSpPr>
        <p:spPr>
          <a:xfrm rot="10800000">
            <a:off x="3687564" y="4539362"/>
            <a:ext cx="12700" cy="1049550"/>
          </a:xfrm>
          <a:prstGeom prst="bent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2D9017-8AD9-E21B-DB2C-895D21617575}"/>
              </a:ext>
            </a:extLst>
          </p:cNvPr>
          <p:cNvCxnSpPr>
            <a:cxnSpLocks/>
            <a:stCxn id="18" idx="3"/>
            <a:endCxn id="6" idx="1"/>
          </p:cNvCxnSpPr>
          <p:nvPr/>
        </p:nvCxnSpPr>
        <p:spPr>
          <a:xfrm flipV="1">
            <a:off x="5903897" y="4520971"/>
            <a:ext cx="728563" cy="18391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459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09735-092A-9EF1-A5E3-B70D73DDB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A435C04-9067-E2B5-4B14-47A8B1FB10CE}"/>
              </a:ext>
            </a:extLst>
          </p:cNvPr>
          <p:cNvSpPr/>
          <p:nvPr/>
        </p:nvSpPr>
        <p:spPr>
          <a:xfrm>
            <a:off x="6910251" y="1838960"/>
            <a:ext cx="2609669" cy="4410051"/>
          </a:xfrm>
          <a:prstGeom prst="rect">
            <a:avLst/>
          </a:prstGeom>
          <a:solidFill>
            <a:schemeClr val="accent2">
              <a:lumMod val="20000"/>
              <a:lumOff val="80000"/>
              <a:alpha val="83000"/>
            </a:schemeClr>
          </a:solidFill>
          <a:ln w="381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accent2"/>
                </a:solidFill>
                <a:latin typeface="Aptos" panose="020B0004020202020204" pitchFamily="34" charset="0"/>
              </a:rPr>
              <a:t>Inference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 phase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39B341-6F7A-06C2-0A43-E685DC27416F}"/>
              </a:ext>
            </a:extLst>
          </p:cNvPr>
          <p:cNvSpPr/>
          <p:nvPr/>
        </p:nvSpPr>
        <p:spPr>
          <a:xfrm>
            <a:off x="3953690" y="1524000"/>
            <a:ext cx="2778088" cy="4735866"/>
          </a:xfrm>
          <a:prstGeom prst="rect">
            <a:avLst/>
          </a:prstGeom>
          <a:solidFill>
            <a:schemeClr val="accent5">
              <a:lumMod val="20000"/>
              <a:lumOff val="80000"/>
              <a:alpha val="83000"/>
            </a:schemeClr>
          </a:solidFill>
          <a:ln w="381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</a:rPr>
              <a:t>Training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 phase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4513AF-CEF7-4BA7-052D-36E8FB1B1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851899" cy="903962"/>
          </a:xfrm>
        </p:spPr>
        <p:txBody>
          <a:bodyPr/>
          <a:lstStyle/>
          <a:p>
            <a:r>
              <a:rPr lang="en-US" dirty="0"/>
              <a:t>AI solution based on (big) data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81C9AA-78A0-6C09-F004-F7C3169ED065}"/>
              </a:ext>
            </a:extLst>
          </p:cNvPr>
          <p:cNvSpPr/>
          <p:nvPr/>
        </p:nvSpPr>
        <p:spPr>
          <a:xfrm>
            <a:off x="7074263" y="5273035"/>
            <a:ext cx="2293260" cy="7778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Input parameters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EE3806-8E22-A24A-430E-537E78B0EC0E}"/>
              </a:ext>
            </a:extLst>
          </p:cNvPr>
          <p:cNvSpPr/>
          <p:nvPr/>
        </p:nvSpPr>
        <p:spPr>
          <a:xfrm>
            <a:off x="7074261" y="2348657"/>
            <a:ext cx="2293260" cy="14812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Results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09F13A-B2A8-6E4F-1221-21BF256CE85D}"/>
              </a:ext>
            </a:extLst>
          </p:cNvPr>
          <p:cNvSpPr/>
          <p:nvPr/>
        </p:nvSpPr>
        <p:spPr>
          <a:xfrm>
            <a:off x="7074261" y="4182845"/>
            <a:ext cx="2293260" cy="7778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AI Model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96460D0-E812-E3CB-FABF-A127722630BC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H="1" flipV="1">
            <a:off x="8220891" y="4960696"/>
            <a:ext cx="2" cy="31233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35F6DF-1D8A-084C-62AD-849C34CAF50B}"/>
              </a:ext>
            </a:extLst>
          </p:cNvPr>
          <p:cNvCxnSpPr>
            <a:cxnSpLocks/>
            <a:stCxn id="6" idx="0"/>
            <a:endCxn id="12" idx="2"/>
          </p:cNvCxnSpPr>
          <p:nvPr/>
        </p:nvCxnSpPr>
        <p:spPr>
          <a:xfrm flipV="1">
            <a:off x="8220891" y="3829866"/>
            <a:ext cx="0" cy="3529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3439E6-5C70-7A69-1000-AC98FD331644}"/>
              </a:ext>
            </a:extLst>
          </p:cNvPr>
          <p:cNvSpPr/>
          <p:nvPr/>
        </p:nvSpPr>
        <p:spPr>
          <a:xfrm>
            <a:off x="4302084" y="2008631"/>
            <a:ext cx="2216333" cy="7778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Problem definition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17F9AE8-755B-4AB8-5CD5-3F7887B56815}"/>
              </a:ext>
            </a:extLst>
          </p:cNvPr>
          <p:cNvSpPr/>
          <p:nvPr/>
        </p:nvSpPr>
        <p:spPr>
          <a:xfrm>
            <a:off x="4302084" y="3100886"/>
            <a:ext cx="2216333" cy="7778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Data collection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0E5874F-6400-FF0E-1C70-F8DAFF11C62B}"/>
              </a:ext>
            </a:extLst>
          </p:cNvPr>
          <p:cNvSpPr/>
          <p:nvPr/>
        </p:nvSpPr>
        <p:spPr>
          <a:xfrm>
            <a:off x="4302084" y="4180916"/>
            <a:ext cx="2216333" cy="7778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Model building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88F2EB7-5950-2853-A6D0-375F74F44CE2}"/>
              </a:ext>
            </a:extLst>
          </p:cNvPr>
          <p:cNvSpPr/>
          <p:nvPr/>
        </p:nvSpPr>
        <p:spPr>
          <a:xfrm>
            <a:off x="4302084" y="5230466"/>
            <a:ext cx="2216333" cy="7778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Model evaluation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FC50F14-F3DC-F074-456F-FBC451040BED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>
            <a:off x="5410251" y="2786482"/>
            <a:ext cx="0" cy="3144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4E88B99-C131-CDE6-7CF2-41FD9D9441D9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>
            <a:off x="5410251" y="3878737"/>
            <a:ext cx="0" cy="3021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5B1AE0F-6DB3-250A-6556-D0745403AD8A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>
            <a:off x="5410251" y="4958767"/>
            <a:ext cx="0" cy="271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B3F0E15B-9BA2-8D6C-3A3D-FEA3A0587B92}"/>
              </a:ext>
            </a:extLst>
          </p:cNvPr>
          <p:cNvCxnSpPr>
            <a:stCxn id="22" idx="1"/>
            <a:endCxn id="18" idx="1"/>
          </p:cNvCxnSpPr>
          <p:nvPr/>
        </p:nvCxnSpPr>
        <p:spPr>
          <a:xfrm rot="10800000">
            <a:off x="4302084" y="4569842"/>
            <a:ext cx="12700" cy="1049550"/>
          </a:xfrm>
          <a:prstGeom prst="bent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D130D43-4070-30CB-FBA0-2E86573A8710}"/>
              </a:ext>
            </a:extLst>
          </p:cNvPr>
          <p:cNvCxnSpPr>
            <a:cxnSpLocks/>
            <a:stCxn id="18" idx="3"/>
            <a:endCxn id="6" idx="1"/>
          </p:cNvCxnSpPr>
          <p:nvPr/>
        </p:nvCxnSpPr>
        <p:spPr>
          <a:xfrm>
            <a:off x="6518417" y="4569842"/>
            <a:ext cx="555844" cy="1929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2AAE9B-A940-C300-7B17-B4393A92E03F}"/>
              </a:ext>
            </a:extLst>
          </p:cNvPr>
          <p:cNvSpPr txBox="1"/>
          <p:nvPr/>
        </p:nvSpPr>
        <p:spPr>
          <a:xfrm>
            <a:off x="335280" y="1935891"/>
            <a:ext cx="3525520" cy="92333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What are we trying to do?</a:t>
            </a:r>
          </a:p>
          <a:p>
            <a:r>
              <a:rPr lang="en-US" dirty="0">
                <a:latin typeface="Aptos" panose="020B0004020202020204" pitchFamily="34" charset="0"/>
              </a:rPr>
              <a:t>What are the inputs and outputs?</a:t>
            </a:r>
          </a:p>
          <a:p>
            <a:r>
              <a:rPr lang="en-US" dirty="0">
                <a:latin typeface="Aptos" panose="020B0004020202020204" pitchFamily="34" charset="0"/>
              </a:rPr>
              <a:t>How do we define success?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99699B-4F29-A925-6250-7880DEA3293E}"/>
              </a:ext>
            </a:extLst>
          </p:cNvPr>
          <p:cNvSpPr txBox="1"/>
          <p:nvPr/>
        </p:nvSpPr>
        <p:spPr>
          <a:xfrm>
            <a:off x="335280" y="2997815"/>
            <a:ext cx="3525520" cy="92333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Image capturing</a:t>
            </a:r>
          </a:p>
          <a:p>
            <a:r>
              <a:rPr lang="en-US" dirty="0">
                <a:latin typeface="Aptos" panose="020B0004020202020204" pitchFamily="34" charset="0"/>
              </a:rPr>
              <a:t>Sound recording</a:t>
            </a:r>
          </a:p>
          <a:p>
            <a:r>
              <a:rPr lang="en-US" dirty="0">
                <a:latin typeface="Aptos" panose="020B0004020202020204" pitchFamily="34" charset="0"/>
              </a:rPr>
              <a:t>Text scraping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A42FA0-0E8C-F015-96B7-9C419833C616}"/>
              </a:ext>
            </a:extLst>
          </p:cNvPr>
          <p:cNvSpPr txBox="1"/>
          <p:nvPr/>
        </p:nvSpPr>
        <p:spPr>
          <a:xfrm>
            <a:off x="335280" y="4059739"/>
            <a:ext cx="3525520" cy="92333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CNN</a:t>
            </a:r>
          </a:p>
          <a:p>
            <a:r>
              <a:rPr lang="en-US" dirty="0">
                <a:latin typeface="Aptos" panose="020B0004020202020204" pitchFamily="34" charset="0"/>
              </a:rPr>
              <a:t>KNN</a:t>
            </a:r>
          </a:p>
          <a:p>
            <a:r>
              <a:rPr lang="en-US" dirty="0">
                <a:latin typeface="Aptos" panose="020B0004020202020204" pitchFamily="34" charset="0"/>
              </a:rPr>
              <a:t>Transformers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FAC137-237F-BEF8-211A-43558D20B8D3}"/>
              </a:ext>
            </a:extLst>
          </p:cNvPr>
          <p:cNvSpPr txBox="1"/>
          <p:nvPr/>
        </p:nvSpPr>
        <p:spPr>
          <a:xfrm>
            <a:off x="335280" y="5127556"/>
            <a:ext cx="3525520" cy="92333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Accuracy</a:t>
            </a:r>
          </a:p>
          <a:p>
            <a:r>
              <a:rPr lang="en-US" dirty="0">
                <a:latin typeface="Aptos" panose="020B0004020202020204" pitchFamily="34" charset="0"/>
              </a:rPr>
              <a:t>F1-score</a:t>
            </a:r>
          </a:p>
          <a:p>
            <a:r>
              <a:rPr lang="en-US" dirty="0">
                <a:latin typeface="Aptos" panose="020B0004020202020204" pitchFamily="34" charset="0"/>
              </a:rPr>
              <a:t>AUC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9004A4-7DD4-3AC8-E75D-267A6522FB4E}"/>
              </a:ext>
            </a:extLst>
          </p:cNvPr>
          <p:cNvSpPr txBox="1"/>
          <p:nvPr/>
        </p:nvSpPr>
        <p:spPr>
          <a:xfrm>
            <a:off x="9653452" y="5338794"/>
            <a:ext cx="2315028" cy="64633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Unseen data</a:t>
            </a:r>
          </a:p>
          <a:p>
            <a:r>
              <a:rPr lang="en-US" dirty="0">
                <a:latin typeface="Aptos" panose="020B0004020202020204" pitchFamily="34" charset="0"/>
              </a:rPr>
              <a:t>Real-world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8DBA03-FD64-ADD6-9B84-5397FA7359DE}"/>
              </a:ext>
            </a:extLst>
          </p:cNvPr>
          <p:cNvSpPr txBox="1"/>
          <p:nvPr/>
        </p:nvSpPr>
        <p:spPr>
          <a:xfrm>
            <a:off x="9653450" y="4238444"/>
            <a:ext cx="2315028" cy="64633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Well-trained </a:t>
            </a:r>
          </a:p>
          <a:p>
            <a:r>
              <a:rPr lang="en-US" dirty="0">
                <a:latin typeface="Aptos" panose="020B0004020202020204" pitchFamily="34" charset="0"/>
              </a:rPr>
              <a:t>for this task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283BD6-7101-416F-FC5D-A6D3C88D05F4}"/>
              </a:ext>
            </a:extLst>
          </p:cNvPr>
          <p:cNvSpPr txBox="1"/>
          <p:nvPr/>
        </p:nvSpPr>
        <p:spPr>
          <a:xfrm>
            <a:off x="9653450" y="2397556"/>
            <a:ext cx="2315028" cy="92333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The expected output</a:t>
            </a:r>
          </a:p>
          <a:p>
            <a:r>
              <a:rPr lang="en-US" dirty="0">
                <a:latin typeface="Aptos" panose="020B0004020202020204" pitchFamily="34" charset="0"/>
              </a:rPr>
              <a:t>Can help refining the model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D198F5B-3B80-DE5E-DDC3-9D83B26DF9F9}"/>
              </a:ext>
            </a:extLst>
          </p:cNvPr>
          <p:cNvCxnSpPr>
            <a:cxnSpLocks/>
            <a:stCxn id="12" idx="1"/>
            <a:endCxn id="14" idx="3"/>
          </p:cNvCxnSpPr>
          <p:nvPr/>
        </p:nvCxnSpPr>
        <p:spPr>
          <a:xfrm flipH="1">
            <a:off x="6518417" y="3089262"/>
            <a:ext cx="555844" cy="40055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855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916B3-1D79-F0FE-2EA5-3AB031A43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281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Overlock"/>
                <a:ea typeface="Overlock"/>
                <a:cs typeface="Overlock"/>
                <a:sym typeface="Overlock"/>
              </a:rPr>
              <a:t>Tujuan </a:t>
            </a:r>
            <a:r>
              <a:rPr lang="en-US" b="1" dirty="0" err="1">
                <a:solidFill>
                  <a:srgbClr val="000000"/>
                </a:solidFill>
                <a:latin typeface="Overlock"/>
                <a:ea typeface="Overlock"/>
                <a:cs typeface="Overlock"/>
                <a:sym typeface="Overlock"/>
              </a:rPr>
              <a:t>Tugas</a:t>
            </a:r>
            <a:r>
              <a:rPr lang="en-US" b="1" dirty="0">
                <a:solidFill>
                  <a:srgbClr val="000000"/>
                </a:solidFill>
                <a:latin typeface="Overlock"/>
                <a:ea typeface="Overlock"/>
                <a:cs typeface="Overlock"/>
                <a:sym typeface="Overlock"/>
              </a:rPr>
              <a:t>/ Task yang </a:t>
            </a:r>
            <a:r>
              <a:rPr lang="en-US" b="1" dirty="0" err="1">
                <a:solidFill>
                  <a:srgbClr val="000000"/>
                </a:solidFill>
                <a:latin typeface="Overlock"/>
                <a:ea typeface="Overlock"/>
                <a:cs typeface="Overlock"/>
                <a:sym typeface="Overlock"/>
              </a:rPr>
              <a:t>Biasa</a:t>
            </a:r>
            <a:r>
              <a:rPr lang="en-US" b="1" dirty="0">
                <a:solidFill>
                  <a:srgbClr val="000000"/>
                </a:solidFill>
                <a:latin typeface="Overlock"/>
                <a:ea typeface="Overlock"/>
                <a:cs typeface="Overlock"/>
                <a:sym typeface="Overlock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Overlock"/>
                <a:ea typeface="Overlock"/>
                <a:cs typeface="Overlock"/>
                <a:sym typeface="Overlock"/>
              </a:rPr>
              <a:t>Dikembangkan</a:t>
            </a:r>
            <a:endParaRPr lang="en-US" dirty="0"/>
          </a:p>
        </p:txBody>
      </p:sp>
      <p:grpSp>
        <p:nvGrpSpPr>
          <p:cNvPr id="4" name="Google Shape;217;p86"/>
          <p:cNvGrpSpPr/>
          <p:nvPr/>
        </p:nvGrpSpPr>
        <p:grpSpPr>
          <a:xfrm>
            <a:off x="429600" y="1850016"/>
            <a:ext cx="670560" cy="670560"/>
            <a:chOff x="322200" y="1268640"/>
            <a:chExt cx="502920" cy="502920"/>
          </a:xfrm>
        </p:grpSpPr>
        <p:sp>
          <p:nvSpPr>
            <p:cNvPr id="5" name="Google Shape;218;p86"/>
            <p:cNvSpPr/>
            <p:nvPr/>
          </p:nvSpPr>
          <p:spPr>
            <a:xfrm flipH="1">
              <a:off x="322200" y="1268640"/>
              <a:ext cx="502920" cy="502920"/>
            </a:xfrm>
            <a:prstGeom prst="ellipse">
              <a:avLst/>
            </a:prstGeom>
            <a:solidFill>
              <a:srgbClr val="1EA4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219;p86"/>
            <p:cNvSpPr/>
            <p:nvPr/>
          </p:nvSpPr>
          <p:spPr>
            <a:xfrm flipH="1">
              <a:off x="322200" y="1366734"/>
              <a:ext cx="502920" cy="306371"/>
            </a:xfrm>
            <a:prstGeom prst="rect">
              <a:avLst/>
            </a:prstGeom>
            <a:solidFill>
              <a:srgbClr val="1EA4B2"/>
            </a:solidFill>
            <a:ln>
              <a:noFill/>
            </a:ln>
          </p:spPr>
          <p:txBody>
            <a:bodyPr spcFirstLastPara="1" wrap="square" lIns="120000" tIns="60000" rIns="120000" bIns="60000" anchor="ctr" anchorCtr="0">
              <a:sp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867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" name="Google Shape;220;p86"/>
          <p:cNvSpPr/>
          <p:nvPr/>
        </p:nvSpPr>
        <p:spPr>
          <a:xfrm>
            <a:off x="1422240" y="1664736"/>
            <a:ext cx="10056960" cy="8598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0000" tIns="60000" rIns="120000" bIns="6000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-US" sz="2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Descriptive:  </a:t>
            </a:r>
            <a:endParaRPr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2000"/>
            </a:pP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Menjelaskan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keadaan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bisnis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saat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ini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melalui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data </a:t>
            </a:r>
            <a:r>
              <a:rPr lang="en-US" sz="2400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historis</a:t>
            </a:r>
            <a:r>
              <a:rPr lang="en-US" sz="24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oogle Shape;221;p86"/>
          <p:cNvGrpSpPr/>
          <p:nvPr/>
        </p:nvGrpSpPr>
        <p:grpSpPr>
          <a:xfrm>
            <a:off x="404640" y="2960256"/>
            <a:ext cx="670560" cy="670560"/>
            <a:chOff x="303480" y="2101320"/>
            <a:chExt cx="502920" cy="502920"/>
          </a:xfrm>
        </p:grpSpPr>
        <p:sp>
          <p:nvSpPr>
            <p:cNvPr id="9" name="Google Shape;222;p86"/>
            <p:cNvSpPr/>
            <p:nvPr/>
          </p:nvSpPr>
          <p:spPr>
            <a:xfrm flipH="1">
              <a:off x="303480" y="2101320"/>
              <a:ext cx="502920" cy="502920"/>
            </a:xfrm>
            <a:prstGeom prst="ellipse">
              <a:avLst/>
            </a:prstGeom>
            <a:solidFill>
              <a:srgbClr val="1EA4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223;p86"/>
            <p:cNvSpPr/>
            <p:nvPr/>
          </p:nvSpPr>
          <p:spPr>
            <a:xfrm flipH="1">
              <a:off x="303480" y="2199414"/>
              <a:ext cx="502920" cy="306371"/>
            </a:xfrm>
            <a:prstGeom prst="rect">
              <a:avLst/>
            </a:prstGeom>
            <a:solidFill>
              <a:srgbClr val="1EA4B2"/>
            </a:solidFill>
            <a:ln>
              <a:noFill/>
            </a:ln>
          </p:spPr>
          <p:txBody>
            <a:bodyPr spcFirstLastPara="1" wrap="square" lIns="120000" tIns="60000" rIns="120000" bIns="60000" anchor="ctr" anchorCtr="0">
              <a:sp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867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" name="Google Shape;224;p86"/>
          <p:cNvSpPr/>
          <p:nvPr/>
        </p:nvSpPr>
        <p:spPr>
          <a:xfrm>
            <a:off x="1397280" y="2673216"/>
            <a:ext cx="10056960" cy="8598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0000" tIns="60000" rIns="120000" bIns="6000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-US" sz="2400" b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Diagnostic: 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2000"/>
            </a:pPr>
            <a:r>
              <a:rPr lang="en-US" sz="2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Menjelaskan mengapa suatu masalah terjadi dengan melihat data historis.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225;p86"/>
          <p:cNvGrpSpPr/>
          <p:nvPr/>
        </p:nvGrpSpPr>
        <p:grpSpPr>
          <a:xfrm>
            <a:off x="404640" y="4068000"/>
            <a:ext cx="670560" cy="670560"/>
            <a:chOff x="303480" y="3233880"/>
            <a:chExt cx="502920" cy="502920"/>
          </a:xfrm>
        </p:grpSpPr>
        <p:sp>
          <p:nvSpPr>
            <p:cNvPr id="13" name="Google Shape;226;p86"/>
            <p:cNvSpPr/>
            <p:nvPr/>
          </p:nvSpPr>
          <p:spPr>
            <a:xfrm flipH="1">
              <a:off x="303480" y="3233880"/>
              <a:ext cx="502920" cy="502920"/>
            </a:xfrm>
            <a:prstGeom prst="ellipse">
              <a:avLst/>
            </a:prstGeom>
            <a:solidFill>
              <a:srgbClr val="1EA4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227;p86"/>
            <p:cNvSpPr/>
            <p:nvPr/>
          </p:nvSpPr>
          <p:spPr>
            <a:xfrm flipH="1">
              <a:off x="303480" y="3331974"/>
              <a:ext cx="502920" cy="306371"/>
            </a:xfrm>
            <a:prstGeom prst="rect">
              <a:avLst/>
            </a:prstGeom>
            <a:solidFill>
              <a:srgbClr val="1EA4B2"/>
            </a:solidFill>
            <a:ln>
              <a:noFill/>
            </a:ln>
          </p:spPr>
          <p:txBody>
            <a:bodyPr spcFirstLastPara="1" wrap="square" lIns="120000" tIns="60000" rIns="120000" bIns="60000" anchor="ctr" anchorCtr="0">
              <a:sp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867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" name="Google Shape;228;p86"/>
          <p:cNvSpPr/>
          <p:nvPr/>
        </p:nvSpPr>
        <p:spPr>
          <a:xfrm>
            <a:off x="1397280" y="3693120"/>
            <a:ext cx="10056960" cy="1229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0000" tIns="60000" rIns="120000" bIns="6000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Predictive:  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2000"/>
            </a:pPr>
            <a:r>
              <a:rPr lang="en-US" sz="2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Memproyeksikan atau memprediksi hasil masa depan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2000"/>
            </a:pPr>
            <a:r>
              <a:rPr lang="en-US" sz="2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berdasarkan data historis. 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oogle Shape;229;p86"/>
          <p:cNvGrpSpPr/>
          <p:nvPr/>
        </p:nvGrpSpPr>
        <p:grpSpPr>
          <a:xfrm>
            <a:off x="404640" y="5500800"/>
            <a:ext cx="670560" cy="670560"/>
            <a:chOff x="303480" y="4308480"/>
            <a:chExt cx="502920" cy="502920"/>
          </a:xfrm>
        </p:grpSpPr>
        <p:sp>
          <p:nvSpPr>
            <p:cNvPr id="17" name="Google Shape;230;p86"/>
            <p:cNvSpPr/>
            <p:nvPr/>
          </p:nvSpPr>
          <p:spPr>
            <a:xfrm flipH="1">
              <a:off x="303480" y="4308480"/>
              <a:ext cx="502920" cy="502920"/>
            </a:xfrm>
            <a:prstGeom prst="ellipse">
              <a:avLst/>
            </a:prstGeom>
            <a:solidFill>
              <a:srgbClr val="1EA4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400"/>
              </a:pP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231;p86"/>
            <p:cNvSpPr/>
            <p:nvPr/>
          </p:nvSpPr>
          <p:spPr>
            <a:xfrm flipH="1">
              <a:off x="303480" y="4406574"/>
              <a:ext cx="502920" cy="306371"/>
            </a:xfrm>
            <a:prstGeom prst="rect">
              <a:avLst/>
            </a:prstGeom>
            <a:solidFill>
              <a:srgbClr val="1EA4B2"/>
            </a:solidFill>
            <a:ln>
              <a:noFill/>
            </a:ln>
          </p:spPr>
          <p:txBody>
            <a:bodyPr spcFirstLastPara="1" wrap="square" lIns="120000" tIns="60000" rIns="120000" bIns="60000" anchor="ctr" anchorCtr="0">
              <a:sp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r>
                <a:rPr lang="en-US" sz="1867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" name="Google Shape;232;p86"/>
          <p:cNvSpPr/>
          <p:nvPr/>
        </p:nvSpPr>
        <p:spPr>
          <a:xfrm>
            <a:off x="1397280" y="5115360"/>
            <a:ext cx="10056960" cy="1229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0000" tIns="60000" rIns="120000" bIns="60000" anchor="t" anchorCtr="0">
            <a:spAutoFit/>
          </a:bodyPr>
          <a:lstStyle/>
          <a:p>
            <a:pPr>
              <a:buClr>
                <a:srgbClr val="000000"/>
              </a:buClr>
              <a:buSzPts val="2000"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Prescriptive:  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2000"/>
            </a:pPr>
            <a:r>
              <a:rPr lang="en-US" sz="2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Menggunakan hasil analitik prediktif dan pengetahuan lain 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2000"/>
            </a:pPr>
            <a:r>
              <a:rPr lang="en-US" sz="24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dengan menyarankan upaya terbaik di masa depan. 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33;p86"/>
          <p:cNvSpPr txBox="1"/>
          <p:nvPr/>
        </p:nvSpPr>
        <p:spPr>
          <a:xfrm>
            <a:off x="0" y="6168960"/>
            <a:ext cx="60864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>
              <a:buClr>
                <a:srgbClr val="000000"/>
              </a:buClr>
              <a:buSzPts val="1000"/>
            </a:pPr>
            <a:fld id="{00000000-1234-1234-1234-123412341234}" type="slidenum">
              <a:rPr lang="en-US" sz="13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1000"/>
              </a:pPr>
              <a:t>9</a:t>
            </a:fld>
            <a:endParaRPr sz="13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74695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08BC2-D76D-2496-FF57-0F0524941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Overlock"/>
                <a:ea typeface="Overlock"/>
                <a:cs typeface="Overlock"/>
                <a:sym typeface="Overlock"/>
              </a:rPr>
              <a:t>Jenis Task yang </a:t>
            </a:r>
            <a:r>
              <a:rPr lang="en-US" b="1" dirty="0" err="1">
                <a:solidFill>
                  <a:srgbClr val="000000"/>
                </a:solidFill>
                <a:latin typeface="Overlock"/>
                <a:ea typeface="Overlock"/>
                <a:cs typeface="Overlock"/>
                <a:sym typeface="Overlock"/>
              </a:rPr>
              <a:t>Dikembangkan</a:t>
            </a:r>
            <a:endParaRPr lang="en-US" dirty="0"/>
          </a:p>
        </p:txBody>
      </p:sp>
      <p:grpSp>
        <p:nvGrpSpPr>
          <p:cNvPr id="4" name="Google Shape;239;p100">
            <a:extLst>
              <a:ext uri="{FF2B5EF4-FFF2-40B4-BE49-F238E27FC236}">
                <a16:creationId xmlns:a16="http://schemas.microsoft.com/office/drawing/2014/main" id="{EF92FEA1-4A6C-0DB7-0CB5-891142E444F3}"/>
              </a:ext>
            </a:extLst>
          </p:cNvPr>
          <p:cNvGrpSpPr/>
          <p:nvPr/>
        </p:nvGrpSpPr>
        <p:grpSpPr>
          <a:xfrm>
            <a:off x="1489944" y="2445936"/>
            <a:ext cx="2124360" cy="1274040"/>
            <a:chOff x="2520" y="1190160"/>
            <a:chExt cx="2124360" cy="1274040"/>
          </a:xfrm>
        </p:grpSpPr>
        <p:sp>
          <p:nvSpPr>
            <p:cNvPr id="5" name="Google Shape;240;p100">
              <a:extLst>
                <a:ext uri="{FF2B5EF4-FFF2-40B4-BE49-F238E27FC236}">
                  <a16:creationId xmlns:a16="http://schemas.microsoft.com/office/drawing/2014/main" id="{EAC4AAE2-0CFD-852C-FBA7-B582FF63F4E8}"/>
                </a:ext>
              </a:extLst>
            </p:cNvPr>
            <p:cNvSpPr/>
            <p:nvPr/>
          </p:nvSpPr>
          <p:spPr>
            <a:xfrm>
              <a:off x="2520" y="1190160"/>
              <a:ext cx="2124360" cy="12740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60" dist="2304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241;p100">
              <a:extLst>
                <a:ext uri="{FF2B5EF4-FFF2-40B4-BE49-F238E27FC236}">
                  <a16:creationId xmlns:a16="http://schemas.microsoft.com/office/drawing/2014/main" id="{46BB7651-C139-3F23-E7F4-EB951A8A3A90}"/>
                </a:ext>
              </a:extLst>
            </p:cNvPr>
            <p:cNvSpPr/>
            <p:nvPr/>
          </p:nvSpPr>
          <p:spPr>
            <a:xfrm>
              <a:off x="2520" y="1190160"/>
              <a:ext cx="2124360" cy="12740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6550" tIns="106550" rIns="106550" bIns="1065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Regression / Estimation </a:t>
              </a: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" name="Google Shape;242;p100">
            <a:extLst>
              <a:ext uri="{FF2B5EF4-FFF2-40B4-BE49-F238E27FC236}">
                <a16:creationId xmlns:a16="http://schemas.microsoft.com/office/drawing/2014/main" id="{40BD5F96-9D1B-8863-AA1C-13E7F86DC680}"/>
              </a:ext>
            </a:extLst>
          </p:cNvPr>
          <p:cNvGrpSpPr/>
          <p:nvPr/>
        </p:nvGrpSpPr>
        <p:grpSpPr>
          <a:xfrm>
            <a:off x="3827784" y="2445936"/>
            <a:ext cx="2421360" cy="1274040"/>
            <a:chOff x="2340360" y="1190160"/>
            <a:chExt cx="2421360" cy="1274040"/>
          </a:xfrm>
        </p:grpSpPr>
        <p:sp>
          <p:nvSpPr>
            <p:cNvPr id="8" name="Google Shape;243;p100">
              <a:extLst>
                <a:ext uri="{FF2B5EF4-FFF2-40B4-BE49-F238E27FC236}">
                  <a16:creationId xmlns:a16="http://schemas.microsoft.com/office/drawing/2014/main" id="{0CB1FB35-9FE8-04CE-FF74-3D8C8ECAF054}"/>
                </a:ext>
              </a:extLst>
            </p:cNvPr>
            <p:cNvSpPr/>
            <p:nvPr/>
          </p:nvSpPr>
          <p:spPr>
            <a:xfrm>
              <a:off x="2340360" y="1190160"/>
              <a:ext cx="2421360" cy="12740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60" dist="2304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244;p100">
              <a:extLst>
                <a:ext uri="{FF2B5EF4-FFF2-40B4-BE49-F238E27FC236}">
                  <a16:creationId xmlns:a16="http://schemas.microsoft.com/office/drawing/2014/main" id="{2EAC3BD1-6C83-0E75-D2F5-8DB1B11FCF62}"/>
                </a:ext>
              </a:extLst>
            </p:cNvPr>
            <p:cNvSpPr/>
            <p:nvPr/>
          </p:nvSpPr>
          <p:spPr>
            <a:xfrm>
              <a:off x="2340360" y="1190160"/>
              <a:ext cx="2421360" cy="12740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6550" tIns="106550" rIns="106550" bIns="1065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Classification </a:t>
              </a: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" name="Google Shape;245;p100">
            <a:extLst>
              <a:ext uri="{FF2B5EF4-FFF2-40B4-BE49-F238E27FC236}">
                <a16:creationId xmlns:a16="http://schemas.microsoft.com/office/drawing/2014/main" id="{5B5F9FA1-DB33-D70F-C4E1-869F556C591B}"/>
              </a:ext>
            </a:extLst>
          </p:cNvPr>
          <p:cNvGrpSpPr/>
          <p:nvPr/>
        </p:nvGrpSpPr>
        <p:grpSpPr>
          <a:xfrm>
            <a:off x="6365784" y="2445936"/>
            <a:ext cx="1980720" cy="1274040"/>
            <a:chOff x="4878360" y="1190160"/>
            <a:chExt cx="1980720" cy="1274040"/>
          </a:xfrm>
        </p:grpSpPr>
        <p:sp>
          <p:nvSpPr>
            <p:cNvPr id="11" name="Google Shape;246;p100">
              <a:extLst>
                <a:ext uri="{FF2B5EF4-FFF2-40B4-BE49-F238E27FC236}">
                  <a16:creationId xmlns:a16="http://schemas.microsoft.com/office/drawing/2014/main" id="{AEF0CCE2-B236-604B-952A-CB4ABED5B214}"/>
                </a:ext>
              </a:extLst>
            </p:cNvPr>
            <p:cNvSpPr/>
            <p:nvPr/>
          </p:nvSpPr>
          <p:spPr>
            <a:xfrm>
              <a:off x="4878360" y="1190160"/>
              <a:ext cx="1980720" cy="12740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60" dist="2304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247;p100">
              <a:extLst>
                <a:ext uri="{FF2B5EF4-FFF2-40B4-BE49-F238E27FC236}">
                  <a16:creationId xmlns:a16="http://schemas.microsoft.com/office/drawing/2014/main" id="{16A92CB6-C2F5-7848-A5C3-963810FF4670}"/>
                </a:ext>
              </a:extLst>
            </p:cNvPr>
            <p:cNvSpPr/>
            <p:nvPr/>
          </p:nvSpPr>
          <p:spPr>
            <a:xfrm>
              <a:off x="4878360" y="1190160"/>
              <a:ext cx="1980720" cy="12740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6550" tIns="106550" rIns="106550" bIns="1065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Clustering </a:t>
              </a: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" name="Google Shape;248;p100">
            <a:extLst>
              <a:ext uri="{FF2B5EF4-FFF2-40B4-BE49-F238E27FC236}">
                <a16:creationId xmlns:a16="http://schemas.microsoft.com/office/drawing/2014/main" id="{3A0F67C3-0232-13F9-ED42-384311AA0BDF}"/>
              </a:ext>
            </a:extLst>
          </p:cNvPr>
          <p:cNvGrpSpPr/>
          <p:nvPr/>
        </p:nvGrpSpPr>
        <p:grpSpPr>
          <a:xfrm>
            <a:off x="8503464" y="2445936"/>
            <a:ext cx="2124360" cy="1274040"/>
            <a:chOff x="7016040" y="1190160"/>
            <a:chExt cx="2124360" cy="1274040"/>
          </a:xfrm>
        </p:grpSpPr>
        <p:sp>
          <p:nvSpPr>
            <p:cNvPr id="14" name="Google Shape;249;p100">
              <a:extLst>
                <a:ext uri="{FF2B5EF4-FFF2-40B4-BE49-F238E27FC236}">
                  <a16:creationId xmlns:a16="http://schemas.microsoft.com/office/drawing/2014/main" id="{2F0E180F-B863-B9E1-7A4C-4DC052E6C281}"/>
                </a:ext>
              </a:extLst>
            </p:cNvPr>
            <p:cNvSpPr/>
            <p:nvPr/>
          </p:nvSpPr>
          <p:spPr>
            <a:xfrm>
              <a:off x="7016040" y="1190160"/>
              <a:ext cx="2124360" cy="12740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60" dist="2304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250;p100">
              <a:extLst>
                <a:ext uri="{FF2B5EF4-FFF2-40B4-BE49-F238E27FC236}">
                  <a16:creationId xmlns:a16="http://schemas.microsoft.com/office/drawing/2014/main" id="{E254F7EC-6E48-D960-3F94-14657438018A}"/>
                </a:ext>
              </a:extLst>
            </p:cNvPr>
            <p:cNvSpPr/>
            <p:nvPr/>
          </p:nvSpPr>
          <p:spPr>
            <a:xfrm>
              <a:off x="7016040" y="1190160"/>
              <a:ext cx="2124360" cy="12740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6550" tIns="106550" rIns="106550" bIns="1065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Association </a:t>
              </a: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251;p100">
            <a:extLst>
              <a:ext uri="{FF2B5EF4-FFF2-40B4-BE49-F238E27FC236}">
                <a16:creationId xmlns:a16="http://schemas.microsoft.com/office/drawing/2014/main" id="{72DA5378-6003-0056-6998-6C5E3EA879F5}"/>
              </a:ext>
            </a:extLst>
          </p:cNvPr>
          <p:cNvGrpSpPr/>
          <p:nvPr/>
        </p:nvGrpSpPr>
        <p:grpSpPr>
          <a:xfrm>
            <a:off x="2249544" y="3933816"/>
            <a:ext cx="2124360" cy="1274040"/>
            <a:chOff x="762120" y="2678040"/>
            <a:chExt cx="2124360" cy="1274040"/>
          </a:xfrm>
        </p:grpSpPr>
        <p:sp>
          <p:nvSpPr>
            <p:cNvPr id="17" name="Google Shape;252;p100">
              <a:extLst>
                <a:ext uri="{FF2B5EF4-FFF2-40B4-BE49-F238E27FC236}">
                  <a16:creationId xmlns:a16="http://schemas.microsoft.com/office/drawing/2014/main" id="{FF0FAD92-EEE4-644C-4671-B0AD6F3AC1E9}"/>
                </a:ext>
              </a:extLst>
            </p:cNvPr>
            <p:cNvSpPr/>
            <p:nvPr/>
          </p:nvSpPr>
          <p:spPr>
            <a:xfrm>
              <a:off x="762120" y="2678040"/>
              <a:ext cx="2124360" cy="12740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60" dist="2304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253;p100">
              <a:extLst>
                <a:ext uri="{FF2B5EF4-FFF2-40B4-BE49-F238E27FC236}">
                  <a16:creationId xmlns:a16="http://schemas.microsoft.com/office/drawing/2014/main" id="{E0A04E2F-EADD-A5E1-D0BF-BFD298B42AE3}"/>
                </a:ext>
              </a:extLst>
            </p:cNvPr>
            <p:cNvSpPr/>
            <p:nvPr/>
          </p:nvSpPr>
          <p:spPr>
            <a:xfrm>
              <a:off x="762120" y="2678040"/>
              <a:ext cx="2124360" cy="12740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6550" tIns="106550" rIns="106550" bIns="1065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Anomaly </a:t>
              </a:r>
              <a:b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Detection </a:t>
              </a: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" name="Google Shape;254;p100">
            <a:extLst>
              <a:ext uri="{FF2B5EF4-FFF2-40B4-BE49-F238E27FC236}">
                <a16:creationId xmlns:a16="http://schemas.microsoft.com/office/drawing/2014/main" id="{E6471E5B-403F-CAB5-05A4-E48BF7B33DA9}"/>
              </a:ext>
            </a:extLst>
          </p:cNvPr>
          <p:cNvGrpSpPr/>
          <p:nvPr/>
        </p:nvGrpSpPr>
        <p:grpSpPr>
          <a:xfrm>
            <a:off x="4587384" y="3933816"/>
            <a:ext cx="2124360" cy="1274040"/>
            <a:chOff x="3099960" y="2678040"/>
            <a:chExt cx="2124360" cy="1274040"/>
          </a:xfrm>
        </p:grpSpPr>
        <p:sp>
          <p:nvSpPr>
            <p:cNvPr id="20" name="Google Shape;255;p100">
              <a:extLst>
                <a:ext uri="{FF2B5EF4-FFF2-40B4-BE49-F238E27FC236}">
                  <a16:creationId xmlns:a16="http://schemas.microsoft.com/office/drawing/2014/main" id="{CD91AC2F-1BEA-F826-C765-0E1F9B25F728}"/>
                </a:ext>
              </a:extLst>
            </p:cNvPr>
            <p:cNvSpPr/>
            <p:nvPr/>
          </p:nvSpPr>
          <p:spPr>
            <a:xfrm>
              <a:off x="3099960" y="2678040"/>
              <a:ext cx="2124360" cy="12740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60" dist="2304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56;p100">
              <a:extLst>
                <a:ext uri="{FF2B5EF4-FFF2-40B4-BE49-F238E27FC236}">
                  <a16:creationId xmlns:a16="http://schemas.microsoft.com/office/drawing/2014/main" id="{27CEBA05-0F19-DE2D-99D9-92E5B750AD7C}"/>
                </a:ext>
              </a:extLst>
            </p:cNvPr>
            <p:cNvSpPr/>
            <p:nvPr/>
          </p:nvSpPr>
          <p:spPr>
            <a:xfrm>
              <a:off x="3099960" y="2678040"/>
              <a:ext cx="2124360" cy="12740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6550" tIns="106550" rIns="106550" bIns="1065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Sequence</a:t>
              </a:r>
              <a:br>
                <a:rPr lang="en-US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Mining </a:t>
              </a: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257;p100">
            <a:extLst>
              <a:ext uri="{FF2B5EF4-FFF2-40B4-BE49-F238E27FC236}">
                <a16:creationId xmlns:a16="http://schemas.microsoft.com/office/drawing/2014/main" id="{CA0184EB-181F-F102-52E1-3D7944A8FCEC}"/>
              </a:ext>
            </a:extLst>
          </p:cNvPr>
          <p:cNvGrpSpPr/>
          <p:nvPr/>
        </p:nvGrpSpPr>
        <p:grpSpPr>
          <a:xfrm>
            <a:off x="6924864" y="3933816"/>
            <a:ext cx="3222360" cy="1274040"/>
            <a:chOff x="5437440" y="2678040"/>
            <a:chExt cx="3222360" cy="1274040"/>
          </a:xfrm>
        </p:grpSpPr>
        <p:sp>
          <p:nvSpPr>
            <p:cNvPr id="23" name="Google Shape;258;p100">
              <a:extLst>
                <a:ext uri="{FF2B5EF4-FFF2-40B4-BE49-F238E27FC236}">
                  <a16:creationId xmlns:a16="http://schemas.microsoft.com/office/drawing/2014/main" id="{86ECB1BC-FA3A-6701-189D-C2DB6D37A85B}"/>
                </a:ext>
              </a:extLst>
            </p:cNvPr>
            <p:cNvSpPr/>
            <p:nvPr/>
          </p:nvSpPr>
          <p:spPr>
            <a:xfrm>
              <a:off x="5437440" y="2678040"/>
              <a:ext cx="3222360" cy="12740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9960" dist="23040" dir="5400000" rotWithShape="0">
                <a:srgbClr val="000000">
                  <a:alpha val="3450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59;p100">
              <a:extLst>
                <a:ext uri="{FF2B5EF4-FFF2-40B4-BE49-F238E27FC236}">
                  <a16:creationId xmlns:a16="http://schemas.microsoft.com/office/drawing/2014/main" id="{ECCBFAF1-47E3-D16E-C167-31155A2FF560}"/>
                </a:ext>
              </a:extLst>
            </p:cNvPr>
            <p:cNvSpPr/>
            <p:nvPr/>
          </p:nvSpPr>
          <p:spPr>
            <a:xfrm>
              <a:off x="5437440" y="2678040"/>
              <a:ext cx="3222360" cy="127404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6550" tIns="106550" rIns="106550" bIns="1065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Recommendation Systems </a:t>
              </a: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5344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B8719-84A2-A758-BEAC-21E4B41F2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6683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Proyek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Pengembangan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AI/DS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2374A-8859-B118-B12B-D460F94E1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Tantangan</a:t>
            </a:r>
            <a:r>
              <a:rPr lang="en-US" dirty="0"/>
              <a:t> Data Science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model AI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b="1" dirty="0" err="1"/>
              <a:t>membuat</a:t>
            </a:r>
            <a:r>
              <a:rPr lang="en-US" b="1" dirty="0"/>
              <a:t> </a:t>
            </a:r>
            <a:r>
              <a:rPr lang="en-US" b="1" dirty="0" err="1"/>
              <a:t>solusi</a:t>
            </a:r>
            <a:r>
              <a:rPr lang="en-US" b="1" dirty="0"/>
              <a:t> yang </a:t>
            </a:r>
            <a:r>
              <a:rPr lang="en-US" b="1" dirty="0" err="1"/>
              <a:t>benar-benar</a:t>
            </a:r>
            <a:r>
              <a:rPr lang="en-US" b="1" dirty="0"/>
              <a:t> </a:t>
            </a:r>
            <a:r>
              <a:rPr lang="en-US" b="1" dirty="0" err="1"/>
              <a:t>dapat</a:t>
            </a:r>
            <a:r>
              <a:rPr lang="en-US" b="1" dirty="0"/>
              <a:t> </a:t>
            </a:r>
            <a:r>
              <a:rPr lang="en-US" b="1" dirty="0" err="1"/>
              <a:t>digunakan</a:t>
            </a:r>
            <a:r>
              <a:rPr lang="en-US" dirty="0"/>
              <a:t>, </a:t>
            </a:r>
            <a:r>
              <a:rPr lang="en-US" dirty="0" err="1"/>
              <a:t>diperluas</a:t>
            </a:r>
            <a:r>
              <a:rPr lang="en-US" dirty="0"/>
              <a:t>, dan </a:t>
            </a:r>
            <a:r>
              <a:rPr lang="en-US" dirty="0" err="1"/>
              <a:t>menghasilkan</a:t>
            </a:r>
            <a:r>
              <a:rPr lang="en-US" dirty="0"/>
              <a:t> outcome </a:t>
            </a:r>
            <a:r>
              <a:rPr lang="en-US" dirty="0" err="1"/>
              <a:t>bisnis</a:t>
            </a:r>
            <a:r>
              <a:rPr lang="en-US" dirty="0"/>
              <a:t>.</a:t>
            </a:r>
          </a:p>
        </p:txBody>
      </p:sp>
      <p:pic>
        <p:nvPicPr>
          <p:cNvPr id="5" name="Google Shape;266;p130">
            <a:extLst>
              <a:ext uri="{FF2B5EF4-FFF2-40B4-BE49-F238E27FC236}">
                <a16:creationId xmlns:a16="http://schemas.microsoft.com/office/drawing/2014/main" id="{419250D1-CE4B-40DF-8F5E-A7A6B9DD03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3312" y="3122980"/>
            <a:ext cx="9142920" cy="336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7915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64D17-B7A9-5AAE-0165-40F35BCF7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Mengapa</a:t>
            </a:r>
            <a:r>
              <a:rPr lang="en-US" dirty="0"/>
              <a:t> Bisa </a:t>
            </a:r>
            <a:r>
              <a:rPr lang="en-US" dirty="0" err="1"/>
              <a:t>Gagal</a:t>
            </a:r>
            <a:r>
              <a:rPr lang="en-US" dirty="0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C5536E-5B66-7E1A-DDBB-0CBBD9250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36" y="1690688"/>
            <a:ext cx="2068148" cy="2580911"/>
          </a:xfrm>
          <a:prstGeom prst="rect">
            <a:avLst/>
          </a:prstGeom>
        </p:spPr>
      </p:pic>
      <p:pic>
        <p:nvPicPr>
          <p:cNvPr id="7" name="Google Shape;274;p131">
            <a:extLst>
              <a:ext uri="{FF2B5EF4-FFF2-40B4-BE49-F238E27FC236}">
                <a16:creationId xmlns:a16="http://schemas.microsoft.com/office/drawing/2014/main" id="{31C2AD34-1C7D-E024-447C-D486ACADEBF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2784" y="2298312"/>
            <a:ext cx="9444308" cy="351727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366828-2D0D-A4CF-75C1-AB012C74F0DF}"/>
              </a:ext>
            </a:extLst>
          </p:cNvPr>
          <p:cNvSpPr txBox="1"/>
          <p:nvPr/>
        </p:nvSpPr>
        <p:spPr>
          <a:xfrm>
            <a:off x="662860" y="5815584"/>
            <a:ext cx="10358708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 err="1"/>
              <a:t>Mengumpulkan</a:t>
            </a:r>
            <a:r>
              <a:rPr lang="en-US" b="1" dirty="0"/>
              <a:t> data dan </a:t>
            </a:r>
            <a:r>
              <a:rPr lang="en-US" b="1" dirty="0" err="1"/>
              <a:t>membuat</a:t>
            </a:r>
            <a:r>
              <a:rPr lang="en-US" b="1" dirty="0"/>
              <a:t> model </a:t>
            </a:r>
            <a:r>
              <a:rPr lang="en-US" b="1" dirty="0" err="1"/>
              <a:t>saja</a:t>
            </a:r>
            <a:r>
              <a:rPr lang="en-US" b="1" dirty="0"/>
              <a:t> </a:t>
            </a:r>
            <a:r>
              <a:rPr lang="en-US" b="1" dirty="0" err="1"/>
              <a:t>belum</a:t>
            </a:r>
            <a:r>
              <a:rPr lang="en-US" b="1" dirty="0"/>
              <a:t> </a:t>
            </a:r>
            <a:r>
              <a:rPr lang="en-US" b="1" dirty="0" err="1"/>
              <a:t>berarti</a:t>
            </a:r>
            <a:r>
              <a:rPr lang="en-US" b="1" dirty="0"/>
              <a:t> </a:t>
            </a:r>
            <a:r>
              <a:rPr lang="en-US" b="1" dirty="0" err="1"/>
              <a:t>proyek</a:t>
            </a:r>
            <a:r>
              <a:rPr lang="en-US" b="1" dirty="0"/>
              <a:t> Data Science </a:t>
            </a:r>
            <a:r>
              <a:rPr lang="en-US" b="1" dirty="0" err="1"/>
              <a:t>berhasil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89727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BA6F8-DDCE-B858-E614-EE7E4208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Mengapa</a:t>
            </a:r>
            <a:r>
              <a:rPr lang="en-US" dirty="0"/>
              <a:t> Bisa </a:t>
            </a:r>
            <a:r>
              <a:rPr lang="en-US" dirty="0" err="1"/>
              <a:t>Gagal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447E7-7550-8B45-D6EA-2752095EF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6208" y="2344221"/>
            <a:ext cx="9521952" cy="1703523"/>
          </a:xfrm>
        </p:spPr>
        <p:txBody>
          <a:bodyPr numCol="2"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i="1" dirty="0"/>
              <a:t>Andi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orang lain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prosesnya</a:t>
            </a:r>
            <a:r>
              <a:rPr lang="en-US" dirty="0"/>
              <a:t>,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pipeline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terdokumentasi</a:t>
            </a:r>
            <a:r>
              <a:rPr lang="en-US" dirty="0"/>
              <a:t>,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data preparation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,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parameter model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jelas</a:t>
            </a:r>
            <a:r>
              <a:rPr lang="en-US" dirty="0"/>
              <a:t>,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deployment </a:t>
            </a:r>
            <a:r>
              <a:rPr lang="en-US" dirty="0" err="1"/>
              <a:t>sulit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,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model </a:t>
            </a:r>
            <a:r>
              <a:rPr lang="en-US" dirty="0" err="1"/>
              <a:t>sulit</a:t>
            </a:r>
            <a:r>
              <a:rPr lang="en-US" dirty="0"/>
              <a:t> </a:t>
            </a:r>
            <a:r>
              <a:rPr lang="en-US" dirty="0" err="1"/>
              <a:t>dipelihara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BF93F8-735A-3347-4183-F9D4A90BF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05" y="1825625"/>
            <a:ext cx="1813717" cy="25681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1CC290-06C1-E9D2-B9CE-20743E6CF168}"/>
              </a:ext>
            </a:extLst>
          </p:cNvPr>
          <p:cNvSpPr txBox="1"/>
          <p:nvPr/>
        </p:nvSpPr>
        <p:spPr>
          <a:xfrm>
            <a:off x="2243328" y="4213936"/>
            <a:ext cx="9290304" cy="1971758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b="1" dirty="0"/>
              <a:t>“</a:t>
            </a:r>
            <a:r>
              <a:rPr lang="en-US" sz="2800" b="1" dirty="0" err="1"/>
              <a:t>Tantangan</a:t>
            </a:r>
            <a:r>
              <a:rPr lang="en-US" sz="2800" b="1" dirty="0"/>
              <a:t>”</a:t>
            </a:r>
          </a:p>
          <a:p>
            <a:pPr lvl="1">
              <a:lnSpc>
                <a:spcPct val="120000"/>
              </a:lnSpc>
            </a:pPr>
            <a:r>
              <a:rPr lang="en-US" sz="2400" b="1" dirty="0"/>
              <a:t>“AI yang </a:t>
            </a:r>
            <a:r>
              <a:rPr lang="en-US" sz="2400" b="1" dirty="0" err="1"/>
              <a:t>dibuat</a:t>
            </a:r>
            <a:r>
              <a:rPr lang="en-US" sz="2400" b="1" dirty="0"/>
              <a:t> oleh </a:t>
            </a:r>
            <a:r>
              <a:rPr lang="en-US" sz="2400" b="1" dirty="0" err="1"/>
              <a:t>seorang</a:t>
            </a:r>
            <a:r>
              <a:rPr lang="en-US" sz="2400" b="1" dirty="0"/>
              <a:t> </a:t>
            </a:r>
            <a:r>
              <a:rPr lang="en-US" sz="2400" b="1" dirty="0" err="1"/>
              <a:t>ahli</a:t>
            </a:r>
            <a:r>
              <a:rPr lang="en-US" sz="2400" b="1" dirty="0"/>
              <a:t>”</a:t>
            </a: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 	</a:t>
            </a:r>
            <a:r>
              <a:rPr lang="en-US" sz="2800" dirty="0" err="1"/>
              <a:t>ubah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:</a:t>
            </a:r>
          </a:p>
          <a:p>
            <a:pPr lvl="1">
              <a:lnSpc>
                <a:spcPct val="120000"/>
              </a:lnSpc>
            </a:pPr>
            <a:r>
              <a:rPr lang="en-US" sz="2400" b="1" dirty="0"/>
              <a:t>“AI yang </a:t>
            </a:r>
            <a:r>
              <a:rPr lang="en-US" sz="2400" b="1" dirty="0" err="1"/>
              <a:t>dapat</a:t>
            </a:r>
            <a:r>
              <a:rPr lang="en-US" sz="2400" b="1" dirty="0"/>
              <a:t> </a:t>
            </a:r>
            <a:r>
              <a:rPr lang="en-US" sz="2400" b="1" dirty="0" err="1"/>
              <a:t>dikembangkan</a:t>
            </a:r>
            <a:r>
              <a:rPr lang="en-US" sz="2400" b="1" dirty="0"/>
              <a:t> dan </a:t>
            </a:r>
            <a:r>
              <a:rPr lang="en-US" sz="2400" b="1" dirty="0" err="1"/>
              <a:t>dikelola</a:t>
            </a:r>
            <a:r>
              <a:rPr lang="en-US" sz="2400" b="1" dirty="0"/>
              <a:t> oleh </a:t>
            </a:r>
            <a:r>
              <a:rPr lang="en-US" sz="2400" b="1" dirty="0" err="1"/>
              <a:t>sebuah</a:t>
            </a:r>
            <a:r>
              <a:rPr lang="en-US" sz="2400" b="1" dirty="0"/>
              <a:t> </a:t>
            </a:r>
            <a:r>
              <a:rPr lang="en-US" sz="2400" b="1" dirty="0" err="1"/>
              <a:t>organisasi</a:t>
            </a:r>
            <a:r>
              <a:rPr lang="en-US" sz="2400" b="1" dirty="0"/>
              <a:t>.”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C1C1D9-DBC5-46EF-B064-EF601B44E4E7}"/>
              </a:ext>
            </a:extLst>
          </p:cNvPr>
          <p:cNvSpPr txBox="1"/>
          <p:nvPr/>
        </p:nvSpPr>
        <p:spPr>
          <a:xfrm>
            <a:off x="2560320" y="1782785"/>
            <a:ext cx="9387840" cy="561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dirty="0"/>
              <a:t>“Model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bagus</a:t>
            </a:r>
            <a:r>
              <a:rPr lang="en-US" sz="2800" dirty="0"/>
              <a:t> </a:t>
            </a:r>
            <a:r>
              <a:rPr lang="en-US" sz="2800" dirty="0" err="1"/>
              <a:t>karena</a:t>
            </a:r>
            <a:r>
              <a:rPr lang="en-US" sz="2800" dirty="0"/>
              <a:t> </a:t>
            </a:r>
            <a:r>
              <a:rPr lang="en-US" sz="2800" i="1" dirty="0"/>
              <a:t>Andi</a:t>
            </a:r>
            <a:r>
              <a:rPr lang="en-US" sz="2800" dirty="0"/>
              <a:t> yang </a:t>
            </a:r>
            <a:r>
              <a:rPr lang="en-US" sz="2800" dirty="0" err="1"/>
              <a:t>mengerjakannya</a:t>
            </a:r>
            <a:r>
              <a:rPr lang="en-US" sz="2800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658290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94342-442D-2D97-F7EB-388184EC6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3C25E-5C20-A753-6442-98E5D9FDE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Mengapa</a:t>
            </a:r>
            <a:r>
              <a:rPr lang="en-US" dirty="0"/>
              <a:t> Bisa </a:t>
            </a:r>
            <a:r>
              <a:rPr lang="en-US" dirty="0" err="1"/>
              <a:t>Gagal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1FEB6-190B-29C8-486D-2F3D69A45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6352" y="1950719"/>
            <a:ext cx="8979490" cy="4226243"/>
          </a:xfrm>
        </p:spPr>
        <p:txBody>
          <a:bodyPr/>
          <a:lstStyle/>
          <a:p>
            <a:r>
              <a:rPr lang="en-US" dirty="0">
                <a:latin typeface="Agency FB" panose="020B0503020202020204" pitchFamily="34" charset="0"/>
              </a:rPr>
              <a:t>insight</a:t>
            </a:r>
          </a:p>
          <a:p>
            <a:pPr lvl="1"/>
            <a:r>
              <a:rPr lang="en-US" dirty="0">
                <a:latin typeface="Agency FB" panose="020B0503020202020204" pitchFamily="34" charset="0"/>
              </a:rPr>
              <a:t>“</a:t>
            </a:r>
            <a:r>
              <a:rPr lang="en-US" dirty="0" err="1">
                <a:latin typeface="Agency FB" panose="020B0503020202020204" pitchFamily="34" charset="0"/>
              </a:rPr>
              <a:t>Pelanggan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usia</a:t>
            </a:r>
            <a:r>
              <a:rPr lang="en-US" dirty="0">
                <a:latin typeface="Agency FB" panose="020B0503020202020204" pitchFamily="34" charset="0"/>
              </a:rPr>
              <a:t> 20–30 </a:t>
            </a:r>
            <a:r>
              <a:rPr lang="en-US" dirty="0" err="1">
                <a:latin typeface="Agency FB" panose="020B0503020202020204" pitchFamily="34" charset="0"/>
              </a:rPr>
              <a:t>tahun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lebih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sering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membeli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produk</a:t>
            </a:r>
            <a:r>
              <a:rPr lang="en-US" dirty="0">
                <a:latin typeface="Agency FB" panose="020B0503020202020204" pitchFamily="34" charset="0"/>
              </a:rPr>
              <a:t> X.”</a:t>
            </a:r>
          </a:p>
          <a:p>
            <a:r>
              <a:rPr lang="en-US" dirty="0" err="1">
                <a:latin typeface="Agency FB" panose="020B0503020202020204" pitchFamily="34" charset="0"/>
              </a:rPr>
              <a:t>Perlu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memiliki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nilai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bisnis</a:t>
            </a:r>
            <a:endParaRPr lang="en-US" dirty="0">
              <a:latin typeface="Agency FB" panose="020B0503020202020204" pitchFamily="34" charset="0"/>
            </a:endParaRPr>
          </a:p>
          <a:p>
            <a:pPr lvl="1"/>
            <a:r>
              <a:rPr lang="en-US" dirty="0" err="1">
                <a:latin typeface="Agency FB" panose="020B0503020202020204" pitchFamily="34" charset="0"/>
              </a:rPr>
              <a:t>Menargetkan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pelanggan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usia</a:t>
            </a:r>
            <a:r>
              <a:rPr lang="en-US" dirty="0">
                <a:latin typeface="Agency FB" panose="020B0503020202020204" pitchFamily="34" charset="0"/>
              </a:rPr>
              <a:t> 20–30 </a:t>
            </a:r>
            <a:r>
              <a:rPr lang="en-US" dirty="0" err="1">
                <a:latin typeface="Agency FB" panose="020B0503020202020204" pitchFamily="34" charset="0"/>
              </a:rPr>
              <a:t>tahun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dengan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promosi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produk</a:t>
            </a:r>
            <a:r>
              <a:rPr lang="en-US" dirty="0">
                <a:latin typeface="Agency FB" panose="020B0503020202020204" pitchFamily="34" charset="0"/>
              </a:rPr>
              <a:t> X → </a:t>
            </a:r>
            <a:r>
              <a:rPr lang="en-US" dirty="0" err="1">
                <a:latin typeface="Agency FB" panose="020B0503020202020204" pitchFamily="34" charset="0"/>
              </a:rPr>
              <a:t>penjualan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meningkat</a:t>
            </a:r>
            <a:r>
              <a:rPr lang="en-US" dirty="0">
                <a:latin typeface="Agency FB" panose="020B0503020202020204" pitchFamily="34" charset="0"/>
              </a:rPr>
              <a:t>.</a:t>
            </a:r>
          </a:p>
          <a:p>
            <a:r>
              <a:rPr lang="en-US" dirty="0">
                <a:latin typeface="Agency FB" panose="020B0503020202020204" pitchFamily="34" charset="0"/>
              </a:rPr>
              <a:t> Data → </a:t>
            </a:r>
            <a:r>
              <a:rPr lang="en-US" dirty="0" err="1">
                <a:latin typeface="Agency FB" panose="020B0503020202020204" pitchFamily="34" charset="0"/>
              </a:rPr>
              <a:t>Analisis</a:t>
            </a:r>
            <a:r>
              <a:rPr lang="en-US" dirty="0">
                <a:latin typeface="Agency FB" panose="020B0503020202020204" pitchFamily="34" charset="0"/>
              </a:rPr>
              <a:t> → Insight → Action → Outcome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E237D9-2875-2753-E4FF-12B7313F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58" y="1825625"/>
            <a:ext cx="2139778" cy="268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39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218B4-9E93-FC2A-BA31-5D9B0F11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C7057-EEF5-8640-E7F4-CDDCD660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Mengapa</a:t>
            </a:r>
            <a:r>
              <a:rPr lang="en-US" dirty="0"/>
              <a:t> Bisa </a:t>
            </a:r>
            <a:r>
              <a:rPr lang="en-US" dirty="0" err="1"/>
              <a:t>Gagal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86E32-9D08-96A0-F4A3-5B7B00AA5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6496" y="1825625"/>
            <a:ext cx="898550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Apakah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kita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bisa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membuat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AI?”</a:t>
            </a:r>
          </a:p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Apakah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organisasi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mau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dan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mampu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menggunakan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AI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tersebut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?”</a:t>
            </a:r>
          </a:p>
          <a:p>
            <a:endParaRPr lang="en-US" dirty="0"/>
          </a:p>
          <a:p>
            <a:r>
              <a:rPr lang="en-US" dirty="0">
                <a:latin typeface="Agency FB" panose="020B0503020202020204" pitchFamily="34" charset="0"/>
              </a:rPr>
              <a:t>model </a:t>
            </a:r>
            <a:r>
              <a:rPr lang="en-US" dirty="0" err="1">
                <a:latin typeface="Agency FB" panose="020B0503020202020204" pitchFamily="34" charset="0"/>
              </a:rPr>
              <a:t>prediksi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sudah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memiliki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akurasi</a:t>
            </a:r>
            <a:r>
              <a:rPr lang="en-US" dirty="0">
                <a:latin typeface="Agency FB" panose="020B0503020202020204" pitchFamily="34" charset="0"/>
              </a:rPr>
              <a:t> 95%.</a:t>
            </a:r>
          </a:p>
          <a:p>
            <a:pPr lvl="1"/>
            <a:r>
              <a:rPr lang="en-US" dirty="0" err="1">
                <a:latin typeface="Agency FB" panose="020B0503020202020204" pitchFamily="34" charset="0"/>
              </a:rPr>
              <a:t>dokter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tidak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percaya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hasil</a:t>
            </a:r>
            <a:r>
              <a:rPr lang="en-US" dirty="0">
                <a:latin typeface="Agency FB" panose="020B0503020202020204" pitchFamily="34" charset="0"/>
              </a:rPr>
              <a:t> model, </a:t>
            </a:r>
          </a:p>
          <a:p>
            <a:pPr lvl="1"/>
            <a:r>
              <a:rPr lang="en-US" dirty="0" err="1">
                <a:latin typeface="Agency FB" panose="020B0503020202020204" pitchFamily="34" charset="0"/>
              </a:rPr>
              <a:t>pegawai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tidak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mau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menggunakan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aplikasi</a:t>
            </a:r>
            <a:r>
              <a:rPr lang="en-US" dirty="0">
                <a:latin typeface="Agency FB" panose="020B0503020202020204" pitchFamily="34" charset="0"/>
              </a:rPr>
              <a:t>, </a:t>
            </a:r>
          </a:p>
          <a:p>
            <a:pPr lvl="1"/>
            <a:r>
              <a:rPr lang="en-US" dirty="0">
                <a:latin typeface="Agency FB" panose="020B0503020202020204" pitchFamily="34" charset="0"/>
              </a:rPr>
              <a:t>model </a:t>
            </a:r>
            <a:r>
              <a:rPr lang="en-US" dirty="0" err="1">
                <a:latin typeface="Agency FB" panose="020B0503020202020204" pitchFamily="34" charset="0"/>
              </a:rPr>
              <a:t>tidak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terintegrasi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dengan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sistem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kerja</a:t>
            </a:r>
            <a:r>
              <a:rPr lang="en-US" dirty="0">
                <a:latin typeface="Agency FB" panose="020B0503020202020204" pitchFamily="34" charset="0"/>
              </a:rPr>
              <a:t>, </a:t>
            </a:r>
          </a:p>
          <a:p>
            <a:pPr lvl="1"/>
            <a:r>
              <a:rPr lang="en-US" dirty="0" err="1">
                <a:latin typeface="Agency FB" panose="020B0503020202020204" pitchFamily="34" charset="0"/>
              </a:rPr>
              <a:t>hasil</a:t>
            </a:r>
            <a:r>
              <a:rPr lang="en-US" dirty="0">
                <a:latin typeface="Agency FB" panose="020B0503020202020204" pitchFamily="34" charset="0"/>
              </a:rPr>
              <a:t> model </a:t>
            </a:r>
            <a:r>
              <a:rPr lang="en-US" dirty="0" err="1">
                <a:latin typeface="Agency FB" panose="020B0503020202020204" pitchFamily="34" charset="0"/>
              </a:rPr>
              <a:t>terlalu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lambat</a:t>
            </a:r>
            <a:r>
              <a:rPr lang="en-US" dirty="0">
                <a:latin typeface="Agency FB" panose="020B0503020202020204" pitchFamily="34" charset="0"/>
              </a:rPr>
              <a:t>, </a:t>
            </a:r>
          </a:p>
          <a:p>
            <a:pPr lvl="1"/>
            <a:r>
              <a:rPr lang="en-US" dirty="0" err="1">
                <a:latin typeface="Agency FB" panose="020B0503020202020204" pitchFamily="34" charset="0"/>
              </a:rPr>
              <a:t>tidak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ada</a:t>
            </a:r>
            <a:r>
              <a:rPr lang="en-US" dirty="0">
                <a:latin typeface="Agency FB" panose="020B0503020202020204" pitchFamily="34" charset="0"/>
              </a:rPr>
              <a:t> SOP </a:t>
            </a:r>
            <a:r>
              <a:rPr lang="en-US" dirty="0" err="1">
                <a:latin typeface="Agency FB" panose="020B0503020202020204" pitchFamily="34" charset="0"/>
              </a:rPr>
              <a:t>penggunaan</a:t>
            </a:r>
            <a:r>
              <a:rPr lang="en-US" dirty="0">
                <a:latin typeface="Agency FB" panose="020B0503020202020204" pitchFamily="34" charset="0"/>
              </a:rPr>
              <a:t>, </a:t>
            </a:r>
          </a:p>
          <a:p>
            <a:pPr lvl="1"/>
            <a:r>
              <a:rPr lang="en-US" dirty="0" err="1">
                <a:latin typeface="Agency FB" panose="020B0503020202020204" pitchFamily="34" charset="0"/>
              </a:rPr>
              <a:t>manajemen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tidak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mengetahui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manfaatnya</a:t>
            </a:r>
            <a:r>
              <a:rPr lang="en-US" dirty="0">
                <a:latin typeface="Agency FB" panose="020B0503020202020204" pitchFamily="34" charset="0"/>
              </a:rPr>
              <a:t>,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3C3344-59D5-ADAE-4BD9-E33532E9D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58" y="1809609"/>
            <a:ext cx="2252550" cy="40564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D1ABF4-EBE2-BB4C-A197-F708402C8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247" y="1772032"/>
            <a:ext cx="550045" cy="5729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73CA06-CF05-C599-0AAD-F88364C1D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247" y="2394588"/>
            <a:ext cx="625050" cy="57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23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F039-53D3-13BC-A5A8-4582D3161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AA012-E8A7-66F8-E7F2-7C870816E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50245-0375-7EBD-0F59-C5FB2B3C1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30054"/>
            <a:ext cx="9876376" cy="56469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965603-00EE-D5B9-2812-3615D46D49E3}"/>
              </a:ext>
            </a:extLst>
          </p:cNvPr>
          <p:cNvSpPr txBox="1"/>
          <p:nvPr/>
        </p:nvSpPr>
        <p:spPr>
          <a:xfrm>
            <a:off x="1255776" y="5807631"/>
            <a:ext cx="7168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Agency FB" panose="020B0503020202020204" pitchFamily="34" charset="0"/>
              </a:rPr>
              <a:t>riset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b="1" dirty="0" err="1">
                <a:latin typeface="Agency FB" panose="020B0503020202020204" pitchFamily="34" charset="0"/>
              </a:rPr>
              <a:t>Orgvue</a:t>
            </a:r>
            <a:r>
              <a:rPr lang="en-US" b="1" dirty="0">
                <a:latin typeface="Agency FB" panose="020B0503020202020204" pitchFamily="34" charset="0"/>
              </a:rPr>
              <a:t> 2026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dirty="0" err="1">
                <a:latin typeface="Agency FB" panose="020B0503020202020204" pitchFamily="34" charset="0"/>
              </a:rPr>
              <a:t>terhadap</a:t>
            </a:r>
            <a:r>
              <a:rPr lang="en-US" dirty="0">
                <a:latin typeface="Agency FB" panose="020B0503020202020204" pitchFamily="34" charset="0"/>
              </a:rPr>
              <a:t> </a:t>
            </a:r>
            <a:r>
              <a:rPr lang="en-US" b="1" dirty="0">
                <a:latin typeface="Agency FB" panose="020B0503020202020204" pitchFamily="34" charset="0"/>
              </a:rPr>
              <a:t>1.163 </a:t>
            </a:r>
            <a:r>
              <a:rPr lang="en-US" b="1" dirty="0" err="1">
                <a:latin typeface="Agency FB" panose="020B0503020202020204" pitchFamily="34" charset="0"/>
              </a:rPr>
              <a:t>pengambil</a:t>
            </a:r>
            <a:r>
              <a:rPr lang="en-US" b="1" dirty="0">
                <a:latin typeface="Agency FB" panose="020B0503020202020204" pitchFamily="34" charset="0"/>
              </a:rPr>
              <a:t> </a:t>
            </a:r>
            <a:r>
              <a:rPr lang="en-US" b="1" dirty="0" err="1">
                <a:latin typeface="Agency FB" panose="020B0503020202020204" pitchFamily="34" charset="0"/>
              </a:rPr>
              <a:t>keputusan</a:t>
            </a:r>
            <a:r>
              <a:rPr lang="en-US" b="1" dirty="0">
                <a:latin typeface="Agency FB" panose="020B0503020202020204" pitchFamily="34" charset="0"/>
              </a:rPr>
              <a:t> senior</a:t>
            </a:r>
            <a:endParaRPr lang="en-US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178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A0D79-A361-F673-2000-0BF0BABB1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4DCA034-206A-3049-CDD2-7F32B9CC656C}"/>
              </a:ext>
            </a:extLst>
          </p:cNvPr>
          <p:cNvSpPr/>
          <p:nvPr/>
        </p:nvSpPr>
        <p:spPr>
          <a:xfrm>
            <a:off x="3953690" y="1524000"/>
            <a:ext cx="2778088" cy="4735866"/>
          </a:xfrm>
          <a:prstGeom prst="rect">
            <a:avLst/>
          </a:prstGeom>
          <a:solidFill>
            <a:schemeClr val="accent5">
              <a:lumMod val="20000"/>
              <a:lumOff val="80000"/>
              <a:alpha val="83000"/>
            </a:schemeClr>
          </a:solidFill>
          <a:ln w="38100"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accent5"/>
                </a:solidFill>
                <a:latin typeface="Aptos" panose="020B0004020202020204" pitchFamily="34" charset="0"/>
              </a:rPr>
              <a:t>Training</a:t>
            </a:r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 phase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C75B8E-728C-5004-9A95-7258624E4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851899" cy="903962"/>
          </a:xfrm>
        </p:spPr>
        <p:txBody>
          <a:bodyPr/>
          <a:lstStyle/>
          <a:p>
            <a:r>
              <a:rPr lang="en-US" dirty="0"/>
              <a:t>Common mistakes in AI/DS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F3F059-A6FB-B608-EC32-0D61AC39CD5E}"/>
              </a:ext>
            </a:extLst>
          </p:cNvPr>
          <p:cNvSpPr/>
          <p:nvPr/>
        </p:nvSpPr>
        <p:spPr>
          <a:xfrm>
            <a:off x="4302084" y="2008631"/>
            <a:ext cx="2216333" cy="7778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Problem definition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A5756E-B54E-6E60-C193-6E0E3A4B5243}"/>
              </a:ext>
            </a:extLst>
          </p:cNvPr>
          <p:cNvSpPr/>
          <p:nvPr/>
        </p:nvSpPr>
        <p:spPr>
          <a:xfrm>
            <a:off x="4302084" y="3100886"/>
            <a:ext cx="2216333" cy="7778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Data collection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D6CE12D-3263-0590-4EB1-0532A872D024}"/>
              </a:ext>
            </a:extLst>
          </p:cNvPr>
          <p:cNvSpPr/>
          <p:nvPr/>
        </p:nvSpPr>
        <p:spPr>
          <a:xfrm>
            <a:off x="4302084" y="4180916"/>
            <a:ext cx="2216333" cy="7778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Model building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8672833-BE0F-9BAE-D656-2D860B15D3DF}"/>
              </a:ext>
            </a:extLst>
          </p:cNvPr>
          <p:cNvSpPr/>
          <p:nvPr/>
        </p:nvSpPr>
        <p:spPr>
          <a:xfrm>
            <a:off x="4302084" y="5230466"/>
            <a:ext cx="2216333" cy="77785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Model evaluation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1AD884E-F780-B52F-13D0-45E914D8862F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>
            <a:off x="5410251" y="2786482"/>
            <a:ext cx="0" cy="31440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CC8C8F1-31AB-E1BA-21BC-72A62D0A3FF7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>
            <a:off x="5410251" y="3878737"/>
            <a:ext cx="0" cy="3021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B68A4C0-5BB2-2B91-7150-522F95C0EDE0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>
            <a:off x="5410251" y="4958767"/>
            <a:ext cx="0" cy="271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04EA1788-7FCE-88B7-B687-482BFCAA7690}"/>
              </a:ext>
            </a:extLst>
          </p:cNvPr>
          <p:cNvCxnSpPr>
            <a:stCxn id="22" idx="1"/>
            <a:endCxn id="18" idx="1"/>
          </p:cNvCxnSpPr>
          <p:nvPr/>
        </p:nvCxnSpPr>
        <p:spPr>
          <a:xfrm rot="10800000">
            <a:off x="4302084" y="4569842"/>
            <a:ext cx="12700" cy="1049550"/>
          </a:xfrm>
          <a:prstGeom prst="bent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253D520-965F-84D9-F1C8-FECF91D03477}"/>
              </a:ext>
            </a:extLst>
          </p:cNvPr>
          <p:cNvSpPr txBox="1"/>
          <p:nvPr/>
        </p:nvSpPr>
        <p:spPr>
          <a:xfrm>
            <a:off x="335280" y="1935891"/>
            <a:ext cx="3525520" cy="92333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What are we trying to do?</a:t>
            </a:r>
          </a:p>
          <a:p>
            <a:r>
              <a:rPr lang="en-US" dirty="0">
                <a:latin typeface="Aptos" panose="020B0004020202020204" pitchFamily="34" charset="0"/>
              </a:rPr>
              <a:t>What are the inputs and outputs?</a:t>
            </a:r>
          </a:p>
          <a:p>
            <a:r>
              <a:rPr lang="en-US" dirty="0">
                <a:latin typeface="Aptos" panose="020B0004020202020204" pitchFamily="34" charset="0"/>
              </a:rPr>
              <a:t>How do we define success?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BE7492-699F-5527-A3E0-74AFB469620F}"/>
              </a:ext>
            </a:extLst>
          </p:cNvPr>
          <p:cNvSpPr txBox="1"/>
          <p:nvPr/>
        </p:nvSpPr>
        <p:spPr>
          <a:xfrm>
            <a:off x="335280" y="2997815"/>
            <a:ext cx="3525520" cy="92333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Image capturing</a:t>
            </a:r>
          </a:p>
          <a:p>
            <a:r>
              <a:rPr lang="en-US" dirty="0">
                <a:latin typeface="Aptos" panose="020B0004020202020204" pitchFamily="34" charset="0"/>
              </a:rPr>
              <a:t>Sound recording</a:t>
            </a:r>
          </a:p>
          <a:p>
            <a:r>
              <a:rPr lang="en-US" dirty="0">
                <a:latin typeface="Aptos" panose="020B0004020202020204" pitchFamily="34" charset="0"/>
              </a:rPr>
              <a:t>Text scraping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373B59-FF90-DF37-C418-F96C8B529880}"/>
              </a:ext>
            </a:extLst>
          </p:cNvPr>
          <p:cNvSpPr txBox="1"/>
          <p:nvPr/>
        </p:nvSpPr>
        <p:spPr>
          <a:xfrm>
            <a:off x="335280" y="4059739"/>
            <a:ext cx="3525520" cy="92333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CNN</a:t>
            </a:r>
          </a:p>
          <a:p>
            <a:r>
              <a:rPr lang="en-US" dirty="0">
                <a:latin typeface="Aptos" panose="020B0004020202020204" pitchFamily="34" charset="0"/>
              </a:rPr>
              <a:t>KNN</a:t>
            </a:r>
          </a:p>
          <a:p>
            <a:r>
              <a:rPr lang="en-US" dirty="0">
                <a:latin typeface="Aptos" panose="020B0004020202020204" pitchFamily="34" charset="0"/>
              </a:rPr>
              <a:t>Transformers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2A0226-081A-97BA-D888-8C47F8ACB290}"/>
              </a:ext>
            </a:extLst>
          </p:cNvPr>
          <p:cNvSpPr txBox="1"/>
          <p:nvPr/>
        </p:nvSpPr>
        <p:spPr>
          <a:xfrm>
            <a:off x="335280" y="5127556"/>
            <a:ext cx="3525520" cy="92333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Accuracy</a:t>
            </a:r>
          </a:p>
          <a:p>
            <a:r>
              <a:rPr lang="en-US" dirty="0">
                <a:latin typeface="Aptos" panose="020B0004020202020204" pitchFamily="34" charset="0"/>
              </a:rPr>
              <a:t>F1-score</a:t>
            </a:r>
          </a:p>
          <a:p>
            <a:r>
              <a:rPr lang="en-US" dirty="0">
                <a:latin typeface="Aptos" panose="020B0004020202020204" pitchFamily="34" charset="0"/>
              </a:rPr>
              <a:t>AUC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309091-66FE-2830-AD65-D604B841F7D4}"/>
              </a:ext>
            </a:extLst>
          </p:cNvPr>
          <p:cNvSpPr txBox="1"/>
          <p:nvPr/>
        </p:nvSpPr>
        <p:spPr>
          <a:xfrm>
            <a:off x="6824668" y="1844378"/>
            <a:ext cx="3569012" cy="92333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Unclear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Overpromising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Stakeholders are not involved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F0A687-6112-F9B9-A019-F3DDC392D13A}"/>
              </a:ext>
            </a:extLst>
          </p:cNvPr>
          <p:cNvSpPr txBox="1"/>
          <p:nvPr/>
        </p:nvSpPr>
        <p:spPr>
          <a:xfrm>
            <a:off x="6824668" y="2843480"/>
            <a:ext cx="3203252" cy="120032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Insufficient data (quantity)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Bad quality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Bias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Data leakage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853B9C-5DEE-D664-F688-CD9ECBB8EF5F}"/>
              </a:ext>
            </a:extLst>
          </p:cNvPr>
          <p:cNvSpPr txBox="1"/>
          <p:nvPr/>
        </p:nvSpPr>
        <p:spPr>
          <a:xfrm>
            <a:off x="6824668" y="4155592"/>
            <a:ext cx="3680772" cy="92333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Wrong architecture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Unfit for the target device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588BC2-DDE8-F749-4A5F-13A5AFD22C56}"/>
              </a:ext>
            </a:extLst>
          </p:cNvPr>
          <p:cNvSpPr txBox="1"/>
          <p:nvPr/>
        </p:nvSpPr>
        <p:spPr>
          <a:xfrm>
            <a:off x="6824668" y="5296225"/>
            <a:ext cx="3680772" cy="64633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Wrong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Data leakage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BD7489-BE78-3A3E-AA5F-D3ECECA9DC41}"/>
              </a:ext>
            </a:extLst>
          </p:cNvPr>
          <p:cNvSpPr/>
          <p:nvPr/>
        </p:nvSpPr>
        <p:spPr>
          <a:xfrm>
            <a:off x="10191930" y="2680685"/>
            <a:ext cx="1634310" cy="58552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Garbage in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322BD9B-772C-B85A-4241-9F5A9CE7A74B}"/>
              </a:ext>
            </a:extLst>
          </p:cNvPr>
          <p:cNvSpPr/>
          <p:nvPr/>
        </p:nvSpPr>
        <p:spPr>
          <a:xfrm>
            <a:off x="10191930" y="3530047"/>
            <a:ext cx="1634310" cy="58552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Garbage out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C842CE-62B7-1FF4-8229-645E02E7AA30}"/>
              </a:ext>
            </a:extLst>
          </p:cNvPr>
          <p:cNvCxnSpPr>
            <a:cxnSpLocks/>
            <a:stCxn id="31" idx="2"/>
            <a:endCxn id="39" idx="0"/>
          </p:cNvCxnSpPr>
          <p:nvPr/>
        </p:nvCxnSpPr>
        <p:spPr>
          <a:xfrm>
            <a:off x="11009085" y="3266205"/>
            <a:ext cx="0" cy="263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822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CE3F-008F-2CDB-B10E-E4189AF4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Science - </a:t>
            </a:r>
            <a:r>
              <a:rPr lang="en-US" dirty="0" err="1"/>
              <a:t>Terapan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EC07A-3F45-2212-7293-83A7FC52D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416" y="1825625"/>
            <a:ext cx="954938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Agency FB" panose="020B0503020202020204" pitchFamily="34" charset="0"/>
              </a:rPr>
              <a:t>Data → Training Model → Accuracy</a:t>
            </a:r>
          </a:p>
          <a:p>
            <a:pPr marL="0" indent="0">
              <a:buNone/>
            </a:pPr>
            <a:r>
              <a:rPr lang="en-US" sz="3200" dirty="0">
                <a:latin typeface="Agency FB" panose="020B0503020202020204" pitchFamily="34" charset="0"/>
              </a:rPr>
              <a:t>Proses Panjang dan </a:t>
            </a:r>
            <a:r>
              <a:rPr lang="en-US" sz="3200" dirty="0" err="1">
                <a:latin typeface="Agency FB" panose="020B0503020202020204" pitchFamily="34" charset="0"/>
              </a:rPr>
              <a:t>bisa</a:t>
            </a:r>
            <a:r>
              <a:rPr lang="en-US" sz="3200" dirty="0">
                <a:latin typeface="Agency FB" panose="020B0503020202020204" pitchFamily="34" charset="0"/>
              </a:rPr>
              <a:t> </a:t>
            </a:r>
            <a:r>
              <a:rPr lang="en-US" sz="3200" dirty="0" err="1">
                <a:latin typeface="Agency FB" panose="020B0503020202020204" pitchFamily="34" charset="0"/>
              </a:rPr>
              <a:t>berulang</a:t>
            </a:r>
            <a:endParaRPr lang="en-US" sz="3200" dirty="0">
              <a:latin typeface="Agency FB" panose="020B0503020202020204" pitchFamily="34" charset="0"/>
            </a:endParaRPr>
          </a:p>
          <a:p>
            <a:pPr marL="0" indent="0">
              <a:buNone/>
            </a:pPr>
            <a:r>
              <a:rPr lang="en-US" sz="3200" dirty="0" err="1">
                <a:latin typeface="Agency FB" panose="020B0503020202020204" pitchFamily="34" charset="0"/>
              </a:rPr>
              <a:t>Masalah</a:t>
            </a:r>
            <a:r>
              <a:rPr lang="en-US" sz="3200" dirty="0">
                <a:latin typeface="Agency FB" panose="020B0503020202020204" pitchFamily="34" charset="0"/>
              </a:rPr>
              <a:t> → Data → </a:t>
            </a:r>
            <a:r>
              <a:rPr lang="en-US" sz="3200" dirty="0" err="1">
                <a:latin typeface="Agency FB" panose="020B0503020202020204" pitchFamily="34" charset="0"/>
              </a:rPr>
              <a:t>Pemahaman</a:t>
            </a:r>
            <a:r>
              <a:rPr lang="en-US" sz="3200" dirty="0">
                <a:latin typeface="Agency FB" panose="020B0503020202020204" pitchFamily="34" charset="0"/>
              </a:rPr>
              <a:t> → Preparation → Model → </a:t>
            </a:r>
            <a:r>
              <a:rPr lang="en-US" sz="3200" dirty="0" err="1">
                <a:latin typeface="Agency FB" panose="020B0503020202020204" pitchFamily="34" charset="0"/>
              </a:rPr>
              <a:t>Evaluasi</a:t>
            </a:r>
            <a:r>
              <a:rPr lang="en-US" sz="3200" dirty="0">
                <a:latin typeface="Agency FB" panose="020B0503020202020204" pitchFamily="34" charset="0"/>
              </a:rPr>
              <a:t> → Deployment → </a:t>
            </a:r>
            <a:r>
              <a:rPr lang="en-US" sz="3200" dirty="0" err="1">
                <a:latin typeface="Agency FB" panose="020B0503020202020204" pitchFamily="34" charset="0"/>
              </a:rPr>
              <a:t>Penggunaan</a:t>
            </a:r>
            <a:r>
              <a:rPr lang="en-US" sz="3200" dirty="0">
                <a:latin typeface="Agency FB" panose="020B0503020202020204" pitchFamily="34" charset="0"/>
              </a:rPr>
              <a:t> → Monitoring → Outcome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ABE78-E5D9-8E98-9889-2A7F3D256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1625"/>
            <a:ext cx="550045" cy="572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BC6BBF-54A0-2DBC-D5BC-A3B9948BB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09" y="2636397"/>
            <a:ext cx="625050" cy="57296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C065534-F223-0899-533E-6D32F07D76A7}"/>
              </a:ext>
            </a:extLst>
          </p:cNvPr>
          <p:cNvSpPr/>
          <p:nvPr/>
        </p:nvSpPr>
        <p:spPr>
          <a:xfrm>
            <a:off x="217424" y="4858970"/>
            <a:ext cx="2457270" cy="111915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Fail to design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FF1C40-FD39-166C-6FE9-6F5BC0A1C0FC}"/>
              </a:ext>
            </a:extLst>
          </p:cNvPr>
          <p:cNvSpPr/>
          <p:nvPr/>
        </p:nvSpPr>
        <p:spPr>
          <a:xfrm>
            <a:off x="3612314" y="4858970"/>
            <a:ext cx="2944950" cy="111915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Designed to fail</a:t>
            </a:r>
          </a:p>
        </p:txBody>
      </p:sp>
      <p:sp>
        <p:nvSpPr>
          <p:cNvPr id="13" name="Equals 12">
            <a:extLst>
              <a:ext uri="{FF2B5EF4-FFF2-40B4-BE49-F238E27FC236}">
                <a16:creationId xmlns:a16="http://schemas.microsoft.com/office/drawing/2014/main" id="{93E0CD34-700B-7C45-A678-547057FE2FDE}"/>
              </a:ext>
            </a:extLst>
          </p:cNvPr>
          <p:cNvSpPr/>
          <p:nvPr/>
        </p:nvSpPr>
        <p:spPr>
          <a:xfrm>
            <a:off x="2828544" y="5175487"/>
            <a:ext cx="629920" cy="553720"/>
          </a:xfrm>
          <a:prstGeom prst="mathEqual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947F54-88F7-5EBF-5BE2-8B5100574FCE}"/>
              </a:ext>
            </a:extLst>
          </p:cNvPr>
          <p:cNvSpPr/>
          <p:nvPr/>
        </p:nvSpPr>
        <p:spPr>
          <a:xfrm>
            <a:off x="5785612" y="4270467"/>
            <a:ext cx="6339840" cy="2296160"/>
          </a:xfrm>
          <a:prstGeom prst="rect">
            <a:avLst/>
          </a:prstGeom>
          <a:solidFill>
            <a:schemeClr val="bg1">
              <a:lumMod val="65000"/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Skip the research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Go straight to coding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No documentations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Ignoring constraints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Insisting on doing state-of-the-arts</a:t>
            </a:r>
          </a:p>
        </p:txBody>
      </p:sp>
    </p:spTree>
    <p:extLst>
      <p:ext uri="{BB962C8B-B14F-4D97-AF65-F5344CB8AC3E}">
        <p14:creationId xmlns:p14="http://schemas.microsoft.com/office/powerpoint/2010/main" val="438690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F3331-FFAA-7223-056C-6C3FF6FA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90" y="384958"/>
            <a:ext cx="10747310" cy="791571"/>
          </a:xfrm>
        </p:spPr>
        <p:txBody>
          <a:bodyPr/>
          <a:lstStyle/>
          <a:p>
            <a:r>
              <a:rPr lang="en-US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Development Life Cycle</a:t>
            </a:r>
            <a:endParaRPr lang="en-US" dirty="0"/>
          </a:p>
        </p:txBody>
      </p:sp>
      <p:pic>
        <p:nvPicPr>
          <p:cNvPr id="5" name="Google Shape;310;p135">
            <a:extLst>
              <a:ext uri="{FF2B5EF4-FFF2-40B4-BE49-F238E27FC236}">
                <a16:creationId xmlns:a16="http://schemas.microsoft.com/office/drawing/2014/main" id="{71106D0A-40D3-90C5-5937-827AAA559B3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9648" y="1176529"/>
            <a:ext cx="7578013" cy="5000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26;p137">
            <a:extLst>
              <a:ext uri="{FF2B5EF4-FFF2-40B4-BE49-F238E27FC236}">
                <a16:creationId xmlns:a16="http://schemas.microsoft.com/office/drawing/2014/main" id="{B23FE548-C00F-874D-2E27-688956A8799E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 l="16900" t="1680" r="18393" b="2574"/>
          <a:stretch/>
        </p:blipFill>
        <p:spPr>
          <a:xfrm>
            <a:off x="7877661" y="1542711"/>
            <a:ext cx="4314339" cy="42680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383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4BC8A-3DE6-DFEF-ECA6-CCA98A9E8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1067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Development Life Cycle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B20D1-1A19-3096-2EDD-5D30EC1E032B}"/>
              </a:ext>
            </a:extLst>
          </p:cNvPr>
          <p:cNvSpPr txBox="1"/>
          <p:nvPr/>
        </p:nvSpPr>
        <p:spPr>
          <a:xfrm>
            <a:off x="390144" y="1764054"/>
            <a:ext cx="6630720" cy="430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9585" indent="-405110">
              <a:lnSpc>
                <a:spcPct val="115000"/>
              </a:lnSpc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Metode SDLC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(Software Development Life Cycle)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proses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pembuatan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pengubahan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serta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model dan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metodologi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digunakan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mengembangkan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rekayasa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perangkat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lunak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585" indent="-405110">
              <a:lnSpc>
                <a:spcPct val="115000"/>
              </a:lnSpc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Proses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logika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digunakan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oleh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seorang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mengembangkan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sebuah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informasi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melibatkan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requirments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validation, training dan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pemilik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(Prof. Dr. Sri </a:t>
            </a:r>
            <a:r>
              <a:rPr lang="en-US" sz="9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Mulyani</a:t>
            </a:r>
            <a:r>
              <a:rPr lang="en-US" sz="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AK., CA. 2017)</a:t>
            </a:r>
          </a:p>
          <a:p>
            <a:pPr marL="609585" indent="-405110">
              <a:lnSpc>
                <a:spcPct val="115000"/>
              </a:lnSpc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proses yang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memproduksi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sebuah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software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kualitas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setinggi-tingginya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tetapi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biaya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serendah-rendahnya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000" u="sng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Stackify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</a:p>
          <a:p>
            <a:pPr>
              <a:lnSpc>
                <a:spcPct val="115000"/>
              </a:lnSpc>
              <a:buClr>
                <a:srgbClr val="000000"/>
              </a:buClr>
              <a:buSzPts val="1400"/>
            </a:pP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326;p137">
            <a:extLst>
              <a:ext uri="{FF2B5EF4-FFF2-40B4-BE49-F238E27FC236}">
                <a16:creationId xmlns:a16="http://schemas.microsoft.com/office/drawing/2014/main" id="{2954362F-3768-060F-68C4-09755162A5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6900" t="1680" r="18393" b="2574"/>
          <a:stretch/>
        </p:blipFill>
        <p:spPr>
          <a:xfrm>
            <a:off x="7118400" y="1536192"/>
            <a:ext cx="4585920" cy="4537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2456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354;p140">
            <a:extLst>
              <a:ext uri="{FF2B5EF4-FFF2-40B4-BE49-F238E27FC236}">
                <a16:creationId xmlns:a16="http://schemas.microsoft.com/office/drawing/2014/main" id="{B200FB4A-E9D3-1FB2-3C90-11F13F8F650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99619" y="3059115"/>
            <a:ext cx="6102221" cy="214678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4EA215-F95D-41A3-D00E-4284184B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34" y="232673"/>
            <a:ext cx="10515600" cy="1325563"/>
          </a:xfrm>
        </p:spPr>
        <p:txBody>
          <a:bodyPr/>
          <a:lstStyle/>
          <a:p>
            <a:r>
              <a:rPr lang="en-US" b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Metode SDLC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FDC86-E38E-207F-5C14-BD937387C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181" y="5107213"/>
            <a:ext cx="11114466" cy="1352939"/>
          </a:xfrm>
        </p:spPr>
        <p:txBody>
          <a:bodyPr>
            <a:normAutofit fontScale="70000" lnSpcReduction="20000"/>
          </a:bodyPr>
          <a:lstStyle/>
          <a:p>
            <a:pPr marL="432000" lvl="0" indent="-32652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Setiap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metodologi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cocok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permasalahan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dan constraint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tertentu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lvl="0" indent="-3265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Setiap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metodologi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membutuhkan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personal (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perencanaan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SDM) dan tools yang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berbeda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lvl="0" indent="-3265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Setiap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metodologi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membutuhkan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penjadwalan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perencanaan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waktu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yang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berbeda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336;p138">
            <a:extLst>
              <a:ext uri="{FF2B5EF4-FFF2-40B4-BE49-F238E27FC236}">
                <a16:creationId xmlns:a16="http://schemas.microsoft.com/office/drawing/2014/main" id="{3369E32C-B55A-AAF9-7551-87F5147DDF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553" y="1338520"/>
            <a:ext cx="4391694" cy="3768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45;p139">
            <a:extLst>
              <a:ext uri="{FF2B5EF4-FFF2-40B4-BE49-F238E27FC236}">
                <a16:creationId xmlns:a16="http://schemas.microsoft.com/office/drawing/2014/main" id="{AE31C003-4ED1-E021-8F00-8DD6089C60B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68211" y="359493"/>
            <a:ext cx="4068147" cy="2798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60;p141">
            <a:extLst>
              <a:ext uri="{FF2B5EF4-FFF2-40B4-BE49-F238E27FC236}">
                <a16:creationId xmlns:a16="http://schemas.microsoft.com/office/drawing/2014/main" id="{7DB0C43B-4B2C-EEFD-BE55-3987582CA4E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09812" y="399202"/>
            <a:ext cx="4204410" cy="30297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768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138"/>
          <p:cNvPicPr preferRelativeResize="0"/>
          <p:nvPr/>
        </p:nvPicPr>
        <p:blipFill rotWithShape="1">
          <a:blip r:embed="rId3">
            <a:alphaModFix/>
          </a:blip>
          <a:srcRect l="7615" t="19584" r="7493" b="25354"/>
          <a:stretch/>
        </p:blipFill>
        <p:spPr>
          <a:xfrm>
            <a:off x="147840" y="711840"/>
            <a:ext cx="1507680" cy="10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38"/>
          <p:cNvSpPr/>
          <p:nvPr/>
        </p:nvSpPr>
        <p:spPr>
          <a:xfrm>
            <a:off x="2049120" y="711840"/>
            <a:ext cx="8634720" cy="76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121900" rIns="120000" bIns="121900" anchor="t" anchorCtr="0">
            <a:norm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720"/>
            </a:pPr>
            <a:r>
              <a:rPr lang="en-US" sz="3627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Jenis Metode SDLC</a:t>
            </a:r>
            <a:endParaRPr sz="362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38"/>
          <p:cNvSpPr/>
          <p:nvPr/>
        </p:nvSpPr>
        <p:spPr>
          <a:xfrm>
            <a:off x="6443040" y="1536480"/>
            <a:ext cx="5331840" cy="455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8"/>
          <p:cNvSpPr/>
          <p:nvPr/>
        </p:nvSpPr>
        <p:spPr>
          <a:xfrm>
            <a:off x="457440" y="1804320"/>
            <a:ext cx="5937120" cy="487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121900" rIns="120000" bIns="121900" anchor="t" anchorCtr="0">
            <a:noAutofit/>
          </a:bodyPr>
          <a:lstStyle/>
          <a:p>
            <a:pPr marL="609585" indent="-405110">
              <a:lnSpc>
                <a:spcPct val="115000"/>
              </a:lnSpc>
              <a:buClr>
                <a:srgbClr val="595959"/>
              </a:buClr>
              <a:buSzPts val="1000"/>
              <a:buFont typeface="Arial"/>
              <a:buChar char="●"/>
            </a:pPr>
            <a:r>
              <a:rPr lang="en-US" sz="1333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Waterfall</a:t>
            </a:r>
            <a:r>
              <a:rPr lang="en-US" sz="13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(Air Terjun)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235">
              <a:lnSpc>
                <a:spcPct val="115000"/>
              </a:lnSpc>
              <a:buClr>
                <a:srgbClr val="000000"/>
              </a:buClr>
              <a:buSzPts val="1000"/>
            </a:pP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235">
              <a:lnSpc>
                <a:spcPct val="115000"/>
              </a:lnSpc>
              <a:buClr>
                <a:srgbClr val="000000"/>
              </a:buClr>
              <a:buSzPts val="1000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Metode kerja yang menekankan fase-fase yang berurutan dan sistematis. Disebut waterfall karena proses mengalir satu arah “ke bawah” seperti air terjun. Metode waterfall ini harus dilakukan secara berurutan sesuai dengan tahap yang ada.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235">
              <a:lnSpc>
                <a:spcPct val="115000"/>
              </a:lnSpc>
              <a:buClr>
                <a:srgbClr val="000000"/>
              </a:buClr>
              <a:buSzPts val="1000"/>
            </a:pPr>
            <a:r>
              <a:rPr lang="en-US" sz="13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</a:t>
            </a: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3190">
              <a:lnSpc>
                <a:spcPct val="115000"/>
              </a:lnSpc>
              <a:buClr>
                <a:srgbClr val="595959"/>
              </a:buClr>
              <a:buSzPts val="1000"/>
              <a:buFont typeface="Arial"/>
              <a:buChar char="○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Paling handal dan paling lama digunakan.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3190">
              <a:lnSpc>
                <a:spcPct val="115000"/>
              </a:lnSpc>
              <a:buClr>
                <a:srgbClr val="595959"/>
              </a:buClr>
              <a:buSzPts val="1000"/>
              <a:buFont typeface="Arial"/>
              <a:buChar char="○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Cocok untuk sistem software dengan kompleksitas rendah 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3190">
              <a:lnSpc>
                <a:spcPct val="115000"/>
              </a:lnSpc>
              <a:buClr>
                <a:srgbClr val="595959"/>
              </a:buClr>
              <a:buSzPts val="1000"/>
              <a:buFont typeface="Arial"/>
              <a:buChar char="○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Pengerjaan project sistem terjadwal dengan baik dan mudah dikontrol (keteraturan dan jadwal rapih)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235">
              <a:lnSpc>
                <a:spcPct val="115000"/>
              </a:lnSpc>
              <a:buClr>
                <a:srgbClr val="000000"/>
              </a:buClr>
              <a:buSzPts val="1000"/>
            </a:pPr>
            <a:r>
              <a:rPr lang="en-US" sz="13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Kontra</a:t>
            </a: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3190">
              <a:lnSpc>
                <a:spcPct val="115000"/>
              </a:lnSpc>
              <a:buClr>
                <a:srgbClr val="595959"/>
              </a:buClr>
              <a:buSzPts val="1000"/>
              <a:buFont typeface="Arial"/>
              <a:buChar char="○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Waktu pengembangan lama,harus menunggu tahap sebelumnya selesai. shg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3190">
              <a:lnSpc>
                <a:spcPct val="115000"/>
              </a:lnSpc>
              <a:buClr>
                <a:srgbClr val="595959"/>
              </a:buClr>
              <a:buSzPts val="1000"/>
              <a:buFont typeface="Arial"/>
              <a:buChar char="○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Biaya juga mahal, 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3190">
              <a:lnSpc>
                <a:spcPct val="115000"/>
              </a:lnSpc>
              <a:buClr>
                <a:srgbClr val="595959"/>
              </a:buClr>
              <a:buSzPts val="1000"/>
              <a:buFont typeface="Arial"/>
              <a:buChar char="○"/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Kaku, tahapan pada waterfall tidak dapat berulang, maka model ini tidak cocok untuk proyek dengan kompleksitas tinggi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1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39520" y="1536480"/>
            <a:ext cx="5138880" cy="513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38"/>
          <p:cNvSpPr txBox="1"/>
          <p:nvPr/>
        </p:nvSpPr>
        <p:spPr>
          <a:xfrm>
            <a:off x="0" y="6412800"/>
            <a:ext cx="60864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>
              <a:buClr>
                <a:srgbClr val="000000"/>
              </a:buClr>
              <a:buSzPts val="1000"/>
            </a:pPr>
            <a:fld id="{00000000-1234-1234-1234-123412341234}" type="slidenum">
              <a:rPr lang="en-US" sz="13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1000"/>
              </a:pPr>
              <a:t>22</a:t>
            </a:fld>
            <a:endParaRPr sz="13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9"/>
          <p:cNvSpPr/>
          <p:nvPr/>
        </p:nvSpPr>
        <p:spPr>
          <a:xfrm>
            <a:off x="415680" y="593280"/>
            <a:ext cx="11359200" cy="76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121900" rIns="120000" bIns="121900" anchor="t" anchorCtr="0">
            <a:norm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720"/>
            </a:pPr>
            <a:r>
              <a:rPr lang="en-US" sz="36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Jenis Metode SDLC</a:t>
            </a:r>
            <a:endParaRPr sz="362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9"/>
          <p:cNvSpPr/>
          <p:nvPr/>
        </p:nvSpPr>
        <p:spPr>
          <a:xfrm>
            <a:off x="415680" y="1536480"/>
            <a:ext cx="5331840" cy="488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121900" rIns="120000" bIns="121900" anchor="t" anchorCtr="0">
            <a:normAutofit/>
          </a:bodyPr>
          <a:lstStyle/>
          <a:p>
            <a:pPr marL="609585" indent="-421909">
              <a:lnSpc>
                <a:spcPct val="105000"/>
              </a:lnSpc>
              <a:buClr>
                <a:srgbClr val="595959"/>
              </a:buClr>
              <a:buSzPts val="1190"/>
              <a:buFont typeface="Arial"/>
              <a:buChar char="●"/>
            </a:pPr>
            <a:r>
              <a:rPr lang="en-US" sz="1587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r>
              <a:rPr lang="en-US" sz="15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(Purwarupa)</a:t>
            </a:r>
            <a:endParaRPr sz="15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235">
              <a:lnSpc>
                <a:spcPct val="105000"/>
              </a:lnSpc>
              <a:buClr>
                <a:srgbClr val="000000"/>
              </a:buClr>
              <a:buSzPts val="1190"/>
            </a:pPr>
            <a:r>
              <a:rPr lang="en-US" sz="15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metode yang memungkinkan pengguna atau user memiliki gambaran awal tentang perangkat lunak yang akan dikembangkan, serta pengguna dapat melakukan pengujian di awal sebelum perangkat lunak dirilis.</a:t>
            </a:r>
            <a:endParaRPr sz="15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235">
              <a:lnSpc>
                <a:spcPct val="105000"/>
              </a:lnSpc>
              <a:buClr>
                <a:srgbClr val="000000"/>
              </a:buClr>
              <a:buSzPts val="1190"/>
            </a:pPr>
            <a:r>
              <a:rPr lang="en-US" sz="15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bertujuan: mengembangkan model menjadi perangkat lunak yang final. Artinya sistem akan dikembangkan lebih cepat dan biaya yang dikeluarkan lebih rendah</a:t>
            </a:r>
            <a:endParaRPr sz="15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235">
              <a:lnSpc>
                <a:spcPct val="105000"/>
              </a:lnSpc>
              <a:buClr>
                <a:srgbClr val="000000"/>
              </a:buClr>
              <a:buSzPts val="1190"/>
            </a:pPr>
            <a:r>
              <a:rPr lang="en-US" sz="158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</a:t>
            </a:r>
            <a:r>
              <a:rPr lang="en-US" sz="15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5109">
              <a:lnSpc>
                <a:spcPct val="105000"/>
              </a:lnSpc>
              <a:buClr>
                <a:srgbClr val="595959"/>
              </a:buClr>
              <a:buSzPts val="1020"/>
              <a:buFont typeface="Arial"/>
              <a:buChar char="○"/>
            </a:pPr>
            <a:r>
              <a:rPr lang="en-US" sz="13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Mempersingkat waktu pengembangan perangkat lunak</a:t>
            </a:r>
            <a:endParaRPr sz="136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5109">
              <a:lnSpc>
                <a:spcPct val="105000"/>
              </a:lnSpc>
              <a:buClr>
                <a:srgbClr val="595959"/>
              </a:buClr>
              <a:buSzPts val="1020"/>
              <a:buFont typeface="Arial"/>
              <a:buChar char="○"/>
            </a:pPr>
            <a:r>
              <a:rPr lang="en-US" sz="13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Penerapan fitur menjadi lebih mudah, karena pengembang mengetahui apa yang diharapkan</a:t>
            </a:r>
            <a:endParaRPr sz="136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235">
              <a:lnSpc>
                <a:spcPct val="105000"/>
              </a:lnSpc>
              <a:buClr>
                <a:srgbClr val="000000"/>
              </a:buClr>
              <a:buSzPts val="1190"/>
            </a:pPr>
            <a:r>
              <a:rPr lang="en-US" sz="158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Kontra</a:t>
            </a:r>
            <a:r>
              <a:rPr lang="en-US" sz="15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5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5109">
              <a:lnSpc>
                <a:spcPct val="105000"/>
              </a:lnSpc>
              <a:buClr>
                <a:srgbClr val="595959"/>
              </a:buClr>
              <a:buSzPts val="1020"/>
              <a:buFont typeface="Arial"/>
              <a:buChar char="○"/>
            </a:pPr>
            <a:r>
              <a:rPr lang="en-US" sz="13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Proses yang dilakukan untuk analisis dan perancangan terlalu singkat</a:t>
            </a:r>
            <a:endParaRPr sz="136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5109">
              <a:lnSpc>
                <a:spcPct val="105000"/>
              </a:lnSpc>
              <a:buClr>
                <a:srgbClr val="595959"/>
              </a:buClr>
              <a:buSzPts val="1020"/>
              <a:buFont typeface="Arial"/>
              <a:buChar char="○"/>
            </a:pPr>
            <a:r>
              <a:rPr lang="en-US" sz="13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Kurang fleksibel jika terjadi perubahan</a:t>
            </a:r>
            <a:endParaRPr sz="136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39"/>
          <p:cNvSpPr/>
          <p:nvPr/>
        </p:nvSpPr>
        <p:spPr>
          <a:xfrm>
            <a:off x="6443040" y="1536480"/>
            <a:ext cx="5331840" cy="455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3360" y="2247840"/>
            <a:ext cx="4452000" cy="313056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39"/>
          <p:cNvSpPr txBox="1"/>
          <p:nvPr/>
        </p:nvSpPr>
        <p:spPr>
          <a:xfrm>
            <a:off x="0" y="6412800"/>
            <a:ext cx="60864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>
              <a:buClr>
                <a:srgbClr val="000000"/>
              </a:buClr>
              <a:buSzPts val="1000"/>
            </a:pPr>
            <a:fld id="{00000000-1234-1234-1234-123412341234}" type="slidenum">
              <a:rPr lang="en-US" sz="13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1000"/>
              </a:pPr>
              <a:t>23</a:t>
            </a:fld>
            <a:endParaRPr sz="13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0"/>
          <p:cNvSpPr/>
          <p:nvPr/>
        </p:nvSpPr>
        <p:spPr>
          <a:xfrm>
            <a:off x="415680" y="593280"/>
            <a:ext cx="11359200" cy="76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121900" rIns="120000" bIns="121900" anchor="t" anchorCtr="0">
            <a:norm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720"/>
            </a:pPr>
            <a:r>
              <a:rPr lang="en-US" sz="36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Jenis Metode SDLC</a:t>
            </a:r>
            <a:endParaRPr sz="362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40"/>
          <p:cNvSpPr/>
          <p:nvPr/>
        </p:nvSpPr>
        <p:spPr>
          <a:xfrm>
            <a:off x="415680" y="1536480"/>
            <a:ext cx="5331840" cy="455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121900" rIns="120000" bIns="121900" anchor="t" anchorCtr="0">
            <a:normAutofit/>
          </a:bodyPr>
          <a:lstStyle/>
          <a:p>
            <a:pPr marL="609585" indent="-421909">
              <a:lnSpc>
                <a:spcPct val="105000"/>
              </a:lnSpc>
              <a:buClr>
                <a:srgbClr val="595959"/>
              </a:buClr>
              <a:buSzPts val="1400"/>
              <a:buFont typeface="Arial"/>
              <a:buChar char="●"/>
            </a:pPr>
            <a:r>
              <a:rPr lang="en-US" sz="1867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RAD</a:t>
            </a:r>
            <a:r>
              <a:rPr 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(Rapid Application Development)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235">
              <a:lnSpc>
                <a:spcPct val="105000"/>
              </a:lnSpc>
              <a:buClr>
                <a:srgbClr val="000000"/>
              </a:buClr>
              <a:buSzPts val="1400"/>
            </a:pPr>
            <a:r>
              <a:rPr 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menggunakan pendekatan iteratif dan inkremental, dan menekankan pada tenggat waktu dan efisiensi biaya yang sesuai dengan kebutuhan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235">
              <a:lnSpc>
                <a:spcPct val="105000"/>
              </a:lnSpc>
              <a:buClr>
                <a:srgbClr val="000000"/>
              </a:buClr>
              <a:buSzPts val="1400"/>
            </a:pPr>
            <a:r>
              <a:rPr 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</a:t>
            </a:r>
            <a:r>
              <a:rPr 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5109">
              <a:lnSpc>
                <a:spcPct val="105000"/>
              </a:lnSpc>
              <a:buClr>
                <a:srgbClr val="595959"/>
              </a:buClr>
              <a:buSzPts val="1200"/>
              <a:buFont typeface="Arial"/>
              <a:buChar char="○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dianggap lebih singkat. semua pihak, baik pelanggan maupun pengembang, terus terlibat secara aktif dalam setiap proses hingga hasil dapat tercapai.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5109">
              <a:lnSpc>
                <a:spcPct val="105000"/>
              </a:lnSpc>
              <a:buClr>
                <a:srgbClr val="595959"/>
              </a:buClr>
              <a:buSzPts val="1200"/>
              <a:buFont typeface="Arial"/>
              <a:buChar char="○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tahapan kerja pada lebih sedikit.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235">
              <a:lnSpc>
                <a:spcPct val="105000"/>
              </a:lnSpc>
              <a:buClr>
                <a:srgbClr val="000000"/>
              </a:buClr>
              <a:buSzPts val="1400"/>
            </a:pPr>
            <a:r>
              <a:rPr lang="en-US" sz="186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Kontra</a:t>
            </a:r>
            <a:r>
              <a:rPr 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5109">
              <a:lnSpc>
                <a:spcPct val="105000"/>
              </a:lnSpc>
              <a:buClr>
                <a:srgbClr val="595959"/>
              </a:buClr>
              <a:buSzPts val="1200"/>
              <a:buFont typeface="Arial"/>
              <a:buChar char="○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segi konsistensi dan kemampuan personel butuh usaha lebih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5109">
              <a:lnSpc>
                <a:spcPct val="105000"/>
              </a:lnSpc>
              <a:buClr>
                <a:srgbClr val="595959"/>
              </a:buClr>
              <a:buSzPts val="1200"/>
              <a:buFont typeface="Arial"/>
              <a:buChar char="○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kurang cocok utk proyek skala besar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40"/>
          <p:cNvSpPr/>
          <p:nvPr/>
        </p:nvSpPr>
        <p:spPr>
          <a:xfrm>
            <a:off x="6443040" y="1536480"/>
            <a:ext cx="5331840" cy="455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p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6960" y="2495040"/>
            <a:ext cx="5640960" cy="222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40"/>
          <p:cNvSpPr txBox="1"/>
          <p:nvPr/>
        </p:nvSpPr>
        <p:spPr>
          <a:xfrm>
            <a:off x="0" y="6412800"/>
            <a:ext cx="60864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>
              <a:buClr>
                <a:srgbClr val="000000"/>
              </a:buClr>
              <a:buSzPts val="1000"/>
            </a:pPr>
            <a:fld id="{00000000-1234-1234-1234-123412341234}" type="slidenum">
              <a:rPr lang="en-US" sz="13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1000"/>
              </a:pPr>
              <a:t>24</a:t>
            </a:fld>
            <a:endParaRPr sz="13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1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84320" y="593280"/>
            <a:ext cx="4936320" cy="3707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41"/>
          <p:cNvSpPr/>
          <p:nvPr/>
        </p:nvSpPr>
        <p:spPr>
          <a:xfrm>
            <a:off x="415680" y="593280"/>
            <a:ext cx="11359200" cy="76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121900" rIns="120000" bIns="121900" anchor="t" anchorCtr="0">
            <a:norm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720"/>
            </a:pPr>
            <a:r>
              <a:rPr lang="en-US" sz="362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Jenis Metode SDLC</a:t>
            </a:r>
            <a:endParaRPr sz="362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1"/>
          <p:cNvSpPr/>
          <p:nvPr/>
        </p:nvSpPr>
        <p:spPr>
          <a:xfrm>
            <a:off x="415680" y="1536480"/>
            <a:ext cx="5331840" cy="455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121900" rIns="120000" bIns="121900" anchor="t" anchorCtr="0">
            <a:normAutofit/>
          </a:bodyPr>
          <a:lstStyle/>
          <a:p>
            <a:pPr marL="609585" indent="-413750">
              <a:lnSpc>
                <a:spcPct val="105000"/>
              </a:lnSpc>
              <a:buClr>
                <a:srgbClr val="595959"/>
              </a:buClr>
              <a:buSzPts val="1200"/>
              <a:buFont typeface="Arial"/>
              <a:buChar char="●"/>
            </a:pPr>
            <a:r>
              <a:rPr lang="en-US" sz="1600" b="1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Agile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235">
              <a:lnSpc>
                <a:spcPct val="105000"/>
              </a:lnSpc>
              <a:buClr>
                <a:srgbClr val="000000"/>
              </a:buClr>
              <a:buSzPts val="1200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pengembangan jangka pendek yang memerlukan adaptasi cepat dan pengembangan terhadap perubahan dalam bentuk apapun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235">
              <a:lnSpc>
                <a:spcPct val="105000"/>
              </a:lnSpc>
              <a:buClr>
                <a:srgbClr val="000000"/>
              </a:buClr>
              <a:buSzPts val="1200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induk dari model </a:t>
            </a:r>
            <a:r>
              <a:rPr lang="en-US" sz="16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Scrum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235">
              <a:lnSpc>
                <a:spcPct val="105000"/>
              </a:lnSpc>
              <a:buClr>
                <a:srgbClr val="000000"/>
              </a:buClr>
              <a:buSzPts val="1200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 utama: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12790">
              <a:lnSpc>
                <a:spcPct val="105000"/>
              </a:lnSpc>
              <a:buClr>
                <a:srgbClr val="595959"/>
              </a:buClr>
              <a:buSzPts val="1200"/>
              <a:buFont typeface="Arial"/>
              <a:buChar char="○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Interaksi antar personal lebih penting daripada proses dan alat.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12790">
              <a:lnSpc>
                <a:spcPct val="105000"/>
              </a:lnSpc>
              <a:buClr>
                <a:srgbClr val="595959"/>
              </a:buClr>
              <a:buSzPts val="1200"/>
              <a:buFont typeface="Arial"/>
              <a:buChar char="○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yang berfungsi lebih penting daripada dokumentasi yang lengkap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12790">
              <a:lnSpc>
                <a:spcPct val="105000"/>
              </a:lnSpc>
              <a:buClr>
                <a:srgbClr val="595959"/>
              </a:buClr>
              <a:buSzPts val="1200"/>
              <a:buFont typeface="Arial"/>
              <a:buChar char="○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Kolaborasi dengan klien lebih penting daripada negoisasi kontrak.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12790">
              <a:lnSpc>
                <a:spcPct val="105000"/>
              </a:lnSpc>
              <a:buClr>
                <a:srgbClr val="595959"/>
              </a:buClr>
              <a:buSzPts val="1200"/>
              <a:buFont typeface="Arial"/>
              <a:buChar char="○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Sikap tanggap lebih penting daripada mengikuti rencana/plan.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12790">
              <a:lnSpc>
                <a:spcPct val="105000"/>
              </a:lnSpc>
              <a:buClr>
                <a:srgbClr val="595959"/>
              </a:buClr>
              <a:buSzPts val="1200"/>
              <a:buFont typeface="Arial"/>
              <a:buChar char="○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Dokumentasi  harus tersusun rapi dan terstruktur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41"/>
          <p:cNvSpPr/>
          <p:nvPr/>
        </p:nvSpPr>
        <p:spPr>
          <a:xfrm>
            <a:off x="6459360" y="3813360"/>
            <a:ext cx="5261280" cy="341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121900" rIns="120000" bIns="121900" anchor="t" anchorCtr="0">
            <a:noAutofit/>
          </a:bodyPr>
          <a:lstStyle/>
          <a:p>
            <a:pPr marL="186235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</a:t>
            </a: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5109">
              <a:lnSpc>
                <a:spcPct val="115000"/>
              </a:lnSpc>
              <a:buClr>
                <a:srgbClr val="595959"/>
              </a:buClr>
              <a:buSzPts val="1200"/>
              <a:buFont typeface="Arial"/>
              <a:buChar char="○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dapat dibuat dengan cepat dan dilakukan testing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5109">
              <a:lnSpc>
                <a:spcPct val="115000"/>
              </a:lnSpc>
              <a:buClr>
                <a:srgbClr val="595959"/>
              </a:buClr>
              <a:buSzPts val="1200"/>
              <a:buFont typeface="Arial"/>
              <a:buChar char="○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Perubahan dengan cepat ditangani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6235">
              <a:lnSpc>
                <a:spcPct val="115000"/>
              </a:lnSpc>
              <a:buClr>
                <a:srgbClr val="000000"/>
              </a:buClr>
              <a:buSzPts val="1200"/>
            </a:pPr>
            <a:r>
              <a:rPr lang="en-US" sz="16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Kontra</a:t>
            </a: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5109">
              <a:lnSpc>
                <a:spcPct val="115000"/>
              </a:lnSpc>
              <a:buClr>
                <a:srgbClr val="595959"/>
              </a:buClr>
              <a:buSzPts val="1200"/>
              <a:buFont typeface="Arial"/>
              <a:buChar char="○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Analisis, desain, dan pengembangan sulit diprediksi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19170" lvl="1" indent="-405109">
              <a:lnSpc>
                <a:spcPct val="115000"/>
              </a:lnSpc>
              <a:buClr>
                <a:srgbClr val="595959"/>
              </a:buClr>
              <a:buSzPts val="1200"/>
              <a:buFont typeface="Arial"/>
              <a:buChar char="○"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Dapat memunculkan permasalahan dari arsitektur maupun desain.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41"/>
          <p:cNvSpPr txBox="1"/>
          <p:nvPr/>
        </p:nvSpPr>
        <p:spPr>
          <a:xfrm>
            <a:off x="0" y="6412800"/>
            <a:ext cx="60864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>
              <a:buClr>
                <a:srgbClr val="000000"/>
              </a:buClr>
              <a:buSzPts val="1000"/>
            </a:pPr>
            <a:fld id="{00000000-1234-1234-1234-123412341234}" type="slidenum">
              <a:rPr lang="en-US" sz="1333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pPr algn="r">
                <a:buClr>
                  <a:srgbClr val="000000"/>
                </a:buClr>
                <a:buSzPts val="1000"/>
              </a:pPr>
              <a:t>25</a:t>
            </a:fld>
            <a:endParaRPr sz="133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B8EC5-A259-197B-4479-010251AF4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7521"/>
          </a:xfrm>
        </p:spPr>
        <p:txBody>
          <a:bodyPr/>
          <a:lstStyle/>
          <a:p>
            <a:r>
              <a:rPr lang="en-US" dirty="0"/>
              <a:t>Business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20A2C-3941-E14E-7537-872C59995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Sets of sequential activities performed by stakeholders (e.g. people, departments, systems) to achieve an organizational goal.</a:t>
            </a:r>
          </a:p>
          <a:p>
            <a:r>
              <a:rPr lang="en-US" dirty="0"/>
              <a:t>They represent how a business achieves its objectives.</a:t>
            </a:r>
          </a:p>
          <a:p>
            <a:r>
              <a:rPr lang="en-US" dirty="0"/>
              <a:t>Business process is modeled by BPMN (Business Process Modeling Nation)</a:t>
            </a:r>
          </a:p>
          <a:p>
            <a:r>
              <a:rPr lang="en-US" dirty="0"/>
              <a:t>Flowchart-based diagram</a:t>
            </a:r>
          </a:p>
          <a:p>
            <a:r>
              <a:rPr lang="en-US" dirty="0"/>
              <a:t>Easy to understand, standardized notation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79464A-0407-2777-5B0C-641B55C0952B}"/>
              </a:ext>
            </a:extLst>
          </p:cNvPr>
          <p:cNvSpPr txBox="1"/>
          <p:nvPr/>
        </p:nvSpPr>
        <p:spPr>
          <a:xfrm>
            <a:off x="2110154" y="6142238"/>
            <a:ext cx="100818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https://www.alexomegapy.com/post/business-processes-and-software-development-defining-their-differences-and-interconnections</a:t>
            </a:r>
          </a:p>
        </p:txBody>
      </p:sp>
      <p:pic>
        <p:nvPicPr>
          <p:cNvPr id="7" name="Google Shape;454;p167">
            <a:extLst>
              <a:ext uri="{FF2B5EF4-FFF2-40B4-BE49-F238E27FC236}">
                <a16:creationId xmlns:a16="http://schemas.microsoft.com/office/drawing/2014/main" id="{7C49E4BE-8E6C-20FA-BB92-A0F93D436A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6429" y="5375515"/>
            <a:ext cx="1139400" cy="598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455;p167">
            <a:extLst>
              <a:ext uri="{FF2B5EF4-FFF2-40B4-BE49-F238E27FC236}">
                <a16:creationId xmlns:a16="http://schemas.microsoft.com/office/drawing/2014/main" id="{A3BC22B8-AD8E-150D-B77C-0D6A67F5417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36810" r="12470"/>
          <a:stretch/>
        </p:blipFill>
        <p:spPr>
          <a:xfrm>
            <a:off x="8144781" y="5471995"/>
            <a:ext cx="1739520" cy="501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456;p167">
            <a:extLst>
              <a:ext uri="{FF2B5EF4-FFF2-40B4-BE49-F238E27FC236}">
                <a16:creationId xmlns:a16="http://schemas.microsoft.com/office/drawing/2014/main" id="{05737E04-844C-8D0C-82BA-9756A7D2951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28063" y="5640490"/>
            <a:ext cx="2071440" cy="282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457;p167">
            <a:extLst>
              <a:ext uri="{FF2B5EF4-FFF2-40B4-BE49-F238E27FC236}">
                <a16:creationId xmlns:a16="http://schemas.microsoft.com/office/drawing/2014/main" id="{0873E4B3-467B-9989-F1B0-5231B177271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69681" y="5382303"/>
            <a:ext cx="1446120" cy="598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6682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21A48-6C80-0814-1BED-6489E338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9F9AD0D-C5B8-F39B-B8CB-A8F9CE8FA7D9}"/>
              </a:ext>
            </a:extLst>
          </p:cNvPr>
          <p:cNvSpPr/>
          <p:nvPr/>
        </p:nvSpPr>
        <p:spPr>
          <a:xfrm>
            <a:off x="120278" y="1224028"/>
            <a:ext cx="7059164" cy="50751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Example 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65BDF-A9C2-4543-3195-71E283C03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9795"/>
          </a:xfrm>
        </p:spPr>
        <p:txBody>
          <a:bodyPr/>
          <a:lstStyle/>
          <a:p>
            <a:r>
              <a:rPr lang="en-US" dirty="0"/>
              <a:t>BPMN</a:t>
            </a:r>
          </a:p>
        </p:txBody>
      </p:sp>
      <p:pic>
        <p:nvPicPr>
          <p:cNvPr id="15" name="Google Shape;464;p168">
            <a:extLst>
              <a:ext uri="{FF2B5EF4-FFF2-40B4-BE49-F238E27FC236}">
                <a16:creationId xmlns:a16="http://schemas.microsoft.com/office/drawing/2014/main" id="{4E8CEB48-B1BE-8008-2990-B765BCCA7B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945" t="2129" r="2805" b="4128"/>
          <a:stretch>
            <a:fillRect/>
          </a:stretch>
        </p:blipFill>
        <p:spPr>
          <a:xfrm>
            <a:off x="7281042" y="365125"/>
            <a:ext cx="4037198" cy="3008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467;p168">
            <a:extLst>
              <a:ext uri="{FF2B5EF4-FFF2-40B4-BE49-F238E27FC236}">
                <a16:creationId xmlns:a16="http://schemas.microsoft.com/office/drawing/2014/main" id="{1286F049-90A8-3643-A6B1-0B9B310E8EC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81042" y="3429001"/>
            <a:ext cx="4477350" cy="1388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468;p168">
            <a:extLst>
              <a:ext uri="{FF2B5EF4-FFF2-40B4-BE49-F238E27FC236}">
                <a16:creationId xmlns:a16="http://schemas.microsoft.com/office/drawing/2014/main" id="{C67A4F6F-FD45-91DA-608E-AA874D69F14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81042" y="4873801"/>
            <a:ext cx="4477350" cy="1437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86;p170">
            <a:extLst>
              <a:ext uri="{FF2B5EF4-FFF2-40B4-BE49-F238E27FC236}">
                <a16:creationId xmlns:a16="http://schemas.microsoft.com/office/drawing/2014/main" id="{C57896FA-290D-D25D-412F-3637168394A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0278" y="1635743"/>
            <a:ext cx="7059164" cy="46634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371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513;p174">
            <a:extLst>
              <a:ext uri="{FF2B5EF4-FFF2-40B4-BE49-F238E27FC236}">
                <a16:creationId xmlns:a16="http://schemas.microsoft.com/office/drawing/2014/main" id="{7CC43281-912C-13AD-325C-D30E9CE36D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73696" y="4047745"/>
            <a:ext cx="4718304" cy="22555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A8761D-3924-E19E-1C84-623DB3387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</a:rPr>
              <a:t>Metodologi</a:t>
            </a:r>
            <a:r>
              <a:rPr lang="en-US" dirty="0">
                <a:solidFill>
                  <a:srgbClr val="000000"/>
                </a:solidFill>
              </a:rPr>
              <a:t> Data Science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BFB02-A946-AFF5-A41B-F5B08101F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4688"/>
            <a:ext cx="10515600" cy="4482275"/>
          </a:xfrm>
        </p:spPr>
        <p:txBody>
          <a:bodyPr>
            <a:normAutofit/>
          </a:bodyPr>
          <a:lstStyle/>
          <a:p>
            <a:pPr marL="457200" lvl="0" indent="-3420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dirty="0" err="1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Mengapa</a:t>
            </a:r>
            <a:r>
              <a:rPr lang="en-US" dirty="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harus</a:t>
            </a:r>
            <a:r>
              <a:rPr lang="en-US" dirty="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ada</a:t>
            </a:r>
            <a:r>
              <a:rPr lang="en-US" dirty="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standar</a:t>
            </a:r>
            <a:r>
              <a:rPr lang="en-US" dirty="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 proses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0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Proses data mining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harus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handal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dapat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diulang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bahkan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oleh orang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dengan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latar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belakang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data mining minim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0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memungkinkan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proyek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diulangi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(Framework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merekam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pengalaman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0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Alat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bantu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perencanaan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proyek</a:t>
            </a:r>
            <a:r>
              <a:rPr lang="en-US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US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manajemen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5200" lvl="0" indent="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1800"/>
              <a:buNone/>
            </a:pPr>
            <a:endParaRPr lang="en-US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0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Jenis </a:t>
            </a:r>
            <a:r>
              <a:rPr lang="en-US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Metodologi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914400" lvl="1" indent="-3420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Metodologi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kegiatan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Teknis</a:t>
            </a:r>
          </a:p>
          <a:p>
            <a:pPr marL="914400" lvl="1" indent="-342000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1800"/>
              <a:buFont typeface="Arial"/>
              <a:buChar char="●"/>
            </a:pP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Metodologi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kegiatan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bisnis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(dan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teknis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045622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A014-2EA5-B172-ED25-A92A6AD80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Metodologi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kegiatan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Teknis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DB7785E-46AA-9B58-C500-16D6A7DC6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880" y="1574800"/>
            <a:ext cx="5293360" cy="4531359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Aptos" panose="020B0004020202020204" pitchFamily="34" charset="0"/>
              </a:rPr>
              <a:t>SEMMA from SAS institute</a:t>
            </a:r>
          </a:p>
        </p:txBody>
      </p:sp>
      <p:pic>
        <p:nvPicPr>
          <p:cNvPr id="13" name="Google Shape;522;p175">
            <a:extLst>
              <a:ext uri="{FF2B5EF4-FFF2-40B4-BE49-F238E27FC236}">
                <a16:creationId xmlns:a16="http://schemas.microsoft.com/office/drawing/2014/main" id="{CEB5E214-5223-6FC3-E344-26597BCA1EF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2046883"/>
            <a:ext cx="4998720" cy="3942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523;p175">
            <a:extLst>
              <a:ext uri="{FF2B5EF4-FFF2-40B4-BE49-F238E27FC236}">
                <a16:creationId xmlns:a16="http://schemas.microsoft.com/office/drawing/2014/main" id="{B5E3EC52-5972-5A01-5A7C-0EAA93725E6A}"/>
              </a:ext>
            </a:extLst>
          </p:cNvPr>
          <p:cNvSpPr/>
          <p:nvPr/>
        </p:nvSpPr>
        <p:spPr>
          <a:xfrm>
            <a:off x="0" y="6189624"/>
            <a:ext cx="6350000" cy="208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68400" rIns="68400" bIns="68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sng" strike="noStrike" cap="none" dirty="0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https://documentation.sas.com/?docsetId=emref&amp;docsetTarget=n061bzurmej4j3n1jnj8bbjjm1a2.htm&amp;docsetVersion=14.3&amp;locale=en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BB0E46E-5EA9-D11D-DE17-33A5493F2448}"/>
              </a:ext>
            </a:extLst>
          </p:cNvPr>
          <p:cNvSpPr txBox="1">
            <a:spLocks/>
          </p:cNvSpPr>
          <p:nvPr/>
        </p:nvSpPr>
        <p:spPr>
          <a:xfrm>
            <a:off x="6131560" y="2611120"/>
            <a:ext cx="5613400" cy="3495039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dirty="0">
                <a:latin typeface="Aptos" panose="020B0004020202020204" pitchFamily="34" charset="0"/>
              </a:rPr>
              <a:t>Knowledge Discovery and Data Mining</a:t>
            </a:r>
          </a:p>
        </p:txBody>
      </p:sp>
      <p:pic>
        <p:nvPicPr>
          <p:cNvPr id="16" name="Google Shape;531;p176">
            <a:extLst>
              <a:ext uri="{FF2B5EF4-FFF2-40B4-BE49-F238E27FC236}">
                <a16:creationId xmlns:a16="http://schemas.microsoft.com/office/drawing/2014/main" id="{9A26182C-7A19-71DA-3E4E-A5EC3E0A631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10600" y="3282122"/>
            <a:ext cx="4855320" cy="265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532;p176">
            <a:extLst>
              <a:ext uri="{FF2B5EF4-FFF2-40B4-BE49-F238E27FC236}">
                <a16:creationId xmlns:a16="http://schemas.microsoft.com/office/drawing/2014/main" id="{AE477A04-62AC-E6C6-9880-F0050D6F5E85}"/>
              </a:ext>
            </a:extLst>
          </p:cNvPr>
          <p:cNvSpPr/>
          <p:nvPr/>
        </p:nvSpPr>
        <p:spPr>
          <a:xfrm>
            <a:off x="6207760" y="6169304"/>
            <a:ext cx="5293360" cy="201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68400" rIns="68400" bIns="68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sng" strike="noStrike" cap="none" dirty="0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https://www.kdnuggets.com/gpspubs/aimag-kdd-overview-1996-Fayyad.pdf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979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C12D1-A20F-8441-1340-1C0E30299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3259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Metodologi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kegiatan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bisnis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(dan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teknis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90D614-86F5-C901-AC55-092E5452F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440" y="1483360"/>
            <a:ext cx="4917440" cy="3891280"/>
          </a:xfr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115200" lvl="0" indent="0" algn="ctr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1800"/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Data Science Methodology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1516C9E-E45D-6BB0-F887-1A1196953CCA}"/>
              </a:ext>
            </a:extLst>
          </p:cNvPr>
          <p:cNvSpPr txBox="1">
            <a:spLocks/>
          </p:cNvSpPr>
          <p:nvPr/>
        </p:nvSpPr>
        <p:spPr>
          <a:xfrm>
            <a:off x="5664200" y="1483360"/>
            <a:ext cx="6014720" cy="4665623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200" lvl="0" indent="0" algn="ctr">
              <a:lnSpc>
                <a:spcPct val="115000"/>
              </a:lnSpc>
              <a:spcBef>
                <a:spcPts val="0"/>
              </a:spcBef>
              <a:buClr>
                <a:srgbClr val="595959"/>
              </a:buClr>
              <a:buSzPts val="1800"/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Microsoft’s Team Data Science Process</a:t>
            </a:r>
          </a:p>
        </p:txBody>
      </p:sp>
      <p:pic>
        <p:nvPicPr>
          <p:cNvPr id="14" name="Google Shape;540;p177">
            <a:extLst>
              <a:ext uri="{FF2B5EF4-FFF2-40B4-BE49-F238E27FC236}">
                <a16:creationId xmlns:a16="http://schemas.microsoft.com/office/drawing/2014/main" id="{A66DD77C-F8FD-89DD-0195-D31A198367A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0579" r="2090" b="5814"/>
          <a:stretch>
            <a:fillRect/>
          </a:stretch>
        </p:blipFill>
        <p:spPr>
          <a:xfrm>
            <a:off x="746760" y="2002610"/>
            <a:ext cx="4622800" cy="329184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541;p177">
            <a:extLst>
              <a:ext uri="{FF2B5EF4-FFF2-40B4-BE49-F238E27FC236}">
                <a16:creationId xmlns:a16="http://schemas.microsoft.com/office/drawing/2014/main" id="{CDBD42CA-9775-1D8F-2ED9-2722FEAF3096}"/>
              </a:ext>
            </a:extLst>
          </p:cNvPr>
          <p:cNvSpPr/>
          <p:nvPr/>
        </p:nvSpPr>
        <p:spPr>
          <a:xfrm>
            <a:off x="746760" y="6148983"/>
            <a:ext cx="4338320" cy="213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sng" strike="noStrike" cap="none" dirty="0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https://www.slideshare.net/JohnBRollinsPhD/foundational-methodology-for-data-science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549;p178">
            <a:extLst>
              <a:ext uri="{FF2B5EF4-FFF2-40B4-BE49-F238E27FC236}">
                <a16:creationId xmlns:a16="http://schemas.microsoft.com/office/drawing/2014/main" id="{913D5159-9E0F-EE6C-D608-E28B493F0B7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4570" y="2002610"/>
            <a:ext cx="5753980" cy="407864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550;p178">
            <a:extLst>
              <a:ext uri="{FF2B5EF4-FFF2-40B4-BE49-F238E27FC236}">
                <a16:creationId xmlns:a16="http://schemas.microsoft.com/office/drawing/2014/main" id="{80ADBEB9-7E4D-A0B9-EFF4-30673C48C51C}"/>
              </a:ext>
            </a:extLst>
          </p:cNvPr>
          <p:cNvSpPr/>
          <p:nvPr/>
        </p:nvSpPr>
        <p:spPr>
          <a:xfrm>
            <a:off x="5664200" y="6192833"/>
            <a:ext cx="6014720" cy="213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sng" strike="noStrike" cap="none" dirty="0">
                <a:solidFill>
                  <a:srgbClr val="0097A7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https://docs.microsoft.com/en-us/azure/machine-learning/team-data-science-process/overview</a:t>
            </a:r>
            <a:endParaRPr sz="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4513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258B-8860-A8A8-8568-A79F464C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33CAD-1D75-7889-179A-5BDD30C7F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3259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Metodologi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kegiatan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bisnis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(dan </a:t>
            </a:r>
            <a:r>
              <a:rPr lang="en-US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teknis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lang="en-US" dirty="0"/>
          </a:p>
        </p:txBody>
      </p:sp>
      <p:pic>
        <p:nvPicPr>
          <p:cNvPr id="4" name="Google Shape;558;p179">
            <a:extLst>
              <a:ext uri="{FF2B5EF4-FFF2-40B4-BE49-F238E27FC236}">
                <a16:creationId xmlns:a16="http://schemas.microsoft.com/office/drawing/2014/main" id="{E33F014A-CFE1-C503-E103-4AE98DB4946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2173532" y="34608"/>
            <a:ext cx="3560064" cy="746323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46D649-4A9D-E889-F597-028CB952A89B}"/>
              </a:ext>
            </a:extLst>
          </p:cNvPr>
          <p:cNvSpPr txBox="1"/>
          <p:nvPr/>
        </p:nvSpPr>
        <p:spPr>
          <a:xfrm>
            <a:off x="1768075" y="5546256"/>
            <a:ext cx="35561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Domino 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DataLab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Methodology</a:t>
            </a:r>
            <a:endParaRPr lang="en-US" dirty="0"/>
          </a:p>
        </p:txBody>
      </p:sp>
      <p:pic>
        <p:nvPicPr>
          <p:cNvPr id="12" name="Google Shape;568;p180">
            <a:extLst>
              <a:ext uri="{FF2B5EF4-FFF2-40B4-BE49-F238E27FC236}">
                <a16:creationId xmlns:a16="http://schemas.microsoft.com/office/drawing/2014/main" id="{9AC834F2-7A85-766E-AA66-1F471BDE82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44760" y="1797216"/>
            <a:ext cx="3890472" cy="331123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AAFB36F-03CF-2FB9-E78F-4B077FEEFC7D}"/>
              </a:ext>
            </a:extLst>
          </p:cNvPr>
          <p:cNvSpPr txBox="1"/>
          <p:nvPr/>
        </p:nvSpPr>
        <p:spPr>
          <a:xfrm>
            <a:off x="7961376" y="5357280"/>
            <a:ext cx="4073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CRISP-DM: Cross Industry Standard Process for Data Mining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1369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A7E63-51BE-DE02-8E28-84B882C8B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Acuan Data Scientist di Indonesia </a:t>
            </a:r>
            <a:endParaRPr lang="en-US" dirty="0"/>
          </a:p>
        </p:txBody>
      </p:sp>
      <p:pic>
        <p:nvPicPr>
          <p:cNvPr id="5" name="Google Shape;252;p61">
            <a:extLst>
              <a:ext uri="{FF2B5EF4-FFF2-40B4-BE49-F238E27FC236}">
                <a16:creationId xmlns:a16="http://schemas.microsoft.com/office/drawing/2014/main" id="{467D500E-F669-075A-23C0-A5F3D3136AF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20" y="2090880"/>
            <a:ext cx="4293120" cy="2956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53;p61">
            <a:extLst>
              <a:ext uri="{FF2B5EF4-FFF2-40B4-BE49-F238E27FC236}">
                <a16:creationId xmlns:a16="http://schemas.microsoft.com/office/drawing/2014/main" id="{3E5D6E11-C39F-F8C7-D8C2-E2AA2F1FC4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9840" y="1426560"/>
            <a:ext cx="7709280" cy="4978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94797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BDEB3-61C3-ECB4-F242-DEAFFC1D2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480" y="221391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b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 Industry Standard Process for Data Mining</a:t>
            </a:r>
            <a:endParaRPr lang="en-US" dirty="0"/>
          </a:p>
        </p:txBody>
      </p:sp>
      <p:sp>
        <p:nvSpPr>
          <p:cNvPr id="5" name="Google Shape;584;p182">
            <a:extLst>
              <a:ext uri="{FF2B5EF4-FFF2-40B4-BE49-F238E27FC236}">
                <a16:creationId xmlns:a16="http://schemas.microsoft.com/office/drawing/2014/main" id="{25C95654-CE55-99C4-3FDD-443F6B010187}"/>
              </a:ext>
            </a:extLst>
          </p:cNvPr>
          <p:cNvSpPr/>
          <p:nvPr/>
        </p:nvSpPr>
        <p:spPr>
          <a:xfrm>
            <a:off x="415680" y="1690688"/>
            <a:ext cx="11359200" cy="4399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575986" indent="-431027">
              <a:buClr>
                <a:srgbClr val="000000"/>
              </a:buClr>
              <a:buSzPts val="2200"/>
              <a:buFont typeface="Noto Sans Symbols"/>
              <a:buChar char="●"/>
            </a:pPr>
            <a:r>
              <a:rPr lang="en-US" sz="2933" b="1" dirty="0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Non-proprietary</a:t>
            </a:r>
            <a:endParaRPr sz="2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5986" indent="-431027">
              <a:spcBef>
                <a:spcPts val="733"/>
              </a:spcBef>
              <a:buClr>
                <a:srgbClr val="000000"/>
              </a:buClr>
              <a:buSzPts val="2200"/>
              <a:buFont typeface="Noto Sans Symbols"/>
              <a:buChar char="●"/>
            </a:pPr>
            <a:r>
              <a:rPr lang="en-US" sz="2933" b="1" dirty="0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Application/Industry neutral</a:t>
            </a:r>
            <a:endParaRPr sz="2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5986" indent="-431027">
              <a:spcBef>
                <a:spcPts val="733"/>
              </a:spcBef>
              <a:buClr>
                <a:srgbClr val="000000"/>
              </a:buClr>
              <a:buSzPts val="2200"/>
              <a:buFont typeface="Noto Sans Symbols"/>
              <a:buChar char="●"/>
            </a:pPr>
            <a:r>
              <a:rPr lang="en-US" sz="2933" b="1" dirty="0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Tool neutral</a:t>
            </a:r>
            <a:endParaRPr sz="2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5986" indent="-431027">
              <a:spcBef>
                <a:spcPts val="733"/>
              </a:spcBef>
              <a:buClr>
                <a:srgbClr val="000000"/>
              </a:buClr>
              <a:buSzPts val="2200"/>
              <a:buFont typeface="Noto Sans Symbols"/>
              <a:buChar char="●"/>
            </a:pPr>
            <a:r>
              <a:rPr lang="en-US" sz="2933" b="1" dirty="0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Focus on business issues</a:t>
            </a:r>
            <a:endParaRPr sz="2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33186" lvl="1" indent="-431027">
              <a:spcBef>
                <a:spcPts val="597"/>
              </a:spcBef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well as technical analysis</a:t>
            </a:r>
            <a:endParaRPr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5986" indent="-431027">
              <a:spcBef>
                <a:spcPts val="733"/>
              </a:spcBef>
              <a:buClr>
                <a:srgbClr val="000000"/>
              </a:buClr>
              <a:buSzPts val="2200"/>
              <a:buFont typeface="Noto Sans Symbols"/>
              <a:buChar char="●"/>
            </a:pPr>
            <a:r>
              <a:rPr lang="en-US" sz="2933" b="1" dirty="0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Framework for guidance</a:t>
            </a:r>
            <a:endParaRPr sz="2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5986" indent="-431027">
              <a:spcBef>
                <a:spcPts val="733"/>
              </a:spcBef>
              <a:buClr>
                <a:srgbClr val="000000"/>
              </a:buClr>
              <a:buSzPts val="2200"/>
              <a:buFont typeface="Noto Sans Symbols"/>
              <a:buChar char="●"/>
            </a:pPr>
            <a:r>
              <a:rPr lang="en-US" sz="2933" b="1" dirty="0">
                <a:solidFill>
                  <a:srgbClr val="003300"/>
                </a:solidFill>
                <a:latin typeface="Arial"/>
                <a:ea typeface="Arial"/>
                <a:cs typeface="Arial"/>
                <a:sym typeface="Arial"/>
              </a:rPr>
              <a:t>Experience base</a:t>
            </a:r>
            <a:endParaRPr sz="2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33186" lvl="1" indent="-431027">
              <a:spcBef>
                <a:spcPts val="597"/>
              </a:spcBef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Templates for Analysis</a:t>
            </a:r>
            <a:endParaRPr sz="2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85;p182">
            <a:extLst>
              <a:ext uri="{FF2B5EF4-FFF2-40B4-BE49-F238E27FC236}">
                <a16:creationId xmlns:a16="http://schemas.microsoft.com/office/drawing/2014/main" id="{29364861-CABC-AB5F-2EB1-437B6F764772}"/>
              </a:ext>
            </a:extLst>
          </p:cNvPr>
          <p:cNvSpPr/>
          <p:nvPr/>
        </p:nvSpPr>
        <p:spPr>
          <a:xfrm>
            <a:off x="7383871" y="1766888"/>
            <a:ext cx="4457633" cy="1829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62400" rIns="120000" bIns="62400" anchor="t" anchorCtr="0">
            <a:normAutofit/>
          </a:bodyPr>
          <a:lstStyle/>
          <a:p>
            <a:pPr marL="410390" indent="-126997">
              <a:lnSpc>
                <a:spcPct val="80000"/>
              </a:lnSpc>
              <a:buClr>
                <a:srgbClr val="000000"/>
              </a:buClr>
              <a:buSzPts val="1500"/>
              <a:buFont typeface="Gulim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Data Mining</a:t>
            </a: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10390" indent="-126997">
              <a:lnSpc>
                <a:spcPct val="80000"/>
              </a:lnSpc>
              <a:spcBef>
                <a:spcPts val="665"/>
              </a:spcBef>
              <a:buClr>
                <a:srgbClr val="000000"/>
              </a:buClr>
              <a:buSzPts val="1500"/>
              <a:buFont typeface="Gulim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Process Model</a:t>
            </a: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10390" indent="-126997">
              <a:lnSpc>
                <a:spcPct val="80000"/>
              </a:lnSpc>
              <a:spcBef>
                <a:spcPts val="665"/>
              </a:spcBef>
              <a:buClr>
                <a:srgbClr val="000000"/>
              </a:buClr>
              <a:buSzPts val="1500"/>
              <a:buFont typeface="Gulim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lang="en-US" sz="2000" b="1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anyone</a:t>
            </a: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10390" indent="-126997">
              <a:lnSpc>
                <a:spcPct val="80000"/>
              </a:lnSpc>
              <a:spcBef>
                <a:spcPts val="665"/>
              </a:spcBef>
              <a:buClr>
                <a:srgbClr val="000000"/>
              </a:buClr>
              <a:buSzPts val="1500"/>
              <a:buFont typeface="Gulim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Provides </a:t>
            </a:r>
            <a:r>
              <a:rPr lang="en-US" sz="2000" b="1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 complete blueprint</a:t>
            </a: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10390" indent="-126997">
              <a:lnSpc>
                <a:spcPct val="80000"/>
              </a:lnSpc>
              <a:spcBef>
                <a:spcPts val="665"/>
              </a:spcBef>
              <a:buClr>
                <a:srgbClr val="000000"/>
              </a:buClr>
              <a:buSzPts val="1500"/>
              <a:buFont typeface="Gulim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Life cycle: </a:t>
            </a:r>
            <a:r>
              <a:rPr lang="en-US" sz="2000" b="1" dirty="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 phases</a:t>
            </a: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80000"/>
              </a:lnSpc>
              <a:spcBef>
                <a:spcPts val="665"/>
              </a:spcBef>
              <a:buClr>
                <a:srgbClr val="000000"/>
              </a:buClr>
              <a:buSzPts val="1500"/>
            </a:pP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586;p182">
            <a:extLst>
              <a:ext uri="{FF2B5EF4-FFF2-40B4-BE49-F238E27FC236}">
                <a16:creationId xmlns:a16="http://schemas.microsoft.com/office/drawing/2014/main" id="{C3C4EF00-84AF-D9C4-E16A-CA4431D653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1258"/>
          <a:stretch/>
        </p:blipFill>
        <p:spPr>
          <a:xfrm>
            <a:off x="7693152" y="3532320"/>
            <a:ext cx="3443808" cy="28562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28107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0E3C0-A38F-C5BE-7C66-CCA7CB5AC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Fase dan </a:t>
            </a:r>
            <a:r>
              <a:rPr lang="en-US" dirty="0" err="1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Pekerjaan</a:t>
            </a:r>
            <a:endParaRPr lang="en-US" dirty="0"/>
          </a:p>
        </p:txBody>
      </p:sp>
      <p:sp>
        <p:nvSpPr>
          <p:cNvPr id="44" name="Google Shape;600;p184">
            <a:extLst>
              <a:ext uri="{FF2B5EF4-FFF2-40B4-BE49-F238E27FC236}">
                <a16:creationId xmlns:a16="http://schemas.microsoft.com/office/drawing/2014/main" id="{0D55D421-67D5-9FEE-33ED-B5D7CA0DCBFF}"/>
              </a:ext>
            </a:extLst>
          </p:cNvPr>
          <p:cNvSpPr/>
          <p:nvPr/>
        </p:nvSpPr>
        <p:spPr>
          <a:xfrm>
            <a:off x="8634678" y="2230186"/>
            <a:ext cx="45719" cy="2615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45" name="Google Shape;601;p184">
            <a:extLst>
              <a:ext uri="{FF2B5EF4-FFF2-40B4-BE49-F238E27FC236}">
                <a16:creationId xmlns:a16="http://schemas.microsoft.com/office/drawing/2014/main" id="{C32F9EEB-21AF-E7F9-DD2E-26635EF29270}"/>
              </a:ext>
            </a:extLst>
          </p:cNvPr>
          <p:cNvSpPr/>
          <p:nvPr/>
        </p:nvSpPr>
        <p:spPr>
          <a:xfrm flipH="1">
            <a:off x="7117405" y="2230186"/>
            <a:ext cx="45719" cy="197033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46" name="Google Shape;602;p184">
            <a:extLst>
              <a:ext uri="{FF2B5EF4-FFF2-40B4-BE49-F238E27FC236}">
                <a16:creationId xmlns:a16="http://schemas.microsoft.com/office/drawing/2014/main" id="{144FA284-7C34-9A06-D7FE-18F1613DE881}"/>
              </a:ext>
            </a:extLst>
          </p:cNvPr>
          <p:cNvSpPr/>
          <p:nvPr/>
        </p:nvSpPr>
        <p:spPr>
          <a:xfrm>
            <a:off x="5692464" y="2252320"/>
            <a:ext cx="45719" cy="251892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47" name="Google Shape;603;p184">
            <a:extLst>
              <a:ext uri="{FF2B5EF4-FFF2-40B4-BE49-F238E27FC236}">
                <a16:creationId xmlns:a16="http://schemas.microsoft.com/office/drawing/2014/main" id="{B411B276-6A17-3DAF-8E22-A5939E1E68A6}"/>
              </a:ext>
            </a:extLst>
          </p:cNvPr>
          <p:cNvSpPr/>
          <p:nvPr/>
        </p:nvSpPr>
        <p:spPr>
          <a:xfrm>
            <a:off x="4219482" y="2252320"/>
            <a:ext cx="45719" cy="327922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48" name="Google Shape;604;p184">
            <a:extLst>
              <a:ext uri="{FF2B5EF4-FFF2-40B4-BE49-F238E27FC236}">
                <a16:creationId xmlns:a16="http://schemas.microsoft.com/office/drawing/2014/main" id="{75C7061F-93AE-70BC-2004-0842590C64ED}"/>
              </a:ext>
            </a:extLst>
          </p:cNvPr>
          <p:cNvSpPr/>
          <p:nvPr/>
        </p:nvSpPr>
        <p:spPr>
          <a:xfrm>
            <a:off x="2747719" y="2252320"/>
            <a:ext cx="45719" cy="25958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49" name="Google Shape;605;p184">
            <a:extLst>
              <a:ext uri="{FF2B5EF4-FFF2-40B4-BE49-F238E27FC236}">
                <a16:creationId xmlns:a16="http://schemas.microsoft.com/office/drawing/2014/main" id="{72B772A0-0AE7-DCDE-6687-5935D3E35289}"/>
              </a:ext>
            </a:extLst>
          </p:cNvPr>
          <p:cNvSpPr/>
          <p:nvPr/>
        </p:nvSpPr>
        <p:spPr>
          <a:xfrm>
            <a:off x="1286479" y="2252320"/>
            <a:ext cx="45719" cy="25958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grpSp>
        <p:nvGrpSpPr>
          <p:cNvPr id="50" name="Google Shape;606;p184">
            <a:extLst>
              <a:ext uri="{FF2B5EF4-FFF2-40B4-BE49-F238E27FC236}">
                <a16:creationId xmlns:a16="http://schemas.microsoft.com/office/drawing/2014/main" id="{54AD2825-1EBC-4D30-A78A-FC1BCCE36992}"/>
              </a:ext>
            </a:extLst>
          </p:cNvPr>
          <p:cNvGrpSpPr/>
          <p:nvPr/>
        </p:nvGrpSpPr>
        <p:grpSpPr>
          <a:xfrm>
            <a:off x="565760" y="1537400"/>
            <a:ext cx="8883040" cy="720000"/>
            <a:chOff x="677520" y="1100520"/>
            <a:chExt cx="8303330" cy="720000"/>
          </a:xfrm>
        </p:grpSpPr>
        <p:sp>
          <p:nvSpPr>
            <p:cNvPr id="51" name="Google Shape;607;p184">
              <a:extLst>
                <a:ext uri="{FF2B5EF4-FFF2-40B4-BE49-F238E27FC236}">
                  <a16:creationId xmlns:a16="http://schemas.microsoft.com/office/drawing/2014/main" id="{29936074-EA91-032C-26D0-896CAC8FE9E6}"/>
                </a:ext>
              </a:extLst>
            </p:cNvPr>
            <p:cNvSpPr/>
            <p:nvPr/>
          </p:nvSpPr>
          <p:spPr>
            <a:xfrm>
              <a:off x="677520" y="1100520"/>
              <a:ext cx="1726560" cy="718560"/>
            </a:xfrm>
            <a:custGeom>
              <a:avLst/>
              <a:gdLst/>
              <a:ahLst/>
              <a:cxnLst/>
              <a:rect l="l" t="t" r="r" b="b"/>
              <a:pathLst>
                <a:path w="4800" h="2000" extrusionOk="0">
                  <a:moveTo>
                    <a:pt x="0" y="0"/>
                  </a:moveTo>
                  <a:lnTo>
                    <a:pt x="3599" y="0"/>
                  </a:lnTo>
                  <a:lnTo>
                    <a:pt x="4799" y="999"/>
                  </a:lnTo>
                  <a:lnTo>
                    <a:pt x="3599" y="1999"/>
                  </a:lnTo>
                  <a:lnTo>
                    <a:pt x="0" y="1999"/>
                  </a:lnTo>
                  <a:lnTo>
                    <a:pt x="0" y="0"/>
                  </a:lnTo>
                </a:path>
              </a:pathLst>
            </a:cu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Business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608;p184">
              <a:extLst>
                <a:ext uri="{FF2B5EF4-FFF2-40B4-BE49-F238E27FC236}">
                  <a16:creationId xmlns:a16="http://schemas.microsoft.com/office/drawing/2014/main" id="{184F373B-80E0-1B1A-E36B-FC67061A9257}"/>
                </a:ext>
              </a:extLst>
            </p:cNvPr>
            <p:cNvSpPr/>
            <p:nvPr/>
          </p:nvSpPr>
          <p:spPr>
            <a:xfrm>
              <a:off x="2045880" y="1100520"/>
              <a:ext cx="1673913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609;p184">
              <a:extLst>
                <a:ext uri="{FF2B5EF4-FFF2-40B4-BE49-F238E27FC236}">
                  <a16:creationId xmlns:a16="http://schemas.microsoft.com/office/drawing/2014/main" id="{E1CC7217-F5A1-33A8-CAAE-469A52386183}"/>
                </a:ext>
              </a:extLst>
            </p:cNvPr>
            <p:cNvSpPr/>
            <p:nvPr/>
          </p:nvSpPr>
          <p:spPr>
            <a:xfrm>
              <a:off x="3389001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Preparation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610;p184">
              <a:extLst>
                <a:ext uri="{FF2B5EF4-FFF2-40B4-BE49-F238E27FC236}">
                  <a16:creationId xmlns:a16="http://schemas.microsoft.com/office/drawing/2014/main" id="{8FFFDA1B-19CB-9E46-0269-A19DED146C98}"/>
                </a:ext>
              </a:extLst>
            </p:cNvPr>
            <p:cNvSpPr/>
            <p:nvPr/>
          </p:nvSpPr>
          <p:spPr>
            <a:xfrm>
              <a:off x="4704714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Modeling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611;p184">
              <a:extLst>
                <a:ext uri="{FF2B5EF4-FFF2-40B4-BE49-F238E27FC236}">
                  <a16:creationId xmlns:a16="http://schemas.microsoft.com/office/drawing/2014/main" id="{1253979D-5B81-A6AA-F43B-FA60237E782E}"/>
                </a:ext>
              </a:extLst>
            </p:cNvPr>
            <p:cNvSpPr/>
            <p:nvPr/>
          </p:nvSpPr>
          <p:spPr>
            <a:xfrm>
              <a:off x="7325570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612;p184">
              <a:extLst>
                <a:ext uri="{FF2B5EF4-FFF2-40B4-BE49-F238E27FC236}">
                  <a16:creationId xmlns:a16="http://schemas.microsoft.com/office/drawing/2014/main" id="{7C0B981D-6800-D886-31DD-9015261F351A}"/>
                </a:ext>
              </a:extLst>
            </p:cNvPr>
            <p:cNvSpPr/>
            <p:nvPr/>
          </p:nvSpPr>
          <p:spPr>
            <a:xfrm>
              <a:off x="6028844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614;p184">
            <a:extLst>
              <a:ext uri="{FF2B5EF4-FFF2-40B4-BE49-F238E27FC236}">
                <a16:creationId xmlns:a16="http://schemas.microsoft.com/office/drawing/2014/main" id="{5831EF52-8316-A5BB-92CA-68D443B0F52B}"/>
              </a:ext>
            </a:extLst>
          </p:cNvPr>
          <p:cNvSpPr/>
          <p:nvPr/>
        </p:nvSpPr>
        <p:spPr>
          <a:xfrm>
            <a:off x="3643376" y="5531546"/>
            <a:ext cx="1232429" cy="635400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Format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615;p184">
            <a:extLst>
              <a:ext uri="{FF2B5EF4-FFF2-40B4-BE49-F238E27FC236}">
                <a16:creationId xmlns:a16="http://schemas.microsoft.com/office/drawing/2014/main" id="{0032D712-2F4B-4BAA-627F-1D09AF8023D8}"/>
              </a:ext>
            </a:extLst>
          </p:cNvPr>
          <p:cNvSpPr/>
          <p:nvPr/>
        </p:nvSpPr>
        <p:spPr>
          <a:xfrm>
            <a:off x="3643376" y="4738346"/>
            <a:ext cx="1232429" cy="635854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Integrate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616;p184">
            <a:extLst>
              <a:ext uri="{FF2B5EF4-FFF2-40B4-BE49-F238E27FC236}">
                <a16:creationId xmlns:a16="http://schemas.microsoft.com/office/drawing/2014/main" id="{0687EAB3-776F-243F-4193-261A132EEF6A}"/>
              </a:ext>
            </a:extLst>
          </p:cNvPr>
          <p:cNvSpPr/>
          <p:nvPr/>
        </p:nvSpPr>
        <p:spPr>
          <a:xfrm>
            <a:off x="3643376" y="3965986"/>
            <a:ext cx="1232429" cy="635854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Construct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17;p184">
            <a:extLst>
              <a:ext uri="{FF2B5EF4-FFF2-40B4-BE49-F238E27FC236}">
                <a16:creationId xmlns:a16="http://schemas.microsoft.com/office/drawing/2014/main" id="{AEC4FE6B-4D9D-2087-C0AA-8F97C4D935EF}"/>
              </a:ext>
            </a:extLst>
          </p:cNvPr>
          <p:cNvSpPr/>
          <p:nvPr/>
        </p:nvSpPr>
        <p:spPr>
          <a:xfrm>
            <a:off x="3644562" y="3194080"/>
            <a:ext cx="1232429" cy="635400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Clean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8;p184">
            <a:extLst>
              <a:ext uri="{FF2B5EF4-FFF2-40B4-BE49-F238E27FC236}">
                <a16:creationId xmlns:a16="http://schemas.microsoft.com/office/drawing/2014/main" id="{064E41A2-1D6A-C91A-D4BC-82B055529432}"/>
              </a:ext>
            </a:extLst>
          </p:cNvPr>
          <p:cNvSpPr/>
          <p:nvPr/>
        </p:nvSpPr>
        <p:spPr>
          <a:xfrm>
            <a:off x="3644562" y="2400880"/>
            <a:ext cx="1232429" cy="635400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Select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19;p184">
            <a:extLst>
              <a:ext uri="{FF2B5EF4-FFF2-40B4-BE49-F238E27FC236}">
                <a16:creationId xmlns:a16="http://schemas.microsoft.com/office/drawing/2014/main" id="{E40721CF-A10F-8576-775A-8598601E2C11}"/>
              </a:ext>
            </a:extLst>
          </p:cNvPr>
          <p:cNvSpPr/>
          <p:nvPr/>
        </p:nvSpPr>
        <p:spPr>
          <a:xfrm>
            <a:off x="710119" y="2400880"/>
            <a:ext cx="1232429" cy="635400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Determine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Business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Objectives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20;p184">
            <a:extLst>
              <a:ext uri="{FF2B5EF4-FFF2-40B4-BE49-F238E27FC236}">
                <a16:creationId xmlns:a16="http://schemas.microsoft.com/office/drawing/2014/main" id="{E8DD149E-87C7-2F21-282D-4321CE53CD58}"/>
              </a:ext>
            </a:extLst>
          </p:cNvPr>
          <p:cNvSpPr/>
          <p:nvPr/>
        </p:nvSpPr>
        <p:spPr>
          <a:xfrm>
            <a:off x="7902559" y="4738346"/>
            <a:ext cx="1540536" cy="635854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Review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Project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21;p184">
            <a:extLst>
              <a:ext uri="{FF2B5EF4-FFF2-40B4-BE49-F238E27FC236}">
                <a16:creationId xmlns:a16="http://schemas.microsoft.com/office/drawing/2014/main" id="{3CA6B770-3C95-360D-19DE-1097CA02327C}"/>
              </a:ext>
            </a:extLst>
          </p:cNvPr>
          <p:cNvSpPr/>
          <p:nvPr/>
        </p:nvSpPr>
        <p:spPr>
          <a:xfrm>
            <a:off x="7902559" y="3965986"/>
            <a:ext cx="1540536" cy="635854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Produce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Final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Report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22;p184">
            <a:extLst>
              <a:ext uri="{FF2B5EF4-FFF2-40B4-BE49-F238E27FC236}">
                <a16:creationId xmlns:a16="http://schemas.microsoft.com/office/drawing/2014/main" id="{CE87AA96-0FBD-C042-3415-927DF7EE4B2D}"/>
              </a:ext>
            </a:extLst>
          </p:cNvPr>
          <p:cNvSpPr/>
          <p:nvPr/>
        </p:nvSpPr>
        <p:spPr>
          <a:xfrm>
            <a:off x="7903745" y="3194080"/>
            <a:ext cx="1540536" cy="635400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Plan Monitoring</a:t>
            </a:r>
            <a:endParaRPr lang="en-U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&amp;</a:t>
            </a:r>
            <a:endParaRPr lang="en-U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Maintenance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23;p184">
            <a:extLst>
              <a:ext uri="{FF2B5EF4-FFF2-40B4-BE49-F238E27FC236}">
                <a16:creationId xmlns:a16="http://schemas.microsoft.com/office/drawing/2014/main" id="{8169EE6A-49BD-0DB0-4C98-BD219AF0D07A}"/>
              </a:ext>
            </a:extLst>
          </p:cNvPr>
          <p:cNvSpPr/>
          <p:nvPr/>
        </p:nvSpPr>
        <p:spPr>
          <a:xfrm>
            <a:off x="7903745" y="2400880"/>
            <a:ext cx="1540536" cy="635400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Plan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Deployment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24;p184">
            <a:extLst>
              <a:ext uri="{FF2B5EF4-FFF2-40B4-BE49-F238E27FC236}">
                <a16:creationId xmlns:a16="http://schemas.microsoft.com/office/drawing/2014/main" id="{E8521AC7-E22D-6F17-8B29-3509735FFDE1}"/>
              </a:ext>
            </a:extLst>
          </p:cNvPr>
          <p:cNvSpPr/>
          <p:nvPr/>
        </p:nvSpPr>
        <p:spPr>
          <a:xfrm>
            <a:off x="6495580" y="3965986"/>
            <a:ext cx="1232429" cy="635854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Determine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Next Steps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25;p184">
            <a:extLst>
              <a:ext uri="{FF2B5EF4-FFF2-40B4-BE49-F238E27FC236}">
                <a16:creationId xmlns:a16="http://schemas.microsoft.com/office/drawing/2014/main" id="{1E9F7B6D-4A55-1BB8-A85C-6BC610117621}"/>
              </a:ext>
            </a:extLst>
          </p:cNvPr>
          <p:cNvSpPr/>
          <p:nvPr/>
        </p:nvSpPr>
        <p:spPr>
          <a:xfrm>
            <a:off x="6496766" y="3194080"/>
            <a:ext cx="1232429" cy="635400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Review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Process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26;p184">
            <a:extLst>
              <a:ext uri="{FF2B5EF4-FFF2-40B4-BE49-F238E27FC236}">
                <a16:creationId xmlns:a16="http://schemas.microsoft.com/office/drawing/2014/main" id="{E0E57272-2F61-5CC7-534A-4DCE3B5817D8}"/>
              </a:ext>
            </a:extLst>
          </p:cNvPr>
          <p:cNvSpPr/>
          <p:nvPr/>
        </p:nvSpPr>
        <p:spPr>
          <a:xfrm>
            <a:off x="6496766" y="2400880"/>
            <a:ext cx="1232429" cy="635400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Evaluate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Results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627;p184">
            <a:extLst>
              <a:ext uri="{FF2B5EF4-FFF2-40B4-BE49-F238E27FC236}">
                <a16:creationId xmlns:a16="http://schemas.microsoft.com/office/drawing/2014/main" id="{6CE336D9-972F-1A12-044B-F8F7D500AACA}"/>
              </a:ext>
            </a:extLst>
          </p:cNvPr>
          <p:cNvSpPr/>
          <p:nvPr/>
        </p:nvSpPr>
        <p:spPr>
          <a:xfrm>
            <a:off x="5107993" y="4738346"/>
            <a:ext cx="1232044" cy="635854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Assess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Model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628;p184">
            <a:extLst>
              <a:ext uri="{FF2B5EF4-FFF2-40B4-BE49-F238E27FC236}">
                <a16:creationId xmlns:a16="http://schemas.microsoft.com/office/drawing/2014/main" id="{62D13E30-0A7D-FEAA-8AA8-3A07ACBB27CA}"/>
              </a:ext>
            </a:extLst>
          </p:cNvPr>
          <p:cNvSpPr/>
          <p:nvPr/>
        </p:nvSpPr>
        <p:spPr>
          <a:xfrm>
            <a:off x="5107993" y="3965986"/>
            <a:ext cx="1232044" cy="635854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Build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Model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629;p184">
            <a:extLst>
              <a:ext uri="{FF2B5EF4-FFF2-40B4-BE49-F238E27FC236}">
                <a16:creationId xmlns:a16="http://schemas.microsoft.com/office/drawing/2014/main" id="{7DA5FD50-F6CF-FF70-8374-7C98F6005E98}"/>
              </a:ext>
            </a:extLst>
          </p:cNvPr>
          <p:cNvSpPr/>
          <p:nvPr/>
        </p:nvSpPr>
        <p:spPr>
          <a:xfrm>
            <a:off x="5109179" y="3194080"/>
            <a:ext cx="1232044" cy="635400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Generate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Test Design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630;p184">
            <a:extLst>
              <a:ext uri="{FF2B5EF4-FFF2-40B4-BE49-F238E27FC236}">
                <a16:creationId xmlns:a16="http://schemas.microsoft.com/office/drawing/2014/main" id="{6C3F6174-01C8-0DBE-EEF1-B668EE1583D0}"/>
              </a:ext>
            </a:extLst>
          </p:cNvPr>
          <p:cNvSpPr/>
          <p:nvPr/>
        </p:nvSpPr>
        <p:spPr>
          <a:xfrm>
            <a:off x="5109179" y="2400880"/>
            <a:ext cx="1232044" cy="635400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Select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Modeling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Technique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631;p184">
            <a:extLst>
              <a:ext uri="{FF2B5EF4-FFF2-40B4-BE49-F238E27FC236}">
                <a16:creationId xmlns:a16="http://schemas.microsoft.com/office/drawing/2014/main" id="{35692A42-6938-7D96-3765-7E45318936C9}"/>
              </a:ext>
            </a:extLst>
          </p:cNvPr>
          <p:cNvSpPr/>
          <p:nvPr/>
        </p:nvSpPr>
        <p:spPr>
          <a:xfrm>
            <a:off x="710119" y="3194080"/>
            <a:ext cx="1232429" cy="635400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Assess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Situation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632;p184">
            <a:extLst>
              <a:ext uri="{FF2B5EF4-FFF2-40B4-BE49-F238E27FC236}">
                <a16:creationId xmlns:a16="http://schemas.microsoft.com/office/drawing/2014/main" id="{C60CD40D-0CDC-4FE6-5297-286B9C7B6A53}"/>
              </a:ext>
            </a:extLst>
          </p:cNvPr>
          <p:cNvSpPr/>
          <p:nvPr/>
        </p:nvSpPr>
        <p:spPr>
          <a:xfrm>
            <a:off x="2170534" y="3965986"/>
            <a:ext cx="1232044" cy="635854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Explore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633;p184">
            <a:extLst>
              <a:ext uri="{FF2B5EF4-FFF2-40B4-BE49-F238E27FC236}">
                <a16:creationId xmlns:a16="http://schemas.microsoft.com/office/drawing/2014/main" id="{F53C1B93-15D5-4FE2-49EA-8A4E43B8A021}"/>
              </a:ext>
            </a:extLst>
          </p:cNvPr>
          <p:cNvSpPr/>
          <p:nvPr/>
        </p:nvSpPr>
        <p:spPr>
          <a:xfrm>
            <a:off x="2171720" y="3194080"/>
            <a:ext cx="1232044" cy="635400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Describe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634;p184">
            <a:extLst>
              <a:ext uri="{FF2B5EF4-FFF2-40B4-BE49-F238E27FC236}">
                <a16:creationId xmlns:a16="http://schemas.microsoft.com/office/drawing/2014/main" id="{6FB006BE-A80C-FF8F-771E-5ED5CF1CCA34}"/>
              </a:ext>
            </a:extLst>
          </p:cNvPr>
          <p:cNvSpPr/>
          <p:nvPr/>
        </p:nvSpPr>
        <p:spPr>
          <a:xfrm>
            <a:off x="2171720" y="2400880"/>
            <a:ext cx="1232044" cy="635400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Collect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Initial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635;p184">
            <a:extLst>
              <a:ext uri="{FF2B5EF4-FFF2-40B4-BE49-F238E27FC236}">
                <a16:creationId xmlns:a16="http://schemas.microsoft.com/office/drawing/2014/main" id="{E6B787AF-A630-70BF-B39E-C028337B9805}"/>
              </a:ext>
            </a:extLst>
          </p:cNvPr>
          <p:cNvSpPr/>
          <p:nvPr/>
        </p:nvSpPr>
        <p:spPr>
          <a:xfrm>
            <a:off x="708933" y="3965986"/>
            <a:ext cx="1232429" cy="635854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Determine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Mining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Goals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636;p184">
            <a:extLst>
              <a:ext uri="{FF2B5EF4-FFF2-40B4-BE49-F238E27FC236}">
                <a16:creationId xmlns:a16="http://schemas.microsoft.com/office/drawing/2014/main" id="{DDC7936F-B477-6C16-6FB8-8F1AA7C620F1}"/>
              </a:ext>
            </a:extLst>
          </p:cNvPr>
          <p:cNvSpPr/>
          <p:nvPr/>
        </p:nvSpPr>
        <p:spPr>
          <a:xfrm>
            <a:off x="2170534" y="4738346"/>
            <a:ext cx="1232044" cy="635854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Verify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Quality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637;p184">
            <a:extLst>
              <a:ext uri="{FF2B5EF4-FFF2-40B4-BE49-F238E27FC236}">
                <a16:creationId xmlns:a16="http://schemas.microsoft.com/office/drawing/2014/main" id="{2569B9C0-64B4-7494-2ED2-5B94751DE361}"/>
              </a:ext>
            </a:extLst>
          </p:cNvPr>
          <p:cNvSpPr/>
          <p:nvPr/>
        </p:nvSpPr>
        <p:spPr>
          <a:xfrm>
            <a:off x="708933" y="4738346"/>
            <a:ext cx="1232429" cy="635854"/>
          </a:xfrm>
          <a:prstGeom prst="flowChartProcess">
            <a:avLst/>
          </a:prstGeom>
          <a:solidFill>
            <a:srgbClr val="CCFFCC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Produce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2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r>
              <a:rPr lang="en-US" sz="11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Project Plan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35989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E69C1-9F07-79E1-AFF0-46830A016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Personnels</a:t>
            </a:r>
          </a:p>
        </p:txBody>
      </p:sp>
      <p:grpSp>
        <p:nvGrpSpPr>
          <p:cNvPr id="4" name="Google Shape;644;p185">
            <a:extLst>
              <a:ext uri="{FF2B5EF4-FFF2-40B4-BE49-F238E27FC236}">
                <a16:creationId xmlns:a16="http://schemas.microsoft.com/office/drawing/2014/main" id="{4AE7D8CF-523C-9F22-342A-A6A0C740A00C}"/>
              </a:ext>
            </a:extLst>
          </p:cNvPr>
          <p:cNvGrpSpPr/>
          <p:nvPr/>
        </p:nvGrpSpPr>
        <p:grpSpPr>
          <a:xfrm>
            <a:off x="926256" y="1806672"/>
            <a:ext cx="511950" cy="592952"/>
            <a:chOff x="280080" y="1123920"/>
            <a:chExt cx="502920" cy="502920"/>
          </a:xfrm>
        </p:grpSpPr>
        <p:sp>
          <p:nvSpPr>
            <p:cNvPr id="5" name="Google Shape;645;p185">
              <a:extLst>
                <a:ext uri="{FF2B5EF4-FFF2-40B4-BE49-F238E27FC236}">
                  <a16:creationId xmlns:a16="http://schemas.microsoft.com/office/drawing/2014/main" id="{A5FEE5B3-D64B-2C16-7B18-B895E53D4BBA}"/>
                </a:ext>
              </a:extLst>
            </p:cNvPr>
            <p:cNvSpPr/>
            <p:nvPr/>
          </p:nvSpPr>
          <p:spPr>
            <a:xfrm flipH="1">
              <a:off x="280080" y="1123920"/>
              <a:ext cx="502920" cy="502920"/>
            </a:xfrm>
            <a:prstGeom prst="ellipse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646;p185">
              <a:extLst>
                <a:ext uri="{FF2B5EF4-FFF2-40B4-BE49-F238E27FC236}">
                  <a16:creationId xmlns:a16="http://schemas.microsoft.com/office/drawing/2014/main" id="{A1793D26-48D5-7CC1-1976-A72124834D2E}"/>
                </a:ext>
              </a:extLst>
            </p:cNvPr>
            <p:cNvSpPr/>
            <p:nvPr/>
          </p:nvSpPr>
          <p:spPr>
            <a:xfrm flipH="1">
              <a:off x="280080" y="1206650"/>
              <a:ext cx="502920" cy="337100"/>
            </a:xfrm>
            <a:prstGeom prst="rect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" name="Google Shape;647;p185">
            <a:extLst>
              <a:ext uri="{FF2B5EF4-FFF2-40B4-BE49-F238E27FC236}">
                <a16:creationId xmlns:a16="http://schemas.microsoft.com/office/drawing/2014/main" id="{4B62339D-3BE3-C6C0-36F5-B8A180D49311}"/>
              </a:ext>
            </a:extLst>
          </p:cNvPr>
          <p:cNvSpPr/>
          <p:nvPr/>
        </p:nvSpPr>
        <p:spPr>
          <a:xfrm>
            <a:off x="1560576" y="1781472"/>
            <a:ext cx="8058912" cy="7064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Scientist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Mengembangkan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model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terbaik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data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menjawab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permasalahan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bisnis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648;p185">
            <a:extLst>
              <a:ext uri="{FF2B5EF4-FFF2-40B4-BE49-F238E27FC236}">
                <a16:creationId xmlns:a16="http://schemas.microsoft.com/office/drawing/2014/main" id="{3BDBC537-F04A-A1EC-5C1C-FF2C9E7691C1}"/>
              </a:ext>
            </a:extLst>
          </p:cNvPr>
          <p:cNvSpPr/>
          <p:nvPr/>
        </p:nvSpPr>
        <p:spPr>
          <a:xfrm>
            <a:off x="1560576" y="5628864"/>
            <a:ext cx="8058912" cy="7064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People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Menyiapkan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infrastruktur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IT (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terutama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deployment)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649;p185">
            <a:extLst>
              <a:ext uri="{FF2B5EF4-FFF2-40B4-BE49-F238E27FC236}">
                <a16:creationId xmlns:a16="http://schemas.microsoft.com/office/drawing/2014/main" id="{B821A071-8FFF-2121-8B66-564508325AEF}"/>
              </a:ext>
            </a:extLst>
          </p:cNvPr>
          <p:cNvSpPr/>
          <p:nvPr/>
        </p:nvSpPr>
        <p:spPr>
          <a:xfrm>
            <a:off x="1569936" y="2550264"/>
            <a:ext cx="8049384" cy="7064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Engineer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Menyiapkan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(big) data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untuk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diolah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/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dimodelkan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650;p185">
            <a:extLst>
              <a:ext uri="{FF2B5EF4-FFF2-40B4-BE49-F238E27FC236}">
                <a16:creationId xmlns:a16="http://schemas.microsoft.com/office/drawing/2014/main" id="{F19B8400-3639-8251-73C1-B5731743A5AE}"/>
              </a:ext>
            </a:extLst>
          </p:cNvPr>
          <p:cNvSpPr/>
          <p:nvPr/>
        </p:nvSpPr>
        <p:spPr>
          <a:xfrm>
            <a:off x="1579296" y="3324816"/>
            <a:ext cx="8039856" cy="7064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Analyst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Menganalisis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/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mencari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insight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dari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data (dan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menampilkannya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dalam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dashboard)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51;p185">
            <a:extLst>
              <a:ext uri="{FF2B5EF4-FFF2-40B4-BE49-F238E27FC236}">
                <a16:creationId xmlns:a16="http://schemas.microsoft.com/office/drawing/2014/main" id="{B10CEC7A-941B-7E2F-4657-06FD0C4EF91A}"/>
              </a:ext>
            </a:extLst>
          </p:cNvPr>
          <p:cNvSpPr/>
          <p:nvPr/>
        </p:nvSpPr>
        <p:spPr>
          <a:xfrm>
            <a:off x="1579296" y="4101936"/>
            <a:ext cx="8039856" cy="7064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Project/ Product Manager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Mengelola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projek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/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produk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berbasis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data.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652;p185">
            <a:extLst>
              <a:ext uri="{FF2B5EF4-FFF2-40B4-BE49-F238E27FC236}">
                <a16:creationId xmlns:a16="http://schemas.microsoft.com/office/drawing/2014/main" id="{7DE31CD0-4717-DA4E-C2D9-2BF93C6979C5}"/>
              </a:ext>
            </a:extLst>
          </p:cNvPr>
          <p:cNvGrpSpPr/>
          <p:nvPr/>
        </p:nvGrpSpPr>
        <p:grpSpPr>
          <a:xfrm>
            <a:off x="926256" y="2579784"/>
            <a:ext cx="511950" cy="592952"/>
            <a:chOff x="280080" y="1762920"/>
            <a:chExt cx="502920" cy="502920"/>
          </a:xfrm>
        </p:grpSpPr>
        <p:sp>
          <p:nvSpPr>
            <p:cNvPr id="13" name="Google Shape;653;p185">
              <a:extLst>
                <a:ext uri="{FF2B5EF4-FFF2-40B4-BE49-F238E27FC236}">
                  <a16:creationId xmlns:a16="http://schemas.microsoft.com/office/drawing/2014/main" id="{6414E569-CF01-0835-E911-74ACDE835848}"/>
                </a:ext>
              </a:extLst>
            </p:cNvPr>
            <p:cNvSpPr/>
            <p:nvPr/>
          </p:nvSpPr>
          <p:spPr>
            <a:xfrm flipH="1">
              <a:off x="280080" y="1762920"/>
              <a:ext cx="502920" cy="502920"/>
            </a:xfrm>
            <a:prstGeom prst="ellipse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654;p185">
              <a:extLst>
                <a:ext uri="{FF2B5EF4-FFF2-40B4-BE49-F238E27FC236}">
                  <a16:creationId xmlns:a16="http://schemas.microsoft.com/office/drawing/2014/main" id="{668A8E80-AD8B-FC3B-9855-1DB6F574FEC2}"/>
                </a:ext>
              </a:extLst>
            </p:cNvPr>
            <p:cNvSpPr/>
            <p:nvPr/>
          </p:nvSpPr>
          <p:spPr>
            <a:xfrm flipH="1">
              <a:off x="280080" y="1845650"/>
              <a:ext cx="502920" cy="337100"/>
            </a:xfrm>
            <a:prstGeom prst="rect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600" b="1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655;p185">
            <a:extLst>
              <a:ext uri="{FF2B5EF4-FFF2-40B4-BE49-F238E27FC236}">
                <a16:creationId xmlns:a16="http://schemas.microsoft.com/office/drawing/2014/main" id="{BAE9EC7B-1404-3FA5-6B79-99342CBD7A2F}"/>
              </a:ext>
            </a:extLst>
          </p:cNvPr>
          <p:cNvGrpSpPr/>
          <p:nvPr/>
        </p:nvGrpSpPr>
        <p:grpSpPr>
          <a:xfrm>
            <a:off x="926256" y="3370176"/>
            <a:ext cx="511950" cy="592952"/>
            <a:chOff x="280080" y="2419200"/>
            <a:chExt cx="502920" cy="502920"/>
          </a:xfrm>
        </p:grpSpPr>
        <p:sp>
          <p:nvSpPr>
            <p:cNvPr id="16" name="Google Shape;656;p185">
              <a:extLst>
                <a:ext uri="{FF2B5EF4-FFF2-40B4-BE49-F238E27FC236}">
                  <a16:creationId xmlns:a16="http://schemas.microsoft.com/office/drawing/2014/main" id="{FCA50330-80C0-24F7-931E-FDF80FC62FA7}"/>
                </a:ext>
              </a:extLst>
            </p:cNvPr>
            <p:cNvSpPr/>
            <p:nvPr/>
          </p:nvSpPr>
          <p:spPr>
            <a:xfrm flipH="1">
              <a:off x="280080" y="2419200"/>
              <a:ext cx="502920" cy="502920"/>
            </a:xfrm>
            <a:prstGeom prst="ellipse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657;p185">
              <a:extLst>
                <a:ext uri="{FF2B5EF4-FFF2-40B4-BE49-F238E27FC236}">
                  <a16:creationId xmlns:a16="http://schemas.microsoft.com/office/drawing/2014/main" id="{18D0BC03-D971-6345-36E1-0773719E0488}"/>
                </a:ext>
              </a:extLst>
            </p:cNvPr>
            <p:cNvSpPr/>
            <p:nvPr/>
          </p:nvSpPr>
          <p:spPr>
            <a:xfrm flipH="1">
              <a:off x="280080" y="2502290"/>
              <a:ext cx="502920" cy="337100"/>
            </a:xfrm>
            <a:prstGeom prst="rect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658;p185">
            <a:extLst>
              <a:ext uri="{FF2B5EF4-FFF2-40B4-BE49-F238E27FC236}">
                <a16:creationId xmlns:a16="http://schemas.microsoft.com/office/drawing/2014/main" id="{E444FA9C-A9AA-D801-F7D4-25C55D023197}"/>
              </a:ext>
            </a:extLst>
          </p:cNvPr>
          <p:cNvGrpSpPr/>
          <p:nvPr/>
        </p:nvGrpSpPr>
        <p:grpSpPr>
          <a:xfrm>
            <a:off x="926256" y="4177896"/>
            <a:ext cx="511950" cy="592952"/>
            <a:chOff x="280080" y="3105000"/>
            <a:chExt cx="502920" cy="502920"/>
          </a:xfrm>
        </p:grpSpPr>
        <p:sp>
          <p:nvSpPr>
            <p:cNvPr id="19" name="Google Shape;659;p185">
              <a:extLst>
                <a:ext uri="{FF2B5EF4-FFF2-40B4-BE49-F238E27FC236}">
                  <a16:creationId xmlns:a16="http://schemas.microsoft.com/office/drawing/2014/main" id="{C5C8C14E-5425-287C-EDA5-E6C05F602067}"/>
                </a:ext>
              </a:extLst>
            </p:cNvPr>
            <p:cNvSpPr/>
            <p:nvPr/>
          </p:nvSpPr>
          <p:spPr>
            <a:xfrm flipH="1">
              <a:off x="280080" y="3105000"/>
              <a:ext cx="502920" cy="502920"/>
            </a:xfrm>
            <a:prstGeom prst="ellipse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660;p185">
              <a:extLst>
                <a:ext uri="{FF2B5EF4-FFF2-40B4-BE49-F238E27FC236}">
                  <a16:creationId xmlns:a16="http://schemas.microsoft.com/office/drawing/2014/main" id="{1825124B-F440-36CD-5BA5-6F91E037D36A}"/>
                </a:ext>
              </a:extLst>
            </p:cNvPr>
            <p:cNvSpPr/>
            <p:nvPr/>
          </p:nvSpPr>
          <p:spPr>
            <a:xfrm flipH="1">
              <a:off x="280080" y="3188090"/>
              <a:ext cx="502920" cy="337100"/>
            </a:xfrm>
            <a:prstGeom prst="rect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661;p185">
            <a:extLst>
              <a:ext uri="{FF2B5EF4-FFF2-40B4-BE49-F238E27FC236}">
                <a16:creationId xmlns:a16="http://schemas.microsoft.com/office/drawing/2014/main" id="{8FBF921D-377C-1C5F-CC59-D687202BF459}"/>
              </a:ext>
            </a:extLst>
          </p:cNvPr>
          <p:cNvGrpSpPr/>
          <p:nvPr/>
        </p:nvGrpSpPr>
        <p:grpSpPr>
          <a:xfrm>
            <a:off x="926256" y="4897464"/>
            <a:ext cx="511950" cy="592952"/>
            <a:chOff x="280080" y="3714840"/>
            <a:chExt cx="502920" cy="502920"/>
          </a:xfrm>
        </p:grpSpPr>
        <p:sp>
          <p:nvSpPr>
            <p:cNvPr id="22" name="Google Shape;662;p185">
              <a:extLst>
                <a:ext uri="{FF2B5EF4-FFF2-40B4-BE49-F238E27FC236}">
                  <a16:creationId xmlns:a16="http://schemas.microsoft.com/office/drawing/2014/main" id="{AC614E03-7931-C23C-B224-4D900B1BE04C}"/>
                </a:ext>
              </a:extLst>
            </p:cNvPr>
            <p:cNvSpPr/>
            <p:nvPr/>
          </p:nvSpPr>
          <p:spPr>
            <a:xfrm flipH="1">
              <a:off x="280080" y="3714840"/>
              <a:ext cx="502920" cy="502920"/>
            </a:xfrm>
            <a:prstGeom prst="ellipse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663;p185">
              <a:extLst>
                <a:ext uri="{FF2B5EF4-FFF2-40B4-BE49-F238E27FC236}">
                  <a16:creationId xmlns:a16="http://schemas.microsoft.com/office/drawing/2014/main" id="{28CAE41E-DF35-E5E9-C30D-DAF6466699F3}"/>
                </a:ext>
              </a:extLst>
            </p:cNvPr>
            <p:cNvSpPr/>
            <p:nvPr/>
          </p:nvSpPr>
          <p:spPr>
            <a:xfrm flipH="1">
              <a:off x="280080" y="3797570"/>
              <a:ext cx="502920" cy="337100"/>
            </a:xfrm>
            <a:prstGeom prst="rect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664;p185">
            <a:extLst>
              <a:ext uri="{FF2B5EF4-FFF2-40B4-BE49-F238E27FC236}">
                <a16:creationId xmlns:a16="http://schemas.microsoft.com/office/drawing/2014/main" id="{8DF6B56C-126E-4E6F-E2AE-3426028F3143}"/>
              </a:ext>
            </a:extLst>
          </p:cNvPr>
          <p:cNvSpPr/>
          <p:nvPr/>
        </p:nvSpPr>
        <p:spPr>
          <a:xfrm>
            <a:off x="1569936" y="4872264"/>
            <a:ext cx="8049384" cy="7064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Domain Expert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Memberi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arahan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tentang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domain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permasalahan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665;p185">
            <a:extLst>
              <a:ext uri="{FF2B5EF4-FFF2-40B4-BE49-F238E27FC236}">
                <a16:creationId xmlns:a16="http://schemas.microsoft.com/office/drawing/2014/main" id="{18BE9A81-D258-E509-B580-2879A63C5703}"/>
              </a:ext>
            </a:extLst>
          </p:cNvPr>
          <p:cNvGrpSpPr/>
          <p:nvPr/>
        </p:nvGrpSpPr>
        <p:grpSpPr>
          <a:xfrm>
            <a:off x="926256" y="5762064"/>
            <a:ext cx="511950" cy="592952"/>
            <a:chOff x="280080" y="4457520"/>
            <a:chExt cx="502920" cy="502920"/>
          </a:xfrm>
        </p:grpSpPr>
        <p:sp>
          <p:nvSpPr>
            <p:cNvPr id="26" name="Google Shape;666;p185">
              <a:extLst>
                <a:ext uri="{FF2B5EF4-FFF2-40B4-BE49-F238E27FC236}">
                  <a16:creationId xmlns:a16="http://schemas.microsoft.com/office/drawing/2014/main" id="{0010D92E-4F8C-DBD3-7FAB-1A4A49627BD7}"/>
                </a:ext>
              </a:extLst>
            </p:cNvPr>
            <p:cNvSpPr/>
            <p:nvPr/>
          </p:nvSpPr>
          <p:spPr>
            <a:xfrm flipH="1">
              <a:off x="280080" y="4457520"/>
              <a:ext cx="502920" cy="502920"/>
            </a:xfrm>
            <a:prstGeom prst="ellipse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667;p185">
              <a:extLst>
                <a:ext uri="{FF2B5EF4-FFF2-40B4-BE49-F238E27FC236}">
                  <a16:creationId xmlns:a16="http://schemas.microsoft.com/office/drawing/2014/main" id="{F795544D-9D14-4EC8-F658-DD62140B7B77}"/>
                </a:ext>
              </a:extLst>
            </p:cNvPr>
            <p:cNvSpPr/>
            <p:nvPr/>
          </p:nvSpPr>
          <p:spPr>
            <a:xfrm flipH="1">
              <a:off x="280080" y="4540250"/>
              <a:ext cx="502920" cy="337100"/>
            </a:xfrm>
            <a:prstGeom prst="rect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06</a:t>
              </a:r>
              <a:endPara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19925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D5775-C299-CEDA-4405-9AFACB514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A27EB-E3DD-10B7-71F7-B160529F3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Case study: Credit failure</a:t>
            </a:r>
          </a:p>
        </p:txBody>
      </p:sp>
      <p:sp>
        <p:nvSpPr>
          <p:cNvPr id="5" name="Google Shape;680;p187">
            <a:extLst>
              <a:ext uri="{FF2B5EF4-FFF2-40B4-BE49-F238E27FC236}">
                <a16:creationId xmlns:a16="http://schemas.microsoft.com/office/drawing/2014/main" id="{DFF9EEA8-E472-D001-E290-538F4CDDF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20" y="1825625"/>
            <a:ext cx="9509759" cy="224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Common business goal: </a:t>
            </a:r>
            <a:r>
              <a:rPr lang="en-US" sz="2000" i="0" u="none" strike="noStrike" cap="none" dirty="0" err="1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Memaksimalkan</a:t>
            </a:r>
            <a:r>
              <a:rPr lang="en-US" sz="2000" i="0" u="none" strike="noStrike" cap="none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 </a:t>
            </a:r>
            <a:r>
              <a:rPr lang="en-US" sz="2000" i="0" u="none" strike="noStrike" cap="none" dirty="0" err="1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keuntungan</a:t>
            </a:r>
            <a:endParaRPr lang="en-US" sz="2000" i="0" u="none" strike="noStrike" cap="none" dirty="0">
              <a:solidFill>
                <a:srgbClr val="4C4C4C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2000" b="1" i="0" u="none" strike="noStrike" cap="none" dirty="0">
              <a:solidFill>
                <a:srgbClr val="4C4C4C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None/>
            </a:pPr>
            <a:r>
              <a:rPr lang="en-US" sz="2000" b="1" i="0" u="none" strike="noStrike" cap="none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Business problem</a:t>
            </a:r>
            <a:r>
              <a:rPr lang="en-US" sz="2000" b="0" i="0" u="none" strike="noStrike" cap="none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: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Bagaimana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menurunkan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NPL </a:t>
            </a:r>
            <a:r>
              <a:rPr lang="en-US" sz="2000" i="1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i="1" dirty="0" err="1"/>
              <a:t>kredit</a:t>
            </a:r>
            <a:r>
              <a:rPr lang="en-US" sz="2000" i="1" dirty="0"/>
              <a:t> </a:t>
            </a:r>
            <a:r>
              <a:rPr lang="en-US" sz="2000" i="1" dirty="0" err="1"/>
              <a:t>bermasalah</a:t>
            </a:r>
            <a:r>
              <a:rPr lang="en-US" sz="2000" i="1" dirty="0"/>
              <a:t>)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suatu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bank</a:t>
            </a:r>
            <a:endParaRPr sz="20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None/>
            </a:pPr>
            <a:r>
              <a:rPr lang="en-US" sz="2000" b="1" i="0" u="none" strike="noStrike" cap="none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Question</a:t>
            </a:r>
            <a:r>
              <a:rPr lang="en-US" sz="2000" b="0" i="0" u="none" strike="noStrike" cap="none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: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Bagaimana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memperbaiki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perhitungan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Credit score</a:t>
            </a:r>
            <a:endParaRPr sz="20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None/>
            </a:pPr>
            <a:r>
              <a:rPr lang="en-US" sz="2000" b="1" i="0" u="none" strike="noStrike" cap="none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Measurable outcomes: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Penurunan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kredit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gagal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bayar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xx%</a:t>
            </a:r>
            <a:endParaRPr sz="20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4004BA-3D06-5DCA-FA05-470BBB39A831}"/>
              </a:ext>
            </a:extLst>
          </p:cNvPr>
          <p:cNvSpPr/>
          <p:nvPr/>
        </p:nvSpPr>
        <p:spPr>
          <a:xfrm>
            <a:off x="9885680" y="1877695"/>
            <a:ext cx="1930400" cy="5765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High NLP rates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2845C3-46EC-24C4-AEFC-9B34F28775BF}"/>
              </a:ext>
            </a:extLst>
          </p:cNvPr>
          <p:cNvSpPr/>
          <p:nvPr/>
        </p:nvSpPr>
        <p:spPr>
          <a:xfrm>
            <a:off x="9885680" y="2663445"/>
            <a:ext cx="1930400" cy="4622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Credit failure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FCB879-B925-8B30-058A-AB7A1564D978}"/>
              </a:ext>
            </a:extLst>
          </p:cNvPr>
          <p:cNvSpPr/>
          <p:nvPr/>
        </p:nvSpPr>
        <p:spPr>
          <a:xfrm>
            <a:off x="9885680" y="3346450"/>
            <a:ext cx="1930400" cy="6705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Loan granted to high-risk clients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730C6B-45FB-796B-10D0-017440B3373A}"/>
              </a:ext>
            </a:extLst>
          </p:cNvPr>
          <p:cNvSpPr/>
          <p:nvPr/>
        </p:nvSpPr>
        <p:spPr>
          <a:xfrm>
            <a:off x="9885680" y="4217415"/>
            <a:ext cx="1930400" cy="6705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Inaccurate credit score calculation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C0FE36-CD71-B220-0F00-34C08A018D19}"/>
              </a:ext>
            </a:extLst>
          </p:cNvPr>
          <p:cNvSpPr/>
          <p:nvPr/>
        </p:nvSpPr>
        <p:spPr>
          <a:xfrm>
            <a:off x="9885680" y="5108700"/>
            <a:ext cx="1930400" cy="4493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Incomplete data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C2731FE-F248-7D09-E029-F5BAD1828F51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10850880" y="2454275"/>
            <a:ext cx="0" cy="2091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E64A965-04FB-26BA-E69E-5DE3312D07B3}"/>
              </a:ext>
            </a:extLst>
          </p:cNvPr>
          <p:cNvCxnSpPr>
            <a:cxnSpLocks/>
            <a:stCxn id="12" idx="0"/>
            <a:endCxn id="10" idx="2"/>
          </p:cNvCxnSpPr>
          <p:nvPr/>
        </p:nvCxnSpPr>
        <p:spPr>
          <a:xfrm flipV="1">
            <a:off x="10850880" y="3125725"/>
            <a:ext cx="0" cy="220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0C42A21-E72B-6155-3388-ED3CAF56F5FB}"/>
              </a:ext>
            </a:extLst>
          </p:cNvPr>
          <p:cNvCxnSpPr>
            <a:cxnSpLocks/>
            <a:stCxn id="14" idx="0"/>
            <a:endCxn id="12" idx="2"/>
          </p:cNvCxnSpPr>
          <p:nvPr/>
        </p:nvCxnSpPr>
        <p:spPr>
          <a:xfrm flipV="1">
            <a:off x="10850880" y="4017010"/>
            <a:ext cx="0" cy="2004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FD504B0-5053-A8A8-DB25-F862FE443327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10850880" y="4887975"/>
            <a:ext cx="0" cy="220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C60EEAF-F71E-525F-FF82-5B08979914BF}"/>
              </a:ext>
            </a:extLst>
          </p:cNvPr>
          <p:cNvSpPr/>
          <p:nvPr/>
        </p:nvSpPr>
        <p:spPr>
          <a:xfrm>
            <a:off x="9885680" y="5779260"/>
            <a:ext cx="1930400" cy="4493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…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1855A61-487B-0474-012F-F919B965CEE5}"/>
              </a:ext>
            </a:extLst>
          </p:cNvPr>
          <p:cNvCxnSpPr>
            <a:cxnSpLocks/>
            <a:stCxn id="37" idx="0"/>
            <a:endCxn id="18" idx="2"/>
          </p:cNvCxnSpPr>
          <p:nvPr/>
        </p:nvCxnSpPr>
        <p:spPr>
          <a:xfrm flipV="1">
            <a:off x="10850880" y="5558025"/>
            <a:ext cx="0" cy="2212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1DA36E18-532D-DFBD-F53C-48CC01360BE0}"/>
              </a:ext>
            </a:extLst>
          </p:cNvPr>
          <p:cNvSpPr/>
          <p:nvPr/>
        </p:nvSpPr>
        <p:spPr>
          <a:xfrm>
            <a:off x="7447281" y="1825625"/>
            <a:ext cx="2346958" cy="6807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Business problem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D40D51D7-F535-9D61-BB1F-0BB974796FC9}"/>
              </a:ext>
            </a:extLst>
          </p:cNvPr>
          <p:cNvSpPr/>
          <p:nvPr/>
        </p:nvSpPr>
        <p:spPr>
          <a:xfrm>
            <a:off x="7447281" y="4190745"/>
            <a:ext cx="2346958" cy="6807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Root cause</a:t>
            </a:r>
          </a:p>
        </p:txBody>
      </p:sp>
    </p:spTree>
    <p:extLst>
      <p:ext uri="{BB962C8B-B14F-4D97-AF65-F5344CB8AC3E}">
        <p14:creationId xmlns:p14="http://schemas.microsoft.com/office/powerpoint/2010/main" val="38381316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0C2B4-A63D-B8CF-2494-809D1A6FD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7114C-FB95-500D-C240-AF5280C3A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Case study: Credit failure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824BDE-469C-1886-A4F5-ED4C3375CBF6}"/>
              </a:ext>
            </a:extLst>
          </p:cNvPr>
          <p:cNvSpPr/>
          <p:nvPr/>
        </p:nvSpPr>
        <p:spPr>
          <a:xfrm>
            <a:off x="10080752" y="1548511"/>
            <a:ext cx="1930400" cy="5765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High NLP rates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52FA8F-7150-0F52-48EC-5A2EE6A8FA7D}"/>
              </a:ext>
            </a:extLst>
          </p:cNvPr>
          <p:cNvSpPr/>
          <p:nvPr/>
        </p:nvSpPr>
        <p:spPr>
          <a:xfrm>
            <a:off x="10080752" y="2334261"/>
            <a:ext cx="1930400" cy="4622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Credit failure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DF026-53B5-7F68-04F4-541AA758AF31}"/>
              </a:ext>
            </a:extLst>
          </p:cNvPr>
          <p:cNvSpPr/>
          <p:nvPr/>
        </p:nvSpPr>
        <p:spPr>
          <a:xfrm>
            <a:off x="10080752" y="3017266"/>
            <a:ext cx="1930400" cy="6705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Loan granted to high-risk clients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B4E3F3-31CF-1515-D8FB-FA645DBB7883}"/>
              </a:ext>
            </a:extLst>
          </p:cNvPr>
          <p:cNvSpPr/>
          <p:nvPr/>
        </p:nvSpPr>
        <p:spPr>
          <a:xfrm>
            <a:off x="10080752" y="3888231"/>
            <a:ext cx="1930400" cy="6705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Inaccurate credit score calculation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17B250-8AF7-2AE1-18CE-B12AC9FBB8F2}"/>
              </a:ext>
            </a:extLst>
          </p:cNvPr>
          <p:cNvSpPr/>
          <p:nvPr/>
        </p:nvSpPr>
        <p:spPr>
          <a:xfrm>
            <a:off x="10080752" y="4779516"/>
            <a:ext cx="1930400" cy="4493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Incomplete data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C705DA2-1365-FC78-54D8-AA91A86DE1A2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11045952" y="2125091"/>
            <a:ext cx="0" cy="2091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9546D9A-48D4-8ED5-604B-3ACA41F0ED95}"/>
              </a:ext>
            </a:extLst>
          </p:cNvPr>
          <p:cNvCxnSpPr>
            <a:cxnSpLocks/>
            <a:stCxn id="12" idx="0"/>
            <a:endCxn id="10" idx="2"/>
          </p:cNvCxnSpPr>
          <p:nvPr/>
        </p:nvCxnSpPr>
        <p:spPr>
          <a:xfrm flipV="1">
            <a:off x="11045952" y="2796541"/>
            <a:ext cx="0" cy="220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A98B4A8-C08F-676A-4143-E727F1E7141D}"/>
              </a:ext>
            </a:extLst>
          </p:cNvPr>
          <p:cNvCxnSpPr>
            <a:cxnSpLocks/>
            <a:stCxn id="14" idx="0"/>
            <a:endCxn id="12" idx="2"/>
          </p:cNvCxnSpPr>
          <p:nvPr/>
        </p:nvCxnSpPr>
        <p:spPr>
          <a:xfrm flipV="1">
            <a:off x="11045952" y="3687826"/>
            <a:ext cx="0" cy="2004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D5D2111-25FA-F491-B28F-7FFFC13EF188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11045952" y="4558791"/>
            <a:ext cx="0" cy="220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EB89613-E9F6-9A16-8EAB-FFD002D621ED}"/>
              </a:ext>
            </a:extLst>
          </p:cNvPr>
          <p:cNvSpPr/>
          <p:nvPr/>
        </p:nvSpPr>
        <p:spPr>
          <a:xfrm>
            <a:off x="10080752" y="5450076"/>
            <a:ext cx="1930400" cy="4493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…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D03E3D1-FC2E-B364-AB6B-816D88B31748}"/>
              </a:ext>
            </a:extLst>
          </p:cNvPr>
          <p:cNvCxnSpPr>
            <a:cxnSpLocks/>
            <a:stCxn id="37" idx="0"/>
            <a:endCxn id="18" idx="2"/>
          </p:cNvCxnSpPr>
          <p:nvPr/>
        </p:nvCxnSpPr>
        <p:spPr>
          <a:xfrm flipV="1">
            <a:off x="11045952" y="5228841"/>
            <a:ext cx="0" cy="2212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8D561F7-62B4-0D11-3CC6-C0E6BDBFF9E1}"/>
              </a:ext>
            </a:extLst>
          </p:cNvPr>
          <p:cNvSpPr/>
          <p:nvPr/>
        </p:nvSpPr>
        <p:spPr>
          <a:xfrm>
            <a:off x="7642353" y="1496441"/>
            <a:ext cx="2346958" cy="6807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Business problem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BCB95028-A242-184E-18CD-4536D59127CA}"/>
              </a:ext>
            </a:extLst>
          </p:cNvPr>
          <p:cNvSpPr/>
          <p:nvPr/>
        </p:nvSpPr>
        <p:spPr>
          <a:xfrm>
            <a:off x="7642353" y="3861561"/>
            <a:ext cx="2346958" cy="6807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Root cause</a:t>
            </a:r>
          </a:p>
        </p:txBody>
      </p:sp>
      <p:sp>
        <p:nvSpPr>
          <p:cNvPr id="6" name="Google Shape;680;p187">
            <a:extLst>
              <a:ext uri="{FF2B5EF4-FFF2-40B4-BE49-F238E27FC236}">
                <a16:creationId xmlns:a16="http://schemas.microsoft.com/office/drawing/2014/main" id="{73B918C0-F4B1-325E-2DB3-B3E1060D01F7}"/>
              </a:ext>
            </a:extLst>
          </p:cNvPr>
          <p:cNvSpPr txBox="1">
            <a:spLocks/>
          </p:cNvSpPr>
          <p:nvPr/>
        </p:nvSpPr>
        <p:spPr>
          <a:xfrm>
            <a:off x="694944" y="1432951"/>
            <a:ext cx="9190736" cy="286086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0000" tIns="45000" rIns="90000" bIns="45000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1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Common business goal: </a:t>
            </a:r>
            <a:r>
              <a:rPr lang="en-US" sz="200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Memaksimalkan keuntungan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Business problem</a:t>
            </a:r>
            <a:r>
              <a:rPr lang="en-US" sz="200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: </a:t>
            </a:r>
            <a:r>
              <a:rPr lang="en-US" sz="200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Bagaimana menurunkan NPL </a:t>
            </a:r>
            <a:r>
              <a:rPr lang="en-US" sz="2000" i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i="1"/>
              <a:t>kredit bermasalah)</a:t>
            </a:r>
            <a:r>
              <a:rPr lang="en-US" sz="200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suatu bank</a:t>
            </a:r>
            <a:endParaRPr lang="en-US" sz="200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Question</a:t>
            </a:r>
            <a:r>
              <a:rPr lang="en-US" sz="200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: </a:t>
            </a:r>
            <a:r>
              <a:rPr lang="en-US" sz="200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Bagaimana memperbaiki perhitungan Credit score</a:t>
            </a:r>
            <a:endParaRPr lang="en-US" sz="200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Measurable outcomes: </a:t>
            </a:r>
            <a:r>
              <a:rPr lang="en-US" sz="200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Penurunan kredit gagal bayar </a:t>
            </a:r>
            <a:r>
              <a:rPr lang="en-US" sz="200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xx%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Analytic task: </a:t>
            </a:r>
            <a:r>
              <a:rPr lang="en-US" sz="200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Classification (high / low risk)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r>
              <a:rPr lang="en-US" sz="2000" b="1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Performance metrics: </a:t>
            </a:r>
            <a:r>
              <a:rPr lang="en-US" sz="200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F1-score</a:t>
            </a:r>
            <a:endParaRPr lang="en-US" sz="2000" dirty="0">
              <a:solidFill>
                <a:schemeClr val="accent1">
                  <a:lumMod val="75000"/>
                </a:schemeClr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64286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C1138-FB87-4DD1-64D3-CB77EC30C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Case study: Credit failure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552A2E-A125-8577-2BEB-D68DD9DA02EA}"/>
              </a:ext>
            </a:extLst>
          </p:cNvPr>
          <p:cNvSpPr/>
          <p:nvPr/>
        </p:nvSpPr>
        <p:spPr>
          <a:xfrm>
            <a:off x="3454400" y="1877695"/>
            <a:ext cx="1930400" cy="5765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High NLP rates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E2CC03-18AF-63AD-EF57-582EF2393700}"/>
              </a:ext>
            </a:extLst>
          </p:cNvPr>
          <p:cNvSpPr/>
          <p:nvPr/>
        </p:nvSpPr>
        <p:spPr>
          <a:xfrm>
            <a:off x="3454400" y="2663445"/>
            <a:ext cx="1930400" cy="4622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Credit failure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A90CC3-064C-AE7E-E4B6-28DD2730A1E2}"/>
              </a:ext>
            </a:extLst>
          </p:cNvPr>
          <p:cNvSpPr/>
          <p:nvPr/>
        </p:nvSpPr>
        <p:spPr>
          <a:xfrm>
            <a:off x="3454400" y="3346450"/>
            <a:ext cx="1930400" cy="6705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Loan granted to high-risk clients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46F064-2268-E5FA-5523-FB40BEE56776}"/>
              </a:ext>
            </a:extLst>
          </p:cNvPr>
          <p:cNvSpPr/>
          <p:nvPr/>
        </p:nvSpPr>
        <p:spPr>
          <a:xfrm>
            <a:off x="3454400" y="4217415"/>
            <a:ext cx="1930400" cy="6705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Inaccurate credit score calculation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96D656-9B5B-423A-16B8-E734B223AEFE}"/>
              </a:ext>
            </a:extLst>
          </p:cNvPr>
          <p:cNvSpPr/>
          <p:nvPr/>
        </p:nvSpPr>
        <p:spPr>
          <a:xfrm>
            <a:off x="3454400" y="5108700"/>
            <a:ext cx="1930400" cy="4493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Incomplete data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DD28379-10C0-1F92-4D79-C16A0573049A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4419600" y="2454275"/>
            <a:ext cx="0" cy="2091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0592E3-87AA-FA45-6F16-98C78B561D5B}"/>
              </a:ext>
            </a:extLst>
          </p:cNvPr>
          <p:cNvCxnSpPr>
            <a:cxnSpLocks/>
            <a:stCxn id="12" idx="0"/>
            <a:endCxn id="10" idx="2"/>
          </p:cNvCxnSpPr>
          <p:nvPr/>
        </p:nvCxnSpPr>
        <p:spPr>
          <a:xfrm flipV="1">
            <a:off x="4419600" y="3125725"/>
            <a:ext cx="0" cy="220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768F80-D85D-96C9-8CBA-EA1AED429800}"/>
              </a:ext>
            </a:extLst>
          </p:cNvPr>
          <p:cNvCxnSpPr>
            <a:cxnSpLocks/>
            <a:stCxn id="14" idx="0"/>
            <a:endCxn id="12" idx="2"/>
          </p:cNvCxnSpPr>
          <p:nvPr/>
        </p:nvCxnSpPr>
        <p:spPr>
          <a:xfrm flipV="1">
            <a:off x="4419600" y="4017010"/>
            <a:ext cx="0" cy="2004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C46416A-B081-3050-5AD7-B4E5E93254F6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4419600" y="4887975"/>
            <a:ext cx="0" cy="220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98B8C04B-4DB2-418E-B416-0D89BA691A29}"/>
              </a:ext>
            </a:extLst>
          </p:cNvPr>
          <p:cNvSpPr/>
          <p:nvPr/>
        </p:nvSpPr>
        <p:spPr>
          <a:xfrm>
            <a:off x="3454400" y="5779260"/>
            <a:ext cx="1930400" cy="4493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Manual entry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CBC50DE-3940-0D40-9809-137DD8B3D949}"/>
              </a:ext>
            </a:extLst>
          </p:cNvPr>
          <p:cNvCxnSpPr>
            <a:cxnSpLocks/>
            <a:stCxn id="37" idx="0"/>
            <a:endCxn id="18" idx="2"/>
          </p:cNvCxnSpPr>
          <p:nvPr/>
        </p:nvCxnSpPr>
        <p:spPr>
          <a:xfrm flipV="1">
            <a:off x="4419600" y="5558025"/>
            <a:ext cx="0" cy="2212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4AAB4A5B-CA83-ABA1-EE93-B1D0B629B828}"/>
              </a:ext>
            </a:extLst>
          </p:cNvPr>
          <p:cNvSpPr/>
          <p:nvPr/>
        </p:nvSpPr>
        <p:spPr>
          <a:xfrm>
            <a:off x="1016001" y="1825625"/>
            <a:ext cx="2346958" cy="6807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Business problem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DAAF50FF-867F-1D68-A090-400725458C68}"/>
              </a:ext>
            </a:extLst>
          </p:cNvPr>
          <p:cNvSpPr/>
          <p:nvPr/>
        </p:nvSpPr>
        <p:spPr>
          <a:xfrm>
            <a:off x="965201" y="5626222"/>
            <a:ext cx="2346958" cy="6807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Root cause</a:t>
            </a:r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AFC62A6D-2FBD-D942-4C7B-CA35617CE933}"/>
              </a:ext>
            </a:extLst>
          </p:cNvPr>
          <p:cNvSpPr/>
          <p:nvPr/>
        </p:nvSpPr>
        <p:spPr>
          <a:xfrm>
            <a:off x="914401" y="2748025"/>
            <a:ext cx="2448558" cy="2810000"/>
          </a:xfrm>
          <a:prstGeom prst="downArrow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Analyze the business process to find …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178A811-4AAC-97FB-1A35-168718892F14}"/>
              </a:ext>
            </a:extLst>
          </p:cNvPr>
          <p:cNvSpPr/>
          <p:nvPr/>
        </p:nvSpPr>
        <p:spPr>
          <a:xfrm>
            <a:off x="6736079" y="2143382"/>
            <a:ext cx="3007359" cy="1003173"/>
          </a:xfrm>
          <a:prstGeom prst="rect">
            <a:avLst/>
          </a:prstGeom>
          <a:solidFill>
            <a:schemeClr val="accent4">
              <a:lumMod val="20000"/>
              <a:lumOff val="80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Different process requires different solution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C9643E1-D196-B94E-FD0E-040685AA698B}"/>
              </a:ext>
            </a:extLst>
          </p:cNvPr>
          <p:cNvSpPr/>
          <p:nvPr/>
        </p:nvSpPr>
        <p:spPr>
          <a:xfrm>
            <a:off x="5537200" y="5779260"/>
            <a:ext cx="5730240" cy="449325"/>
          </a:xfrm>
          <a:prstGeom prst="rect">
            <a:avLst/>
          </a:prstGeom>
          <a:solidFill>
            <a:schemeClr val="accent6">
              <a:lumMod val="20000"/>
              <a:lumOff val="80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Information system, system integration, digitalization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07579E3-2D19-5CCF-E1F3-D567B174CDCB}"/>
              </a:ext>
            </a:extLst>
          </p:cNvPr>
          <p:cNvSpPr/>
          <p:nvPr/>
        </p:nvSpPr>
        <p:spPr>
          <a:xfrm>
            <a:off x="5537200" y="5108700"/>
            <a:ext cx="5730240" cy="449325"/>
          </a:xfrm>
          <a:prstGeom prst="rect">
            <a:avLst/>
          </a:prstGeom>
          <a:solidFill>
            <a:schemeClr val="accent6">
              <a:lumMod val="20000"/>
              <a:lumOff val="80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Data cleaning algorithm, data preprocessing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84C1762-9186-26E6-816A-88C6361CED5D}"/>
              </a:ext>
            </a:extLst>
          </p:cNvPr>
          <p:cNvSpPr/>
          <p:nvPr/>
        </p:nvSpPr>
        <p:spPr>
          <a:xfrm>
            <a:off x="5537200" y="4217415"/>
            <a:ext cx="5730240" cy="670050"/>
          </a:xfrm>
          <a:prstGeom prst="rect">
            <a:avLst/>
          </a:prstGeom>
          <a:solidFill>
            <a:schemeClr val="accent6">
              <a:lumMod val="20000"/>
              <a:lumOff val="80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Credit score calculation formula/algorithm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30E7FBA-9B93-5747-C0AF-83ACCC8034A3}"/>
              </a:ext>
            </a:extLst>
          </p:cNvPr>
          <p:cNvSpPr/>
          <p:nvPr/>
        </p:nvSpPr>
        <p:spPr>
          <a:xfrm>
            <a:off x="5547359" y="3346960"/>
            <a:ext cx="5730240" cy="670050"/>
          </a:xfrm>
          <a:prstGeom prst="rect">
            <a:avLst/>
          </a:prstGeom>
          <a:solidFill>
            <a:schemeClr val="accent6">
              <a:lumMod val="20000"/>
              <a:lumOff val="80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Decision making system, ML model</a:t>
            </a:r>
          </a:p>
        </p:txBody>
      </p:sp>
    </p:spTree>
    <p:extLst>
      <p:ext uri="{BB962C8B-B14F-4D97-AF65-F5344CB8AC3E}">
        <p14:creationId xmlns:p14="http://schemas.microsoft.com/office/powerpoint/2010/main" val="3991020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F44D7-93FA-C5F6-4F30-4FBE6A892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Science :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20D19-3330-2522-760F-AE18734D3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0161"/>
            <a:ext cx="10556576" cy="514479"/>
          </a:xfr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txBody>
          <a:bodyPr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0D5BDC"/>
                </a:solidFill>
                <a:latin typeface="Lato"/>
                <a:ea typeface="Lato"/>
                <a:cs typeface="Lato"/>
                <a:sym typeface="Lato"/>
              </a:rPr>
              <a:t>Menentukan</a:t>
            </a:r>
            <a:r>
              <a:rPr lang="en-US" b="1" dirty="0">
                <a:solidFill>
                  <a:srgbClr val="0D5BD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1" dirty="0" err="1">
                <a:solidFill>
                  <a:srgbClr val="0D5BDC"/>
                </a:solidFill>
                <a:latin typeface="Lato"/>
                <a:ea typeface="Lato"/>
                <a:cs typeface="Lato"/>
                <a:sym typeface="Lato"/>
              </a:rPr>
              <a:t>Tugas</a:t>
            </a:r>
            <a:r>
              <a:rPr lang="en-US" b="1" dirty="0">
                <a:solidFill>
                  <a:srgbClr val="0D5BDC"/>
                </a:solidFill>
                <a:latin typeface="Lato"/>
                <a:ea typeface="Lato"/>
                <a:cs typeface="Lato"/>
                <a:sym typeface="Lato"/>
              </a:rPr>
              <a:t> Analytics</a:t>
            </a:r>
            <a:endParaRPr lang="en-US" dirty="0">
              <a:latin typeface="Aptos" panose="020B0004020202020204" pitchFamily="34" charset="0"/>
            </a:endParaRPr>
          </a:p>
        </p:txBody>
      </p:sp>
      <p:grpSp>
        <p:nvGrpSpPr>
          <p:cNvPr id="4" name="Google Shape;606;p184">
            <a:extLst>
              <a:ext uri="{FF2B5EF4-FFF2-40B4-BE49-F238E27FC236}">
                <a16:creationId xmlns:a16="http://schemas.microsoft.com/office/drawing/2014/main" id="{1EA50B88-FEE0-B3DB-2B06-6E74DD5DEEC9}"/>
              </a:ext>
            </a:extLst>
          </p:cNvPr>
          <p:cNvGrpSpPr/>
          <p:nvPr/>
        </p:nvGrpSpPr>
        <p:grpSpPr>
          <a:xfrm>
            <a:off x="838200" y="1435800"/>
            <a:ext cx="8883040" cy="720000"/>
            <a:chOff x="677520" y="1100520"/>
            <a:chExt cx="8303330" cy="720000"/>
          </a:xfrm>
        </p:grpSpPr>
        <p:sp>
          <p:nvSpPr>
            <p:cNvPr id="5" name="Google Shape;607;p184">
              <a:extLst>
                <a:ext uri="{FF2B5EF4-FFF2-40B4-BE49-F238E27FC236}">
                  <a16:creationId xmlns:a16="http://schemas.microsoft.com/office/drawing/2014/main" id="{A4FAE344-6D65-FD9B-9765-9AA6477EAE04}"/>
                </a:ext>
              </a:extLst>
            </p:cNvPr>
            <p:cNvSpPr/>
            <p:nvPr/>
          </p:nvSpPr>
          <p:spPr>
            <a:xfrm>
              <a:off x="677520" y="1100520"/>
              <a:ext cx="1726560" cy="718560"/>
            </a:xfrm>
            <a:custGeom>
              <a:avLst/>
              <a:gdLst/>
              <a:ahLst/>
              <a:cxnLst/>
              <a:rect l="l" t="t" r="r" b="b"/>
              <a:pathLst>
                <a:path w="4800" h="2000" extrusionOk="0">
                  <a:moveTo>
                    <a:pt x="0" y="0"/>
                  </a:moveTo>
                  <a:lnTo>
                    <a:pt x="3599" y="0"/>
                  </a:lnTo>
                  <a:lnTo>
                    <a:pt x="4799" y="999"/>
                  </a:lnTo>
                  <a:lnTo>
                    <a:pt x="3599" y="1999"/>
                  </a:lnTo>
                  <a:lnTo>
                    <a:pt x="0" y="1999"/>
                  </a:lnTo>
                  <a:lnTo>
                    <a:pt x="0" y="0"/>
                  </a:lnTo>
                </a:path>
              </a:pathLst>
            </a:cu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Business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608;p184">
              <a:extLst>
                <a:ext uri="{FF2B5EF4-FFF2-40B4-BE49-F238E27FC236}">
                  <a16:creationId xmlns:a16="http://schemas.microsoft.com/office/drawing/2014/main" id="{AFCD8601-3F7A-1F4C-F39E-7AEE11B0B16D}"/>
                </a:ext>
              </a:extLst>
            </p:cNvPr>
            <p:cNvSpPr/>
            <p:nvPr/>
          </p:nvSpPr>
          <p:spPr>
            <a:xfrm>
              <a:off x="2045880" y="1100520"/>
              <a:ext cx="1673913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609;p184">
              <a:extLst>
                <a:ext uri="{FF2B5EF4-FFF2-40B4-BE49-F238E27FC236}">
                  <a16:creationId xmlns:a16="http://schemas.microsoft.com/office/drawing/2014/main" id="{886092BE-A3BD-84FF-D853-2EA7392D3B58}"/>
                </a:ext>
              </a:extLst>
            </p:cNvPr>
            <p:cNvSpPr/>
            <p:nvPr/>
          </p:nvSpPr>
          <p:spPr>
            <a:xfrm>
              <a:off x="3389001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Preparation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610;p184">
              <a:extLst>
                <a:ext uri="{FF2B5EF4-FFF2-40B4-BE49-F238E27FC236}">
                  <a16:creationId xmlns:a16="http://schemas.microsoft.com/office/drawing/2014/main" id="{8E51CE84-78E6-98AC-E87E-E67EE0D6BDC2}"/>
                </a:ext>
              </a:extLst>
            </p:cNvPr>
            <p:cNvSpPr/>
            <p:nvPr/>
          </p:nvSpPr>
          <p:spPr>
            <a:xfrm>
              <a:off x="4704714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Modeling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611;p184">
              <a:extLst>
                <a:ext uri="{FF2B5EF4-FFF2-40B4-BE49-F238E27FC236}">
                  <a16:creationId xmlns:a16="http://schemas.microsoft.com/office/drawing/2014/main" id="{25869D19-6DEA-BC46-1000-6DBE21C662AE}"/>
                </a:ext>
              </a:extLst>
            </p:cNvPr>
            <p:cNvSpPr/>
            <p:nvPr/>
          </p:nvSpPr>
          <p:spPr>
            <a:xfrm>
              <a:off x="7325570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612;p184">
              <a:extLst>
                <a:ext uri="{FF2B5EF4-FFF2-40B4-BE49-F238E27FC236}">
                  <a16:creationId xmlns:a16="http://schemas.microsoft.com/office/drawing/2014/main" id="{E6D30611-6C2E-474E-AB74-F98D961415BF}"/>
                </a:ext>
              </a:extLst>
            </p:cNvPr>
            <p:cNvSpPr/>
            <p:nvPr/>
          </p:nvSpPr>
          <p:spPr>
            <a:xfrm>
              <a:off x="6028844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" name="Google Shape;690;p188">
            <a:extLst>
              <a:ext uri="{FF2B5EF4-FFF2-40B4-BE49-F238E27FC236}">
                <a16:creationId xmlns:a16="http://schemas.microsoft.com/office/drawing/2014/main" id="{6454D5DD-7199-96A4-2C73-24D14150B798}"/>
              </a:ext>
            </a:extLst>
          </p:cNvPr>
          <p:cNvSpPr/>
          <p:nvPr/>
        </p:nvSpPr>
        <p:spPr>
          <a:xfrm>
            <a:off x="113636" y="3810001"/>
            <a:ext cx="1560308" cy="8295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Continuous number</a:t>
            </a:r>
            <a:endParaRPr sz="16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691;p188">
            <a:extLst>
              <a:ext uri="{FF2B5EF4-FFF2-40B4-BE49-F238E27FC236}">
                <a16:creationId xmlns:a16="http://schemas.microsoft.com/office/drawing/2014/main" id="{9217E1B4-F3C3-F1D1-DBA1-7DB8444176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6792" y="2971680"/>
            <a:ext cx="747360" cy="74736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690;p188">
            <a:extLst>
              <a:ext uri="{FF2B5EF4-FFF2-40B4-BE49-F238E27FC236}">
                <a16:creationId xmlns:a16="http://schemas.microsoft.com/office/drawing/2014/main" id="{00BE4E6C-48FE-0A9C-D7DA-14819CAA8A94}"/>
              </a:ext>
            </a:extLst>
          </p:cNvPr>
          <p:cNvSpPr/>
          <p:nvPr/>
        </p:nvSpPr>
        <p:spPr>
          <a:xfrm>
            <a:off x="105100" y="4639544"/>
            <a:ext cx="1560308" cy="8295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111125" marR="0" lvl="0" indent="-11112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i="0" u="none" strike="noStrike" cap="none" dirty="0" err="1">
                <a:latin typeface="Arial"/>
                <a:ea typeface="Arial"/>
                <a:cs typeface="Arial"/>
                <a:sym typeface="Arial"/>
              </a:rPr>
              <a:t>Prediksi</a:t>
            </a:r>
            <a:endParaRPr lang="en-US" sz="160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11125" marR="0" lvl="0" indent="-11112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i="0" u="none" strike="noStrike" cap="none" dirty="0" err="1">
                <a:latin typeface="Arial"/>
                <a:ea typeface="Arial"/>
                <a:cs typeface="Arial"/>
                <a:sym typeface="Arial"/>
              </a:rPr>
              <a:t>harga</a:t>
            </a:r>
            <a:r>
              <a:rPr lang="en-US" sz="160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i="0" u="none" strike="noStrike" cap="none" dirty="0" err="1">
                <a:latin typeface="Arial"/>
                <a:ea typeface="Arial"/>
                <a:cs typeface="Arial"/>
                <a:sym typeface="Arial"/>
              </a:rPr>
              <a:t>rumah</a:t>
            </a:r>
            <a:endParaRPr lang="en-US" sz="160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111125" marR="0" lvl="0" indent="-11112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harga</a:t>
            </a: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latin typeface="Arial"/>
                <a:ea typeface="Arial"/>
                <a:cs typeface="Arial"/>
                <a:sym typeface="Arial"/>
              </a:rPr>
              <a:t>saham</a:t>
            </a:r>
            <a:endParaRPr lang="en-US" sz="16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701;p189">
            <a:extLst>
              <a:ext uri="{FF2B5EF4-FFF2-40B4-BE49-F238E27FC236}">
                <a16:creationId xmlns:a16="http://schemas.microsoft.com/office/drawing/2014/main" id="{65061662-2428-211F-14F8-E0044672642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08434" y="2959560"/>
            <a:ext cx="747360" cy="7473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690;p188">
            <a:extLst>
              <a:ext uri="{FF2B5EF4-FFF2-40B4-BE49-F238E27FC236}">
                <a16:creationId xmlns:a16="http://schemas.microsoft.com/office/drawing/2014/main" id="{4F18DDA9-9339-AA10-7850-328178C26A43}"/>
              </a:ext>
            </a:extLst>
          </p:cNvPr>
          <p:cNvSpPr/>
          <p:nvPr/>
        </p:nvSpPr>
        <p:spPr>
          <a:xfrm>
            <a:off x="1706628" y="3810001"/>
            <a:ext cx="1950972" cy="8295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Classes or categories</a:t>
            </a:r>
            <a:endParaRPr sz="16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690;p188">
            <a:extLst>
              <a:ext uri="{FF2B5EF4-FFF2-40B4-BE49-F238E27FC236}">
                <a16:creationId xmlns:a16="http://schemas.microsoft.com/office/drawing/2014/main" id="{23D6DBEF-70E7-11BE-B318-BF4DF18067CA}"/>
              </a:ext>
            </a:extLst>
          </p:cNvPr>
          <p:cNvSpPr/>
          <p:nvPr/>
        </p:nvSpPr>
        <p:spPr>
          <a:xfrm>
            <a:off x="1706628" y="4671361"/>
            <a:ext cx="1950972" cy="13219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111125" lvl="0" indent="-111125"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Prediksi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kolektibilitas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111125" lvl="0" indent="-111125"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i="0" u="none" strike="noStrike" cap="none" dirty="0">
                <a:latin typeface="Arial"/>
                <a:ea typeface="Arial"/>
                <a:cs typeface="Arial"/>
                <a:sym typeface="Arial"/>
              </a:rPr>
              <a:t>Failure/success</a:t>
            </a:r>
          </a:p>
          <a:p>
            <a:pPr marL="111125" marR="0" lvl="0" indent="-11112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Access granted/denied</a:t>
            </a:r>
            <a:endParaRPr sz="160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712;p190">
            <a:extLst>
              <a:ext uri="{FF2B5EF4-FFF2-40B4-BE49-F238E27FC236}">
                <a16:creationId xmlns:a16="http://schemas.microsoft.com/office/drawing/2014/main" id="{5699FAA2-191E-E40A-C546-A01485F8CD0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0554" y="2959560"/>
            <a:ext cx="793440" cy="79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690;p188">
            <a:extLst>
              <a:ext uri="{FF2B5EF4-FFF2-40B4-BE49-F238E27FC236}">
                <a16:creationId xmlns:a16="http://schemas.microsoft.com/office/drawing/2014/main" id="{28431CE5-0100-930C-437B-5A9DA50BE672}"/>
              </a:ext>
            </a:extLst>
          </p:cNvPr>
          <p:cNvSpPr/>
          <p:nvPr/>
        </p:nvSpPr>
        <p:spPr>
          <a:xfrm>
            <a:off x="3695616" y="3810001"/>
            <a:ext cx="1803316" cy="8295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Clustering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Grouping based on similarity</a:t>
            </a:r>
            <a:endParaRPr sz="16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690;p188">
            <a:extLst>
              <a:ext uri="{FF2B5EF4-FFF2-40B4-BE49-F238E27FC236}">
                <a16:creationId xmlns:a16="http://schemas.microsoft.com/office/drawing/2014/main" id="{26C6BED4-CD52-F38C-3323-AD3FB786B50D}"/>
              </a:ext>
            </a:extLst>
          </p:cNvPr>
          <p:cNvSpPr/>
          <p:nvPr/>
        </p:nvSpPr>
        <p:spPr>
          <a:xfrm>
            <a:off x="3695616" y="4684185"/>
            <a:ext cx="1803316" cy="13219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111125" marR="0" lvl="0" indent="-11112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i="0" u="none" strike="noStrike" cap="none" dirty="0">
                <a:latin typeface="Arial"/>
                <a:ea typeface="Arial"/>
                <a:cs typeface="Arial"/>
                <a:sym typeface="Arial"/>
              </a:rPr>
              <a:t>Customer grouping</a:t>
            </a:r>
          </a:p>
          <a:p>
            <a:pPr marL="111125" lvl="0" indent="-111125"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Segmentasi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nasabah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perbankan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1600" i="0" u="none" strike="noStrike" cap="none" dirty="0"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pic>
        <p:nvPicPr>
          <p:cNvPr id="30" name="Google Shape;722;p191">
            <a:extLst>
              <a:ext uri="{FF2B5EF4-FFF2-40B4-BE49-F238E27FC236}">
                <a16:creationId xmlns:a16="http://schemas.microsoft.com/office/drawing/2014/main" id="{513A72D9-B161-63A9-7B7F-086CE012123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73396" y="2935760"/>
            <a:ext cx="793440" cy="79344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690;p188">
            <a:extLst>
              <a:ext uri="{FF2B5EF4-FFF2-40B4-BE49-F238E27FC236}">
                <a16:creationId xmlns:a16="http://schemas.microsoft.com/office/drawing/2014/main" id="{42F468D1-9355-9A3D-B9DC-19E9040221B3}"/>
              </a:ext>
            </a:extLst>
          </p:cNvPr>
          <p:cNvSpPr/>
          <p:nvPr/>
        </p:nvSpPr>
        <p:spPr>
          <a:xfrm>
            <a:off x="5532204" y="3810001"/>
            <a:ext cx="1510552" cy="8295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Association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Co-occurring items/actions</a:t>
            </a:r>
            <a:endParaRPr sz="16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690;p188">
            <a:extLst>
              <a:ext uri="{FF2B5EF4-FFF2-40B4-BE49-F238E27FC236}">
                <a16:creationId xmlns:a16="http://schemas.microsoft.com/office/drawing/2014/main" id="{A886ED8D-1FF1-6AF8-F050-221A6207E06C}"/>
              </a:ext>
            </a:extLst>
          </p:cNvPr>
          <p:cNvSpPr/>
          <p:nvPr/>
        </p:nvSpPr>
        <p:spPr>
          <a:xfrm>
            <a:off x="5532204" y="4684185"/>
            <a:ext cx="1510552" cy="8295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111125" marR="0" lvl="0" indent="-11112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i="0" u="none" strike="noStrike" cap="none" dirty="0">
                <a:latin typeface="Arial"/>
                <a:ea typeface="Arial"/>
                <a:cs typeface="Arial"/>
                <a:sym typeface="Arial"/>
              </a:rPr>
              <a:t>Shopping items</a:t>
            </a:r>
          </a:p>
          <a:p>
            <a:pPr marL="111125" marR="0" lvl="0" indent="-11112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i="0" u="none" strike="noStrike" cap="none" dirty="0">
                <a:latin typeface="Arial"/>
                <a:ea typeface="Arial"/>
                <a:cs typeface="Arial"/>
                <a:sym typeface="Arial"/>
              </a:rPr>
              <a:t>Stocks</a:t>
            </a:r>
            <a:endParaRPr sz="160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732;p192">
            <a:extLst>
              <a:ext uri="{FF2B5EF4-FFF2-40B4-BE49-F238E27FC236}">
                <a16:creationId xmlns:a16="http://schemas.microsoft.com/office/drawing/2014/main" id="{2E9AA3E3-CC83-F25B-639B-0AE25595F03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92840" y="2914920"/>
            <a:ext cx="919080" cy="83304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690;p188">
            <a:extLst>
              <a:ext uri="{FF2B5EF4-FFF2-40B4-BE49-F238E27FC236}">
                <a16:creationId xmlns:a16="http://schemas.microsoft.com/office/drawing/2014/main" id="{1FABC811-E695-1B40-BCBD-0F1AB3E2D040}"/>
              </a:ext>
            </a:extLst>
          </p:cNvPr>
          <p:cNvSpPr/>
          <p:nvPr/>
        </p:nvSpPr>
        <p:spPr>
          <a:xfrm>
            <a:off x="7083976" y="3810001"/>
            <a:ext cx="1510552" cy="583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Anomaly Detection</a:t>
            </a:r>
          </a:p>
        </p:txBody>
      </p:sp>
      <p:sp>
        <p:nvSpPr>
          <p:cNvPr id="40" name="Google Shape;690;p188">
            <a:extLst>
              <a:ext uri="{FF2B5EF4-FFF2-40B4-BE49-F238E27FC236}">
                <a16:creationId xmlns:a16="http://schemas.microsoft.com/office/drawing/2014/main" id="{4E675E19-B87F-EE1A-7233-28391097FC16}"/>
              </a:ext>
            </a:extLst>
          </p:cNvPr>
          <p:cNvSpPr/>
          <p:nvPr/>
        </p:nvSpPr>
        <p:spPr>
          <a:xfrm>
            <a:off x="7083976" y="4430185"/>
            <a:ext cx="1510552" cy="10757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111125" marR="0" lvl="0" indent="-11112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i="0" u="none" strike="noStrike" cap="none" dirty="0">
                <a:latin typeface="Arial"/>
                <a:ea typeface="Arial"/>
                <a:cs typeface="Arial"/>
                <a:sym typeface="Arial"/>
              </a:rPr>
              <a:t>Illegal CC transaction</a:t>
            </a:r>
          </a:p>
          <a:p>
            <a:pPr marL="111125" marR="0" lvl="0" indent="-11112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Security breach</a:t>
            </a:r>
            <a:endParaRPr sz="160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742;p193">
            <a:extLst>
              <a:ext uri="{FF2B5EF4-FFF2-40B4-BE49-F238E27FC236}">
                <a16:creationId xmlns:a16="http://schemas.microsoft.com/office/drawing/2014/main" id="{C50EFB8F-F98C-4376-2D7E-F360B706C89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79560" y="2914920"/>
            <a:ext cx="938160" cy="9381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690;p188">
            <a:extLst>
              <a:ext uri="{FF2B5EF4-FFF2-40B4-BE49-F238E27FC236}">
                <a16:creationId xmlns:a16="http://schemas.microsoft.com/office/drawing/2014/main" id="{6E4396B2-939A-4477-DF71-326AD0AA5C3C}"/>
              </a:ext>
            </a:extLst>
          </p:cNvPr>
          <p:cNvSpPr/>
          <p:nvPr/>
        </p:nvSpPr>
        <p:spPr>
          <a:xfrm>
            <a:off x="8635748" y="3810001"/>
            <a:ext cx="1510552" cy="583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Sequence mining</a:t>
            </a:r>
          </a:p>
        </p:txBody>
      </p:sp>
      <p:sp>
        <p:nvSpPr>
          <p:cNvPr id="46" name="Google Shape;690;p188">
            <a:extLst>
              <a:ext uri="{FF2B5EF4-FFF2-40B4-BE49-F238E27FC236}">
                <a16:creationId xmlns:a16="http://schemas.microsoft.com/office/drawing/2014/main" id="{4A2F0940-11B5-159A-44A2-CF9C9005E1B5}"/>
              </a:ext>
            </a:extLst>
          </p:cNvPr>
          <p:cNvSpPr/>
          <p:nvPr/>
        </p:nvSpPr>
        <p:spPr>
          <a:xfrm>
            <a:off x="8635748" y="4430185"/>
            <a:ext cx="1510552" cy="8295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111125" marR="0" lvl="0" indent="-11112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i="0" u="none" strike="noStrike" cap="none" dirty="0">
                <a:latin typeface="Arial"/>
                <a:ea typeface="Arial"/>
                <a:cs typeface="Arial"/>
                <a:sym typeface="Arial"/>
              </a:rPr>
              <a:t>Finding next customer activity</a:t>
            </a:r>
          </a:p>
        </p:txBody>
      </p:sp>
      <p:pic>
        <p:nvPicPr>
          <p:cNvPr id="48" name="Google Shape;752;p194">
            <a:extLst>
              <a:ext uri="{FF2B5EF4-FFF2-40B4-BE49-F238E27FC236}">
                <a16:creationId xmlns:a16="http://schemas.microsoft.com/office/drawing/2014/main" id="{EF889F33-702B-B421-49CF-72C48AE9CAB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659528" y="2892600"/>
            <a:ext cx="919080" cy="85536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690;p188">
            <a:extLst>
              <a:ext uri="{FF2B5EF4-FFF2-40B4-BE49-F238E27FC236}">
                <a16:creationId xmlns:a16="http://schemas.microsoft.com/office/drawing/2014/main" id="{B5E98BC4-3120-B3E7-C3A3-867A2410CDBD}"/>
              </a:ext>
            </a:extLst>
          </p:cNvPr>
          <p:cNvSpPr/>
          <p:nvPr/>
        </p:nvSpPr>
        <p:spPr>
          <a:xfrm>
            <a:off x="10187520" y="3810001"/>
            <a:ext cx="1890524" cy="3371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Recommendation</a:t>
            </a:r>
          </a:p>
        </p:txBody>
      </p:sp>
      <p:sp>
        <p:nvSpPr>
          <p:cNvPr id="56" name="Google Shape;690;p188">
            <a:extLst>
              <a:ext uri="{FF2B5EF4-FFF2-40B4-BE49-F238E27FC236}">
                <a16:creationId xmlns:a16="http://schemas.microsoft.com/office/drawing/2014/main" id="{A17BA3E6-E337-9F8E-FE2C-4B7EC60EB58A}"/>
              </a:ext>
            </a:extLst>
          </p:cNvPr>
          <p:cNvSpPr/>
          <p:nvPr/>
        </p:nvSpPr>
        <p:spPr>
          <a:xfrm>
            <a:off x="10187520" y="4176185"/>
            <a:ext cx="1890524" cy="583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111125" marR="0" lvl="0" indent="-11112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Movies</a:t>
            </a:r>
          </a:p>
          <a:p>
            <a:pPr marL="111125" marR="0" lvl="0" indent="-11112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Songs</a:t>
            </a:r>
            <a:endParaRPr lang="en-US" sz="160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63419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69B1F-6B9A-CCE9-A124-71DF40640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7E64C-8A12-0AB5-F109-36BC4BCAD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0161"/>
            <a:ext cx="10556576" cy="514479"/>
          </a:xfr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  <a:effectLst/>
        </p:spPr>
        <p:txBody>
          <a:bodyPr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0D5BDC"/>
                </a:solidFill>
                <a:latin typeface="Lato"/>
                <a:ea typeface="Lato"/>
                <a:cs typeface="Lato"/>
                <a:sym typeface="Lato"/>
              </a:rPr>
              <a:t>Menentukan</a:t>
            </a:r>
            <a:r>
              <a:rPr lang="en-US" b="1" dirty="0">
                <a:solidFill>
                  <a:srgbClr val="0D5BD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b="1" dirty="0" err="1">
                <a:solidFill>
                  <a:srgbClr val="0D5BDC"/>
                </a:solidFill>
                <a:latin typeface="Lato"/>
                <a:ea typeface="Lato"/>
                <a:cs typeface="Lato"/>
                <a:sym typeface="Lato"/>
              </a:rPr>
              <a:t>Tugas</a:t>
            </a:r>
            <a:r>
              <a:rPr lang="en-US" b="1" dirty="0">
                <a:solidFill>
                  <a:srgbClr val="0D5BDC"/>
                </a:solidFill>
                <a:latin typeface="Lato"/>
                <a:ea typeface="Lato"/>
                <a:cs typeface="Lato"/>
                <a:sym typeface="Lato"/>
              </a:rPr>
              <a:t> Analytics</a:t>
            </a:r>
            <a:endParaRPr lang="en-US" dirty="0">
              <a:latin typeface="Aptos" panose="020B0004020202020204" pitchFamily="34" charset="0"/>
            </a:endParaRPr>
          </a:p>
        </p:txBody>
      </p:sp>
      <p:grpSp>
        <p:nvGrpSpPr>
          <p:cNvPr id="4" name="Google Shape;606;p184">
            <a:extLst>
              <a:ext uri="{FF2B5EF4-FFF2-40B4-BE49-F238E27FC236}">
                <a16:creationId xmlns:a16="http://schemas.microsoft.com/office/drawing/2014/main" id="{71668D8E-FC5C-3F4D-D523-50C6F2E2094E}"/>
              </a:ext>
            </a:extLst>
          </p:cNvPr>
          <p:cNvGrpSpPr/>
          <p:nvPr/>
        </p:nvGrpSpPr>
        <p:grpSpPr>
          <a:xfrm>
            <a:off x="838200" y="1435800"/>
            <a:ext cx="8883040" cy="720000"/>
            <a:chOff x="677520" y="1100520"/>
            <a:chExt cx="8303330" cy="720000"/>
          </a:xfrm>
        </p:grpSpPr>
        <p:sp>
          <p:nvSpPr>
            <p:cNvPr id="5" name="Google Shape;607;p184">
              <a:extLst>
                <a:ext uri="{FF2B5EF4-FFF2-40B4-BE49-F238E27FC236}">
                  <a16:creationId xmlns:a16="http://schemas.microsoft.com/office/drawing/2014/main" id="{3C064810-FDB5-1367-16EF-F106ACE52939}"/>
                </a:ext>
              </a:extLst>
            </p:cNvPr>
            <p:cNvSpPr/>
            <p:nvPr/>
          </p:nvSpPr>
          <p:spPr>
            <a:xfrm>
              <a:off x="677520" y="1100520"/>
              <a:ext cx="1726560" cy="718560"/>
            </a:xfrm>
            <a:custGeom>
              <a:avLst/>
              <a:gdLst/>
              <a:ahLst/>
              <a:cxnLst/>
              <a:rect l="l" t="t" r="r" b="b"/>
              <a:pathLst>
                <a:path w="4800" h="2000" extrusionOk="0">
                  <a:moveTo>
                    <a:pt x="0" y="0"/>
                  </a:moveTo>
                  <a:lnTo>
                    <a:pt x="3599" y="0"/>
                  </a:lnTo>
                  <a:lnTo>
                    <a:pt x="4799" y="999"/>
                  </a:lnTo>
                  <a:lnTo>
                    <a:pt x="3599" y="1999"/>
                  </a:lnTo>
                  <a:lnTo>
                    <a:pt x="0" y="1999"/>
                  </a:lnTo>
                  <a:lnTo>
                    <a:pt x="0" y="0"/>
                  </a:lnTo>
                </a:path>
              </a:pathLst>
            </a:cu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Business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608;p184">
              <a:extLst>
                <a:ext uri="{FF2B5EF4-FFF2-40B4-BE49-F238E27FC236}">
                  <a16:creationId xmlns:a16="http://schemas.microsoft.com/office/drawing/2014/main" id="{22FFFC25-526B-13A1-6C72-A3EAB2A53634}"/>
                </a:ext>
              </a:extLst>
            </p:cNvPr>
            <p:cNvSpPr/>
            <p:nvPr/>
          </p:nvSpPr>
          <p:spPr>
            <a:xfrm>
              <a:off x="2045880" y="1100520"/>
              <a:ext cx="1673913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609;p184">
              <a:extLst>
                <a:ext uri="{FF2B5EF4-FFF2-40B4-BE49-F238E27FC236}">
                  <a16:creationId xmlns:a16="http://schemas.microsoft.com/office/drawing/2014/main" id="{ED4D5FEF-812E-36F9-DA78-3D999838A733}"/>
                </a:ext>
              </a:extLst>
            </p:cNvPr>
            <p:cNvSpPr/>
            <p:nvPr/>
          </p:nvSpPr>
          <p:spPr>
            <a:xfrm>
              <a:off x="3389001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Preparation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610;p184">
              <a:extLst>
                <a:ext uri="{FF2B5EF4-FFF2-40B4-BE49-F238E27FC236}">
                  <a16:creationId xmlns:a16="http://schemas.microsoft.com/office/drawing/2014/main" id="{1D7C62AE-8D9B-46CD-A5D0-51B67E3C7F18}"/>
                </a:ext>
              </a:extLst>
            </p:cNvPr>
            <p:cNvSpPr/>
            <p:nvPr/>
          </p:nvSpPr>
          <p:spPr>
            <a:xfrm>
              <a:off x="4704714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Modeling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611;p184">
              <a:extLst>
                <a:ext uri="{FF2B5EF4-FFF2-40B4-BE49-F238E27FC236}">
                  <a16:creationId xmlns:a16="http://schemas.microsoft.com/office/drawing/2014/main" id="{09C64745-19ED-3A74-6FA6-04B648AAA905}"/>
                </a:ext>
              </a:extLst>
            </p:cNvPr>
            <p:cNvSpPr/>
            <p:nvPr/>
          </p:nvSpPr>
          <p:spPr>
            <a:xfrm>
              <a:off x="7325570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612;p184">
              <a:extLst>
                <a:ext uri="{FF2B5EF4-FFF2-40B4-BE49-F238E27FC236}">
                  <a16:creationId xmlns:a16="http://schemas.microsoft.com/office/drawing/2014/main" id="{04F15450-6FA3-0282-C0EA-5B67B35722FF}"/>
                </a:ext>
              </a:extLst>
            </p:cNvPr>
            <p:cNvSpPr/>
            <p:nvPr/>
          </p:nvSpPr>
          <p:spPr>
            <a:xfrm>
              <a:off x="6028844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690;p188">
            <a:extLst>
              <a:ext uri="{FF2B5EF4-FFF2-40B4-BE49-F238E27FC236}">
                <a16:creationId xmlns:a16="http://schemas.microsoft.com/office/drawing/2014/main" id="{5D1B031D-BF64-6C01-0AF9-206529CEDA99}"/>
              </a:ext>
            </a:extLst>
          </p:cNvPr>
          <p:cNvSpPr/>
          <p:nvPr/>
        </p:nvSpPr>
        <p:spPr>
          <a:xfrm>
            <a:off x="838200" y="3204521"/>
            <a:ext cx="7976616" cy="28608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Performance metrics</a:t>
            </a:r>
            <a:r>
              <a:rPr lang="en-US" sz="2000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: </a:t>
            </a:r>
          </a:p>
          <a:p>
            <a:pPr lvl="0">
              <a:buClr>
                <a:srgbClr val="000000"/>
              </a:buClr>
              <a:buSzPts val="1600"/>
            </a:pP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Ukuran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keberhasilan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proses data science yang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dilakukan</a:t>
            </a:r>
            <a:endParaRPr lang="en-US" sz="2000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457200" lvl="0" indent="-317160"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Root Mean Squared Error (RMSE)</a:t>
            </a:r>
          </a:p>
          <a:p>
            <a:pPr marL="457200" lvl="0" indent="-317160"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R-Square</a:t>
            </a:r>
          </a:p>
          <a:p>
            <a:pPr marL="457200" lvl="0" indent="-317160"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2000" dirty="0" err="1">
                <a:solidFill>
                  <a:srgbClr val="000000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Jackard</a:t>
            </a: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  Index</a:t>
            </a:r>
          </a:p>
          <a:p>
            <a:pPr marL="457200" lvl="0" indent="-317160"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Log-loss</a:t>
            </a:r>
          </a:p>
          <a:p>
            <a:pPr marL="457200" lvl="0" indent="-317160"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Precision</a:t>
            </a:r>
          </a:p>
          <a:p>
            <a:pPr marL="457200" lvl="0" indent="-317160"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Recall</a:t>
            </a:r>
          </a:p>
          <a:p>
            <a:pPr marL="457200" lvl="0" indent="-317160"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F1-Score</a:t>
            </a:r>
          </a:p>
        </p:txBody>
      </p:sp>
      <p:pic>
        <p:nvPicPr>
          <p:cNvPr id="13" name="Google Shape;701;p189">
            <a:extLst>
              <a:ext uri="{FF2B5EF4-FFF2-40B4-BE49-F238E27FC236}">
                <a16:creationId xmlns:a16="http://schemas.microsoft.com/office/drawing/2014/main" id="{05B621E8-3F39-E161-A4DD-FE5136047D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2922" y="2999001"/>
            <a:ext cx="747360" cy="747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690;p188">
            <a:extLst>
              <a:ext uri="{FF2B5EF4-FFF2-40B4-BE49-F238E27FC236}">
                <a16:creationId xmlns:a16="http://schemas.microsoft.com/office/drawing/2014/main" id="{61EC6D7F-DF3F-96CD-3758-E2654B4F1D3C}"/>
              </a:ext>
            </a:extLst>
          </p:cNvPr>
          <p:cNvSpPr/>
          <p:nvPr/>
        </p:nvSpPr>
        <p:spPr>
          <a:xfrm>
            <a:off x="9221116" y="3849442"/>
            <a:ext cx="1950972" cy="8295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Classes or categories</a:t>
            </a:r>
            <a:endParaRPr sz="160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690;p188">
            <a:extLst>
              <a:ext uri="{FF2B5EF4-FFF2-40B4-BE49-F238E27FC236}">
                <a16:creationId xmlns:a16="http://schemas.microsoft.com/office/drawing/2014/main" id="{35A10580-43AF-3C72-A144-6CB5C79B8037}"/>
              </a:ext>
            </a:extLst>
          </p:cNvPr>
          <p:cNvSpPr/>
          <p:nvPr/>
        </p:nvSpPr>
        <p:spPr>
          <a:xfrm>
            <a:off x="9221116" y="4710802"/>
            <a:ext cx="1950972" cy="337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High-risk / low-risk</a:t>
            </a:r>
            <a:endParaRPr sz="160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88DC7AE-64A4-7837-A138-CE5A0C4E6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Science :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1111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D80A1-A40F-0EEA-AAD3-0E4F283F5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11EEB-C5F3-1105-DE15-40177B14C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dirty="0"/>
              <a:t>Case study: Credit failure</a:t>
            </a:r>
          </a:p>
        </p:txBody>
      </p:sp>
      <p:sp>
        <p:nvSpPr>
          <p:cNvPr id="5" name="Google Shape;680;p187">
            <a:extLst>
              <a:ext uri="{FF2B5EF4-FFF2-40B4-BE49-F238E27FC236}">
                <a16:creationId xmlns:a16="http://schemas.microsoft.com/office/drawing/2014/main" id="{91FEFB01-0681-466F-154D-D44694490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944" y="1432951"/>
            <a:ext cx="9190736" cy="2860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Common business goal: </a:t>
            </a:r>
            <a:r>
              <a:rPr lang="en-US" sz="2000" i="0" u="none" strike="noStrike" cap="none" dirty="0" err="1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Memaksimalkan</a:t>
            </a:r>
            <a:r>
              <a:rPr lang="en-US" sz="2000" i="0" u="none" strike="noStrike" cap="none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 </a:t>
            </a:r>
            <a:r>
              <a:rPr lang="en-US" sz="2000" i="0" u="none" strike="noStrike" cap="none" dirty="0" err="1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keuntungan</a:t>
            </a:r>
            <a:endParaRPr lang="en-US" sz="2000" i="0" u="none" strike="noStrike" cap="none" dirty="0">
              <a:solidFill>
                <a:srgbClr val="4C4C4C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400"/>
              <a:buNone/>
            </a:pPr>
            <a:r>
              <a:rPr lang="en-US" sz="2000" b="1" i="0" u="none" strike="noStrike" cap="none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Business problem</a:t>
            </a:r>
            <a:r>
              <a:rPr lang="en-US" sz="2000" b="0" i="0" u="none" strike="noStrike" cap="none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: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Bagaimana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menurunkan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NPL </a:t>
            </a:r>
            <a:r>
              <a:rPr lang="en-US" sz="2000" i="1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i="1" dirty="0" err="1"/>
              <a:t>kredit</a:t>
            </a:r>
            <a:r>
              <a:rPr lang="en-US" sz="2000" i="1" dirty="0"/>
              <a:t> </a:t>
            </a:r>
            <a:r>
              <a:rPr lang="en-US" sz="2000" i="1" dirty="0" err="1"/>
              <a:t>bermasalah</a:t>
            </a:r>
            <a:r>
              <a:rPr lang="en-US" sz="2000" i="1" dirty="0"/>
              <a:t>)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suatu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bank</a:t>
            </a:r>
            <a:endParaRPr sz="20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400"/>
              <a:buNone/>
            </a:pPr>
            <a:r>
              <a:rPr lang="en-US" sz="2000" b="1" i="0" u="none" strike="noStrike" cap="none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Question</a:t>
            </a:r>
            <a:r>
              <a:rPr lang="en-US" sz="2000" b="0" i="0" u="none" strike="noStrike" cap="none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: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Bagaimana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memperbaiki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perhitungan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Credit score</a:t>
            </a:r>
            <a:endParaRPr sz="20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400"/>
              <a:buNone/>
            </a:pPr>
            <a:r>
              <a:rPr lang="en-US" sz="2000" b="1" i="0" u="none" strike="noStrike" cap="none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Measurable outcomes: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Penurunan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kredit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gagal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bayar</a:t>
            </a:r>
            <a:r>
              <a:rPr lang="en-US" sz="2000" dirty="0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xx%</a:t>
            </a:r>
            <a:endParaRPr lang="en-US" sz="2000" dirty="0">
              <a:solidFill>
                <a:srgbClr val="4C4C4C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400"/>
              <a:buNone/>
            </a:pPr>
            <a:r>
              <a:rPr lang="en-US" sz="2000" b="1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Analytic task: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Classification (high / low risk)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1400"/>
              <a:buNone/>
            </a:pPr>
            <a:r>
              <a:rPr lang="en-US" sz="2000" b="1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Performance metrics: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F1-score</a:t>
            </a:r>
          </a:p>
        </p:txBody>
      </p:sp>
      <p:sp>
        <p:nvSpPr>
          <p:cNvPr id="4" name="Google Shape;680;p187">
            <a:extLst>
              <a:ext uri="{FF2B5EF4-FFF2-40B4-BE49-F238E27FC236}">
                <a16:creationId xmlns:a16="http://schemas.microsoft.com/office/drawing/2014/main" id="{F995FCEF-BC7C-74FF-1080-4A38227A0504}"/>
              </a:ext>
            </a:extLst>
          </p:cNvPr>
          <p:cNvSpPr txBox="1">
            <a:spLocks/>
          </p:cNvSpPr>
          <p:nvPr/>
        </p:nvSpPr>
        <p:spPr>
          <a:xfrm>
            <a:off x="699516" y="4446610"/>
            <a:ext cx="8783320" cy="1937538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vert="horz" wrap="square" lIns="90000" tIns="45000" rIns="90000" bIns="45000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7475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  <a:buNone/>
            </a:pP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Other things to consider</a:t>
            </a:r>
          </a:p>
          <a:p>
            <a:pPr marL="346075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Data </a:t>
            </a: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 </a:t>
            </a:r>
            <a:r>
              <a:rPr lang="en-US" sz="2000" dirty="0" err="1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apa</a:t>
            </a: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 dan </a:t>
            </a:r>
            <a:r>
              <a:rPr lang="en-US" sz="2000" dirty="0" err="1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dari</a:t>
            </a: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 mana? </a:t>
            </a:r>
            <a:r>
              <a:rPr lang="en-US" sz="2000" dirty="0" err="1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Struktur</a:t>
            </a: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 Data? </a:t>
            </a:r>
            <a:r>
              <a:rPr lang="en-US" sz="2000" dirty="0" err="1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jumlah</a:t>
            </a: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 Data?</a:t>
            </a:r>
            <a:endParaRPr lang="en-US" sz="2000" b="1" dirty="0">
              <a:solidFill>
                <a:srgbClr val="4C4C4C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 marL="346075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Cost</a:t>
            </a: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/</a:t>
            </a:r>
            <a:r>
              <a:rPr lang="en-US" sz="2000" b="1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benefit</a:t>
            </a: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 analysis </a:t>
            </a: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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Apakah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menguntungkan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melakukannya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lang="en-US" sz="2000" dirty="0">
              <a:solidFill>
                <a:srgbClr val="4C4C4C"/>
              </a:solidFill>
              <a:latin typeface="Aptos" panose="020B0004020202020204" pitchFamily="34" charset="0"/>
              <a:ea typeface="Arial"/>
              <a:cs typeface="Arial"/>
              <a:sym typeface="Wingdings" panose="05000000000000000000" pitchFamily="2" charset="2"/>
            </a:endParaRPr>
          </a:p>
          <a:p>
            <a:pPr marL="346075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Situation</a:t>
            </a: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 assessment  </a:t>
            </a:r>
            <a:r>
              <a:rPr lang="en-US" sz="2000" dirty="0" err="1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Memungkinkan</a:t>
            </a: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 </a:t>
            </a:r>
            <a:r>
              <a:rPr lang="en-US" sz="2000" dirty="0" err="1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dikembangkan</a:t>
            </a: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?</a:t>
            </a:r>
          </a:p>
          <a:p>
            <a:pPr marL="346075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Project </a:t>
            </a:r>
            <a:r>
              <a:rPr lang="en-US" sz="2000" b="1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plan</a:t>
            </a: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  Scope, breakdown structure, schedule, development team</a:t>
            </a:r>
          </a:p>
          <a:p>
            <a:pPr marL="346075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</a:pPr>
            <a:r>
              <a:rPr lang="en-US" sz="2000" b="1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KPI </a:t>
            </a: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Wingdings" panose="05000000000000000000" pitchFamily="2" charset="2"/>
              </a:rPr>
              <a:t>(Key Performance Indicator)</a:t>
            </a:r>
            <a:endParaRPr lang="en-US" sz="2000" dirty="0">
              <a:solidFill>
                <a:srgbClr val="4C4C4C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FD574F-A056-6DBF-AAB5-9DEE34C3076D}"/>
              </a:ext>
            </a:extLst>
          </p:cNvPr>
          <p:cNvSpPr/>
          <p:nvPr/>
        </p:nvSpPr>
        <p:spPr>
          <a:xfrm>
            <a:off x="10080752" y="1548511"/>
            <a:ext cx="1930400" cy="5765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High NLP rates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BD8294-977A-598F-0278-6B149A682E4C}"/>
              </a:ext>
            </a:extLst>
          </p:cNvPr>
          <p:cNvSpPr/>
          <p:nvPr/>
        </p:nvSpPr>
        <p:spPr>
          <a:xfrm>
            <a:off x="10080752" y="2334261"/>
            <a:ext cx="1930400" cy="4622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Credit failure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DE49B6-FEC7-4DFE-7251-DE3B37A03576}"/>
              </a:ext>
            </a:extLst>
          </p:cNvPr>
          <p:cNvSpPr/>
          <p:nvPr/>
        </p:nvSpPr>
        <p:spPr>
          <a:xfrm>
            <a:off x="10080752" y="3017266"/>
            <a:ext cx="1930400" cy="6705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Loan granted to high-risk clients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C5D391-3FEC-6E62-B57B-5CD2BE61B9DF}"/>
              </a:ext>
            </a:extLst>
          </p:cNvPr>
          <p:cNvSpPr/>
          <p:nvPr/>
        </p:nvSpPr>
        <p:spPr>
          <a:xfrm>
            <a:off x="10080752" y="3888231"/>
            <a:ext cx="1930400" cy="67056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Inaccurate credit score calculation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E18195-48D2-B4D6-EE15-BAE8DD88AF84}"/>
              </a:ext>
            </a:extLst>
          </p:cNvPr>
          <p:cNvSpPr/>
          <p:nvPr/>
        </p:nvSpPr>
        <p:spPr>
          <a:xfrm>
            <a:off x="10080752" y="4779516"/>
            <a:ext cx="1930400" cy="4493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Incomplete data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029A8E0-0F91-6C28-C3F5-861EAB471117}"/>
              </a:ext>
            </a:extLst>
          </p:cNvPr>
          <p:cNvCxnSpPr>
            <a:cxnSpLocks/>
            <a:stCxn id="7" idx="0"/>
            <a:endCxn id="6" idx="2"/>
          </p:cNvCxnSpPr>
          <p:nvPr/>
        </p:nvCxnSpPr>
        <p:spPr>
          <a:xfrm flipV="1">
            <a:off x="11045952" y="2125091"/>
            <a:ext cx="0" cy="2091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7CFF22-F3D0-77E6-E381-193DE8FC5FBB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flipV="1">
            <a:off x="11045952" y="2796541"/>
            <a:ext cx="0" cy="220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802CDE2-3425-6F37-55D5-E66967DFFCC0}"/>
              </a:ext>
            </a:extLst>
          </p:cNvPr>
          <p:cNvCxnSpPr>
            <a:cxnSpLocks/>
            <a:stCxn id="11" idx="0"/>
            <a:endCxn id="9" idx="2"/>
          </p:cNvCxnSpPr>
          <p:nvPr/>
        </p:nvCxnSpPr>
        <p:spPr>
          <a:xfrm flipV="1">
            <a:off x="11045952" y="3687826"/>
            <a:ext cx="0" cy="2004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A0B10A-7BBC-0645-8E47-1A4472FD9D8C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1045952" y="4558791"/>
            <a:ext cx="0" cy="2207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080257C-D49A-E39A-00CB-F23A95BBEF42}"/>
              </a:ext>
            </a:extLst>
          </p:cNvPr>
          <p:cNvSpPr/>
          <p:nvPr/>
        </p:nvSpPr>
        <p:spPr>
          <a:xfrm>
            <a:off x="10080752" y="5450076"/>
            <a:ext cx="1930400" cy="4493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…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AF21417-2AE8-3B7A-0188-4BB1EF1260D1}"/>
              </a:ext>
            </a:extLst>
          </p:cNvPr>
          <p:cNvCxnSpPr>
            <a:cxnSpLocks/>
            <a:stCxn id="22" idx="0"/>
            <a:endCxn id="13" idx="2"/>
          </p:cNvCxnSpPr>
          <p:nvPr/>
        </p:nvCxnSpPr>
        <p:spPr>
          <a:xfrm flipV="1">
            <a:off x="11045952" y="5228841"/>
            <a:ext cx="0" cy="2212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6DC61C9-92E9-B2B4-D861-1671DA39DBCA}"/>
              </a:ext>
            </a:extLst>
          </p:cNvPr>
          <p:cNvSpPr/>
          <p:nvPr/>
        </p:nvSpPr>
        <p:spPr>
          <a:xfrm>
            <a:off x="7642353" y="1496441"/>
            <a:ext cx="2346958" cy="6807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Business problem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6842302-8DCA-9382-D331-02F1085289C4}"/>
              </a:ext>
            </a:extLst>
          </p:cNvPr>
          <p:cNvSpPr/>
          <p:nvPr/>
        </p:nvSpPr>
        <p:spPr>
          <a:xfrm>
            <a:off x="7642353" y="3861561"/>
            <a:ext cx="2346958" cy="6807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Root cause</a:t>
            </a:r>
          </a:p>
        </p:txBody>
      </p:sp>
    </p:spTree>
    <p:extLst>
      <p:ext uri="{BB962C8B-B14F-4D97-AF65-F5344CB8AC3E}">
        <p14:creationId xmlns:p14="http://schemas.microsoft.com/office/powerpoint/2010/main" val="1690613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CD4D39-6119-2BAA-8A0C-2A079FFE5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88B31-FD13-2574-B65A-DA5CB73CB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Case study: Credit failure </a:t>
            </a:r>
          </a:p>
        </p:txBody>
      </p:sp>
      <p:grpSp>
        <p:nvGrpSpPr>
          <p:cNvPr id="4" name="Google Shape;606;p184">
            <a:extLst>
              <a:ext uri="{FF2B5EF4-FFF2-40B4-BE49-F238E27FC236}">
                <a16:creationId xmlns:a16="http://schemas.microsoft.com/office/drawing/2014/main" id="{5033B186-4FD0-EF13-B28F-814983C83D92}"/>
              </a:ext>
            </a:extLst>
          </p:cNvPr>
          <p:cNvGrpSpPr/>
          <p:nvPr/>
        </p:nvGrpSpPr>
        <p:grpSpPr>
          <a:xfrm>
            <a:off x="838200" y="1435800"/>
            <a:ext cx="8883040" cy="720000"/>
            <a:chOff x="677520" y="1100520"/>
            <a:chExt cx="8303330" cy="720000"/>
          </a:xfrm>
        </p:grpSpPr>
        <p:sp>
          <p:nvSpPr>
            <p:cNvPr id="5" name="Google Shape;607;p184">
              <a:extLst>
                <a:ext uri="{FF2B5EF4-FFF2-40B4-BE49-F238E27FC236}">
                  <a16:creationId xmlns:a16="http://schemas.microsoft.com/office/drawing/2014/main" id="{2EB67619-D20A-0967-1940-9AB63A2A0735}"/>
                </a:ext>
              </a:extLst>
            </p:cNvPr>
            <p:cNvSpPr/>
            <p:nvPr/>
          </p:nvSpPr>
          <p:spPr>
            <a:xfrm>
              <a:off x="677520" y="1100520"/>
              <a:ext cx="1726560" cy="718560"/>
            </a:xfrm>
            <a:custGeom>
              <a:avLst/>
              <a:gdLst/>
              <a:ahLst/>
              <a:cxnLst/>
              <a:rect l="l" t="t" r="r" b="b"/>
              <a:pathLst>
                <a:path w="4800" h="2000" extrusionOk="0">
                  <a:moveTo>
                    <a:pt x="0" y="0"/>
                  </a:moveTo>
                  <a:lnTo>
                    <a:pt x="3599" y="0"/>
                  </a:lnTo>
                  <a:lnTo>
                    <a:pt x="4799" y="999"/>
                  </a:lnTo>
                  <a:lnTo>
                    <a:pt x="3599" y="1999"/>
                  </a:lnTo>
                  <a:lnTo>
                    <a:pt x="0" y="1999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15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Business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608;p184">
              <a:extLst>
                <a:ext uri="{FF2B5EF4-FFF2-40B4-BE49-F238E27FC236}">
                  <a16:creationId xmlns:a16="http://schemas.microsoft.com/office/drawing/2014/main" id="{C64AC2E0-FE63-6F53-94DD-3C66F274D19D}"/>
                </a:ext>
              </a:extLst>
            </p:cNvPr>
            <p:cNvSpPr/>
            <p:nvPr/>
          </p:nvSpPr>
          <p:spPr>
            <a:xfrm>
              <a:off x="2045880" y="1100520"/>
              <a:ext cx="1673913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609;p184">
              <a:extLst>
                <a:ext uri="{FF2B5EF4-FFF2-40B4-BE49-F238E27FC236}">
                  <a16:creationId xmlns:a16="http://schemas.microsoft.com/office/drawing/2014/main" id="{BB402C6A-38AB-A524-8854-F1A2BEEC57E4}"/>
                </a:ext>
              </a:extLst>
            </p:cNvPr>
            <p:cNvSpPr/>
            <p:nvPr/>
          </p:nvSpPr>
          <p:spPr>
            <a:xfrm>
              <a:off x="3389001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Preparation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610;p184">
              <a:extLst>
                <a:ext uri="{FF2B5EF4-FFF2-40B4-BE49-F238E27FC236}">
                  <a16:creationId xmlns:a16="http://schemas.microsoft.com/office/drawing/2014/main" id="{DE0A8071-92DC-27E2-2BFB-7D591DC3D454}"/>
                </a:ext>
              </a:extLst>
            </p:cNvPr>
            <p:cNvSpPr/>
            <p:nvPr/>
          </p:nvSpPr>
          <p:spPr>
            <a:xfrm>
              <a:off x="4704714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Modeling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611;p184">
              <a:extLst>
                <a:ext uri="{FF2B5EF4-FFF2-40B4-BE49-F238E27FC236}">
                  <a16:creationId xmlns:a16="http://schemas.microsoft.com/office/drawing/2014/main" id="{8B163EB7-2A58-DA30-D6A7-38435CC924D4}"/>
                </a:ext>
              </a:extLst>
            </p:cNvPr>
            <p:cNvSpPr/>
            <p:nvPr/>
          </p:nvSpPr>
          <p:spPr>
            <a:xfrm>
              <a:off x="7325570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612;p184">
              <a:extLst>
                <a:ext uri="{FF2B5EF4-FFF2-40B4-BE49-F238E27FC236}">
                  <a16:creationId xmlns:a16="http://schemas.microsoft.com/office/drawing/2014/main" id="{DAB79E98-A0A5-987A-7E6B-AF2F91FEEA29}"/>
                </a:ext>
              </a:extLst>
            </p:cNvPr>
            <p:cNvSpPr/>
            <p:nvPr/>
          </p:nvSpPr>
          <p:spPr>
            <a:xfrm>
              <a:off x="6028844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680;p187">
            <a:extLst>
              <a:ext uri="{FF2B5EF4-FFF2-40B4-BE49-F238E27FC236}">
                <a16:creationId xmlns:a16="http://schemas.microsoft.com/office/drawing/2014/main" id="{A4E4DBEA-3944-3298-7939-0C87830754A7}"/>
              </a:ext>
            </a:extLst>
          </p:cNvPr>
          <p:cNvSpPr txBox="1">
            <a:spLocks/>
          </p:cNvSpPr>
          <p:nvPr/>
        </p:nvSpPr>
        <p:spPr>
          <a:xfrm>
            <a:off x="838200" y="2401440"/>
            <a:ext cx="6670040" cy="2122204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vert="horz" wrap="square" lIns="90000" tIns="45000" rIns="90000" bIns="45000" rtlCol="0" anchor="t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What data to process?</a:t>
            </a:r>
          </a:p>
          <a:p>
            <a:pPr marL="346075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Where do we get it?</a:t>
            </a:r>
          </a:p>
          <a:p>
            <a:pPr marL="346075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What’s the data type and structure?</a:t>
            </a:r>
          </a:p>
          <a:p>
            <a:pPr marL="346075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How many data required?</a:t>
            </a:r>
          </a:p>
          <a:p>
            <a:pPr marL="346075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What’s the data source?</a:t>
            </a:r>
          </a:p>
          <a:p>
            <a:pPr marL="803275" lvl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</a:pPr>
            <a:r>
              <a:rPr lang="en-US" sz="16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Internal: Company’s information system/database</a:t>
            </a:r>
          </a:p>
          <a:p>
            <a:pPr marL="803275" lvl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1400"/>
            </a:pPr>
            <a:r>
              <a:rPr lang="en-US" sz="1600" dirty="0">
                <a:solidFill>
                  <a:srgbClr val="4C4C4C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External: Government dataset, web scrapping, other system API</a:t>
            </a:r>
          </a:p>
        </p:txBody>
      </p:sp>
    </p:spTree>
    <p:extLst>
      <p:ext uri="{BB962C8B-B14F-4D97-AF65-F5344CB8AC3E}">
        <p14:creationId xmlns:p14="http://schemas.microsoft.com/office/powerpoint/2010/main" val="6263447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E83A2-EC26-55B2-ABA7-60D12831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FDD61-1363-929E-F835-F6FC9191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Science :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r>
              <a:rPr lang="en-US" dirty="0"/>
              <a:t> </a:t>
            </a:r>
          </a:p>
        </p:txBody>
      </p:sp>
      <p:grpSp>
        <p:nvGrpSpPr>
          <p:cNvPr id="4" name="Google Shape;606;p184">
            <a:extLst>
              <a:ext uri="{FF2B5EF4-FFF2-40B4-BE49-F238E27FC236}">
                <a16:creationId xmlns:a16="http://schemas.microsoft.com/office/drawing/2014/main" id="{B6457734-B707-EFF2-FBAC-AF28A21AFDD7}"/>
              </a:ext>
            </a:extLst>
          </p:cNvPr>
          <p:cNvGrpSpPr/>
          <p:nvPr/>
        </p:nvGrpSpPr>
        <p:grpSpPr>
          <a:xfrm>
            <a:off x="838200" y="1435800"/>
            <a:ext cx="8883040" cy="720000"/>
            <a:chOff x="677520" y="1100520"/>
            <a:chExt cx="8303330" cy="720000"/>
          </a:xfrm>
        </p:grpSpPr>
        <p:sp>
          <p:nvSpPr>
            <p:cNvPr id="5" name="Google Shape;607;p184">
              <a:extLst>
                <a:ext uri="{FF2B5EF4-FFF2-40B4-BE49-F238E27FC236}">
                  <a16:creationId xmlns:a16="http://schemas.microsoft.com/office/drawing/2014/main" id="{0EB21F6E-1305-845F-2F61-0799AC91EDC0}"/>
                </a:ext>
              </a:extLst>
            </p:cNvPr>
            <p:cNvSpPr/>
            <p:nvPr/>
          </p:nvSpPr>
          <p:spPr>
            <a:xfrm>
              <a:off x="677520" y="1100520"/>
              <a:ext cx="1726560" cy="718560"/>
            </a:xfrm>
            <a:custGeom>
              <a:avLst/>
              <a:gdLst/>
              <a:ahLst/>
              <a:cxnLst/>
              <a:rect l="l" t="t" r="r" b="b"/>
              <a:pathLst>
                <a:path w="4800" h="2000" extrusionOk="0">
                  <a:moveTo>
                    <a:pt x="0" y="0"/>
                  </a:moveTo>
                  <a:lnTo>
                    <a:pt x="3599" y="0"/>
                  </a:lnTo>
                  <a:lnTo>
                    <a:pt x="4799" y="999"/>
                  </a:lnTo>
                  <a:lnTo>
                    <a:pt x="3599" y="1999"/>
                  </a:lnTo>
                  <a:lnTo>
                    <a:pt x="0" y="1999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15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Business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608;p184">
              <a:extLst>
                <a:ext uri="{FF2B5EF4-FFF2-40B4-BE49-F238E27FC236}">
                  <a16:creationId xmlns:a16="http://schemas.microsoft.com/office/drawing/2014/main" id="{1AFE9FC7-9EDE-CA37-2341-AD46BC70CC7A}"/>
                </a:ext>
              </a:extLst>
            </p:cNvPr>
            <p:cNvSpPr/>
            <p:nvPr/>
          </p:nvSpPr>
          <p:spPr>
            <a:xfrm>
              <a:off x="2045880" y="1100520"/>
              <a:ext cx="1673913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609;p184">
              <a:extLst>
                <a:ext uri="{FF2B5EF4-FFF2-40B4-BE49-F238E27FC236}">
                  <a16:creationId xmlns:a16="http://schemas.microsoft.com/office/drawing/2014/main" id="{F7B325F9-90A0-5A87-592E-1C61A2A32FDC}"/>
                </a:ext>
              </a:extLst>
            </p:cNvPr>
            <p:cNvSpPr/>
            <p:nvPr/>
          </p:nvSpPr>
          <p:spPr>
            <a:xfrm>
              <a:off x="3389001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Preparation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610;p184">
              <a:extLst>
                <a:ext uri="{FF2B5EF4-FFF2-40B4-BE49-F238E27FC236}">
                  <a16:creationId xmlns:a16="http://schemas.microsoft.com/office/drawing/2014/main" id="{C20CEA41-A59B-43E5-698D-243280F6819E}"/>
                </a:ext>
              </a:extLst>
            </p:cNvPr>
            <p:cNvSpPr/>
            <p:nvPr/>
          </p:nvSpPr>
          <p:spPr>
            <a:xfrm>
              <a:off x="4704714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Modeling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611;p184">
              <a:extLst>
                <a:ext uri="{FF2B5EF4-FFF2-40B4-BE49-F238E27FC236}">
                  <a16:creationId xmlns:a16="http://schemas.microsoft.com/office/drawing/2014/main" id="{69EFD477-85EA-280D-654C-0209D6D82895}"/>
                </a:ext>
              </a:extLst>
            </p:cNvPr>
            <p:cNvSpPr/>
            <p:nvPr/>
          </p:nvSpPr>
          <p:spPr>
            <a:xfrm>
              <a:off x="7325570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612;p184">
              <a:extLst>
                <a:ext uri="{FF2B5EF4-FFF2-40B4-BE49-F238E27FC236}">
                  <a16:creationId xmlns:a16="http://schemas.microsoft.com/office/drawing/2014/main" id="{AFC2FE7A-B5FA-83CA-421A-D828D11F4EFB}"/>
                </a:ext>
              </a:extLst>
            </p:cNvPr>
            <p:cNvSpPr/>
            <p:nvPr/>
          </p:nvSpPr>
          <p:spPr>
            <a:xfrm>
              <a:off x="6028844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" name="Google Shape;819;p200">
            <a:extLst>
              <a:ext uri="{FF2B5EF4-FFF2-40B4-BE49-F238E27FC236}">
                <a16:creationId xmlns:a16="http://schemas.microsoft.com/office/drawing/2014/main" id="{3FC499D1-8088-7689-C204-90ABDE45AF18}"/>
              </a:ext>
            </a:extLst>
          </p:cNvPr>
          <p:cNvSpPr/>
          <p:nvPr/>
        </p:nvSpPr>
        <p:spPr>
          <a:xfrm>
            <a:off x="934720" y="2440800"/>
            <a:ext cx="7885800" cy="326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750" tIns="34200" rIns="68750" bIns="34200" anchor="t" anchorCtr="0">
            <a:normAutofit/>
          </a:bodyPr>
          <a:lstStyle/>
          <a:p>
            <a:pPr marL="228600" marR="0" lvl="0" indent="-2275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United States armed forces faced a dilemma during the war, because returning bomber planes were riddled with bullet holes and they needed better ways to protect them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752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“Where should they put it?”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752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they plotted out the damage </a:t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planes were incurring, it was </a:t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spread out, but largely concentrated </a:t>
            </a:r>
            <a:b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around the tail, body and wings.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752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Should they upgrade these sections?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820;p200">
            <a:extLst>
              <a:ext uri="{FF2B5EF4-FFF2-40B4-BE49-F238E27FC236}">
                <a16:creationId xmlns:a16="http://schemas.microsoft.com/office/drawing/2014/main" id="{2E0D2A23-DC26-4F73-D35D-3F4AFADF69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0126" y="3071041"/>
            <a:ext cx="4122228" cy="3262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56969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92335-9E43-8206-E682-4A943C9EB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2C5FF-B8A7-8438-A909-DCA79B39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Science :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r>
              <a:rPr lang="en-US" dirty="0"/>
              <a:t> </a:t>
            </a:r>
          </a:p>
        </p:txBody>
      </p:sp>
      <p:grpSp>
        <p:nvGrpSpPr>
          <p:cNvPr id="4" name="Google Shape;606;p184">
            <a:extLst>
              <a:ext uri="{FF2B5EF4-FFF2-40B4-BE49-F238E27FC236}">
                <a16:creationId xmlns:a16="http://schemas.microsoft.com/office/drawing/2014/main" id="{87ABB4D6-D8FC-C38A-B1AE-36375406B805}"/>
              </a:ext>
            </a:extLst>
          </p:cNvPr>
          <p:cNvGrpSpPr/>
          <p:nvPr/>
        </p:nvGrpSpPr>
        <p:grpSpPr>
          <a:xfrm>
            <a:off x="838200" y="1435800"/>
            <a:ext cx="8883040" cy="720000"/>
            <a:chOff x="677520" y="1100520"/>
            <a:chExt cx="8303330" cy="720000"/>
          </a:xfrm>
        </p:grpSpPr>
        <p:sp>
          <p:nvSpPr>
            <p:cNvPr id="5" name="Google Shape;607;p184">
              <a:extLst>
                <a:ext uri="{FF2B5EF4-FFF2-40B4-BE49-F238E27FC236}">
                  <a16:creationId xmlns:a16="http://schemas.microsoft.com/office/drawing/2014/main" id="{F87B8CDA-9CC3-8118-92C0-8689E9B409A3}"/>
                </a:ext>
              </a:extLst>
            </p:cNvPr>
            <p:cNvSpPr/>
            <p:nvPr/>
          </p:nvSpPr>
          <p:spPr>
            <a:xfrm>
              <a:off x="677520" y="1100520"/>
              <a:ext cx="1726560" cy="718560"/>
            </a:xfrm>
            <a:custGeom>
              <a:avLst/>
              <a:gdLst/>
              <a:ahLst/>
              <a:cxnLst/>
              <a:rect l="l" t="t" r="r" b="b"/>
              <a:pathLst>
                <a:path w="4800" h="2000" extrusionOk="0">
                  <a:moveTo>
                    <a:pt x="0" y="0"/>
                  </a:moveTo>
                  <a:lnTo>
                    <a:pt x="3599" y="0"/>
                  </a:lnTo>
                  <a:lnTo>
                    <a:pt x="4799" y="999"/>
                  </a:lnTo>
                  <a:lnTo>
                    <a:pt x="3599" y="1999"/>
                  </a:lnTo>
                  <a:lnTo>
                    <a:pt x="0" y="1999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15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Business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608;p184">
              <a:extLst>
                <a:ext uri="{FF2B5EF4-FFF2-40B4-BE49-F238E27FC236}">
                  <a16:creationId xmlns:a16="http://schemas.microsoft.com/office/drawing/2014/main" id="{D17354CE-D5DC-C9C1-E91E-377495C480F8}"/>
                </a:ext>
              </a:extLst>
            </p:cNvPr>
            <p:cNvSpPr/>
            <p:nvPr/>
          </p:nvSpPr>
          <p:spPr>
            <a:xfrm>
              <a:off x="2045880" y="1100520"/>
              <a:ext cx="1673913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609;p184">
              <a:extLst>
                <a:ext uri="{FF2B5EF4-FFF2-40B4-BE49-F238E27FC236}">
                  <a16:creationId xmlns:a16="http://schemas.microsoft.com/office/drawing/2014/main" id="{335F7E01-A10A-2296-AFF3-5C32FF1F8B62}"/>
                </a:ext>
              </a:extLst>
            </p:cNvPr>
            <p:cNvSpPr/>
            <p:nvPr/>
          </p:nvSpPr>
          <p:spPr>
            <a:xfrm>
              <a:off x="3389001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Preparation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610;p184">
              <a:extLst>
                <a:ext uri="{FF2B5EF4-FFF2-40B4-BE49-F238E27FC236}">
                  <a16:creationId xmlns:a16="http://schemas.microsoft.com/office/drawing/2014/main" id="{230E28EE-05B6-7F0F-16AD-228703DB41E4}"/>
                </a:ext>
              </a:extLst>
            </p:cNvPr>
            <p:cNvSpPr/>
            <p:nvPr/>
          </p:nvSpPr>
          <p:spPr>
            <a:xfrm>
              <a:off x="4704714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Modeling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611;p184">
              <a:extLst>
                <a:ext uri="{FF2B5EF4-FFF2-40B4-BE49-F238E27FC236}">
                  <a16:creationId xmlns:a16="http://schemas.microsoft.com/office/drawing/2014/main" id="{C1021363-487F-56B4-409E-8FD9C498B7BF}"/>
                </a:ext>
              </a:extLst>
            </p:cNvPr>
            <p:cNvSpPr/>
            <p:nvPr/>
          </p:nvSpPr>
          <p:spPr>
            <a:xfrm>
              <a:off x="7325570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612;p184">
              <a:extLst>
                <a:ext uri="{FF2B5EF4-FFF2-40B4-BE49-F238E27FC236}">
                  <a16:creationId xmlns:a16="http://schemas.microsoft.com/office/drawing/2014/main" id="{BCD6F3D3-B643-0FAB-93B5-A5B082F40B54}"/>
                </a:ext>
              </a:extLst>
            </p:cNvPr>
            <p:cNvSpPr/>
            <p:nvPr/>
          </p:nvSpPr>
          <p:spPr>
            <a:xfrm>
              <a:off x="6028844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" name="Google Shape;690;p188">
            <a:extLst>
              <a:ext uri="{FF2B5EF4-FFF2-40B4-BE49-F238E27FC236}">
                <a16:creationId xmlns:a16="http://schemas.microsoft.com/office/drawing/2014/main" id="{A7D523A3-B491-2831-F9E6-7A4F2015020C}"/>
              </a:ext>
            </a:extLst>
          </p:cNvPr>
          <p:cNvSpPr/>
          <p:nvPr/>
        </p:nvSpPr>
        <p:spPr>
          <a:xfrm>
            <a:off x="335015" y="2414448"/>
            <a:ext cx="5724938" cy="1014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>
              <a:buClr>
                <a:srgbClr val="000000"/>
              </a:buClr>
              <a:buSzPts val="1400"/>
            </a:pPr>
            <a:r>
              <a:rPr lang="en-US" sz="20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Mengumpulkan</a:t>
            </a: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400"/>
            </a:pP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Mengumpulkan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yang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Diperlukan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lvl="0">
              <a:buClr>
                <a:srgbClr val="000000"/>
              </a:buClr>
              <a:buSzPts val="14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sufficient data (quantity)</a:t>
            </a:r>
            <a:endParaRPr lang="en-US" sz="2000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3" name="Google Shape;690;p188">
            <a:extLst>
              <a:ext uri="{FF2B5EF4-FFF2-40B4-BE49-F238E27FC236}">
                <a16:creationId xmlns:a16="http://schemas.microsoft.com/office/drawing/2014/main" id="{91528C47-D8EB-A280-2187-2F05A2E2005E}"/>
              </a:ext>
            </a:extLst>
          </p:cNvPr>
          <p:cNvSpPr/>
          <p:nvPr/>
        </p:nvSpPr>
        <p:spPr>
          <a:xfrm>
            <a:off x="335015" y="3630911"/>
            <a:ext cx="5724938" cy="1014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>
              <a:buClr>
                <a:srgbClr val="000000"/>
              </a:buClr>
              <a:buSzPts val="1400"/>
            </a:pPr>
            <a:r>
              <a:rPr lang="en-US" sz="20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Menelaah</a:t>
            </a: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400"/>
            </a:pP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Menganalisa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secara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eksploratif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related columns, important features</a:t>
            </a:r>
            <a:endParaRPr lang="en-US" sz="2000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6" name="Google Shape;690;p188">
            <a:extLst>
              <a:ext uri="{FF2B5EF4-FFF2-40B4-BE49-F238E27FC236}">
                <a16:creationId xmlns:a16="http://schemas.microsoft.com/office/drawing/2014/main" id="{4C59E398-B12E-4555-750C-20DC6859CDD1}"/>
              </a:ext>
            </a:extLst>
          </p:cNvPr>
          <p:cNvSpPr/>
          <p:nvPr/>
        </p:nvSpPr>
        <p:spPr>
          <a:xfrm>
            <a:off x="286603" y="4907983"/>
            <a:ext cx="5809397" cy="1321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>
              <a:buClr>
                <a:srgbClr val="000000"/>
              </a:buClr>
              <a:buSzPts val="1400"/>
            </a:pPr>
            <a:r>
              <a:rPr lang="en-US" sz="20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Memvalidasi</a:t>
            </a:r>
            <a:r>
              <a:rPr lang="en-US" sz="2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400"/>
            </a:pP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Menilai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kesesuaian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kualitas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data de-</a:t>
            </a:r>
            <a:b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masalah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akan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dipecahkan</a:t>
            </a:r>
            <a:endParaRPr lang="en-US"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good quality data</a:t>
            </a:r>
            <a:endParaRPr lang="en-US" sz="2000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70D837-CC6E-8BC3-AD2B-5BAB107D690A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3197484" y="3428657"/>
            <a:ext cx="0" cy="2022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F765DCB-5645-4064-CB50-0205BBB8C49D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 flipH="1">
            <a:off x="3191302" y="4645120"/>
            <a:ext cx="6182" cy="2628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Google Shape;811;p199">
            <a:extLst>
              <a:ext uri="{FF2B5EF4-FFF2-40B4-BE49-F238E27FC236}">
                <a16:creationId xmlns:a16="http://schemas.microsoft.com/office/drawing/2014/main" id="{8AF64962-A7DF-14E9-C3DC-DF19D3B22AA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0" y="2749326"/>
            <a:ext cx="5945382" cy="2860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8600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5F35B-5142-B45D-9F6E-5C283E1A3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E99A5-623D-FA43-11E0-ACA121344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Science :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r>
              <a:rPr lang="en-US" dirty="0"/>
              <a:t> </a:t>
            </a:r>
          </a:p>
        </p:txBody>
      </p:sp>
      <p:grpSp>
        <p:nvGrpSpPr>
          <p:cNvPr id="4" name="Google Shape;606;p184">
            <a:extLst>
              <a:ext uri="{FF2B5EF4-FFF2-40B4-BE49-F238E27FC236}">
                <a16:creationId xmlns:a16="http://schemas.microsoft.com/office/drawing/2014/main" id="{6EE52438-455C-3068-4C67-6A6089118E88}"/>
              </a:ext>
            </a:extLst>
          </p:cNvPr>
          <p:cNvGrpSpPr/>
          <p:nvPr/>
        </p:nvGrpSpPr>
        <p:grpSpPr>
          <a:xfrm>
            <a:off x="838200" y="1435800"/>
            <a:ext cx="8883040" cy="720000"/>
            <a:chOff x="677520" y="1100520"/>
            <a:chExt cx="8303330" cy="720000"/>
          </a:xfrm>
        </p:grpSpPr>
        <p:sp>
          <p:nvSpPr>
            <p:cNvPr id="5" name="Google Shape;607;p184">
              <a:extLst>
                <a:ext uri="{FF2B5EF4-FFF2-40B4-BE49-F238E27FC236}">
                  <a16:creationId xmlns:a16="http://schemas.microsoft.com/office/drawing/2014/main" id="{B779FF91-F570-24EB-ABE9-32205BC05FA4}"/>
                </a:ext>
              </a:extLst>
            </p:cNvPr>
            <p:cNvSpPr/>
            <p:nvPr/>
          </p:nvSpPr>
          <p:spPr>
            <a:xfrm>
              <a:off x="677520" y="1100520"/>
              <a:ext cx="1726560" cy="718560"/>
            </a:xfrm>
            <a:custGeom>
              <a:avLst/>
              <a:gdLst/>
              <a:ahLst/>
              <a:cxnLst/>
              <a:rect l="l" t="t" r="r" b="b"/>
              <a:pathLst>
                <a:path w="4800" h="2000" extrusionOk="0">
                  <a:moveTo>
                    <a:pt x="0" y="0"/>
                  </a:moveTo>
                  <a:lnTo>
                    <a:pt x="3599" y="0"/>
                  </a:lnTo>
                  <a:lnTo>
                    <a:pt x="4799" y="999"/>
                  </a:lnTo>
                  <a:lnTo>
                    <a:pt x="3599" y="1999"/>
                  </a:lnTo>
                  <a:lnTo>
                    <a:pt x="0" y="1999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15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Business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608;p184">
              <a:extLst>
                <a:ext uri="{FF2B5EF4-FFF2-40B4-BE49-F238E27FC236}">
                  <a16:creationId xmlns:a16="http://schemas.microsoft.com/office/drawing/2014/main" id="{C6459540-48FB-C027-2AC5-D95735B5921B}"/>
                </a:ext>
              </a:extLst>
            </p:cNvPr>
            <p:cNvSpPr/>
            <p:nvPr/>
          </p:nvSpPr>
          <p:spPr>
            <a:xfrm>
              <a:off x="2045880" y="1100520"/>
              <a:ext cx="1673913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609;p184">
              <a:extLst>
                <a:ext uri="{FF2B5EF4-FFF2-40B4-BE49-F238E27FC236}">
                  <a16:creationId xmlns:a16="http://schemas.microsoft.com/office/drawing/2014/main" id="{A0A8DF9E-1B7A-5BB6-704D-4B1706E6A267}"/>
                </a:ext>
              </a:extLst>
            </p:cNvPr>
            <p:cNvSpPr/>
            <p:nvPr/>
          </p:nvSpPr>
          <p:spPr>
            <a:xfrm>
              <a:off x="3389001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Preparation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610;p184">
              <a:extLst>
                <a:ext uri="{FF2B5EF4-FFF2-40B4-BE49-F238E27FC236}">
                  <a16:creationId xmlns:a16="http://schemas.microsoft.com/office/drawing/2014/main" id="{D22ABA02-5C9F-E32E-0AC5-D050A2F4684E}"/>
                </a:ext>
              </a:extLst>
            </p:cNvPr>
            <p:cNvSpPr/>
            <p:nvPr/>
          </p:nvSpPr>
          <p:spPr>
            <a:xfrm>
              <a:off x="4704714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Modeling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611;p184">
              <a:extLst>
                <a:ext uri="{FF2B5EF4-FFF2-40B4-BE49-F238E27FC236}">
                  <a16:creationId xmlns:a16="http://schemas.microsoft.com/office/drawing/2014/main" id="{5BD7EC5B-A1EF-D8E6-F596-B40037B582F3}"/>
                </a:ext>
              </a:extLst>
            </p:cNvPr>
            <p:cNvSpPr/>
            <p:nvPr/>
          </p:nvSpPr>
          <p:spPr>
            <a:xfrm>
              <a:off x="7325570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612;p184">
              <a:extLst>
                <a:ext uri="{FF2B5EF4-FFF2-40B4-BE49-F238E27FC236}">
                  <a16:creationId xmlns:a16="http://schemas.microsoft.com/office/drawing/2014/main" id="{A267EA3A-3388-1447-D5C3-274C8BA51EA3}"/>
                </a:ext>
              </a:extLst>
            </p:cNvPr>
            <p:cNvSpPr/>
            <p:nvPr/>
          </p:nvSpPr>
          <p:spPr>
            <a:xfrm>
              <a:off x="6028844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" name="Google Shape;690;p188">
            <a:extLst>
              <a:ext uri="{FF2B5EF4-FFF2-40B4-BE49-F238E27FC236}">
                <a16:creationId xmlns:a16="http://schemas.microsoft.com/office/drawing/2014/main" id="{08A33C3D-47A6-794D-CE4B-9F48E2F7EA83}"/>
              </a:ext>
            </a:extLst>
          </p:cNvPr>
          <p:cNvSpPr/>
          <p:nvPr/>
        </p:nvSpPr>
        <p:spPr>
          <a:xfrm>
            <a:off x="838196" y="2414448"/>
            <a:ext cx="3703324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Data Collection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sufficient data (quantity)</a:t>
            </a:r>
            <a:endParaRPr lang="en-US" sz="2000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3" name="Google Shape;690;p188">
            <a:extLst>
              <a:ext uri="{FF2B5EF4-FFF2-40B4-BE49-F238E27FC236}">
                <a16:creationId xmlns:a16="http://schemas.microsoft.com/office/drawing/2014/main" id="{72487DCC-32CE-9D5A-EB90-7605BC1ABE69}"/>
              </a:ext>
            </a:extLst>
          </p:cNvPr>
          <p:cNvSpPr/>
          <p:nvPr/>
        </p:nvSpPr>
        <p:spPr>
          <a:xfrm>
            <a:off x="833640" y="3379528"/>
            <a:ext cx="3703324" cy="1014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Data Analysis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Goal: related columns, important features</a:t>
            </a:r>
          </a:p>
        </p:txBody>
      </p:sp>
      <p:sp>
        <p:nvSpPr>
          <p:cNvPr id="16" name="Google Shape;690;p188">
            <a:extLst>
              <a:ext uri="{FF2B5EF4-FFF2-40B4-BE49-F238E27FC236}">
                <a16:creationId xmlns:a16="http://schemas.microsoft.com/office/drawing/2014/main" id="{922423B5-AB1E-FBED-C33D-8C555209E97A}"/>
              </a:ext>
            </a:extLst>
          </p:cNvPr>
          <p:cNvSpPr/>
          <p:nvPr/>
        </p:nvSpPr>
        <p:spPr>
          <a:xfrm>
            <a:off x="833643" y="4679477"/>
            <a:ext cx="3703321" cy="706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Data Validation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Goal: good quality data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EF0E33D-3CDE-72FC-A87C-6B5D6EC0238B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2685302" y="3120880"/>
            <a:ext cx="4556" cy="2586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82E894-617E-2B3E-051E-029D26E4DBEE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2685302" y="4393737"/>
            <a:ext cx="2" cy="2857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oogle Shape;690;p188">
            <a:extLst>
              <a:ext uri="{FF2B5EF4-FFF2-40B4-BE49-F238E27FC236}">
                <a16:creationId xmlns:a16="http://schemas.microsoft.com/office/drawing/2014/main" id="{487C15C3-8F47-2BEE-B36E-2F48D8D4A276}"/>
              </a:ext>
            </a:extLst>
          </p:cNvPr>
          <p:cNvSpPr/>
          <p:nvPr/>
        </p:nvSpPr>
        <p:spPr>
          <a:xfrm>
            <a:off x="5273560" y="2414791"/>
            <a:ext cx="3703324" cy="16297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Specify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How many?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Where is the source?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What are the features?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Data size?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577C904-1474-B609-BDE5-B33E84F11504}"/>
              </a:ext>
            </a:extLst>
          </p:cNvPr>
          <p:cNvSpPr/>
          <p:nvPr/>
        </p:nvSpPr>
        <p:spPr>
          <a:xfrm>
            <a:off x="4668521" y="2543264"/>
            <a:ext cx="522342" cy="4488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881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4FE31-F476-02E1-22E1-91AC223A9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23A6C-0BFB-2061-9C0C-0C2816EC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Science :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r>
              <a:rPr lang="en-US" dirty="0"/>
              <a:t> </a:t>
            </a:r>
          </a:p>
        </p:txBody>
      </p:sp>
      <p:grpSp>
        <p:nvGrpSpPr>
          <p:cNvPr id="4" name="Google Shape;606;p184">
            <a:extLst>
              <a:ext uri="{FF2B5EF4-FFF2-40B4-BE49-F238E27FC236}">
                <a16:creationId xmlns:a16="http://schemas.microsoft.com/office/drawing/2014/main" id="{E149D860-3821-1DB9-F622-65D98DD47CBE}"/>
              </a:ext>
            </a:extLst>
          </p:cNvPr>
          <p:cNvGrpSpPr/>
          <p:nvPr/>
        </p:nvGrpSpPr>
        <p:grpSpPr>
          <a:xfrm>
            <a:off x="838200" y="1435800"/>
            <a:ext cx="8883040" cy="720000"/>
            <a:chOff x="677520" y="1100520"/>
            <a:chExt cx="8303330" cy="720000"/>
          </a:xfrm>
        </p:grpSpPr>
        <p:sp>
          <p:nvSpPr>
            <p:cNvPr id="5" name="Google Shape;607;p184">
              <a:extLst>
                <a:ext uri="{FF2B5EF4-FFF2-40B4-BE49-F238E27FC236}">
                  <a16:creationId xmlns:a16="http://schemas.microsoft.com/office/drawing/2014/main" id="{BC0B212A-8EC2-F781-E1A2-13A314495646}"/>
                </a:ext>
              </a:extLst>
            </p:cNvPr>
            <p:cNvSpPr/>
            <p:nvPr/>
          </p:nvSpPr>
          <p:spPr>
            <a:xfrm>
              <a:off x="677520" y="1100520"/>
              <a:ext cx="1726560" cy="718560"/>
            </a:xfrm>
            <a:custGeom>
              <a:avLst/>
              <a:gdLst/>
              <a:ahLst/>
              <a:cxnLst/>
              <a:rect l="l" t="t" r="r" b="b"/>
              <a:pathLst>
                <a:path w="4800" h="2000" extrusionOk="0">
                  <a:moveTo>
                    <a:pt x="0" y="0"/>
                  </a:moveTo>
                  <a:lnTo>
                    <a:pt x="3599" y="0"/>
                  </a:lnTo>
                  <a:lnTo>
                    <a:pt x="4799" y="999"/>
                  </a:lnTo>
                  <a:lnTo>
                    <a:pt x="3599" y="1999"/>
                  </a:lnTo>
                  <a:lnTo>
                    <a:pt x="0" y="1999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15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Business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608;p184">
              <a:extLst>
                <a:ext uri="{FF2B5EF4-FFF2-40B4-BE49-F238E27FC236}">
                  <a16:creationId xmlns:a16="http://schemas.microsoft.com/office/drawing/2014/main" id="{EC2C0C0D-69BD-7CFC-36E4-CA7E119026FD}"/>
                </a:ext>
              </a:extLst>
            </p:cNvPr>
            <p:cNvSpPr/>
            <p:nvPr/>
          </p:nvSpPr>
          <p:spPr>
            <a:xfrm>
              <a:off x="2045880" y="1100520"/>
              <a:ext cx="1673913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609;p184">
              <a:extLst>
                <a:ext uri="{FF2B5EF4-FFF2-40B4-BE49-F238E27FC236}">
                  <a16:creationId xmlns:a16="http://schemas.microsoft.com/office/drawing/2014/main" id="{3937148E-6DCF-7B32-14DE-354C1A2A271B}"/>
                </a:ext>
              </a:extLst>
            </p:cNvPr>
            <p:cNvSpPr/>
            <p:nvPr/>
          </p:nvSpPr>
          <p:spPr>
            <a:xfrm>
              <a:off x="3389001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Preparation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610;p184">
              <a:extLst>
                <a:ext uri="{FF2B5EF4-FFF2-40B4-BE49-F238E27FC236}">
                  <a16:creationId xmlns:a16="http://schemas.microsoft.com/office/drawing/2014/main" id="{7C9056A9-E17B-B7A4-4B02-622187D00DBC}"/>
                </a:ext>
              </a:extLst>
            </p:cNvPr>
            <p:cNvSpPr/>
            <p:nvPr/>
          </p:nvSpPr>
          <p:spPr>
            <a:xfrm>
              <a:off x="4704714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Modeling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611;p184">
              <a:extLst>
                <a:ext uri="{FF2B5EF4-FFF2-40B4-BE49-F238E27FC236}">
                  <a16:creationId xmlns:a16="http://schemas.microsoft.com/office/drawing/2014/main" id="{EE09E806-44C9-1980-2A79-CC89CFDEF71B}"/>
                </a:ext>
              </a:extLst>
            </p:cNvPr>
            <p:cNvSpPr/>
            <p:nvPr/>
          </p:nvSpPr>
          <p:spPr>
            <a:xfrm>
              <a:off x="7325570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612;p184">
              <a:extLst>
                <a:ext uri="{FF2B5EF4-FFF2-40B4-BE49-F238E27FC236}">
                  <a16:creationId xmlns:a16="http://schemas.microsoft.com/office/drawing/2014/main" id="{FF195C34-9798-C96A-CC49-6B9BCDEE2CDE}"/>
                </a:ext>
              </a:extLst>
            </p:cNvPr>
            <p:cNvSpPr/>
            <p:nvPr/>
          </p:nvSpPr>
          <p:spPr>
            <a:xfrm>
              <a:off x="6028844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" name="Google Shape;690;p188">
            <a:extLst>
              <a:ext uri="{FF2B5EF4-FFF2-40B4-BE49-F238E27FC236}">
                <a16:creationId xmlns:a16="http://schemas.microsoft.com/office/drawing/2014/main" id="{DDA81F7F-6A1F-BEEA-77B9-F7264114058B}"/>
              </a:ext>
            </a:extLst>
          </p:cNvPr>
          <p:cNvSpPr/>
          <p:nvPr/>
        </p:nvSpPr>
        <p:spPr>
          <a:xfrm>
            <a:off x="838196" y="2414448"/>
            <a:ext cx="3703324" cy="706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Data Collection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Goal: sufficient data (quantity)</a:t>
            </a:r>
          </a:p>
        </p:txBody>
      </p:sp>
      <p:sp>
        <p:nvSpPr>
          <p:cNvPr id="13" name="Google Shape;690;p188">
            <a:extLst>
              <a:ext uri="{FF2B5EF4-FFF2-40B4-BE49-F238E27FC236}">
                <a16:creationId xmlns:a16="http://schemas.microsoft.com/office/drawing/2014/main" id="{0AEFA27B-00DB-5D1F-2C74-696F71BD0A83}"/>
              </a:ext>
            </a:extLst>
          </p:cNvPr>
          <p:cNvSpPr/>
          <p:nvPr/>
        </p:nvSpPr>
        <p:spPr>
          <a:xfrm>
            <a:off x="833640" y="3379528"/>
            <a:ext cx="3703324" cy="1014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Data Analysis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related columns, important features</a:t>
            </a:r>
          </a:p>
        </p:txBody>
      </p:sp>
      <p:sp>
        <p:nvSpPr>
          <p:cNvPr id="16" name="Google Shape;690;p188">
            <a:extLst>
              <a:ext uri="{FF2B5EF4-FFF2-40B4-BE49-F238E27FC236}">
                <a16:creationId xmlns:a16="http://schemas.microsoft.com/office/drawing/2014/main" id="{02476391-5EA3-DF5F-86B1-97E70FF80E72}"/>
              </a:ext>
            </a:extLst>
          </p:cNvPr>
          <p:cNvSpPr/>
          <p:nvPr/>
        </p:nvSpPr>
        <p:spPr>
          <a:xfrm>
            <a:off x="833643" y="4679477"/>
            <a:ext cx="3703321" cy="706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Data Validation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solidFill>
                  <a:schemeClr val="bg2">
                    <a:lumMod val="90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Goal: good quality data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706A225-9FD9-59F2-DA2E-9D028FF629E6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2685302" y="3120880"/>
            <a:ext cx="4556" cy="2586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9CC0462-B1D5-2215-5EB8-6AF43F90E348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2685302" y="4393737"/>
            <a:ext cx="2" cy="2857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ADF66D0-1A32-C290-98F5-17473D03272C}"/>
              </a:ext>
            </a:extLst>
          </p:cNvPr>
          <p:cNvSpPr/>
          <p:nvPr/>
        </p:nvSpPr>
        <p:spPr>
          <a:xfrm rot="19835895">
            <a:off x="4465906" y="3362373"/>
            <a:ext cx="370839" cy="4488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oogle Shape;839;p202">
            <a:extLst>
              <a:ext uri="{FF2B5EF4-FFF2-40B4-BE49-F238E27FC236}">
                <a16:creationId xmlns:a16="http://schemas.microsoft.com/office/drawing/2014/main" id="{86E66334-0995-0C56-22BF-00E72FD5D84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02000" y="4090018"/>
            <a:ext cx="4719240" cy="2155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840;p202">
            <a:extLst>
              <a:ext uri="{FF2B5EF4-FFF2-40B4-BE49-F238E27FC236}">
                <a16:creationId xmlns:a16="http://schemas.microsoft.com/office/drawing/2014/main" id="{14D4887A-8874-CC58-B751-6E250F8C58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2947" y="2192291"/>
            <a:ext cx="4016160" cy="194328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690;p188">
            <a:extLst>
              <a:ext uri="{FF2B5EF4-FFF2-40B4-BE49-F238E27FC236}">
                <a16:creationId xmlns:a16="http://schemas.microsoft.com/office/drawing/2014/main" id="{851220B8-C155-08EB-51F9-95297CB97F0C}"/>
              </a:ext>
            </a:extLst>
          </p:cNvPr>
          <p:cNvSpPr/>
          <p:nvPr/>
        </p:nvSpPr>
        <p:spPr>
          <a:xfrm>
            <a:off x="4927583" y="2429395"/>
            <a:ext cx="3199878" cy="13219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Exploratory data analysis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Attribute descriptions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Feature correlations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Data distributions</a:t>
            </a:r>
          </a:p>
        </p:txBody>
      </p:sp>
    </p:spTree>
    <p:extLst>
      <p:ext uri="{BB962C8B-B14F-4D97-AF65-F5344CB8AC3E}">
        <p14:creationId xmlns:p14="http://schemas.microsoft.com/office/powerpoint/2010/main" val="29177217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C9C43-5D61-DB86-719B-017C4F11D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326A9-7357-4BD2-69B0-A083BC3FF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Science :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r>
              <a:rPr lang="en-US" dirty="0"/>
              <a:t> </a:t>
            </a:r>
          </a:p>
        </p:txBody>
      </p:sp>
      <p:grpSp>
        <p:nvGrpSpPr>
          <p:cNvPr id="4" name="Google Shape;606;p184">
            <a:extLst>
              <a:ext uri="{FF2B5EF4-FFF2-40B4-BE49-F238E27FC236}">
                <a16:creationId xmlns:a16="http://schemas.microsoft.com/office/drawing/2014/main" id="{80E9C16C-8AC2-7CAD-CBAB-EA1E08431DA9}"/>
              </a:ext>
            </a:extLst>
          </p:cNvPr>
          <p:cNvGrpSpPr/>
          <p:nvPr/>
        </p:nvGrpSpPr>
        <p:grpSpPr>
          <a:xfrm>
            <a:off x="838200" y="1435800"/>
            <a:ext cx="8883040" cy="720000"/>
            <a:chOff x="677520" y="1100520"/>
            <a:chExt cx="8303330" cy="720000"/>
          </a:xfrm>
        </p:grpSpPr>
        <p:sp>
          <p:nvSpPr>
            <p:cNvPr id="5" name="Google Shape;607;p184">
              <a:extLst>
                <a:ext uri="{FF2B5EF4-FFF2-40B4-BE49-F238E27FC236}">
                  <a16:creationId xmlns:a16="http://schemas.microsoft.com/office/drawing/2014/main" id="{39354EDA-842C-134F-C8DE-684F57B2B094}"/>
                </a:ext>
              </a:extLst>
            </p:cNvPr>
            <p:cNvSpPr/>
            <p:nvPr/>
          </p:nvSpPr>
          <p:spPr>
            <a:xfrm>
              <a:off x="677520" y="1100520"/>
              <a:ext cx="1726560" cy="718560"/>
            </a:xfrm>
            <a:custGeom>
              <a:avLst/>
              <a:gdLst/>
              <a:ahLst/>
              <a:cxnLst/>
              <a:rect l="l" t="t" r="r" b="b"/>
              <a:pathLst>
                <a:path w="4800" h="2000" extrusionOk="0">
                  <a:moveTo>
                    <a:pt x="0" y="0"/>
                  </a:moveTo>
                  <a:lnTo>
                    <a:pt x="3599" y="0"/>
                  </a:lnTo>
                  <a:lnTo>
                    <a:pt x="4799" y="999"/>
                  </a:lnTo>
                  <a:lnTo>
                    <a:pt x="3599" y="1999"/>
                  </a:lnTo>
                  <a:lnTo>
                    <a:pt x="0" y="1999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15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Business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608;p184">
              <a:extLst>
                <a:ext uri="{FF2B5EF4-FFF2-40B4-BE49-F238E27FC236}">
                  <a16:creationId xmlns:a16="http://schemas.microsoft.com/office/drawing/2014/main" id="{C54BE0A4-F74C-CA1C-8F65-F289A21DB95F}"/>
                </a:ext>
              </a:extLst>
            </p:cNvPr>
            <p:cNvSpPr/>
            <p:nvPr/>
          </p:nvSpPr>
          <p:spPr>
            <a:xfrm>
              <a:off x="2045880" y="1100520"/>
              <a:ext cx="1673913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2D05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609;p184">
              <a:extLst>
                <a:ext uri="{FF2B5EF4-FFF2-40B4-BE49-F238E27FC236}">
                  <a16:creationId xmlns:a16="http://schemas.microsoft.com/office/drawing/2014/main" id="{843FA28C-F67E-E02C-4EFA-A27C6412EBDE}"/>
                </a:ext>
              </a:extLst>
            </p:cNvPr>
            <p:cNvSpPr/>
            <p:nvPr/>
          </p:nvSpPr>
          <p:spPr>
            <a:xfrm>
              <a:off x="3389001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Preparation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610;p184">
              <a:extLst>
                <a:ext uri="{FF2B5EF4-FFF2-40B4-BE49-F238E27FC236}">
                  <a16:creationId xmlns:a16="http://schemas.microsoft.com/office/drawing/2014/main" id="{9B7B7CEC-F8E6-CB42-8D5C-CEDFA1050D2E}"/>
                </a:ext>
              </a:extLst>
            </p:cNvPr>
            <p:cNvSpPr/>
            <p:nvPr/>
          </p:nvSpPr>
          <p:spPr>
            <a:xfrm>
              <a:off x="4704714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Modeling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611;p184">
              <a:extLst>
                <a:ext uri="{FF2B5EF4-FFF2-40B4-BE49-F238E27FC236}">
                  <a16:creationId xmlns:a16="http://schemas.microsoft.com/office/drawing/2014/main" id="{95CDD3F4-DD2B-7600-AB52-6D0599DF1A95}"/>
                </a:ext>
              </a:extLst>
            </p:cNvPr>
            <p:cNvSpPr/>
            <p:nvPr/>
          </p:nvSpPr>
          <p:spPr>
            <a:xfrm>
              <a:off x="7325570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612;p184">
              <a:extLst>
                <a:ext uri="{FF2B5EF4-FFF2-40B4-BE49-F238E27FC236}">
                  <a16:creationId xmlns:a16="http://schemas.microsoft.com/office/drawing/2014/main" id="{36C03EFD-411B-43B6-2949-7FC5117C5930}"/>
                </a:ext>
              </a:extLst>
            </p:cNvPr>
            <p:cNvSpPr/>
            <p:nvPr/>
          </p:nvSpPr>
          <p:spPr>
            <a:xfrm>
              <a:off x="6028844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" name="Google Shape;690;p188">
            <a:extLst>
              <a:ext uri="{FF2B5EF4-FFF2-40B4-BE49-F238E27FC236}">
                <a16:creationId xmlns:a16="http://schemas.microsoft.com/office/drawing/2014/main" id="{723109AC-8F8D-ACCE-B277-5BFABCD315CA}"/>
              </a:ext>
            </a:extLst>
          </p:cNvPr>
          <p:cNvSpPr/>
          <p:nvPr/>
        </p:nvSpPr>
        <p:spPr>
          <a:xfrm>
            <a:off x="838196" y="2414448"/>
            <a:ext cx="3703324" cy="7064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Data Collection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Goal: sufficient data (quantity)</a:t>
            </a:r>
          </a:p>
        </p:txBody>
      </p:sp>
      <p:sp>
        <p:nvSpPr>
          <p:cNvPr id="13" name="Google Shape;690;p188">
            <a:extLst>
              <a:ext uri="{FF2B5EF4-FFF2-40B4-BE49-F238E27FC236}">
                <a16:creationId xmlns:a16="http://schemas.microsoft.com/office/drawing/2014/main" id="{62D13B6E-4984-E465-E41A-670373983E05}"/>
              </a:ext>
            </a:extLst>
          </p:cNvPr>
          <p:cNvSpPr/>
          <p:nvPr/>
        </p:nvSpPr>
        <p:spPr>
          <a:xfrm>
            <a:off x="833640" y="3379528"/>
            <a:ext cx="3703324" cy="1014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Data Analysis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Goal: related columns, important features</a:t>
            </a:r>
          </a:p>
        </p:txBody>
      </p:sp>
      <p:sp>
        <p:nvSpPr>
          <p:cNvPr id="16" name="Google Shape;690;p188">
            <a:extLst>
              <a:ext uri="{FF2B5EF4-FFF2-40B4-BE49-F238E27FC236}">
                <a16:creationId xmlns:a16="http://schemas.microsoft.com/office/drawing/2014/main" id="{5DA4FD48-7B06-33D7-0465-1B28942BCE2B}"/>
              </a:ext>
            </a:extLst>
          </p:cNvPr>
          <p:cNvSpPr/>
          <p:nvPr/>
        </p:nvSpPr>
        <p:spPr>
          <a:xfrm>
            <a:off x="833643" y="4679477"/>
            <a:ext cx="3703321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Data Validation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good quality data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E0C3CB5-DEBC-918C-ADFF-738F38529EC7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2685302" y="3120880"/>
            <a:ext cx="4556" cy="2586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ACD587-E1C5-026B-190A-85A8A95F687C}"/>
              </a:ext>
            </a:extLst>
          </p:cNvPr>
          <p:cNvCxnSpPr>
            <a:cxnSpLocks/>
            <a:stCxn id="13" idx="2"/>
            <a:endCxn id="16" idx="0"/>
          </p:cNvCxnSpPr>
          <p:nvPr/>
        </p:nvCxnSpPr>
        <p:spPr>
          <a:xfrm>
            <a:off x="2685302" y="4393737"/>
            <a:ext cx="2" cy="2857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F534695-AF3D-783A-AFCD-3A3725E90712}"/>
              </a:ext>
            </a:extLst>
          </p:cNvPr>
          <p:cNvSpPr/>
          <p:nvPr/>
        </p:nvSpPr>
        <p:spPr>
          <a:xfrm>
            <a:off x="4639963" y="4808293"/>
            <a:ext cx="597682" cy="4488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Google Shape;690;p188">
            <a:extLst>
              <a:ext uri="{FF2B5EF4-FFF2-40B4-BE49-F238E27FC236}">
                <a16:creationId xmlns:a16="http://schemas.microsoft.com/office/drawing/2014/main" id="{600EC68C-82DD-1A57-96B4-98A61D28604D}"/>
              </a:ext>
            </a:extLst>
          </p:cNvPr>
          <p:cNvSpPr/>
          <p:nvPr/>
        </p:nvSpPr>
        <p:spPr>
          <a:xfrm>
            <a:off x="5340644" y="4490424"/>
            <a:ext cx="4380596" cy="1014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Does it fit the model requirements?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Is it sufficient?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Do we need additional public data?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D43972-D51C-CD81-13E3-352553E7EC6B}"/>
              </a:ext>
            </a:extLst>
          </p:cNvPr>
          <p:cNvSpPr txBox="1"/>
          <p:nvPr/>
        </p:nvSpPr>
        <p:spPr>
          <a:xfrm>
            <a:off x="5509448" y="2690336"/>
            <a:ext cx="5390200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>
                <a:latin typeface="Aptos" panose="020B0004020202020204" pitchFamily="34" charset="0"/>
              </a:rPr>
              <a:t>Laporan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Kualitas</a:t>
            </a:r>
            <a:r>
              <a:rPr lang="en-US" dirty="0">
                <a:latin typeface="Aptos" panose="020B0004020202020204" pitchFamily="34" charset="0"/>
              </a:rPr>
              <a:t> Data: 	</a:t>
            </a:r>
          </a:p>
          <a:p>
            <a:r>
              <a:rPr lang="en-US" dirty="0">
                <a:latin typeface="Aptos" panose="020B0004020202020204" pitchFamily="34" charset="0"/>
              </a:rPr>
              <a:t>- </a:t>
            </a:r>
            <a:r>
              <a:rPr lang="en-US" dirty="0" err="1">
                <a:latin typeface="Aptos" panose="020B0004020202020204" pitchFamily="34" charset="0"/>
              </a:rPr>
              <a:t>Ukuran</a:t>
            </a:r>
            <a:r>
              <a:rPr lang="en-US" dirty="0">
                <a:latin typeface="Aptos" panose="020B0004020202020204" pitchFamily="34" charset="0"/>
              </a:rPr>
              <a:t> Data (</a:t>
            </a:r>
            <a:r>
              <a:rPr lang="en-US" dirty="0" err="1">
                <a:latin typeface="Aptos" panose="020B0004020202020204" pitchFamily="34" charset="0"/>
              </a:rPr>
              <a:t>Atribut</a:t>
            </a:r>
            <a:r>
              <a:rPr lang="en-US" dirty="0">
                <a:latin typeface="Aptos" panose="020B0004020202020204" pitchFamily="34" charset="0"/>
              </a:rPr>
              <a:t>/ </a:t>
            </a:r>
            <a:r>
              <a:rPr lang="en-US" dirty="0" err="1">
                <a:latin typeface="Aptos" panose="020B0004020202020204" pitchFamily="34" charset="0"/>
              </a:rPr>
              <a:t>fitur</a:t>
            </a:r>
            <a:r>
              <a:rPr lang="en-US" dirty="0">
                <a:latin typeface="Aptos" panose="020B0004020202020204" pitchFamily="34" charset="0"/>
              </a:rPr>
              <a:t> dan </a:t>
            </a:r>
            <a:r>
              <a:rPr lang="en-US" dirty="0" err="1">
                <a:latin typeface="Aptos" panose="020B0004020202020204" pitchFamily="34" charset="0"/>
              </a:rPr>
              <a:t>Jumlah</a:t>
            </a:r>
            <a:r>
              <a:rPr lang="en-US" dirty="0">
                <a:latin typeface="Aptos" panose="020B0004020202020204" pitchFamily="34" charset="0"/>
              </a:rPr>
              <a:t> record)</a:t>
            </a:r>
          </a:p>
          <a:p>
            <a:r>
              <a:rPr lang="en-US" dirty="0">
                <a:latin typeface="Aptos" panose="020B0004020202020204" pitchFamily="34" charset="0"/>
              </a:rPr>
              <a:t>- </a:t>
            </a:r>
            <a:r>
              <a:rPr lang="en-US" dirty="0" err="1">
                <a:latin typeface="Aptos" panose="020B0004020202020204" pitchFamily="34" charset="0"/>
              </a:rPr>
              <a:t>Deskripsi</a:t>
            </a:r>
            <a:r>
              <a:rPr lang="en-US" dirty="0">
                <a:latin typeface="Aptos" panose="020B0004020202020204" pitchFamily="34" charset="0"/>
              </a:rPr>
              <a:t> statistical </a:t>
            </a:r>
            <a:r>
              <a:rPr lang="en-US" dirty="0" err="1">
                <a:latin typeface="Aptos" panose="020B0004020202020204" pitchFamily="34" charset="0"/>
              </a:rPr>
              <a:t>atribut</a:t>
            </a: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- </a:t>
            </a:r>
            <a:r>
              <a:rPr lang="en-US" dirty="0" err="1">
                <a:latin typeface="Aptos" panose="020B0004020202020204" pitchFamily="34" charset="0"/>
              </a:rPr>
              <a:t>Relasi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antar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atribut</a:t>
            </a:r>
            <a:r>
              <a:rPr lang="en-US" dirty="0">
                <a:latin typeface="Aptos" panose="020B0004020202020204" pitchFamily="34" charset="0"/>
              </a:rPr>
              <a:t> (dan label)</a:t>
            </a:r>
          </a:p>
          <a:p>
            <a:r>
              <a:rPr lang="en-US" dirty="0">
                <a:latin typeface="Aptos" panose="020B0004020202020204" pitchFamily="34" charset="0"/>
              </a:rPr>
              <a:t>- </a:t>
            </a:r>
            <a:r>
              <a:rPr lang="en-US" dirty="0" err="1">
                <a:latin typeface="Aptos" panose="020B0004020202020204" pitchFamily="34" charset="0"/>
              </a:rPr>
              <a:t>Visualisasi</a:t>
            </a:r>
            <a:r>
              <a:rPr lang="en-US" dirty="0">
                <a:latin typeface="Aptos" panose="020B0004020202020204" pitchFamily="34" charset="0"/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2214375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DC59-EFDF-476E-6476-3165451C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890FA-28AE-9E0A-7455-7032B3B9C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Science :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r>
              <a:rPr lang="en-US" dirty="0"/>
              <a:t> </a:t>
            </a:r>
          </a:p>
        </p:txBody>
      </p:sp>
      <p:grpSp>
        <p:nvGrpSpPr>
          <p:cNvPr id="4" name="Google Shape;606;p184">
            <a:extLst>
              <a:ext uri="{FF2B5EF4-FFF2-40B4-BE49-F238E27FC236}">
                <a16:creationId xmlns:a16="http://schemas.microsoft.com/office/drawing/2014/main" id="{BC0157DD-FE6E-4C00-6172-F0FFA7443F14}"/>
              </a:ext>
            </a:extLst>
          </p:cNvPr>
          <p:cNvGrpSpPr/>
          <p:nvPr/>
        </p:nvGrpSpPr>
        <p:grpSpPr>
          <a:xfrm>
            <a:off x="838200" y="1435800"/>
            <a:ext cx="8883040" cy="720000"/>
            <a:chOff x="677520" y="1100520"/>
            <a:chExt cx="8303330" cy="720000"/>
          </a:xfrm>
        </p:grpSpPr>
        <p:sp>
          <p:nvSpPr>
            <p:cNvPr id="5" name="Google Shape;607;p184">
              <a:extLst>
                <a:ext uri="{FF2B5EF4-FFF2-40B4-BE49-F238E27FC236}">
                  <a16:creationId xmlns:a16="http://schemas.microsoft.com/office/drawing/2014/main" id="{1D994FF2-2F2E-A41D-3ABB-4254E00DA77A}"/>
                </a:ext>
              </a:extLst>
            </p:cNvPr>
            <p:cNvSpPr/>
            <p:nvPr/>
          </p:nvSpPr>
          <p:spPr>
            <a:xfrm>
              <a:off x="677520" y="1100520"/>
              <a:ext cx="1726560" cy="718560"/>
            </a:xfrm>
            <a:custGeom>
              <a:avLst/>
              <a:gdLst/>
              <a:ahLst/>
              <a:cxnLst/>
              <a:rect l="l" t="t" r="r" b="b"/>
              <a:pathLst>
                <a:path w="4800" h="2000" extrusionOk="0">
                  <a:moveTo>
                    <a:pt x="0" y="0"/>
                  </a:moveTo>
                  <a:lnTo>
                    <a:pt x="3599" y="0"/>
                  </a:lnTo>
                  <a:lnTo>
                    <a:pt x="4799" y="999"/>
                  </a:lnTo>
                  <a:lnTo>
                    <a:pt x="3599" y="1999"/>
                  </a:lnTo>
                  <a:lnTo>
                    <a:pt x="0" y="1999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Business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608;p184">
              <a:extLst>
                <a:ext uri="{FF2B5EF4-FFF2-40B4-BE49-F238E27FC236}">
                  <a16:creationId xmlns:a16="http://schemas.microsoft.com/office/drawing/2014/main" id="{02EF4673-6B19-0CE8-236C-AD1B68A86F04}"/>
                </a:ext>
              </a:extLst>
            </p:cNvPr>
            <p:cNvSpPr/>
            <p:nvPr/>
          </p:nvSpPr>
          <p:spPr>
            <a:xfrm>
              <a:off x="2045880" y="1100520"/>
              <a:ext cx="1673913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2D05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609;p184">
              <a:extLst>
                <a:ext uri="{FF2B5EF4-FFF2-40B4-BE49-F238E27FC236}">
                  <a16:creationId xmlns:a16="http://schemas.microsoft.com/office/drawing/2014/main" id="{1271AD54-E907-BF87-02A2-7A79AF7C68D6}"/>
                </a:ext>
              </a:extLst>
            </p:cNvPr>
            <p:cNvSpPr/>
            <p:nvPr/>
          </p:nvSpPr>
          <p:spPr>
            <a:xfrm>
              <a:off x="3389001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Preparation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610;p184">
              <a:extLst>
                <a:ext uri="{FF2B5EF4-FFF2-40B4-BE49-F238E27FC236}">
                  <a16:creationId xmlns:a16="http://schemas.microsoft.com/office/drawing/2014/main" id="{FB7E92DC-DAE7-7FE7-D05A-BEEA15A64BAB}"/>
                </a:ext>
              </a:extLst>
            </p:cNvPr>
            <p:cNvSpPr/>
            <p:nvPr/>
          </p:nvSpPr>
          <p:spPr>
            <a:xfrm>
              <a:off x="4704714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Modeling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611;p184">
              <a:extLst>
                <a:ext uri="{FF2B5EF4-FFF2-40B4-BE49-F238E27FC236}">
                  <a16:creationId xmlns:a16="http://schemas.microsoft.com/office/drawing/2014/main" id="{FCA083CD-D8F4-FC50-0DF5-EA77DCD1418F}"/>
                </a:ext>
              </a:extLst>
            </p:cNvPr>
            <p:cNvSpPr/>
            <p:nvPr/>
          </p:nvSpPr>
          <p:spPr>
            <a:xfrm>
              <a:off x="7325570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612;p184">
              <a:extLst>
                <a:ext uri="{FF2B5EF4-FFF2-40B4-BE49-F238E27FC236}">
                  <a16:creationId xmlns:a16="http://schemas.microsoft.com/office/drawing/2014/main" id="{7F301B70-7090-A853-59CC-68960B0F001E}"/>
                </a:ext>
              </a:extLst>
            </p:cNvPr>
            <p:cNvSpPr/>
            <p:nvPr/>
          </p:nvSpPr>
          <p:spPr>
            <a:xfrm>
              <a:off x="6028844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" name="Google Shape;690;p188">
            <a:extLst>
              <a:ext uri="{FF2B5EF4-FFF2-40B4-BE49-F238E27FC236}">
                <a16:creationId xmlns:a16="http://schemas.microsoft.com/office/drawing/2014/main" id="{9EAA6E1B-EFF5-8F19-798F-C7D9469656C7}"/>
              </a:ext>
            </a:extLst>
          </p:cNvPr>
          <p:cNvSpPr/>
          <p:nvPr/>
        </p:nvSpPr>
        <p:spPr>
          <a:xfrm>
            <a:off x="838195" y="2363648"/>
            <a:ext cx="5729495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Data Selection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selected rows/columns</a:t>
            </a:r>
            <a:endParaRPr lang="en-US" sz="2000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90;p188">
            <a:extLst>
              <a:ext uri="{FF2B5EF4-FFF2-40B4-BE49-F238E27FC236}">
                <a16:creationId xmlns:a16="http://schemas.microsoft.com/office/drawing/2014/main" id="{4541336B-2D66-CF85-B536-716ED820E0D8}"/>
              </a:ext>
            </a:extLst>
          </p:cNvPr>
          <p:cNvSpPr/>
          <p:nvPr/>
        </p:nvSpPr>
        <p:spPr>
          <a:xfrm>
            <a:off x="833639" y="3277928"/>
            <a:ext cx="5729495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Data Cleaning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complete data (no empty, outlier, noise)</a:t>
            </a:r>
            <a:endParaRPr lang="en-US" sz="2000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3" name="Google Shape;690;p188">
            <a:extLst>
              <a:ext uri="{FF2B5EF4-FFF2-40B4-BE49-F238E27FC236}">
                <a16:creationId xmlns:a16="http://schemas.microsoft.com/office/drawing/2014/main" id="{545001EF-0EE1-128B-3644-5B49CF23EB37}"/>
              </a:ext>
            </a:extLst>
          </p:cNvPr>
          <p:cNvSpPr/>
          <p:nvPr/>
        </p:nvSpPr>
        <p:spPr>
          <a:xfrm>
            <a:off x="833643" y="4198645"/>
            <a:ext cx="5729492" cy="1014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Data Construction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selected feature (or add via feature engineering), transformed data</a:t>
            </a:r>
            <a:endParaRPr lang="en-US" sz="2000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11959B-68FC-9469-2643-FD4306C5F6C7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flipH="1">
            <a:off x="3698387" y="3070080"/>
            <a:ext cx="4556" cy="2078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9F18C3-61A9-48CF-B890-622FD0A5313A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3698387" y="3984360"/>
            <a:ext cx="2" cy="2142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690;p188">
            <a:extLst>
              <a:ext uri="{FF2B5EF4-FFF2-40B4-BE49-F238E27FC236}">
                <a16:creationId xmlns:a16="http://schemas.microsoft.com/office/drawing/2014/main" id="{B9946081-3356-9CD3-751B-DC4493EBF95B}"/>
              </a:ext>
            </a:extLst>
          </p:cNvPr>
          <p:cNvSpPr/>
          <p:nvPr/>
        </p:nvSpPr>
        <p:spPr>
          <a:xfrm>
            <a:off x="833643" y="5422200"/>
            <a:ext cx="5729492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Data Integration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the complete set of data for training &amp; testing</a:t>
            </a:r>
            <a:endParaRPr lang="en-US" sz="2000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9F9A14-7203-B223-3A08-DAC46EA2C369}"/>
              </a:ext>
            </a:extLst>
          </p:cNvPr>
          <p:cNvCxnSpPr>
            <a:cxnSpLocks/>
            <a:stCxn id="13" idx="2"/>
            <a:endCxn id="18" idx="0"/>
          </p:cNvCxnSpPr>
          <p:nvPr/>
        </p:nvCxnSpPr>
        <p:spPr>
          <a:xfrm>
            <a:off x="3698389" y="5212854"/>
            <a:ext cx="0" cy="2093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oogle Shape;856;p204">
            <a:extLst>
              <a:ext uri="{FF2B5EF4-FFF2-40B4-BE49-F238E27FC236}">
                <a16:creationId xmlns:a16="http://schemas.microsoft.com/office/drawing/2014/main" id="{F19DC977-F568-60F1-2C34-AE63F351ED96}"/>
              </a:ext>
            </a:extLst>
          </p:cNvPr>
          <p:cNvGrpSpPr/>
          <p:nvPr/>
        </p:nvGrpSpPr>
        <p:grpSpPr>
          <a:xfrm>
            <a:off x="6632647" y="2477964"/>
            <a:ext cx="502920" cy="502920"/>
            <a:chOff x="92520" y="1676880"/>
            <a:chExt cx="502920" cy="502920"/>
          </a:xfrm>
        </p:grpSpPr>
        <p:sp>
          <p:nvSpPr>
            <p:cNvPr id="15" name="Google Shape;857;p204">
              <a:extLst>
                <a:ext uri="{FF2B5EF4-FFF2-40B4-BE49-F238E27FC236}">
                  <a16:creationId xmlns:a16="http://schemas.microsoft.com/office/drawing/2014/main" id="{9DF90EC1-1875-DCE8-5685-D779A97471A4}"/>
                </a:ext>
              </a:extLst>
            </p:cNvPr>
            <p:cNvSpPr/>
            <p:nvPr/>
          </p:nvSpPr>
          <p:spPr>
            <a:xfrm flipH="1">
              <a:off x="92520" y="1676880"/>
              <a:ext cx="502920" cy="502920"/>
            </a:xfrm>
            <a:prstGeom prst="ellipse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858;p204">
              <a:extLst>
                <a:ext uri="{FF2B5EF4-FFF2-40B4-BE49-F238E27FC236}">
                  <a16:creationId xmlns:a16="http://schemas.microsoft.com/office/drawing/2014/main" id="{77BF20A7-DF48-F19E-6F7F-C53AFD0F0436}"/>
                </a:ext>
              </a:extLst>
            </p:cNvPr>
            <p:cNvSpPr/>
            <p:nvPr/>
          </p:nvSpPr>
          <p:spPr>
            <a:xfrm flipH="1">
              <a:off x="92520" y="1776600"/>
              <a:ext cx="502920" cy="303120"/>
            </a:xfrm>
            <a:prstGeom prst="rect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859;p204">
            <a:extLst>
              <a:ext uri="{FF2B5EF4-FFF2-40B4-BE49-F238E27FC236}">
                <a16:creationId xmlns:a16="http://schemas.microsoft.com/office/drawing/2014/main" id="{6D91775A-D8D4-5D81-E770-47D979FD3B99}"/>
              </a:ext>
            </a:extLst>
          </p:cNvPr>
          <p:cNvSpPr/>
          <p:nvPr/>
        </p:nvSpPr>
        <p:spPr>
          <a:xfrm>
            <a:off x="7170847" y="2385444"/>
            <a:ext cx="4016520" cy="639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Memilih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memilah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data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Memilih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data yang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akan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dipergunakan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860;p204">
            <a:extLst>
              <a:ext uri="{FF2B5EF4-FFF2-40B4-BE49-F238E27FC236}">
                <a16:creationId xmlns:a16="http://schemas.microsoft.com/office/drawing/2014/main" id="{99E39FD1-BEB1-3F73-9354-87A827A13480}"/>
              </a:ext>
            </a:extLst>
          </p:cNvPr>
          <p:cNvGrpSpPr/>
          <p:nvPr/>
        </p:nvGrpSpPr>
        <p:grpSpPr>
          <a:xfrm>
            <a:off x="6659009" y="3370448"/>
            <a:ext cx="502920" cy="502920"/>
            <a:chOff x="92520" y="2475000"/>
            <a:chExt cx="502920" cy="502920"/>
          </a:xfrm>
        </p:grpSpPr>
        <p:sp>
          <p:nvSpPr>
            <p:cNvPr id="22" name="Google Shape;861;p204">
              <a:extLst>
                <a:ext uri="{FF2B5EF4-FFF2-40B4-BE49-F238E27FC236}">
                  <a16:creationId xmlns:a16="http://schemas.microsoft.com/office/drawing/2014/main" id="{A8DDED7C-DA2D-C735-014C-7B3A7D3A4C5C}"/>
                </a:ext>
              </a:extLst>
            </p:cNvPr>
            <p:cNvSpPr/>
            <p:nvPr/>
          </p:nvSpPr>
          <p:spPr>
            <a:xfrm flipH="1">
              <a:off x="92520" y="2475000"/>
              <a:ext cx="502920" cy="502920"/>
            </a:xfrm>
            <a:prstGeom prst="ellipse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862;p204">
              <a:extLst>
                <a:ext uri="{FF2B5EF4-FFF2-40B4-BE49-F238E27FC236}">
                  <a16:creationId xmlns:a16="http://schemas.microsoft.com/office/drawing/2014/main" id="{966E903F-9EAE-0137-D6E1-384AF15EAF1E}"/>
                </a:ext>
              </a:extLst>
            </p:cNvPr>
            <p:cNvSpPr/>
            <p:nvPr/>
          </p:nvSpPr>
          <p:spPr>
            <a:xfrm flipH="1">
              <a:off x="92520" y="2574720"/>
              <a:ext cx="502920" cy="303120"/>
            </a:xfrm>
            <a:prstGeom prst="rect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863;p204">
            <a:extLst>
              <a:ext uri="{FF2B5EF4-FFF2-40B4-BE49-F238E27FC236}">
                <a16:creationId xmlns:a16="http://schemas.microsoft.com/office/drawing/2014/main" id="{17B5C729-4183-D318-FF51-8ED49F7CF822}"/>
              </a:ext>
            </a:extLst>
          </p:cNvPr>
          <p:cNvSpPr/>
          <p:nvPr/>
        </p:nvSpPr>
        <p:spPr>
          <a:xfrm>
            <a:off x="7197209" y="3277928"/>
            <a:ext cx="4016520" cy="89109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Membersihkan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Data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Meminimalkan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noise (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tidak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lengkap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salah,dll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864;p204">
            <a:extLst>
              <a:ext uri="{FF2B5EF4-FFF2-40B4-BE49-F238E27FC236}">
                <a16:creationId xmlns:a16="http://schemas.microsoft.com/office/drawing/2014/main" id="{2CBB6F27-B4C1-163F-3628-BFB162E83F2E}"/>
              </a:ext>
            </a:extLst>
          </p:cNvPr>
          <p:cNvGrpSpPr/>
          <p:nvPr/>
        </p:nvGrpSpPr>
        <p:grpSpPr>
          <a:xfrm>
            <a:off x="6645607" y="4489620"/>
            <a:ext cx="502920" cy="502920"/>
            <a:chOff x="92520" y="3276720"/>
            <a:chExt cx="502920" cy="502920"/>
          </a:xfrm>
        </p:grpSpPr>
        <p:sp>
          <p:nvSpPr>
            <p:cNvPr id="26" name="Google Shape;865;p204">
              <a:extLst>
                <a:ext uri="{FF2B5EF4-FFF2-40B4-BE49-F238E27FC236}">
                  <a16:creationId xmlns:a16="http://schemas.microsoft.com/office/drawing/2014/main" id="{E6268E21-DC71-88D7-ACEC-5B4113D57757}"/>
                </a:ext>
              </a:extLst>
            </p:cNvPr>
            <p:cNvSpPr/>
            <p:nvPr/>
          </p:nvSpPr>
          <p:spPr>
            <a:xfrm flipH="1">
              <a:off x="92520" y="3276720"/>
              <a:ext cx="502920" cy="502920"/>
            </a:xfrm>
            <a:prstGeom prst="ellipse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866;p204">
              <a:extLst>
                <a:ext uri="{FF2B5EF4-FFF2-40B4-BE49-F238E27FC236}">
                  <a16:creationId xmlns:a16="http://schemas.microsoft.com/office/drawing/2014/main" id="{5605F849-6D3E-1288-498D-5CF0605A65CA}"/>
                </a:ext>
              </a:extLst>
            </p:cNvPr>
            <p:cNvSpPr/>
            <p:nvPr/>
          </p:nvSpPr>
          <p:spPr>
            <a:xfrm flipH="1">
              <a:off x="92520" y="3376440"/>
              <a:ext cx="502920" cy="303120"/>
            </a:xfrm>
            <a:prstGeom prst="rect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867;p204">
            <a:extLst>
              <a:ext uri="{FF2B5EF4-FFF2-40B4-BE49-F238E27FC236}">
                <a16:creationId xmlns:a16="http://schemas.microsoft.com/office/drawing/2014/main" id="{5D615664-7C29-EFF1-CA75-AAC68DF6A6E3}"/>
              </a:ext>
            </a:extLst>
          </p:cNvPr>
          <p:cNvSpPr/>
          <p:nvPr/>
        </p:nvSpPr>
        <p:spPr>
          <a:xfrm>
            <a:off x="7183807" y="4397100"/>
            <a:ext cx="4016520" cy="89109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Mengkonstruksi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data 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buSzPts val="1600"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Menambahkan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fitur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dan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transformasi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data 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standardisasi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transformasi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" name="Google Shape;868;p204">
            <a:extLst>
              <a:ext uri="{FF2B5EF4-FFF2-40B4-BE49-F238E27FC236}">
                <a16:creationId xmlns:a16="http://schemas.microsoft.com/office/drawing/2014/main" id="{B94E6265-8CCF-9F2B-0C04-2C0C54AE193C}"/>
              </a:ext>
            </a:extLst>
          </p:cNvPr>
          <p:cNvGrpSpPr/>
          <p:nvPr/>
        </p:nvGrpSpPr>
        <p:grpSpPr>
          <a:xfrm>
            <a:off x="6645607" y="5514720"/>
            <a:ext cx="502920" cy="502920"/>
            <a:chOff x="105480" y="4075200"/>
            <a:chExt cx="502920" cy="502920"/>
          </a:xfrm>
        </p:grpSpPr>
        <p:sp>
          <p:nvSpPr>
            <p:cNvPr id="30" name="Google Shape;869;p204">
              <a:extLst>
                <a:ext uri="{FF2B5EF4-FFF2-40B4-BE49-F238E27FC236}">
                  <a16:creationId xmlns:a16="http://schemas.microsoft.com/office/drawing/2014/main" id="{DEAB8444-8F2F-0E60-B855-BBE103838F81}"/>
                </a:ext>
              </a:extLst>
            </p:cNvPr>
            <p:cNvSpPr/>
            <p:nvPr/>
          </p:nvSpPr>
          <p:spPr>
            <a:xfrm flipH="1">
              <a:off x="105480" y="4075200"/>
              <a:ext cx="502920" cy="502920"/>
            </a:xfrm>
            <a:prstGeom prst="ellipse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870;p204">
              <a:extLst>
                <a:ext uri="{FF2B5EF4-FFF2-40B4-BE49-F238E27FC236}">
                  <a16:creationId xmlns:a16="http://schemas.microsoft.com/office/drawing/2014/main" id="{DB0EC8F1-20D3-FD82-66F6-341BEB0A99AB}"/>
                </a:ext>
              </a:extLst>
            </p:cNvPr>
            <p:cNvSpPr/>
            <p:nvPr/>
          </p:nvSpPr>
          <p:spPr>
            <a:xfrm flipH="1">
              <a:off x="105480" y="4174920"/>
              <a:ext cx="502920" cy="303120"/>
            </a:xfrm>
            <a:prstGeom prst="rect">
              <a:avLst/>
            </a:prstGeom>
            <a:solidFill>
              <a:srgbClr val="6BC5C9"/>
            </a:solidFill>
            <a:ln>
              <a:noFill/>
            </a:ln>
          </p:spPr>
          <p:txBody>
            <a:bodyPr spcFirstLastPara="1" wrap="square" lIns="90000" tIns="45000" rIns="90000" bIns="450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" name="Google Shape;871;p204">
            <a:extLst>
              <a:ext uri="{FF2B5EF4-FFF2-40B4-BE49-F238E27FC236}">
                <a16:creationId xmlns:a16="http://schemas.microsoft.com/office/drawing/2014/main" id="{F02DE06A-27C5-5E97-6B65-21A89C134A3D}"/>
              </a:ext>
            </a:extLst>
          </p:cNvPr>
          <p:cNvSpPr/>
          <p:nvPr/>
        </p:nvSpPr>
        <p:spPr>
          <a:xfrm>
            <a:off x="7183807" y="5422200"/>
            <a:ext cx="4003560" cy="639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Integrasi Data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Menggabungkan data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70514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545F0-ABF6-A471-458D-05A03455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FA5E7-A3A4-E407-09FD-17E675D00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Science :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r>
              <a:rPr lang="en-US" dirty="0"/>
              <a:t> </a:t>
            </a:r>
          </a:p>
        </p:txBody>
      </p:sp>
      <p:grpSp>
        <p:nvGrpSpPr>
          <p:cNvPr id="4" name="Google Shape;606;p184">
            <a:extLst>
              <a:ext uri="{FF2B5EF4-FFF2-40B4-BE49-F238E27FC236}">
                <a16:creationId xmlns:a16="http://schemas.microsoft.com/office/drawing/2014/main" id="{8069FD2F-EBB0-2A5B-3E12-BE8EECAE83BD}"/>
              </a:ext>
            </a:extLst>
          </p:cNvPr>
          <p:cNvGrpSpPr/>
          <p:nvPr/>
        </p:nvGrpSpPr>
        <p:grpSpPr>
          <a:xfrm>
            <a:off x="838200" y="1435800"/>
            <a:ext cx="8883040" cy="720000"/>
            <a:chOff x="677520" y="1100520"/>
            <a:chExt cx="8303330" cy="720000"/>
          </a:xfrm>
        </p:grpSpPr>
        <p:sp>
          <p:nvSpPr>
            <p:cNvPr id="5" name="Google Shape;607;p184">
              <a:extLst>
                <a:ext uri="{FF2B5EF4-FFF2-40B4-BE49-F238E27FC236}">
                  <a16:creationId xmlns:a16="http://schemas.microsoft.com/office/drawing/2014/main" id="{E23EDE07-8CB5-6FCF-275A-14D2FAAFA2C0}"/>
                </a:ext>
              </a:extLst>
            </p:cNvPr>
            <p:cNvSpPr/>
            <p:nvPr/>
          </p:nvSpPr>
          <p:spPr>
            <a:xfrm>
              <a:off x="677520" y="1100520"/>
              <a:ext cx="1726560" cy="718560"/>
            </a:xfrm>
            <a:custGeom>
              <a:avLst/>
              <a:gdLst/>
              <a:ahLst/>
              <a:cxnLst/>
              <a:rect l="l" t="t" r="r" b="b"/>
              <a:pathLst>
                <a:path w="4800" h="2000" extrusionOk="0">
                  <a:moveTo>
                    <a:pt x="0" y="0"/>
                  </a:moveTo>
                  <a:lnTo>
                    <a:pt x="3599" y="0"/>
                  </a:lnTo>
                  <a:lnTo>
                    <a:pt x="4799" y="999"/>
                  </a:lnTo>
                  <a:lnTo>
                    <a:pt x="3599" y="1999"/>
                  </a:lnTo>
                  <a:lnTo>
                    <a:pt x="0" y="1999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Business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608;p184">
              <a:extLst>
                <a:ext uri="{FF2B5EF4-FFF2-40B4-BE49-F238E27FC236}">
                  <a16:creationId xmlns:a16="http://schemas.microsoft.com/office/drawing/2014/main" id="{E86050A2-6A72-A71E-79AA-3FD3473250DA}"/>
                </a:ext>
              </a:extLst>
            </p:cNvPr>
            <p:cNvSpPr/>
            <p:nvPr/>
          </p:nvSpPr>
          <p:spPr>
            <a:xfrm>
              <a:off x="2045880" y="1100520"/>
              <a:ext cx="1673913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2D05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609;p184">
              <a:extLst>
                <a:ext uri="{FF2B5EF4-FFF2-40B4-BE49-F238E27FC236}">
                  <a16:creationId xmlns:a16="http://schemas.microsoft.com/office/drawing/2014/main" id="{E2F160F7-C7DE-7300-12C8-C896D1F780F1}"/>
                </a:ext>
              </a:extLst>
            </p:cNvPr>
            <p:cNvSpPr/>
            <p:nvPr/>
          </p:nvSpPr>
          <p:spPr>
            <a:xfrm>
              <a:off x="3389001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Preparation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610;p184">
              <a:extLst>
                <a:ext uri="{FF2B5EF4-FFF2-40B4-BE49-F238E27FC236}">
                  <a16:creationId xmlns:a16="http://schemas.microsoft.com/office/drawing/2014/main" id="{48072664-EB94-DA22-7E69-D065AF52A189}"/>
                </a:ext>
              </a:extLst>
            </p:cNvPr>
            <p:cNvSpPr/>
            <p:nvPr/>
          </p:nvSpPr>
          <p:spPr>
            <a:xfrm>
              <a:off x="4704714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Modeling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611;p184">
              <a:extLst>
                <a:ext uri="{FF2B5EF4-FFF2-40B4-BE49-F238E27FC236}">
                  <a16:creationId xmlns:a16="http://schemas.microsoft.com/office/drawing/2014/main" id="{46173A03-06DD-D15E-7A3E-8F8733BDD43B}"/>
                </a:ext>
              </a:extLst>
            </p:cNvPr>
            <p:cNvSpPr/>
            <p:nvPr/>
          </p:nvSpPr>
          <p:spPr>
            <a:xfrm>
              <a:off x="7325570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612;p184">
              <a:extLst>
                <a:ext uri="{FF2B5EF4-FFF2-40B4-BE49-F238E27FC236}">
                  <a16:creationId xmlns:a16="http://schemas.microsoft.com/office/drawing/2014/main" id="{64C37A74-4673-1781-ECC1-6D4E5C0F6F75}"/>
                </a:ext>
              </a:extLst>
            </p:cNvPr>
            <p:cNvSpPr/>
            <p:nvPr/>
          </p:nvSpPr>
          <p:spPr>
            <a:xfrm>
              <a:off x="6028844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" name="Google Shape;690;p188">
            <a:extLst>
              <a:ext uri="{FF2B5EF4-FFF2-40B4-BE49-F238E27FC236}">
                <a16:creationId xmlns:a16="http://schemas.microsoft.com/office/drawing/2014/main" id="{E6559D14-DC6F-3AF8-9580-FA4028117E17}"/>
              </a:ext>
            </a:extLst>
          </p:cNvPr>
          <p:cNvSpPr/>
          <p:nvPr/>
        </p:nvSpPr>
        <p:spPr>
          <a:xfrm>
            <a:off x="838195" y="2363648"/>
            <a:ext cx="3027161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Model selection</a:t>
            </a:r>
            <a:endParaRPr lang="en-US" sz="2000" b="1" i="0" u="none" strike="noStrike" cap="none" dirty="0"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selected model</a:t>
            </a:r>
            <a:endParaRPr lang="en-US" sz="2000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90;p188">
            <a:extLst>
              <a:ext uri="{FF2B5EF4-FFF2-40B4-BE49-F238E27FC236}">
                <a16:creationId xmlns:a16="http://schemas.microsoft.com/office/drawing/2014/main" id="{7E796805-6455-87DC-202A-AF5EF974E7B6}"/>
              </a:ext>
            </a:extLst>
          </p:cNvPr>
          <p:cNvSpPr/>
          <p:nvPr/>
        </p:nvSpPr>
        <p:spPr>
          <a:xfrm>
            <a:off x="833639" y="3277928"/>
            <a:ext cx="3027161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Model training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trained model</a:t>
            </a:r>
            <a:endParaRPr lang="en-US" sz="2000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3" name="Google Shape;690;p188">
            <a:extLst>
              <a:ext uri="{FF2B5EF4-FFF2-40B4-BE49-F238E27FC236}">
                <a16:creationId xmlns:a16="http://schemas.microsoft.com/office/drawing/2014/main" id="{2D8DE077-0671-E60E-CE65-DA2D505D5F2F}"/>
              </a:ext>
            </a:extLst>
          </p:cNvPr>
          <p:cNvSpPr/>
          <p:nvPr/>
        </p:nvSpPr>
        <p:spPr>
          <a:xfrm>
            <a:off x="833643" y="4198645"/>
            <a:ext cx="3027159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Model testing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metrics evaluation</a:t>
            </a:r>
            <a:endParaRPr lang="en-US" sz="2000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4076F97-509F-8438-03F7-3931F983A571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flipH="1">
            <a:off x="2347220" y="3070080"/>
            <a:ext cx="4556" cy="2078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E40D3D-05B6-00DF-DC23-607B0720D2A7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2347220" y="3984360"/>
            <a:ext cx="3" cy="2142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5651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07881-7B54-6FFD-8D6D-CEE09C220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4F088-623A-471B-3853-9C8FA1457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Science :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r>
              <a:rPr lang="en-US" dirty="0"/>
              <a:t> </a:t>
            </a:r>
          </a:p>
        </p:txBody>
      </p:sp>
      <p:grpSp>
        <p:nvGrpSpPr>
          <p:cNvPr id="4" name="Google Shape;606;p184">
            <a:extLst>
              <a:ext uri="{FF2B5EF4-FFF2-40B4-BE49-F238E27FC236}">
                <a16:creationId xmlns:a16="http://schemas.microsoft.com/office/drawing/2014/main" id="{BDF8DC5E-C814-8541-0222-5E9331B7039F}"/>
              </a:ext>
            </a:extLst>
          </p:cNvPr>
          <p:cNvGrpSpPr/>
          <p:nvPr/>
        </p:nvGrpSpPr>
        <p:grpSpPr>
          <a:xfrm>
            <a:off x="838200" y="1435800"/>
            <a:ext cx="8883040" cy="720000"/>
            <a:chOff x="677520" y="1100520"/>
            <a:chExt cx="8303330" cy="720000"/>
          </a:xfrm>
        </p:grpSpPr>
        <p:sp>
          <p:nvSpPr>
            <p:cNvPr id="5" name="Google Shape;607;p184">
              <a:extLst>
                <a:ext uri="{FF2B5EF4-FFF2-40B4-BE49-F238E27FC236}">
                  <a16:creationId xmlns:a16="http://schemas.microsoft.com/office/drawing/2014/main" id="{D8BEBE47-AA76-886C-41F8-AEA368807ED4}"/>
                </a:ext>
              </a:extLst>
            </p:cNvPr>
            <p:cNvSpPr/>
            <p:nvPr/>
          </p:nvSpPr>
          <p:spPr>
            <a:xfrm>
              <a:off x="677520" y="1100520"/>
              <a:ext cx="1726560" cy="718560"/>
            </a:xfrm>
            <a:custGeom>
              <a:avLst/>
              <a:gdLst/>
              <a:ahLst/>
              <a:cxnLst/>
              <a:rect l="l" t="t" r="r" b="b"/>
              <a:pathLst>
                <a:path w="4800" h="2000" extrusionOk="0">
                  <a:moveTo>
                    <a:pt x="0" y="0"/>
                  </a:moveTo>
                  <a:lnTo>
                    <a:pt x="3599" y="0"/>
                  </a:lnTo>
                  <a:lnTo>
                    <a:pt x="4799" y="999"/>
                  </a:lnTo>
                  <a:lnTo>
                    <a:pt x="3599" y="1999"/>
                  </a:lnTo>
                  <a:lnTo>
                    <a:pt x="0" y="1999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Business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608;p184">
              <a:extLst>
                <a:ext uri="{FF2B5EF4-FFF2-40B4-BE49-F238E27FC236}">
                  <a16:creationId xmlns:a16="http://schemas.microsoft.com/office/drawing/2014/main" id="{5E61A70B-298F-BD20-432E-9A63E41A239F}"/>
                </a:ext>
              </a:extLst>
            </p:cNvPr>
            <p:cNvSpPr/>
            <p:nvPr/>
          </p:nvSpPr>
          <p:spPr>
            <a:xfrm>
              <a:off x="2045880" y="1100520"/>
              <a:ext cx="1673913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2D05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609;p184">
              <a:extLst>
                <a:ext uri="{FF2B5EF4-FFF2-40B4-BE49-F238E27FC236}">
                  <a16:creationId xmlns:a16="http://schemas.microsoft.com/office/drawing/2014/main" id="{BB92243A-B9D9-F5B2-1F99-3373CC277E3B}"/>
                </a:ext>
              </a:extLst>
            </p:cNvPr>
            <p:cNvSpPr/>
            <p:nvPr/>
          </p:nvSpPr>
          <p:spPr>
            <a:xfrm>
              <a:off x="3389001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Preparation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610;p184">
              <a:extLst>
                <a:ext uri="{FF2B5EF4-FFF2-40B4-BE49-F238E27FC236}">
                  <a16:creationId xmlns:a16="http://schemas.microsoft.com/office/drawing/2014/main" id="{C8310CED-D431-FA88-99A8-342E1CD55E67}"/>
                </a:ext>
              </a:extLst>
            </p:cNvPr>
            <p:cNvSpPr/>
            <p:nvPr/>
          </p:nvSpPr>
          <p:spPr>
            <a:xfrm>
              <a:off x="4704714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Modeling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611;p184">
              <a:extLst>
                <a:ext uri="{FF2B5EF4-FFF2-40B4-BE49-F238E27FC236}">
                  <a16:creationId xmlns:a16="http://schemas.microsoft.com/office/drawing/2014/main" id="{3D6B5D20-32EF-2C5A-05B4-26B444ADC422}"/>
                </a:ext>
              </a:extLst>
            </p:cNvPr>
            <p:cNvSpPr/>
            <p:nvPr/>
          </p:nvSpPr>
          <p:spPr>
            <a:xfrm>
              <a:off x="7325570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612;p184">
              <a:extLst>
                <a:ext uri="{FF2B5EF4-FFF2-40B4-BE49-F238E27FC236}">
                  <a16:creationId xmlns:a16="http://schemas.microsoft.com/office/drawing/2014/main" id="{BEA468E3-E0F2-3118-9EAA-2E3D69E9A197}"/>
                </a:ext>
              </a:extLst>
            </p:cNvPr>
            <p:cNvSpPr/>
            <p:nvPr/>
          </p:nvSpPr>
          <p:spPr>
            <a:xfrm>
              <a:off x="6028844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" name="Google Shape;690;p188">
            <a:extLst>
              <a:ext uri="{FF2B5EF4-FFF2-40B4-BE49-F238E27FC236}">
                <a16:creationId xmlns:a16="http://schemas.microsoft.com/office/drawing/2014/main" id="{552BD912-FDAF-BD2F-4E9A-3FB7226C7C25}"/>
              </a:ext>
            </a:extLst>
          </p:cNvPr>
          <p:cNvSpPr/>
          <p:nvPr/>
        </p:nvSpPr>
        <p:spPr>
          <a:xfrm>
            <a:off x="838195" y="2363648"/>
            <a:ext cx="3027161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Model selection</a:t>
            </a:r>
            <a:endParaRPr lang="en-US" sz="2000" b="1" i="0" u="none" strike="noStrike" cap="none" dirty="0"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selected model</a:t>
            </a:r>
            <a:endParaRPr lang="en-US" sz="2000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90;p188">
            <a:extLst>
              <a:ext uri="{FF2B5EF4-FFF2-40B4-BE49-F238E27FC236}">
                <a16:creationId xmlns:a16="http://schemas.microsoft.com/office/drawing/2014/main" id="{02C5FF63-3B8A-E920-4F2A-A7C165B6FC0F}"/>
              </a:ext>
            </a:extLst>
          </p:cNvPr>
          <p:cNvSpPr/>
          <p:nvPr/>
        </p:nvSpPr>
        <p:spPr>
          <a:xfrm>
            <a:off x="833639" y="3277928"/>
            <a:ext cx="3027161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Model training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Goal: trained model</a:t>
            </a:r>
          </a:p>
        </p:txBody>
      </p:sp>
      <p:sp>
        <p:nvSpPr>
          <p:cNvPr id="13" name="Google Shape;690;p188">
            <a:extLst>
              <a:ext uri="{FF2B5EF4-FFF2-40B4-BE49-F238E27FC236}">
                <a16:creationId xmlns:a16="http://schemas.microsoft.com/office/drawing/2014/main" id="{73A5D33F-1B13-F586-425D-4990B27EE187}"/>
              </a:ext>
            </a:extLst>
          </p:cNvPr>
          <p:cNvSpPr/>
          <p:nvPr/>
        </p:nvSpPr>
        <p:spPr>
          <a:xfrm>
            <a:off x="833643" y="4198645"/>
            <a:ext cx="3027159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Model testing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Goal: metrics evaluation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1CC99E-6CB9-55A7-CE0A-BB2161A8113B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flipH="1">
            <a:off x="2347220" y="3070080"/>
            <a:ext cx="4556" cy="2078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583A44-BD43-4E51-5FFB-F25776E46169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2347220" y="3984360"/>
            <a:ext cx="3" cy="2142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oogle Shape;690;p188">
            <a:extLst>
              <a:ext uri="{FF2B5EF4-FFF2-40B4-BE49-F238E27FC236}">
                <a16:creationId xmlns:a16="http://schemas.microsoft.com/office/drawing/2014/main" id="{73CB905D-B5DF-0D1A-8EA9-682E16786C90}"/>
              </a:ext>
            </a:extLst>
          </p:cNvPr>
          <p:cNvSpPr/>
          <p:nvPr/>
        </p:nvSpPr>
        <p:spPr>
          <a:xfrm>
            <a:off x="4923233" y="2349856"/>
            <a:ext cx="3027161" cy="7064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ML? DL? Transformers? Which architecture?</a:t>
            </a:r>
            <a:endParaRPr lang="en-US" sz="2000" dirty="0">
              <a:solidFill>
                <a:srgbClr val="000000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E6BB1A-218D-44E5-D0A3-597710C2DF08}"/>
              </a:ext>
            </a:extLst>
          </p:cNvPr>
          <p:cNvSpPr txBox="1"/>
          <p:nvPr/>
        </p:nvSpPr>
        <p:spPr>
          <a:xfrm>
            <a:off x="8171108" y="2313657"/>
            <a:ext cx="32918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3363" lvl="2" indent="-168275"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k-Nearest Neighbor (k-NN)</a:t>
            </a:r>
          </a:p>
          <a:p>
            <a:pPr marL="233363" lvl="2" indent="-168275"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Naïve Bayes</a:t>
            </a:r>
          </a:p>
          <a:p>
            <a:pPr marL="233363" lvl="2" indent="-168275"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Regression Techniques</a:t>
            </a:r>
          </a:p>
          <a:p>
            <a:pPr marL="233363" lvl="2" indent="-168275"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Vector Machines (SVMs)</a:t>
            </a:r>
          </a:p>
          <a:p>
            <a:pPr marL="233363" lvl="2" indent="-168275"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Trees</a:t>
            </a:r>
          </a:p>
          <a:p>
            <a:pPr marL="233363" lvl="2" indent="-168275"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Forests</a:t>
            </a:r>
          </a:p>
          <a:p>
            <a:pPr marL="233363" lvl="2" indent="-168275"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Learning Algorithms</a:t>
            </a:r>
          </a:p>
          <a:p>
            <a:pPr marL="233363" marR="0" lvl="2" indent="-168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k-Nearest Neighbor (k-NN)</a:t>
            </a:r>
          </a:p>
          <a:p>
            <a:pPr marL="233363" marR="0" lvl="2" indent="-168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Naïve Bayes</a:t>
            </a:r>
          </a:p>
          <a:p>
            <a:pPr marL="233363" marR="0" lvl="2" indent="-168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Regression Techniques</a:t>
            </a:r>
          </a:p>
          <a:p>
            <a:pPr marL="233363" marR="0" lvl="2" indent="-168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Vector Machines (SVMs)</a:t>
            </a:r>
          </a:p>
          <a:p>
            <a:pPr marL="233363" marR="0" lvl="2" indent="-168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Trees</a:t>
            </a:r>
          </a:p>
          <a:p>
            <a:pPr marL="233363" marR="0" lvl="2" indent="-168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Forests</a:t>
            </a:r>
          </a:p>
          <a:p>
            <a:pPr marL="233363" marR="0" lvl="2" indent="-168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Learning Algorithms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988E5CF5-D4BD-14AE-A744-F609D73224CC}"/>
              </a:ext>
            </a:extLst>
          </p:cNvPr>
          <p:cNvSpPr/>
          <p:nvPr/>
        </p:nvSpPr>
        <p:spPr>
          <a:xfrm>
            <a:off x="4270331" y="2478672"/>
            <a:ext cx="353886" cy="4488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164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202DD-A960-4367-9F2B-1ACC7F0E1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8C50D-4ED5-3D68-5609-64B9E37D8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Science :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r>
              <a:rPr lang="en-US" dirty="0"/>
              <a:t> </a:t>
            </a:r>
          </a:p>
        </p:txBody>
      </p:sp>
      <p:grpSp>
        <p:nvGrpSpPr>
          <p:cNvPr id="4" name="Google Shape;606;p184">
            <a:extLst>
              <a:ext uri="{FF2B5EF4-FFF2-40B4-BE49-F238E27FC236}">
                <a16:creationId xmlns:a16="http://schemas.microsoft.com/office/drawing/2014/main" id="{E6EB1A65-3319-DB9E-FC3B-A7F7220265C2}"/>
              </a:ext>
            </a:extLst>
          </p:cNvPr>
          <p:cNvGrpSpPr/>
          <p:nvPr/>
        </p:nvGrpSpPr>
        <p:grpSpPr>
          <a:xfrm>
            <a:off x="838200" y="1435800"/>
            <a:ext cx="8883040" cy="720000"/>
            <a:chOff x="677520" y="1100520"/>
            <a:chExt cx="8303330" cy="720000"/>
          </a:xfrm>
        </p:grpSpPr>
        <p:sp>
          <p:nvSpPr>
            <p:cNvPr id="5" name="Google Shape;607;p184">
              <a:extLst>
                <a:ext uri="{FF2B5EF4-FFF2-40B4-BE49-F238E27FC236}">
                  <a16:creationId xmlns:a16="http://schemas.microsoft.com/office/drawing/2014/main" id="{1D139846-A0FC-EE01-508A-7427273AEE0E}"/>
                </a:ext>
              </a:extLst>
            </p:cNvPr>
            <p:cNvSpPr/>
            <p:nvPr/>
          </p:nvSpPr>
          <p:spPr>
            <a:xfrm>
              <a:off x="677520" y="1100520"/>
              <a:ext cx="1726560" cy="718560"/>
            </a:xfrm>
            <a:custGeom>
              <a:avLst/>
              <a:gdLst/>
              <a:ahLst/>
              <a:cxnLst/>
              <a:rect l="l" t="t" r="r" b="b"/>
              <a:pathLst>
                <a:path w="4800" h="2000" extrusionOk="0">
                  <a:moveTo>
                    <a:pt x="0" y="0"/>
                  </a:moveTo>
                  <a:lnTo>
                    <a:pt x="3599" y="0"/>
                  </a:lnTo>
                  <a:lnTo>
                    <a:pt x="4799" y="999"/>
                  </a:lnTo>
                  <a:lnTo>
                    <a:pt x="3599" y="1999"/>
                  </a:lnTo>
                  <a:lnTo>
                    <a:pt x="0" y="1999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Business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608;p184">
              <a:extLst>
                <a:ext uri="{FF2B5EF4-FFF2-40B4-BE49-F238E27FC236}">
                  <a16:creationId xmlns:a16="http://schemas.microsoft.com/office/drawing/2014/main" id="{939CE55D-FB7A-956F-80DB-703F10F8710C}"/>
                </a:ext>
              </a:extLst>
            </p:cNvPr>
            <p:cNvSpPr/>
            <p:nvPr/>
          </p:nvSpPr>
          <p:spPr>
            <a:xfrm>
              <a:off x="2045880" y="1100520"/>
              <a:ext cx="1673913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2D05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609;p184">
              <a:extLst>
                <a:ext uri="{FF2B5EF4-FFF2-40B4-BE49-F238E27FC236}">
                  <a16:creationId xmlns:a16="http://schemas.microsoft.com/office/drawing/2014/main" id="{6D9650FC-BB10-1DE4-A144-4A8070FDEABB}"/>
                </a:ext>
              </a:extLst>
            </p:cNvPr>
            <p:cNvSpPr/>
            <p:nvPr/>
          </p:nvSpPr>
          <p:spPr>
            <a:xfrm>
              <a:off x="3389001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Preparation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610;p184">
              <a:extLst>
                <a:ext uri="{FF2B5EF4-FFF2-40B4-BE49-F238E27FC236}">
                  <a16:creationId xmlns:a16="http://schemas.microsoft.com/office/drawing/2014/main" id="{510E064F-1F2D-16F0-8504-6D6F3FF64439}"/>
                </a:ext>
              </a:extLst>
            </p:cNvPr>
            <p:cNvSpPr/>
            <p:nvPr/>
          </p:nvSpPr>
          <p:spPr>
            <a:xfrm>
              <a:off x="4704714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Modeling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611;p184">
              <a:extLst>
                <a:ext uri="{FF2B5EF4-FFF2-40B4-BE49-F238E27FC236}">
                  <a16:creationId xmlns:a16="http://schemas.microsoft.com/office/drawing/2014/main" id="{2F63A72E-01BA-1BDF-B846-41624FEF601C}"/>
                </a:ext>
              </a:extLst>
            </p:cNvPr>
            <p:cNvSpPr/>
            <p:nvPr/>
          </p:nvSpPr>
          <p:spPr>
            <a:xfrm>
              <a:off x="7325570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612;p184">
              <a:extLst>
                <a:ext uri="{FF2B5EF4-FFF2-40B4-BE49-F238E27FC236}">
                  <a16:creationId xmlns:a16="http://schemas.microsoft.com/office/drawing/2014/main" id="{275D631F-F431-7E06-A064-B9DC5A0F5307}"/>
                </a:ext>
              </a:extLst>
            </p:cNvPr>
            <p:cNvSpPr/>
            <p:nvPr/>
          </p:nvSpPr>
          <p:spPr>
            <a:xfrm>
              <a:off x="6028844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" name="Google Shape;690;p188">
            <a:extLst>
              <a:ext uri="{FF2B5EF4-FFF2-40B4-BE49-F238E27FC236}">
                <a16:creationId xmlns:a16="http://schemas.microsoft.com/office/drawing/2014/main" id="{071D2E8C-43EB-396E-BEDD-26B53415C2DA}"/>
              </a:ext>
            </a:extLst>
          </p:cNvPr>
          <p:cNvSpPr/>
          <p:nvPr/>
        </p:nvSpPr>
        <p:spPr>
          <a:xfrm>
            <a:off x="838195" y="2363648"/>
            <a:ext cx="3027161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Model selection</a:t>
            </a:r>
            <a:endParaRPr lang="en-US" sz="2000" b="1" i="0" u="none" strike="noStrike" cap="none" dirty="0">
              <a:solidFill>
                <a:schemeClr val="bg1">
                  <a:lumMod val="75000"/>
                </a:schemeClr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Goal: selected model</a:t>
            </a:r>
          </a:p>
        </p:txBody>
      </p:sp>
      <p:sp>
        <p:nvSpPr>
          <p:cNvPr id="11" name="Google Shape;690;p188">
            <a:extLst>
              <a:ext uri="{FF2B5EF4-FFF2-40B4-BE49-F238E27FC236}">
                <a16:creationId xmlns:a16="http://schemas.microsoft.com/office/drawing/2014/main" id="{1A65F63B-2BFF-DA95-4E6A-70C0022EC225}"/>
              </a:ext>
            </a:extLst>
          </p:cNvPr>
          <p:cNvSpPr/>
          <p:nvPr/>
        </p:nvSpPr>
        <p:spPr>
          <a:xfrm>
            <a:off x="833639" y="3277928"/>
            <a:ext cx="3027161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Model training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trained model</a:t>
            </a:r>
          </a:p>
        </p:txBody>
      </p:sp>
      <p:sp>
        <p:nvSpPr>
          <p:cNvPr id="13" name="Google Shape;690;p188">
            <a:extLst>
              <a:ext uri="{FF2B5EF4-FFF2-40B4-BE49-F238E27FC236}">
                <a16:creationId xmlns:a16="http://schemas.microsoft.com/office/drawing/2014/main" id="{D3B791CC-ACF0-3633-5009-27EEA6E02D2D}"/>
              </a:ext>
            </a:extLst>
          </p:cNvPr>
          <p:cNvSpPr/>
          <p:nvPr/>
        </p:nvSpPr>
        <p:spPr>
          <a:xfrm>
            <a:off x="833643" y="4198645"/>
            <a:ext cx="3027159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Model testing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Goal: metrics evaluation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F36714-5284-5040-12E8-D5C57C85313C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flipH="1">
            <a:off x="2347220" y="3070080"/>
            <a:ext cx="4556" cy="2078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94ED88E-D8A2-EC2E-7C23-8CAC29D92E0F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2347220" y="3984360"/>
            <a:ext cx="3" cy="2142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oogle Shape;690;p188">
            <a:extLst>
              <a:ext uri="{FF2B5EF4-FFF2-40B4-BE49-F238E27FC236}">
                <a16:creationId xmlns:a16="http://schemas.microsoft.com/office/drawing/2014/main" id="{D294E516-5F80-8FF7-A9A7-A011EECD5724}"/>
              </a:ext>
            </a:extLst>
          </p:cNvPr>
          <p:cNvSpPr/>
          <p:nvPr/>
        </p:nvSpPr>
        <p:spPr>
          <a:xfrm>
            <a:off x="4613573" y="3124039"/>
            <a:ext cx="3027161" cy="1014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Hyperparameters?</a:t>
            </a:r>
          </a:p>
          <a:p>
            <a:pPr lvl="0"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Experiment design?</a:t>
            </a:r>
          </a:p>
          <a:p>
            <a:pPr lvl="0"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Data split?</a:t>
            </a:r>
          </a:p>
        </p:txBody>
      </p:sp>
      <p:pic>
        <p:nvPicPr>
          <p:cNvPr id="15" name="Google Shape;931;p209">
            <a:extLst>
              <a:ext uri="{FF2B5EF4-FFF2-40B4-BE49-F238E27FC236}">
                <a16:creationId xmlns:a16="http://schemas.microsoft.com/office/drawing/2014/main" id="{9BB777C9-7F65-C42A-DFBF-3CF1EA0CD16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89661" y="4119295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932;p209">
            <a:extLst>
              <a:ext uri="{FF2B5EF4-FFF2-40B4-BE49-F238E27FC236}">
                <a16:creationId xmlns:a16="http://schemas.microsoft.com/office/drawing/2014/main" id="{F6A85754-9DC1-A53A-B7D4-817FE71A8C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3967" y="2231208"/>
            <a:ext cx="1554480" cy="155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933;p209">
            <a:extLst>
              <a:ext uri="{FF2B5EF4-FFF2-40B4-BE49-F238E27FC236}">
                <a16:creationId xmlns:a16="http://schemas.microsoft.com/office/drawing/2014/main" id="{25A35BB7-A776-4FB6-6DC3-D8F43D861C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45602" y="2217080"/>
            <a:ext cx="155448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934;p209">
            <a:extLst>
              <a:ext uri="{FF2B5EF4-FFF2-40B4-BE49-F238E27FC236}">
                <a16:creationId xmlns:a16="http://schemas.microsoft.com/office/drawing/2014/main" id="{26AB28FB-AC99-4F6F-960A-39A6BA7A456E}"/>
              </a:ext>
            </a:extLst>
          </p:cNvPr>
          <p:cNvSpPr/>
          <p:nvPr/>
        </p:nvSpPr>
        <p:spPr>
          <a:xfrm>
            <a:off x="8128047" y="3816175"/>
            <a:ext cx="1957320" cy="3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Factor at A Time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935;p209">
            <a:extLst>
              <a:ext uri="{FF2B5EF4-FFF2-40B4-BE49-F238E27FC236}">
                <a16:creationId xmlns:a16="http://schemas.microsoft.com/office/drawing/2014/main" id="{07C8F25C-BDB4-DFD7-F989-A6135692ED9D}"/>
              </a:ext>
            </a:extLst>
          </p:cNvPr>
          <p:cNvSpPr/>
          <p:nvPr/>
        </p:nvSpPr>
        <p:spPr>
          <a:xfrm>
            <a:off x="10226682" y="3816175"/>
            <a:ext cx="1192320" cy="3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 Search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936;p209">
            <a:extLst>
              <a:ext uri="{FF2B5EF4-FFF2-40B4-BE49-F238E27FC236}">
                <a16:creationId xmlns:a16="http://schemas.microsoft.com/office/drawing/2014/main" id="{A76C4A9F-AA72-2FEF-6AC8-317E2B253E29}"/>
              </a:ext>
            </a:extLst>
          </p:cNvPr>
          <p:cNvSpPr/>
          <p:nvPr/>
        </p:nvSpPr>
        <p:spPr>
          <a:xfrm>
            <a:off x="9179550" y="5796535"/>
            <a:ext cx="1160280" cy="3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Guess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917;p208">
            <a:extLst>
              <a:ext uri="{FF2B5EF4-FFF2-40B4-BE49-F238E27FC236}">
                <a16:creationId xmlns:a16="http://schemas.microsoft.com/office/drawing/2014/main" id="{003ADEE1-C128-2ED1-6A74-19CD8FD33DBD}"/>
              </a:ext>
            </a:extLst>
          </p:cNvPr>
          <p:cNvSpPr/>
          <p:nvPr/>
        </p:nvSpPr>
        <p:spPr>
          <a:xfrm>
            <a:off x="5324895" y="4913034"/>
            <a:ext cx="2103649" cy="732960"/>
          </a:xfrm>
          <a:prstGeom prst="cube">
            <a:avLst>
              <a:gd name="adj" fmla="val 25000"/>
            </a:avLst>
          </a:prstGeom>
          <a:solidFill>
            <a:srgbClr val="4285F4"/>
          </a:solidFill>
          <a:ln w="12700" cap="flat" cmpd="sng">
            <a:solidFill>
              <a:srgbClr val="306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Training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917;p208">
            <a:extLst>
              <a:ext uri="{FF2B5EF4-FFF2-40B4-BE49-F238E27FC236}">
                <a16:creationId xmlns:a16="http://schemas.microsoft.com/office/drawing/2014/main" id="{46619815-42EA-47BB-A585-DE044528AF50}"/>
              </a:ext>
            </a:extLst>
          </p:cNvPr>
          <p:cNvSpPr/>
          <p:nvPr/>
        </p:nvSpPr>
        <p:spPr>
          <a:xfrm>
            <a:off x="7283361" y="4913034"/>
            <a:ext cx="1030606" cy="732960"/>
          </a:xfrm>
          <a:prstGeom prst="cube">
            <a:avLst>
              <a:gd name="adj" fmla="val 25000"/>
            </a:avLst>
          </a:prstGeom>
          <a:solidFill>
            <a:srgbClr val="4285F4"/>
          </a:solidFill>
          <a:ln w="12700" cap="flat" cmpd="sng">
            <a:solidFill>
              <a:srgbClr val="306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Testing data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13D868DB-69B2-971E-87BD-FD2A29247967}"/>
              </a:ext>
            </a:extLst>
          </p:cNvPr>
          <p:cNvSpPr/>
          <p:nvPr/>
        </p:nvSpPr>
        <p:spPr>
          <a:xfrm>
            <a:off x="4066435" y="3429000"/>
            <a:ext cx="353886" cy="4488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305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B41AB-58BD-47BD-129B-48A23B6D5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AACD2-6DCB-A2C9-AABD-EE121142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Science :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r>
              <a:rPr lang="en-US" dirty="0"/>
              <a:t> </a:t>
            </a:r>
          </a:p>
        </p:txBody>
      </p:sp>
      <p:grpSp>
        <p:nvGrpSpPr>
          <p:cNvPr id="4" name="Google Shape;606;p184">
            <a:extLst>
              <a:ext uri="{FF2B5EF4-FFF2-40B4-BE49-F238E27FC236}">
                <a16:creationId xmlns:a16="http://schemas.microsoft.com/office/drawing/2014/main" id="{15AC88B9-FF85-A582-267A-F45702C4AFF6}"/>
              </a:ext>
            </a:extLst>
          </p:cNvPr>
          <p:cNvGrpSpPr/>
          <p:nvPr/>
        </p:nvGrpSpPr>
        <p:grpSpPr>
          <a:xfrm>
            <a:off x="838200" y="1435800"/>
            <a:ext cx="8883040" cy="720000"/>
            <a:chOff x="677520" y="1100520"/>
            <a:chExt cx="8303330" cy="720000"/>
          </a:xfrm>
        </p:grpSpPr>
        <p:sp>
          <p:nvSpPr>
            <p:cNvPr id="5" name="Google Shape;607;p184">
              <a:extLst>
                <a:ext uri="{FF2B5EF4-FFF2-40B4-BE49-F238E27FC236}">
                  <a16:creationId xmlns:a16="http://schemas.microsoft.com/office/drawing/2014/main" id="{55040A3B-17A7-43C6-C74A-5A04E6F16188}"/>
                </a:ext>
              </a:extLst>
            </p:cNvPr>
            <p:cNvSpPr/>
            <p:nvPr/>
          </p:nvSpPr>
          <p:spPr>
            <a:xfrm>
              <a:off x="677520" y="1100520"/>
              <a:ext cx="1726560" cy="718560"/>
            </a:xfrm>
            <a:custGeom>
              <a:avLst/>
              <a:gdLst/>
              <a:ahLst/>
              <a:cxnLst/>
              <a:rect l="l" t="t" r="r" b="b"/>
              <a:pathLst>
                <a:path w="4800" h="2000" extrusionOk="0">
                  <a:moveTo>
                    <a:pt x="0" y="0"/>
                  </a:moveTo>
                  <a:lnTo>
                    <a:pt x="3599" y="0"/>
                  </a:lnTo>
                  <a:lnTo>
                    <a:pt x="4799" y="999"/>
                  </a:lnTo>
                  <a:lnTo>
                    <a:pt x="3599" y="1999"/>
                  </a:lnTo>
                  <a:lnTo>
                    <a:pt x="0" y="1999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Business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608;p184">
              <a:extLst>
                <a:ext uri="{FF2B5EF4-FFF2-40B4-BE49-F238E27FC236}">
                  <a16:creationId xmlns:a16="http://schemas.microsoft.com/office/drawing/2014/main" id="{C6457C36-2142-EC73-6F86-98445255AC41}"/>
                </a:ext>
              </a:extLst>
            </p:cNvPr>
            <p:cNvSpPr/>
            <p:nvPr/>
          </p:nvSpPr>
          <p:spPr>
            <a:xfrm>
              <a:off x="2045880" y="1100520"/>
              <a:ext cx="1673913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2D05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609;p184">
              <a:extLst>
                <a:ext uri="{FF2B5EF4-FFF2-40B4-BE49-F238E27FC236}">
                  <a16:creationId xmlns:a16="http://schemas.microsoft.com/office/drawing/2014/main" id="{283524EC-7553-4519-372C-8EE0CE9BC98C}"/>
                </a:ext>
              </a:extLst>
            </p:cNvPr>
            <p:cNvSpPr/>
            <p:nvPr/>
          </p:nvSpPr>
          <p:spPr>
            <a:xfrm>
              <a:off x="3389001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Preparation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610;p184">
              <a:extLst>
                <a:ext uri="{FF2B5EF4-FFF2-40B4-BE49-F238E27FC236}">
                  <a16:creationId xmlns:a16="http://schemas.microsoft.com/office/drawing/2014/main" id="{EC29983A-8733-CCCE-8508-29797A1FF8BC}"/>
                </a:ext>
              </a:extLst>
            </p:cNvPr>
            <p:cNvSpPr/>
            <p:nvPr/>
          </p:nvSpPr>
          <p:spPr>
            <a:xfrm>
              <a:off x="4704714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Modeling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611;p184">
              <a:extLst>
                <a:ext uri="{FF2B5EF4-FFF2-40B4-BE49-F238E27FC236}">
                  <a16:creationId xmlns:a16="http://schemas.microsoft.com/office/drawing/2014/main" id="{E2DAC7EA-BED3-21A8-7DAB-168CBB51D01D}"/>
                </a:ext>
              </a:extLst>
            </p:cNvPr>
            <p:cNvSpPr/>
            <p:nvPr/>
          </p:nvSpPr>
          <p:spPr>
            <a:xfrm>
              <a:off x="7325570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612;p184">
              <a:extLst>
                <a:ext uri="{FF2B5EF4-FFF2-40B4-BE49-F238E27FC236}">
                  <a16:creationId xmlns:a16="http://schemas.microsoft.com/office/drawing/2014/main" id="{B941762E-24A4-FA34-38CA-C6CB7CF2C7CC}"/>
                </a:ext>
              </a:extLst>
            </p:cNvPr>
            <p:cNvSpPr/>
            <p:nvPr/>
          </p:nvSpPr>
          <p:spPr>
            <a:xfrm>
              <a:off x="6028844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" name="Google Shape;690;p188">
            <a:extLst>
              <a:ext uri="{FF2B5EF4-FFF2-40B4-BE49-F238E27FC236}">
                <a16:creationId xmlns:a16="http://schemas.microsoft.com/office/drawing/2014/main" id="{FEE4637B-F281-AC75-918B-6C2187A24B5E}"/>
              </a:ext>
            </a:extLst>
          </p:cNvPr>
          <p:cNvSpPr/>
          <p:nvPr/>
        </p:nvSpPr>
        <p:spPr>
          <a:xfrm>
            <a:off x="838195" y="2363648"/>
            <a:ext cx="3027161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Model selection</a:t>
            </a:r>
            <a:endParaRPr lang="en-US" sz="2000" b="1" i="0" u="none" strike="noStrike" cap="none" dirty="0">
              <a:solidFill>
                <a:schemeClr val="bg1">
                  <a:lumMod val="75000"/>
                </a:schemeClr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Goal: selected model</a:t>
            </a:r>
          </a:p>
        </p:txBody>
      </p:sp>
      <p:sp>
        <p:nvSpPr>
          <p:cNvPr id="11" name="Google Shape;690;p188">
            <a:extLst>
              <a:ext uri="{FF2B5EF4-FFF2-40B4-BE49-F238E27FC236}">
                <a16:creationId xmlns:a16="http://schemas.microsoft.com/office/drawing/2014/main" id="{82C18E9E-0B1F-58DC-F0C5-3DD2D061DE10}"/>
              </a:ext>
            </a:extLst>
          </p:cNvPr>
          <p:cNvSpPr/>
          <p:nvPr/>
        </p:nvSpPr>
        <p:spPr>
          <a:xfrm>
            <a:off x="833639" y="3277928"/>
            <a:ext cx="3027161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Model training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solidFill>
                  <a:schemeClr val="bg1">
                    <a:lumMod val="75000"/>
                  </a:schemeClr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Goal: trained model</a:t>
            </a:r>
          </a:p>
        </p:txBody>
      </p:sp>
      <p:sp>
        <p:nvSpPr>
          <p:cNvPr id="13" name="Google Shape;690;p188">
            <a:extLst>
              <a:ext uri="{FF2B5EF4-FFF2-40B4-BE49-F238E27FC236}">
                <a16:creationId xmlns:a16="http://schemas.microsoft.com/office/drawing/2014/main" id="{BDDA6ABB-F3B0-FAB4-AFA3-03FEFC308E44}"/>
              </a:ext>
            </a:extLst>
          </p:cNvPr>
          <p:cNvSpPr/>
          <p:nvPr/>
        </p:nvSpPr>
        <p:spPr>
          <a:xfrm>
            <a:off x="833643" y="4198645"/>
            <a:ext cx="3027159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Model testing</a:t>
            </a:r>
          </a:p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metrics evaluation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5C0F1E-95BE-E4B6-728B-A1DDC85BB49F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flipH="1">
            <a:off x="2347220" y="3070080"/>
            <a:ext cx="4556" cy="2078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F638DF-8463-CFB0-EFAA-30A5BDEDA438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2347220" y="3984360"/>
            <a:ext cx="3" cy="2142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oogle Shape;690;p188">
            <a:extLst>
              <a:ext uri="{FF2B5EF4-FFF2-40B4-BE49-F238E27FC236}">
                <a16:creationId xmlns:a16="http://schemas.microsoft.com/office/drawing/2014/main" id="{F98298D9-3E4A-4EDD-7434-814CD67FB226}"/>
              </a:ext>
            </a:extLst>
          </p:cNvPr>
          <p:cNvSpPr/>
          <p:nvPr/>
        </p:nvSpPr>
        <p:spPr>
          <a:xfrm>
            <a:off x="3693461" y="5205836"/>
            <a:ext cx="4502343" cy="1014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Is it good enough?</a:t>
            </a:r>
          </a:p>
          <a:p>
            <a:pPr lvl="0"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Need to change the model/architecture/hyperparameters?</a:t>
            </a:r>
          </a:p>
        </p:txBody>
      </p:sp>
      <p:sp>
        <p:nvSpPr>
          <p:cNvPr id="17" name="Google Shape;969;p212">
            <a:extLst>
              <a:ext uri="{FF2B5EF4-FFF2-40B4-BE49-F238E27FC236}">
                <a16:creationId xmlns:a16="http://schemas.microsoft.com/office/drawing/2014/main" id="{0FB1E32B-19E6-D597-476A-BA6CF17D229C}"/>
              </a:ext>
            </a:extLst>
          </p:cNvPr>
          <p:cNvSpPr/>
          <p:nvPr/>
        </p:nvSpPr>
        <p:spPr>
          <a:xfrm>
            <a:off x="4143674" y="3344311"/>
            <a:ext cx="981720" cy="732960"/>
          </a:xfrm>
          <a:prstGeom prst="cube">
            <a:avLst>
              <a:gd name="adj" fmla="val 25000"/>
            </a:avLst>
          </a:prstGeom>
          <a:solidFill>
            <a:srgbClr val="4285F4"/>
          </a:solidFill>
          <a:ln w="12700" cap="flat" cmpd="sng">
            <a:solidFill>
              <a:srgbClr val="3062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Testing data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970;p212">
            <a:extLst>
              <a:ext uri="{FF2B5EF4-FFF2-40B4-BE49-F238E27FC236}">
                <a16:creationId xmlns:a16="http://schemas.microsoft.com/office/drawing/2014/main" id="{0D3BA143-D2EB-2B20-D6F1-0D86DD018824}"/>
              </a:ext>
            </a:extLst>
          </p:cNvPr>
          <p:cNvSpPr/>
          <p:nvPr/>
        </p:nvSpPr>
        <p:spPr>
          <a:xfrm>
            <a:off x="5171974" y="3711151"/>
            <a:ext cx="408240" cy="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sp>
      <p:pic>
        <p:nvPicPr>
          <p:cNvPr id="26" name="Google Shape;971;p212">
            <a:extLst>
              <a:ext uri="{FF2B5EF4-FFF2-40B4-BE49-F238E27FC236}">
                <a16:creationId xmlns:a16="http://schemas.microsoft.com/office/drawing/2014/main" id="{7ADF4932-37B7-0C18-9344-4AF00232A66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3914" y="3187351"/>
            <a:ext cx="1047600" cy="10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972;p212">
            <a:extLst>
              <a:ext uri="{FF2B5EF4-FFF2-40B4-BE49-F238E27FC236}">
                <a16:creationId xmlns:a16="http://schemas.microsoft.com/office/drawing/2014/main" id="{F940037F-46ED-5857-B282-94B1D09F1AFF}"/>
              </a:ext>
            </a:extLst>
          </p:cNvPr>
          <p:cNvSpPr/>
          <p:nvPr/>
        </p:nvSpPr>
        <p:spPr>
          <a:xfrm>
            <a:off x="5784754" y="3540871"/>
            <a:ext cx="829080" cy="303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973;p212">
            <a:extLst>
              <a:ext uri="{FF2B5EF4-FFF2-40B4-BE49-F238E27FC236}">
                <a16:creationId xmlns:a16="http://schemas.microsoft.com/office/drawing/2014/main" id="{8490B550-20E8-CACB-7FD0-687866D5E698}"/>
              </a:ext>
            </a:extLst>
          </p:cNvPr>
          <p:cNvSpPr/>
          <p:nvPr/>
        </p:nvSpPr>
        <p:spPr>
          <a:xfrm>
            <a:off x="7080654" y="3512791"/>
            <a:ext cx="864720" cy="3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975;p212">
            <a:extLst>
              <a:ext uri="{FF2B5EF4-FFF2-40B4-BE49-F238E27FC236}">
                <a16:creationId xmlns:a16="http://schemas.microsoft.com/office/drawing/2014/main" id="{FF4FFA7B-F102-7D77-DD38-7BAE8D5B3E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1994" y="2619437"/>
            <a:ext cx="3888360" cy="228564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6" name="Google Shape;976;p212">
            <a:extLst>
              <a:ext uri="{FF2B5EF4-FFF2-40B4-BE49-F238E27FC236}">
                <a16:creationId xmlns:a16="http://schemas.microsoft.com/office/drawing/2014/main" id="{463EEF1F-716B-B82A-7BBB-9D2FA9BC302C}"/>
              </a:ext>
            </a:extLst>
          </p:cNvPr>
          <p:cNvSpPr/>
          <p:nvPr/>
        </p:nvSpPr>
        <p:spPr>
          <a:xfrm>
            <a:off x="6715608" y="3699868"/>
            <a:ext cx="408240" cy="3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triangle" w="med" len="med"/>
          </a:ln>
        </p:spPr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8ABE3E40-4F2D-150E-6CE5-333DFE05C5C9}"/>
              </a:ext>
            </a:extLst>
          </p:cNvPr>
          <p:cNvSpPr/>
          <p:nvPr/>
        </p:nvSpPr>
        <p:spPr>
          <a:xfrm rot="2496218">
            <a:off x="3766848" y="4673632"/>
            <a:ext cx="353886" cy="4488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6835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F28A3-97B2-C23A-17CA-E0E5233C6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FDEC-01E9-6D72-DDFE-6E0302BD7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Science :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r>
              <a:rPr lang="en-US" dirty="0"/>
              <a:t> </a:t>
            </a:r>
          </a:p>
        </p:txBody>
      </p:sp>
      <p:grpSp>
        <p:nvGrpSpPr>
          <p:cNvPr id="4" name="Google Shape;606;p184">
            <a:extLst>
              <a:ext uri="{FF2B5EF4-FFF2-40B4-BE49-F238E27FC236}">
                <a16:creationId xmlns:a16="http://schemas.microsoft.com/office/drawing/2014/main" id="{B61350EF-7977-78D5-C996-82C00922D15C}"/>
              </a:ext>
            </a:extLst>
          </p:cNvPr>
          <p:cNvGrpSpPr/>
          <p:nvPr/>
        </p:nvGrpSpPr>
        <p:grpSpPr>
          <a:xfrm>
            <a:off x="838200" y="1435800"/>
            <a:ext cx="8883040" cy="720000"/>
            <a:chOff x="677520" y="1100520"/>
            <a:chExt cx="8303330" cy="720000"/>
          </a:xfrm>
        </p:grpSpPr>
        <p:sp>
          <p:nvSpPr>
            <p:cNvPr id="5" name="Google Shape;607;p184">
              <a:extLst>
                <a:ext uri="{FF2B5EF4-FFF2-40B4-BE49-F238E27FC236}">
                  <a16:creationId xmlns:a16="http://schemas.microsoft.com/office/drawing/2014/main" id="{076C7746-15C4-8F89-B710-E99A89B7EE6D}"/>
                </a:ext>
              </a:extLst>
            </p:cNvPr>
            <p:cNvSpPr/>
            <p:nvPr/>
          </p:nvSpPr>
          <p:spPr>
            <a:xfrm>
              <a:off x="677520" y="1100520"/>
              <a:ext cx="1726560" cy="718560"/>
            </a:xfrm>
            <a:custGeom>
              <a:avLst/>
              <a:gdLst/>
              <a:ahLst/>
              <a:cxnLst/>
              <a:rect l="l" t="t" r="r" b="b"/>
              <a:pathLst>
                <a:path w="4800" h="2000" extrusionOk="0">
                  <a:moveTo>
                    <a:pt x="0" y="0"/>
                  </a:moveTo>
                  <a:lnTo>
                    <a:pt x="3599" y="0"/>
                  </a:lnTo>
                  <a:lnTo>
                    <a:pt x="4799" y="999"/>
                  </a:lnTo>
                  <a:lnTo>
                    <a:pt x="3599" y="1999"/>
                  </a:lnTo>
                  <a:lnTo>
                    <a:pt x="0" y="1999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Business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608;p184">
              <a:extLst>
                <a:ext uri="{FF2B5EF4-FFF2-40B4-BE49-F238E27FC236}">
                  <a16:creationId xmlns:a16="http://schemas.microsoft.com/office/drawing/2014/main" id="{9200A085-9917-A986-C615-0BA20C153729}"/>
                </a:ext>
              </a:extLst>
            </p:cNvPr>
            <p:cNvSpPr/>
            <p:nvPr/>
          </p:nvSpPr>
          <p:spPr>
            <a:xfrm>
              <a:off x="2045880" y="1100520"/>
              <a:ext cx="1673913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2D05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609;p184">
              <a:extLst>
                <a:ext uri="{FF2B5EF4-FFF2-40B4-BE49-F238E27FC236}">
                  <a16:creationId xmlns:a16="http://schemas.microsoft.com/office/drawing/2014/main" id="{9CC71EDA-3292-9F7C-80DD-ECCEB9F73DAE}"/>
                </a:ext>
              </a:extLst>
            </p:cNvPr>
            <p:cNvSpPr/>
            <p:nvPr/>
          </p:nvSpPr>
          <p:spPr>
            <a:xfrm>
              <a:off x="3389001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Preparation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610;p184">
              <a:extLst>
                <a:ext uri="{FF2B5EF4-FFF2-40B4-BE49-F238E27FC236}">
                  <a16:creationId xmlns:a16="http://schemas.microsoft.com/office/drawing/2014/main" id="{61B580B3-AD4A-D1EF-2D3A-203AF763D4DF}"/>
                </a:ext>
              </a:extLst>
            </p:cNvPr>
            <p:cNvSpPr/>
            <p:nvPr/>
          </p:nvSpPr>
          <p:spPr>
            <a:xfrm>
              <a:off x="4704714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Modeling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611;p184">
              <a:extLst>
                <a:ext uri="{FF2B5EF4-FFF2-40B4-BE49-F238E27FC236}">
                  <a16:creationId xmlns:a16="http://schemas.microsoft.com/office/drawing/2014/main" id="{33264FAD-8AB6-29A5-89FD-2AD786E9B98C}"/>
                </a:ext>
              </a:extLst>
            </p:cNvPr>
            <p:cNvSpPr/>
            <p:nvPr/>
          </p:nvSpPr>
          <p:spPr>
            <a:xfrm>
              <a:off x="7325570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612;p184">
              <a:extLst>
                <a:ext uri="{FF2B5EF4-FFF2-40B4-BE49-F238E27FC236}">
                  <a16:creationId xmlns:a16="http://schemas.microsoft.com/office/drawing/2014/main" id="{3ED71E96-CB4A-51A7-4D4C-823D40CD29DC}"/>
                </a:ext>
              </a:extLst>
            </p:cNvPr>
            <p:cNvSpPr/>
            <p:nvPr/>
          </p:nvSpPr>
          <p:spPr>
            <a:xfrm>
              <a:off x="6028844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" name="Google Shape;690;p188">
            <a:extLst>
              <a:ext uri="{FF2B5EF4-FFF2-40B4-BE49-F238E27FC236}">
                <a16:creationId xmlns:a16="http://schemas.microsoft.com/office/drawing/2014/main" id="{E92F7F09-0746-84F3-66E0-9686125EE5CD}"/>
              </a:ext>
            </a:extLst>
          </p:cNvPr>
          <p:cNvSpPr/>
          <p:nvPr/>
        </p:nvSpPr>
        <p:spPr>
          <a:xfrm>
            <a:off x="838195" y="2363648"/>
            <a:ext cx="3027161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Model evaluation</a:t>
            </a:r>
            <a:endParaRPr lang="en-US" sz="2000" b="1" i="0" u="none" strike="noStrike" cap="none" dirty="0"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KPI met/unmet</a:t>
            </a:r>
          </a:p>
        </p:txBody>
      </p:sp>
      <p:sp>
        <p:nvSpPr>
          <p:cNvPr id="11" name="Google Shape;690;p188">
            <a:extLst>
              <a:ext uri="{FF2B5EF4-FFF2-40B4-BE49-F238E27FC236}">
                <a16:creationId xmlns:a16="http://schemas.microsoft.com/office/drawing/2014/main" id="{A33B06BA-EB8C-389A-284F-0EEEDF9F259B}"/>
              </a:ext>
            </a:extLst>
          </p:cNvPr>
          <p:cNvSpPr/>
          <p:nvPr/>
        </p:nvSpPr>
        <p:spPr>
          <a:xfrm>
            <a:off x="833639" y="3277928"/>
            <a:ext cx="3027161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Process evaluation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efficient/not</a:t>
            </a:r>
          </a:p>
        </p:txBody>
      </p:sp>
      <p:sp>
        <p:nvSpPr>
          <p:cNvPr id="21" name="Google Shape;690;p188">
            <a:extLst>
              <a:ext uri="{FF2B5EF4-FFF2-40B4-BE49-F238E27FC236}">
                <a16:creationId xmlns:a16="http://schemas.microsoft.com/office/drawing/2014/main" id="{9C750173-49B0-607E-47F1-21EA86ACA6D2}"/>
              </a:ext>
            </a:extLst>
          </p:cNvPr>
          <p:cNvSpPr/>
          <p:nvPr/>
        </p:nvSpPr>
        <p:spPr>
          <a:xfrm>
            <a:off x="4377354" y="2363648"/>
            <a:ext cx="4929206" cy="7064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Which model and hyperparameters produce the best results?</a:t>
            </a:r>
          </a:p>
        </p:txBody>
      </p:sp>
      <p:sp>
        <p:nvSpPr>
          <p:cNvPr id="15" name="Google Shape;690;p188">
            <a:extLst>
              <a:ext uri="{FF2B5EF4-FFF2-40B4-BE49-F238E27FC236}">
                <a16:creationId xmlns:a16="http://schemas.microsoft.com/office/drawing/2014/main" id="{6A239942-9CF1-28A8-6AF6-A39FF55B3758}"/>
              </a:ext>
            </a:extLst>
          </p:cNvPr>
          <p:cNvSpPr/>
          <p:nvPr/>
        </p:nvSpPr>
        <p:spPr>
          <a:xfrm>
            <a:off x="4377354" y="3277928"/>
            <a:ext cx="4929206" cy="7064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Anything too costly?</a:t>
            </a:r>
          </a:p>
          <a:p>
            <a:pPr lvl="0"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Any non-functional requirements unmet?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5421368-EEC2-631D-BB1D-93A3318F9112}"/>
              </a:ext>
            </a:extLst>
          </p:cNvPr>
          <p:cNvSpPr/>
          <p:nvPr/>
        </p:nvSpPr>
        <p:spPr>
          <a:xfrm>
            <a:off x="3915931" y="2500804"/>
            <a:ext cx="353886" cy="4488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DA2A38C8-2A57-979E-AE7B-8671CED1324C}"/>
              </a:ext>
            </a:extLst>
          </p:cNvPr>
          <p:cNvSpPr/>
          <p:nvPr/>
        </p:nvSpPr>
        <p:spPr>
          <a:xfrm>
            <a:off x="3915931" y="3406744"/>
            <a:ext cx="353886" cy="4488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765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917F0-C640-A185-6D6C-631AC9327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98103-987E-DB09-D28D-4F680B62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US" dirty="0"/>
              <a:t>Data Science : </a:t>
            </a:r>
            <a:r>
              <a:rPr lang="en-US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CRISP-DM</a:t>
            </a:r>
            <a:r>
              <a:rPr lang="en-US" dirty="0"/>
              <a:t> </a:t>
            </a:r>
          </a:p>
        </p:txBody>
      </p:sp>
      <p:grpSp>
        <p:nvGrpSpPr>
          <p:cNvPr id="4" name="Google Shape;606;p184">
            <a:extLst>
              <a:ext uri="{FF2B5EF4-FFF2-40B4-BE49-F238E27FC236}">
                <a16:creationId xmlns:a16="http://schemas.microsoft.com/office/drawing/2014/main" id="{5749296B-DEBA-CC3E-D976-5561951B7671}"/>
              </a:ext>
            </a:extLst>
          </p:cNvPr>
          <p:cNvGrpSpPr/>
          <p:nvPr/>
        </p:nvGrpSpPr>
        <p:grpSpPr>
          <a:xfrm>
            <a:off x="838200" y="1435800"/>
            <a:ext cx="8883040" cy="720000"/>
            <a:chOff x="677520" y="1100520"/>
            <a:chExt cx="8303330" cy="720000"/>
          </a:xfrm>
        </p:grpSpPr>
        <p:sp>
          <p:nvSpPr>
            <p:cNvPr id="5" name="Google Shape;607;p184">
              <a:extLst>
                <a:ext uri="{FF2B5EF4-FFF2-40B4-BE49-F238E27FC236}">
                  <a16:creationId xmlns:a16="http://schemas.microsoft.com/office/drawing/2014/main" id="{A78B5294-B369-A260-C99D-C160F96E266E}"/>
                </a:ext>
              </a:extLst>
            </p:cNvPr>
            <p:cNvSpPr/>
            <p:nvPr/>
          </p:nvSpPr>
          <p:spPr>
            <a:xfrm>
              <a:off x="677520" y="1100520"/>
              <a:ext cx="1726560" cy="718560"/>
            </a:xfrm>
            <a:custGeom>
              <a:avLst/>
              <a:gdLst/>
              <a:ahLst/>
              <a:cxnLst/>
              <a:rect l="l" t="t" r="r" b="b"/>
              <a:pathLst>
                <a:path w="4800" h="2000" extrusionOk="0">
                  <a:moveTo>
                    <a:pt x="0" y="0"/>
                  </a:moveTo>
                  <a:lnTo>
                    <a:pt x="3599" y="0"/>
                  </a:lnTo>
                  <a:lnTo>
                    <a:pt x="4799" y="999"/>
                  </a:lnTo>
                  <a:lnTo>
                    <a:pt x="3599" y="1999"/>
                  </a:lnTo>
                  <a:lnTo>
                    <a:pt x="0" y="1999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Business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608;p184">
              <a:extLst>
                <a:ext uri="{FF2B5EF4-FFF2-40B4-BE49-F238E27FC236}">
                  <a16:creationId xmlns:a16="http://schemas.microsoft.com/office/drawing/2014/main" id="{9D327015-A6E5-2FAF-1BE0-297C4E92FB10}"/>
                </a:ext>
              </a:extLst>
            </p:cNvPr>
            <p:cNvSpPr/>
            <p:nvPr/>
          </p:nvSpPr>
          <p:spPr>
            <a:xfrm>
              <a:off x="2045880" y="1100520"/>
              <a:ext cx="1673913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2D05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Understanding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609;p184">
              <a:extLst>
                <a:ext uri="{FF2B5EF4-FFF2-40B4-BE49-F238E27FC236}">
                  <a16:creationId xmlns:a16="http://schemas.microsoft.com/office/drawing/2014/main" id="{28F878C0-BFFB-18AA-1F03-6C6CE67EB090}"/>
                </a:ext>
              </a:extLst>
            </p:cNvPr>
            <p:cNvSpPr/>
            <p:nvPr/>
          </p:nvSpPr>
          <p:spPr>
            <a:xfrm>
              <a:off x="3389001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Data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Preparation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610;p184">
              <a:extLst>
                <a:ext uri="{FF2B5EF4-FFF2-40B4-BE49-F238E27FC236}">
                  <a16:creationId xmlns:a16="http://schemas.microsoft.com/office/drawing/2014/main" id="{607108C5-E7C5-405A-1668-A75175058826}"/>
                </a:ext>
              </a:extLst>
            </p:cNvPr>
            <p:cNvSpPr/>
            <p:nvPr/>
          </p:nvSpPr>
          <p:spPr>
            <a:xfrm>
              <a:off x="4704714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Modeling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611;p184">
              <a:extLst>
                <a:ext uri="{FF2B5EF4-FFF2-40B4-BE49-F238E27FC236}">
                  <a16:creationId xmlns:a16="http://schemas.microsoft.com/office/drawing/2014/main" id="{19C2FBEA-2769-1E07-6386-14344901A5FB}"/>
                </a:ext>
              </a:extLst>
            </p:cNvPr>
            <p:cNvSpPr/>
            <p:nvPr/>
          </p:nvSpPr>
          <p:spPr>
            <a:xfrm>
              <a:off x="7325570" y="1100520"/>
              <a:ext cx="1655280" cy="720000"/>
            </a:xfrm>
            <a:custGeom>
              <a:avLst/>
              <a:gdLst/>
              <a:ahLst/>
              <a:cxnLst/>
              <a:rect l="l" t="t" r="r" b="b"/>
              <a:pathLst>
                <a:path w="4602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1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/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Deployment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612;p184">
              <a:extLst>
                <a:ext uri="{FF2B5EF4-FFF2-40B4-BE49-F238E27FC236}">
                  <a16:creationId xmlns:a16="http://schemas.microsoft.com/office/drawing/2014/main" id="{51FFAD8C-9F4E-F1E9-20E0-82767F2DFD33}"/>
                </a:ext>
              </a:extLst>
            </p:cNvPr>
            <p:cNvSpPr/>
            <p:nvPr/>
          </p:nvSpPr>
          <p:spPr>
            <a:xfrm>
              <a:off x="6028844" y="1100520"/>
              <a:ext cx="1654920" cy="720000"/>
            </a:xfrm>
            <a:custGeom>
              <a:avLst/>
              <a:gdLst/>
              <a:ahLst/>
              <a:cxnLst/>
              <a:rect l="l" t="t" r="r" b="b"/>
              <a:pathLst>
                <a:path w="4601" h="2004" extrusionOk="0">
                  <a:moveTo>
                    <a:pt x="0" y="0"/>
                  </a:moveTo>
                  <a:lnTo>
                    <a:pt x="3450" y="0"/>
                  </a:lnTo>
                  <a:lnTo>
                    <a:pt x="4600" y="1001"/>
                  </a:lnTo>
                  <a:lnTo>
                    <a:pt x="3450" y="2003"/>
                  </a:lnTo>
                  <a:lnTo>
                    <a:pt x="0" y="2003"/>
                  </a:lnTo>
                  <a:lnTo>
                    <a:pt x="1150" y="1001"/>
                  </a:lnTo>
                  <a:lnTo>
                    <a:pt x="0" y="0"/>
                  </a:lnTo>
                </a:path>
              </a:pathLst>
            </a:custGeom>
            <a:solidFill>
              <a:srgbClr val="99CC00">
                <a:alpha val="20000"/>
              </a:srgbClr>
            </a:solidFill>
            <a:ln w="9525" cap="flat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0000" tIns="46800" rIns="90000" bIns="46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     </a:t>
              </a:r>
              <a:r>
                <a:rPr lang="en-US" sz="1300" b="1" i="0" u="none" strike="noStrike" cap="none" dirty="0">
                  <a:solidFill>
                    <a:srgbClr val="003300"/>
                  </a:solidFill>
                  <a:latin typeface="Lato"/>
                  <a:ea typeface="Lato"/>
                  <a:cs typeface="Lato"/>
                  <a:sym typeface="Lato"/>
                </a:rPr>
                <a:t>Evaluation</a:t>
              </a:r>
              <a:endParaRPr sz="13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690;p188">
            <a:extLst>
              <a:ext uri="{FF2B5EF4-FFF2-40B4-BE49-F238E27FC236}">
                <a16:creationId xmlns:a16="http://schemas.microsoft.com/office/drawing/2014/main" id="{1E4F9FCA-0BE0-C767-ADF4-DC99D67012D7}"/>
              </a:ext>
            </a:extLst>
          </p:cNvPr>
          <p:cNvSpPr/>
          <p:nvPr/>
        </p:nvSpPr>
        <p:spPr>
          <a:xfrm>
            <a:off x="838195" y="2363648"/>
            <a:ext cx="5022519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System integration</a:t>
            </a:r>
            <a:endParaRPr lang="en-US" sz="2000" b="1" i="0" u="none" strike="noStrike" cap="none" dirty="0">
              <a:latin typeface="Aptos" panose="020B0004020202020204" pitchFamily="34" charset="0"/>
              <a:ea typeface="Arial"/>
              <a:cs typeface="Arial"/>
              <a:sym typeface="Arial"/>
            </a:endParaRP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usable model inside running system</a:t>
            </a:r>
          </a:p>
        </p:txBody>
      </p:sp>
      <p:sp>
        <p:nvSpPr>
          <p:cNvPr id="18" name="Google Shape;690;p188">
            <a:extLst>
              <a:ext uri="{FF2B5EF4-FFF2-40B4-BE49-F238E27FC236}">
                <a16:creationId xmlns:a16="http://schemas.microsoft.com/office/drawing/2014/main" id="{FCC636FE-D098-D5D6-659E-9CFCC0AD64B0}"/>
              </a:ext>
            </a:extLst>
          </p:cNvPr>
          <p:cNvSpPr/>
          <p:nvPr/>
        </p:nvSpPr>
        <p:spPr>
          <a:xfrm>
            <a:off x="833639" y="3277928"/>
            <a:ext cx="5022519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System testing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running model with live data</a:t>
            </a:r>
          </a:p>
        </p:txBody>
      </p:sp>
      <p:sp>
        <p:nvSpPr>
          <p:cNvPr id="22" name="Google Shape;690;p188">
            <a:extLst>
              <a:ext uri="{FF2B5EF4-FFF2-40B4-BE49-F238E27FC236}">
                <a16:creationId xmlns:a16="http://schemas.microsoft.com/office/drawing/2014/main" id="{6AE970BC-590B-5791-8A06-1047E1344DF3}"/>
              </a:ext>
            </a:extLst>
          </p:cNvPr>
          <p:cNvSpPr/>
          <p:nvPr/>
        </p:nvSpPr>
        <p:spPr>
          <a:xfrm>
            <a:off x="6460154" y="2363648"/>
            <a:ext cx="4929206" cy="7064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Existing information system?</a:t>
            </a:r>
          </a:p>
          <a:p>
            <a:pPr lvl="0"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Mobile app?</a:t>
            </a:r>
          </a:p>
        </p:txBody>
      </p:sp>
      <p:sp>
        <p:nvSpPr>
          <p:cNvPr id="25" name="Google Shape;690;p188">
            <a:extLst>
              <a:ext uri="{FF2B5EF4-FFF2-40B4-BE49-F238E27FC236}">
                <a16:creationId xmlns:a16="http://schemas.microsoft.com/office/drawing/2014/main" id="{EF9E7C7A-D8C4-4653-F23A-79ED241C8421}"/>
              </a:ext>
            </a:extLst>
          </p:cNvPr>
          <p:cNvSpPr/>
          <p:nvPr/>
        </p:nvSpPr>
        <p:spPr>
          <a:xfrm>
            <a:off x="6460154" y="3277928"/>
            <a:ext cx="4929206" cy="7064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Run smoothly without lagging?</a:t>
            </a:r>
          </a:p>
          <a:p>
            <a:pPr lvl="0"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Any crashes with other process?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769F35E-2537-6874-5522-08F9E96D06F6}"/>
              </a:ext>
            </a:extLst>
          </p:cNvPr>
          <p:cNvSpPr/>
          <p:nvPr/>
        </p:nvSpPr>
        <p:spPr>
          <a:xfrm>
            <a:off x="5998731" y="2500804"/>
            <a:ext cx="353886" cy="4488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C38A9927-B7B8-8311-DF8C-9C02E58B50F2}"/>
              </a:ext>
            </a:extLst>
          </p:cNvPr>
          <p:cNvSpPr/>
          <p:nvPr/>
        </p:nvSpPr>
        <p:spPr>
          <a:xfrm>
            <a:off x="5998731" y="3406744"/>
            <a:ext cx="353886" cy="4488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Google Shape;690;p188">
            <a:extLst>
              <a:ext uri="{FF2B5EF4-FFF2-40B4-BE49-F238E27FC236}">
                <a16:creationId xmlns:a16="http://schemas.microsoft.com/office/drawing/2014/main" id="{29AA4C8F-C69C-0EB0-C678-B8B7397678F2}"/>
              </a:ext>
            </a:extLst>
          </p:cNvPr>
          <p:cNvSpPr/>
          <p:nvPr/>
        </p:nvSpPr>
        <p:spPr>
          <a:xfrm>
            <a:off x="833639" y="4192208"/>
            <a:ext cx="5022519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System monitoring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log process/data</a:t>
            </a:r>
          </a:p>
        </p:txBody>
      </p:sp>
      <p:sp>
        <p:nvSpPr>
          <p:cNvPr id="33" name="Google Shape;690;p188">
            <a:extLst>
              <a:ext uri="{FF2B5EF4-FFF2-40B4-BE49-F238E27FC236}">
                <a16:creationId xmlns:a16="http://schemas.microsoft.com/office/drawing/2014/main" id="{C54DA395-9A20-B757-CCF9-C1FCD7741088}"/>
              </a:ext>
            </a:extLst>
          </p:cNvPr>
          <p:cNvSpPr/>
          <p:nvPr/>
        </p:nvSpPr>
        <p:spPr>
          <a:xfrm>
            <a:off x="6460154" y="4192208"/>
            <a:ext cx="4929206" cy="7064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Accuracy steady or drops overtime?</a:t>
            </a:r>
          </a:p>
          <a:p>
            <a:pPr lvl="0"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Any errors found?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3D3346C8-CF5B-FDCB-40EA-47785F90EE19}"/>
              </a:ext>
            </a:extLst>
          </p:cNvPr>
          <p:cNvSpPr/>
          <p:nvPr/>
        </p:nvSpPr>
        <p:spPr>
          <a:xfrm>
            <a:off x="5998731" y="4321024"/>
            <a:ext cx="353886" cy="4488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Google Shape;690;p188">
            <a:extLst>
              <a:ext uri="{FF2B5EF4-FFF2-40B4-BE49-F238E27FC236}">
                <a16:creationId xmlns:a16="http://schemas.microsoft.com/office/drawing/2014/main" id="{3496F8E2-274E-B620-8310-22244E71691E}"/>
              </a:ext>
            </a:extLst>
          </p:cNvPr>
          <p:cNvSpPr/>
          <p:nvPr/>
        </p:nvSpPr>
        <p:spPr>
          <a:xfrm>
            <a:off x="833639" y="5106488"/>
            <a:ext cx="5022519" cy="7064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2000" b="1" i="0" u="none" strike="noStrike" cap="none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System maintenance</a:t>
            </a:r>
          </a:p>
          <a:p>
            <a:pPr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Goal: updated system</a:t>
            </a:r>
          </a:p>
        </p:txBody>
      </p:sp>
      <p:sp>
        <p:nvSpPr>
          <p:cNvPr id="39" name="Google Shape;690;p188">
            <a:extLst>
              <a:ext uri="{FF2B5EF4-FFF2-40B4-BE49-F238E27FC236}">
                <a16:creationId xmlns:a16="http://schemas.microsoft.com/office/drawing/2014/main" id="{48E35972-1977-92AE-81C9-C50329EB1378}"/>
              </a:ext>
            </a:extLst>
          </p:cNvPr>
          <p:cNvSpPr/>
          <p:nvPr/>
        </p:nvSpPr>
        <p:spPr>
          <a:xfrm>
            <a:off x="6460154" y="5106488"/>
            <a:ext cx="4929206" cy="7064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dash"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lvl="0"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Need model retraining?</a:t>
            </a:r>
          </a:p>
          <a:p>
            <a:pPr lvl="0">
              <a:buClr>
                <a:srgbClr val="000000"/>
              </a:buClr>
              <a:buSzPts val="1600"/>
            </a:pPr>
            <a:r>
              <a:rPr lang="en-US" sz="2000" dirty="0">
                <a:latin typeface="Aptos" panose="020B0004020202020204" pitchFamily="34" charset="0"/>
                <a:ea typeface="Arial"/>
                <a:cs typeface="Arial"/>
                <a:sym typeface="Arial"/>
              </a:rPr>
              <a:t>New data distribution/trend?</a:t>
            </a: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838B7441-BE15-BC4D-35C5-4482E141B671}"/>
              </a:ext>
            </a:extLst>
          </p:cNvPr>
          <p:cNvSpPr/>
          <p:nvPr/>
        </p:nvSpPr>
        <p:spPr>
          <a:xfrm>
            <a:off x="5998731" y="5235304"/>
            <a:ext cx="353886" cy="44880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370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92548" y="1475233"/>
            <a:ext cx="6996700" cy="3413760"/>
          </a:xfrm>
        </p:spPr>
        <p:txBody>
          <a:bodyPr>
            <a:normAutofit/>
          </a:bodyPr>
          <a:lstStyle/>
          <a:p>
            <a:r>
              <a:rPr lang="en-US" dirty="0" err="1"/>
              <a:t>Terima</a:t>
            </a:r>
            <a:r>
              <a:rPr lang="en-US" dirty="0"/>
              <a:t> Kasih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Ada </a:t>
            </a:r>
            <a:r>
              <a:rPr lang="en-US" dirty="0" err="1"/>
              <a:t>Pertanyaan</a:t>
            </a:r>
            <a:r>
              <a:rPr lang="en-US" dirty="0"/>
              <a:t>?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692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20945</TotalTime>
  <Words>4084</Words>
  <Application>Microsoft Office PowerPoint</Application>
  <PresentationFormat>Widescreen</PresentationFormat>
  <Paragraphs>876</Paragraphs>
  <Slides>55</Slides>
  <Notes>26</Notes>
  <HiddenSlides>5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71" baseType="lpstr">
      <vt:lpstr>Gulim</vt:lpstr>
      <vt:lpstr>ADLaM Display</vt:lpstr>
      <vt:lpstr>Agency FB</vt:lpstr>
      <vt:lpstr>Aptos</vt:lpstr>
      <vt:lpstr>Arial</vt:lpstr>
      <vt:lpstr>Calibri</vt:lpstr>
      <vt:lpstr>Corbel</vt:lpstr>
      <vt:lpstr>Lato</vt:lpstr>
      <vt:lpstr>Lato Black</vt:lpstr>
      <vt:lpstr>Noto Sans Symbols</vt:lpstr>
      <vt:lpstr>Overlock</vt:lpstr>
      <vt:lpstr>Segoe UI</vt:lpstr>
      <vt:lpstr>Segoe UI Light</vt:lpstr>
      <vt:lpstr>Times New Roman</vt:lpstr>
      <vt:lpstr>Wingdings</vt:lpstr>
      <vt:lpstr>Office Theme</vt:lpstr>
      <vt:lpstr>Data Science – Terapan Metodologi Pengembangan AI</vt:lpstr>
      <vt:lpstr>outline</vt:lpstr>
      <vt:lpstr>Sistem AI berbasis (Big) Data</vt:lpstr>
      <vt:lpstr>DIKW pyramid</vt:lpstr>
      <vt:lpstr>DIKW pyramid</vt:lpstr>
      <vt:lpstr>Sistem AI berbasis (Big) Data</vt:lpstr>
      <vt:lpstr>AI solution based on (big) data</vt:lpstr>
      <vt:lpstr>AI solution based on (big) data</vt:lpstr>
      <vt:lpstr>Tujuan Tugas/ Task yang Biasa Dikembangkan</vt:lpstr>
      <vt:lpstr>Jenis Task yang Dikembangkan</vt:lpstr>
      <vt:lpstr>Proyek Pengembangan AI/DS</vt:lpstr>
      <vt:lpstr>Mengapa Bisa Gagal?</vt:lpstr>
      <vt:lpstr>Mengapa Bisa Gagal?</vt:lpstr>
      <vt:lpstr>Mengapa Bisa Gagal?</vt:lpstr>
      <vt:lpstr>Mengapa Bisa Gagal?</vt:lpstr>
      <vt:lpstr>PowerPoint Presentation</vt:lpstr>
      <vt:lpstr>Common mistakes in AI/DS</vt:lpstr>
      <vt:lpstr>Data Science - Terapan</vt:lpstr>
      <vt:lpstr>Software Development Life Cycle</vt:lpstr>
      <vt:lpstr>Software Development Life Cycle</vt:lpstr>
      <vt:lpstr>Metode SDLC</vt:lpstr>
      <vt:lpstr>PowerPoint Presentation</vt:lpstr>
      <vt:lpstr>PowerPoint Presentation</vt:lpstr>
      <vt:lpstr>PowerPoint Presentation</vt:lpstr>
      <vt:lpstr>PowerPoint Presentation</vt:lpstr>
      <vt:lpstr>Business process</vt:lpstr>
      <vt:lpstr>BPMN</vt:lpstr>
      <vt:lpstr>Metodologi Data Science</vt:lpstr>
      <vt:lpstr>Metodologi kegiatan Teknis</vt:lpstr>
      <vt:lpstr>Metodologi kegiatan bisnis (dan teknis)</vt:lpstr>
      <vt:lpstr>Metodologi kegiatan bisnis (dan teknis)</vt:lpstr>
      <vt:lpstr>Acuan Data Scientist di Indonesia </vt:lpstr>
      <vt:lpstr>CRISP-DM Cross Industry Standard Process for Data Mining</vt:lpstr>
      <vt:lpstr>Fase dan Pekerjaan</vt:lpstr>
      <vt:lpstr>Personnels</vt:lpstr>
      <vt:lpstr>Case study: Credit failure</vt:lpstr>
      <vt:lpstr>Case study: Credit failure</vt:lpstr>
      <vt:lpstr>Case study: Credit failure</vt:lpstr>
      <vt:lpstr>Data Science : CRISP-DM </vt:lpstr>
      <vt:lpstr>Data Science : CRISP-DM </vt:lpstr>
      <vt:lpstr>Case study: Credit failure</vt:lpstr>
      <vt:lpstr>Case study: Credit failure </vt:lpstr>
      <vt:lpstr>Data Science : CRISP-DM </vt:lpstr>
      <vt:lpstr>Data Science : CRISP-DM </vt:lpstr>
      <vt:lpstr>Data Science : CRISP-DM </vt:lpstr>
      <vt:lpstr>Data Science : CRISP-DM </vt:lpstr>
      <vt:lpstr>Data Science : CRISP-DM </vt:lpstr>
      <vt:lpstr>Data Science : CRISP-DM </vt:lpstr>
      <vt:lpstr>Data Science : CRISP-DM </vt:lpstr>
      <vt:lpstr>Data Science : CRISP-DM </vt:lpstr>
      <vt:lpstr>Data Science : CRISP-DM </vt:lpstr>
      <vt:lpstr>Data Science : CRISP-DM </vt:lpstr>
      <vt:lpstr>Data Science : CRISP-DM </vt:lpstr>
      <vt:lpstr>Data Science : CRISP-DM </vt:lpstr>
      <vt:lpstr>Terima Kasih   Ada Pertanyaan?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 Windows</dc:creator>
  <cp:lastModifiedBy>Muhammad Fakhrurrifqi</cp:lastModifiedBy>
  <cp:revision>63</cp:revision>
  <dcterms:created xsi:type="dcterms:W3CDTF">2018-05-08T06:50:11Z</dcterms:created>
  <dcterms:modified xsi:type="dcterms:W3CDTF">2026-08-25T14:37:16Z</dcterms:modified>
</cp:coreProperties>
</file>