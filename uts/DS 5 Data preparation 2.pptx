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93" r:id="rId1"/>
  </p:sldMasterIdLst>
  <p:notesMasterIdLst>
    <p:notesMasterId r:id="rId93"/>
  </p:notesMasterIdLst>
  <p:sldIdLst>
    <p:sldId id="256" r:id="rId2"/>
    <p:sldId id="261" r:id="rId3"/>
    <p:sldId id="395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396" r:id="rId13"/>
    <p:sldId id="275" r:id="rId14"/>
    <p:sldId id="277" r:id="rId15"/>
    <p:sldId id="278" r:id="rId16"/>
    <p:sldId id="279" r:id="rId17"/>
    <p:sldId id="282" r:id="rId18"/>
    <p:sldId id="285" r:id="rId19"/>
    <p:sldId id="287" r:id="rId20"/>
    <p:sldId id="288" r:id="rId21"/>
    <p:sldId id="293" r:id="rId22"/>
    <p:sldId id="301" r:id="rId23"/>
    <p:sldId id="302" r:id="rId24"/>
    <p:sldId id="303" r:id="rId25"/>
    <p:sldId id="304" r:id="rId26"/>
    <p:sldId id="305" r:id="rId27"/>
    <p:sldId id="306" r:id="rId28"/>
    <p:sldId id="308" r:id="rId29"/>
    <p:sldId id="309" r:id="rId30"/>
    <p:sldId id="310" r:id="rId31"/>
    <p:sldId id="313" r:id="rId32"/>
    <p:sldId id="315" r:id="rId33"/>
    <p:sldId id="316" r:id="rId34"/>
    <p:sldId id="318" r:id="rId35"/>
    <p:sldId id="320" r:id="rId36"/>
    <p:sldId id="321" r:id="rId37"/>
    <p:sldId id="322" r:id="rId38"/>
    <p:sldId id="323" r:id="rId39"/>
    <p:sldId id="324" r:id="rId40"/>
    <p:sldId id="325" r:id="rId41"/>
    <p:sldId id="384" r:id="rId42"/>
    <p:sldId id="328" r:id="rId43"/>
    <p:sldId id="329" r:id="rId44"/>
    <p:sldId id="336" r:id="rId45"/>
    <p:sldId id="337" r:id="rId46"/>
    <p:sldId id="338" r:id="rId47"/>
    <p:sldId id="339" r:id="rId48"/>
    <p:sldId id="340" r:id="rId49"/>
    <p:sldId id="341" r:id="rId50"/>
    <p:sldId id="342" r:id="rId51"/>
    <p:sldId id="343" r:id="rId52"/>
    <p:sldId id="344" r:id="rId53"/>
    <p:sldId id="345" r:id="rId54"/>
    <p:sldId id="346" r:id="rId55"/>
    <p:sldId id="347" r:id="rId56"/>
    <p:sldId id="348" r:id="rId57"/>
    <p:sldId id="349" r:id="rId58"/>
    <p:sldId id="350" r:id="rId59"/>
    <p:sldId id="351" r:id="rId60"/>
    <p:sldId id="352" r:id="rId61"/>
    <p:sldId id="385" r:id="rId62"/>
    <p:sldId id="386" r:id="rId63"/>
    <p:sldId id="353" r:id="rId64"/>
    <p:sldId id="354" r:id="rId65"/>
    <p:sldId id="355" r:id="rId66"/>
    <p:sldId id="356" r:id="rId67"/>
    <p:sldId id="387" r:id="rId68"/>
    <p:sldId id="388" r:id="rId69"/>
    <p:sldId id="357" r:id="rId70"/>
    <p:sldId id="389" r:id="rId71"/>
    <p:sldId id="368" r:id="rId72"/>
    <p:sldId id="369" r:id="rId73"/>
    <p:sldId id="390" r:id="rId74"/>
    <p:sldId id="391" r:id="rId75"/>
    <p:sldId id="370" r:id="rId76"/>
    <p:sldId id="392" r:id="rId77"/>
    <p:sldId id="371" r:id="rId78"/>
    <p:sldId id="393" r:id="rId79"/>
    <p:sldId id="372" r:id="rId80"/>
    <p:sldId id="374" r:id="rId81"/>
    <p:sldId id="375" r:id="rId82"/>
    <p:sldId id="376" r:id="rId83"/>
    <p:sldId id="377" r:id="rId84"/>
    <p:sldId id="378" r:id="rId85"/>
    <p:sldId id="379" r:id="rId86"/>
    <p:sldId id="380" r:id="rId87"/>
    <p:sldId id="381" r:id="rId88"/>
    <p:sldId id="382" r:id="rId89"/>
    <p:sldId id="394" r:id="rId90"/>
    <p:sldId id="383" r:id="rId91"/>
    <p:sldId id="297" r:id="rId92"/>
  </p:sldIdLst>
  <p:sldSz cx="12192000" cy="6858000"/>
  <p:notesSz cx="6858000" cy="9144000"/>
  <p:embeddedFontLst>
    <p:embeddedFont>
      <p:font typeface="Corbel" panose="020B0503020204020204" pitchFamily="34" charset="0"/>
      <p:regular r:id="rId94"/>
      <p:bold r:id="rId95"/>
      <p:italic r:id="rId96"/>
      <p:boldItalic r:id="rId97"/>
    </p:embeddedFont>
    <p:embeddedFont>
      <p:font typeface="Garamond" panose="02020404030301010803" pitchFamily="18" charset="0"/>
      <p:regular r:id="rId98"/>
      <p:bold r:id="rId99"/>
      <p:italic r:id="rId100"/>
      <p:boldItalic r:id="rId101"/>
    </p:embeddedFont>
    <p:embeddedFont>
      <p:font typeface="Lato" panose="020F0502020204030203" pitchFamily="34" charset="0"/>
      <p:regular r:id="rId102"/>
      <p:bold r:id="rId103"/>
      <p:italic r:id="rId104"/>
      <p:boldItalic r:id="rId105"/>
    </p:embeddedFont>
    <p:embeddedFont>
      <p:font typeface="Nirmala UI" panose="020B0502040204020203" pitchFamily="34" charset="0"/>
      <p:regular r:id="rId106"/>
      <p:bold r:id="rId107"/>
    </p:embeddedFont>
    <p:embeddedFont>
      <p:font typeface="Overlock" panose="020B0604020202020204" charset="0"/>
      <p:regular r:id="rId108"/>
      <p:bold r:id="rId109"/>
      <p:italic r:id="rId110"/>
      <p:boldItalic r:id="rId111"/>
    </p:embeddedFont>
    <p:embeddedFont>
      <p:font typeface="Poppins" panose="00000500000000000000" pitchFamily="2" charset="0"/>
      <p:regular r:id="rId112"/>
      <p:bold r:id="rId113"/>
    </p:embeddedFont>
    <p:embeddedFont>
      <p:font typeface="Roboto" panose="02000000000000000000" pitchFamily="2" charset="0"/>
      <p:regular r:id="rId114"/>
      <p:bold r:id="rId115"/>
      <p:italic r:id="rId116"/>
      <p:boldItalic r:id="rId117"/>
    </p:embeddedFont>
    <p:embeddedFont>
      <p:font typeface="Segoe UI Light" panose="020B0502040204020203" pitchFamily="34" charset="0"/>
      <p:regular r:id="rId118"/>
      <p:italic r:id="rId1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0" roundtripDataSignature="AMtx7mjqtMYMfoy2rU/rIIbXtZXN4mJg/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B037FFF-F5C1-497F-8732-AB426672F5D1}">
  <a:tblStyle styleId="{9B037FFF-F5C1-497F-8732-AB426672F5D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5944" autoAdjust="0"/>
  </p:normalViewPr>
  <p:slideViewPr>
    <p:cSldViewPr snapToGrid="0">
      <p:cViewPr varScale="1">
        <p:scale>
          <a:sx n="71" d="100"/>
          <a:sy n="71" d="100"/>
        </p:scale>
        <p:origin x="113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font" Target="fonts/font24.fntdata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font" Target="fonts/font19.fntdata"/><Relationship Id="rId16" Type="http://schemas.openxmlformats.org/officeDocument/2006/relationships/slide" Target="slides/slide15.xml"/><Relationship Id="rId107" Type="http://schemas.openxmlformats.org/officeDocument/2006/relationships/font" Target="fonts/font14.fntdata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font" Target="fonts/font9.fntdata"/><Relationship Id="rId123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font" Target="fonts/font2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font" Target="fonts/font20.fntdata"/><Relationship Id="rId118" Type="http://schemas.openxmlformats.org/officeDocument/2006/relationships/font" Target="fonts/font25.fntdata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font" Target="fonts/font10.fntdata"/><Relationship Id="rId108" Type="http://schemas.openxmlformats.org/officeDocument/2006/relationships/font" Target="fonts/font15.fntdata"/><Relationship Id="rId124" Type="http://schemas.openxmlformats.org/officeDocument/2006/relationships/tableStyles" Target="tableStyle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font" Target="fonts/font21.fntdata"/><Relationship Id="rId119" Type="http://schemas.openxmlformats.org/officeDocument/2006/relationships/font" Target="fonts/font26.fntdata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font" Target="fonts/font16.fntdata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font" Target="fonts/font4.fntdata"/><Relationship Id="rId104" Type="http://schemas.openxmlformats.org/officeDocument/2006/relationships/font" Target="fonts/font11.fntdata"/><Relationship Id="rId120" Type="http://customschemas.google.com/relationships/presentationmetadata" Target="meta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font" Target="fonts/font17.fntdata"/><Relationship Id="rId115" Type="http://schemas.openxmlformats.org/officeDocument/2006/relationships/font" Target="fonts/font22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font" Target="fonts/font7.fntdata"/><Relationship Id="rId105" Type="http://schemas.openxmlformats.org/officeDocument/2006/relationships/font" Target="fonts/font12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notesMaster" Target="notesMasters/notesMaster1.xml"/><Relationship Id="rId98" Type="http://schemas.openxmlformats.org/officeDocument/2006/relationships/font" Target="fonts/font5.fntdata"/><Relationship Id="rId121" Type="http://schemas.openxmlformats.org/officeDocument/2006/relationships/presProps" Target="presProp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font" Target="fonts/font2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font" Target="fonts/font18.fntdata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font" Target="fonts/font13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font" Target="fonts/font1.fntdata"/><Relationship Id="rId99" Type="http://schemas.openxmlformats.org/officeDocument/2006/relationships/font" Target="fonts/font6.fntdata"/><Relationship Id="rId101" Type="http://schemas.openxmlformats.org/officeDocument/2006/relationships/font" Target="fonts/font8.fntdata"/><Relationship Id="rId1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dirty="0" err="1"/>
              <a:t>algoritma</a:t>
            </a:r>
            <a:r>
              <a:rPr lang="en-US" dirty="0"/>
              <a:t> </a:t>
            </a:r>
            <a:r>
              <a:rPr lang="en-US" dirty="0" err="1"/>
              <a:t>biasanya</a:t>
            </a:r>
            <a:r>
              <a:rPr lang="en-US" dirty="0"/>
              <a:t> </a:t>
            </a:r>
            <a:r>
              <a:rPr lang="en-US" dirty="0" err="1"/>
              <a:t>membutuhkan</a:t>
            </a:r>
            <a:r>
              <a:rPr lang="en-US" dirty="0"/>
              <a:t> data yang </a:t>
            </a:r>
            <a:r>
              <a:rPr lang="en-US" dirty="0" err="1"/>
              <a:t>lengkap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0" name="Google Shape;680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3" name="Google Shape;723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1" name="Google Shape;731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0" name="Google Shape;740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8" name="Google Shape;788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1" name="Google Shape;821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4" name="Google Shape;864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9" name="Google Shape;899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0" name="Google Shape;910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8" name="Google Shape;918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7" name="Google Shape;927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3" name="Google Shape;933;p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/>
              <a:t>dokumetasi pembentukan data / fitur dapat membantu proses pembelajaran menjadi lebih efektif dan efisien.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/>
              <a:t>Survey dari 100 Data Scientist menunjukkan 95%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/>
              <a:t>Mengapa ? 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/>
              <a:t>Fitur dapat diperoleh dari berbagai cara, dari data mentah dan proses rekayasa fitur.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/>
              <a:t>Dokumentasi menjelaskan berapa banyak data mentah telah menjalani proses sebelum akhirnya menjadi data yang siap dan representatif terhadap masalah yang ingin di pecahkan. 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/>
              <a:t>Dokumentasi juga membantu data scientist untuk melakukan transfer learning kepada rekan kerja tim, maupun mengingat kembali tahapan-tahapan rekayasa apa saja yang telah diterapkan pada data tersebut.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9" name="Google Shape;939;p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5">
          <a:extLst>
            <a:ext uri="{FF2B5EF4-FFF2-40B4-BE49-F238E27FC236}">
              <a16:creationId xmlns:a16="http://schemas.microsoft.com/office/drawing/2014/main" id="{0D2C3C8D-22BC-0145-30D1-1C03453B2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66:notes">
            <a:extLst>
              <a:ext uri="{FF2B5EF4-FFF2-40B4-BE49-F238E27FC236}">
                <a16:creationId xmlns:a16="http://schemas.microsoft.com/office/drawing/2014/main" id="{51E19C3F-C004-ED54-C87A-595FD480EF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7" name="Google Shape;927;p66:notes">
            <a:extLst>
              <a:ext uri="{FF2B5EF4-FFF2-40B4-BE49-F238E27FC236}">
                <a16:creationId xmlns:a16="http://schemas.microsoft.com/office/drawing/2014/main" id="{BDC013EA-2EE2-0D97-316E-128FFD0105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8424575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9" name="Google Shape;959;p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Overlock"/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5" name="Google Shape;965;p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Pada sesi lab 10.1 Anda akan mencoba untuk melakukan proses transformasi kelas target yang terbentuk teks menjadi bentuk angka.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Teknik ini dikenal dengan nama One Hot Encoding.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Note : Library SKLearn memiliki fungsi untuk melakukan tugas ini secara otomatis</a:t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5" name="Google Shape;1065;p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1" name="Google Shape;1071;p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7" name="Google Shape;1077;p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4" name="Google Shape;1084;p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0" name="Google Shape;1090;p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Ground truth dibentuk berdasarkan pengetahuan yang dimiliki oleh expert dari permasalahan yang ingin dipecahkan (misalnya dokter untuk model AI untuk mendeteksi penyakit, ahli bahasa untuk menentukan sentimen, dan lain sebagainya)</a:t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6" name="Google Shape;1096;p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2" name="Google Shape;1102;p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8" name="Google Shape;1108;p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Pendekatan Supervised learning memberikan hasil yang baik. 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Namun demikian, hal tersebut juga menuntut banyak untuk membangun suatu model pengklasifikasi gambar ataupun forecasting trend penjualan. 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Karena Algoritma mencari pola melalui data yang diberikan.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Tapi, bukan itu cara pikiran manusia belajar. 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b="1"/>
              <a:t>Otak manusia tidak memerlukan jutaan data untuk pelatihan dengan beberapa iterasi melalui gambar yang sama untuk memahami suatu topik</a:t>
            </a:r>
            <a:r>
              <a:rPr lang="en-US"/>
              <a:t>. 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b="1"/>
              <a:t>Yang dibutuhkan hanyalah beberapa poin panduan untuk melatih diri pada pola dasarnya.</a:t>
            </a:r>
            <a:r>
              <a:rPr lang="en-US"/>
              <a:t>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4" name="Google Shape;1114;p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Contoh kasus : klasifikasi gambar gerhana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Anda memiliki data pelatihan Anda yang hanya terdiri dari dua gambar (gambar kanan)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Anda perlu mengklasifikasikan gambar gerhana dari gambar non-gerhana.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Permasalahnya adalah kita perlu membangun model kita hanya pada satu set pelatihan yang hanya terdiri dari dua gambar.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Oleh karena itu, untuk menerapkan algoritma supervised learning, Anda membutuhkan lebih banyak data untuk membangun model yang presisi dan akurat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Untuk mengatasi tujuan ini, solusi sederhana adalah dengan mengunduh beberapa gambar serupa dari web untuk meningkatkan menambah jumlah  data pelatihan yang ada.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Namun, model yang dibangun dengan pendekatan supervised-learning membutuhkan label untuk setiap data latih yang digunakan 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Sehingga kita perlu melakukan proses pelabelan untuk</a:t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3" name="Google Shape;1123;p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1" name="Google Shape;1131;p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8" name="Google Shape;1138;p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5" name="Google Shape;1145;p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1" name="Google Shape;1151;p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## Optional untuk dibahas karena sudah sedikit masuk ke model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Pada sesi lab 10.2 Anda akan mencoba melakukan pelabelan secara semi otomatis dengan pendekatan pseudo labelling.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9" name="Google Shape;1159;p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5" name="Google Shape;1165;p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1" name="Google Shape;1171;p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9">
          <a:extLst>
            <a:ext uri="{FF2B5EF4-FFF2-40B4-BE49-F238E27FC236}">
              <a16:creationId xmlns:a16="http://schemas.microsoft.com/office/drawing/2014/main" id="{580CA4AE-79FA-6F9E-BAA1-16019EC4E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89:notes">
            <a:extLst>
              <a:ext uri="{FF2B5EF4-FFF2-40B4-BE49-F238E27FC236}">
                <a16:creationId xmlns:a16="http://schemas.microsoft.com/office/drawing/2014/main" id="{27BBD1D7-1D9A-9684-5F98-C75665BE86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1" name="Google Shape;1171;p89:notes">
            <a:extLst>
              <a:ext uri="{FF2B5EF4-FFF2-40B4-BE49-F238E27FC236}">
                <a16:creationId xmlns:a16="http://schemas.microsoft.com/office/drawing/2014/main" id="{DB51A6A7-9D42-D7FA-F98A-4BC1A335F9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251454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9">
          <a:extLst>
            <a:ext uri="{FF2B5EF4-FFF2-40B4-BE49-F238E27FC236}">
              <a16:creationId xmlns:a16="http://schemas.microsoft.com/office/drawing/2014/main" id="{96ABB1CD-E82C-479A-03D6-0E0D3EF6A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89:notes">
            <a:extLst>
              <a:ext uri="{FF2B5EF4-FFF2-40B4-BE49-F238E27FC236}">
                <a16:creationId xmlns:a16="http://schemas.microsoft.com/office/drawing/2014/main" id="{A173D33F-617C-C31B-72E8-45D48CA4D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1" name="Google Shape;1171;p89:notes">
            <a:extLst>
              <a:ext uri="{FF2B5EF4-FFF2-40B4-BE49-F238E27FC236}">
                <a16:creationId xmlns:a16="http://schemas.microsoft.com/office/drawing/2014/main" id="{754F2B68-12AC-9B49-14E9-91645FB30B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125589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9" name="Google Shape;1179;p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7" name="Google Shape;1187;p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p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3" name="Google Shape;1193;p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9" name="Google Shape;1199;p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Pada sesi lab 10.3 Anda akan mencoba melakukan segmentasi pada gambar. Proses segmentasi ini dilakukan dengan ‘melabelkan’ pixel-pixel yang ada pada gambar sehingga bagian atau obyek dari gambar yang ingin di tonjolkan dapat terlihat lebih jelas. </a:t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7">
          <a:extLst>
            <a:ext uri="{FF2B5EF4-FFF2-40B4-BE49-F238E27FC236}">
              <a16:creationId xmlns:a16="http://schemas.microsoft.com/office/drawing/2014/main" id="{69062AD1-79DC-D2A7-D2C2-5CC2E196F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93:notes">
            <a:extLst>
              <a:ext uri="{FF2B5EF4-FFF2-40B4-BE49-F238E27FC236}">
                <a16:creationId xmlns:a16="http://schemas.microsoft.com/office/drawing/2014/main" id="{AF80D23F-3295-50D7-926E-129767B1FB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9" name="Google Shape;1199;p93:notes">
            <a:extLst>
              <a:ext uri="{FF2B5EF4-FFF2-40B4-BE49-F238E27FC236}">
                <a16:creationId xmlns:a16="http://schemas.microsoft.com/office/drawing/2014/main" id="{0CC277F7-902A-60DC-C4D4-FFF8E8D66C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Pada sesi lab 10.3 Anda akan mencoba melakukan segmentasi pada gambar. Proses segmentasi ini dilakukan dengan ‘melabelkan’ pixel-pixel yang ada pada gambar sehingga bagian atau obyek dari gambar yang ingin di tonjolkan dapat terlihat lebih jelas.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00653767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7">
          <a:extLst>
            <a:ext uri="{FF2B5EF4-FFF2-40B4-BE49-F238E27FC236}">
              <a16:creationId xmlns:a16="http://schemas.microsoft.com/office/drawing/2014/main" id="{5294E07E-D19E-A80F-B73E-73EF65FB6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93:notes">
            <a:extLst>
              <a:ext uri="{FF2B5EF4-FFF2-40B4-BE49-F238E27FC236}">
                <a16:creationId xmlns:a16="http://schemas.microsoft.com/office/drawing/2014/main" id="{795828E9-C8B1-0A49-6E34-7EE5B62198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9" name="Google Shape;1199;p93:notes">
            <a:extLst>
              <a:ext uri="{FF2B5EF4-FFF2-40B4-BE49-F238E27FC236}">
                <a16:creationId xmlns:a16="http://schemas.microsoft.com/office/drawing/2014/main" id="{08D0B747-137D-ED0A-34FF-648811D7D5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Pada sesi lab 10.3 Anda akan mencoba melakukan segmentasi pada gambar. Proses segmentasi ini dilakukan dengan ‘melabelkan’ pixel-pixel yang ada pada gambar sehingga bagian atau obyek dari gambar yang ingin di tonjolkan dapat terlihat lebih jelas.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33541230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5" name="Google Shape;1205;p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3">
          <a:extLst>
            <a:ext uri="{FF2B5EF4-FFF2-40B4-BE49-F238E27FC236}">
              <a16:creationId xmlns:a16="http://schemas.microsoft.com/office/drawing/2014/main" id="{7BEE4C33-1D1C-EDF1-8C6F-FFFB70DD1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94:notes">
            <a:extLst>
              <a:ext uri="{FF2B5EF4-FFF2-40B4-BE49-F238E27FC236}">
                <a16:creationId xmlns:a16="http://schemas.microsoft.com/office/drawing/2014/main" id="{2A0EEEC4-CE43-60B8-C2A4-6A0C8ADABA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5" name="Google Shape;1205;p94:notes">
            <a:extLst>
              <a:ext uri="{FF2B5EF4-FFF2-40B4-BE49-F238E27FC236}">
                <a16:creationId xmlns:a16="http://schemas.microsoft.com/office/drawing/2014/main" id="{36AF1A8B-1068-3C99-B13E-0D2538F275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7600272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p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3" name="Google Shape;1323;p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p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1" name="Google Shape;1331;p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9">
          <a:extLst>
            <a:ext uri="{FF2B5EF4-FFF2-40B4-BE49-F238E27FC236}">
              <a16:creationId xmlns:a16="http://schemas.microsoft.com/office/drawing/2014/main" id="{440BEB57-E438-51E3-E21F-B4E297D3E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p96:notes">
            <a:extLst>
              <a:ext uri="{FF2B5EF4-FFF2-40B4-BE49-F238E27FC236}">
                <a16:creationId xmlns:a16="http://schemas.microsoft.com/office/drawing/2014/main" id="{327BFE9F-F2AA-1590-76B7-A971004A21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1" name="Google Shape;1331;p96:notes">
            <a:extLst>
              <a:ext uri="{FF2B5EF4-FFF2-40B4-BE49-F238E27FC236}">
                <a16:creationId xmlns:a16="http://schemas.microsoft.com/office/drawing/2014/main" id="{B478E297-63D9-358F-439A-4463825564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6648467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9">
          <a:extLst>
            <a:ext uri="{FF2B5EF4-FFF2-40B4-BE49-F238E27FC236}">
              <a16:creationId xmlns:a16="http://schemas.microsoft.com/office/drawing/2014/main" id="{698BFDC3-8527-5B6C-E84C-E9AE9B5A7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p96:notes">
            <a:extLst>
              <a:ext uri="{FF2B5EF4-FFF2-40B4-BE49-F238E27FC236}">
                <a16:creationId xmlns:a16="http://schemas.microsoft.com/office/drawing/2014/main" id="{5E1D41D3-04A3-8EB1-F68A-C1CEA68004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1" name="Google Shape;1331;p96:notes">
            <a:extLst>
              <a:ext uri="{FF2B5EF4-FFF2-40B4-BE49-F238E27FC236}">
                <a16:creationId xmlns:a16="http://schemas.microsoft.com/office/drawing/2014/main" id="{2660899A-8F70-4A59-34E6-2ADE540B81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2989150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7" name="Google Shape;1337;p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5">
          <a:extLst>
            <a:ext uri="{FF2B5EF4-FFF2-40B4-BE49-F238E27FC236}">
              <a16:creationId xmlns:a16="http://schemas.microsoft.com/office/drawing/2014/main" id="{16E2D0D7-EBBA-AD00-982E-EAD508B09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97:notes">
            <a:extLst>
              <a:ext uri="{FF2B5EF4-FFF2-40B4-BE49-F238E27FC236}">
                <a16:creationId xmlns:a16="http://schemas.microsoft.com/office/drawing/2014/main" id="{082F9905-E91D-4384-3708-763224544F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7" name="Google Shape;1337;p97:notes">
            <a:extLst>
              <a:ext uri="{FF2B5EF4-FFF2-40B4-BE49-F238E27FC236}">
                <a16:creationId xmlns:a16="http://schemas.microsoft.com/office/drawing/2014/main" id="{50528599-F521-C19F-84F5-7FAB65875F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6744944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3" name="Google Shape;1343;p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1">
          <a:extLst>
            <a:ext uri="{FF2B5EF4-FFF2-40B4-BE49-F238E27FC236}">
              <a16:creationId xmlns:a16="http://schemas.microsoft.com/office/drawing/2014/main" id="{DD6106E9-FBD8-C672-9F26-4DA4865CC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98:notes">
            <a:extLst>
              <a:ext uri="{FF2B5EF4-FFF2-40B4-BE49-F238E27FC236}">
                <a16:creationId xmlns:a16="http://schemas.microsoft.com/office/drawing/2014/main" id="{14FBD7CD-4AB5-EF65-577F-7A55F3D865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3" name="Google Shape;1343;p98:notes">
            <a:extLst>
              <a:ext uri="{FF2B5EF4-FFF2-40B4-BE49-F238E27FC236}">
                <a16:creationId xmlns:a16="http://schemas.microsoft.com/office/drawing/2014/main" id="{C845C47E-0255-ACAF-A62B-F3AB3B1DF7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9092099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p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7" name="Google Shape;1367;p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p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0" name="Google Shape;1390;p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p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6" name="Google Shape;1396;p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p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2" name="Google Shape;1402;p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p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9" name="Google Shape;1409;p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p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5" name="Google Shape;1415;p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p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1" name="Google Shape;1421;p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Google Shape;1426;p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7" name="Google Shape;1427;p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p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6" name="Google Shape;1436;p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p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3" name="Google Shape;1443;p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1">
          <a:extLst>
            <a:ext uri="{FF2B5EF4-FFF2-40B4-BE49-F238E27FC236}">
              <a16:creationId xmlns:a16="http://schemas.microsoft.com/office/drawing/2014/main" id="{29848D5F-6BCC-0658-B47D-F6F146653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p109:notes">
            <a:extLst>
              <a:ext uri="{FF2B5EF4-FFF2-40B4-BE49-F238E27FC236}">
                <a16:creationId xmlns:a16="http://schemas.microsoft.com/office/drawing/2014/main" id="{D1D23DCB-D8C6-6157-1215-F6B926C8BD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3" name="Google Shape;1443;p109:notes">
            <a:extLst>
              <a:ext uri="{FF2B5EF4-FFF2-40B4-BE49-F238E27FC236}">
                <a16:creationId xmlns:a16="http://schemas.microsoft.com/office/drawing/2014/main" id="{04D86CF6-EFFE-716C-99BC-BAF00A112E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8011530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p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9" name="Google Shape;1449;p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42" name="Google Shape;542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822"/>
            <a:ext cx="12186987" cy="686082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588526" y="2292336"/>
            <a:ext cx="9144000" cy="1135253"/>
          </a:xfrm>
        </p:spPr>
        <p:txBody>
          <a:bodyPr anchor="b">
            <a:normAutofit/>
          </a:bodyPr>
          <a:lstStyle>
            <a:lvl1pPr algn="r">
              <a:defRPr sz="4400" b="1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88526" y="3574742"/>
            <a:ext cx="9144000" cy="628768"/>
          </a:xfrm>
        </p:spPr>
        <p:txBody>
          <a:bodyPr/>
          <a:lstStyle>
            <a:lvl1pPr marL="0" indent="0" algn="r">
              <a:buNone/>
              <a:defRPr sz="24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045947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823"/>
            <a:ext cx="12192001" cy="686364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191069"/>
            <a:ext cx="10515600" cy="791571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176532"/>
            <a:ext cx="10515600" cy="500043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35989155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822"/>
            <a:ext cx="12368807" cy="696318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1482134"/>
            <a:ext cx="10515600" cy="537736"/>
          </a:xfrm>
        </p:spPr>
        <p:txBody>
          <a:bodyPr>
            <a:normAutofit/>
          </a:bodyPr>
          <a:lstStyle>
            <a:lvl1pPr algn="ctr">
              <a:defRPr sz="3200" b="1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2224586"/>
            <a:ext cx="10515600" cy="403973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37278450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822"/>
            <a:ext cx="12186987" cy="686082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5692" y="3029742"/>
            <a:ext cx="10515600" cy="795693"/>
          </a:xfrm>
        </p:spPr>
        <p:txBody>
          <a:bodyPr anchor="b">
            <a:normAutofit/>
          </a:bodyPr>
          <a:lstStyle>
            <a:lvl1pPr algn="ctr">
              <a:defRPr sz="4400" b="1" baseline="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Add text to end slide</a:t>
            </a:r>
          </a:p>
        </p:txBody>
      </p:sp>
    </p:spTree>
    <p:extLst>
      <p:ext uri="{BB962C8B-B14F-4D97-AF65-F5344CB8AC3E}">
        <p14:creationId xmlns:p14="http://schemas.microsoft.com/office/powerpoint/2010/main" val="700665074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823"/>
            <a:ext cx="12192001" cy="686364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176532"/>
            <a:ext cx="5181600" cy="5000431"/>
          </a:xfr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176532"/>
            <a:ext cx="5181600" cy="5000431"/>
          </a:xfr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191069"/>
            <a:ext cx="10515600" cy="791571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9003865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822"/>
            <a:ext cx="12368807" cy="696318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2238234"/>
            <a:ext cx="5181600" cy="3938730"/>
          </a:xfr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2238234"/>
            <a:ext cx="5181600" cy="3938729"/>
          </a:xfr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1392073"/>
            <a:ext cx="10515600" cy="641444"/>
          </a:xfrm>
        </p:spPr>
        <p:txBody>
          <a:bodyPr>
            <a:normAutofit/>
          </a:bodyPr>
          <a:lstStyle>
            <a:lvl1pPr algn="ctr">
              <a:defRPr sz="3600" b="1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858131880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876821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7389241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Slide">
  <p:cSld name="Cover Slide">
    <p:bg>
      <p:bgPr>
        <a:solidFill>
          <a:schemeClr val="lt1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2"/>
          <p:cNvSpPr txBox="1">
            <a:spLocks noGrp="1"/>
          </p:cNvSpPr>
          <p:nvPr>
            <p:ph type="subTitle" idx="1"/>
          </p:nvPr>
        </p:nvSpPr>
        <p:spPr>
          <a:xfrm>
            <a:off x="351689" y="3236257"/>
            <a:ext cx="2349308" cy="292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6" name="Google Shape;26;p62"/>
          <p:cNvSpPr txBox="1">
            <a:spLocks noGrp="1"/>
          </p:cNvSpPr>
          <p:nvPr>
            <p:ph type="ctrTitle"/>
          </p:nvPr>
        </p:nvSpPr>
        <p:spPr>
          <a:xfrm>
            <a:off x="351690" y="3683562"/>
            <a:ext cx="7779939" cy="925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Garamond"/>
              <a:buNone/>
              <a:defRPr sz="60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4841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oint Layout">
  <p:cSld name="1_Point Layou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3"/>
          <p:cNvSpPr txBox="1">
            <a:spLocks noGrp="1"/>
          </p:cNvSpPr>
          <p:nvPr>
            <p:ph type="title"/>
          </p:nvPr>
        </p:nvSpPr>
        <p:spPr>
          <a:xfrm>
            <a:off x="525162" y="902510"/>
            <a:ext cx="10645346" cy="820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3"/>
          <p:cNvSpPr txBox="1">
            <a:spLocks noGrp="1"/>
          </p:cNvSpPr>
          <p:nvPr>
            <p:ph type="body" idx="1"/>
          </p:nvPr>
        </p:nvSpPr>
        <p:spPr>
          <a:xfrm>
            <a:off x="525162" y="1960605"/>
            <a:ext cx="10645346" cy="4131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63"/>
          <p:cNvSpPr txBox="1">
            <a:spLocks noGrp="1"/>
          </p:cNvSpPr>
          <p:nvPr>
            <p:ph type="sldNum" idx="12"/>
          </p:nvPr>
        </p:nvSpPr>
        <p:spPr>
          <a:xfrm>
            <a:off x="11335265" y="5843564"/>
            <a:ext cx="6091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94903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29944-BAFE-44F5-802D-2BA0D8816977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08757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type="tx">
  <p:cSld name="Title and 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6"/>
          <p:cNvSpPr txBox="1">
            <a:spLocks noGrp="1"/>
          </p:cNvSpPr>
          <p:nvPr>
            <p:ph type="title"/>
          </p:nvPr>
        </p:nvSpPr>
        <p:spPr>
          <a:xfrm>
            <a:off x="414867" y="592484"/>
            <a:ext cx="11358000" cy="761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66"/>
          <p:cNvSpPr txBox="1">
            <a:spLocks noGrp="1"/>
          </p:cNvSpPr>
          <p:nvPr>
            <p:ph type="body" idx="1"/>
          </p:nvPr>
        </p:nvSpPr>
        <p:spPr>
          <a:xfrm>
            <a:off x="414867" y="1536226"/>
            <a:ext cx="11358000" cy="4551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66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4000000" cy="3998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" name="Google Shape;62;p66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4000000" cy="3998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" name="Google Shape;63;p66"/>
          <p:cNvSpPr txBox="1">
            <a:spLocks noGrp="1"/>
          </p:cNvSpPr>
          <p:nvPr>
            <p:ph type="sldNum" idx="12"/>
          </p:nvPr>
        </p:nvSpPr>
        <p:spPr>
          <a:xfrm>
            <a:off x="11296649" y="6214730"/>
            <a:ext cx="730400" cy="522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33"/>
              <a:buFont typeface="Times New Roman"/>
              <a:buNone/>
              <a:defRPr sz="1333" b="1" i="0" u="none" strike="noStrike" cap="non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33"/>
              <a:buFont typeface="Times New Roman"/>
              <a:buNone/>
              <a:defRPr sz="1333" b="1" i="0" u="none" strike="noStrike" cap="non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33"/>
              <a:buFont typeface="Times New Roman"/>
              <a:buNone/>
              <a:defRPr sz="1333" b="1" i="0" u="none" strike="noStrike" cap="non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33"/>
              <a:buFont typeface="Times New Roman"/>
              <a:buNone/>
              <a:defRPr sz="1333" b="1" i="0" u="none" strike="noStrike" cap="non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33"/>
              <a:buFont typeface="Times New Roman"/>
              <a:buNone/>
              <a:defRPr sz="1333" b="1" i="0" u="none" strike="noStrike" cap="non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33"/>
              <a:buFont typeface="Times New Roman"/>
              <a:buNone/>
              <a:defRPr sz="1333" b="1" i="0" u="none" strike="noStrike" cap="non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33"/>
              <a:buFont typeface="Times New Roman"/>
              <a:buNone/>
              <a:defRPr sz="1333" b="1" i="0" u="none" strike="noStrike" cap="non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33"/>
              <a:buFont typeface="Times New Roman"/>
              <a:buNone/>
              <a:defRPr sz="1333" b="1" i="0" u="none" strike="noStrike" cap="non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33"/>
              <a:buFont typeface="Times New Roman"/>
              <a:buNone/>
              <a:defRPr sz="1333" b="1" i="0" u="none" strike="noStrike" cap="non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605693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enutup">
  <p:cSld name="Penutup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02373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2_Two Conten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title"/>
          </p:nvPr>
        </p:nvSpPr>
        <p:spPr>
          <a:xfrm>
            <a:off x="395961" y="961440"/>
            <a:ext cx="10496521" cy="69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body" idx="1"/>
          </p:nvPr>
        </p:nvSpPr>
        <p:spPr>
          <a:xfrm>
            <a:off x="395960" y="1875054"/>
            <a:ext cx="5181600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8853" lvl="0" indent="-45664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217706" lvl="1" indent="-45664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826560" lvl="2" indent="-45664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5413" lvl="3" indent="-45664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044266" lvl="4" indent="-45664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3653119" lvl="5" indent="-45664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1973" lvl="6" indent="-45664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0826" lvl="7" indent="-45664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79679" lvl="8" indent="-45664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body" idx="2"/>
          </p:nvPr>
        </p:nvSpPr>
        <p:spPr>
          <a:xfrm>
            <a:off x="5710881" y="1875054"/>
            <a:ext cx="5181600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8853" lvl="0" indent="-45664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217706" lvl="1" indent="-45664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826560" lvl="2" indent="-45664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5413" lvl="3" indent="-45664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044266" lvl="4" indent="-45664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3653119" lvl="5" indent="-45664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1973" lvl="6" indent="-45664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0826" lvl="7" indent="-45664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79679" lvl="8" indent="-45664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83"/>
          <p:cNvSpPr txBox="1">
            <a:spLocks noGrp="1"/>
          </p:cNvSpPr>
          <p:nvPr>
            <p:ph type="sldNum" idx="12"/>
          </p:nvPr>
        </p:nvSpPr>
        <p:spPr>
          <a:xfrm>
            <a:off x="11320848" y="5895032"/>
            <a:ext cx="62759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6635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ustom Layout">
  <p:cSld name="2_Custom Layou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9"/>
          <p:cNvSpPr txBox="1">
            <a:spLocks noGrp="1"/>
          </p:cNvSpPr>
          <p:nvPr>
            <p:ph type="sldNum" idx="12"/>
          </p:nvPr>
        </p:nvSpPr>
        <p:spPr>
          <a:xfrm>
            <a:off x="11450596" y="5843564"/>
            <a:ext cx="51028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4" name="Google Shape;54;p119"/>
          <p:cNvSpPr txBox="1">
            <a:spLocks noGrp="1"/>
          </p:cNvSpPr>
          <p:nvPr>
            <p:ph type="ctrTitle"/>
          </p:nvPr>
        </p:nvSpPr>
        <p:spPr>
          <a:xfrm>
            <a:off x="304029" y="2734966"/>
            <a:ext cx="9144772" cy="1614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aramond"/>
              <a:buNone/>
              <a:defRPr sz="48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014310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20"/>
          <p:cNvSpPr txBox="1">
            <a:spLocks noGrp="1"/>
          </p:cNvSpPr>
          <p:nvPr>
            <p:ph type="body" idx="1"/>
          </p:nvPr>
        </p:nvSpPr>
        <p:spPr>
          <a:xfrm>
            <a:off x="415601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867"/>
            </a:lvl1pPr>
            <a:lvl2pPr marL="1219170" lvl="1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600"/>
            </a:lvl2pPr>
            <a:lvl3pPr marL="1828754" lvl="2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600"/>
            </a:lvl3pPr>
            <a:lvl4pPr marL="2438339" lvl="3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600"/>
            </a:lvl4pPr>
            <a:lvl5pPr marL="3047924" lvl="4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600"/>
            </a:lvl5pPr>
            <a:lvl6pPr marL="3657509" lvl="5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600"/>
            </a:lvl6pPr>
            <a:lvl7pPr marL="4267093" lvl="6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600"/>
            </a:lvl7pPr>
            <a:lvl8pPr marL="4876678" lvl="7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600"/>
            </a:lvl8pPr>
            <a:lvl9pPr marL="5486263" lvl="8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58" name="Google Shape;58;p120"/>
          <p:cNvSpPr txBox="1">
            <a:spLocks noGrp="1"/>
          </p:cNvSpPr>
          <p:nvPr>
            <p:ph type="body" idx="2"/>
          </p:nvPr>
        </p:nvSpPr>
        <p:spPr>
          <a:xfrm>
            <a:off x="6443201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867"/>
            </a:lvl1pPr>
            <a:lvl2pPr marL="1219170" lvl="1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600"/>
            </a:lvl2pPr>
            <a:lvl3pPr marL="1828754" lvl="2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600"/>
            </a:lvl3pPr>
            <a:lvl4pPr marL="2438339" lvl="3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600"/>
            </a:lvl4pPr>
            <a:lvl5pPr marL="3047924" lvl="4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600"/>
            </a:lvl5pPr>
            <a:lvl6pPr marL="3657509" lvl="5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600"/>
            </a:lvl6pPr>
            <a:lvl7pPr marL="4267093" lvl="6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600"/>
            </a:lvl7pPr>
            <a:lvl8pPr marL="4876678" lvl="7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600"/>
            </a:lvl8pPr>
            <a:lvl9pPr marL="5486263" lvl="8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59" name="Google Shape;59;p120"/>
          <p:cNvSpPr txBox="1">
            <a:spLocks noGrp="1"/>
          </p:cNvSpPr>
          <p:nvPr>
            <p:ph type="sldNum" idx="12"/>
          </p:nvPr>
        </p:nvSpPr>
        <p:spPr>
          <a:xfrm>
            <a:off x="11296612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4675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1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62" name="Google Shape;62;p121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63" name="Google Shape;63;p121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57189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1219170" lvl="1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828754" lvl="2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2438339" lvl="3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3047924" lvl="4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3657509" lvl="5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4267093" lvl="6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4876678" lvl="7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5486263" lvl="8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21"/>
          <p:cNvSpPr txBox="1">
            <a:spLocks noGrp="1"/>
          </p:cNvSpPr>
          <p:nvPr>
            <p:ph type="sldNum" idx="12"/>
          </p:nvPr>
        </p:nvSpPr>
        <p:spPr>
          <a:xfrm>
            <a:off x="11296612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777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F29944-BAFE-44F5-802D-2BA0D8816977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768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  <p:sldLayoutId id="2147483805" r:id="rId12"/>
    <p:sldLayoutId id="2147483806" r:id="rId13"/>
    <p:sldLayoutId id="2147483807" r:id="rId14"/>
    <p:sldLayoutId id="2147483808" r:id="rId15"/>
    <p:sldLayoutId id="2147483809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jpg"/><Relationship Id="rId4" Type="http://schemas.openxmlformats.org/officeDocument/2006/relationships/image" Target="../media/image64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>
            <a:spLocks noGrp="1"/>
          </p:cNvSpPr>
          <p:nvPr>
            <p:ph type="ctrTitle"/>
          </p:nvPr>
        </p:nvSpPr>
        <p:spPr>
          <a:xfrm>
            <a:off x="1676400" y="2292336"/>
            <a:ext cx="10056126" cy="1135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Garamond"/>
              <a:buNone/>
            </a:pPr>
            <a:r>
              <a:rPr lang="en-US" sz="4800" dirty="0"/>
              <a:t>Data Preparation 2: </a:t>
            </a:r>
            <a:r>
              <a:rPr lang="en-US" sz="4800" dirty="0" err="1"/>
              <a:t>Transformasi</a:t>
            </a:r>
            <a:r>
              <a:rPr lang="en-US" sz="4800" dirty="0"/>
              <a:t> data</a:t>
            </a:r>
            <a:endParaRPr sz="4800" dirty="0"/>
          </a:p>
        </p:txBody>
      </p:sp>
      <p:sp>
        <p:nvSpPr>
          <p:cNvPr id="96" name="Google Shape;96;p2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dirty="0" err="1"/>
              <a:t>Pertemuan</a:t>
            </a:r>
            <a:r>
              <a:rPr lang="en-US" dirty="0"/>
              <a:t> ke-6</a:t>
            </a:r>
            <a:endParaRPr dirty="0"/>
          </a:p>
        </p:txBody>
      </p:sp>
      <p:sp>
        <p:nvSpPr>
          <p:cNvPr id="2" name="Google Shape;96;p2">
            <a:extLst>
              <a:ext uri="{FF2B5EF4-FFF2-40B4-BE49-F238E27FC236}">
                <a16:creationId xmlns:a16="http://schemas.microsoft.com/office/drawing/2014/main" id="{DB7E4B70-D648-67C0-CDCD-7D2762C9E159}"/>
              </a:ext>
            </a:extLst>
          </p:cNvPr>
          <p:cNvSpPr txBox="1">
            <a:spLocks/>
          </p:cNvSpPr>
          <p:nvPr/>
        </p:nvSpPr>
        <p:spPr>
          <a:xfrm>
            <a:off x="2588526" y="4687262"/>
            <a:ext cx="9144000" cy="76484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chemeClr val="dk1"/>
              </a:buClr>
              <a:buSzPts val="1600"/>
            </a:pPr>
            <a:r>
              <a:rPr lang="en-US" dirty="0"/>
              <a:t>Dr. Muhammad </a:t>
            </a:r>
            <a:r>
              <a:rPr lang="en-US" dirty="0" err="1"/>
              <a:t>Fakhrurrifqi</a:t>
            </a:r>
            <a:endParaRPr lang="en-US" dirty="0"/>
          </a:p>
          <a:p>
            <a:pPr>
              <a:spcBef>
                <a:spcPts val="0"/>
              </a:spcBef>
              <a:buClr>
                <a:schemeClr val="dk1"/>
              </a:buClr>
              <a:buSzPts val="1600"/>
            </a:pPr>
            <a:r>
              <a:rPr lang="en-US" dirty="0"/>
              <a:t>Anindita </a:t>
            </a:r>
            <a:r>
              <a:rPr lang="en-US" dirty="0" err="1"/>
              <a:t>Suryarasmi</a:t>
            </a:r>
            <a:r>
              <a:rPr lang="en-US" dirty="0"/>
              <a:t>, Ph.D.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/>
              <a:t>Data Preparation dalam CRISP-DM</a:t>
            </a:r>
            <a:endParaRPr/>
          </a:p>
        </p:txBody>
      </p:sp>
      <p:sp>
        <p:nvSpPr>
          <p:cNvPr id="134" name="Google Shape;134;p5"/>
          <p:cNvSpPr txBox="1">
            <a:spLocks noGrp="1"/>
          </p:cNvSpPr>
          <p:nvPr>
            <p:ph type="sldNum" idx="4294967295"/>
          </p:nvPr>
        </p:nvSpPr>
        <p:spPr>
          <a:xfrm>
            <a:off x="11582400" y="5843588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35" name="Google Shape;135;p5"/>
          <p:cNvSpPr txBox="1"/>
          <p:nvPr/>
        </p:nvSpPr>
        <p:spPr>
          <a:xfrm>
            <a:off x="86085" y="1822178"/>
            <a:ext cx="5194575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sz="20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Akronim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dari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2000" b="1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CR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oss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ndustry 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tandard 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rocess 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ata 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ining</a:t>
            </a:r>
            <a:endParaRPr sz="2000" b="0" i="0" u="none" strike="noStrike" cap="none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sz="20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Metodologi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umum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untuk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data mining,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analitik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, dan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proyek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data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sains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berfungsi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menstandarkan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proses data mining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lintas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industri</a:t>
            </a:r>
            <a:endParaRPr sz="2000" b="0" i="0" u="none" strike="noStrike" cap="none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sz="20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Digunakan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untuk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semua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level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dari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pemula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hingga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pakar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2000" b="0" i="0" u="none" strike="noStrike" cap="none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rbe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36" name="Google Shape;136;p5"/>
          <p:cNvGrpSpPr/>
          <p:nvPr/>
        </p:nvGrpSpPr>
        <p:grpSpPr>
          <a:xfrm>
            <a:off x="5280660" y="1200150"/>
            <a:ext cx="6911340" cy="4823460"/>
            <a:chOff x="2716" y="718"/>
            <a:chExt cx="2954" cy="2093"/>
          </a:xfrm>
        </p:grpSpPr>
        <p:pic>
          <p:nvPicPr>
            <p:cNvPr id="137" name="Google Shape;137;p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716" y="718"/>
              <a:ext cx="2954" cy="20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" name="Google Shape;138;p5"/>
            <p:cNvSpPr/>
            <p:nvPr/>
          </p:nvSpPr>
          <p:spPr>
            <a:xfrm>
              <a:off x="5451" y="2653"/>
              <a:ext cx="0" cy="0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orbe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9D4F5-D5F8-254B-3695-0335EC043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Cermati</a:t>
            </a:r>
            <a:r>
              <a:rPr lang="en-US" dirty="0"/>
              <a:t> : </a:t>
            </a:r>
            <a:r>
              <a:rPr lang="en-US" dirty="0" err="1"/>
              <a:t>Verifikasi</a:t>
            </a:r>
            <a:r>
              <a:rPr lang="en-US" dirty="0"/>
              <a:t> Data 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E1B0E48-49CF-28F9-0026-8A93A5C074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6693178"/>
              </p:ext>
            </p:extLst>
          </p:nvPr>
        </p:nvGraphicFramePr>
        <p:xfrm>
          <a:off x="870098" y="1285073"/>
          <a:ext cx="6533480" cy="2697702"/>
        </p:xfrm>
        <a:graphic>
          <a:graphicData uri="http://schemas.openxmlformats.org/drawingml/2006/table">
            <a:tbl>
              <a:tblPr>
                <a:tableStyleId>{9B037FFF-F5C1-497F-8732-AB426672F5D1}</a:tableStyleId>
              </a:tblPr>
              <a:tblGrid>
                <a:gridCol w="816685">
                  <a:extLst>
                    <a:ext uri="{9D8B030D-6E8A-4147-A177-3AD203B41FA5}">
                      <a16:colId xmlns:a16="http://schemas.microsoft.com/office/drawing/2014/main" val="4259145099"/>
                    </a:ext>
                  </a:extLst>
                </a:gridCol>
                <a:gridCol w="816685">
                  <a:extLst>
                    <a:ext uri="{9D8B030D-6E8A-4147-A177-3AD203B41FA5}">
                      <a16:colId xmlns:a16="http://schemas.microsoft.com/office/drawing/2014/main" val="294131894"/>
                    </a:ext>
                  </a:extLst>
                </a:gridCol>
                <a:gridCol w="816685">
                  <a:extLst>
                    <a:ext uri="{9D8B030D-6E8A-4147-A177-3AD203B41FA5}">
                      <a16:colId xmlns:a16="http://schemas.microsoft.com/office/drawing/2014/main" val="1986308697"/>
                    </a:ext>
                  </a:extLst>
                </a:gridCol>
                <a:gridCol w="816685">
                  <a:extLst>
                    <a:ext uri="{9D8B030D-6E8A-4147-A177-3AD203B41FA5}">
                      <a16:colId xmlns:a16="http://schemas.microsoft.com/office/drawing/2014/main" val="2595801956"/>
                    </a:ext>
                  </a:extLst>
                </a:gridCol>
                <a:gridCol w="816685">
                  <a:extLst>
                    <a:ext uri="{9D8B030D-6E8A-4147-A177-3AD203B41FA5}">
                      <a16:colId xmlns:a16="http://schemas.microsoft.com/office/drawing/2014/main" val="1319897415"/>
                    </a:ext>
                  </a:extLst>
                </a:gridCol>
                <a:gridCol w="816685">
                  <a:extLst>
                    <a:ext uri="{9D8B030D-6E8A-4147-A177-3AD203B41FA5}">
                      <a16:colId xmlns:a16="http://schemas.microsoft.com/office/drawing/2014/main" val="2542037071"/>
                    </a:ext>
                  </a:extLst>
                </a:gridCol>
                <a:gridCol w="816685">
                  <a:extLst>
                    <a:ext uri="{9D8B030D-6E8A-4147-A177-3AD203B41FA5}">
                      <a16:colId xmlns:a16="http://schemas.microsoft.com/office/drawing/2014/main" val="24663325"/>
                    </a:ext>
                  </a:extLst>
                </a:gridCol>
                <a:gridCol w="816685">
                  <a:extLst>
                    <a:ext uri="{9D8B030D-6E8A-4147-A177-3AD203B41FA5}">
                      <a16:colId xmlns:a16="http://schemas.microsoft.com/office/drawing/2014/main" val="2145289112"/>
                    </a:ext>
                  </a:extLst>
                </a:gridCol>
              </a:tblGrid>
              <a:tr h="5395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JK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 err="1">
                          <a:effectLst/>
                        </a:rPr>
                        <a:t>Usia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Jam Tidur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Olahraga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Screen Time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Berat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Tinggi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Keluhan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64511132"/>
                  </a:ext>
                </a:extLst>
              </a:tr>
              <a:tr h="2697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170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Tidak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430567712"/>
                  </a:ext>
                </a:extLst>
              </a:tr>
              <a:tr h="2697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Laki-laki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75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170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Ya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3649412"/>
                  </a:ext>
                </a:extLst>
              </a:tr>
              <a:tr h="5395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Perempuan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19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160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Ya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871149987"/>
                  </a:ext>
                </a:extLst>
              </a:tr>
              <a:tr h="2697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Pria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21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70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175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Tidak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43238060"/>
                  </a:ext>
                </a:extLst>
              </a:tr>
              <a:tr h="2697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Wanita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10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165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Ya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735780248"/>
                  </a:ext>
                </a:extLst>
              </a:tr>
              <a:tr h="2697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...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...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...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...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...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...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...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...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214737591"/>
                  </a:ext>
                </a:extLst>
              </a:tr>
              <a:tr h="2697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...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...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...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...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...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...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...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Tidak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00787533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04D4273E-B33B-6715-BDC7-387C33AFEE4A}"/>
              </a:ext>
            </a:extLst>
          </p:cNvPr>
          <p:cNvGrpSpPr/>
          <p:nvPr/>
        </p:nvGrpSpPr>
        <p:grpSpPr>
          <a:xfrm>
            <a:off x="1092125" y="4315912"/>
            <a:ext cx="6814716" cy="461665"/>
            <a:chOff x="1032285" y="4789393"/>
            <a:chExt cx="9381116" cy="46166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E1F8B65-BE7F-58A5-989F-28F4C7DA7742}"/>
                </a:ext>
              </a:extLst>
            </p:cNvPr>
            <p:cNvSpPr txBox="1"/>
            <p:nvPr/>
          </p:nvSpPr>
          <p:spPr>
            <a:xfrm>
              <a:off x="1301674" y="4789393"/>
              <a:ext cx="9111727" cy="46166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b="1" i="0" u="none" dirty="0">
                  <a:solidFill>
                    <a:srgbClr val="475569"/>
                  </a:solidFill>
                  <a:latin typeface="Inter"/>
                </a:rPr>
                <a:t>Missing Value </a:t>
              </a:r>
              <a:r>
                <a:rPr b="1" i="0" u="none" dirty="0" err="1">
                  <a:solidFill>
                    <a:srgbClr val="475569"/>
                  </a:solidFill>
                  <a:latin typeface="Inter"/>
                </a:rPr>
                <a:t>Berpola</a:t>
              </a:r>
              <a:r>
                <a:rPr b="1" i="0" u="none" dirty="0">
                  <a:solidFill>
                    <a:srgbClr val="475569"/>
                  </a:solidFill>
                  <a:latin typeface="Inter"/>
                </a:rPr>
                <a:t>:</a:t>
              </a:r>
              <a:r>
                <a:rPr b="0" i="0" u="none" dirty="0">
                  <a:solidFill>
                    <a:srgbClr val="475569"/>
                  </a:solidFill>
                  <a:latin typeface="Inter"/>
                </a:rPr>
                <a:t> </a:t>
              </a:r>
              <a:r>
                <a:rPr lang="en-US" b="0" i="0" u="none" dirty="0" err="1">
                  <a:solidFill>
                    <a:srgbClr val="475569"/>
                  </a:solidFill>
                  <a:latin typeface="Inter"/>
                </a:rPr>
                <a:t>contoh</a:t>
              </a:r>
              <a:r>
                <a:rPr lang="en-US" b="0" i="0" u="none" dirty="0">
                  <a:solidFill>
                    <a:srgbClr val="475569"/>
                  </a:solidFill>
                  <a:latin typeface="Inter"/>
                </a:rPr>
                <a:t> lain : </a:t>
              </a:r>
              <a:r>
                <a:rPr b="0" i="0" u="none" dirty="0">
                  <a:solidFill>
                    <a:srgbClr val="475569"/>
                  </a:solidFill>
                  <a:latin typeface="Inter"/>
                </a:rPr>
                <a:t> </a:t>
              </a:r>
              <a:r>
                <a:rPr b="0" i="0" u="none" dirty="0" err="1">
                  <a:solidFill>
                    <a:srgbClr val="475569"/>
                  </a:solidFill>
                  <a:latin typeface="Inter"/>
                </a:rPr>
                <a:t>variabel</a:t>
              </a:r>
              <a:r>
                <a:rPr b="0" i="0" u="none" dirty="0">
                  <a:solidFill>
                    <a:srgbClr val="475569"/>
                  </a:solidFill>
                  <a:latin typeface="Inter"/>
                </a:rPr>
                <a:t> </a:t>
              </a:r>
              <a:r>
                <a:rPr b="0" i="1" u="none" dirty="0" err="1">
                  <a:solidFill>
                    <a:srgbClr val="475569"/>
                  </a:solidFill>
                  <a:latin typeface="Inter"/>
                </a:rPr>
                <a:t>Stres</a:t>
              </a:r>
              <a:r>
                <a:rPr b="0" i="1" u="none" dirty="0">
                  <a:solidFill>
                    <a:srgbClr val="475569"/>
                  </a:solidFill>
                  <a:latin typeface="Inter"/>
                </a:rPr>
                <a:t> </a:t>
              </a:r>
              <a:r>
                <a:rPr b="0" i="1" u="none" dirty="0" err="1">
                  <a:solidFill>
                    <a:srgbClr val="475569"/>
                  </a:solidFill>
                  <a:latin typeface="Inter"/>
                </a:rPr>
                <a:t>Kerja</a:t>
              </a:r>
              <a:r>
                <a:rPr b="0" i="0" u="none" dirty="0">
                  <a:solidFill>
                    <a:srgbClr val="475569"/>
                  </a:solidFill>
                  <a:latin typeface="Inter"/>
                </a:rPr>
                <a:t> </a:t>
              </a:r>
              <a:r>
                <a:rPr b="0" i="0" u="none" dirty="0" err="1">
                  <a:solidFill>
                    <a:srgbClr val="475569"/>
                  </a:solidFill>
                  <a:latin typeface="Inter"/>
                </a:rPr>
                <a:t>kosong</a:t>
              </a:r>
              <a:r>
                <a:rPr b="0" i="0" u="none" dirty="0">
                  <a:solidFill>
                    <a:srgbClr val="475569"/>
                  </a:solidFill>
                  <a:latin typeface="Inter"/>
                </a:rPr>
                <a:t> 23%. Ini </a:t>
              </a:r>
              <a:r>
                <a:rPr b="0" i="0" u="none" dirty="0" err="1">
                  <a:solidFill>
                    <a:srgbClr val="475569"/>
                  </a:solidFill>
                  <a:latin typeface="Inter"/>
                </a:rPr>
                <a:t>bukan</a:t>
              </a:r>
              <a:r>
                <a:rPr b="0" i="0" u="none" dirty="0">
                  <a:solidFill>
                    <a:srgbClr val="475569"/>
                  </a:solidFill>
                  <a:latin typeface="Inter"/>
                </a:rPr>
                <a:t> </a:t>
              </a:r>
              <a:r>
                <a:rPr b="0" i="0" u="none" dirty="0" err="1">
                  <a:solidFill>
                    <a:srgbClr val="475569"/>
                  </a:solidFill>
                  <a:latin typeface="Inter"/>
                </a:rPr>
                <a:t>sekadar</a:t>
              </a:r>
              <a:r>
                <a:rPr b="0" i="0" u="none" dirty="0">
                  <a:solidFill>
                    <a:srgbClr val="475569"/>
                  </a:solidFill>
                  <a:latin typeface="Inter"/>
                </a:rPr>
                <a:t> data </a:t>
              </a:r>
              <a:r>
                <a:rPr b="0" i="0" u="none" dirty="0" err="1">
                  <a:solidFill>
                    <a:srgbClr val="475569"/>
                  </a:solidFill>
                  <a:latin typeface="Inter"/>
                </a:rPr>
                <a:t>hilang</a:t>
              </a:r>
              <a:r>
                <a:rPr b="0" i="0" u="none" dirty="0">
                  <a:solidFill>
                    <a:srgbClr val="475569"/>
                  </a:solidFill>
                  <a:latin typeface="Inter"/>
                </a:rPr>
                <a:t>, </a:t>
              </a:r>
              <a:r>
                <a:rPr b="0" i="0" u="none" dirty="0" err="1">
                  <a:solidFill>
                    <a:srgbClr val="475569"/>
                  </a:solidFill>
                  <a:latin typeface="Inter"/>
                </a:rPr>
                <a:t>pekerja</a:t>
              </a:r>
              <a:r>
                <a:rPr b="0" i="0" u="none" dirty="0">
                  <a:solidFill>
                    <a:srgbClr val="475569"/>
                  </a:solidFill>
                  <a:latin typeface="Inter"/>
                </a:rPr>
                <a:t> </a:t>
              </a:r>
              <a:r>
                <a:rPr b="0" i="0" u="none" dirty="0" err="1">
                  <a:solidFill>
                    <a:srgbClr val="475569"/>
                  </a:solidFill>
                  <a:latin typeface="Inter"/>
                </a:rPr>
                <a:t>mungkin</a:t>
              </a:r>
              <a:r>
                <a:rPr b="0" i="0" u="none" dirty="0">
                  <a:solidFill>
                    <a:srgbClr val="475569"/>
                  </a:solidFill>
                  <a:latin typeface="Inter"/>
                </a:rPr>
                <a:t> </a:t>
              </a:r>
              <a:r>
                <a:rPr b="0" i="0" u="none" dirty="0" err="1">
                  <a:solidFill>
                    <a:srgbClr val="475569"/>
                  </a:solidFill>
                  <a:latin typeface="Inter"/>
                </a:rPr>
                <a:t>enggan</a:t>
              </a:r>
              <a:r>
                <a:rPr b="0" i="0" u="none" dirty="0">
                  <a:solidFill>
                    <a:srgbClr val="475569"/>
                  </a:solidFill>
                  <a:latin typeface="Inter"/>
                </a:rPr>
                <a:t> </a:t>
              </a:r>
              <a:r>
                <a:rPr b="0" i="0" u="none" dirty="0" err="1">
                  <a:solidFill>
                    <a:srgbClr val="475569"/>
                  </a:solidFill>
                  <a:latin typeface="Inter"/>
                </a:rPr>
                <a:t>mengisi</a:t>
              </a:r>
              <a:r>
                <a:rPr b="0" i="0" u="none" dirty="0">
                  <a:solidFill>
                    <a:srgbClr val="475569"/>
                  </a:solidFill>
                  <a:latin typeface="Inter"/>
                </a:rPr>
                <a:t> </a:t>
              </a:r>
              <a:r>
                <a:rPr b="0" i="0" u="none" dirty="0" err="1">
                  <a:solidFill>
                    <a:srgbClr val="475569"/>
                  </a:solidFill>
                  <a:latin typeface="Inter"/>
                </a:rPr>
                <a:t>karena</a:t>
              </a:r>
              <a:r>
                <a:rPr b="0" i="0" u="none" dirty="0">
                  <a:solidFill>
                    <a:srgbClr val="475569"/>
                  </a:solidFill>
                  <a:latin typeface="Inter"/>
                </a:rPr>
                <a:t> </a:t>
              </a:r>
              <a:r>
                <a:rPr b="0" i="0" u="none" dirty="0" err="1">
                  <a:solidFill>
                    <a:srgbClr val="475569"/>
                  </a:solidFill>
                  <a:latin typeface="Inter"/>
                </a:rPr>
                <a:t>takut</a:t>
              </a:r>
              <a:r>
                <a:rPr b="0" i="0" u="none" dirty="0">
                  <a:solidFill>
                    <a:srgbClr val="475569"/>
                  </a:solidFill>
                  <a:latin typeface="Inter"/>
                </a:rPr>
                <a:t> </a:t>
              </a:r>
              <a:r>
                <a:rPr b="0" i="0" u="none" dirty="0" err="1">
                  <a:solidFill>
                    <a:srgbClr val="475569"/>
                  </a:solidFill>
                  <a:latin typeface="Inter"/>
                </a:rPr>
                <a:t>dampaknya</a:t>
              </a:r>
              <a:r>
                <a:rPr b="0" i="0" u="none" dirty="0">
                  <a:solidFill>
                    <a:srgbClr val="475569"/>
                  </a:solidFill>
                  <a:latin typeface="Inter"/>
                </a:rPr>
                <a:t> pada </a:t>
              </a:r>
              <a:r>
                <a:rPr b="0" i="0" u="none" dirty="0" err="1">
                  <a:solidFill>
                    <a:srgbClr val="475569"/>
                  </a:solidFill>
                  <a:latin typeface="Inter"/>
                </a:rPr>
                <a:t>evaluasi</a:t>
              </a:r>
              <a:r>
                <a:rPr b="0" i="0" u="none" dirty="0">
                  <a:solidFill>
                    <a:srgbClr val="475569"/>
                  </a:solidFill>
                  <a:latin typeface="Inter"/>
                </a:rPr>
                <a:t> </a:t>
              </a:r>
              <a:r>
                <a:rPr b="0" i="0" u="none" dirty="0" err="1">
                  <a:solidFill>
                    <a:srgbClr val="475569"/>
                  </a:solidFill>
                  <a:latin typeface="Inter"/>
                </a:rPr>
                <a:t>karir</a:t>
              </a:r>
              <a:r>
                <a:rPr b="0" i="0" u="none" dirty="0">
                  <a:solidFill>
                    <a:srgbClr val="475569"/>
                  </a:solidFill>
                  <a:latin typeface="Inter"/>
                </a:rPr>
                <a:t>.</a:t>
              </a:r>
            </a:p>
          </p:txBody>
        </p:sp>
        <p:pic>
          <p:nvPicPr>
            <p:cNvPr id="16" name="Picture 15" descr="image.png">
              <a:extLst>
                <a:ext uri="{FF2B5EF4-FFF2-40B4-BE49-F238E27FC236}">
                  <a16:creationId xmlns:a16="http://schemas.microsoft.com/office/drawing/2014/main" id="{1A476605-25E3-EE2B-F46E-72FD698FB6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32285" y="4862664"/>
              <a:ext cx="152400" cy="152400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DA58FF-3B88-F368-DF89-F500EFA59080}"/>
              </a:ext>
            </a:extLst>
          </p:cNvPr>
          <p:cNvGrpSpPr/>
          <p:nvPr/>
        </p:nvGrpSpPr>
        <p:grpSpPr>
          <a:xfrm>
            <a:off x="1018386" y="5325825"/>
            <a:ext cx="6816769" cy="464871"/>
            <a:chOff x="1015925" y="5296572"/>
            <a:chExt cx="9397476" cy="46487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AF1CA38-928C-EFD3-D67D-3BF40614D22B}"/>
                </a:ext>
              </a:extLst>
            </p:cNvPr>
            <p:cNvSpPr txBox="1"/>
            <p:nvPr/>
          </p:nvSpPr>
          <p:spPr>
            <a:xfrm>
              <a:off x="1301675" y="5296572"/>
              <a:ext cx="9111726" cy="46487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b="1" i="0" u="none" dirty="0">
                  <a:solidFill>
                    <a:srgbClr val="475569"/>
                  </a:solidFill>
                  <a:latin typeface="Inter"/>
                </a:rPr>
                <a:t>Nilai Tidak </a:t>
              </a:r>
              <a:r>
                <a:rPr b="1" i="0" u="none" dirty="0" err="1">
                  <a:solidFill>
                    <a:srgbClr val="475569"/>
                  </a:solidFill>
                  <a:latin typeface="Inter"/>
                </a:rPr>
                <a:t>Wajar</a:t>
              </a:r>
              <a:r>
                <a:rPr b="1" i="0" u="none" dirty="0">
                  <a:solidFill>
                    <a:srgbClr val="475569"/>
                  </a:solidFill>
                  <a:latin typeface="Inter"/>
                </a:rPr>
                <a:t> (Data Error):</a:t>
              </a:r>
              <a:r>
                <a:rPr b="0" i="0" u="none" dirty="0">
                  <a:solidFill>
                    <a:srgbClr val="475569"/>
                  </a:solidFill>
                  <a:latin typeface="Inter"/>
                </a:rPr>
                <a:t> </a:t>
              </a:r>
              <a:r>
                <a:rPr b="0" i="0" u="none" dirty="0" err="1">
                  <a:solidFill>
                    <a:srgbClr val="475569"/>
                  </a:solidFill>
                  <a:latin typeface="Inter"/>
                </a:rPr>
                <a:t>Menemukan</a:t>
              </a:r>
              <a:r>
                <a:rPr b="0" i="0" u="none" dirty="0">
                  <a:solidFill>
                    <a:srgbClr val="475569"/>
                  </a:solidFill>
                  <a:latin typeface="Inter"/>
                </a:rPr>
                <a:t> input </a:t>
              </a:r>
              <a:r>
                <a:rPr b="0" i="0" u="none" dirty="0" err="1">
                  <a:solidFill>
                    <a:srgbClr val="475569"/>
                  </a:solidFill>
                  <a:latin typeface="Inter"/>
                </a:rPr>
                <a:t>Usia</a:t>
              </a:r>
              <a:r>
                <a:rPr b="0" i="0" u="none" dirty="0">
                  <a:solidFill>
                    <a:srgbClr val="475569"/>
                  </a:solidFill>
                  <a:latin typeface="Inter"/>
                </a:rPr>
                <a:t> = 5 </a:t>
              </a:r>
              <a:r>
                <a:rPr b="0" i="0" u="none" dirty="0" err="1">
                  <a:solidFill>
                    <a:srgbClr val="475569"/>
                  </a:solidFill>
                  <a:latin typeface="Inter"/>
                </a:rPr>
                <a:t>tahun</a:t>
              </a:r>
              <a:r>
                <a:rPr b="0" i="0" u="none" dirty="0">
                  <a:solidFill>
                    <a:srgbClr val="475569"/>
                  </a:solidFill>
                  <a:latin typeface="Inter"/>
                </a:rPr>
                <a:t> </a:t>
              </a:r>
              <a:r>
                <a:rPr b="0" i="0" u="none" dirty="0" err="1">
                  <a:solidFill>
                    <a:srgbClr val="475569"/>
                  </a:solidFill>
                  <a:latin typeface="Inter"/>
                </a:rPr>
                <a:t>atau</a:t>
              </a:r>
              <a:r>
                <a:rPr b="0" i="0" u="none" dirty="0">
                  <a:solidFill>
                    <a:srgbClr val="475569"/>
                  </a:solidFill>
                  <a:latin typeface="Inter"/>
                </a:rPr>
                <a:t> Jam </a:t>
              </a:r>
              <a:r>
                <a:rPr b="0" i="0" u="none" dirty="0" err="1">
                  <a:solidFill>
                    <a:srgbClr val="475569"/>
                  </a:solidFill>
                  <a:latin typeface="Inter"/>
                </a:rPr>
                <a:t>Kerja</a:t>
              </a:r>
              <a:r>
                <a:rPr b="0" i="0" u="none" dirty="0">
                  <a:solidFill>
                    <a:srgbClr val="475569"/>
                  </a:solidFill>
                  <a:latin typeface="Inter"/>
                </a:rPr>
                <a:t> = 30 jam/</a:t>
              </a:r>
              <a:r>
                <a:rPr b="0" i="0" u="none" dirty="0" err="1">
                  <a:solidFill>
                    <a:srgbClr val="475569"/>
                  </a:solidFill>
                  <a:latin typeface="Inter"/>
                </a:rPr>
                <a:t>hari</a:t>
              </a:r>
              <a:r>
                <a:rPr b="0" i="0" u="none" dirty="0">
                  <a:solidFill>
                    <a:srgbClr val="475569"/>
                  </a:solidFill>
                  <a:latin typeface="Inter"/>
                </a:rPr>
                <a:t>. Ini </a:t>
              </a:r>
              <a:r>
                <a:rPr b="0" i="0" u="none" dirty="0" err="1">
                  <a:solidFill>
                    <a:srgbClr val="475569"/>
                  </a:solidFill>
                  <a:latin typeface="Inter"/>
                </a:rPr>
                <a:t>murni</a:t>
              </a:r>
              <a:r>
                <a:rPr b="0" i="0" u="none" dirty="0">
                  <a:solidFill>
                    <a:srgbClr val="475569"/>
                  </a:solidFill>
                  <a:latin typeface="Inter"/>
                </a:rPr>
                <a:t> </a:t>
              </a:r>
              <a:r>
                <a:rPr b="0" i="0" u="none" dirty="0" err="1">
                  <a:solidFill>
                    <a:srgbClr val="475569"/>
                  </a:solidFill>
                  <a:latin typeface="Inter"/>
                </a:rPr>
                <a:t>kesalahan</a:t>
              </a:r>
              <a:r>
                <a:rPr b="0" i="0" u="none" dirty="0">
                  <a:solidFill>
                    <a:srgbClr val="475569"/>
                  </a:solidFill>
                  <a:latin typeface="Inter"/>
                </a:rPr>
                <a:t> input </a:t>
              </a:r>
              <a:r>
                <a:rPr b="0" i="0" u="none" dirty="0" err="1">
                  <a:solidFill>
                    <a:srgbClr val="475569"/>
                  </a:solidFill>
                  <a:latin typeface="Inter"/>
                </a:rPr>
                <a:t>atau</a:t>
              </a:r>
              <a:r>
                <a:rPr b="0" i="0" u="none" dirty="0">
                  <a:solidFill>
                    <a:srgbClr val="475569"/>
                  </a:solidFill>
                  <a:latin typeface="Inter"/>
                </a:rPr>
                <a:t> sensor data.</a:t>
              </a:r>
            </a:p>
          </p:txBody>
        </p:sp>
        <p:pic>
          <p:nvPicPr>
            <p:cNvPr id="18" name="Picture 17" descr="image.png">
              <a:extLst>
                <a:ext uri="{FF2B5EF4-FFF2-40B4-BE49-F238E27FC236}">
                  <a16:creationId xmlns:a16="http://schemas.microsoft.com/office/drawing/2014/main" id="{F0848357-835F-311F-49B6-96EE17DCE2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15925" y="5325147"/>
              <a:ext cx="152400" cy="152400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1DB5C97-7670-331A-F5A3-050EDCC794FF}"/>
              </a:ext>
            </a:extLst>
          </p:cNvPr>
          <p:cNvGrpSpPr/>
          <p:nvPr/>
        </p:nvGrpSpPr>
        <p:grpSpPr>
          <a:xfrm>
            <a:off x="8099778" y="4120246"/>
            <a:ext cx="4026388" cy="1609590"/>
            <a:chOff x="476250" y="2506414"/>
            <a:chExt cx="5476875" cy="2462212"/>
          </a:xfrm>
        </p:grpSpPr>
        <p:pic>
          <p:nvPicPr>
            <p:cNvPr id="24" name="Picture 23" descr="image.png">
              <a:extLst>
                <a:ext uri="{FF2B5EF4-FFF2-40B4-BE49-F238E27FC236}">
                  <a16:creationId xmlns:a16="http://schemas.microsoft.com/office/drawing/2014/main" id="{5B26FDF9-9569-9F47-D08D-A59BBAB8C2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6250" y="2506414"/>
              <a:ext cx="5476875" cy="2462212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2C635E6-4920-20BC-E4F3-F2432CAFEA57}"/>
                </a:ext>
              </a:extLst>
            </p:cNvPr>
            <p:cNvSpPr txBox="1"/>
            <p:nvPr/>
          </p:nvSpPr>
          <p:spPr>
            <a:xfrm>
              <a:off x="628411" y="2973139"/>
              <a:ext cx="5210651" cy="2667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650" b="1" i="0" u="none" dirty="0">
                  <a:solidFill>
                    <a:srgbClr val="0F172A"/>
                  </a:solidFill>
                  <a:latin typeface="Plus Jakarta Sans"/>
                </a:rPr>
                <a:t>Skor </a:t>
              </a:r>
              <a:r>
                <a:rPr sz="1650" b="1" i="0" u="none" dirty="0" err="1">
                  <a:solidFill>
                    <a:srgbClr val="0F172A"/>
                  </a:solidFill>
                  <a:latin typeface="Plus Jakarta Sans"/>
                </a:rPr>
                <a:t>Kelelahan</a:t>
              </a:r>
              <a:r>
                <a:rPr sz="1650" b="1" i="0" u="none" dirty="0">
                  <a:solidFill>
                    <a:srgbClr val="0F172A"/>
                  </a:solidFill>
                  <a:latin typeface="Plus Jakarta Sans"/>
                </a:rPr>
                <a:t> </a:t>
              </a:r>
              <a:r>
                <a:rPr sz="1650" b="1" i="0" u="none" dirty="0" err="1">
                  <a:solidFill>
                    <a:srgbClr val="0F172A"/>
                  </a:solidFill>
                  <a:latin typeface="Plus Jakarta Sans"/>
                </a:rPr>
                <a:t>Ekstrem</a:t>
              </a:r>
              <a:endParaRPr sz="1650" b="1" i="0" u="none" dirty="0">
                <a:solidFill>
                  <a:srgbClr val="0F172A"/>
                </a:solidFill>
                <a:latin typeface="Plus Jakarta San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656DA05-8E9F-7256-D60A-564F1DFD0AF6}"/>
                </a:ext>
              </a:extLst>
            </p:cNvPr>
            <p:cNvSpPr txBox="1"/>
            <p:nvPr/>
          </p:nvSpPr>
          <p:spPr>
            <a:xfrm>
              <a:off x="733425" y="3265912"/>
              <a:ext cx="4962524" cy="73342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4800" b="0" i="0" u="none" dirty="0">
                  <a:solidFill>
                    <a:srgbClr val="EF4444"/>
                  </a:solidFill>
                  <a:latin typeface="Inter ExtraBold"/>
                </a:rPr>
                <a:t>10 / 10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67E0B37-3CBC-0674-D169-D6E7C777A85B}"/>
                </a:ext>
              </a:extLst>
            </p:cNvPr>
            <p:cNvSpPr txBox="1"/>
            <p:nvPr/>
          </p:nvSpPr>
          <p:spPr>
            <a:xfrm>
              <a:off x="752475" y="4259014"/>
              <a:ext cx="4962525" cy="24288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ts val="1912"/>
                </a:lnSpc>
              </a:pPr>
              <a:r>
                <a:rPr sz="1275" b="0" i="0" u="none" dirty="0" err="1">
                  <a:solidFill>
                    <a:srgbClr val="334155"/>
                  </a:solidFill>
                  <a:latin typeface="Inter"/>
                </a:rPr>
                <a:t>Pekerja</a:t>
              </a:r>
              <a:r>
                <a:rPr sz="1275" b="0" i="0" u="none" dirty="0">
                  <a:solidFill>
                    <a:srgbClr val="334155"/>
                  </a:solidFill>
                  <a:latin typeface="Inter"/>
                </a:rPr>
                <a:t> </a:t>
              </a:r>
              <a:r>
                <a:rPr sz="1275" b="0" i="0" u="none" dirty="0" err="1">
                  <a:solidFill>
                    <a:srgbClr val="334155"/>
                  </a:solidFill>
                  <a:latin typeface="Inter"/>
                </a:rPr>
                <a:t>dengan</a:t>
              </a:r>
              <a:r>
                <a:rPr sz="1275" b="0" i="0" u="none" dirty="0">
                  <a:solidFill>
                    <a:srgbClr val="334155"/>
                  </a:solidFill>
                  <a:latin typeface="Inter"/>
                </a:rPr>
                <a:t> </a:t>
              </a:r>
              <a:r>
                <a:rPr sz="1275" b="0" i="0" u="none" dirty="0" err="1">
                  <a:solidFill>
                    <a:srgbClr val="334155"/>
                  </a:solidFill>
                  <a:latin typeface="Inter"/>
                </a:rPr>
                <a:t>skor</a:t>
              </a:r>
              <a:r>
                <a:rPr sz="1275" b="0" i="0" u="none" dirty="0">
                  <a:solidFill>
                    <a:srgbClr val="334155"/>
                  </a:solidFill>
                  <a:latin typeface="Inter"/>
                </a:rPr>
                <a:t> </a:t>
              </a:r>
              <a:r>
                <a:rPr sz="1275" b="0" i="0" u="none" dirty="0" err="1">
                  <a:solidFill>
                    <a:srgbClr val="334155"/>
                  </a:solidFill>
                  <a:latin typeface="Inter"/>
                </a:rPr>
                <a:t>terisolasi</a:t>
              </a:r>
              <a:r>
                <a:rPr sz="1275" b="0" i="0" u="none" dirty="0">
                  <a:solidFill>
                    <a:srgbClr val="334155"/>
                  </a:solidFill>
                  <a:latin typeface="Inter"/>
                </a:rPr>
                <a:t> di batas </a:t>
              </a:r>
              <a:r>
                <a:rPr sz="1275" b="0" i="0" u="none" dirty="0" err="1">
                  <a:solidFill>
                    <a:srgbClr val="334155"/>
                  </a:solidFill>
                  <a:latin typeface="Inter"/>
                </a:rPr>
                <a:t>maksimum</a:t>
              </a:r>
              <a:r>
                <a:rPr sz="1275" b="0" i="0" u="none" dirty="0">
                  <a:solidFill>
                    <a:srgbClr val="334155"/>
                  </a:solidFill>
                  <a:latin typeface="Inter"/>
                </a:rPr>
                <a:t> </a:t>
              </a:r>
              <a:r>
                <a:rPr sz="1275" b="0" i="0" u="none" dirty="0" err="1">
                  <a:solidFill>
                    <a:srgbClr val="334155"/>
                  </a:solidFill>
                  <a:latin typeface="Inter"/>
                </a:rPr>
                <a:t>skala</a:t>
              </a:r>
              <a:r>
                <a:rPr sz="1275" b="0" i="0" u="none" dirty="0">
                  <a:solidFill>
                    <a:srgbClr val="334155"/>
                  </a:solidFill>
                  <a:latin typeface="Inter"/>
                </a:rPr>
                <a:t>.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0210C48-63E4-0BD0-FF5D-46ED5FAC37A3}"/>
              </a:ext>
            </a:extLst>
          </p:cNvPr>
          <p:cNvGrpSpPr/>
          <p:nvPr/>
        </p:nvGrpSpPr>
        <p:grpSpPr>
          <a:xfrm>
            <a:off x="8055163" y="1871230"/>
            <a:ext cx="3895943" cy="1582763"/>
            <a:chOff x="571500" y="2644526"/>
            <a:chExt cx="4267200" cy="2195512"/>
          </a:xfrm>
        </p:grpSpPr>
        <p:pic>
          <p:nvPicPr>
            <p:cNvPr id="29" name="Picture 28" descr="image.png">
              <a:extLst>
                <a:ext uri="{FF2B5EF4-FFF2-40B4-BE49-F238E27FC236}">
                  <a16:creationId xmlns:a16="http://schemas.microsoft.com/office/drawing/2014/main" id="{A587DBF6-260F-11E2-484D-29713BA17CE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1500" y="2644526"/>
              <a:ext cx="4267200" cy="2195512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3684E0D-39CF-3146-D4EF-1AF6F97D784D}"/>
                </a:ext>
              </a:extLst>
            </p:cNvPr>
            <p:cNvSpPr txBox="1"/>
            <p:nvPr/>
          </p:nvSpPr>
          <p:spPr>
            <a:xfrm>
              <a:off x="952500" y="3025526"/>
              <a:ext cx="3505200" cy="8572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ts val="6750"/>
                </a:lnSpc>
              </a:pPr>
              <a:r>
                <a:rPr sz="6750" b="1" i="0" u="none" dirty="0">
                  <a:solidFill>
                    <a:srgbClr val="38BDF8"/>
                  </a:solidFill>
                  <a:latin typeface="Poppins"/>
                </a:rPr>
                <a:t>15 jam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0FF27C5-FF1E-266A-7F50-9EA6F35544F8}"/>
                </a:ext>
              </a:extLst>
            </p:cNvPr>
            <p:cNvSpPr txBox="1"/>
            <p:nvPr/>
          </p:nvSpPr>
          <p:spPr>
            <a:xfrm>
              <a:off x="952500" y="3978026"/>
              <a:ext cx="3505200" cy="20002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350" b="0" i="0" u="none">
                  <a:solidFill>
                    <a:srgbClr val="E0F2FE"/>
                  </a:solidFill>
                  <a:latin typeface="Inter Medium"/>
                </a:rPr>
                <a:t>Maksimum Jam Kerja/Hari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EFCBB93-7202-3DF5-797D-5550363386DD}"/>
                </a:ext>
              </a:extLst>
            </p:cNvPr>
            <p:cNvSpPr txBox="1"/>
            <p:nvPr/>
          </p:nvSpPr>
          <p:spPr>
            <a:xfrm>
              <a:off x="952500" y="4273301"/>
              <a:ext cx="3505200" cy="18573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ts val="1462"/>
                </a:lnSpc>
              </a:pPr>
              <a:r>
                <a:rPr sz="975" b="0" i="0" u="none" dirty="0">
                  <a:solidFill>
                    <a:srgbClr val="93C5FD"/>
                  </a:solidFill>
                  <a:latin typeface="Inter"/>
                </a:rPr>
                <a:t>Rata-rata: 9.2 jam | Median: 9.0 jam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25810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rgbClr val="0F3570"/>
              </a:buClr>
              <a:buSzPct val="115226"/>
            </a:pPr>
            <a:r>
              <a:rPr lang="en-US" dirty="0"/>
              <a:t>Data Transformation</a:t>
            </a:r>
            <a:endParaRPr dirty="0"/>
          </a:p>
        </p:txBody>
      </p:sp>
      <p:sp>
        <p:nvSpPr>
          <p:cNvPr id="142" name="Google Shape;142;p8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 fontScale="70000" lnSpcReduction="20000"/>
          </a:bodyPr>
          <a:lstStyle/>
          <a:p>
            <a:pPr marL="609570" indent="-457177">
              <a:lnSpc>
                <a:spcPct val="115000"/>
              </a:lnSpc>
              <a:buClr>
                <a:srgbClr val="0F3570"/>
              </a:buClr>
              <a:buSzPct val="59999"/>
              <a:buChar char="●"/>
            </a:pPr>
            <a:r>
              <a:rPr lang="en-US" sz="3733" dirty="0" err="1">
                <a:ea typeface="Overlock"/>
                <a:cs typeface="Overlock"/>
                <a:sym typeface="Overlock"/>
              </a:rPr>
              <a:t>Representasi</a:t>
            </a:r>
            <a:r>
              <a:rPr lang="en-US" sz="3733" dirty="0">
                <a:ea typeface="Overlock"/>
                <a:cs typeface="Overlock"/>
                <a:sym typeface="Overlock"/>
              </a:rPr>
              <a:t> Fitur </a:t>
            </a:r>
            <a:r>
              <a:rPr lang="en-US" sz="3733" dirty="0" err="1">
                <a:ea typeface="Overlock"/>
                <a:cs typeface="Overlock"/>
                <a:sym typeface="Overlock"/>
              </a:rPr>
              <a:t>atau</a:t>
            </a:r>
            <a:r>
              <a:rPr lang="en-US" sz="3733" dirty="0">
                <a:ea typeface="Overlock"/>
                <a:cs typeface="Overlock"/>
                <a:sym typeface="Overlock"/>
              </a:rPr>
              <a:t> </a:t>
            </a:r>
            <a:r>
              <a:rPr lang="en-US" sz="3733" dirty="0" err="1">
                <a:ea typeface="Overlock"/>
                <a:cs typeface="Overlock"/>
                <a:sym typeface="Overlock"/>
              </a:rPr>
              <a:t>Pembelajaran</a:t>
            </a:r>
            <a:r>
              <a:rPr lang="en-US" sz="3733" dirty="0">
                <a:ea typeface="Overlock"/>
                <a:cs typeface="Overlock"/>
                <a:sym typeface="Overlock"/>
              </a:rPr>
              <a:t> Fitur:  </a:t>
            </a:r>
            <a:endParaRPr dirty="0"/>
          </a:p>
          <a:p>
            <a:pPr marL="1219139" lvl="1" indent="-423312">
              <a:lnSpc>
                <a:spcPct val="115000"/>
              </a:lnSpc>
              <a:buClr>
                <a:srgbClr val="0F3570"/>
              </a:buClr>
              <a:buSzPct val="83333"/>
              <a:buFont typeface="Arial"/>
              <a:buChar char="•"/>
            </a:pPr>
            <a:r>
              <a:rPr lang="en-US" sz="3200" dirty="0">
                <a:ea typeface="Overlock"/>
                <a:cs typeface="Overlock"/>
                <a:sym typeface="Overlock"/>
              </a:rPr>
              <a:t>Teknik-Teknik yang </a:t>
            </a:r>
            <a:r>
              <a:rPr lang="en-US" sz="3200" dirty="0" err="1">
                <a:ea typeface="Overlock"/>
                <a:cs typeface="Overlock"/>
                <a:sym typeface="Overlock"/>
              </a:rPr>
              <a:t>memungkinkan</a:t>
            </a:r>
            <a:r>
              <a:rPr lang="en-US" sz="3200" dirty="0">
                <a:ea typeface="Overlock"/>
                <a:cs typeface="Overlock"/>
                <a:sym typeface="Overlock"/>
              </a:rPr>
              <a:t> </a:t>
            </a:r>
            <a:r>
              <a:rPr lang="en-US" sz="3200" dirty="0" err="1">
                <a:ea typeface="Overlock"/>
                <a:cs typeface="Overlock"/>
                <a:sym typeface="Overlock"/>
              </a:rPr>
              <a:t>sistem</a:t>
            </a:r>
            <a:r>
              <a:rPr lang="en-US" sz="3200" dirty="0">
                <a:ea typeface="Overlock"/>
                <a:cs typeface="Overlock"/>
                <a:sym typeface="Overlock"/>
              </a:rPr>
              <a:t> </a:t>
            </a:r>
            <a:r>
              <a:rPr lang="en-US" sz="3200" dirty="0" err="1">
                <a:ea typeface="Overlock"/>
                <a:cs typeface="Overlock"/>
                <a:sym typeface="Overlock"/>
              </a:rPr>
              <a:t>bekerja</a:t>
            </a:r>
            <a:r>
              <a:rPr lang="en-US" sz="3200" dirty="0">
                <a:ea typeface="Overlock"/>
                <a:cs typeface="Overlock"/>
                <a:sym typeface="Overlock"/>
              </a:rPr>
              <a:t> </a:t>
            </a:r>
            <a:r>
              <a:rPr lang="en-US" sz="3200" dirty="0" err="1">
                <a:ea typeface="Overlock"/>
                <a:cs typeface="Overlock"/>
                <a:sym typeface="Overlock"/>
              </a:rPr>
              <a:t>otomatis</a:t>
            </a:r>
            <a:r>
              <a:rPr lang="en-US" sz="3200" dirty="0">
                <a:ea typeface="Overlock"/>
                <a:cs typeface="Overlock"/>
                <a:sym typeface="Overlock"/>
              </a:rPr>
              <a:t> </a:t>
            </a:r>
            <a:r>
              <a:rPr lang="en-US" sz="3200" dirty="0" err="1">
                <a:ea typeface="Overlock"/>
                <a:cs typeface="Overlock"/>
                <a:sym typeface="Overlock"/>
              </a:rPr>
              <a:t>menemukan</a:t>
            </a:r>
            <a:r>
              <a:rPr lang="en-US" sz="3200" dirty="0">
                <a:ea typeface="Overlock"/>
                <a:cs typeface="Overlock"/>
                <a:sym typeface="Overlock"/>
              </a:rPr>
              <a:t> </a:t>
            </a:r>
            <a:r>
              <a:rPr lang="en-US" sz="3200" dirty="0" err="1">
                <a:ea typeface="Overlock"/>
                <a:cs typeface="Overlock"/>
                <a:sym typeface="Overlock"/>
              </a:rPr>
              <a:t>representasi</a:t>
            </a:r>
            <a:r>
              <a:rPr lang="en-US" sz="3200" dirty="0">
                <a:ea typeface="Overlock"/>
                <a:cs typeface="Overlock"/>
                <a:sym typeface="Overlock"/>
              </a:rPr>
              <a:t> yang </a:t>
            </a:r>
            <a:r>
              <a:rPr lang="en-US" sz="3200" dirty="0" err="1">
                <a:ea typeface="Overlock"/>
                <a:cs typeface="Overlock"/>
                <a:sym typeface="Overlock"/>
              </a:rPr>
              <a:t>diperlukan</a:t>
            </a:r>
            <a:r>
              <a:rPr lang="en-US" sz="3200" dirty="0">
                <a:ea typeface="Overlock"/>
                <a:cs typeface="Overlock"/>
                <a:sym typeface="Overlock"/>
              </a:rPr>
              <a:t> (</a:t>
            </a:r>
            <a:r>
              <a:rPr lang="en-US" sz="3200" dirty="0" err="1">
                <a:ea typeface="Overlock"/>
                <a:cs typeface="Overlock"/>
                <a:sym typeface="Overlock"/>
              </a:rPr>
              <a:t>untuk</a:t>
            </a:r>
            <a:r>
              <a:rPr lang="en-US" sz="3200" dirty="0">
                <a:ea typeface="Overlock"/>
                <a:cs typeface="Overlock"/>
                <a:sym typeface="Overlock"/>
              </a:rPr>
              <a:t> </a:t>
            </a:r>
            <a:r>
              <a:rPr lang="en-US" sz="3200" dirty="0" err="1">
                <a:ea typeface="Overlock"/>
                <a:cs typeface="Overlock"/>
                <a:sym typeface="Overlock"/>
              </a:rPr>
              <a:t>deteksi</a:t>
            </a:r>
            <a:r>
              <a:rPr lang="en-US" sz="3200" dirty="0">
                <a:ea typeface="Overlock"/>
                <a:cs typeface="Overlock"/>
                <a:sym typeface="Overlock"/>
              </a:rPr>
              <a:t> </a:t>
            </a:r>
            <a:r>
              <a:rPr lang="en-US" sz="3200" dirty="0" err="1">
                <a:ea typeface="Overlock"/>
                <a:cs typeface="Overlock"/>
                <a:sym typeface="Overlock"/>
              </a:rPr>
              <a:t>fitur</a:t>
            </a:r>
            <a:r>
              <a:rPr lang="en-US" sz="3200" dirty="0">
                <a:ea typeface="Overlock"/>
                <a:cs typeface="Overlock"/>
                <a:sym typeface="Overlock"/>
              </a:rPr>
              <a:t> </a:t>
            </a:r>
            <a:r>
              <a:rPr lang="en-US" sz="3200" dirty="0" err="1">
                <a:ea typeface="Overlock"/>
                <a:cs typeface="Overlock"/>
                <a:sym typeface="Overlock"/>
              </a:rPr>
              <a:t>atau</a:t>
            </a:r>
            <a:r>
              <a:rPr lang="en-US" sz="3200" dirty="0">
                <a:ea typeface="Overlock"/>
                <a:cs typeface="Overlock"/>
                <a:sym typeface="Overlock"/>
              </a:rPr>
              <a:t> </a:t>
            </a:r>
            <a:r>
              <a:rPr lang="en-US" sz="3200" dirty="0" err="1">
                <a:ea typeface="Overlock"/>
                <a:cs typeface="Overlock"/>
                <a:sym typeface="Overlock"/>
              </a:rPr>
              <a:t>klasifikasi</a:t>
            </a:r>
            <a:r>
              <a:rPr lang="en-US" sz="3200" dirty="0">
                <a:ea typeface="Overlock"/>
                <a:cs typeface="Overlock"/>
                <a:sym typeface="Overlock"/>
              </a:rPr>
              <a:t> </a:t>
            </a:r>
            <a:r>
              <a:rPr lang="en-US" sz="3200" dirty="0" err="1">
                <a:ea typeface="Overlock"/>
                <a:cs typeface="Overlock"/>
                <a:sym typeface="Overlock"/>
              </a:rPr>
              <a:t>dari</a:t>
            </a:r>
            <a:r>
              <a:rPr lang="en-US" sz="3200" dirty="0">
                <a:ea typeface="Overlock"/>
                <a:cs typeface="Overlock"/>
                <a:sym typeface="Overlock"/>
              </a:rPr>
              <a:t> dataset),</a:t>
            </a:r>
            <a:endParaRPr sz="3200" dirty="0">
              <a:ea typeface="Overlock"/>
              <a:cs typeface="Overlock"/>
              <a:sym typeface="Overlock"/>
            </a:endParaRPr>
          </a:p>
          <a:p>
            <a:pPr marL="1219139" lvl="1" indent="-423312">
              <a:lnSpc>
                <a:spcPct val="115000"/>
              </a:lnSpc>
              <a:buClr>
                <a:srgbClr val="0F3570"/>
              </a:buClr>
              <a:buSzPct val="81799"/>
              <a:buFont typeface="Arial"/>
              <a:buChar char="•"/>
            </a:pPr>
            <a:r>
              <a:rPr lang="en-US" sz="3260" dirty="0" err="1">
                <a:ea typeface="Overlock"/>
                <a:cs typeface="Overlock"/>
                <a:sym typeface="Overlock"/>
              </a:rPr>
              <a:t>menggantikan</a:t>
            </a:r>
            <a:r>
              <a:rPr lang="en-US" sz="3260" dirty="0">
                <a:ea typeface="Overlock"/>
                <a:cs typeface="Overlock"/>
                <a:sym typeface="Overlock"/>
              </a:rPr>
              <a:t> </a:t>
            </a:r>
            <a:r>
              <a:rPr lang="en-US" sz="3260" dirty="0" err="1">
                <a:ea typeface="Overlock"/>
                <a:cs typeface="Overlock"/>
                <a:sym typeface="Overlock"/>
              </a:rPr>
              <a:t>rekayasa</a:t>
            </a:r>
            <a:r>
              <a:rPr lang="en-US" sz="3260" dirty="0">
                <a:ea typeface="Overlock"/>
                <a:cs typeface="Overlock"/>
                <a:sym typeface="Overlock"/>
              </a:rPr>
              <a:t> </a:t>
            </a:r>
            <a:r>
              <a:rPr lang="en-US" sz="3260" dirty="0" err="1">
                <a:ea typeface="Overlock"/>
                <a:cs typeface="Overlock"/>
                <a:sym typeface="Overlock"/>
              </a:rPr>
              <a:t>fitur</a:t>
            </a:r>
            <a:r>
              <a:rPr lang="en-US" sz="3260" dirty="0">
                <a:ea typeface="Overlock"/>
                <a:cs typeface="Overlock"/>
                <a:sym typeface="Overlock"/>
              </a:rPr>
              <a:t> manual, dan </a:t>
            </a:r>
            <a:endParaRPr sz="3260" dirty="0">
              <a:ea typeface="Overlock"/>
              <a:cs typeface="Overlock"/>
              <a:sym typeface="Overlock"/>
            </a:endParaRPr>
          </a:p>
          <a:p>
            <a:pPr marL="1219139" lvl="1" indent="-423312">
              <a:lnSpc>
                <a:spcPct val="115000"/>
              </a:lnSpc>
              <a:buClr>
                <a:srgbClr val="0F3570"/>
              </a:buClr>
              <a:buSzPct val="81799"/>
              <a:buFont typeface="Arial"/>
              <a:buChar char="•"/>
            </a:pPr>
            <a:r>
              <a:rPr lang="en-US" sz="3260" dirty="0" err="1">
                <a:ea typeface="Overlock"/>
                <a:cs typeface="Overlock"/>
                <a:sym typeface="Overlock"/>
              </a:rPr>
              <a:t>memungkinkan</a:t>
            </a:r>
            <a:r>
              <a:rPr lang="en-US" sz="3260" dirty="0">
                <a:ea typeface="Overlock"/>
                <a:cs typeface="Overlock"/>
                <a:sym typeface="Overlock"/>
              </a:rPr>
              <a:t> </a:t>
            </a:r>
            <a:r>
              <a:rPr lang="en-US" sz="3260" dirty="0" err="1">
                <a:ea typeface="Overlock"/>
                <a:cs typeface="Overlock"/>
                <a:sym typeface="Overlock"/>
              </a:rPr>
              <a:t>mesin</a:t>
            </a:r>
            <a:r>
              <a:rPr lang="en-US" sz="3260" dirty="0">
                <a:ea typeface="Overlock"/>
                <a:cs typeface="Overlock"/>
                <a:sym typeface="Overlock"/>
              </a:rPr>
              <a:t> </a:t>
            </a:r>
            <a:r>
              <a:rPr lang="en-US" sz="3260" dirty="0" err="1">
                <a:ea typeface="Overlock"/>
                <a:cs typeface="Overlock"/>
                <a:sym typeface="Overlock"/>
              </a:rPr>
              <a:t>mempelajari</a:t>
            </a:r>
            <a:r>
              <a:rPr lang="en-US" sz="3260" dirty="0">
                <a:ea typeface="Overlock"/>
                <a:cs typeface="Overlock"/>
                <a:sym typeface="Overlock"/>
              </a:rPr>
              <a:t> </a:t>
            </a:r>
            <a:r>
              <a:rPr lang="en-US" sz="3260" dirty="0" err="1">
                <a:ea typeface="Overlock"/>
                <a:cs typeface="Overlock"/>
                <a:sym typeface="Overlock"/>
              </a:rPr>
              <a:t>fitur</a:t>
            </a:r>
            <a:r>
              <a:rPr lang="en-US" sz="3260" dirty="0">
                <a:ea typeface="Overlock"/>
                <a:cs typeface="Overlock"/>
                <a:sym typeface="Overlock"/>
              </a:rPr>
              <a:t> dan </a:t>
            </a:r>
            <a:r>
              <a:rPr lang="en-US" sz="3260" dirty="0" err="1">
                <a:ea typeface="Overlock"/>
                <a:cs typeface="Overlock"/>
                <a:sym typeface="Overlock"/>
              </a:rPr>
              <a:t>menggunakannya</a:t>
            </a:r>
            <a:r>
              <a:rPr lang="en-US" sz="3260" dirty="0">
                <a:ea typeface="Overlock"/>
                <a:cs typeface="Overlock"/>
                <a:sym typeface="Overlock"/>
              </a:rPr>
              <a:t> </a:t>
            </a:r>
            <a:r>
              <a:rPr lang="en-US" sz="3260" dirty="0" err="1">
                <a:ea typeface="Overlock"/>
                <a:cs typeface="Overlock"/>
                <a:sym typeface="Overlock"/>
              </a:rPr>
              <a:t>untuk</a:t>
            </a:r>
            <a:r>
              <a:rPr lang="en-US" sz="3260" dirty="0">
                <a:ea typeface="Overlock"/>
                <a:cs typeface="Overlock"/>
                <a:sym typeface="Overlock"/>
              </a:rPr>
              <a:t> </a:t>
            </a:r>
            <a:r>
              <a:rPr lang="en-US" sz="3260" dirty="0" err="1">
                <a:ea typeface="Overlock"/>
                <a:cs typeface="Overlock"/>
                <a:sym typeface="Overlock"/>
              </a:rPr>
              <a:t>melakukan</a:t>
            </a:r>
            <a:r>
              <a:rPr lang="en-US" sz="3260" dirty="0">
                <a:ea typeface="Overlock"/>
                <a:cs typeface="Overlock"/>
                <a:sym typeface="Overlock"/>
              </a:rPr>
              <a:t> </a:t>
            </a:r>
            <a:r>
              <a:rPr lang="en-US" sz="3260" dirty="0" err="1">
                <a:ea typeface="Overlock"/>
                <a:cs typeface="Overlock"/>
                <a:sym typeface="Overlock"/>
              </a:rPr>
              <a:t>tugas</a:t>
            </a:r>
            <a:r>
              <a:rPr lang="en-US" sz="3260" dirty="0">
                <a:ea typeface="Overlock"/>
                <a:cs typeface="Overlock"/>
                <a:sym typeface="Overlock"/>
              </a:rPr>
              <a:t> </a:t>
            </a:r>
            <a:r>
              <a:rPr lang="en-US" sz="3260" dirty="0" err="1">
                <a:ea typeface="Overlock"/>
                <a:cs typeface="Overlock"/>
                <a:sym typeface="Overlock"/>
              </a:rPr>
              <a:t>tertentu</a:t>
            </a:r>
            <a:r>
              <a:rPr lang="en-US" sz="3260" dirty="0">
                <a:ea typeface="Overlock"/>
                <a:cs typeface="Overlock"/>
                <a:sym typeface="Overlock"/>
              </a:rPr>
              <a:t>.</a:t>
            </a:r>
            <a:endParaRPr sz="3260" dirty="0">
              <a:ea typeface="Overlock"/>
              <a:cs typeface="Overlock"/>
              <a:sym typeface="Overlock"/>
            </a:endParaRPr>
          </a:p>
          <a:p>
            <a:pPr marL="1219139" lvl="1" indent="-304782">
              <a:lnSpc>
                <a:spcPct val="115000"/>
              </a:lnSpc>
              <a:buSzPct val="71428"/>
            </a:pPr>
            <a:endParaRPr sz="3733" dirty="0">
              <a:ea typeface="Overlock"/>
              <a:cs typeface="Overlock"/>
              <a:sym typeface="Overlock"/>
            </a:endParaRPr>
          </a:p>
          <a:p>
            <a:pPr marL="609570" indent="-457177">
              <a:lnSpc>
                <a:spcPct val="115000"/>
              </a:lnSpc>
              <a:buClr>
                <a:srgbClr val="0F3570"/>
              </a:buClr>
              <a:buSzPct val="59999"/>
              <a:buChar char="●"/>
            </a:pPr>
            <a:r>
              <a:rPr lang="en-US" sz="3733" dirty="0" err="1">
                <a:ea typeface="Overlock"/>
                <a:cs typeface="Overlock"/>
                <a:sym typeface="Overlock"/>
              </a:rPr>
              <a:t>Rekayasa</a:t>
            </a:r>
            <a:r>
              <a:rPr lang="en-US" sz="3733" dirty="0">
                <a:ea typeface="Overlock"/>
                <a:cs typeface="Overlock"/>
                <a:sym typeface="Overlock"/>
              </a:rPr>
              <a:t> Fitur: </a:t>
            </a:r>
            <a:endParaRPr dirty="0"/>
          </a:p>
          <a:p>
            <a:pPr marL="1219139" lvl="1" indent="-423312">
              <a:lnSpc>
                <a:spcPct val="115000"/>
              </a:lnSpc>
              <a:buClr>
                <a:srgbClr val="0F3570"/>
              </a:buClr>
              <a:buSzPct val="83333"/>
              <a:buFont typeface="Arial"/>
              <a:buChar char="•"/>
            </a:pPr>
            <a:r>
              <a:rPr lang="en-US" sz="3200" dirty="0">
                <a:ea typeface="Overlock"/>
                <a:cs typeface="Overlock"/>
                <a:sym typeface="Overlock"/>
              </a:rPr>
              <a:t>Proses </a:t>
            </a:r>
            <a:r>
              <a:rPr lang="en-US" sz="3200" dirty="0" err="1">
                <a:ea typeface="Overlock"/>
                <a:cs typeface="Overlock"/>
                <a:sym typeface="Overlock"/>
              </a:rPr>
              <a:t>mengubah</a:t>
            </a:r>
            <a:r>
              <a:rPr lang="en-US" sz="3200" dirty="0">
                <a:ea typeface="Overlock"/>
                <a:cs typeface="Overlock"/>
                <a:sym typeface="Overlock"/>
              </a:rPr>
              <a:t> data </a:t>
            </a:r>
            <a:r>
              <a:rPr lang="en-US" sz="3200" dirty="0" err="1">
                <a:ea typeface="Overlock"/>
                <a:cs typeface="Overlock"/>
                <a:sym typeface="Overlock"/>
              </a:rPr>
              <a:t>mentah</a:t>
            </a:r>
            <a:r>
              <a:rPr lang="en-US" sz="3200" dirty="0">
                <a:ea typeface="Overlock"/>
                <a:cs typeface="Overlock"/>
                <a:sym typeface="Overlock"/>
              </a:rPr>
              <a:t> </a:t>
            </a:r>
            <a:r>
              <a:rPr lang="en-US" sz="3200" dirty="0" err="1">
                <a:ea typeface="Overlock"/>
                <a:cs typeface="Overlock"/>
                <a:sym typeface="Overlock"/>
              </a:rPr>
              <a:t>menjadi</a:t>
            </a:r>
            <a:r>
              <a:rPr lang="en-US" sz="3200" dirty="0">
                <a:ea typeface="Overlock"/>
                <a:cs typeface="Overlock"/>
                <a:sym typeface="Overlock"/>
              </a:rPr>
              <a:t> </a:t>
            </a:r>
            <a:r>
              <a:rPr lang="en-US" sz="3200" dirty="0" err="1">
                <a:ea typeface="Overlock"/>
                <a:cs typeface="Overlock"/>
                <a:sym typeface="Overlock"/>
              </a:rPr>
              <a:t>fitur</a:t>
            </a:r>
            <a:r>
              <a:rPr lang="en-US" sz="3200" dirty="0">
                <a:ea typeface="Overlock"/>
                <a:cs typeface="Overlock"/>
                <a:sym typeface="Overlock"/>
              </a:rPr>
              <a:t> yang:</a:t>
            </a:r>
            <a:endParaRPr sz="3200" dirty="0">
              <a:ea typeface="Overlock"/>
              <a:cs typeface="Overlock"/>
              <a:sym typeface="Overlock"/>
            </a:endParaRPr>
          </a:p>
          <a:p>
            <a:pPr marL="1828709" lvl="2" indent="-423311">
              <a:lnSpc>
                <a:spcPct val="115000"/>
              </a:lnSpc>
              <a:buClr>
                <a:srgbClr val="0F3570"/>
              </a:buClr>
              <a:buSzPct val="85800"/>
              <a:buFont typeface="Arial"/>
              <a:buChar char="•"/>
            </a:pPr>
            <a:r>
              <a:rPr lang="en-US" sz="3108" dirty="0" err="1">
                <a:ea typeface="Overlock"/>
                <a:cs typeface="Overlock"/>
                <a:sym typeface="Overlock"/>
              </a:rPr>
              <a:t>Mewakili</a:t>
            </a:r>
            <a:r>
              <a:rPr lang="en-US" sz="3108" dirty="0">
                <a:ea typeface="Overlock"/>
                <a:cs typeface="Overlock"/>
                <a:sym typeface="Overlock"/>
              </a:rPr>
              <a:t> </a:t>
            </a:r>
            <a:r>
              <a:rPr lang="en-US" sz="3108" dirty="0" err="1">
                <a:ea typeface="Overlock"/>
                <a:cs typeface="Overlock"/>
                <a:sym typeface="Overlock"/>
              </a:rPr>
              <a:t>masalah</a:t>
            </a:r>
            <a:r>
              <a:rPr lang="en-US" sz="3108" dirty="0">
                <a:ea typeface="Overlock"/>
                <a:cs typeface="Overlock"/>
                <a:sym typeface="Overlock"/>
              </a:rPr>
              <a:t> </a:t>
            </a:r>
            <a:r>
              <a:rPr lang="en-US" sz="3108" dirty="0" err="1">
                <a:ea typeface="Overlock"/>
                <a:cs typeface="Overlock"/>
                <a:sym typeface="Overlock"/>
              </a:rPr>
              <a:t>mendasar</a:t>
            </a:r>
            <a:r>
              <a:rPr lang="en-US" sz="3108" dirty="0">
                <a:ea typeface="Overlock"/>
                <a:cs typeface="Overlock"/>
                <a:sym typeface="Overlock"/>
              </a:rPr>
              <a:t> </a:t>
            </a:r>
            <a:r>
              <a:rPr lang="en-US" sz="3108" dirty="0" err="1">
                <a:ea typeface="Overlock"/>
                <a:cs typeface="Overlock"/>
                <a:sym typeface="Overlock"/>
              </a:rPr>
              <a:t>ke</a:t>
            </a:r>
            <a:r>
              <a:rPr lang="en-US" sz="3108" dirty="0">
                <a:ea typeface="Overlock"/>
                <a:cs typeface="Overlock"/>
                <a:sym typeface="Overlock"/>
              </a:rPr>
              <a:t> model </a:t>
            </a:r>
            <a:r>
              <a:rPr lang="en-US" sz="3108" dirty="0" err="1">
                <a:ea typeface="Overlock"/>
                <a:cs typeface="Overlock"/>
                <a:sym typeface="Overlock"/>
              </a:rPr>
              <a:t>prediktif</a:t>
            </a:r>
            <a:r>
              <a:rPr lang="en-US" sz="3108" dirty="0">
                <a:ea typeface="Overlock"/>
                <a:cs typeface="Overlock"/>
                <a:sym typeface="Overlock"/>
              </a:rPr>
              <a:t>, </a:t>
            </a:r>
            <a:endParaRPr sz="3108" dirty="0">
              <a:ea typeface="Overlock"/>
              <a:cs typeface="Overlock"/>
              <a:sym typeface="Overlock"/>
            </a:endParaRPr>
          </a:p>
          <a:p>
            <a:pPr marL="1828709" lvl="2" indent="-423311">
              <a:lnSpc>
                <a:spcPct val="115000"/>
              </a:lnSpc>
              <a:buClr>
                <a:srgbClr val="0F3570"/>
              </a:buClr>
              <a:buSzPct val="85800"/>
              <a:buFont typeface="Arial"/>
              <a:buChar char="•"/>
            </a:pPr>
            <a:r>
              <a:rPr lang="en-US" sz="3108" dirty="0" err="1">
                <a:ea typeface="Overlock"/>
                <a:cs typeface="Overlock"/>
                <a:sym typeface="Overlock"/>
              </a:rPr>
              <a:t>menghasilkan</a:t>
            </a:r>
            <a:r>
              <a:rPr lang="en-US" sz="3108" dirty="0">
                <a:ea typeface="Overlock"/>
                <a:cs typeface="Overlock"/>
                <a:sym typeface="Overlock"/>
              </a:rPr>
              <a:t> </a:t>
            </a:r>
            <a:r>
              <a:rPr lang="en-US" sz="3108" dirty="0" err="1">
                <a:ea typeface="Overlock"/>
                <a:cs typeface="Overlock"/>
                <a:sym typeface="Overlock"/>
              </a:rPr>
              <a:t>akurasi</a:t>
            </a:r>
            <a:r>
              <a:rPr lang="en-US" sz="3108" dirty="0">
                <a:ea typeface="Overlock"/>
                <a:cs typeface="Overlock"/>
                <a:sym typeface="Overlock"/>
              </a:rPr>
              <a:t> model yang </a:t>
            </a:r>
            <a:r>
              <a:rPr lang="en-US" sz="3108" dirty="0" err="1">
                <a:ea typeface="Overlock"/>
                <a:cs typeface="Overlock"/>
                <a:sym typeface="Overlock"/>
              </a:rPr>
              <a:t>lebih</a:t>
            </a:r>
            <a:r>
              <a:rPr lang="en-US" sz="3108" dirty="0">
                <a:ea typeface="Overlock"/>
                <a:cs typeface="Overlock"/>
                <a:sym typeface="Overlock"/>
              </a:rPr>
              <a:t> </a:t>
            </a:r>
            <a:r>
              <a:rPr lang="en-US" sz="3108" dirty="0" err="1">
                <a:ea typeface="Overlock"/>
                <a:cs typeface="Overlock"/>
                <a:sym typeface="Overlock"/>
              </a:rPr>
              <a:t>baik</a:t>
            </a:r>
            <a:r>
              <a:rPr lang="en-US" sz="3108" dirty="0">
                <a:ea typeface="Overlock"/>
                <a:cs typeface="Overlock"/>
                <a:sym typeface="Overlock"/>
              </a:rPr>
              <a:t> pada data yang </a:t>
            </a:r>
            <a:r>
              <a:rPr lang="en-US" sz="3108" dirty="0" err="1">
                <a:ea typeface="Overlock"/>
                <a:cs typeface="Overlock"/>
                <a:sym typeface="Overlock"/>
              </a:rPr>
              <a:t>tidak</a:t>
            </a:r>
            <a:r>
              <a:rPr lang="en-US" sz="3108" dirty="0">
                <a:ea typeface="Overlock"/>
                <a:cs typeface="Overlock"/>
                <a:sym typeface="Overlock"/>
              </a:rPr>
              <a:t> </a:t>
            </a:r>
            <a:r>
              <a:rPr lang="en-US" sz="3108" dirty="0" err="1">
                <a:ea typeface="Overlock"/>
                <a:cs typeface="Overlock"/>
                <a:sym typeface="Overlock"/>
              </a:rPr>
              <a:t>terlihat</a:t>
            </a:r>
            <a:r>
              <a:rPr lang="en-US" sz="3108" dirty="0">
                <a:ea typeface="Overlock"/>
                <a:cs typeface="Overlock"/>
                <a:sym typeface="Overlock"/>
              </a:rPr>
              <a:t>.</a:t>
            </a:r>
            <a:endParaRPr dirty="0">
              <a:ea typeface="Overlock"/>
              <a:cs typeface="Overlock"/>
              <a:sym typeface="Overlock"/>
            </a:endParaRPr>
          </a:p>
          <a:p>
            <a:pPr marL="609570" indent="-304779">
              <a:lnSpc>
                <a:spcPct val="115000"/>
              </a:lnSpc>
              <a:buSzPct val="122448"/>
            </a:pPr>
            <a:endParaRPr dirty="0">
              <a:ea typeface="Overlock"/>
              <a:cs typeface="Overlock"/>
              <a:sym typeface="Overlock"/>
            </a:endParaRPr>
          </a:p>
        </p:txBody>
      </p:sp>
      <p:sp>
        <p:nvSpPr>
          <p:cNvPr id="143" name="Google Shape;143;p8"/>
          <p:cNvSpPr txBox="1">
            <a:spLocks noGrp="1"/>
          </p:cNvSpPr>
          <p:nvPr>
            <p:ph type="sldNum" idx="4294967295"/>
          </p:nvPr>
        </p:nvSpPr>
        <p:spPr>
          <a:xfrm>
            <a:off x="11461750" y="6215063"/>
            <a:ext cx="730250" cy="52228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pPr>
              <a:buClr>
                <a:srgbClr val="000000"/>
              </a:buClr>
              <a:buSzPts val="1000"/>
            </a:pPr>
            <a:fld id="{00000000-1234-1234-1234-123412341234}" type="slidenum">
              <a:rPr lang="en-US"/>
              <a:pPr>
                <a:buClr>
                  <a:srgbClr val="000000"/>
                </a:buClr>
                <a:buSzPts val="1000"/>
              </a:pPr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rgbClr val="0F3570"/>
              </a:buClr>
              <a:buSzPct val="115226"/>
            </a:pPr>
            <a:r>
              <a:rPr lang="en-US" dirty="0" err="1"/>
              <a:t>Rekayasa</a:t>
            </a:r>
            <a:r>
              <a:rPr lang="en-US" dirty="0"/>
              <a:t> Fitur</a:t>
            </a:r>
            <a:endParaRPr dirty="0"/>
          </a:p>
        </p:txBody>
      </p:sp>
      <p:pic>
        <p:nvPicPr>
          <p:cNvPr id="150" name="Google Shape;150;p9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tretch/>
        </p:blipFill>
        <p:spPr>
          <a:xfrm>
            <a:off x="99394" y="1699260"/>
            <a:ext cx="7178229" cy="367713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9"/>
          <p:cNvSpPr txBox="1">
            <a:spLocks noGrp="1"/>
          </p:cNvSpPr>
          <p:nvPr>
            <p:ph type="sldNum" idx="4294967295"/>
          </p:nvPr>
        </p:nvSpPr>
        <p:spPr>
          <a:xfrm>
            <a:off x="11460163" y="6218238"/>
            <a:ext cx="731837" cy="52387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-US"/>
              <a:pPr/>
              <a:t>5</a:t>
            </a:fld>
            <a:endParaRPr/>
          </a:p>
        </p:txBody>
      </p:sp>
      <p:pic>
        <p:nvPicPr>
          <p:cNvPr id="151" name="Google Shape;151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17325" y="2249921"/>
            <a:ext cx="4600801" cy="3032927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9"/>
          <p:cNvSpPr txBox="1"/>
          <p:nvPr/>
        </p:nvSpPr>
        <p:spPr>
          <a:xfrm>
            <a:off x="8943022" y="1557908"/>
            <a:ext cx="1298258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US" sz="2400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Outlier</a:t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rgbClr val="0F3570"/>
              </a:buClr>
              <a:buSzPct val="115226"/>
            </a:pPr>
            <a:r>
              <a:rPr lang="en-US" dirty="0" err="1"/>
              <a:t>Imputasi</a:t>
            </a:r>
            <a:endParaRPr dirty="0"/>
          </a:p>
        </p:txBody>
      </p:sp>
      <p:sp>
        <p:nvSpPr>
          <p:cNvPr id="158" name="Google Shape;158;p10"/>
          <p:cNvSpPr txBox="1">
            <a:spLocks noGrp="1"/>
          </p:cNvSpPr>
          <p:nvPr>
            <p:ph idx="1"/>
          </p:nvPr>
        </p:nvSpPr>
        <p:spPr>
          <a:xfrm>
            <a:off x="838200" y="995850"/>
            <a:ext cx="6513681" cy="500043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609570" indent="-423312">
              <a:buClr>
                <a:srgbClr val="0F3570"/>
              </a:buClr>
            </a:pPr>
            <a:r>
              <a:rPr lang="en-US" sz="2133" dirty="0" err="1">
                <a:ea typeface="Overlock"/>
                <a:cs typeface="Overlock"/>
                <a:sym typeface="Overlock"/>
              </a:rPr>
              <a:t>Pengertian</a:t>
            </a:r>
            <a:r>
              <a:rPr lang="en-US" sz="2133" dirty="0">
                <a:ea typeface="Overlock"/>
                <a:cs typeface="Overlock"/>
                <a:sym typeface="Overlock"/>
              </a:rPr>
              <a:t>: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Mengganti</a:t>
            </a:r>
            <a:r>
              <a:rPr lang="en-US" sz="2133" dirty="0">
                <a:ea typeface="Overlock"/>
                <a:cs typeface="Overlock"/>
                <a:sym typeface="Overlock"/>
              </a:rPr>
              <a:t>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nilai</a:t>
            </a:r>
            <a:r>
              <a:rPr lang="en-US" sz="2133" dirty="0">
                <a:ea typeface="Overlock"/>
                <a:cs typeface="Overlock"/>
                <a:sym typeface="Overlock"/>
              </a:rPr>
              <a:t>/data yang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hilang</a:t>
            </a:r>
            <a:r>
              <a:rPr lang="en-US" sz="2133" dirty="0">
                <a:ea typeface="Overlock"/>
                <a:cs typeface="Overlock"/>
                <a:sym typeface="Overlock"/>
              </a:rPr>
              <a:t> (missing value;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NaN</a:t>
            </a:r>
            <a:r>
              <a:rPr lang="en-US" sz="2133" dirty="0">
                <a:ea typeface="Overlock"/>
                <a:cs typeface="Overlock"/>
                <a:sym typeface="Overlock"/>
              </a:rPr>
              <a:t>; blank)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dengan</a:t>
            </a:r>
            <a:r>
              <a:rPr lang="en-US" sz="2133" dirty="0">
                <a:ea typeface="Overlock"/>
                <a:cs typeface="Overlock"/>
                <a:sym typeface="Overlock"/>
              </a:rPr>
              <a:t>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nilai</a:t>
            </a:r>
            <a:r>
              <a:rPr lang="en-US" sz="2133" dirty="0">
                <a:ea typeface="Overlock"/>
                <a:cs typeface="Overlock"/>
                <a:sym typeface="Overlock"/>
              </a:rPr>
              <a:t>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pengganti</a:t>
            </a:r>
            <a:r>
              <a:rPr lang="en-US" sz="2133" dirty="0">
                <a:ea typeface="Overlock"/>
                <a:cs typeface="Overlock"/>
                <a:sym typeface="Overlock"/>
              </a:rPr>
              <a:t> yang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masuk</a:t>
            </a:r>
            <a:r>
              <a:rPr lang="en-US" sz="2133" dirty="0">
                <a:ea typeface="Overlock"/>
                <a:cs typeface="Overlock"/>
                <a:sym typeface="Overlock"/>
              </a:rPr>
              <a:t>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akal</a:t>
            </a:r>
            <a:r>
              <a:rPr lang="en-US" sz="2133" dirty="0">
                <a:ea typeface="Overlock"/>
                <a:cs typeface="Overlock"/>
                <a:sym typeface="Overlock"/>
              </a:rPr>
              <a:t>.</a:t>
            </a:r>
            <a:endParaRPr dirty="0"/>
          </a:p>
          <a:p>
            <a:pPr marL="609570" indent="-304782">
              <a:buNone/>
            </a:pPr>
            <a:endParaRPr sz="2133" dirty="0">
              <a:ea typeface="Overlock"/>
              <a:cs typeface="Overlock"/>
              <a:sym typeface="Overlock"/>
            </a:endParaRPr>
          </a:p>
          <a:p>
            <a:pPr marL="609570" indent="-423312">
              <a:buClr>
                <a:srgbClr val="0F3570"/>
              </a:buClr>
            </a:pPr>
            <a:r>
              <a:rPr lang="en-US" sz="2200" dirty="0">
                <a:ea typeface="Overlock"/>
                <a:cs typeface="Overlock"/>
                <a:sym typeface="Overlock"/>
              </a:rPr>
              <a:t>Jenis missing value: </a:t>
            </a:r>
            <a:r>
              <a:rPr lang="en-US" sz="2200" dirty="0">
                <a:cs typeface="Overlock"/>
                <a:sym typeface="Overlock"/>
              </a:rPr>
              <a:t>(</a:t>
            </a:r>
            <a:r>
              <a:rPr lang="en-US" sz="2200" dirty="0" err="1"/>
              <a:t>memahami</a:t>
            </a:r>
            <a:r>
              <a:rPr lang="en-US" sz="2200" dirty="0"/>
              <a:t> </a:t>
            </a:r>
            <a:r>
              <a:rPr lang="en-US" sz="2200" dirty="0" err="1"/>
              <a:t>mengapa</a:t>
            </a:r>
            <a:r>
              <a:rPr lang="en-US" sz="2200" dirty="0"/>
              <a:t> data </a:t>
            </a:r>
            <a:r>
              <a:rPr lang="en-US" sz="2200" dirty="0" err="1"/>
              <a:t>tersebut</a:t>
            </a:r>
            <a:r>
              <a:rPr lang="en-US" sz="2200" dirty="0"/>
              <a:t> </a:t>
            </a:r>
            <a:r>
              <a:rPr lang="en-US" sz="2200" dirty="0" err="1"/>
              <a:t>hilang</a:t>
            </a:r>
            <a:r>
              <a:rPr lang="en-US" sz="2200" dirty="0"/>
              <a:t>)</a:t>
            </a:r>
            <a:endParaRPr sz="2200" dirty="0"/>
          </a:p>
          <a:p>
            <a:pPr marL="1219139" lvl="1" indent="-406379">
              <a:buClr>
                <a:srgbClr val="0F3570"/>
              </a:buClr>
              <a:buFont typeface="Corbel"/>
              <a:buAutoNum type="arabicPeriod"/>
            </a:pPr>
            <a:r>
              <a:rPr lang="en-US" sz="2133" dirty="0">
                <a:ea typeface="Overlock"/>
                <a:cs typeface="Overlock"/>
                <a:sym typeface="Overlock"/>
              </a:rPr>
              <a:t>Missing Completely At Random (MCAR).</a:t>
            </a:r>
            <a:endParaRPr dirty="0"/>
          </a:p>
          <a:p>
            <a:pPr marL="1219139" lvl="1" indent="-406379">
              <a:buClr>
                <a:srgbClr val="0F3570"/>
              </a:buClr>
              <a:buFont typeface="Corbel"/>
              <a:buAutoNum type="arabicPeriod"/>
            </a:pPr>
            <a:r>
              <a:rPr lang="en-US" sz="2133" dirty="0">
                <a:ea typeface="Overlock"/>
                <a:cs typeface="Overlock"/>
                <a:sym typeface="Overlock"/>
              </a:rPr>
              <a:t>Missing At Random (MAR).</a:t>
            </a:r>
            <a:endParaRPr dirty="0"/>
          </a:p>
          <a:p>
            <a:pPr marL="1219139" lvl="1" indent="-406379">
              <a:buClr>
                <a:srgbClr val="0F3570"/>
              </a:buClr>
              <a:buFont typeface="Corbel"/>
              <a:buAutoNum type="arabicPeriod"/>
            </a:pPr>
            <a:r>
              <a:rPr lang="en-US" sz="2133" dirty="0">
                <a:ea typeface="Overlock"/>
                <a:cs typeface="Overlock"/>
                <a:sym typeface="Overlock"/>
              </a:rPr>
              <a:t>Missing Not At Random (MNAR).</a:t>
            </a:r>
            <a:endParaRPr dirty="0"/>
          </a:p>
        </p:txBody>
      </p:sp>
      <p:sp>
        <p:nvSpPr>
          <p:cNvPr id="159" name="Google Shape;159;p10"/>
          <p:cNvSpPr txBox="1">
            <a:spLocks noGrp="1"/>
          </p:cNvSpPr>
          <p:nvPr>
            <p:ph type="sldNum" idx="4294967295"/>
          </p:nvPr>
        </p:nvSpPr>
        <p:spPr>
          <a:xfrm>
            <a:off x="11460163" y="6218238"/>
            <a:ext cx="731837" cy="52387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-US"/>
              <a:pPr/>
              <a:t>6</a:t>
            </a:fld>
            <a:endParaRPr/>
          </a:p>
        </p:txBody>
      </p:sp>
      <p:pic>
        <p:nvPicPr>
          <p:cNvPr id="160" name="Google Shape;160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38068" y="1051944"/>
            <a:ext cx="2627759" cy="318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39159" y="4430046"/>
            <a:ext cx="6513681" cy="191224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0"/>
          <p:cNvSpPr txBox="1"/>
          <p:nvPr/>
        </p:nvSpPr>
        <p:spPr>
          <a:xfrm>
            <a:off x="6096000" y="6034537"/>
            <a:ext cx="4525171" cy="615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US" sz="800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rPr>
              <a:t>sum. gbr: </a:t>
            </a:r>
            <a:endParaRPr sz="2400"/>
          </a:p>
          <a:p>
            <a:r>
              <a:rPr lang="en-US" sz="800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rPr>
              <a:t>https://www.ucl.ac.uk/population-health-sciences/sites/population-health-sciences/files/quartagno_1.pdf</a:t>
            </a:r>
            <a:endParaRPr sz="2400"/>
          </a:p>
          <a:p>
            <a:r>
              <a:rPr lang="en-US" sz="800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rPr>
              <a:t>https://rianneschouten.github.io/missing_data_science/assets/blogpost/blogpost.html</a:t>
            </a: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"/>
          <p:cNvSpPr txBox="1">
            <a:spLocks noGrp="1"/>
          </p:cNvSpPr>
          <p:nvPr>
            <p:ph type="title"/>
          </p:nvPr>
        </p:nvSpPr>
        <p:spPr>
          <a:xfrm>
            <a:off x="508000" y="191069"/>
            <a:ext cx="10845800" cy="79157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rgbClr val="0F3570"/>
              </a:buClr>
              <a:buSzPct val="115226"/>
            </a:pPr>
            <a:r>
              <a:rPr lang="en-US" dirty="0"/>
              <a:t>Missing Completely At Random (MCAR)</a:t>
            </a:r>
            <a:endParaRPr dirty="0"/>
          </a:p>
        </p:txBody>
      </p:sp>
      <p:sp>
        <p:nvSpPr>
          <p:cNvPr id="168" name="Google Shape;168;p11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609570" indent="-457177">
              <a:lnSpc>
                <a:spcPct val="115000"/>
              </a:lnSpc>
              <a:buSzPts val="1800"/>
              <a:buChar char="●"/>
            </a:pPr>
            <a:r>
              <a:rPr lang="en-US" dirty="0" err="1"/>
              <a:t>Definisi</a:t>
            </a:r>
            <a:r>
              <a:rPr lang="en-US" dirty="0"/>
              <a:t>: </a:t>
            </a:r>
            <a:r>
              <a:rPr lang="en-US" dirty="0" err="1"/>
              <a:t>Probabilitas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instance yang </a:t>
            </a:r>
            <a:r>
              <a:rPr lang="en-US" dirty="0" err="1"/>
              <a:t>hilang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bergantung</a:t>
            </a:r>
            <a:r>
              <a:rPr lang="en-US" dirty="0"/>
              <a:t> pada </a:t>
            </a:r>
            <a:r>
              <a:rPr lang="en-US" dirty="0" err="1"/>
              <a:t>nilai</a:t>
            </a:r>
            <a:r>
              <a:rPr lang="en-US" dirty="0"/>
              <a:t> yang </a:t>
            </a:r>
            <a:r>
              <a:rPr lang="en-US" dirty="0" err="1"/>
              <a:t>diketahui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yang </a:t>
            </a:r>
            <a:r>
              <a:rPr lang="en-US" dirty="0" err="1"/>
              <a:t>hilang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sendiri</a:t>
            </a:r>
            <a:r>
              <a:rPr lang="en-US" dirty="0"/>
              <a:t>.</a:t>
            </a:r>
            <a:endParaRPr dirty="0"/>
          </a:p>
          <a:p>
            <a:pPr marL="609570" indent="-457177">
              <a:lnSpc>
                <a:spcPct val="115000"/>
              </a:lnSpc>
              <a:buSzPts val="1800"/>
              <a:buChar char="●"/>
            </a:pPr>
            <a:r>
              <a:rPr lang="en-US" dirty="0" err="1"/>
              <a:t>Contoh</a:t>
            </a:r>
            <a:r>
              <a:rPr lang="en-US" dirty="0"/>
              <a:t>: </a:t>
            </a:r>
          </a:p>
          <a:p>
            <a:pPr marL="1066770" lvl="1" indent="-457177">
              <a:lnSpc>
                <a:spcPct val="115000"/>
              </a:lnSpc>
              <a:buSzPts val="1800"/>
              <a:buChar char="●"/>
            </a:pPr>
            <a:r>
              <a:rPr lang="en-US" dirty="0"/>
              <a:t>Tabel data </a:t>
            </a:r>
            <a:r>
              <a:rPr lang="en-US" dirty="0" err="1"/>
              <a:t>dicetak</a:t>
            </a:r>
            <a:r>
              <a:rPr lang="en-US" dirty="0"/>
              <a:t> </a:t>
            </a:r>
            <a:r>
              <a:rPr lang="en-US" dirty="0" err="1"/>
              <a:t>tanpa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yang </a:t>
            </a:r>
            <a:r>
              <a:rPr lang="en-US" dirty="0" err="1"/>
              <a:t>hilang</a:t>
            </a:r>
            <a:r>
              <a:rPr lang="en-US" dirty="0"/>
              <a:t> dan </a:t>
            </a:r>
            <a:r>
              <a:rPr lang="en-US" dirty="0" err="1"/>
              <a:t>seseorang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sengaja</a:t>
            </a:r>
            <a:r>
              <a:rPr lang="en-US" dirty="0"/>
              <a:t> </a:t>
            </a:r>
            <a:r>
              <a:rPr lang="en-US" dirty="0" err="1"/>
              <a:t>menjatuhkan</a:t>
            </a:r>
            <a:r>
              <a:rPr lang="en-US" dirty="0"/>
              <a:t> </a:t>
            </a: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/>
              <a:t>tinta</a:t>
            </a:r>
            <a:r>
              <a:rPr lang="en-US" dirty="0"/>
              <a:t> di </a:t>
            </a:r>
            <a:r>
              <a:rPr lang="en-US" dirty="0" err="1"/>
              <a:t>atasnya</a:t>
            </a:r>
            <a:r>
              <a:rPr lang="en-US" dirty="0"/>
              <a:t>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/>
              <a:t>sel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dibaca</a:t>
            </a:r>
            <a:r>
              <a:rPr lang="en-US" dirty="0"/>
              <a:t> </a:t>
            </a:r>
            <a:r>
              <a:rPr lang="en-US" dirty="0" err="1"/>
              <a:t>lagi</a:t>
            </a:r>
            <a:r>
              <a:rPr lang="en-US" dirty="0"/>
              <a:t>. Di </a:t>
            </a:r>
            <a:r>
              <a:rPr lang="en-US" dirty="0" err="1"/>
              <a:t>sini</a:t>
            </a:r>
            <a:r>
              <a:rPr lang="en-US" dirty="0"/>
              <a:t>,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mengasumsikan</a:t>
            </a:r>
            <a:r>
              <a:rPr lang="en-US" dirty="0"/>
              <a:t> </a:t>
            </a:r>
            <a:r>
              <a:rPr lang="en-US" dirty="0" err="1"/>
              <a:t>bahwa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yang </a:t>
            </a:r>
            <a:r>
              <a:rPr lang="en-US" dirty="0" err="1"/>
              <a:t>hilang</a:t>
            </a:r>
            <a:r>
              <a:rPr lang="en-US" dirty="0"/>
              <a:t> </a:t>
            </a:r>
            <a:r>
              <a:rPr lang="en-US" dirty="0" err="1"/>
              <a:t>mengikuti</a:t>
            </a:r>
            <a:r>
              <a:rPr lang="en-US" dirty="0"/>
              <a:t> </a:t>
            </a:r>
            <a:r>
              <a:rPr lang="en-US" dirty="0" err="1"/>
              <a:t>distribusi</a:t>
            </a:r>
            <a:r>
              <a:rPr lang="en-US" dirty="0"/>
              <a:t> yang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yang </a:t>
            </a:r>
            <a:r>
              <a:rPr lang="en-US" dirty="0" err="1"/>
              <a:t>diketahui</a:t>
            </a:r>
            <a:r>
              <a:rPr lang="en-US" dirty="0"/>
              <a:t>.</a:t>
            </a:r>
          </a:p>
          <a:p>
            <a:pPr marL="1066770" lvl="1" indent="-457177">
              <a:lnSpc>
                <a:spcPct val="115000"/>
              </a:lnSpc>
              <a:buSzPts val="1800"/>
              <a:buChar char="●"/>
            </a:pPr>
            <a:endParaRPr dirty="0"/>
          </a:p>
        </p:txBody>
      </p:sp>
      <p:sp>
        <p:nvSpPr>
          <p:cNvPr id="169" name="Google Shape;169;p11"/>
          <p:cNvSpPr txBox="1">
            <a:spLocks noGrp="1"/>
          </p:cNvSpPr>
          <p:nvPr>
            <p:ph type="sldNum" idx="4294967295"/>
          </p:nvPr>
        </p:nvSpPr>
        <p:spPr>
          <a:xfrm>
            <a:off x="11461750" y="6215063"/>
            <a:ext cx="730250" cy="52228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pPr>
              <a:buClr>
                <a:srgbClr val="000000"/>
              </a:buClr>
              <a:buSzPts val="1000"/>
            </a:pPr>
            <a:fld id="{00000000-1234-1234-1234-123412341234}" type="slidenum">
              <a:rPr lang="en-US"/>
              <a:pPr>
                <a:buClr>
                  <a:srgbClr val="000000"/>
                </a:buClr>
                <a:buSzPts val="1000"/>
              </a:pPr>
              <a:t>7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C65B34-B271-7236-9B1E-069B8E453A18}"/>
              </a:ext>
            </a:extLst>
          </p:cNvPr>
          <p:cNvSpPr txBox="1"/>
          <p:nvPr/>
        </p:nvSpPr>
        <p:spPr>
          <a:xfrm>
            <a:off x="615874" y="853366"/>
            <a:ext cx="74308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Data </a:t>
            </a:r>
            <a:r>
              <a:rPr lang="en-US" dirty="0" err="1"/>
              <a:t>hilang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benar-benar</a:t>
            </a:r>
            <a:r>
              <a:rPr lang="en-US" dirty="0"/>
              <a:t> </a:t>
            </a:r>
            <a:r>
              <a:rPr lang="en-US" dirty="0" err="1"/>
              <a:t>acak</a:t>
            </a:r>
            <a:r>
              <a:rPr lang="en-US" dirty="0"/>
              <a:t> dan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berkaitan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data </a:t>
            </a:r>
            <a:r>
              <a:rPr lang="en-US" dirty="0" err="1"/>
              <a:t>lainnya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rgbClr val="0F3570"/>
              </a:buClr>
              <a:buSzPct val="115226"/>
            </a:pPr>
            <a:r>
              <a:rPr lang="en-US" dirty="0"/>
              <a:t>Missing At Random (MAR)</a:t>
            </a:r>
            <a:endParaRPr dirty="0"/>
          </a:p>
        </p:txBody>
      </p:sp>
      <p:sp>
        <p:nvSpPr>
          <p:cNvPr id="175" name="Google Shape;175;p12"/>
          <p:cNvSpPr txBox="1">
            <a:spLocks noGrp="1"/>
          </p:cNvSpPr>
          <p:nvPr>
            <p:ph idx="1"/>
          </p:nvPr>
        </p:nvSpPr>
        <p:spPr>
          <a:xfrm>
            <a:off x="838199" y="1176532"/>
            <a:ext cx="10844605" cy="500043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 fontScale="92500" lnSpcReduction="10000"/>
          </a:bodyPr>
          <a:lstStyle/>
          <a:p>
            <a:pPr marL="609570" indent="-457177">
              <a:lnSpc>
                <a:spcPct val="115000"/>
              </a:lnSpc>
              <a:buSzPts val="1800"/>
              <a:buChar char="●"/>
            </a:pPr>
            <a:r>
              <a:rPr lang="en-US" dirty="0" err="1"/>
              <a:t>Definisi</a:t>
            </a:r>
            <a:r>
              <a:rPr lang="en-US" dirty="0"/>
              <a:t>: </a:t>
            </a:r>
            <a:r>
              <a:rPr lang="en-US" dirty="0" err="1"/>
              <a:t>Probabilitas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instance yang </a:t>
            </a:r>
            <a:r>
              <a:rPr lang="en-US" dirty="0" err="1"/>
              <a:t>hilang</a:t>
            </a:r>
            <a:r>
              <a:rPr lang="en-US" dirty="0"/>
              <a:t> </a:t>
            </a:r>
            <a:r>
              <a:rPr lang="en-US" dirty="0" err="1"/>
              <a:t>mungkin</a:t>
            </a:r>
            <a:r>
              <a:rPr lang="en-US" dirty="0"/>
              <a:t> </a:t>
            </a:r>
            <a:r>
              <a:rPr lang="en-US" dirty="0" err="1"/>
              <a:t>bergantung</a:t>
            </a:r>
            <a:r>
              <a:rPr lang="en-US" dirty="0"/>
              <a:t> pada </a:t>
            </a:r>
            <a:r>
              <a:rPr lang="en-US" dirty="0" err="1"/>
              <a:t>nilai</a:t>
            </a:r>
            <a:r>
              <a:rPr lang="en-US" dirty="0"/>
              <a:t> yang </a:t>
            </a:r>
            <a:r>
              <a:rPr lang="en-US" dirty="0" err="1"/>
              <a:t>diketahui</a:t>
            </a:r>
            <a:r>
              <a:rPr lang="en-US" dirty="0"/>
              <a:t> </a:t>
            </a:r>
            <a:r>
              <a:rPr lang="en-US" dirty="0" err="1"/>
              <a:t>tetapi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pada </a:t>
            </a:r>
            <a:r>
              <a:rPr lang="en-US" dirty="0" err="1"/>
              <a:t>nilai</a:t>
            </a:r>
            <a:r>
              <a:rPr lang="en-US" dirty="0"/>
              <a:t> yang </a:t>
            </a:r>
            <a:r>
              <a:rPr lang="en-US" dirty="0" err="1"/>
              <a:t>hilang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sendiri</a:t>
            </a:r>
            <a:r>
              <a:rPr lang="en-US" dirty="0"/>
              <a:t>.</a:t>
            </a:r>
            <a:endParaRPr dirty="0"/>
          </a:p>
          <a:p>
            <a:pPr marL="609570" indent="-457177">
              <a:lnSpc>
                <a:spcPct val="115000"/>
              </a:lnSpc>
              <a:buSzPts val="1800"/>
              <a:buChar char="●"/>
            </a:pPr>
            <a:r>
              <a:rPr lang="en-US" dirty="0" err="1"/>
              <a:t>Contoh</a:t>
            </a:r>
            <a:r>
              <a:rPr lang="en-US" dirty="0"/>
              <a:t> Sensor: </a:t>
            </a:r>
          </a:p>
          <a:p>
            <a:pPr marL="1066770" lvl="1" indent="-457177">
              <a:lnSpc>
                <a:spcPct val="115000"/>
              </a:lnSpc>
              <a:buSzPts val="1800"/>
              <a:buChar char="●"/>
            </a:pP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kasus</a:t>
            </a:r>
            <a:r>
              <a:rPr lang="en-US" dirty="0"/>
              <a:t> sensor </a:t>
            </a:r>
            <a:r>
              <a:rPr lang="en-US" dirty="0" err="1"/>
              <a:t>suhu</a:t>
            </a:r>
            <a:r>
              <a:rPr lang="en-US" dirty="0"/>
              <a:t>, </a:t>
            </a:r>
            <a:r>
              <a:rPr lang="en-US" dirty="0" err="1"/>
              <a:t>fakta</a:t>
            </a:r>
            <a:r>
              <a:rPr lang="en-US" dirty="0"/>
              <a:t> </a:t>
            </a:r>
            <a:r>
              <a:rPr lang="en-US" dirty="0" err="1"/>
              <a:t>bahwa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hilang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bergantung</a:t>
            </a:r>
            <a:r>
              <a:rPr lang="en-US" dirty="0"/>
              <a:t> pada </a:t>
            </a:r>
            <a:r>
              <a:rPr lang="en-US" dirty="0" err="1"/>
              <a:t>suhu</a:t>
            </a:r>
            <a:r>
              <a:rPr lang="en-US" dirty="0"/>
              <a:t>, </a:t>
            </a:r>
            <a:r>
              <a:rPr lang="en-US" dirty="0" err="1"/>
              <a:t>tetapi</a:t>
            </a:r>
            <a:r>
              <a:rPr lang="en-US" dirty="0"/>
              <a:t> </a:t>
            </a:r>
            <a:r>
              <a:rPr lang="en-US" dirty="0" err="1"/>
              <a:t>mungkin</a:t>
            </a:r>
            <a:r>
              <a:rPr lang="en-US" dirty="0"/>
              <a:t> </a:t>
            </a:r>
            <a:r>
              <a:rPr lang="en-US" dirty="0" err="1"/>
              <a:t>bergantung</a:t>
            </a:r>
            <a:r>
              <a:rPr lang="en-US" dirty="0"/>
              <a:t> pada </a:t>
            </a: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/>
              <a:t>faktor</a:t>
            </a:r>
            <a:r>
              <a:rPr lang="en-US" dirty="0"/>
              <a:t> lain, </a:t>
            </a:r>
            <a:r>
              <a:rPr lang="en-US" dirty="0" err="1"/>
              <a:t>misalnya</a:t>
            </a:r>
            <a:r>
              <a:rPr lang="en-US" dirty="0"/>
              <a:t> pada </a:t>
            </a:r>
            <a:r>
              <a:rPr lang="en-US" dirty="0" err="1"/>
              <a:t>daya</a:t>
            </a:r>
            <a:r>
              <a:rPr lang="en-US" dirty="0"/>
              <a:t> </a:t>
            </a:r>
            <a:r>
              <a:rPr lang="en-US" dirty="0" err="1"/>
              <a:t>baterai</a:t>
            </a:r>
            <a:r>
              <a:rPr lang="en-US" dirty="0"/>
              <a:t> </a:t>
            </a:r>
            <a:r>
              <a:rPr lang="en-US" dirty="0" err="1"/>
              <a:t>termometer</a:t>
            </a:r>
            <a:r>
              <a:rPr lang="en-US" dirty="0"/>
              <a:t>.</a:t>
            </a:r>
            <a:endParaRPr dirty="0"/>
          </a:p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survei</a:t>
            </a:r>
            <a:r>
              <a:rPr lang="en-US" dirty="0"/>
              <a:t>: </a:t>
            </a:r>
          </a:p>
          <a:p>
            <a:pPr lvl="1" algn="just"/>
            <a:r>
              <a:rPr lang="en-US" dirty="0" err="1"/>
              <a:t>Mahasiswa</a:t>
            </a:r>
            <a:r>
              <a:rPr lang="en-US" dirty="0"/>
              <a:t> yang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b="1" dirty="0" err="1"/>
              <a:t>tingkat</a:t>
            </a:r>
            <a:r>
              <a:rPr lang="en-US" b="1" dirty="0"/>
              <a:t> </a:t>
            </a:r>
            <a:r>
              <a:rPr lang="en-US" b="1" dirty="0" err="1"/>
              <a:t>stres</a:t>
            </a:r>
            <a:r>
              <a:rPr lang="en-US" b="1" dirty="0"/>
              <a:t> </a:t>
            </a:r>
            <a:r>
              <a:rPr lang="en-US" b="1" dirty="0" err="1"/>
              <a:t>tinggi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sering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mengisi</a:t>
            </a:r>
            <a:r>
              <a:rPr lang="en-US" dirty="0"/>
              <a:t> </a:t>
            </a:r>
            <a:r>
              <a:rPr lang="en-US" dirty="0" err="1"/>
              <a:t>pertanyaan</a:t>
            </a:r>
            <a:r>
              <a:rPr lang="en-US" dirty="0"/>
              <a:t> </a:t>
            </a:r>
            <a:r>
              <a:rPr lang="en-US" dirty="0" err="1"/>
              <a:t>tentang</a:t>
            </a:r>
            <a:r>
              <a:rPr lang="en-US" dirty="0"/>
              <a:t> jam </a:t>
            </a:r>
            <a:r>
              <a:rPr lang="en-US" dirty="0" err="1"/>
              <a:t>tidur</a:t>
            </a:r>
            <a:r>
              <a:rPr lang="en-US" dirty="0"/>
              <a:t>. Maka missing value Jam Tidur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sepenuhnya</a:t>
            </a:r>
            <a:r>
              <a:rPr lang="en-US" dirty="0"/>
              <a:t> </a:t>
            </a:r>
            <a:r>
              <a:rPr lang="en-US" dirty="0" err="1"/>
              <a:t>acak</a:t>
            </a:r>
            <a:r>
              <a:rPr lang="en-US" dirty="0"/>
              <a:t>. Ada </a:t>
            </a:r>
            <a:r>
              <a:rPr lang="en-US" dirty="0" err="1"/>
              <a:t>hubungan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b="1" dirty="0" err="1"/>
              <a:t>variabel</a:t>
            </a:r>
            <a:r>
              <a:rPr lang="en-US" b="1" dirty="0"/>
              <a:t> lain</a:t>
            </a:r>
            <a:r>
              <a:rPr lang="en-US" dirty="0"/>
              <a:t>, </a:t>
            </a:r>
            <a:r>
              <a:rPr lang="en-US" dirty="0" err="1"/>
              <a:t>yaitu</a:t>
            </a:r>
            <a:r>
              <a:rPr lang="en-US" dirty="0"/>
              <a:t> </a:t>
            </a:r>
            <a:r>
              <a:rPr lang="en-US" dirty="0" err="1"/>
              <a:t>Stres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Tetapi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mengatakan</a:t>
            </a:r>
            <a:r>
              <a:rPr lang="en-US" dirty="0"/>
              <a:t> </a:t>
            </a:r>
            <a:r>
              <a:rPr lang="en-US" dirty="0" err="1"/>
              <a:t>bahwa</a:t>
            </a:r>
            <a:r>
              <a:rPr lang="en-US" dirty="0"/>
              <a:t> jam </a:t>
            </a:r>
            <a:r>
              <a:rPr lang="en-US" dirty="0" err="1"/>
              <a:t>tidur</a:t>
            </a:r>
            <a:r>
              <a:rPr lang="en-US" dirty="0"/>
              <a:t> </a:t>
            </a:r>
            <a:r>
              <a:rPr lang="en-US" dirty="0" err="1"/>
              <a:t>hilang</a:t>
            </a:r>
            <a:r>
              <a:rPr lang="en-US" dirty="0"/>
              <a:t>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jam </a:t>
            </a:r>
            <a:r>
              <a:rPr lang="en-US" dirty="0" err="1"/>
              <a:t>tidurnya</a:t>
            </a:r>
            <a:r>
              <a:rPr lang="en-US" dirty="0"/>
              <a:t> </a:t>
            </a:r>
            <a:r>
              <a:rPr lang="en-US" dirty="0" err="1"/>
              <a:t>tertentu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Informasi</a:t>
            </a:r>
            <a:r>
              <a:rPr lang="en-US" dirty="0"/>
              <a:t> </a:t>
            </a:r>
            <a:r>
              <a:rPr lang="en-US" dirty="0" err="1"/>
              <a:t>Stres</a:t>
            </a:r>
            <a:r>
              <a:rPr lang="en-US" dirty="0"/>
              <a:t> </a:t>
            </a:r>
            <a:r>
              <a:rPr lang="en-US" dirty="0" err="1"/>
              <a:t>masih</a:t>
            </a:r>
            <a:r>
              <a:rPr lang="en-US" dirty="0"/>
              <a:t> </a:t>
            </a:r>
            <a:r>
              <a:rPr lang="en-US" dirty="0" err="1"/>
              <a:t>tersedia</a:t>
            </a:r>
            <a:r>
              <a:rPr lang="en-US" dirty="0"/>
              <a:t>,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memanfaatkannya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proses </a:t>
            </a:r>
            <a:r>
              <a:rPr lang="en-US" dirty="0" err="1"/>
              <a:t>imputasi</a:t>
            </a:r>
            <a:r>
              <a:rPr lang="en-US" dirty="0"/>
              <a:t>.</a:t>
            </a:r>
          </a:p>
          <a:p>
            <a:pPr marL="609570" indent="-457177">
              <a:lnSpc>
                <a:spcPct val="115000"/>
              </a:lnSpc>
              <a:buSzPts val="1800"/>
              <a:buChar char="●"/>
            </a:pPr>
            <a:endParaRPr dirty="0"/>
          </a:p>
        </p:txBody>
      </p:sp>
      <p:sp>
        <p:nvSpPr>
          <p:cNvPr id="176" name="Google Shape;176;p12"/>
          <p:cNvSpPr txBox="1">
            <a:spLocks noGrp="1"/>
          </p:cNvSpPr>
          <p:nvPr>
            <p:ph type="sldNum" idx="4294967295"/>
          </p:nvPr>
        </p:nvSpPr>
        <p:spPr>
          <a:xfrm>
            <a:off x="11461750" y="6215063"/>
            <a:ext cx="730250" cy="52228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pPr>
              <a:buClr>
                <a:srgbClr val="000000"/>
              </a:buClr>
              <a:buSzPts val="1000"/>
            </a:pPr>
            <a:fld id="{00000000-1234-1234-1234-123412341234}" type="slidenum">
              <a:rPr lang="en-US"/>
              <a:pPr>
                <a:buClr>
                  <a:srgbClr val="000000"/>
                </a:buClr>
                <a:buSzPts val="1000"/>
              </a:pPr>
              <a:t>8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C493C8-593F-2F4F-4D0B-C6B51B7FD70D}"/>
              </a:ext>
            </a:extLst>
          </p:cNvPr>
          <p:cNvSpPr txBox="1"/>
          <p:nvPr/>
        </p:nvSpPr>
        <p:spPr>
          <a:xfrm>
            <a:off x="838200" y="853366"/>
            <a:ext cx="11038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Data yang </a:t>
            </a:r>
            <a:r>
              <a:rPr lang="en-US" dirty="0" err="1"/>
              <a:t>hilang</a:t>
            </a:r>
            <a:r>
              <a:rPr lang="en-US" dirty="0"/>
              <a:t> </a:t>
            </a:r>
            <a:r>
              <a:rPr lang="en-US" dirty="0" err="1"/>
              <a:t>berkaitan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lain yang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ketahui</a:t>
            </a:r>
            <a:r>
              <a:rPr lang="en-US" dirty="0"/>
              <a:t>, </a:t>
            </a:r>
            <a:r>
              <a:rPr lang="en-US" dirty="0" err="1"/>
              <a:t>tetapi</a:t>
            </a:r>
            <a:r>
              <a:rPr lang="en-US" dirty="0"/>
              <a:t> </a:t>
            </a:r>
            <a:r>
              <a:rPr lang="en-US" dirty="0" err="1"/>
              <a:t>bukan</a:t>
            </a:r>
            <a:r>
              <a:rPr lang="en-US" dirty="0"/>
              <a:t>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yang </a:t>
            </a:r>
            <a:r>
              <a:rPr lang="en-US" dirty="0" err="1"/>
              <a:t>hilang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sendiri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rgbClr val="0F3570"/>
              </a:buClr>
              <a:buSzPct val="115226"/>
            </a:pPr>
            <a:r>
              <a:rPr lang="en-US" dirty="0"/>
              <a:t>Missing Not At Random (MNAR) </a:t>
            </a:r>
            <a:endParaRPr dirty="0"/>
          </a:p>
        </p:txBody>
      </p:sp>
      <p:sp>
        <p:nvSpPr>
          <p:cNvPr id="182" name="Google Shape;182;p13"/>
          <p:cNvSpPr txBox="1">
            <a:spLocks noGrp="1"/>
          </p:cNvSpPr>
          <p:nvPr>
            <p:ph idx="1"/>
          </p:nvPr>
        </p:nvSpPr>
        <p:spPr>
          <a:xfrm>
            <a:off x="838199" y="1176532"/>
            <a:ext cx="11145819" cy="500043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609570" indent="-457177">
              <a:lnSpc>
                <a:spcPct val="115000"/>
              </a:lnSpc>
              <a:buSzPts val="1800"/>
              <a:buChar char="●"/>
            </a:pPr>
            <a:r>
              <a:rPr lang="en-US" dirty="0" err="1"/>
              <a:t>Definisi</a:t>
            </a:r>
            <a:r>
              <a:rPr lang="en-US" dirty="0"/>
              <a:t>: </a:t>
            </a:r>
            <a:r>
              <a:rPr lang="en-US" dirty="0" err="1"/>
              <a:t>probabilitas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instance </a:t>
            </a:r>
            <a:r>
              <a:rPr lang="en-US" dirty="0" err="1"/>
              <a:t>hilang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bergantung</a:t>
            </a:r>
            <a:r>
              <a:rPr lang="en-US" dirty="0"/>
              <a:t> pada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sendiri</a:t>
            </a:r>
            <a:r>
              <a:rPr lang="en-US" dirty="0"/>
              <a:t>.</a:t>
            </a:r>
            <a:endParaRPr dirty="0"/>
          </a:p>
          <a:p>
            <a:pPr marL="609570" indent="-457177">
              <a:lnSpc>
                <a:spcPct val="115000"/>
              </a:lnSpc>
              <a:buSzPts val="1800"/>
              <a:buChar char="●"/>
            </a:pPr>
            <a:r>
              <a:rPr lang="en-US" dirty="0" err="1"/>
              <a:t>Contoh</a:t>
            </a:r>
            <a:r>
              <a:rPr lang="en-US" dirty="0"/>
              <a:t> sensor: </a:t>
            </a:r>
          </a:p>
          <a:p>
            <a:pPr marL="1066770" lvl="1" indent="-457177">
              <a:lnSpc>
                <a:spcPct val="115000"/>
              </a:lnSpc>
              <a:buSzPts val="1800"/>
              <a:buChar char="●"/>
            </a:pP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kasus</a:t>
            </a:r>
            <a:r>
              <a:rPr lang="en-US" dirty="0"/>
              <a:t> sensor </a:t>
            </a:r>
            <a:r>
              <a:rPr lang="en-US" dirty="0" err="1"/>
              <a:t>suhu</a:t>
            </a:r>
            <a:r>
              <a:rPr lang="en-US" dirty="0"/>
              <a:t>, sensor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berfungsi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baik</a:t>
            </a:r>
            <a:r>
              <a:rPr lang="en-US" dirty="0"/>
              <a:t> </a:t>
            </a:r>
            <a:r>
              <a:rPr lang="en-US" dirty="0" err="1"/>
              <a:t>saat</a:t>
            </a:r>
            <a:r>
              <a:rPr lang="en-US" dirty="0"/>
              <a:t> </a:t>
            </a:r>
            <a:r>
              <a:rPr lang="en-US" dirty="0" err="1"/>
              <a:t>suhu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dingin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5°C.</a:t>
            </a:r>
            <a:endParaRPr dirty="0"/>
          </a:p>
          <a:p>
            <a:pPr marL="609570" indent="-457177">
              <a:lnSpc>
                <a:spcPct val="115000"/>
              </a:lnSpc>
              <a:buSzPts val="1800"/>
              <a:buChar char="●"/>
            </a:pP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survei</a:t>
            </a:r>
            <a:r>
              <a:rPr lang="en-US" dirty="0"/>
              <a:t>: </a:t>
            </a:r>
          </a:p>
          <a:p>
            <a:pPr marL="1066770" lvl="1" indent="-457177">
              <a:lnSpc>
                <a:spcPct val="115000"/>
              </a:lnSpc>
              <a:buSzPts val="1800"/>
              <a:buChar char="●"/>
            </a:pPr>
            <a:r>
              <a:rPr lang="en-US" dirty="0" err="1"/>
              <a:t>Apakah</a:t>
            </a:r>
            <a:r>
              <a:rPr lang="en-US" dirty="0"/>
              <a:t> </a:t>
            </a:r>
            <a:r>
              <a:rPr lang="en-US" dirty="0" err="1"/>
              <a:t>seseorang</a:t>
            </a:r>
            <a:r>
              <a:rPr lang="en-US" dirty="0"/>
              <a:t> </a:t>
            </a:r>
            <a:r>
              <a:rPr lang="en-US" dirty="0" err="1"/>
              <a:t>menjawab</a:t>
            </a:r>
            <a:r>
              <a:rPr lang="en-US" dirty="0"/>
              <a:t> </a:t>
            </a:r>
            <a:r>
              <a:rPr lang="en-US" dirty="0" err="1"/>
              <a:t>pertanyaan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.</a:t>
            </a:r>
          </a:p>
          <a:p>
            <a:pPr marL="1066770" lvl="1" indent="-457177">
              <a:buSzPts val="1800"/>
              <a:buChar char="●"/>
            </a:pPr>
            <a:r>
              <a:rPr lang="en-US" dirty="0"/>
              <a:t>“ </a:t>
            </a:r>
            <a:r>
              <a:rPr lang="en-US" dirty="0" err="1"/>
              <a:t>Berapa</a:t>
            </a:r>
            <a:r>
              <a:rPr lang="en-US" dirty="0"/>
              <a:t> </a:t>
            </a:r>
            <a:r>
              <a:rPr lang="en-US" dirty="0" err="1"/>
              <a:t>berat</a:t>
            </a:r>
            <a:r>
              <a:rPr lang="en-US" dirty="0"/>
              <a:t> badan Anda?“ </a:t>
            </a:r>
          </a:p>
          <a:p>
            <a:pPr marL="1066793" lvl="2" indent="0">
              <a:buSzPts val="1800"/>
              <a:buNone/>
            </a:pPr>
            <a:r>
              <a:rPr lang="en-US" dirty="0"/>
              <a:t>(</a:t>
            </a:r>
            <a:r>
              <a:rPr lang="en-US" dirty="0" err="1"/>
              <a:t>mahasiswa</a:t>
            </a:r>
            <a:r>
              <a:rPr lang="en-US" dirty="0"/>
              <a:t> yang </a:t>
            </a:r>
            <a:r>
              <a:rPr lang="en-US" dirty="0" err="1"/>
              <a:t>merasa</a:t>
            </a:r>
            <a:r>
              <a:rPr lang="en-US" dirty="0"/>
              <a:t> </a:t>
            </a:r>
            <a:r>
              <a:rPr lang="en-US" b="1" dirty="0" err="1"/>
              <a:t>berat</a:t>
            </a:r>
            <a:r>
              <a:rPr lang="en-US" b="1" dirty="0"/>
              <a:t> </a:t>
            </a:r>
            <a:r>
              <a:rPr lang="en-US" b="1" dirty="0" err="1"/>
              <a:t>badannya</a:t>
            </a:r>
            <a:r>
              <a:rPr lang="en-US" b="1" dirty="0"/>
              <a:t> sangat </a:t>
            </a:r>
            <a:r>
              <a:rPr lang="en-US" b="1" dirty="0" err="1"/>
              <a:t>tinggi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enggan</a:t>
            </a:r>
            <a:r>
              <a:rPr lang="en-US" dirty="0"/>
              <a:t> </a:t>
            </a:r>
            <a:r>
              <a:rPr lang="en-US" dirty="0" err="1"/>
              <a:t>mengisi</a:t>
            </a:r>
            <a:r>
              <a:rPr lang="en-US" dirty="0"/>
              <a:t> </a:t>
            </a:r>
            <a:r>
              <a:rPr lang="en-US" dirty="0" err="1"/>
              <a:t>pertanyaan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)</a:t>
            </a:r>
          </a:p>
        </p:txBody>
      </p:sp>
      <p:sp>
        <p:nvSpPr>
          <p:cNvPr id="183" name="Google Shape;183;p13"/>
          <p:cNvSpPr txBox="1">
            <a:spLocks noGrp="1"/>
          </p:cNvSpPr>
          <p:nvPr>
            <p:ph type="sldNum" idx="4294967295"/>
          </p:nvPr>
        </p:nvSpPr>
        <p:spPr>
          <a:xfrm>
            <a:off x="11461750" y="6215063"/>
            <a:ext cx="730250" cy="52228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pPr>
              <a:buClr>
                <a:srgbClr val="000000"/>
              </a:buClr>
              <a:buSzPts val="1000"/>
            </a:pPr>
            <a:fld id="{00000000-1234-1234-1234-123412341234}" type="slidenum">
              <a:rPr lang="en-US"/>
              <a:pPr>
                <a:buClr>
                  <a:srgbClr val="000000"/>
                </a:buClr>
                <a:buSzPts val="1000"/>
              </a:pPr>
              <a:t>9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552510-7FE4-1329-D699-E7526BED556C}"/>
              </a:ext>
            </a:extLst>
          </p:cNvPr>
          <p:cNvSpPr txBox="1"/>
          <p:nvPr/>
        </p:nvSpPr>
        <p:spPr>
          <a:xfrm>
            <a:off x="838200" y="797974"/>
            <a:ext cx="103282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Nilai </a:t>
            </a:r>
            <a:r>
              <a:rPr lang="en-US" dirty="0" err="1"/>
              <a:t>hilang</a:t>
            </a:r>
            <a:r>
              <a:rPr lang="en-US" dirty="0"/>
              <a:t>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yang </a:t>
            </a:r>
            <a:r>
              <a:rPr lang="en-US" dirty="0" err="1"/>
              <a:t>sebenarnya</a:t>
            </a:r>
            <a:r>
              <a:rPr lang="en-US" dirty="0"/>
              <a:t> </a:t>
            </a:r>
            <a:r>
              <a:rPr lang="en-US" dirty="0" err="1"/>
              <a:t>justru</a:t>
            </a:r>
            <a:r>
              <a:rPr lang="en-US" dirty="0"/>
              <a:t> </a:t>
            </a:r>
            <a:r>
              <a:rPr lang="en-US" dirty="0" err="1"/>
              <a:t>berkaitan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kemungkinan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diisi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rgbClr val="0F3570"/>
              </a:buClr>
              <a:buSzPct val="115226"/>
            </a:pPr>
            <a:r>
              <a:rPr lang="en-US" dirty="0" err="1"/>
              <a:t>Tahapan</a:t>
            </a:r>
            <a:r>
              <a:rPr lang="en-US" dirty="0"/>
              <a:t> dan Teknik </a:t>
            </a:r>
            <a:r>
              <a:rPr lang="en-US" dirty="0" err="1"/>
              <a:t>Imputasi</a:t>
            </a:r>
            <a:endParaRPr dirty="0"/>
          </a:p>
        </p:txBody>
      </p:sp>
      <p:sp>
        <p:nvSpPr>
          <p:cNvPr id="189" name="Google Shape;189;p14"/>
          <p:cNvSpPr txBox="1">
            <a:spLocks noGrp="1"/>
          </p:cNvSpPr>
          <p:nvPr>
            <p:ph idx="1"/>
          </p:nvPr>
        </p:nvSpPr>
        <p:spPr>
          <a:xfrm>
            <a:off x="182881" y="1176532"/>
            <a:ext cx="11170920" cy="500043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609570" indent="-457177">
              <a:lnSpc>
                <a:spcPct val="115000"/>
              </a:lnSpc>
              <a:buClr>
                <a:srgbClr val="0F3570"/>
              </a:buClr>
              <a:buSzPts val="1800"/>
              <a:buChar char="●"/>
            </a:pPr>
            <a:r>
              <a:rPr lang="en-US" sz="2667" dirty="0">
                <a:ea typeface="Overlock"/>
                <a:cs typeface="Overlock"/>
                <a:sym typeface="Overlock"/>
              </a:rPr>
              <a:t>Jika </a:t>
            </a:r>
            <a:r>
              <a:rPr lang="en-US" sz="2667" dirty="0" err="1">
                <a:ea typeface="Overlock"/>
                <a:cs typeface="Overlock"/>
                <a:sym typeface="Overlock"/>
              </a:rPr>
              <a:t>tipe</a:t>
            </a:r>
            <a:r>
              <a:rPr lang="en-US" sz="2667" dirty="0">
                <a:ea typeface="Overlock"/>
                <a:cs typeface="Overlock"/>
                <a:sym typeface="Overlock"/>
              </a:rPr>
              <a:t> data </a:t>
            </a:r>
            <a:r>
              <a:rPr lang="en-US" sz="2667" dirty="0" err="1">
                <a:ea typeface="Overlock"/>
                <a:cs typeface="Overlock"/>
                <a:sym typeface="Overlock"/>
              </a:rPr>
              <a:t>Variabel</a:t>
            </a:r>
            <a:r>
              <a:rPr lang="en-US" sz="2667" dirty="0">
                <a:ea typeface="Overlock"/>
                <a:cs typeface="Overlock"/>
                <a:sym typeface="Overlock"/>
              </a:rPr>
              <a:t> </a:t>
            </a:r>
            <a:r>
              <a:rPr lang="en-US" sz="2667" dirty="0" err="1">
                <a:ea typeface="Overlock"/>
                <a:cs typeface="Overlock"/>
                <a:sym typeface="Overlock"/>
              </a:rPr>
              <a:t>Numerik</a:t>
            </a:r>
            <a:endParaRPr sz="2667" dirty="0">
              <a:ea typeface="Overlock"/>
              <a:cs typeface="Overlock"/>
              <a:sym typeface="Overlock"/>
            </a:endParaRPr>
          </a:p>
          <a:p>
            <a:pPr marL="1219139" lvl="1" indent="-423312">
              <a:lnSpc>
                <a:spcPct val="115000"/>
              </a:lnSpc>
              <a:buClr>
                <a:srgbClr val="0F3570"/>
              </a:buClr>
              <a:buChar char="○"/>
            </a:pPr>
            <a:r>
              <a:rPr lang="en-US" sz="2133" dirty="0" err="1">
                <a:ea typeface="Overlock"/>
                <a:cs typeface="Overlock"/>
                <a:sym typeface="Overlock"/>
              </a:rPr>
              <a:t>Imputasi</a:t>
            </a:r>
            <a:r>
              <a:rPr lang="en-US" sz="2133" dirty="0">
                <a:ea typeface="Overlock"/>
                <a:cs typeface="Overlock"/>
                <a:sym typeface="Overlock"/>
              </a:rPr>
              <a:t> mean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atau</a:t>
            </a:r>
            <a:r>
              <a:rPr lang="en-US" sz="2133" dirty="0">
                <a:ea typeface="Overlock"/>
                <a:cs typeface="Overlock"/>
                <a:sym typeface="Overlock"/>
              </a:rPr>
              <a:t> median.</a:t>
            </a:r>
            <a:endParaRPr dirty="0"/>
          </a:p>
          <a:p>
            <a:pPr marL="1219139" lvl="1" indent="-423312">
              <a:lnSpc>
                <a:spcPct val="115000"/>
              </a:lnSpc>
              <a:buClr>
                <a:srgbClr val="0F3570"/>
              </a:buClr>
              <a:buChar char="○"/>
            </a:pPr>
            <a:r>
              <a:rPr lang="en-US" sz="2133" dirty="0" err="1">
                <a:ea typeface="Overlock"/>
                <a:cs typeface="Overlock"/>
                <a:sym typeface="Overlock"/>
              </a:rPr>
              <a:t>Imputasi</a:t>
            </a:r>
            <a:r>
              <a:rPr lang="en-US" sz="2133" dirty="0">
                <a:ea typeface="Overlock"/>
                <a:cs typeface="Overlock"/>
                <a:sym typeface="Overlock"/>
              </a:rPr>
              <a:t>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nilai</a:t>
            </a:r>
            <a:r>
              <a:rPr lang="en-US" sz="2133" dirty="0">
                <a:ea typeface="Overlock"/>
                <a:cs typeface="Overlock"/>
                <a:sym typeface="Overlock"/>
              </a:rPr>
              <a:t>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suka-suka</a:t>
            </a:r>
            <a:r>
              <a:rPr lang="en-US" sz="2133" dirty="0">
                <a:ea typeface="Overlock"/>
                <a:cs typeface="Overlock"/>
                <a:sym typeface="Overlock"/>
              </a:rPr>
              <a:t> (arbitrary).</a:t>
            </a:r>
            <a:endParaRPr dirty="0"/>
          </a:p>
          <a:p>
            <a:pPr marL="1219139" lvl="1" indent="-423312">
              <a:lnSpc>
                <a:spcPct val="115000"/>
              </a:lnSpc>
              <a:buClr>
                <a:srgbClr val="0F3570"/>
              </a:buClr>
              <a:buChar char="○"/>
            </a:pPr>
            <a:r>
              <a:rPr lang="en-US" sz="2133" dirty="0" err="1">
                <a:ea typeface="Overlock"/>
                <a:cs typeface="Overlock"/>
                <a:sym typeface="Overlock"/>
              </a:rPr>
              <a:t>Imputasi</a:t>
            </a:r>
            <a:r>
              <a:rPr lang="en-US" sz="2133" dirty="0">
                <a:ea typeface="Overlock"/>
                <a:cs typeface="Overlock"/>
                <a:sym typeface="Overlock"/>
              </a:rPr>
              <a:t>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nilai</a:t>
            </a:r>
            <a:r>
              <a:rPr lang="en-US" sz="2133" dirty="0">
                <a:ea typeface="Overlock"/>
                <a:cs typeface="Overlock"/>
                <a:sym typeface="Overlock"/>
              </a:rPr>
              <a:t>/data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ujung</a:t>
            </a:r>
            <a:r>
              <a:rPr lang="en-US" sz="2133" dirty="0">
                <a:ea typeface="Overlock"/>
                <a:cs typeface="Overlock"/>
                <a:sym typeface="Overlock"/>
              </a:rPr>
              <a:t> (end of tail).</a:t>
            </a:r>
            <a:endParaRPr dirty="0"/>
          </a:p>
          <a:p>
            <a:pPr marL="609570" indent="-457177">
              <a:lnSpc>
                <a:spcPct val="115000"/>
              </a:lnSpc>
              <a:buClr>
                <a:srgbClr val="0F3570"/>
              </a:buClr>
              <a:buSzPts val="1800"/>
              <a:buChar char="●"/>
            </a:pPr>
            <a:r>
              <a:rPr lang="en-US" sz="2667" dirty="0">
                <a:ea typeface="Overlock"/>
                <a:cs typeface="Overlock"/>
                <a:sym typeface="Overlock"/>
              </a:rPr>
              <a:t>Jika </a:t>
            </a:r>
            <a:r>
              <a:rPr lang="en-US" sz="2667" dirty="0" err="1">
                <a:ea typeface="Overlock"/>
                <a:cs typeface="Overlock"/>
                <a:sym typeface="Overlock"/>
              </a:rPr>
              <a:t>tipe</a:t>
            </a:r>
            <a:r>
              <a:rPr lang="en-US" sz="2667" dirty="0">
                <a:ea typeface="Overlock"/>
                <a:cs typeface="Overlock"/>
                <a:sym typeface="Overlock"/>
              </a:rPr>
              <a:t> data </a:t>
            </a:r>
            <a:r>
              <a:rPr lang="en-US" sz="2667" dirty="0" err="1">
                <a:ea typeface="Overlock"/>
                <a:cs typeface="Overlock"/>
                <a:sym typeface="Overlock"/>
              </a:rPr>
              <a:t>Variabel</a:t>
            </a:r>
            <a:r>
              <a:rPr lang="en-US" sz="2667" dirty="0">
                <a:ea typeface="Overlock"/>
                <a:cs typeface="Overlock"/>
                <a:sym typeface="Overlock"/>
              </a:rPr>
              <a:t> </a:t>
            </a:r>
            <a:r>
              <a:rPr lang="en-US" sz="2667" dirty="0" err="1">
                <a:ea typeface="Overlock"/>
                <a:cs typeface="Overlock"/>
                <a:sym typeface="Overlock"/>
              </a:rPr>
              <a:t>Kategorik</a:t>
            </a:r>
            <a:endParaRPr sz="2667" dirty="0">
              <a:ea typeface="Overlock"/>
              <a:cs typeface="Overlock"/>
              <a:sym typeface="Overlock"/>
            </a:endParaRPr>
          </a:p>
          <a:p>
            <a:pPr marL="1219139" lvl="1" indent="-423312">
              <a:lnSpc>
                <a:spcPct val="115000"/>
              </a:lnSpc>
              <a:buClr>
                <a:srgbClr val="0F3570"/>
              </a:buClr>
              <a:buChar char="○"/>
            </a:pPr>
            <a:r>
              <a:rPr lang="en-US" sz="2133" dirty="0" err="1">
                <a:ea typeface="Overlock"/>
                <a:cs typeface="Overlock"/>
                <a:sym typeface="Overlock"/>
              </a:rPr>
              <a:t>Imputasi</a:t>
            </a:r>
            <a:r>
              <a:rPr lang="en-US" sz="2133" dirty="0">
                <a:ea typeface="Overlock"/>
                <a:cs typeface="Overlock"/>
                <a:sym typeface="Overlock"/>
              </a:rPr>
              <a:t>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kategori</a:t>
            </a:r>
            <a:r>
              <a:rPr lang="en-US" sz="2133" dirty="0">
                <a:ea typeface="Overlock"/>
                <a:cs typeface="Overlock"/>
                <a:sym typeface="Overlock"/>
              </a:rPr>
              <a:t> yang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sering</a:t>
            </a:r>
            <a:r>
              <a:rPr lang="en-US" sz="2133" dirty="0">
                <a:ea typeface="Overlock"/>
                <a:cs typeface="Overlock"/>
                <a:sym typeface="Overlock"/>
              </a:rPr>
              <a:t>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muncul</a:t>
            </a:r>
            <a:r>
              <a:rPr lang="en-US" sz="2133" dirty="0">
                <a:ea typeface="Overlock"/>
                <a:cs typeface="Overlock"/>
                <a:sym typeface="Overlock"/>
              </a:rPr>
              <a:t>.</a:t>
            </a:r>
            <a:endParaRPr dirty="0"/>
          </a:p>
          <a:p>
            <a:pPr marL="1219139" lvl="1" indent="-423312">
              <a:lnSpc>
                <a:spcPct val="115000"/>
              </a:lnSpc>
              <a:buClr>
                <a:srgbClr val="0F3570"/>
              </a:buClr>
              <a:buChar char="○"/>
            </a:pPr>
            <a:r>
              <a:rPr lang="en-US" sz="2133" dirty="0" err="1">
                <a:ea typeface="Overlock"/>
                <a:cs typeface="Overlock"/>
                <a:sym typeface="Overlock"/>
              </a:rPr>
              <a:t>Tambah</a:t>
            </a:r>
            <a:r>
              <a:rPr lang="en-US" sz="2133" dirty="0">
                <a:ea typeface="Overlock"/>
                <a:cs typeface="Overlock"/>
                <a:sym typeface="Overlock"/>
              </a:rPr>
              <a:t>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kategori</a:t>
            </a:r>
            <a:r>
              <a:rPr lang="en-US" sz="2133" dirty="0">
                <a:ea typeface="Overlock"/>
                <a:cs typeface="Overlock"/>
                <a:sym typeface="Overlock"/>
              </a:rPr>
              <a:t> yang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hilang</a:t>
            </a:r>
            <a:r>
              <a:rPr lang="en-US" sz="2133" dirty="0">
                <a:ea typeface="Overlock"/>
                <a:cs typeface="Overlock"/>
                <a:sym typeface="Overlock"/>
              </a:rPr>
              <a:t>.</a:t>
            </a:r>
            <a:endParaRPr dirty="0"/>
          </a:p>
        </p:txBody>
      </p:sp>
      <p:sp>
        <p:nvSpPr>
          <p:cNvPr id="190" name="Google Shape;190;p14"/>
          <p:cNvSpPr txBox="1">
            <a:spLocks noGrp="1"/>
          </p:cNvSpPr>
          <p:nvPr>
            <p:ph type="sldNum" idx="4294967295"/>
          </p:nvPr>
        </p:nvSpPr>
        <p:spPr>
          <a:xfrm>
            <a:off x="11461750" y="6215063"/>
            <a:ext cx="730250" cy="52228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pPr>
              <a:buClr>
                <a:srgbClr val="000000"/>
              </a:buClr>
              <a:buSzPts val="1000"/>
            </a:pPr>
            <a:fld id="{00000000-1234-1234-1234-123412341234}" type="slidenum">
              <a:rPr lang="en-US"/>
              <a:pPr>
                <a:buClr>
                  <a:srgbClr val="000000"/>
                </a:buClr>
                <a:buSzPts val="1000"/>
              </a:pPr>
              <a:t>10</a:t>
            </a:fld>
            <a:endParaRPr/>
          </a:p>
        </p:txBody>
      </p:sp>
      <p:pic>
        <p:nvPicPr>
          <p:cNvPr id="191" name="Google Shape;191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96833" y="2223930"/>
            <a:ext cx="5279568" cy="2410137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4"/>
          <p:cNvSpPr txBox="1"/>
          <p:nvPr/>
        </p:nvSpPr>
        <p:spPr>
          <a:xfrm>
            <a:off x="8252220" y="1606722"/>
            <a:ext cx="1889835" cy="3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US" sz="1600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rPr>
              <a:t>tahapan </a:t>
            </a:r>
            <a:r>
              <a:rPr lang="en-US" sz="1600" i="1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rPr>
              <a:t>imputation</a:t>
            </a:r>
            <a:endParaRPr sz="2400"/>
          </a:p>
        </p:txBody>
      </p:sp>
      <p:sp>
        <p:nvSpPr>
          <p:cNvPr id="193" name="Google Shape;193;p14"/>
          <p:cNvSpPr txBox="1"/>
          <p:nvPr/>
        </p:nvSpPr>
        <p:spPr>
          <a:xfrm>
            <a:off x="6251055" y="6101228"/>
            <a:ext cx="5606663" cy="328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US" sz="667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sumber gbr: </a:t>
            </a:r>
            <a:endParaRPr sz="2400"/>
          </a:p>
          <a:p>
            <a:r>
              <a:rPr lang="en-US" sz="667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https://www.researchgate.net/publication/</a:t>
            </a:r>
            <a:r>
              <a:rPr lang="en-US" sz="667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rPr>
              <a:t>334213038</a:t>
            </a:r>
            <a:r>
              <a:rPr lang="en-US" sz="667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_Missing_data_and_bias_in_physics_education_research_A_case_for_using_multiple_imputation</a:t>
            </a:r>
            <a:endParaRPr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rgbClr val="0F3570"/>
              </a:buClr>
              <a:buSzPct val="115226"/>
            </a:pPr>
            <a:r>
              <a:rPr lang="en-US" dirty="0" err="1"/>
              <a:t>Imputasi</a:t>
            </a:r>
            <a:r>
              <a:rPr lang="en-US" dirty="0"/>
              <a:t> Mean </a:t>
            </a:r>
            <a:r>
              <a:rPr lang="en-US" dirty="0" err="1"/>
              <a:t>atau</a:t>
            </a:r>
            <a:r>
              <a:rPr lang="en-US" dirty="0"/>
              <a:t> Median</a:t>
            </a:r>
            <a:endParaRPr dirty="0"/>
          </a:p>
        </p:txBody>
      </p:sp>
      <p:sp>
        <p:nvSpPr>
          <p:cNvPr id="199" name="Google Shape;199;p15"/>
          <p:cNvSpPr txBox="1">
            <a:spLocks noGrp="1"/>
          </p:cNvSpPr>
          <p:nvPr>
            <p:ph type="sldNum" idx="4294967295"/>
          </p:nvPr>
        </p:nvSpPr>
        <p:spPr>
          <a:xfrm>
            <a:off x="11461750" y="6215063"/>
            <a:ext cx="730250" cy="52228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pPr>
              <a:buClr>
                <a:srgbClr val="000000"/>
              </a:buClr>
              <a:buSzPts val="1000"/>
            </a:pPr>
            <a:fld id="{00000000-1234-1234-1234-123412341234}" type="slidenum">
              <a:rPr lang="en-US"/>
              <a:pPr>
                <a:buClr>
                  <a:srgbClr val="000000"/>
                </a:buClr>
                <a:buSzPts val="1000"/>
              </a:pPr>
              <a:t>11</a:t>
            </a:fld>
            <a:endParaRPr/>
          </a:p>
        </p:txBody>
      </p:sp>
      <p:sp>
        <p:nvSpPr>
          <p:cNvPr id="200" name="Google Shape;200;p15"/>
          <p:cNvSpPr txBox="1"/>
          <p:nvPr/>
        </p:nvSpPr>
        <p:spPr>
          <a:xfrm>
            <a:off x="415602" y="853440"/>
            <a:ext cx="6119671" cy="5314279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84163" indent="-223838">
              <a:lnSpc>
                <a:spcPct val="115000"/>
              </a:lnSpc>
              <a:buClr>
                <a:schemeClr val="dk2"/>
              </a:buClr>
              <a:buSzPts val="1200"/>
              <a:buFont typeface="Arial"/>
              <a:buChar char="●"/>
            </a:pPr>
            <a:r>
              <a:rPr lang="en-US" dirty="0">
                <a:ea typeface="Overlock"/>
                <a:cs typeface="Overlock"/>
                <a:sym typeface="Overlock"/>
              </a:rPr>
              <a:t>Pro:</a:t>
            </a:r>
            <a:endParaRPr dirty="0">
              <a:ea typeface="Overlock"/>
              <a:cs typeface="Overlock"/>
              <a:sym typeface="Overlock"/>
            </a:endParaRPr>
          </a:p>
          <a:p>
            <a:pPr lvl="1" indent="-173038">
              <a:lnSpc>
                <a:spcPct val="115000"/>
              </a:lnSpc>
              <a:buClr>
                <a:schemeClr val="dk2"/>
              </a:buClr>
              <a:buSzPts val="1200"/>
              <a:buFont typeface="Arial"/>
              <a:buChar char="○"/>
            </a:pPr>
            <a:r>
              <a:rPr lang="en-US" dirty="0" err="1">
                <a:ea typeface="Overlock"/>
                <a:cs typeface="Overlock"/>
                <a:sym typeface="Overlock"/>
              </a:rPr>
              <a:t>Mudah</a:t>
            </a:r>
            <a:r>
              <a:rPr lang="en-US" dirty="0">
                <a:ea typeface="Overlock"/>
                <a:cs typeface="Overlock"/>
                <a:sym typeface="Overlock"/>
              </a:rPr>
              <a:t> dan </a:t>
            </a:r>
            <a:r>
              <a:rPr lang="en-US" dirty="0" err="1">
                <a:ea typeface="Overlock"/>
                <a:cs typeface="Overlock"/>
                <a:sym typeface="Overlock"/>
              </a:rPr>
              <a:t>cepat</a:t>
            </a:r>
            <a:r>
              <a:rPr lang="en-US" dirty="0">
                <a:ea typeface="Overlock"/>
                <a:cs typeface="Overlock"/>
                <a:sym typeface="Overlock"/>
              </a:rPr>
              <a:t>.</a:t>
            </a:r>
            <a:endParaRPr dirty="0">
              <a:ea typeface="Overlock"/>
              <a:cs typeface="Overlock"/>
              <a:sym typeface="Overlock"/>
            </a:endParaRPr>
          </a:p>
          <a:p>
            <a:pPr lvl="1" indent="-173038">
              <a:lnSpc>
                <a:spcPct val="115000"/>
              </a:lnSpc>
              <a:buClr>
                <a:schemeClr val="dk2"/>
              </a:buClr>
              <a:buSzPts val="1200"/>
              <a:buFont typeface="Arial"/>
              <a:buChar char="○"/>
            </a:pPr>
            <a:r>
              <a:rPr lang="en-US" dirty="0" err="1">
                <a:ea typeface="Overlock"/>
                <a:cs typeface="Overlock"/>
                <a:sym typeface="Overlock"/>
              </a:rPr>
              <a:t>Bekerja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efektif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untuk</a:t>
            </a:r>
            <a:r>
              <a:rPr lang="en-US" dirty="0">
                <a:ea typeface="Overlock"/>
                <a:cs typeface="Overlock"/>
                <a:sym typeface="Overlock"/>
              </a:rPr>
              <a:t> dataset </a:t>
            </a:r>
            <a:r>
              <a:rPr lang="en-US" dirty="0" err="1">
                <a:ea typeface="Overlock"/>
                <a:cs typeface="Overlock"/>
                <a:sym typeface="Overlock"/>
              </a:rPr>
              <a:t>numerik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berukuran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kecil</a:t>
            </a:r>
            <a:r>
              <a:rPr lang="en-US" dirty="0">
                <a:ea typeface="Overlock"/>
                <a:cs typeface="Overlock"/>
                <a:sym typeface="Overlock"/>
              </a:rPr>
              <a:t>.</a:t>
            </a:r>
            <a:endParaRPr sz="2800" dirty="0"/>
          </a:p>
          <a:p>
            <a:pPr lvl="1" indent="-173038">
              <a:lnSpc>
                <a:spcPct val="115000"/>
              </a:lnSpc>
              <a:buClr>
                <a:schemeClr val="dk2"/>
              </a:buClr>
              <a:buSzPts val="1200"/>
              <a:buFont typeface="Arial"/>
              <a:buChar char="○"/>
            </a:pPr>
            <a:r>
              <a:rPr lang="en-US" dirty="0" err="1">
                <a:ea typeface="Overlock"/>
                <a:cs typeface="Overlock"/>
                <a:sym typeface="Overlock"/>
              </a:rPr>
              <a:t>Cocok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untuk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variabel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numerik</a:t>
            </a:r>
            <a:r>
              <a:rPr lang="en-US" dirty="0">
                <a:ea typeface="Overlock"/>
                <a:cs typeface="Overlock"/>
                <a:sym typeface="Overlock"/>
              </a:rPr>
              <a:t>.</a:t>
            </a:r>
            <a:endParaRPr sz="2800" dirty="0"/>
          </a:p>
          <a:p>
            <a:pPr lvl="1" indent="-173038">
              <a:lnSpc>
                <a:spcPct val="115000"/>
              </a:lnSpc>
              <a:buClr>
                <a:schemeClr val="dk2"/>
              </a:buClr>
              <a:buSzPts val="1200"/>
              <a:buFont typeface="Arial"/>
              <a:buChar char="○"/>
            </a:pPr>
            <a:r>
              <a:rPr lang="en-US" dirty="0" err="1">
                <a:ea typeface="Overlock"/>
                <a:cs typeface="Overlock"/>
                <a:sym typeface="Overlock"/>
              </a:rPr>
              <a:t>Cocok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untuk</a:t>
            </a:r>
            <a:r>
              <a:rPr lang="en-US" dirty="0">
                <a:ea typeface="Overlock"/>
                <a:cs typeface="Overlock"/>
                <a:sym typeface="Overlock"/>
              </a:rPr>
              <a:t> data missing completely at random (MCAR).</a:t>
            </a:r>
            <a:endParaRPr sz="2800" dirty="0"/>
          </a:p>
          <a:p>
            <a:pPr lvl="1" indent="-173038">
              <a:lnSpc>
                <a:spcPct val="115000"/>
              </a:lnSpc>
              <a:buClr>
                <a:schemeClr val="dk2"/>
              </a:buClr>
              <a:buSzPts val="1200"/>
              <a:buFont typeface="Arial"/>
              <a:buChar char="○"/>
            </a:pPr>
            <a:r>
              <a:rPr lang="en-US" dirty="0" err="1">
                <a:ea typeface="Overlock"/>
                <a:cs typeface="Overlock"/>
                <a:sym typeface="Overlock"/>
              </a:rPr>
              <a:t>Dapat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digunakan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dalam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produksi</a:t>
            </a:r>
            <a:r>
              <a:rPr lang="en-US" dirty="0">
                <a:ea typeface="Overlock"/>
                <a:cs typeface="Overlock"/>
                <a:sym typeface="Overlock"/>
              </a:rPr>
              <a:t> (mis. </a:t>
            </a:r>
            <a:r>
              <a:rPr lang="en-US" dirty="0" err="1">
                <a:ea typeface="Overlock"/>
                <a:cs typeface="Overlock"/>
                <a:sym typeface="Overlock"/>
              </a:rPr>
              <a:t>dalam</a:t>
            </a:r>
            <a:r>
              <a:rPr lang="en-US" dirty="0">
                <a:ea typeface="Overlock"/>
                <a:cs typeface="Overlock"/>
                <a:sym typeface="Overlock"/>
              </a:rPr>
              <a:t> model deployment).</a:t>
            </a:r>
            <a:endParaRPr dirty="0">
              <a:ea typeface="Overlock"/>
              <a:cs typeface="Overlock"/>
              <a:sym typeface="Overlock"/>
            </a:endParaRPr>
          </a:p>
          <a:p>
            <a:pPr marL="284163" indent="-223838">
              <a:lnSpc>
                <a:spcPct val="115000"/>
              </a:lnSpc>
              <a:buClr>
                <a:schemeClr val="dk2"/>
              </a:buClr>
              <a:buSzPts val="1200"/>
              <a:buFont typeface="Arial"/>
              <a:buChar char="●"/>
            </a:pPr>
            <a:r>
              <a:rPr lang="en-US" dirty="0">
                <a:ea typeface="Overlock"/>
                <a:cs typeface="Overlock"/>
                <a:sym typeface="Overlock"/>
              </a:rPr>
              <a:t>Kontra:</a:t>
            </a:r>
            <a:endParaRPr dirty="0">
              <a:ea typeface="Overlock"/>
              <a:cs typeface="Overlock"/>
              <a:sym typeface="Overlock"/>
            </a:endParaRPr>
          </a:p>
          <a:p>
            <a:pPr lvl="1" indent="-173038">
              <a:lnSpc>
                <a:spcPct val="115000"/>
              </a:lnSpc>
              <a:buClr>
                <a:schemeClr val="dk2"/>
              </a:buClr>
              <a:buSzPts val="1200"/>
              <a:buFont typeface="Arial"/>
              <a:buChar char="○"/>
            </a:pPr>
            <a:r>
              <a:rPr lang="en-US" dirty="0">
                <a:ea typeface="Overlock"/>
                <a:cs typeface="Overlock"/>
                <a:sym typeface="Overlock"/>
              </a:rPr>
              <a:t>Tidak </a:t>
            </a:r>
            <a:r>
              <a:rPr lang="en-US" dirty="0" err="1">
                <a:ea typeface="Overlock"/>
                <a:cs typeface="Overlock"/>
                <a:sym typeface="Overlock"/>
              </a:rPr>
              <a:t>memperhitungkan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korelasi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antar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fitur</a:t>
            </a:r>
            <a:r>
              <a:rPr lang="en-US" dirty="0">
                <a:ea typeface="Overlock"/>
                <a:cs typeface="Overlock"/>
                <a:sym typeface="Overlock"/>
              </a:rPr>
              <a:t>, </a:t>
            </a:r>
            <a:r>
              <a:rPr lang="en-US" dirty="0" err="1">
                <a:ea typeface="Overlock"/>
                <a:cs typeface="Overlock"/>
                <a:sym typeface="Overlock"/>
              </a:rPr>
              <a:t>berfungsi</a:t>
            </a:r>
            <a:r>
              <a:rPr lang="en-US" dirty="0">
                <a:ea typeface="Overlock"/>
                <a:cs typeface="Overlock"/>
                <a:sym typeface="Overlock"/>
              </a:rPr>
              <a:t> pada </a:t>
            </a:r>
            <a:r>
              <a:rPr lang="en-US" dirty="0" err="1">
                <a:ea typeface="Overlock"/>
                <a:cs typeface="Overlock"/>
                <a:sym typeface="Overlock"/>
              </a:rPr>
              <a:t>tingkat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kolom</a:t>
            </a:r>
            <a:r>
              <a:rPr lang="en-US" dirty="0">
                <a:ea typeface="Overlock"/>
                <a:cs typeface="Overlock"/>
                <a:sym typeface="Overlock"/>
              </a:rPr>
              <a:t>.</a:t>
            </a:r>
            <a:endParaRPr dirty="0">
              <a:ea typeface="Overlock"/>
              <a:cs typeface="Overlock"/>
              <a:sym typeface="Overlock"/>
            </a:endParaRPr>
          </a:p>
          <a:p>
            <a:pPr lvl="1" indent="-173038">
              <a:lnSpc>
                <a:spcPct val="115000"/>
              </a:lnSpc>
              <a:buClr>
                <a:schemeClr val="dk2"/>
              </a:buClr>
              <a:buSzPts val="1200"/>
              <a:buFont typeface="Arial"/>
              <a:buChar char="○"/>
            </a:pPr>
            <a:r>
              <a:rPr lang="en-US" dirty="0">
                <a:ea typeface="Overlock"/>
                <a:cs typeface="Overlock"/>
                <a:sym typeface="Overlock"/>
              </a:rPr>
              <a:t>Kurang </a:t>
            </a:r>
            <a:r>
              <a:rPr lang="en-US" dirty="0" err="1">
                <a:ea typeface="Overlock"/>
                <a:cs typeface="Overlock"/>
                <a:sym typeface="Overlock"/>
              </a:rPr>
              <a:t>akurat</a:t>
            </a:r>
            <a:r>
              <a:rPr lang="en-US" dirty="0">
                <a:ea typeface="Overlock"/>
                <a:cs typeface="Overlock"/>
                <a:sym typeface="Overlock"/>
              </a:rPr>
              <a:t>.</a:t>
            </a:r>
            <a:endParaRPr dirty="0">
              <a:ea typeface="Overlock"/>
              <a:cs typeface="Overlock"/>
              <a:sym typeface="Overlock"/>
            </a:endParaRPr>
          </a:p>
          <a:p>
            <a:pPr lvl="1" indent="-173038">
              <a:lnSpc>
                <a:spcPct val="115000"/>
              </a:lnSpc>
              <a:buClr>
                <a:schemeClr val="dk2"/>
              </a:buClr>
              <a:buSzPts val="1200"/>
              <a:buFont typeface="Arial"/>
              <a:buChar char="○"/>
            </a:pPr>
            <a:r>
              <a:rPr lang="en-US" dirty="0">
                <a:ea typeface="Overlock"/>
                <a:cs typeface="Overlock"/>
                <a:sym typeface="Overlock"/>
              </a:rPr>
              <a:t>Tidak </a:t>
            </a:r>
            <a:r>
              <a:rPr lang="en-US" dirty="0" err="1">
                <a:ea typeface="Overlock"/>
                <a:cs typeface="Overlock"/>
                <a:sym typeface="Overlock"/>
              </a:rPr>
              <a:t>memperhitungkan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probabilitas</a:t>
            </a:r>
            <a:r>
              <a:rPr lang="en-US" dirty="0">
                <a:ea typeface="Overlock"/>
                <a:cs typeface="Overlock"/>
                <a:sym typeface="Overlock"/>
              </a:rPr>
              <a:t>/</a:t>
            </a:r>
            <a:r>
              <a:rPr lang="en-US" dirty="0" err="1">
                <a:ea typeface="Overlock"/>
                <a:cs typeface="Overlock"/>
                <a:sym typeface="Overlock"/>
              </a:rPr>
              <a:t>ketidakpastian</a:t>
            </a:r>
            <a:r>
              <a:rPr lang="en-US" dirty="0">
                <a:ea typeface="Overlock"/>
                <a:cs typeface="Overlock"/>
                <a:sym typeface="Overlock"/>
              </a:rPr>
              <a:t>.  </a:t>
            </a:r>
            <a:endParaRPr sz="2800" dirty="0"/>
          </a:p>
          <a:p>
            <a:pPr lvl="1" indent="-173038">
              <a:lnSpc>
                <a:spcPct val="115000"/>
              </a:lnSpc>
              <a:buClr>
                <a:schemeClr val="dk2"/>
              </a:buClr>
              <a:buSzPts val="1200"/>
              <a:buFont typeface="Arial"/>
              <a:buChar char="○"/>
            </a:pPr>
            <a:r>
              <a:rPr lang="en-US" dirty="0">
                <a:ea typeface="Overlock"/>
                <a:cs typeface="Overlock"/>
                <a:sym typeface="Overlock"/>
              </a:rPr>
              <a:t>Tidak </a:t>
            </a:r>
            <a:r>
              <a:rPr lang="en-US" dirty="0" err="1">
                <a:ea typeface="Overlock"/>
                <a:cs typeface="Overlock"/>
                <a:sym typeface="Overlock"/>
              </a:rPr>
              <a:t>cocok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utk</a:t>
            </a:r>
            <a:r>
              <a:rPr lang="en-US" dirty="0">
                <a:ea typeface="Overlock"/>
                <a:cs typeface="Overlock"/>
                <a:sym typeface="Overlock"/>
              </a:rPr>
              <a:t> &gt;5% missing data.</a:t>
            </a:r>
            <a:endParaRPr sz="2800" dirty="0"/>
          </a:p>
          <a:p>
            <a:pPr lvl="1" indent="-173038">
              <a:lnSpc>
                <a:spcPct val="115000"/>
              </a:lnSpc>
              <a:buClr>
                <a:schemeClr val="dk2"/>
              </a:buClr>
              <a:buSzPts val="1200"/>
              <a:buFont typeface="Arial"/>
              <a:buChar char="○"/>
            </a:pPr>
            <a:r>
              <a:rPr lang="en-US" dirty="0" err="1">
                <a:ea typeface="Overlock"/>
                <a:cs typeface="Overlock"/>
                <a:sym typeface="Overlock"/>
              </a:rPr>
              <a:t>Mendistorsi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variansi</a:t>
            </a:r>
            <a:r>
              <a:rPr lang="en-US" dirty="0">
                <a:ea typeface="Overlock"/>
                <a:cs typeface="Overlock"/>
                <a:sym typeface="Overlock"/>
              </a:rPr>
              <a:t> dan </a:t>
            </a:r>
            <a:r>
              <a:rPr lang="en-US" dirty="0" err="1">
                <a:ea typeface="Overlock"/>
                <a:cs typeface="Overlock"/>
                <a:sym typeface="Overlock"/>
              </a:rPr>
              <a:t>distribusi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variabel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asal</a:t>
            </a:r>
            <a:r>
              <a:rPr lang="en-US" dirty="0">
                <a:ea typeface="Overlock"/>
                <a:cs typeface="Overlock"/>
                <a:sym typeface="Overlock"/>
              </a:rPr>
              <a:t>/</a:t>
            </a:r>
            <a:r>
              <a:rPr lang="en-US" dirty="0" err="1">
                <a:ea typeface="Overlock"/>
                <a:cs typeface="Overlock"/>
                <a:sym typeface="Overlock"/>
              </a:rPr>
              <a:t>orijinal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serta</a:t>
            </a:r>
            <a:r>
              <a:rPr lang="en-US" dirty="0">
                <a:ea typeface="Overlock"/>
                <a:cs typeface="Overlock"/>
                <a:sym typeface="Overlock"/>
              </a:rPr>
              <a:t> covariant </a:t>
            </a:r>
            <a:r>
              <a:rPr lang="en-US" dirty="0" err="1">
                <a:ea typeface="Overlock"/>
                <a:cs typeface="Overlock"/>
                <a:sym typeface="Overlock"/>
              </a:rPr>
              <a:t>variabel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sisa</a:t>
            </a:r>
            <a:r>
              <a:rPr lang="en-US" dirty="0">
                <a:ea typeface="Overlock"/>
                <a:cs typeface="Overlock"/>
                <a:sym typeface="Overlock"/>
              </a:rPr>
              <a:t> data.</a:t>
            </a:r>
            <a:endParaRPr sz="2800" dirty="0"/>
          </a:p>
        </p:txBody>
      </p:sp>
      <p:pic>
        <p:nvPicPr>
          <p:cNvPr id="201" name="Google Shape;201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95801" y="1544123"/>
            <a:ext cx="4663856" cy="1201407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</p:spPr>
      </p:pic>
      <p:sp>
        <p:nvSpPr>
          <p:cNvPr id="202" name="Google Shape;202;p15"/>
          <p:cNvSpPr/>
          <p:nvPr/>
        </p:nvSpPr>
        <p:spPr>
          <a:xfrm>
            <a:off x="6591114" y="1761709"/>
            <a:ext cx="548847" cy="76623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A1A1A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203" name="Google Shape;203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38085" y="3366615"/>
            <a:ext cx="4579289" cy="257698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5"/>
          <p:cNvSpPr txBox="1"/>
          <p:nvPr/>
        </p:nvSpPr>
        <p:spPr>
          <a:xfrm>
            <a:off x="6591113" y="6133801"/>
            <a:ext cx="5185289" cy="431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US" sz="667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rPr>
              <a:t>sumber gbr: </a:t>
            </a:r>
            <a:endParaRPr sz="2400"/>
          </a:p>
          <a:p>
            <a:r>
              <a:rPr lang="en-US" sz="667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rPr>
              <a:t>https://towardsdatascience.com/6-different-ways-to-compensate-for-missing-values-data-imputation-with-examples-6022d9ca0779</a:t>
            </a:r>
            <a:endParaRPr sz="2400"/>
          </a:p>
          <a:p>
            <a:r>
              <a:rPr lang="en-US" sz="667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rPr>
              <a:t>https://heartbeat.fritz.ai/hands-on-with-feature-engineering-techniques-imputing-missing-values-6c22b49d4060</a:t>
            </a:r>
            <a:endParaRPr sz="2400"/>
          </a:p>
        </p:txBody>
      </p:sp>
      <p:sp>
        <p:nvSpPr>
          <p:cNvPr id="205" name="Google Shape;205;p15"/>
          <p:cNvSpPr txBox="1"/>
          <p:nvPr/>
        </p:nvSpPr>
        <p:spPr>
          <a:xfrm>
            <a:off x="8394987" y="3611035"/>
            <a:ext cx="2216847" cy="677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ctr"/>
            <a:r>
              <a:rPr lang="en-US" sz="1200" i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mean</a:t>
            </a:r>
            <a:endParaRPr sz="2400"/>
          </a:p>
          <a:p>
            <a:pPr algn="ctr"/>
            <a:r>
              <a:rPr lang="en-US" sz="1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= (29 + 43 + 25 + 34 + 50)/5</a:t>
            </a:r>
            <a:endParaRPr sz="2400"/>
          </a:p>
          <a:p>
            <a:r>
              <a:rPr lang="en-US" sz="1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= 36,2</a:t>
            </a:r>
            <a:endParaRPr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681A1-DEBA-D72F-B0FA-0C72B7A1C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 err="1">
                <a:solidFill>
                  <a:srgbClr val="0F3570"/>
                </a:solidFill>
                <a:latin typeface="Segui"/>
                <a:ea typeface="Overlock"/>
                <a:cs typeface="Overlock"/>
                <a:sym typeface="Overlock"/>
              </a:rPr>
              <a:t>Imputasi</a:t>
            </a:r>
            <a:r>
              <a:rPr lang="en-US" b="0" dirty="0">
                <a:solidFill>
                  <a:srgbClr val="0F3570"/>
                </a:solidFill>
                <a:latin typeface="Segui"/>
                <a:ea typeface="Overlock"/>
                <a:cs typeface="Overlock"/>
                <a:sym typeface="Overlock"/>
              </a:rPr>
              <a:t> Nilai Suka-</a:t>
            </a:r>
            <a:r>
              <a:rPr lang="en-US" b="0" dirty="0" err="1">
                <a:solidFill>
                  <a:srgbClr val="0F3570"/>
                </a:solidFill>
                <a:latin typeface="Segui"/>
                <a:ea typeface="Overlock"/>
                <a:cs typeface="Overlock"/>
                <a:sym typeface="Overlock"/>
              </a:rPr>
              <a:t>suka</a:t>
            </a:r>
            <a:r>
              <a:rPr lang="en-US" b="0" i="1" dirty="0">
                <a:solidFill>
                  <a:srgbClr val="0F3570"/>
                </a:solidFill>
                <a:latin typeface="Segui"/>
                <a:ea typeface="Overlock"/>
                <a:cs typeface="Overlock"/>
                <a:sym typeface="Overlock"/>
              </a:rPr>
              <a:t> </a:t>
            </a:r>
            <a:endParaRPr lang="en-US" b="0" dirty="0">
              <a:latin typeface="Segu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90632-1133-8583-D92D-462444210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76532"/>
            <a:ext cx="5422751" cy="5000431"/>
          </a:xfrm>
        </p:spPr>
        <p:txBody>
          <a:bodyPr>
            <a:noAutofit/>
          </a:bodyPr>
          <a:lstStyle/>
          <a:p>
            <a:pPr marL="457189" lvl="0" indent="-342891">
              <a:lnSpc>
                <a:spcPct val="115000"/>
              </a:lnSpc>
              <a:spcBef>
                <a:spcPts val="0"/>
              </a:spcBef>
              <a:buClr>
                <a:srgbClr val="0F3570"/>
              </a:buClr>
              <a:buSzPct val="100000"/>
              <a:buChar char="●"/>
            </a:pPr>
            <a:r>
              <a:rPr lang="en-US" sz="2000" dirty="0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Pro:</a:t>
            </a:r>
            <a:endParaRPr lang="en-US" sz="2000" dirty="0"/>
          </a:p>
          <a:p>
            <a:pPr marL="914377" lvl="1" indent="-317492">
              <a:lnSpc>
                <a:spcPct val="115000"/>
              </a:lnSpc>
              <a:spcBef>
                <a:spcPts val="0"/>
              </a:spcBef>
              <a:buClr>
                <a:srgbClr val="0F3570"/>
              </a:buClr>
              <a:buSzPct val="84084"/>
              <a:buFont typeface="Arial"/>
              <a:buChar char="•"/>
            </a:pPr>
            <a:r>
              <a:rPr lang="en-US" sz="2000" dirty="0" err="1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Asumsi</a:t>
            </a:r>
            <a:r>
              <a:rPr lang="en-US" sz="2000" dirty="0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 data </a:t>
            </a:r>
            <a:r>
              <a:rPr lang="en-US" sz="2000" dirty="0" err="1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tidak</a:t>
            </a:r>
            <a:r>
              <a:rPr lang="en-US" sz="2000" dirty="0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000" i="1" dirty="0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missing at random</a:t>
            </a:r>
            <a:r>
              <a:rPr lang="en-US" sz="2000" dirty="0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.</a:t>
            </a:r>
            <a:endParaRPr lang="en-US" sz="2000" dirty="0"/>
          </a:p>
          <a:p>
            <a:pPr marL="914377" lvl="1" indent="-317492">
              <a:lnSpc>
                <a:spcPct val="115000"/>
              </a:lnSpc>
              <a:spcBef>
                <a:spcPts val="0"/>
              </a:spcBef>
              <a:buClr>
                <a:srgbClr val="0F3570"/>
              </a:buClr>
              <a:buSzPct val="84084"/>
              <a:buFont typeface="Arial"/>
              <a:buChar char="•"/>
            </a:pPr>
            <a:r>
              <a:rPr lang="en-US" sz="2000" dirty="0" err="1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Mudah</a:t>
            </a:r>
            <a:r>
              <a:rPr lang="en-US" sz="2000" dirty="0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 dan </a:t>
            </a:r>
            <a:r>
              <a:rPr lang="en-US" sz="2000" dirty="0" err="1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cepat</a:t>
            </a:r>
            <a:r>
              <a:rPr lang="en-US" sz="2000" dirty="0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diterapkan</a:t>
            </a:r>
            <a:r>
              <a:rPr lang="en-US" sz="2000" dirty="0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untuk</a:t>
            </a:r>
            <a:r>
              <a:rPr lang="en-US" sz="2000" dirty="0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melengkapi</a:t>
            </a:r>
            <a:r>
              <a:rPr lang="en-US" sz="2000" dirty="0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 dataset.</a:t>
            </a:r>
            <a:endParaRPr lang="en-US" sz="2000" dirty="0"/>
          </a:p>
          <a:p>
            <a:pPr marL="457189" lvl="0" indent="-342891">
              <a:lnSpc>
                <a:spcPct val="115000"/>
              </a:lnSpc>
              <a:spcBef>
                <a:spcPts val="0"/>
              </a:spcBef>
              <a:buClr>
                <a:srgbClr val="0F3570"/>
              </a:buClr>
              <a:buSzPct val="100000"/>
              <a:buChar char="●"/>
            </a:pPr>
            <a:r>
              <a:rPr lang="en-US" sz="2000" dirty="0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Kontra:</a:t>
            </a:r>
            <a:endParaRPr lang="en-US" sz="2000" dirty="0"/>
          </a:p>
          <a:p>
            <a:pPr marL="914377" lvl="3" indent="-317492">
              <a:lnSpc>
                <a:spcPct val="115000"/>
              </a:lnSpc>
              <a:spcBef>
                <a:spcPts val="0"/>
              </a:spcBef>
              <a:buClr>
                <a:srgbClr val="0F3570"/>
              </a:buClr>
              <a:buSzPct val="112029"/>
              <a:buFont typeface="Arial"/>
              <a:buChar char="•"/>
            </a:pPr>
            <a:r>
              <a:rPr lang="en-US" sz="2000" dirty="0" err="1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Mendistorsi</a:t>
            </a:r>
            <a:r>
              <a:rPr lang="en-US" sz="2000" dirty="0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variansi</a:t>
            </a:r>
            <a:r>
              <a:rPr lang="en-US" sz="2000" dirty="0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 dan </a:t>
            </a:r>
            <a:r>
              <a:rPr lang="en-US" sz="2000" dirty="0" err="1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distribusi</a:t>
            </a:r>
            <a:r>
              <a:rPr lang="en-US" sz="2000" dirty="0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variabel</a:t>
            </a:r>
            <a:r>
              <a:rPr lang="en-US" sz="2000" dirty="0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asal</a:t>
            </a:r>
            <a:r>
              <a:rPr lang="en-US" sz="2000" dirty="0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/</a:t>
            </a:r>
            <a:r>
              <a:rPr lang="en-US" sz="2000" dirty="0" err="1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orijinal</a:t>
            </a:r>
            <a:r>
              <a:rPr lang="en-US" sz="2000" dirty="0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serta</a:t>
            </a:r>
            <a:r>
              <a:rPr lang="en-US" sz="2000" dirty="0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 covariant </a:t>
            </a:r>
            <a:r>
              <a:rPr lang="en-US" sz="2000" dirty="0" err="1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variabel</a:t>
            </a:r>
            <a:r>
              <a:rPr lang="en-US" sz="2000" dirty="0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sisa</a:t>
            </a:r>
            <a:r>
              <a:rPr lang="en-US" sz="2000" dirty="0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 data.</a:t>
            </a:r>
            <a:endParaRPr lang="en-US" sz="2000" dirty="0"/>
          </a:p>
          <a:p>
            <a:pPr marL="914377" lvl="3" indent="-317492">
              <a:lnSpc>
                <a:spcPct val="115000"/>
              </a:lnSpc>
              <a:spcBef>
                <a:spcPts val="0"/>
              </a:spcBef>
              <a:buClr>
                <a:srgbClr val="0F3570"/>
              </a:buClr>
              <a:buSzPct val="112029"/>
              <a:buFont typeface="Arial"/>
              <a:buChar char="•"/>
            </a:pPr>
            <a:r>
              <a:rPr lang="en-US" sz="2000" dirty="0" err="1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Membentuk</a:t>
            </a:r>
            <a:r>
              <a:rPr lang="en-US" sz="2000" dirty="0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 outlier (</a:t>
            </a:r>
            <a:r>
              <a:rPr lang="en-US" sz="2000" dirty="0" err="1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jika</a:t>
            </a:r>
            <a:r>
              <a:rPr lang="en-US" sz="2000" dirty="0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nilai</a:t>
            </a:r>
            <a:r>
              <a:rPr lang="en-US" sz="2000" dirty="0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arbitrer</a:t>
            </a:r>
            <a:r>
              <a:rPr lang="en-US" sz="2000" dirty="0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berada</a:t>
            </a:r>
            <a:r>
              <a:rPr lang="en-US" sz="2000" dirty="0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 di </a:t>
            </a:r>
            <a:r>
              <a:rPr lang="en-US" sz="2000" dirty="0" err="1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akhir</a:t>
            </a:r>
            <a:r>
              <a:rPr lang="en-US" sz="2000" dirty="0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distribusi</a:t>
            </a:r>
            <a:r>
              <a:rPr lang="en-US" sz="2000" dirty="0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).</a:t>
            </a:r>
            <a:endParaRPr lang="en-US" sz="2000" dirty="0"/>
          </a:p>
          <a:p>
            <a:pPr marL="914377" lvl="3" indent="-317492">
              <a:lnSpc>
                <a:spcPct val="115000"/>
              </a:lnSpc>
              <a:spcBef>
                <a:spcPts val="0"/>
              </a:spcBef>
              <a:buClr>
                <a:srgbClr val="0F3570"/>
              </a:buClr>
              <a:buSzPct val="112029"/>
              <a:buFont typeface="Arial"/>
              <a:buChar char="•"/>
            </a:pPr>
            <a:r>
              <a:rPr lang="en-US" sz="2000" dirty="0" err="1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Semakin</a:t>
            </a:r>
            <a:r>
              <a:rPr lang="en-US" sz="2000" dirty="0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besar</a:t>
            </a:r>
            <a:r>
              <a:rPr lang="en-US" sz="2000" dirty="0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 NA </a:t>
            </a:r>
            <a:r>
              <a:rPr lang="en-US" sz="2000" dirty="0" err="1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maka</a:t>
            </a:r>
            <a:r>
              <a:rPr lang="en-US" sz="2000" dirty="0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semakin</a:t>
            </a:r>
            <a:r>
              <a:rPr lang="en-US" sz="2000" dirty="0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besar</a:t>
            </a:r>
            <a:r>
              <a:rPr lang="en-US" sz="2000" dirty="0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distorsi</a:t>
            </a:r>
            <a:r>
              <a:rPr lang="en-US" sz="2000" dirty="0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.</a:t>
            </a:r>
            <a:endParaRPr lang="en-US" sz="2000" dirty="0"/>
          </a:p>
          <a:p>
            <a:pPr marL="914377" lvl="3" indent="-317492">
              <a:lnSpc>
                <a:spcPct val="115000"/>
              </a:lnSpc>
              <a:spcBef>
                <a:spcPts val="0"/>
              </a:spcBef>
              <a:buClr>
                <a:srgbClr val="0F3570"/>
              </a:buClr>
              <a:buSzPct val="112029"/>
              <a:buFont typeface="Arial"/>
              <a:buChar char="•"/>
            </a:pPr>
            <a:r>
              <a:rPr lang="en-US" sz="2000" dirty="0" err="1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Hindari</a:t>
            </a:r>
            <a:r>
              <a:rPr lang="en-US" sz="2000" dirty="0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memilih</a:t>
            </a:r>
            <a:r>
              <a:rPr lang="en-US" sz="2000" dirty="0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nilai</a:t>
            </a:r>
            <a:r>
              <a:rPr lang="en-US" sz="2000" dirty="0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arbitrer</a:t>
            </a:r>
            <a:r>
              <a:rPr lang="en-US" sz="2000" dirty="0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yg</a:t>
            </a:r>
            <a:r>
              <a:rPr lang="en-US" sz="2000" dirty="0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mendekati</a:t>
            </a:r>
            <a:r>
              <a:rPr lang="en-US" sz="2000" dirty="0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nilai</a:t>
            </a:r>
            <a:r>
              <a:rPr lang="en-US" sz="2000" dirty="0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 mean </a:t>
            </a:r>
            <a:r>
              <a:rPr lang="en-US" sz="2000" dirty="0" err="1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atau</a:t>
            </a:r>
            <a:r>
              <a:rPr lang="en-US" sz="2000" dirty="0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 median.</a:t>
            </a:r>
            <a:endParaRPr lang="en-US" sz="2000" dirty="0"/>
          </a:p>
          <a:p>
            <a:pPr marL="914377" lvl="1" indent="-228592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84084"/>
              <a:buNone/>
            </a:pPr>
            <a:endParaRPr lang="en-US" sz="2000" dirty="0">
              <a:solidFill>
                <a:srgbClr val="0F3570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endParaRPr lang="en-US" sz="2000" dirty="0"/>
          </a:p>
        </p:txBody>
      </p:sp>
      <p:pic>
        <p:nvPicPr>
          <p:cNvPr id="4" name="Google Shape;258;p18">
            <a:extLst>
              <a:ext uri="{FF2B5EF4-FFF2-40B4-BE49-F238E27FC236}">
                <a16:creationId xmlns:a16="http://schemas.microsoft.com/office/drawing/2014/main" id="{1AF80377-043A-277C-8F91-4C6C7127507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19134" y="2254003"/>
            <a:ext cx="5315255" cy="35120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61976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rgbClr val="0F3570"/>
              </a:buClr>
              <a:buSzPct val="115226"/>
            </a:pPr>
            <a:r>
              <a:rPr lang="en-US" dirty="0" err="1">
                <a:solidFill>
                  <a:srgbClr val="0F3570"/>
                </a:solidFill>
                <a:ea typeface="Overlock"/>
                <a:sym typeface="Overlock"/>
              </a:rPr>
              <a:t>Imputasi</a:t>
            </a:r>
            <a:r>
              <a:rPr lang="en-US" dirty="0">
                <a:solidFill>
                  <a:srgbClr val="0F3570"/>
                </a:solidFill>
                <a:ea typeface="Overlock"/>
                <a:sym typeface="Overlock"/>
              </a:rPr>
              <a:t> End of Tail</a:t>
            </a:r>
            <a:endParaRPr dirty="0">
              <a:solidFill>
                <a:srgbClr val="0F3570"/>
              </a:solidFill>
              <a:ea typeface="Overlock"/>
              <a:sym typeface="Overlock"/>
            </a:endParaRPr>
          </a:p>
        </p:txBody>
      </p:sp>
      <p:sp>
        <p:nvSpPr>
          <p:cNvPr id="287" name="Google Shape;287;p20"/>
          <p:cNvSpPr txBox="1">
            <a:spLocks noGrp="1"/>
          </p:cNvSpPr>
          <p:nvPr>
            <p:ph idx="1"/>
          </p:nvPr>
        </p:nvSpPr>
        <p:spPr>
          <a:xfrm>
            <a:off x="280664" y="659547"/>
            <a:ext cx="8194271" cy="500043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233363" indent="-233363">
              <a:lnSpc>
                <a:spcPct val="115000"/>
              </a:lnSpc>
              <a:buClr>
                <a:srgbClr val="0F3570"/>
              </a:buClr>
              <a:buSzPts val="1440"/>
              <a:buChar char="●"/>
            </a:pPr>
            <a:r>
              <a:rPr lang="en-US" sz="2400" dirty="0">
                <a:ea typeface="Overlock"/>
                <a:cs typeface="Overlock"/>
                <a:sym typeface="Overlock"/>
              </a:rPr>
              <a:t>Pro:</a:t>
            </a:r>
            <a:endParaRPr sz="4000" dirty="0"/>
          </a:p>
          <a:p>
            <a:pPr marL="517525" lvl="1" indent="-284163">
              <a:lnSpc>
                <a:spcPct val="115000"/>
              </a:lnSpc>
              <a:buClr>
                <a:srgbClr val="0F3570"/>
              </a:buClr>
              <a:buFont typeface="Arial"/>
              <a:buChar char="•"/>
            </a:pPr>
            <a:r>
              <a:rPr lang="en-US" dirty="0" err="1">
                <a:ea typeface="Overlock"/>
                <a:cs typeface="Overlock"/>
                <a:sym typeface="Overlock"/>
              </a:rPr>
              <a:t>Mirip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dengan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imputasi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i="1" dirty="0" err="1">
                <a:ea typeface="Overlock"/>
                <a:cs typeface="Overlock"/>
                <a:sym typeface="Overlock"/>
              </a:rPr>
              <a:t>suka-suka</a:t>
            </a:r>
            <a:r>
              <a:rPr lang="en-US" i="1" dirty="0">
                <a:ea typeface="Overlock"/>
                <a:cs typeface="Overlock"/>
                <a:sym typeface="Overlock"/>
              </a:rPr>
              <a:t>.</a:t>
            </a:r>
            <a:endParaRPr baseline="30000" dirty="0">
              <a:ea typeface="Overlock"/>
              <a:cs typeface="Overlock"/>
              <a:sym typeface="Overlock"/>
            </a:endParaRPr>
          </a:p>
          <a:p>
            <a:pPr marL="517525" lvl="1" indent="-284163">
              <a:lnSpc>
                <a:spcPct val="115000"/>
              </a:lnSpc>
              <a:buClr>
                <a:srgbClr val="0F3570"/>
              </a:buClr>
              <a:buFont typeface="Arial"/>
              <a:buChar char="•"/>
            </a:pPr>
            <a:r>
              <a:rPr lang="en-US" dirty="0" err="1">
                <a:ea typeface="Overlock"/>
                <a:cs typeface="Overlock"/>
                <a:sym typeface="Overlock"/>
              </a:rPr>
              <a:t>Cocok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untuk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variabel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numerik</a:t>
            </a:r>
            <a:r>
              <a:rPr lang="en-US" dirty="0">
                <a:ea typeface="Overlock"/>
                <a:cs typeface="Overlock"/>
                <a:sym typeface="Overlock"/>
              </a:rPr>
              <a:t>.</a:t>
            </a:r>
            <a:endParaRPr sz="3600" dirty="0"/>
          </a:p>
          <a:p>
            <a:pPr marL="233363" indent="-233363">
              <a:lnSpc>
                <a:spcPct val="115000"/>
              </a:lnSpc>
              <a:buClr>
                <a:srgbClr val="0F3570"/>
              </a:buClr>
              <a:buSzPts val="1440"/>
              <a:buChar char="●"/>
            </a:pPr>
            <a:r>
              <a:rPr lang="en-US" sz="2400" dirty="0" err="1">
                <a:ea typeface="Overlock"/>
                <a:cs typeface="Overlock"/>
                <a:sym typeface="Overlock"/>
              </a:rPr>
              <a:t>Ketentuan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khusus</a:t>
            </a:r>
            <a:r>
              <a:rPr lang="en-US" sz="2400" dirty="0">
                <a:ea typeface="Overlock"/>
                <a:cs typeface="Overlock"/>
                <a:sym typeface="Overlock"/>
              </a:rPr>
              <a:t>:</a:t>
            </a:r>
            <a:endParaRPr sz="4000" dirty="0"/>
          </a:p>
          <a:p>
            <a:pPr marL="517525" lvl="1" indent="-284163">
              <a:lnSpc>
                <a:spcPct val="115000"/>
              </a:lnSpc>
              <a:buClr>
                <a:srgbClr val="0F3570"/>
              </a:buClr>
              <a:buFont typeface="Arial"/>
              <a:buChar char="•"/>
            </a:pPr>
            <a:r>
              <a:rPr lang="en-US" dirty="0" err="1">
                <a:ea typeface="Overlock"/>
                <a:cs typeface="Overlock"/>
                <a:sym typeface="Overlock"/>
              </a:rPr>
              <a:t>Dalam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memilih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nilai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arbitrer</a:t>
            </a:r>
            <a:r>
              <a:rPr lang="en-US" dirty="0">
                <a:ea typeface="Overlock"/>
                <a:cs typeface="Overlock"/>
                <a:sym typeface="Overlock"/>
              </a:rPr>
              <a:t>:</a:t>
            </a:r>
            <a:endParaRPr sz="3600" dirty="0"/>
          </a:p>
          <a:p>
            <a:pPr marL="741363" lvl="2" indent="-223838">
              <a:lnSpc>
                <a:spcPct val="115000"/>
              </a:lnSpc>
              <a:buClr>
                <a:srgbClr val="0F3570"/>
              </a:buClr>
              <a:buFont typeface="Arial"/>
              <a:buChar char="•"/>
            </a:pPr>
            <a:r>
              <a:rPr lang="en-US" sz="2400" dirty="0">
                <a:ea typeface="Overlock"/>
                <a:cs typeface="Overlock"/>
                <a:sym typeface="Overlock"/>
              </a:rPr>
              <a:t>Jika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variabel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berdistribusi</a:t>
            </a:r>
            <a:r>
              <a:rPr lang="en-US" sz="2400" dirty="0">
                <a:ea typeface="Overlock"/>
                <a:cs typeface="Overlock"/>
                <a:sym typeface="Overlock"/>
              </a:rPr>
              <a:t> normal,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maka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nilai</a:t>
            </a:r>
            <a:r>
              <a:rPr lang="en-US" sz="2400" dirty="0">
                <a:ea typeface="Overlock"/>
                <a:cs typeface="Overlock"/>
                <a:sym typeface="Overlock"/>
              </a:rPr>
              <a:t> arbiter = mean + 3 * std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deviasi</a:t>
            </a:r>
            <a:r>
              <a:rPr lang="en-US" sz="2400" dirty="0">
                <a:ea typeface="Overlock"/>
                <a:cs typeface="Overlock"/>
                <a:sym typeface="Overlock"/>
              </a:rPr>
              <a:t>.</a:t>
            </a:r>
            <a:endParaRPr sz="3200" dirty="0"/>
          </a:p>
          <a:p>
            <a:pPr marL="741363" lvl="2" indent="-223838">
              <a:lnSpc>
                <a:spcPct val="115000"/>
              </a:lnSpc>
              <a:buClr>
                <a:srgbClr val="0F3570"/>
              </a:buClr>
              <a:buFont typeface="Arial"/>
              <a:buChar char="•"/>
            </a:pPr>
            <a:r>
              <a:rPr lang="en-US" sz="2400" dirty="0">
                <a:ea typeface="Overlock"/>
                <a:cs typeface="Overlock"/>
                <a:sym typeface="Overlock"/>
              </a:rPr>
              <a:t>Jika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variabelnya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i="1" dirty="0">
                <a:ea typeface="Overlock"/>
                <a:cs typeface="Overlock"/>
                <a:sym typeface="Overlock"/>
              </a:rPr>
              <a:t>skew</a:t>
            </a:r>
            <a:r>
              <a:rPr lang="en-US" sz="2400" dirty="0">
                <a:ea typeface="Overlock"/>
                <a:cs typeface="Overlock"/>
                <a:sym typeface="Overlock"/>
              </a:rPr>
              <a:t>,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maka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gunakan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aturan</a:t>
            </a:r>
            <a:r>
              <a:rPr lang="en-US" sz="2400" dirty="0">
                <a:ea typeface="Overlock"/>
                <a:cs typeface="Overlock"/>
                <a:sym typeface="Overlock"/>
              </a:rPr>
              <a:t> IQR proximity (IQR = 75th Quantile – 25th Quantile; Upper limit = 75th Quantile + IQR ×3; Lower limit = 25th Quantile - IQR ×3).</a:t>
            </a:r>
            <a:endParaRPr sz="3200" dirty="0"/>
          </a:p>
          <a:p>
            <a:pPr marL="517525" lvl="1" indent="-284163">
              <a:lnSpc>
                <a:spcPct val="115000"/>
              </a:lnSpc>
              <a:buClr>
                <a:srgbClr val="0F3570"/>
              </a:buClr>
              <a:buFont typeface="Arial"/>
              <a:buChar char="•"/>
            </a:pPr>
            <a:r>
              <a:rPr lang="en-US" dirty="0">
                <a:ea typeface="Overlock"/>
                <a:cs typeface="Overlock"/>
                <a:sym typeface="Overlock"/>
              </a:rPr>
              <a:t>Hanya </a:t>
            </a:r>
            <a:r>
              <a:rPr lang="en-US" dirty="0" err="1">
                <a:ea typeface="Overlock"/>
                <a:cs typeface="Overlock"/>
                <a:sym typeface="Overlock"/>
              </a:rPr>
              <a:t>digunakan</a:t>
            </a:r>
            <a:r>
              <a:rPr lang="en-US" dirty="0">
                <a:ea typeface="Overlock"/>
                <a:cs typeface="Overlock"/>
                <a:sym typeface="Overlock"/>
              </a:rPr>
              <a:t> pada data </a:t>
            </a:r>
            <a:r>
              <a:rPr lang="en-US" dirty="0" err="1">
                <a:ea typeface="Overlock"/>
                <a:cs typeface="Overlock"/>
                <a:sym typeface="Overlock"/>
              </a:rPr>
              <a:t>latih</a:t>
            </a:r>
            <a:r>
              <a:rPr lang="en-US" dirty="0">
                <a:ea typeface="Overlock"/>
                <a:cs typeface="Overlock"/>
                <a:sym typeface="Overlock"/>
              </a:rPr>
              <a:t> (training set).</a:t>
            </a:r>
            <a:endParaRPr sz="3600" dirty="0"/>
          </a:p>
        </p:txBody>
      </p:sp>
      <p:sp>
        <p:nvSpPr>
          <p:cNvPr id="288" name="Google Shape;288;p20"/>
          <p:cNvSpPr txBox="1">
            <a:spLocks noGrp="1"/>
          </p:cNvSpPr>
          <p:nvPr>
            <p:ph type="sldNum" idx="4294967295"/>
          </p:nvPr>
        </p:nvSpPr>
        <p:spPr>
          <a:xfrm>
            <a:off x="11461750" y="6215063"/>
            <a:ext cx="730250" cy="52228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pPr>
              <a:buClr>
                <a:srgbClr val="000000"/>
              </a:buClr>
              <a:buSzPts val="1000"/>
            </a:pPr>
            <a:fld id="{00000000-1234-1234-1234-123412341234}" type="slidenum">
              <a:rPr lang="en-US"/>
              <a:pPr>
                <a:buClr>
                  <a:srgbClr val="000000"/>
                </a:buClr>
                <a:buSzPts val="1000"/>
              </a:pPr>
              <a:t>13</a:t>
            </a:fld>
            <a:endParaRPr/>
          </a:p>
        </p:txBody>
      </p:sp>
      <p:sp>
        <p:nvSpPr>
          <p:cNvPr id="289" name="Google Shape;289;p20"/>
          <p:cNvSpPr txBox="1"/>
          <p:nvPr/>
        </p:nvSpPr>
        <p:spPr>
          <a:xfrm>
            <a:off x="9210454" y="5251067"/>
            <a:ext cx="2265567" cy="677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ctr"/>
            <a:r>
              <a:rPr lang="en-US" dirty="0" err="1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untuk</a:t>
            </a:r>
            <a:r>
              <a:rPr lang="en-US" dirty="0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 data </a:t>
            </a:r>
            <a:r>
              <a:rPr lang="en-US" dirty="0" err="1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distribusi</a:t>
            </a:r>
            <a:r>
              <a:rPr lang="en-US" dirty="0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 normal </a:t>
            </a:r>
            <a:endParaRPr i="1" dirty="0">
              <a:solidFill>
                <a:srgbClr val="0F3570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graphicFrame>
        <p:nvGraphicFramePr>
          <p:cNvPr id="290" name="Google Shape;290;p20"/>
          <p:cNvGraphicFramePr/>
          <p:nvPr>
            <p:extLst>
              <p:ext uri="{D42A27DB-BD31-4B8C-83A1-F6EECF244321}">
                <p14:modId xmlns:p14="http://schemas.microsoft.com/office/powerpoint/2010/main" val="4221564762"/>
              </p:ext>
            </p:extLst>
          </p:nvPr>
        </p:nvGraphicFramePr>
        <p:xfrm>
          <a:off x="8709139" y="1085556"/>
          <a:ext cx="1251533" cy="3955736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2515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446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AGE</a:t>
                      </a:r>
                      <a:endParaRPr sz="2400"/>
                    </a:p>
                  </a:txBody>
                  <a:tcPr marL="121933" marR="121933" marT="60967" marB="6096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46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29</a:t>
                      </a:r>
                      <a:endParaRPr sz="1500" u="none" strike="noStrike" cap="none"/>
                    </a:p>
                  </a:txBody>
                  <a:tcPr marL="121933" marR="121933" marT="60967" marB="6096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46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43</a:t>
                      </a:r>
                      <a:endParaRPr sz="1500" u="none" strike="noStrike" cap="none"/>
                    </a:p>
                  </a:txBody>
                  <a:tcPr marL="121933" marR="121933" marT="60967" marB="6096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46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NA</a:t>
                      </a:r>
                      <a:endParaRPr sz="1500" u="none" strike="noStrike" cap="none"/>
                    </a:p>
                  </a:txBody>
                  <a:tcPr marL="121933" marR="121933" marT="60967" marB="6096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446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25</a:t>
                      </a:r>
                      <a:endParaRPr sz="1500" u="none" strike="noStrike" cap="none"/>
                    </a:p>
                  </a:txBody>
                  <a:tcPr marL="121933" marR="121933" marT="60967" marB="6096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446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34</a:t>
                      </a:r>
                      <a:endParaRPr sz="1500" u="none" strike="noStrike" cap="none"/>
                    </a:p>
                  </a:txBody>
                  <a:tcPr marL="121933" marR="121933" marT="60967" marB="6096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446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NA</a:t>
                      </a:r>
                      <a:endParaRPr sz="1500" u="none" strike="noStrike" cap="none"/>
                    </a:p>
                  </a:txBody>
                  <a:tcPr marL="121933" marR="121933" marT="60967" marB="6096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446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 dirty="0"/>
                        <a:t>50</a:t>
                      </a:r>
                      <a:endParaRPr sz="1500" u="none" strike="noStrike" cap="none" dirty="0"/>
                    </a:p>
                  </a:txBody>
                  <a:tcPr marL="121933" marR="121933" marT="60967" marB="6096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91" name="Google Shape;291;p20"/>
          <p:cNvGraphicFramePr/>
          <p:nvPr>
            <p:extLst>
              <p:ext uri="{D42A27DB-BD31-4B8C-83A1-F6EECF244321}">
                <p14:modId xmlns:p14="http://schemas.microsoft.com/office/powerpoint/2010/main" val="2286809234"/>
              </p:ext>
            </p:extLst>
          </p:nvPr>
        </p:nvGraphicFramePr>
        <p:xfrm>
          <a:off x="10725805" y="1112487"/>
          <a:ext cx="1251533" cy="3955736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2515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446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AGE</a:t>
                      </a:r>
                      <a:endParaRPr sz="2400"/>
                    </a:p>
                  </a:txBody>
                  <a:tcPr marL="121933" marR="121933" marT="60967" marB="6096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46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29</a:t>
                      </a:r>
                      <a:endParaRPr sz="1500" u="none" strike="noStrike" cap="none"/>
                    </a:p>
                  </a:txBody>
                  <a:tcPr marL="121933" marR="121933" marT="60967" marB="6096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46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43</a:t>
                      </a:r>
                      <a:endParaRPr sz="1500" u="none" strike="noStrike" cap="none"/>
                    </a:p>
                  </a:txBody>
                  <a:tcPr marL="121933" marR="121933" marT="60967" marB="6096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46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66.89</a:t>
                      </a:r>
                      <a:endParaRPr sz="1500" u="none" strike="noStrike" cap="none"/>
                    </a:p>
                  </a:txBody>
                  <a:tcPr marL="121933" marR="121933" marT="60967" marB="6096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446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25</a:t>
                      </a:r>
                      <a:endParaRPr sz="1500" u="none" strike="noStrike" cap="none"/>
                    </a:p>
                  </a:txBody>
                  <a:tcPr marL="121933" marR="121933" marT="60967" marB="6096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446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34</a:t>
                      </a:r>
                      <a:endParaRPr sz="1500" u="none" strike="noStrike" cap="none"/>
                    </a:p>
                  </a:txBody>
                  <a:tcPr marL="121933" marR="121933" marT="60967" marB="6096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446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66.89</a:t>
                      </a:r>
                      <a:endParaRPr sz="1500" u="none" strike="noStrike" cap="none"/>
                    </a:p>
                  </a:txBody>
                  <a:tcPr marL="121933" marR="121933" marT="60967" marB="6096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446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50</a:t>
                      </a:r>
                      <a:endParaRPr sz="1500" u="none" strike="noStrike" cap="none"/>
                    </a:p>
                  </a:txBody>
                  <a:tcPr marL="121933" marR="121933" marT="60967" marB="6096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292" name="Google Shape;292;p20"/>
          <p:cNvCxnSpPr>
            <a:cxnSpLocks/>
          </p:cNvCxnSpPr>
          <p:nvPr/>
        </p:nvCxnSpPr>
        <p:spPr>
          <a:xfrm>
            <a:off x="9960672" y="2800928"/>
            <a:ext cx="765133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93" name="Google Shape;293;p20"/>
          <p:cNvSpPr/>
          <p:nvPr/>
        </p:nvSpPr>
        <p:spPr>
          <a:xfrm>
            <a:off x="9035932" y="2535385"/>
            <a:ext cx="604433" cy="540327"/>
          </a:xfrm>
          <a:prstGeom prst="ellipse">
            <a:avLst/>
          </a:prstGeom>
          <a:noFill/>
          <a:ln w="12700" cap="flat" cmpd="sng">
            <a:solidFill>
              <a:srgbClr val="A1A1A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94" name="Google Shape;294;p20"/>
          <p:cNvSpPr/>
          <p:nvPr/>
        </p:nvSpPr>
        <p:spPr>
          <a:xfrm>
            <a:off x="10960009" y="2530765"/>
            <a:ext cx="849979" cy="540327"/>
          </a:xfrm>
          <a:prstGeom prst="ellipse">
            <a:avLst/>
          </a:prstGeom>
          <a:noFill/>
          <a:ln w="12700" cap="flat" cmpd="sng">
            <a:solidFill>
              <a:srgbClr val="A1A1A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pPr>
              <a:buSzPct val="115226"/>
            </a:pPr>
            <a:r>
              <a:rPr lang="en-US" dirty="0"/>
              <a:t>Skewness 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 err="1"/>
              <a:t>kecenderungan</a:t>
            </a:r>
            <a:r>
              <a:rPr lang="en-US" dirty="0"/>
              <a:t>/</a:t>
            </a:r>
            <a:r>
              <a:rPr lang="en-US" dirty="0" err="1"/>
              <a:t>kemiringan</a:t>
            </a:r>
            <a:r>
              <a:rPr lang="en-US" dirty="0"/>
              <a:t>/</a:t>
            </a:r>
            <a:r>
              <a:rPr lang="en-US" dirty="0" err="1"/>
              <a:t>kemencengan</a:t>
            </a:r>
            <a:r>
              <a:rPr lang="en-US" dirty="0"/>
              <a:t>)</a:t>
            </a:r>
            <a:endParaRPr dirty="0"/>
          </a:p>
        </p:txBody>
      </p:sp>
      <p:sp>
        <p:nvSpPr>
          <p:cNvPr id="332" name="Google Shape;332;p22"/>
          <p:cNvSpPr txBox="1">
            <a:spLocks noGrp="1"/>
          </p:cNvSpPr>
          <p:nvPr>
            <p:ph idx="1"/>
          </p:nvPr>
        </p:nvSpPr>
        <p:spPr>
          <a:xfrm>
            <a:off x="838200" y="1176532"/>
            <a:ext cx="6057452" cy="500043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 fontScale="92500" lnSpcReduction="20000"/>
          </a:bodyPr>
          <a:lstStyle/>
          <a:p>
            <a:pPr marL="342900" indent="-342900">
              <a:lnSpc>
                <a:spcPct val="115000"/>
              </a:lnSpc>
            </a:pPr>
            <a:r>
              <a:rPr lang="en-US" sz="2667" dirty="0"/>
              <a:t>Miring </a:t>
            </a:r>
            <a:r>
              <a:rPr lang="en-US" sz="2667" dirty="0" err="1"/>
              <a:t>ke</a:t>
            </a:r>
            <a:r>
              <a:rPr lang="en-US" sz="2667" dirty="0"/>
              <a:t> </a:t>
            </a:r>
            <a:r>
              <a:rPr lang="en-US" sz="2667" dirty="0" err="1"/>
              <a:t>kanan</a:t>
            </a:r>
            <a:r>
              <a:rPr lang="en-US" sz="2667" dirty="0"/>
              <a:t> (</a:t>
            </a:r>
            <a:r>
              <a:rPr lang="en-US" sz="2667" dirty="0" err="1"/>
              <a:t>positif</a:t>
            </a:r>
            <a:r>
              <a:rPr lang="en-US" sz="2667" dirty="0"/>
              <a:t> skew)</a:t>
            </a:r>
            <a:endParaRPr sz="2667" dirty="0"/>
          </a:p>
          <a:p>
            <a:pPr marL="514350">
              <a:lnSpc>
                <a:spcPct val="115000"/>
              </a:lnSpc>
              <a:buSzPts val="1800"/>
            </a:pPr>
            <a:r>
              <a:rPr lang="en-US" sz="2667" dirty="0"/>
              <a:t>Data yang miring </a:t>
            </a:r>
            <a:r>
              <a:rPr lang="en-US" sz="2667" dirty="0" err="1"/>
              <a:t>ke</a:t>
            </a:r>
            <a:r>
              <a:rPr lang="en-US" sz="2667" dirty="0"/>
              <a:t> </a:t>
            </a:r>
            <a:r>
              <a:rPr lang="en-US" sz="2667" dirty="0" err="1"/>
              <a:t>kanan</a:t>
            </a:r>
            <a:r>
              <a:rPr lang="en-US" sz="2667" dirty="0"/>
              <a:t> </a:t>
            </a:r>
            <a:r>
              <a:rPr lang="en-US" sz="2667" dirty="0" err="1"/>
              <a:t>memiliki</a:t>
            </a:r>
            <a:r>
              <a:rPr lang="en-US" sz="2667" dirty="0"/>
              <a:t> </a:t>
            </a:r>
            <a:r>
              <a:rPr lang="en-US" sz="2667" dirty="0" err="1"/>
              <a:t>ekor</a:t>
            </a:r>
            <a:r>
              <a:rPr lang="en-US" sz="2667" dirty="0"/>
              <a:t> </a:t>
            </a:r>
            <a:r>
              <a:rPr lang="en-US" sz="2667" dirty="0" err="1"/>
              <a:t>panjang</a:t>
            </a:r>
            <a:r>
              <a:rPr lang="en-US" sz="2667" dirty="0"/>
              <a:t> yang </a:t>
            </a:r>
            <a:r>
              <a:rPr lang="en-US" sz="2667" dirty="0" err="1"/>
              <a:t>memanjang</a:t>
            </a:r>
            <a:r>
              <a:rPr lang="en-US" sz="2667" dirty="0"/>
              <a:t> </a:t>
            </a:r>
            <a:r>
              <a:rPr lang="en-US" sz="2667" dirty="0" err="1"/>
              <a:t>ke</a:t>
            </a:r>
            <a:r>
              <a:rPr lang="en-US" sz="2667" dirty="0"/>
              <a:t> </a:t>
            </a:r>
            <a:r>
              <a:rPr lang="en-US" sz="2667" dirty="0" err="1"/>
              <a:t>kanan</a:t>
            </a:r>
            <a:r>
              <a:rPr lang="en-US" sz="2667" dirty="0"/>
              <a:t>. Cara </a:t>
            </a:r>
            <a:r>
              <a:rPr lang="en-US" sz="2667" dirty="0" err="1"/>
              <a:t>alternatif</a:t>
            </a:r>
            <a:r>
              <a:rPr lang="en-US" sz="2667" dirty="0"/>
              <a:t> </a:t>
            </a:r>
            <a:r>
              <a:rPr lang="en-US" sz="2667" dirty="0" err="1"/>
              <a:t>untuk</a:t>
            </a:r>
            <a:r>
              <a:rPr lang="en-US" sz="2667" dirty="0"/>
              <a:t> </a:t>
            </a:r>
            <a:r>
              <a:rPr lang="en-US" sz="2667" dirty="0" err="1"/>
              <a:t>membicarakan</a:t>
            </a:r>
            <a:r>
              <a:rPr lang="en-US" sz="2667" dirty="0"/>
              <a:t> </a:t>
            </a:r>
            <a:r>
              <a:rPr lang="en-US" sz="2667" dirty="0" err="1"/>
              <a:t>kumpulan</a:t>
            </a:r>
            <a:r>
              <a:rPr lang="en-US" sz="2667" dirty="0"/>
              <a:t> data yang miring </a:t>
            </a:r>
            <a:r>
              <a:rPr lang="en-US" sz="2667" dirty="0" err="1"/>
              <a:t>ke</a:t>
            </a:r>
            <a:r>
              <a:rPr lang="en-US" sz="2667" dirty="0"/>
              <a:t> </a:t>
            </a:r>
            <a:r>
              <a:rPr lang="en-US" sz="2667" dirty="0" err="1"/>
              <a:t>kanan</a:t>
            </a:r>
            <a:r>
              <a:rPr lang="en-US" sz="2667" dirty="0"/>
              <a:t> </a:t>
            </a:r>
            <a:r>
              <a:rPr lang="en-US" sz="2667" dirty="0" err="1"/>
              <a:t>adalah</a:t>
            </a:r>
            <a:r>
              <a:rPr lang="en-US" sz="2667" dirty="0"/>
              <a:t> </a:t>
            </a:r>
            <a:r>
              <a:rPr lang="en-US" sz="2667" dirty="0" err="1"/>
              <a:t>dengan</a:t>
            </a:r>
            <a:r>
              <a:rPr lang="en-US" sz="2667" dirty="0"/>
              <a:t> </a:t>
            </a:r>
            <a:r>
              <a:rPr lang="en-US" sz="2667" dirty="0" err="1"/>
              <a:t>mengatakan</a:t>
            </a:r>
            <a:r>
              <a:rPr lang="en-US" sz="2667" dirty="0"/>
              <a:t> </a:t>
            </a:r>
            <a:r>
              <a:rPr lang="en-US" sz="2667" dirty="0" err="1"/>
              <a:t>bahwa</a:t>
            </a:r>
            <a:r>
              <a:rPr lang="en-US" sz="2667" dirty="0"/>
              <a:t> </a:t>
            </a:r>
            <a:r>
              <a:rPr lang="en-US" sz="2667" dirty="0" err="1"/>
              <a:t>itu</a:t>
            </a:r>
            <a:r>
              <a:rPr lang="en-US" sz="2667" dirty="0"/>
              <a:t> </a:t>
            </a:r>
            <a:r>
              <a:rPr lang="en-US" sz="2667" dirty="0" err="1"/>
              <a:t>secara</a:t>
            </a:r>
            <a:r>
              <a:rPr lang="en-US" sz="2667" dirty="0"/>
              <a:t> </a:t>
            </a:r>
            <a:r>
              <a:rPr lang="en-US" sz="2667" dirty="0" err="1"/>
              <a:t>positif</a:t>
            </a:r>
            <a:r>
              <a:rPr lang="en-US" sz="2667" dirty="0"/>
              <a:t>.</a:t>
            </a:r>
            <a:endParaRPr sz="2667" dirty="0"/>
          </a:p>
          <a:p>
            <a:pPr marL="514350">
              <a:lnSpc>
                <a:spcPct val="115000"/>
              </a:lnSpc>
              <a:buSzPts val="1800"/>
            </a:pPr>
            <a:r>
              <a:rPr lang="en-US" sz="2667" dirty="0"/>
              <a:t>Jika rata-rata (mean) &gt; median&gt; modus, </a:t>
            </a:r>
            <a:r>
              <a:rPr lang="en-US" sz="2667" dirty="0" err="1"/>
              <a:t>maka</a:t>
            </a:r>
            <a:r>
              <a:rPr lang="en-US" sz="2667" dirty="0"/>
              <a:t> pada </a:t>
            </a:r>
            <a:r>
              <a:rPr lang="en-US" sz="2667" dirty="0" err="1"/>
              <a:t>kurva</a:t>
            </a:r>
            <a:r>
              <a:rPr lang="en-US" sz="2667" dirty="0"/>
              <a:t> </a:t>
            </a:r>
            <a:r>
              <a:rPr lang="en-US" sz="2667" dirty="0" err="1"/>
              <a:t>distribusi</a:t>
            </a:r>
            <a:r>
              <a:rPr lang="en-US" sz="2667" dirty="0"/>
              <a:t> </a:t>
            </a:r>
            <a:r>
              <a:rPr lang="en-US" sz="2667" dirty="0" err="1"/>
              <a:t>frekuensi</a:t>
            </a:r>
            <a:r>
              <a:rPr lang="en-US" sz="2667" dirty="0"/>
              <a:t>, </a:t>
            </a:r>
            <a:r>
              <a:rPr lang="en-US" sz="2667" dirty="0" err="1"/>
              <a:t>nilai</a:t>
            </a:r>
            <a:r>
              <a:rPr lang="en-US" sz="2667" dirty="0"/>
              <a:t> mean </a:t>
            </a:r>
            <a:r>
              <a:rPr lang="en-US" sz="2667" dirty="0" err="1"/>
              <a:t>akan</a:t>
            </a:r>
            <a:r>
              <a:rPr lang="en-US" sz="2667" dirty="0"/>
              <a:t> </a:t>
            </a:r>
            <a:r>
              <a:rPr lang="en-US" sz="2667" dirty="0" err="1"/>
              <a:t>terletak</a:t>
            </a:r>
            <a:r>
              <a:rPr lang="en-US" sz="2667" dirty="0"/>
              <a:t> di </a:t>
            </a:r>
            <a:r>
              <a:rPr lang="en-US" sz="2667" dirty="0" err="1"/>
              <a:t>sebelah</a:t>
            </a:r>
            <a:r>
              <a:rPr lang="en-US" sz="2667" dirty="0"/>
              <a:t> </a:t>
            </a:r>
            <a:r>
              <a:rPr lang="en-US" sz="2667" dirty="0" err="1"/>
              <a:t>kanan</a:t>
            </a:r>
            <a:r>
              <a:rPr lang="en-US" sz="2667" dirty="0"/>
              <a:t>, </a:t>
            </a:r>
            <a:r>
              <a:rPr lang="en-US" sz="2667" dirty="0" err="1"/>
              <a:t>sedangkan</a:t>
            </a:r>
            <a:r>
              <a:rPr lang="en-US" sz="2667" dirty="0"/>
              <a:t> median </a:t>
            </a:r>
            <a:r>
              <a:rPr lang="en-US" sz="2667" dirty="0" err="1"/>
              <a:t>terletak</a:t>
            </a:r>
            <a:r>
              <a:rPr lang="en-US" sz="2667" dirty="0"/>
              <a:t> di </a:t>
            </a:r>
            <a:r>
              <a:rPr lang="en-US" sz="2667" dirty="0" err="1"/>
              <a:t>tengahnya</a:t>
            </a:r>
            <a:r>
              <a:rPr lang="en-US" sz="2667" dirty="0"/>
              <a:t> dan modus di </a:t>
            </a:r>
            <a:r>
              <a:rPr lang="en-US" sz="2667" dirty="0" err="1"/>
              <a:t>sebelah</a:t>
            </a:r>
            <a:r>
              <a:rPr lang="en-US" sz="2667" dirty="0"/>
              <a:t> kiri</a:t>
            </a:r>
            <a:endParaRPr sz="2667" dirty="0"/>
          </a:p>
        </p:txBody>
      </p:sp>
      <p:sp>
        <p:nvSpPr>
          <p:cNvPr id="333" name="Google Shape;333;p22"/>
          <p:cNvSpPr txBox="1">
            <a:spLocks noGrp="1"/>
          </p:cNvSpPr>
          <p:nvPr>
            <p:ph type="sldNum" idx="4294967295"/>
          </p:nvPr>
        </p:nvSpPr>
        <p:spPr>
          <a:xfrm>
            <a:off x="11461750" y="6215063"/>
            <a:ext cx="730250" cy="52228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pPr>
              <a:buClr>
                <a:srgbClr val="000000"/>
              </a:buClr>
              <a:buSzPts val="1000"/>
            </a:pPr>
            <a:fld id="{00000000-1234-1234-1234-123412341234}" type="slidenum">
              <a:rPr lang="en-US"/>
              <a:pPr>
                <a:buClr>
                  <a:srgbClr val="000000"/>
                </a:buClr>
                <a:buSzPts val="1000"/>
              </a:pPr>
              <a:t>14</a:t>
            </a:fld>
            <a:endParaRPr/>
          </a:p>
        </p:txBody>
      </p:sp>
      <p:pic>
        <p:nvPicPr>
          <p:cNvPr id="334" name="Google Shape;334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61412" y="1766815"/>
            <a:ext cx="4833769" cy="38594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pPr>
              <a:buSzPct val="115226"/>
            </a:pPr>
            <a:r>
              <a:rPr lang="en-US" dirty="0"/>
              <a:t>Skewness 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 err="1"/>
              <a:t>kecenderungan</a:t>
            </a:r>
            <a:r>
              <a:rPr lang="en-US" dirty="0"/>
              <a:t>/</a:t>
            </a:r>
            <a:r>
              <a:rPr lang="en-US" dirty="0" err="1"/>
              <a:t>kemiringan</a:t>
            </a:r>
            <a:r>
              <a:rPr lang="en-US" dirty="0"/>
              <a:t>/</a:t>
            </a:r>
            <a:r>
              <a:rPr lang="en-US" dirty="0" err="1"/>
              <a:t>kemencengan</a:t>
            </a:r>
            <a:r>
              <a:rPr lang="en-US" dirty="0"/>
              <a:t>)</a:t>
            </a:r>
            <a:endParaRPr dirty="0"/>
          </a:p>
        </p:txBody>
      </p:sp>
      <p:sp>
        <p:nvSpPr>
          <p:cNvPr id="340" name="Google Shape;340;p23"/>
          <p:cNvSpPr txBox="1">
            <a:spLocks noGrp="1"/>
          </p:cNvSpPr>
          <p:nvPr>
            <p:ph idx="1"/>
          </p:nvPr>
        </p:nvSpPr>
        <p:spPr>
          <a:xfrm>
            <a:off x="838200" y="1176532"/>
            <a:ext cx="6240332" cy="500043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 fontScale="92500" lnSpcReduction="20000"/>
          </a:bodyPr>
          <a:lstStyle/>
          <a:p>
            <a:pPr marL="285750" indent="-285750">
              <a:lnSpc>
                <a:spcPct val="115000"/>
              </a:lnSpc>
            </a:pPr>
            <a:r>
              <a:rPr lang="en-US" sz="2667" dirty="0"/>
              <a:t>Miring </a:t>
            </a:r>
            <a:r>
              <a:rPr lang="en-US" sz="2667" dirty="0" err="1"/>
              <a:t>ke</a:t>
            </a:r>
            <a:r>
              <a:rPr lang="en-US" sz="2667" dirty="0"/>
              <a:t> kiri (</a:t>
            </a:r>
            <a:r>
              <a:rPr lang="en-US" sz="2667" dirty="0" err="1"/>
              <a:t>negatif</a:t>
            </a:r>
            <a:r>
              <a:rPr lang="en-US" sz="2667" dirty="0"/>
              <a:t> skew)</a:t>
            </a:r>
            <a:endParaRPr sz="2667" dirty="0"/>
          </a:p>
          <a:p>
            <a:pPr marL="571500" indent="-285750">
              <a:lnSpc>
                <a:spcPct val="115000"/>
              </a:lnSpc>
              <a:buSzPts val="1800"/>
            </a:pPr>
            <a:r>
              <a:rPr lang="en-US" sz="2667" dirty="0"/>
              <a:t>Data yang miring </a:t>
            </a:r>
            <a:r>
              <a:rPr lang="en-US" sz="2667" dirty="0" err="1"/>
              <a:t>ke</a:t>
            </a:r>
            <a:r>
              <a:rPr lang="en-US" sz="2667" dirty="0"/>
              <a:t> kiri </a:t>
            </a:r>
            <a:r>
              <a:rPr lang="en-US" sz="2667" dirty="0" err="1"/>
              <a:t>memiliki</a:t>
            </a:r>
            <a:r>
              <a:rPr lang="en-US" sz="2667" dirty="0"/>
              <a:t> </a:t>
            </a:r>
            <a:r>
              <a:rPr lang="en-US" sz="2667" dirty="0" err="1"/>
              <a:t>ekor</a:t>
            </a:r>
            <a:r>
              <a:rPr lang="en-US" sz="2667" dirty="0"/>
              <a:t> </a:t>
            </a:r>
            <a:r>
              <a:rPr lang="en-US" sz="2667" dirty="0" err="1"/>
              <a:t>panjang</a:t>
            </a:r>
            <a:r>
              <a:rPr lang="en-US" sz="2667" dirty="0"/>
              <a:t> yang </a:t>
            </a:r>
            <a:r>
              <a:rPr lang="en-US" sz="2667" dirty="0" err="1"/>
              <a:t>memanjang</a:t>
            </a:r>
            <a:r>
              <a:rPr lang="en-US" sz="2667" dirty="0"/>
              <a:t> </a:t>
            </a:r>
            <a:r>
              <a:rPr lang="en-US" sz="2667" dirty="0" err="1"/>
              <a:t>ke</a:t>
            </a:r>
            <a:r>
              <a:rPr lang="en-US" sz="2667" dirty="0"/>
              <a:t> kiri. Cara </a:t>
            </a:r>
            <a:r>
              <a:rPr lang="en-US" sz="2667" dirty="0" err="1"/>
              <a:t>alternatif</a:t>
            </a:r>
            <a:r>
              <a:rPr lang="en-US" sz="2667" dirty="0"/>
              <a:t> </a:t>
            </a:r>
            <a:r>
              <a:rPr lang="en-US" sz="2667" dirty="0" err="1"/>
              <a:t>untuk</a:t>
            </a:r>
            <a:r>
              <a:rPr lang="en-US" sz="2667" dirty="0"/>
              <a:t> </a:t>
            </a:r>
            <a:r>
              <a:rPr lang="en-US" sz="2667" dirty="0" err="1"/>
              <a:t>membicarakan</a:t>
            </a:r>
            <a:r>
              <a:rPr lang="en-US" sz="2667" dirty="0"/>
              <a:t> </a:t>
            </a:r>
            <a:r>
              <a:rPr lang="en-US" sz="2667" dirty="0" err="1"/>
              <a:t>kumpulan</a:t>
            </a:r>
            <a:r>
              <a:rPr lang="en-US" sz="2667" dirty="0"/>
              <a:t> data yang miring </a:t>
            </a:r>
            <a:r>
              <a:rPr lang="en-US" sz="2667" dirty="0" err="1"/>
              <a:t>ke</a:t>
            </a:r>
            <a:r>
              <a:rPr lang="en-US" sz="2667" dirty="0"/>
              <a:t> kiri </a:t>
            </a:r>
            <a:r>
              <a:rPr lang="en-US" sz="2667" dirty="0" err="1"/>
              <a:t>adalah</a:t>
            </a:r>
            <a:r>
              <a:rPr lang="en-US" sz="2667" dirty="0"/>
              <a:t> </a:t>
            </a:r>
            <a:r>
              <a:rPr lang="en-US" sz="2667" dirty="0" err="1"/>
              <a:t>dengan</a:t>
            </a:r>
            <a:r>
              <a:rPr lang="en-US" sz="2667" dirty="0"/>
              <a:t> </a:t>
            </a:r>
            <a:r>
              <a:rPr lang="en-US" sz="2667" dirty="0" err="1"/>
              <a:t>mengatakan</a:t>
            </a:r>
            <a:r>
              <a:rPr lang="en-US" sz="2667" dirty="0"/>
              <a:t> </a:t>
            </a:r>
            <a:r>
              <a:rPr lang="en-US" sz="2667" dirty="0" err="1"/>
              <a:t>bahwa</a:t>
            </a:r>
            <a:r>
              <a:rPr lang="en-US" sz="2667" dirty="0"/>
              <a:t> </a:t>
            </a:r>
            <a:r>
              <a:rPr lang="en-US" sz="2667" dirty="0" err="1"/>
              <a:t>itu</a:t>
            </a:r>
            <a:r>
              <a:rPr lang="en-US" sz="2667" dirty="0"/>
              <a:t> miring </a:t>
            </a:r>
            <a:r>
              <a:rPr lang="en-US" sz="2667" dirty="0" err="1"/>
              <a:t>secara</a:t>
            </a:r>
            <a:r>
              <a:rPr lang="en-US" sz="2667" dirty="0"/>
              <a:t> </a:t>
            </a:r>
            <a:r>
              <a:rPr lang="en-US" sz="2667" dirty="0" err="1"/>
              <a:t>negatif</a:t>
            </a:r>
            <a:r>
              <a:rPr lang="en-US" sz="2667" dirty="0"/>
              <a:t>.</a:t>
            </a:r>
            <a:endParaRPr sz="2667" dirty="0"/>
          </a:p>
          <a:p>
            <a:pPr marL="571500" indent="-285750">
              <a:lnSpc>
                <a:spcPct val="115000"/>
              </a:lnSpc>
              <a:buSzPts val="1800"/>
            </a:pPr>
            <a:r>
              <a:rPr lang="en-US" sz="2667" dirty="0"/>
              <a:t>Jika rata-rata (mean) &lt; median &lt; modus, </a:t>
            </a:r>
            <a:r>
              <a:rPr lang="en-US" sz="2667" dirty="0" err="1"/>
              <a:t>maka</a:t>
            </a:r>
            <a:r>
              <a:rPr lang="en-US" sz="2667" dirty="0"/>
              <a:t> pada </a:t>
            </a:r>
            <a:r>
              <a:rPr lang="en-US" sz="2667" dirty="0" err="1"/>
              <a:t>kurva</a:t>
            </a:r>
            <a:r>
              <a:rPr lang="en-US" sz="2667" dirty="0"/>
              <a:t> </a:t>
            </a:r>
            <a:r>
              <a:rPr lang="en-US" sz="2667" dirty="0" err="1"/>
              <a:t>distribusi</a:t>
            </a:r>
            <a:r>
              <a:rPr lang="en-US" sz="2667" dirty="0"/>
              <a:t> </a:t>
            </a:r>
            <a:r>
              <a:rPr lang="en-US" sz="2667" dirty="0" err="1"/>
              <a:t>frekuensi</a:t>
            </a:r>
            <a:r>
              <a:rPr lang="en-US" sz="2667" dirty="0"/>
              <a:t>, </a:t>
            </a:r>
            <a:r>
              <a:rPr lang="en-US" sz="2667" dirty="0" err="1"/>
              <a:t>nilai</a:t>
            </a:r>
            <a:r>
              <a:rPr lang="en-US" sz="2667" dirty="0"/>
              <a:t> mean </a:t>
            </a:r>
            <a:r>
              <a:rPr lang="en-US" sz="2667" dirty="0" err="1"/>
              <a:t>akan</a:t>
            </a:r>
            <a:r>
              <a:rPr lang="en-US" sz="2667" dirty="0"/>
              <a:t> </a:t>
            </a:r>
            <a:r>
              <a:rPr lang="en-US" sz="2667" dirty="0" err="1"/>
              <a:t>terletak</a:t>
            </a:r>
            <a:r>
              <a:rPr lang="en-US" sz="2667" dirty="0"/>
              <a:t> di </a:t>
            </a:r>
            <a:r>
              <a:rPr lang="en-US" sz="2667" dirty="0" err="1"/>
              <a:t>sebelah</a:t>
            </a:r>
            <a:r>
              <a:rPr lang="en-US" sz="2667" dirty="0"/>
              <a:t> kiri, </a:t>
            </a:r>
            <a:r>
              <a:rPr lang="en-US" sz="2667" dirty="0" err="1"/>
              <a:t>sedangkan</a:t>
            </a:r>
            <a:r>
              <a:rPr lang="en-US" sz="2667" dirty="0"/>
              <a:t> median </a:t>
            </a:r>
            <a:r>
              <a:rPr lang="en-US" sz="2667" dirty="0" err="1"/>
              <a:t>terletak</a:t>
            </a:r>
            <a:r>
              <a:rPr lang="en-US" sz="2667" dirty="0"/>
              <a:t> di </a:t>
            </a:r>
            <a:r>
              <a:rPr lang="en-US" sz="2667" dirty="0" err="1"/>
              <a:t>tengahnya</a:t>
            </a:r>
            <a:r>
              <a:rPr lang="en-US" sz="2667" dirty="0"/>
              <a:t> dan modus di </a:t>
            </a:r>
            <a:r>
              <a:rPr lang="en-US" sz="2667" dirty="0" err="1"/>
              <a:t>sebelah</a:t>
            </a:r>
            <a:r>
              <a:rPr lang="en-US" sz="2667" dirty="0"/>
              <a:t> </a:t>
            </a:r>
            <a:r>
              <a:rPr lang="en-US" sz="2667" dirty="0" err="1"/>
              <a:t>kanan</a:t>
            </a:r>
            <a:endParaRPr sz="2667" dirty="0"/>
          </a:p>
        </p:txBody>
      </p:sp>
      <p:sp>
        <p:nvSpPr>
          <p:cNvPr id="341" name="Google Shape;341;p23"/>
          <p:cNvSpPr txBox="1">
            <a:spLocks noGrp="1"/>
          </p:cNvSpPr>
          <p:nvPr>
            <p:ph type="sldNum" idx="4294967295"/>
          </p:nvPr>
        </p:nvSpPr>
        <p:spPr>
          <a:xfrm>
            <a:off x="11461750" y="6215063"/>
            <a:ext cx="730250" cy="52228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pPr>
              <a:buClr>
                <a:srgbClr val="000000"/>
              </a:buClr>
              <a:buSzPts val="1000"/>
            </a:pPr>
            <a:fld id="{00000000-1234-1234-1234-123412341234}" type="slidenum">
              <a:rPr lang="en-US"/>
              <a:pPr>
                <a:buClr>
                  <a:srgbClr val="000000"/>
                </a:buClr>
                <a:buSzPts val="1000"/>
              </a:pPr>
              <a:t>15</a:t>
            </a:fld>
            <a:endParaRPr/>
          </a:p>
        </p:txBody>
      </p:sp>
      <p:pic>
        <p:nvPicPr>
          <p:cNvPr id="342" name="Google Shape;342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62626" y="1647127"/>
            <a:ext cx="4530987" cy="38177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rgbClr val="0F3570"/>
              </a:buClr>
              <a:buSzPct val="115226"/>
            </a:pPr>
            <a:r>
              <a:rPr lang="en-US" dirty="0" err="1">
                <a:solidFill>
                  <a:srgbClr val="0F3570"/>
                </a:solidFill>
                <a:ea typeface="Overlock"/>
                <a:sym typeface="Overlock"/>
              </a:rPr>
              <a:t>Imputasi</a:t>
            </a:r>
            <a:r>
              <a:rPr lang="en-US" dirty="0">
                <a:solidFill>
                  <a:srgbClr val="0F3570"/>
                </a:solidFill>
                <a:ea typeface="Overlock"/>
                <a:sym typeface="Overlock"/>
              </a:rPr>
              <a:t> </a:t>
            </a:r>
            <a:r>
              <a:rPr lang="en-US" i="1" dirty="0">
                <a:solidFill>
                  <a:srgbClr val="0F3570"/>
                </a:solidFill>
                <a:ea typeface="Overlock"/>
                <a:sym typeface="Overlock"/>
              </a:rPr>
              <a:t>Frequent Category</a:t>
            </a:r>
            <a:r>
              <a:rPr lang="en-US" dirty="0">
                <a:solidFill>
                  <a:srgbClr val="0F3570"/>
                </a:solidFill>
                <a:ea typeface="Overlock"/>
                <a:sym typeface="Overlock"/>
              </a:rPr>
              <a:t>/Modus</a:t>
            </a:r>
            <a:endParaRPr dirty="0"/>
          </a:p>
        </p:txBody>
      </p:sp>
      <p:sp>
        <p:nvSpPr>
          <p:cNvPr id="348" name="Google Shape;348;p24"/>
          <p:cNvSpPr txBox="1">
            <a:spLocks noGrp="1"/>
          </p:cNvSpPr>
          <p:nvPr>
            <p:ph type="sldNum" idx="4294967295"/>
          </p:nvPr>
        </p:nvSpPr>
        <p:spPr>
          <a:xfrm>
            <a:off x="11461750" y="6215063"/>
            <a:ext cx="730250" cy="52228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pPr>
              <a:buClr>
                <a:srgbClr val="000000"/>
              </a:buClr>
              <a:buSzPts val="1000"/>
            </a:pPr>
            <a:fld id="{00000000-1234-1234-1234-123412341234}" type="slidenum">
              <a:rPr lang="en-US"/>
              <a:pPr>
                <a:buClr>
                  <a:srgbClr val="000000"/>
                </a:buClr>
                <a:buSzPts val="1000"/>
              </a:pPr>
              <a:t>16</a:t>
            </a:fld>
            <a:endParaRPr/>
          </a:p>
        </p:txBody>
      </p:sp>
      <p:sp>
        <p:nvSpPr>
          <p:cNvPr id="349" name="Google Shape;349;p24"/>
          <p:cNvSpPr txBox="1"/>
          <p:nvPr/>
        </p:nvSpPr>
        <p:spPr>
          <a:xfrm>
            <a:off x="415601" y="1492873"/>
            <a:ext cx="5680400" cy="4441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lnSpcReduction="10000"/>
          </a:bodyPr>
          <a:lstStyle/>
          <a:p>
            <a:pPr marL="609585" indent="-457189">
              <a:lnSpc>
                <a:spcPct val="115000"/>
              </a:lnSpc>
              <a:buClr>
                <a:schemeClr val="dk2"/>
              </a:buClr>
              <a:buSzPts val="1600"/>
              <a:buFont typeface="Arial"/>
              <a:buChar char="●"/>
            </a:pPr>
            <a:r>
              <a:rPr lang="en-US" sz="2133" dirty="0">
                <a:ea typeface="Overlock"/>
                <a:cs typeface="Overlock"/>
                <a:sym typeface="Overlock"/>
              </a:rPr>
              <a:t>Pro:</a:t>
            </a:r>
            <a:endParaRPr sz="2400" dirty="0"/>
          </a:p>
          <a:p>
            <a:pPr marL="1219170" lvl="1" indent="-423323">
              <a:lnSpc>
                <a:spcPct val="115000"/>
              </a:lnSpc>
              <a:buClr>
                <a:schemeClr val="dk2"/>
              </a:buClr>
              <a:buSzPts val="1400"/>
              <a:buFont typeface="Arial"/>
              <a:buChar char="•"/>
            </a:pPr>
            <a:r>
              <a:rPr lang="en-US" sz="2133" dirty="0" err="1">
                <a:ea typeface="Overlock"/>
                <a:cs typeface="Overlock"/>
                <a:sym typeface="Overlock"/>
              </a:rPr>
              <a:t>Cocok</a:t>
            </a:r>
            <a:r>
              <a:rPr lang="en-US" sz="2133" dirty="0">
                <a:ea typeface="Overlock"/>
                <a:cs typeface="Overlock"/>
                <a:sym typeface="Overlock"/>
              </a:rPr>
              <a:t>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untuk</a:t>
            </a:r>
            <a:r>
              <a:rPr lang="en-US" sz="2133" dirty="0">
                <a:ea typeface="Overlock"/>
                <a:cs typeface="Overlock"/>
                <a:sym typeface="Overlock"/>
              </a:rPr>
              <a:t> data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dengan</a:t>
            </a:r>
            <a:r>
              <a:rPr lang="en-US" sz="2133" dirty="0">
                <a:ea typeface="Overlock"/>
                <a:cs typeface="Overlock"/>
                <a:sym typeface="Overlock"/>
              </a:rPr>
              <a:t> missing at random.</a:t>
            </a:r>
            <a:endParaRPr sz="2400" dirty="0"/>
          </a:p>
          <a:p>
            <a:pPr marL="1219170" lvl="1" indent="-423323">
              <a:lnSpc>
                <a:spcPct val="115000"/>
              </a:lnSpc>
              <a:buClr>
                <a:schemeClr val="dk2"/>
              </a:buClr>
              <a:buSzPts val="1400"/>
              <a:buFont typeface="Arial"/>
              <a:buChar char="•"/>
            </a:pPr>
            <a:r>
              <a:rPr lang="en-US" sz="2133" dirty="0" err="1">
                <a:ea typeface="Overlock"/>
                <a:cs typeface="Overlock"/>
                <a:sym typeface="Overlock"/>
              </a:rPr>
              <a:t>Mudah</a:t>
            </a:r>
            <a:r>
              <a:rPr lang="en-US" sz="2133" dirty="0">
                <a:ea typeface="Overlock"/>
                <a:cs typeface="Overlock"/>
                <a:sym typeface="Overlock"/>
              </a:rPr>
              <a:t> dan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cepat</a:t>
            </a:r>
            <a:r>
              <a:rPr lang="en-US" sz="2133" dirty="0">
                <a:ea typeface="Overlock"/>
                <a:cs typeface="Overlock"/>
                <a:sym typeface="Overlock"/>
              </a:rPr>
              <a:t>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diterapkan</a:t>
            </a:r>
            <a:r>
              <a:rPr lang="en-US" sz="2133" dirty="0">
                <a:ea typeface="Overlock"/>
                <a:cs typeface="Overlock"/>
                <a:sym typeface="Overlock"/>
              </a:rPr>
              <a:t>.</a:t>
            </a:r>
            <a:endParaRPr sz="2400" dirty="0"/>
          </a:p>
          <a:p>
            <a:pPr marL="1219170" lvl="1" indent="-423323">
              <a:lnSpc>
                <a:spcPct val="115000"/>
              </a:lnSpc>
              <a:buClr>
                <a:schemeClr val="dk2"/>
              </a:buClr>
              <a:buSzPts val="1400"/>
              <a:buFont typeface="Arial"/>
              <a:buChar char="•"/>
            </a:pPr>
            <a:r>
              <a:rPr lang="en-US" sz="2133" dirty="0" err="1">
                <a:ea typeface="Overlock"/>
                <a:cs typeface="Overlock"/>
                <a:sym typeface="Overlock"/>
              </a:rPr>
              <a:t>Cocok</a:t>
            </a:r>
            <a:r>
              <a:rPr lang="en-US" sz="2133" dirty="0">
                <a:ea typeface="Overlock"/>
                <a:cs typeface="Overlock"/>
                <a:sym typeface="Overlock"/>
              </a:rPr>
              <a:t>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utk</a:t>
            </a:r>
            <a:r>
              <a:rPr lang="en-US" sz="2133" dirty="0">
                <a:ea typeface="Overlock"/>
                <a:cs typeface="Overlock"/>
                <a:sym typeface="Overlock"/>
              </a:rPr>
              <a:t> data yang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memiliki</a:t>
            </a:r>
            <a:r>
              <a:rPr lang="en-US" sz="2133" dirty="0">
                <a:ea typeface="Overlock"/>
                <a:cs typeface="Overlock"/>
                <a:sym typeface="Overlock"/>
              </a:rPr>
              <a:t> </a:t>
            </a:r>
            <a:r>
              <a:rPr lang="en-US" sz="2133" i="1" dirty="0">
                <a:ea typeface="Overlock"/>
                <a:cs typeface="Overlock"/>
                <a:sym typeface="Overlock"/>
              </a:rPr>
              <a:t>skew</a:t>
            </a:r>
            <a:endParaRPr sz="2133" dirty="0">
              <a:ea typeface="Overlock"/>
              <a:cs typeface="Overlock"/>
              <a:sym typeface="Overlock"/>
            </a:endParaRPr>
          </a:p>
          <a:p>
            <a:pPr marL="1219170" lvl="1" indent="-423323">
              <a:lnSpc>
                <a:spcPct val="115000"/>
              </a:lnSpc>
              <a:buClr>
                <a:schemeClr val="dk2"/>
              </a:buClr>
              <a:buSzPts val="1400"/>
              <a:buFont typeface="Arial"/>
              <a:buChar char="•"/>
            </a:pPr>
            <a:r>
              <a:rPr lang="en-US" sz="2133" dirty="0" err="1">
                <a:ea typeface="Overlock"/>
                <a:cs typeface="Overlock"/>
                <a:sym typeface="Overlock"/>
              </a:rPr>
              <a:t>Dapat</a:t>
            </a:r>
            <a:r>
              <a:rPr lang="en-US" sz="2133" dirty="0">
                <a:ea typeface="Overlock"/>
                <a:cs typeface="Overlock"/>
                <a:sym typeface="Overlock"/>
              </a:rPr>
              <a:t>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digunakan</a:t>
            </a:r>
            <a:r>
              <a:rPr lang="en-US" sz="2133" dirty="0">
                <a:ea typeface="Overlock"/>
                <a:cs typeface="Overlock"/>
                <a:sym typeface="Overlock"/>
              </a:rPr>
              <a:t>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dalam</a:t>
            </a:r>
            <a:r>
              <a:rPr lang="en-US" sz="2133" dirty="0">
                <a:ea typeface="Overlock"/>
                <a:cs typeface="Overlock"/>
                <a:sym typeface="Overlock"/>
              </a:rPr>
              <a:t>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produksi</a:t>
            </a:r>
            <a:r>
              <a:rPr lang="en-US" sz="2133" dirty="0">
                <a:ea typeface="Overlock"/>
                <a:cs typeface="Overlock"/>
                <a:sym typeface="Overlock"/>
              </a:rPr>
              <a:t> (mis.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dalam</a:t>
            </a:r>
            <a:r>
              <a:rPr lang="en-US" sz="2133" dirty="0">
                <a:ea typeface="Overlock"/>
                <a:cs typeface="Overlock"/>
                <a:sym typeface="Overlock"/>
              </a:rPr>
              <a:t> model deployment).</a:t>
            </a:r>
            <a:endParaRPr sz="2133" dirty="0">
              <a:ea typeface="Overlock"/>
              <a:cs typeface="Overlock"/>
              <a:sym typeface="Overlock"/>
            </a:endParaRPr>
          </a:p>
          <a:p>
            <a:pPr marL="609585" indent="-457189">
              <a:lnSpc>
                <a:spcPct val="115000"/>
              </a:lnSpc>
              <a:buClr>
                <a:schemeClr val="dk2"/>
              </a:buClr>
              <a:buSzPts val="1600"/>
              <a:buFont typeface="Arial"/>
              <a:buChar char="●"/>
            </a:pPr>
            <a:r>
              <a:rPr lang="en-US" sz="2133" dirty="0">
                <a:ea typeface="Overlock"/>
                <a:cs typeface="Overlock"/>
                <a:sym typeface="Overlock"/>
              </a:rPr>
              <a:t>Kontra:</a:t>
            </a:r>
            <a:endParaRPr sz="2400" dirty="0"/>
          </a:p>
          <a:p>
            <a:pPr marL="1219170" lvl="1" indent="-423323">
              <a:lnSpc>
                <a:spcPct val="115000"/>
              </a:lnSpc>
              <a:buClr>
                <a:schemeClr val="dk2"/>
              </a:buClr>
              <a:buSzPts val="1400"/>
              <a:buFont typeface="Arial"/>
              <a:buChar char="•"/>
            </a:pPr>
            <a:r>
              <a:rPr lang="en-US" sz="2133" dirty="0" err="1">
                <a:ea typeface="Overlock"/>
                <a:cs typeface="Overlock"/>
                <a:sym typeface="Overlock"/>
              </a:rPr>
              <a:t>Mendistorsi</a:t>
            </a:r>
            <a:r>
              <a:rPr lang="en-US" sz="2133" dirty="0">
                <a:ea typeface="Overlock"/>
                <a:cs typeface="Overlock"/>
                <a:sym typeface="Overlock"/>
              </a:rPr>
              <a:t>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relasi</a:t>
            </a:r>
            <a:r>
              <a:rPr lang="en-US" sz="2133" dirty="0">
                <a:ea typeface="Overlock"/>
                <a:cs typeface="Overlock"/>
                <a:sym typeface="Overlock"/>
              </a:rPr>
              <a:t> label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dengan</a:t>
            </a:r>
            <a:r>
              <a:rPr lang="en-US" sz="2133" dirty="0">
                <a:ea typeface="Overlock"/>
                <a:cs typeface="Overlock"/>
                <a:sym typeface="Overlock"/>
              </a:rPr>
              <a:t>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frekuensi</a:t>
            </a:r>
            <a:r>
              <a:rPr lang="en-US" sz="2133" dirty="0">
                <a:ea typeface="Overlock"/>
                <a:cs typeface="Overlock"/>
                <a:sym typeface="Overlock"/>
              </a:rPr>
              <a:t>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tertinggi</a:t>
            </a:r>
            <a:r>
              <a:rPr lang="en-US" sz="2133" dirty="0">
                <a:ea typeface="Overlock"/>
                <a:cs typeface="Overlock"/>
                <a:sym typeface="Overlock"/>
              </a:rPr>
              <a:t> vs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variabel</a:t>
            </a:r>
            <a:r>
              <a:rPr lang="en-US" sz="2133" dirty="0">
                <a:ea typeface="Overlock"/>
                <a:cs typeface="Overlock"/>
                <a:sym typeface="Overlock"/>
              </a:rPr>
              <a:t> lain.</a:t>
            </a:r>
            <a:endParaRPr sz="2400" dirty="0"/>
          </a:p>
          <a:p>
            <a:pPr marL="1219170" lvl="1" indent="-423323">
              <a:lnSpc>
                <a:spcPct val="115000"/>
              </a:lnSpc>
              <a:buClr>
                <a:schemeClr val="dk2"/>
              </a:buClr>
              <a:buSzPts val="1400"/>
              <a:buFont typeface="Arial"/>
              <a:buChar char="•"/>
            </a:pPr>
            <a:r>
              <a:rPr lang="en-US" sz="2133" dirty="0" err="1">
                <a:ea typeface="Overlock"/>
                <a:cs typeface="Overlock"/>
                <a:sym typeface="Overlock"/>
              </a:rPr>
              <a:t>Menghasilkan</a:t>
            </a:r>
            <a:r>
              <a:rPr lang="en-US" sz="2133" dirty="0">
                <a:ea typeface="Overlock"/>
                <a:cs typeface="Overlock"/>
                <a:sym typeface="Overlock"/>
              </a:rPr>
              <a:t> over-representation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jika</a:t>
            </a:r>
            <a:r>
              <a:rPr lang="en-US" sz="2133" dirty="0">
                <a:ea typeface="Overlock"/>
                <a:cs typeface="Overlock"/>
                <a:sym typeface="Overlock"/>
              </a:rPr>
              <a:t>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banyak</a:t>
            </a:r>
            <a:r>
              <a:rPr lang="en-US" sz="2133" dirty="0">
                <a:ea typeface="Overlock"/>
                <a:cs typeface="Overlock"/>
                <a:sym typeface="Overlock"/>
              </a:rPr>
              <a:t> data yang missing.</a:t>
            </a:r>
            <a:endParaRPr sz="2400" dirty="0"/>
          </a:p>
        </p:txBody>
      </p:sp>
      <p:pic>
        <p:nvPicPr>
          <p:cNvPr id="350" name="Google Shape;350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89264" y="1768497"/>
            <a:ext cx="5187136" cy="3890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rgbClr val="0F3570"/>
              </a:buClr>
              <a:buSzPct val="115226"/>
            </a:pPr>
            <a:r>
              <a:rPr lang="en-US" dirty="0" err="1">
                <a:solidFill>
                  <a:srgbClr val="0F3570"/>
                </a:solidFill>
                <a:ea typeface="Overlock"/>
                <a:sym typeface="Overlock"/>
              </a:rPr>
              <a:t>Imputasi</a:t>
            </a:r>
            <a:r>
              <a:rPr lang="en-US" dirty="0">
                <a:solidFill>
                  <a:srgbClr val="0F3570"/>
                </a:solidFill>
                <a:ea typeface="Overlock"/>
                <a:sym typeface="Overlock"/>
              </a:rPr>
              <a:t> </a:t>
            </a:r>
            <a:r>
              <a:rPr lang="en-US" i="1" dirty="0">
                <a:solidFill>
                  <a:srgbClr val="0F3570"/>
                </a:solidFill>
                <a:ea typeface="Overlock"/>
                <a:sym typeface="Overlock"/>
              </a:rPr>
              <a:t>Random Sample</a:t>
            </a:r>
            <a:endParaRPr dirty="0">
              <a:solidFill>
                <a:srgbClr val="0F3570"/>
              </a:solidFill>
              <a:ea typeface="Overlock"/>
              <a:sym typeface="Overlock"/>
            </a:endParaRPr>
          </a:p>
        </p:txBody>
      </p:sp>
      <p:sp>
        <p:nvSpPr>
          <p:cNvPr id="384" name="Google Shape;384;p27"/>
          <p:cNvSpPr txBox="1">
            <a:spLocks noGrp="1"/>
          </p:cNvSpPr>
          <p:nvPr>
            <p:ph type="sldNum" idx="4294967295"/>
          </p:nvPr>
        </p:nvSpPr>
        <p:spPr>
          <a:xfrm>
            <a:off x="11461750" y="6215063"/>
            <a:ext cx="730250" cy="52228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pPr>
              <a:buClr>
                <a:srgbClr val="000000"/>
              </a:buClr>
              <a:buSzPts val="1000"/>
            </a:pPr>
            <a:fld id="{00000000-1234-1234-1234-123412341234}" type="slidenum">
              <a:rPr lang="en-US"/>
              <a:pPr>
                <a:buClr>
                  <a:srgbClr val="000000"/>
                </a:buClr>
                <a:buSzPts val="1000"/>
              </a:pPr>
              <a:t>17</a:t>
            </a:fld>
            <a:endParaRPr/>
          </a:p>
        </p:txBody>
      </p:sp>
      <p:sp>
        <p:nvSpPr>
          <p:cNvPr id="385" name="Google Shape;385;p27"/>
          <p:cNvSpPr txBox="1"/>
          <p:nvPr/>
        </p:nvSpPr>
        <p:spPr>
          <a:xfrm>
            <a:off x="125730" y="982640"/>
            <a:ext cx="6355079" cy="4960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609585" indent="-457189">
              <a:lnSpc>
                <a:spcPct val="115000"/>
              </a:lnSpc>
              <a:buClr>
                <a:schemeClr val="dk2"/>
              </a:buClr>
              <a:buSzPct val="79999"/>
              <a:buFont typeface="Arial"/>
              <a:buChar char="●"/>
            </a:pPr>
            <a:r>
              <a:rPr lang="en-US" sz="2100" dirty="0">
                <a:ea typeface="Overlock"/>
                <a:cs typeface="Overlock"/>
                <a:sym typeface="Overlock"/>
              </a:rPr>
              <a:t>Pro:</a:t>
            </a:r>
            <a:endParaRPr sz="2100" dirty="0">
              <a:ea typeface="Overlock"/>
              <a:cs typeface="Overlock"/>
              <a:sym typeface="Overlock"/>
            </a:endParaRPr>
          </a:p>
          <a:p>
            <a:pPr marL="1219170" lvl="1" indent="-423323">
              <a:lnSpc>
                <a:spcPct val="115000"/>
              </a:lnSpc>
              <a:buClr>
                <a:schemeClr val="dk2"/>
              </a:buClr>
              <a:buSzPct val="88888"/>
              <a:buFont typeface="Arial"/>
              <a:buChar char="•"/>
            </a:pPr>
            <a:r>
              <a:rPr lang="en-US" sz="2100" dirty="0" err="1">
                <a:ea typeface="Overlock"/>
                <a:cs typeface="Overlock"/>
                <a:sym typeface="Overlock"/>
              </a:rPr>
              <a:t>Cocok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untuk</a:t>
            </a:r>
            <a:r>
              <a:rPr lang="en-US" sz="2100" dirty="0">
                <a:ea typeface="Overlock"/>
                <a:cs typeface="Overlock"/>
                <a:sym typeface="Overlock"/>
              </a:rPr>
              <a:t> data </a:t>
            </a:r>
            <a:r>
              <a:rPr lang="en-US" sz="2100" i="1" dirty="0">
                <a:ea typeface="Overlock"/>
                <a:cs typeface="Overlock"/>
                <a:sym typeface="Overlock"/>
              </a:rPr>
              <a:t>missing at random.</a:t>
            </a:r>
            <a:endParaRPr sz="2100" i="1" dirty="0">
              <a:ea typeface="Overlock"/>
              <a:cs typeface="Overlock"/>
              <a:sym typeface="Overlock"/>
            </a:endParaRPr>
          </a:p>
          <a:p>
            <a:pPr marL="1219170" lvl="1" indent="-423323">
              <a:lnSpc>
                <a:spcPct val="115000"/>
              </a:lnSpc>
              <a:buClr>
                <a:schemeClr val="dk2"/>
              </a:buClr>
              <a:buSzPct val="88888"/>
              <a:buFont typeface="Arial"/>
              <a:buChar char="•"/>
            </a:pPr>
            <a:r>
              <a:rPr lang="en-US" sz="2100" dirty="0">
                <a:ea typeface="Overlock"/>
                <a:cs typeface="Overlock"/>
                <a:sym typeface="Overlock"/>
              </a:rPr>
              <a:t>Ganti missing value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dengan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nilai</a:t>
            </a:r>
            <a:r>
              <a:rPr lang="en-US" sz="2100" dirty="0">
                <a:ea typeface="Overlock"/>
                <a:cs typeface="Overlock"/>
                <a:sym typeface="Overlock"/>
              </a:rPr>
              <a:t> lain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dalam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distribusi</a:t>
            </a:r>
            <a:r>
              <a:rPr lang="en-US" sz="2100" dirty="0">
                <a:ea typeface="Overlock"/>
                <a:cs typeface="Overlock"/>
                <a:sym typeface="Overlock"/>
              </a:rPr>
              <a:t> yang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sama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dari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variabel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asli</a:t>
            </a:r>
            <a:r>
              <a:rPr lang="en-US" sz="2100" dirty="0">
                <a:ea typeface="Overlock"/>
                <a:cs typeface="Overlock"/>
                <a:sym typeface="Overlock"/>
              </a:rPr>
              <a:t>.</a:t>
            </a:r>
            <a:endParaRPr sz="2100" dirty="0">
              <a:ea typeface="Overlock"/>
              <a:cs typeface="Overlock"/>
              <a:sym typeface="Overlock"/>
            </a:endParaRPr>
          </a:p>
          <a:p>
            <a:pPr marL="1219170" lvl="1" indent="-423323">
              <a:lnSpc>
                <a:spcPct val="115000"/>
              </a:lnSpc>
              <a:buClr>
                <a:schemeClr val="dk2"/>
              </a:buClr>
              <a:buSzPct val="88888"/>
              <a:buFont typeface="Arial"/>
              <a:buChar char="•"/>
            </a:pPr>
            <a:r>
              <a:rPr lang="en-US" sz="2100" dirty="0" err="1">
                <a:ea typeface="Overlock"/>
                <a:cs typeface="Overlock"/>
                <a:sym typeface="Overlock"/>
              </a:rPr>
              <a:t>Mudah</a:t>
            </a:r>
            <a:r>
              <a:rPr lang="en-US" sz="2100" dirty="0">
                <a:ea typeface="Overlock"/>
                <a:cs typeface="Overlock"/>
                <a:sym typeface="Overlock"/>
              </a:rPr>
              <a:t> dan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cepat</a:t>
            </a:r>
            <a:r>
              <a:rPr lang="en-US" sz="2100" dirty="0">
                <a:ea typeface="Overlock"/>
                <a:cs typeface="Overlock"/>
                <a:sym typeface="Overlock"/>
              </a:rPr>
              <a:t>.</a:t>
            </a:r>
            <a:endParaRPr sz="2100" dirty="0">
              <a:ea typeface="Overlock"/>
              <a:cs typeface="Overlock"/>
              <a:sym typeface="Overlock"/>
            </a:endParaRPr>
          </a:p>
          <a:p>
            <a:pPr marL="1219170" lvl="1" indent="-423323">
              <a:lnSpc>
                <a:spcPct val="115000"/>
              </a:lnSpc>
              <a:buClr>
                <a:schemeClr val="dk2"/>
              </a:buClr>
              <a:buSzPct val="88888"/>
              <a:buFont typeface="Arial"/>
              <a:buChar char="•"/>
            </a:pPr>
            <a:r>
              <a:rPr lang="en-US" sz="2100" dirty="0" err="1">
                <a:ea typeface="Overlock"/>
                <a:cs typeface="Overlock"/>
                <a:sym typeface="Overlock"/>
              </a:rPr>
              <a:t>Mempertahankan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varians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dari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variabel</a:t>
            </a:r>
            <a:r>
              <a:rPr lang="en-US" sz="2100" dirty="0">
                <a:ea typeface="Overlock"/>
                <a:cs typeface="Overlock"/>
                <a:sym typeface="Overlock"/>
              </a:rPr>
              <a:t>.</a:t>
            </a:r>
            <a:endParaRPr sz="2100" dirty="0">
              <a:ea typeface="Overlock"/>
              <a:cs typeface="Overlock"/>
              <a:sym typeface="Overlock"/>
            </a:endParaRPr>
          </a:p>
          <a:p>
            <a:pPr marL="609585" indent="-457189">
              <a:lnSpc>
                <a:spcPct val="115000"/>
              </a:lnSpc>
              <a:buClr>
                <a:schemeClr val="dk2"/>
              </a:buClr>
              <a:buSzPct val="79999"/>
              <a:buFont typeface="Arial"/>
              <a:buChar char="●"/>
            </a:pPr>
            <a:r>
              <a:rPr lang="en-US" sz="2100" dirty="0">
                <a:ea typeface="Overlock"/>
                <a:cs typeface="Overlock"/>
                <a:sym typeface="Overlock"/>
              </a:rPr>
              <a:t>Kontra:</a:t>
            </a:r>
            <a:endParaRPr sz="2100" dirty="0">
              <a:ea typeface="Overlock"/>
              <a:cs typeface="Overlock"/>
              <a:sym typeface="Overlock"/>
            </a:endParaRPr>
          </a:p>
          <a:p>
            <a:pPr marL="1219170" lvl="1" indent="-423323">
              <a:lnSpc>
                <a:spcPct val="115000"/>
              </a:lnSpc>
              <a:buClr>
                <a:schemeClr val="dk2"/>
              </a:buClr>
              <a:buSzPct val="88888"/>
              <a:buFont typeface="Arial"/>
              <a:buChar char="•"/>
            </a:pPr>
            <a:r>
              <a:rPr lang="en-US" sz="2100" dirty="0">
                <a:ea typeface="Overlock"/>
                <a:cs typeface="Overlock"/>
                <a:sym typeface="Overlock"/>
              </a:rPr>
              <a:t>Randomness.</a:t>
            </a:r>
            <a:endParaRPr sz="2100" dirty="0">
              <a:ea typeface="Overlock"/>
              <a:cs typeface="Overlock"/>
              <a:sym typeface="Overlock"/>
            </a:endParaRPr>
          </a:p>
          <a:p>
            <a:pPr marL="1219170" lvl="1" indent="-423323">
              <a:lnSpc>
                <a:spcPct val="115000"/>
              </a:lnSpc>
              <a:buClr>
                <a:schemeClr val="dk2"/>
              </a:buClr>
              <a:buSzPct val="88888"/>
              <a:buFont typeface="Arial"/>
              <a:buChar char="•"/>
            </a:pPr>
            <a:r>
              <a:rPr lang="en-US" sz="2100" dirty="0" err="1">
                <a:ea typeface="Overlock"/>
                <a:cs typeface="Overlock"/>
                <a:sym typeface="Overlock"/>
              </a:rPr>
              <a:t>Membutuhkan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memori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besar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untuk</a:t>
            </a:r>
            <a:r>
              <a:rPr lang="en-US" sz="2100" dirty="0">
                <a:ea typeface="Overlock"/>
                <a:cs typeface="Overlock"/>
                <a:sym typeface="Overlock"/>
              </a:rPr>
              <a:t> deployment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karena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perlu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untuk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menyimpan</a:t>
            </a:r>
            <a:r>
              <a:rPr lang="en-US" sz="2100" dirty="0">
                <a:ea typeface="Overlock"/>
                <a:cs typeface="Overlock"/>
                <a:sym typeface="Overlock"/>
              </a:rPr>
              <a:t> data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latih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yg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asli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untuk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ekstraksi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nilai</a:t>
            </a:r>
            <a:r>
              <a:rPr lang="en-US" sz="2100" dirty="0">
                <a:ea typeface="Overlock"/>
                <a:cs typeface="Overlock"/>
                <a:sym typeface="Overlock"/>
              </a:rPr>
              <a:t>.</a:t>
            </a:r>
            <a:endParaRPr sz="2100" dirty="0">
              <a:ea typeface="Overlock"/>
              <a:cs typeface="Overlock"/>
              <a:sym typeface="Overlock"/>
            </a:endParaRPr>
          </a:p>
        </p:txBody>
      </p:sp>
      <p:pic>
        <p:nvPicPr>
          <p:cNvPr id="386" name="Google Shape;386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64637" y="2710245"/>
            <a:ext cx="5011767" cy="20630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rgbClr val="0F3570"/>
              </a:buClr>
              <a:buSzPct val="115226"/>
            </a:pPr>
            <a:r>
              <a:rPr lang="en-US" dirty="0" err="1">
                <a:solidFill>
                  <a:srgbClr val="0F3570"/>
                </a:solidFill>
                <a:ea typeface="Overlock"/>
                <a:sym typeface="Overlock"/>
              </a:rPr>
              <a:t>Imputasi</a:t>
            </a:r>
            <a:r>
              <a:rPr lang="en-US" dirty="0">
                <a:solidFill>
                  <a:srgbClr val="0F3570"/>
                </a:solidFill>
                <a:ea typeface="Overlock"/>
                <a:sym typeface="Overlock"/>
              </a:rPr>
              <a:t> Nilai Nol/</a:t>
            </a:r>
            <a:r>
              <a:rPr lang="en-US" dirty="0" err="1">
                <a:solidFill>
                  <a:srgbClr val="0F3570"/>
                </a:solidFill>
                <a:ea typeface="Overlock"/>
                <a:sym typeface="Overlock"/>
              </a:rPr>
              <a:t>Konstanta</a:t>
            </a:r>
            <a:endParaRPr dirty="0"/>
          </a:p>
        </p:txBody>
      </p:sp>
      <p:sp>
        <p:nvSpPr>
          <p:cNvPr id="424" name="Google Shape;424;p30"/>
          <p:cNvSpPr txBox="1">
            <a:spLocks noGrp="1"/>
          </p:cNvSpPr>
          <p:nvPr>
            <p:ph type="sldNum" idx="4294967295"/>
          </p:nvPr>
        </p:nvSpPr>
        <p:spPr>
          <a:xfrm>
            <a:off x="11461750" y="6215063"/>
            <a:ext cx="730250" cy="52228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pPr>
              <a:buClr>
                <a:srgbClr val="000000"/>
              </a:buClr>
              <a:buSzPts val="1000"/>
            </a:pPr>
            <a:fld id="{00000000-1234-1234-1234-123412341234}" type="slidenum">
              <a:rPr lang="en-US"/>
              <a:pPr>
                <a:buClr>
                  <a:srgbClr val="000000"/>
                </a:buClr>
                <a:buSzPts val="1000"/>
              </a:pPr>
              <a:t>18</a:t>
            </a:fld>
            <a:endParaRPr/>
          </a:p>
        </p:txBody>
      </p:sp>
      <p:sp>
        <p:nvSpPr>
          <p:cNvPr id="425" name="Google Shape;425;p30"/>
          <p:cNvSpPr txBox="1"/>
          <p:nvPr/>
        </p:nvSpPr>
        <p:spPr>
          <a:xfrm>
            <a:off x="415602" y="1511747"/>
            <a:ext cx="6001652" cy="3257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609585" indent="-457189">
              <a:lnSpc>
                <a:spcPct val="115000"/>
              </a:lnSpc>
              <a:buClr>
                <a:schemeClr val="dk2"/>
              </a:buClr>
              <a:buSzPts val="1600"/>
              <a:buFont typeface="Arial"/>
              <a:buChar char="●"/>
            </a:pPr>
            <a:r>
              <a:rPr lang="en-US" sz="2400" dirty="0">
                <a:ea typeface="Overlock"/>
                <a:cs typeface="Segoe UI Light" panose="020B0502040204020203" pitchFamily="34" charset="0"/>
                <a:sym typeface="Overlock"/>
              </a:rPr>
              <a:t>Pro:</a:t>
            </a:r>
            <a:endParaRPr sz="2800" dirty="0">
              <a:cs typeface="Segoe UI Light" panose="020B0502040204020203" pitchFamily="34" charset="0"/>
            </a:endParaRPr>
          </a:p>
          <a:p>
            <a:pPr marL="1219170" lvl="1" indent="-423323">
              <a:lnSpc>
                <a:spcPct val="115000"/>
              </a:lnSpc>
              <a:buClr>
                <a:schemeClr val="dk2"/>
              </a:buClr>
              <a:buSzPts val="1400"/>
              <a:buFont typeface="Arial"/>
              <a:buChar char="○"/>
            </a:pPr>
            <a:r>
              <a:rPr lang="en-US" sz="2400" dirty="0" err="1">
                <a:ea typeface="Overlock"/>
                <a:cs typeface="Segoe UI Light" panose="020B0502040204020203" pitchFamily="34" charset="0"/>
                <a:sym typeface="Overlock"/>
              </a:rPr>
              <a:t>Cocok</a:t>
            </a:r>
            <a:r>
              <a:rPr lang="en-US" sz="2400" dirty="0">
                <a:ea typeface="Overlock"/>
                <a:cs typeface="Segoe UI Light" panose="020B0502040204020203" pitchFamily="34" charset="0"/>
                <a:sym typeface="Overlock"/>
              </a:rPr>
              <a:t> </a:t>
            </a:r>
            <a:r>
              <a:rPr lang="en-US" sz="2400" dirty="0" err="1">
                <a:ea typeface="Overlock"/>
                <a:cs typeface="Segoe UI Light" panose="020B0502040204020203" pitchFamily="34" charset="0"/>
                <a:sym typeface="Overlock"/>
              </a:rPr>
              <a:t>untuk</a:t>
            </a:r>
            <a:r>
              <a:rPr lang="en-US" sz="2400" dirty="0">
                <a:ea typeface="Overlock"/>
                <a:cs typeface="Segoe UI Light" panose="020B0502040204020203" pitchFamily="34" charset="0"/>
                <a:sym typeface="Overlock"/>
              </a:rPr>
              <a:t> </a:t>
            </a:r>
            <a:r>
              <a:rPr lang="en-US" sz="2400" dirty="0" err="1">
                <a:ea typeface="Overlock"/>
                <a:cs typeface="Segoe UI Light" panose="020B0502040204020203" pitchFamily="34" charset="0"/>
                <a:sym typeface="Overlock"/>
              </a:rPr>
              <a:t>variabel</a:t>
            </a:r>
            <a:r>
              <a:rPr lang="en-US" sz="2400" dirty="0">
                <a:ea typeface="Overlock"/>
                <a:cs typeface="Segoe UI Light" panose="020B0502040204020203" pitchFamily="34" charset="0"/>
                <a:sym typeface="Overlock"/>
              </a:rPr>
              <a:t> </a:t>
            </a:r>
            <a:r>
              <a:rPr lang="en-US" sz="2400" dirty="0" err="1">
                <a:ea typeface="Overlock"/>
                <a:cs typeface="Segoe UI Light" panose="020B0502040204020203" pitchFamily="34" charset="0"/>
                <a:sym typeface="Overlock"/>
              </a:rPr>
              <a:t>kategorik</a:t>
            </a:r>
            <a:r>
              <a:rPr lang="en-US" sz="2400" dirty="0">
                <a:ea typeface="Overlock"/>
                <a:cs typeface="Segoe UI Light" panose="020B0502040204020203" pitchFamily="34" charset="0"/>
                <a:sym typeface="Overlock"/>
              </a:rPr>
              <a:t>.</a:t>
            </a:r>
            <a:endParaRPr sz="2800" dirty="0">
              <a:cs typeface="Segoe UI Light" panose="020B0502040204020203" pitchFamily="34" charset="0"/>
            </a:endParaRPr>
          </a:p>
          <a:p>
            <a:pPr marL="609585" indent="-457189">
              <a:lnSpc>
                <a:spcPct val="115000"/>
              </a:lnSpc>
              <a:buClr>
                <a:schemeClr val="dk2"/>
              </a:buClr>
              <a:buSzPts val="1600"/>
              <a:buFont typeface="Arial"/>
              <a:buChar char="●"/>
            </a:pPr>
            <a:r>
              <a:rPr lang="en-US" sz="2400" dirty="0">
                <a:ea typeface="Overlock"/>
                <a:cs typeface="Segoe UI Light" panose="020B0502040204020203" pitchFamily="34" charset="0"/>
                <a:sym typeface="Overlock"/>
              </a:rPr>
              <a:t>Kontra:</a:t>
            </a:r>
            <a:endParaRPr sz="2800" dirty="0">
              <a:cs typeface="Segoe UI Light" panose="020B0502040204020203" pitchFamily="34" charset="0"/>
            </a:endParaRPr>
          </a:p>
          <a:p>
            <a:pPr marL="1219170" lvl="1" indent="-423323">
              <a:lnSpc>
                <a:spcPct val="115000"/>
              </a:lnSpc>
              <a:buClr>
                <a:schemeClr val="dk2"/>
              </a:buClr>
              <a:buSzPts val="1400"/>
              <a:buFont typeface="Arial"/>
              <a:buChar char="○"/>
            </a:pPr>
            <a:r>
              <a:rPr lang="en-US" sz="2400" dirty="0">
                <a:ea typeface="Overlock"/>
                <a:cs typeface="Segoe UI Light" panose="020B0502040204020203" pitchFamily="34" charset="0"/>
                <a:sym typeface="Overlock"/>
              </a:rPr>
              <a:t>Tidak </a:t>
            </a:r>
            <a:r>
              <a:rPr lang="en-US" sz="2400" dirty="0" err="1">
                <a:ea typeface="Overlock"/>
                <a:cs typeface="Segoe UI Light" panose="020B0502040204020203" pitchFamily="34" charset="0"/>
                <a:sym typeface="Overlock"/>
              </a:rPr>
              <a:t>memperhitungkan</a:t>
            </a:r>
            <a:r>
              <a:rPr lang="en-US" sz="2400" dirty="0">
                <a:ea typeface="Overlock"/>
                <a:cs typeface="Segoe UI Light" panose="020B0502040204020203" pitchFamily="34" charset="0"/>
                <a:sym typeface="Overlock"/>
              </a:rPr>
              <a:t> </a:t>
            </a:r>
            <a:r>
              <a:rPr lang="en-US" sz="2400" dirty="0" err="1">
                <a:ea typeface="Overlock"/>
                <a:cs typeface="Segoe UI Light" panose="020B0502040204020203" pitchFamily="34" charset="0"/>
                <a:sym typeface="Overlock"/>
              </a:rPr>
              <a:t>korelasi</a:t>
            </a:r>
            <a:r>
              <a:rPr lang="en-US" sz="2400" dirty="0">
                <a:ea typeface="Overlock"/>
                <a:cs typeface="Segoe UI Light" panose="020B0502040204020203" pitchFamily="34" charset="0"/>
                <a:sym typeface="Overlock"/>
              </a:rPr>
              <a:t> </a:t>
            </a:r>
            <a:r>
              <a:rPr lang="en-US" sz="2400" dirty="0" err="1">
                <a:ea typeface="Overlock"/>
                <a:cs typeface="Segoe UI Light" panose="020B0502040204020203" pitchFamily="34" charset="0"/>
                <a:sym typeface="Overlock"/>
              </a:rPr>
              <a:t>antar</a:t>
            </a:r>
            <a:r>
              <a:rPr lang="en-US" sz="2400" dirty="0">
                <a:ea typeface="Overlock"/>
                <a:cs typeface="Segoe UI Light" panose="020B0502040204020203" pitchFamily="34" charset="0"/>
                <a:sym typeface="Overlock"/>
              </a:rPr>
              <a:t> </a:t>
            </a:r>
            <a:r>
              <a:rPr lang="en-US" sz="2400" dirty="0" err="1">
                <a:ea typeface="Overlock"/>
                <a:cs typeface="Segoe UI Light" panose="020B0502040204020203" pitchFamily="34" charset="0"/>
                <a:sym typeface="Overlock"/>
              </a:rPr>
              <a:t>fitur</a:t>
            </a:r>
            <a:r>
              <a:rPr lang="en-US" sz="2400" dirty="0">
                <a:ea typeface="Overlock"/>
                <a:cs typeface="Segoe UI Light" panose="020B0502040204020203" pitchFamily="34" charset="0"/>
                <a:sym typeface="Overlock"/>
              </a:rPr>
              <a:t>.</a:t>
            </a:r>
            <a:endParaRPr sz="2800" dirty="0">
              <a:cs typeface="Segoe UI Light" panose="020B0502040204020203" pitchFamily="34" charset="0"/>
            </a:endParaRPr>
          </a:p>
          <a:p>
            <a:pPr marL="1219170" lvl="1" indent="-423323">
              <a:lnSpc>
                <a:spcPct val="115000"/>
              </a:lnSpc>
              <a:buClr>
                <a:schemeClr val="dk2"/>
              </a:buClr>
              <a:buSzPts val="1400"/>
              <a:buFont typeface="Arial"/>
              <a:buChar char="○"/>
            </a:pPr>
            <a:r>
              <a:rPr lang="en-US" sz="2400" dirty="0" err="1">
                <a:ea typeface="Overlock"/>
                <a:cs typeface="Segoe UI Light" panose="020B0502040204020203" pitchFamily="34" charset="0"/>
                <a:sym typeface="Overlock"/>
              </a:rPr>
              <a:t>Memunculkan</a:t>
            </a:r>
            <a:r>
              <a:rPr lang="en-US" sz="2400" dirty="0">
                <a:ea typeface="Overlock"/>
                <a:cs typeface="Segoe UI Light" panose="020B0502040204020203" pitchFamily="34" charset="0"/>
                <a:sym typeface="Overlock"/>
              </a:rPr>
              <a:t> bias </a:t>
            </a:r>
            <a:r>
              <a:rPr lang="en-US" sz="2400" dirty="0" err="1">
                <a:ea typeface="Overlock"/>
                <a:cs typeface="Segoe UI Light" panose="020B0502040204020203" pitchFamily="34" charset="0"/>
                <a:sym typeface="Overlock"/>
              </a:rPr>
              <a:t>dalam</a:t>
            </a:r>
            <a:r>
              <a:rPr lang="en-US" sz="2400" dirty="0">
                <a:ea typeface="Overlock"/>
                <a:cs typeface="Segoe UI Light" panose="020B0502040204020203" pitchFamily="34" charset="0"/>
                <a:sym typeface="Overlock"/>
              </a:rPr>
              <a:t> data.</a:t>
            </a:r>
            <a:endParaRPr sz="2800" dirty="0">
              <a:cs typeface="Segoe UI Light" panose="020B0502040204020203" pitchFamily="34" charset="0"/>
            </a:endParaRPr>
          </a:p>
        </p:txBody>
      </p:sp>
      <p:pic>
        <p:nvPicPr>
          <p:cNvPr id="426" name="Google Shape;426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90094" y="2431738"/>
            <a:ext cx="5086305" cy="1417495"/>
          </a:xfrm>
          <a:prstGeom prst="rect">
            <a:avLst/>
          </a:prstGeom>
          <a:noFill/>
          <a:ln w="28575" cap="flat" cmpd="sng">
            <a:solidFill>
              <a:srgbClr val="00B0F0"/>
            </a:solidFill>
            <a:prstDash val="dashDot"/>
            <a:round/>
            <a:headEnd type="none" w="sm" len="sm"/>
            <a:tailEnd type="none" w="sm" len="sm"/>
          </a:ln>
        </p:spPr>
      </p:pic>
      <p:sp>
        <p:nvSpPr>
          <p:cNvPr id="427" name="Google Shape;427;p30"/>
          <p:cNvSpPr txBox="1"/>
          <p:nvPr/>
        </p:nvSpPr>
        <p:spPr>
          <a:xfrm>
            <a:off x="6815590" y="6101228"/>
            <a:ext cx="4745317" cy="431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US" sz="667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rPr>
              <a:t>sumber gbr: </a:t>
            </a:r>
            <a:endParaRPr sz="2400"/>
          </a:p>
          <a:p>
            <a:r>
              <a:rPr lang="en-US" sz="667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rPr>
              <a:t>https://towardsdatascience.com/6-different-ways-to-compensate-for-missing-values-data-imputation-with-examples-6022d9ca0779</a:t>
            </a:r>
            <a:endParaRPr sz="2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rgbClr val="0F3570"/>
              </a:buClr>
              <a:buSzPct val="115226"/>
            </a:pPr>
            <a:r>
              <a:rPr lang="en-US" dirty="0" err="1">
                <a:solidFill>
                  <a:srgbClr val="0F3570"/>
                </a:solidFill>
                <a:ea typeface="Overlock"/>
                <a:sym typeface="Overlock"/>
              </a:rPr>
              <a:t>Imputasi</a:t>
            </a:r>
            <a:r>
              <a:rPr lang="en-US" dirty="0">
                <a:solidFill>
                  <a:srgbClr val="0F3570"/>
                </a:solidFill>
                <a:ea typeface="Overlock"/>
                <a:sym typeface="Overlock"/>
              </a:rPr>
              <a:t> </a:t>
            </a:r>
            <a:r>
              <a:rPr lang="en-US" dirty="0" err="1">
                <a:solidFill>
                  <a:srgbClr val="0F3570"/>
                </a:solidFill>
                <a:ea typeface="Overlock"/>
                <a:sym typeface="Overlock"/>
              </a:rPr>
              <a:t>dengan</a:t>
            </a:r>
            <a:r>
              <a:rPr lang="en-US" dirty="0">
                <a:solidFill>
                  <a:srgbClr val="0F3570"/>
                </a:solidFill>
                <a:ea typeface="Overlock"/>
                <a:sym typeface="Overlock"/>
              </a:rPr>
              <a:t> K-NN </a:t>
            </a:r>
            <a:endParaRPr dirty="0"/>
          </a:p>
        </p:txBody>
      </p:sp>
      <p:sp>
        <p:nvSpPr>
          <p:cNvPr id="449" name="Google Shape;449;p32"/>
          <p:cNvSpPr txBox="1">
            <a:spLocks noGrp="1"/>
          </p:cNvSpPr>
          <p:nvPr>
            <p:ph type="sldNum" idx="4294967295"/>
          </p:nvPr>
        </p:nvSpPr>
        <p:spPr>
          <a:xfrm>
            <a:off x="11461750" y="6215063"/>
            <a:ext cx="730250" cy="52228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pPr>
              <a:buClr>
                <a:srgbClr val="000000"/>
              </a:buClr>
              <a:buSzPts val="1000"/>
            </a:pPr>
            <a:fld id="{00000000-1234-1234-1234-123412341234}" type="slidenum">
              <a:rPr lang="en-US"/>
              <a:pPr>
                <a:buClr>
                  <a:srgbClr val="000000"/>
                </a:buClr>
                <a:buSzPts val="1000"/>
              </a:pPr>
              <a:t>19</a:t>
            </a:fld>
            <a:endParaRPr/>
          </a:p>
        </p:txBody>
      </p:sp>
      <p:pic>
        <p:nvPicPr>
          <p:cNvPr id="450" name="Google Shape;450;p32" descr="knn imputasi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89058" y="1483745"/>
            <a:ext cx="5187343" cy="3890507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32"/>
          <p:cNvSpPr txBox="1"/>
          <p:nvPr/>
        </p:nvSpPr>
        <p:spPr>
          <a:xfrm>
            <a:off x="415601" y="1507423"/>
            <a:ext cx="5343696" cy="3843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lnSpcReduction="10000"/>
          </a:bodyPr>
          <a:lstStyle/>
          <a:p>
            <a:pPr marL="609585" indent="-457189">
              <a:lnSpc>
                <a:spcPct val="115000"/>
              </a:lnSpc>
              <a:buClr>
                <a:schemeClr val="dk2"/>
              </a:buClr>
              <a:buSzPts val="1600"/>
              <a:buFont typeface="Arial"/>
              <a:buChar char="●"/>
            </a:pPr>
            <a:r>
              <a:rPr lang="en-US" sz="2133" dirty="0">
                <a:ea typeface="Overlock"/>
                <a:cs typeface="Overlock"/>
                <a:sym typeface="Overlock"/>
              </a:rPr>
              <a:t>Pro:</a:t>
            </a:r>
            <a:endParaRPr sz="2400" dirty="0"/>
          </a:p>
          <a:p>
            <a:pPr marL="1219170" lvl="1" indent="-423323">
              <a:lnSpc>
                <a:spcPct val="115000"/>
              </a:lnSpc>
              <a:buClr>
                <a:schemeClr val="dk2"/>
              </a:buClr>
              <a:buSzPts val="1400"/>
              <a:buFont typeface="Arial"/>
              <a:buChar char="•"/>
            </a:pPr>
            <a:r>
              <a:rPr lang="en-US" sz="2133" dirty="0" err="1">
                <a:ea typeface="Overlock"/>
                <a:cs typeface="Overlock"/>
                <a:sym typeface="Overlock"/>
              </a:rPr>
              <a:t>Lebih</a:t>
            </a:r>
            <a:r>
              <a:rPr lang="en-US" sz="2133" dirty="0">
                <a:ea typeface="Overlock"/>
                <a:cs typeface="Overlock"/>
                <a:sym typeface="Overlock"/>
              </a:rPr>
              <a:t>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akurat</a:t>
            </a:r>
            <a:r>
              <a:rPr lang="en-US" sz="2133" dirty="0">
                <a:ea typeface="Overlock"/>
                <a:cs typeface="Overlock"/>
                <a:sym typeface="Overlock"/>
              </a:rPr>
              <a:t> vs </a:t>
            </a:r>
            <a:r>
              <a:rPr lang="en-US" sz="2133" i="1" dirty="0">
                <a:ea typeface="Overlock"/>
                <a:cs typeface="Overlock"/>
                <a:sym typeface="Overlock"/>
              </a:rPr>
              <a:t>mean/median/most frequent.</a:t>
            </a:r>
            <a:endParaRPr sz="2133" dirty="0">
              <a:ea typeface="Overlock"/>
              <a:cs typeface="Overlock"/>
              <a:sym typeface="Overlock"/>
            </a:endParaRPr>
          </a:p>
          <a:p>
            <a:pPr marL="609585" indent="-457189">
              <a:lnSpc>
                <a:spcPct val="115000"/>
              </a:lnSpc>
              <a:buClr>
                <a:schemeClr val="dk2"/>
              </a:buClr>
              <a:buSzPts val="1600"/>
              <a:buFont typeface="Arial"/>
              <a:buChar char="●"/>
            </a:pPr>
            <a:r>
              <a:rPr lang="en-US" sz="2133" dirty="0">
                <a:ea typeface="Overlock"/>
                <a:cs typeface="Overlock"/>
                <a:sym typeface="Overlock"/>
              </a:rPr>
              <a:t>Kontra:</a:t>
            </a:r>
            <a:endParaRPr sz="2400" dirty="0"/>
          </a:p>
          <a:p>
            <a:pPr marL="1219170" lvl="1" indent="-423323">
              <a:lnSpc>
                <a:spcPct val="115000"/>
              </a:lnSpc>
              <a:buClr>
                <a:schemeClr val="dk2"/>
              </a:buClr>
              <a:buSzPts val="1400"/>
              <a:buFont typeface="Arial"/>
              <a:buChar char="•"/>
            </a:pPr>
            <a:r>
              <a:rPr lang="en-US" sz="2133" dirty="0" err="1">
                <a:ea typeface="Overlock"/>
                <a:cs typeface="Overlock"/>
                <a:sym typeface="Overlock"/>
              </a:rPr>
              <a:t>Biaya</a:t>
            </a:r>
            <a:r>
              <a:rPr lang="en-US" sz="2133" dirty="0">
                <a:ea typeface="Overlock"/>
                <a:cs typeface="Overlock"/>
                <a:sym typeface="Overlock"/>
              </a:rPr>
              <a:t>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komputasi</a:t>
            </a:r>
            <a:r>
              <a:rPr lang="en-US" sz="2133" dirty="0">
                <a:ea typeface="Overlock"/>
                <a:cs typeface="Overlock"/>
                <a:sym typeface="Overlock"/>
              </a:rPr>
              <a:t> mahal (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karena</a:t>
            </a:r>
            <a:r>
              <a:rPr lang="en-US" sz="2133" dirty="0">
                <a:ea typeface="Overlock"/>
                <a:cs typeface="Overlock"/>
                <a:sym typeface="Overlock"/>
              </a:rPr>
              <a:t> KNN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bekerja</a:t>
            </a:r>
            <a:r>
              <a:rPr lang="en-US" sz="2133" dirty="0">
                <a:ea typeface="Overlock"/>
                <a:cs typeface="Overlock"/>
                <a:sym typeface="Overlock"/>
              </a:rPr>
              <a:t>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dengan</a:t>
            </a:r>
            <a:r>
              <a:rPr lang="en-US" sz="2133" dirty="0">
                <a:ea typeface="Overlock"/>
                <a:cs typeface="Overlock"/>
                <a:sym typeface="Overlock"/>
              </a:rPr>
              <a:t>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menyimpan</a:t>
            </a:r>
            <a:r>
              <a:rPr lang="en-US" sz="2133" dirty="0">
                <a:ea typeface="Overlock"/>
                <a:cs typeface="Overlock"/>
                <a:sym typeface="Overlock"/>
              </a:rPr>
              <a:t>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seluruh</a:t>
            </a:r>
            <a:r>
              <a:rPr lang="en-US" sz="2133" dirty="0">
                <a:ea typeface="Overlock"/>
                <a:cs typeface="Overlock"/>
                <a:sym typeface="Overlock"/>
              </a:rPr>
              <a:t> dataset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pelatihan</a:t>
            </a:r>
            <a:r>
              <a:rPr lang="en-US" sz="2133" dirty="0">
                <a:ea typeface="Overlock"/>
                <a:cs typeface="Overlock"/>
                <a:sym typeface="Overlock"/>
              </a:rPr>
              <a:t>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dalam</a:t>
            </a:r>
            <a:r>
              <a:rPr lang="en-US" sz="2133" dirty="0">
                <a:ea typeface="Overlock"/>
                <a:cs typeface="Overlock"/>
                <a:sym typeface="Overlock"/>
              </a:rPr>
              <a:t>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memori</a:t>
            </a:r>
            <a:r>
              <a:rPr lang="en-US" sz="2133" dirty="0">
                <a:ea typeface="Overlock"/>
                <a:cs typeface="Overlock"/>
                <a:sym typeface="Overlock"/>
              </a:rPr>
              <a:t>).</a:t>
            </a:r>
            <a:endParaRPr sz="2400" dirty="0"/>
          </a:p>
          <a:p>
            <a:pPr marL="1219170" lvl="1" indent="-423323">
              <a:lnSpc>
                <a:spcPct val="115000"/>
              </a:lnSpc>
              <a:buClr>
                <a:schemeClr val="dk2"/>
              </a:buClr>
              <a:buSzPts val="1400"/>
              <a:buFont typeface="Arial"/>
              <a:buChar char="•"/>
            </a:pPr>
            <a:r>
              <a:rPr lang="en-US" sz="2133" dirty="0" err="1">
                <a:ea typeface="Overlock"/>
                <a:cs typeface="Overlock"/>
                <a:sym typeface="Overlock"/>
              </a:rPr>
              <a:t>Sensitif</a:t>
            </a:r>
            <a:r>
              <a:rPr lang="en-US" sz="2133" dirty="0">
                <a:ea typeface="Overlock"/>
                <a:cs typeface="Overlock"/>
                <a:sym typeface="Overlock"/>
              </a:rPr>
              <a:t>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terhadap</a:t>
            </a:r>
            <a:r>
              <a:rPr lang="en-US" sz="2133" dirty="0">
                <a:ea typeface="Overlock"/>
                <a:cs typeface="Overlock"/>
                <a:sym typeface="Overlock"/>
              </a:rPr>
              <a:t> outlier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dalam</a:t>
            </a:r>
            <a:r>
              <a:rPr lang="en-US" sz="2133" dirty="0">
                <a:ea typeface="Overlock"/>
                <a:cs typeface="Overlock"/>
                <a:sym typeface="Overlock"/>
              </a:rPr>
              <a:t> data (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tidak</a:t>
            </a:r>
            <a:r>
              <a:rPr lang="en-US" sz="2133" dirty="0">
                <a:ea typeface="Overlock"/>
                <a:cs typeface="Overlock"/>
                <a:sym typeface="Overlock"/>
              </a:rPr>
              <a:t>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seperti</a:t>
            </a:r>
            <a:r>
              <a:rPr lang="en-US" sz="2133" dirty="0">
                <a:ea typeface="Overlock"/>
                <a:cs typeface="Overlock"/>
                <a:sym typeface="Overlock"/>
              </a:rPr>
              <a:t> SVM).</a:t>
            </a:r>
            <a:endParaRPr sz="2400" dirty="0"/>
          </a:p>
        </p:txBody>
      </p:sp>
      <p:sp>
        <p:nvSpPr>
          <p:cNvPr id="452" name="Google Shape;452;p32"/>
          <p:cNvSpPr txBox="1"/>
          <p:nvPr/>
        </p:nvSpPr>
        <p:spPr>
          <a:xfrm>
            <a:off x="7373471" y="6049191"/>
            <a:ext cx="3618517" cy="431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US" sz="667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sumber gbr: </a:t>
            </a:r>
            <a:endParaRPr sz="2400"/>
          </a:p>
          <a:p>
            <a:r>
              <a:rPr lang="en-US" sz="667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https://towardsdatascience.com/6-different-ways-to-compensate-for-missing-values-data-imputation-with-examples-6022d9ca0779</a:t>
            </a:r>
            <a:endParaRPr sz="2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rgbClr val="0F3570"/>
              </a:buClr>
              <a:buSzPct val="115226"/>
            </a:pPr>
            <a:r>
              <a:rPr lang="en-US" dirty="0" err="1">
                <a:solidFill>
                  <a:srgbClr val="0F3570"/>
                </a:solidFill>
                <a:ea typeface="Overlock"/>
                <a:sym typeface="Overlock"/>
              </a:rPr>
              <a:t>Imputasi</a:t>
            </a:r>
            <a:r>
              <a:rPr lang="en-US" dirty="0">
                <a:solidFill>
                  <a:srgbClr val="0F3570"/>
                </a:solidFill>
                <a:ea typeface="Overlock"/>
                <a:sym typeface="Overlock"/>
              </a:rPr>
              <a:t> </a:t>
            </a:r>
            <a:r>
              <a:rPr lang="en-US" dirty="0" err="1">
                <a:solidFill>
                  <a:srgbClr val="0F3570"/>
                </a:solidFill>
                <a:ea typeface="Overlock"/>
                <a:sym typeface="Overlock"/>
              </a:rPr>
              <a:t>Regresi</a:t>
            </a:r>
            <a:r>
              <a:rPr lang="en-US" dirty="0">
                <a:solidFill>
                  <a:srgbClr val="0F3570"/>
                </a:solidFill>
                <a:ea typeface="Overlock"/>
                <a:sym typeface="Overlock"/>
              </a:rPr>
              <a:t>: </a:t>
            </a:r>
            <a:r>
              <a:rPr lang="en-US" dirty="0" err="1">
                <a:solidFill>
                  <a:srgbClr val="0F3570"/>
                </a:solidFill>
                <a:ea typeface="Overlock"/>
                <a:sym typeface="Overlock"/>
              </a:rPr>
              <a:t>Deterministik</a:t>
            </a:r>
            <a:endParaRPr dirty="0">
              <a:solidFill>
                <a:srgbClr val="0F3570"/>
              </a:solidFill>
              <a:ea typeface="Overlock"/>
              <a:sym typeface="Overlock"/>
            </a:endParaRPr>
          </a:p>
        </p:txBody>
      </p:sp>
      <p:sp>
        <p:nvSpPr>
          <p:cNvPr id="458" name="Google Shape;458;p33"/>
          <p:cNvSpPr txBox="1">
            <a:spLocks noGrp="1"/>
          </p:cNvSpPr>
          <p:nvPr>
            <p:ph type="sldNum" idx="4294967295"/>
          </p:nvPr>
        </p:nvSpPr>
        <p:spPr>
          <a:xfrm>
            <a:off x="11461750" y="6215063"/>
            <a:ext cx="730250" cy="52228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pPr>
              <a:buClr>
                <a:srgbClr val="000000"/>
              </a:buClr>
              <a:buSzPts val="1000"/>
            </a:pPr>
            <a:fld id="{00000000-1234-1234-1234-123412341234}" type="slidenum">
              <a:rPr lang="en-US"/>
              <a:pPr>
                <a:buClr>
                  <a:srgbClr val="000000"/>
                </a:buClr>
                <a:buSzPts val="1000"/>
              </a:pPr>
              <a:t>20</a:t>
            </a:fld>
            <a:endParaRPr/>
          </a:p>
        </p:txBody>
      </p:sp>
      <p:sp>
        <p:nvSpPr>
          <p:cNvPr id="459" name="Google Shape;459;p33"/>
          <p:cNvSpPr txBox="1"/>
          <p:nvPr/>
        </p:nvSpPr>
        <p:spPr>
          <a:xfrm>
            <a:off x="415601" y="1531141"/>
            <a:ext cx="5680400" cy="4014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92500" lnSpcReduction="10000"/>
          </a:bodyPr>
          <a:lstStyle/>
          <a:p>
            <a:pPr marL="609585" indent="-457189">
              <a:lnSpc>
                <a:spcPct val="115000"/>
              </a:lnSpc>
              <a:buClr>
                <a:schemeClr val="dk2"/>
              </a:buClr>
              <a:buSzPts val="1600"/>
              <a:buFont typeface="Arial"/>
              <a:buChar char="●"/>
            </a:pPr>
            <a:r>
              <a:rPr lang="en-US" sz="2400" dirty="0" err="1">
                <a:ea typeface="Overlock"/>
                <a:cs typeface="Overlock"/>
                <a:sym typeface="Overlock"/>
              </a:rPr>
              <a:t>Deterministik</a:t>
            </a:r>
            <a:endParaRPr sz="2400" dirty="0">
              <a:ea typeface="Overlock"/>
              <a:cs typeface="Overlock"/>
              <a:sym typeface="Overlock"/>
            </a:endParaRPr>
          </a:p>
          <a:p>
            <a:pPr marL="1219170" lvl="1" indent="-423323">
              <a:lnSpc>
                <a:spcPct val="115000"/>
              </a:lnSpc>
              <a:buClr>
                <a:schemeClr val="dk2"/>
              </a:buClr>
              <a:buSzPts val="1400"/>
              <a:buFont typeface="Arial"/>
              <a:buChar char="•"/>
            </a:pPr>
            <a:r>
              <a:rPr lang="en-US" sz="2400" dirty="0" err="1">
                <a:ea typeface="Overlock"/>
                <a:cs typeface="Overlock"/>
                <a:sym typeface="Overlock"/>
              </a:rPr>
              <a:t>Mengganti</a:t>
            </a:r>
            <a:r>
              <a:rPr lang="en-US" sz="2400" dirty="0">
                <a:ea typeface="Overlock"/>
                <a:cs typeface="Overlock"/>
                <a:sym typeface="Overlock"/>
              </a:rPr>
              <a:t> missing value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dengan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prediksi</a:t>
            </a:r>
            <a:r>
              <a:rPr lang="en-US" sz="2400" dirty="0">
                <a:ea typeface="Overlock"/>
                <a:cs typeface="Overlock"/>
                <a:sym typeface="Overlock"/>
              </a:rPr>
              <a:t> yang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tepat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dari</a:t>
            </a:r>
            <a:r>
              <a:rPr lang="en-US" sz="2400" dirty="0">
                <a:ea typeface="Overlock"/>
                <a:cs typeface="Overlock"/>
                <a:sym typeface="Overlock"/>
              </a:rPr>
              <a:t> model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regresi</a:t>
            </a:r>
            <a:r>
              <a:rPr lang="en-US" sz="2400" dirty="0">
                <a:ea typeface="Overlock"/>
                <a:cs typeface="Overlock"/>
                <a:sym typeface="Overlock"/>
              </a:rPr>
              <a:t>.</a:t>
            </a:r>
            <a:endParaRPr sz="2800" dirty="0"/>
          </a:p>
          <a:p>
            <a:pPr marL="1219170" lvl="1" indent="-423323">
              <a:lnSpc>
                <a:spcPct val="115000"/>
              </a:lnSpc>
              <a:buClr>
                <a:schemeClr val="dk2"/>
              </a:buClr>
              <a:buSzPts val="1400"/>
              <a:buFont typeface="Arial"/>
              <a:buChar char="•"/>
            </a:pPr>
            <a:r>
              <a:rPr lang="en-US" sz="2400" dirty="0">
                <a:ea typeface="Overlock"/>
                <a:cs typeface="Overlock"/>
                <a:sym typeface="Overlock"/>
              </a:rPr>
              <a:t>Tidak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mempertimbangkan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variasi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acak</a:t>
            </a:r>
            <a:r>
              <a:rPr lang="en-US" sz="2400" dirty="0">
                <a:ea typeface="Overlock"/>
                <a:cs typeface="Overlock"/>
                <a:sym typeface="Overlock"/>
              </a:rPr>
              <a:t> di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sekitar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kemiringan</a:t>
            </a:r>
            <a:r>
              <a:rPr lang="en-US" sz="2400" dirty="0">
                <a:ea typeface="Overlock"/>
                <a:cs typeface="Overlock"/>
                <a:sym typeface="Overlock"/>
              </a:rPr>
              <a:t> (slope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regresi</a:t>
            </a:r>
            <a:r>
              <a:rPr lang="en-US" sz="2400" dirty="0">
                <a:ea typeface="Overlock"/>
                <a:cs typeface="Overlock"/>
                <a:sym typeface="Overlock"/>
              </a:rPr>
              <a:t>).</a:t>
            </a:r>
            <a:endParaRPr sz="2800" dirty="0"/>
          </a:p>
          <a:p>
            <a:pPr marL="1219170" lvl="1" indent="-423323">
              <a:lnSpc>
                <a:spcPct val="115000"/>
              </a:lnSpc>
              <a:buClr>
                <a:schemeClr val="dk2"/>
              </a:buClr>
              <a:buSzPts val="1400"/>
              <a:buFont typeface="Arial"/>
              <a:buChar char="•"/>
            </a:pPr>
            <a:r>
              <a:rPr lang="en-US" sz="2400" dirty="0">
                <a:ea typeface="Overlock"/>
                <a:cs typeface="Overlock"/>
                <a:sym typeface="Overlock"/>
              </a:rPr>
              <a:t>Nilai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imputasi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seringkali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terlalu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tepat</a:t>
            </a:r>
            <a:r>
              <a:rPr lang="en-US" sz="2400" dirty="0">
                <a:ea typeface="Overlock"/>
                <a:cs typeface="Overlock"/>
                <a:sym typeface="Overlock"/>
              </a:rPr>
              <a:t> (precise) dan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overestimasi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dari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korelasi</a:t>
            </a:r>
            <a:r>
              <a:rPr lang="en-US" sz="2400" dirty="0">
                <a:ea typeface="Overlock"/>
                <a:cs typeface="Overlock"/>
                <a:sym typeface="Overlock"/>
              </a:rPr>
              <a:t> X-Y.</a:t>
            </a:r>
            <a:endParaRPr sz="2800" dirty="0"/>
          </a:p>
        </p:txBody>
      </p:sp>
      <p:pic>
        <p:nvPicPr>
          <p:cNvPr id="460" name="Google Shape;460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15342" y="1531140"/>
            <a:ext cx="3339828" cy="4315481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3"/>
          <p:cNvSpPr txBox="1"/>
          <p:nvPr/>
        </p:nvSpPr>
        <p:spPr>
          <a:xfrm>
            <a:off x="7403689" y="6101228"/>
            <a:ext cx="2992700" cy="328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US" sz="667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sumber gbr: </a:t>
            </a:r>
            <a:endParaRPr sz="2400"/>
          </a:p>
          <a:p>
            <a:r>
              <a:rPr lang="en-US" sz="667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https://statisticsglobe.com/regression-imputation-stochastic-vs-deterministic/</a:t>
            </a:r>
            <a:endParaRPr sz="2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3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rgbClr val="0F3570"/>
              </a:buClr>
              <a:buSzPct val="115226"/>
            </a:pPr>
            <a:r>
              <a:rPr lang="en-US" dirty="0" err="1">
                <a:solidFill>
                  <a:srgbClr val="0F3570"/>
                </a:solidFill>
                <a:ea typeface="Overlock"/>
                <a:sym typeface="Overlock"/>
              </a:rPr>
              <a:t>Imputasi</a:t>
            </a:r>
            <a:r>
              <a:rPr lang="en-US" dirty="0">
                <a:solidFill>
                  <a:srgbClr val="0F3570"/>
                </a:solidFill>
                <a:ea typeface="Overlock"/>
                <a:sym typeface="Overlock"/>
              </a:rPr>
              <a:t> </a:t>
            </a:r>
            <a:r>
              <a:rPr lang="en-US" dirty="0" err="1">
                <a:solidFill>
                  <a:srgbClr val="0F3570"/>
                </a:solidFill>
                <a:ea typeface="Overlock"/>
                <a:sym typeface="Overlock"/>
              </a:rPr>
              <a:t>Regresi</a:t>
            </a:r>
            <a:r>
              <a:rPr lang="en-US" dirty="0">
                <a:solidFill>
                  <a:srgbClr val="0F3570"/>
                </a:solidFill>
                <a:ea typeface="Overlock"/>
                <a:sym typeface="Overlock"/>
              </a:rPr>
              <a:t>: </a:t>
            </a:r>
            <a:r>
              <a:rPr lang="en-US" dirty="0" err="1">
                <a:solidFill>
                  <a:srgbClr val="0F3570"/>
                </a:solidFill>
                <a:ea typeface="Overlock"/>
                <a:sym typeface="Overlock"/>
              </a:rPr>
              <a:t>Stokastik</a:t>
            </a:r>
            <a:endParaRPr dirty="0">
              <a:solidFill>
                <a:srgbClr val="0F3570"/>
              </a:solidFill>
              <a:ea typeface="Overlock"/>
              <a:sym typeface="Overlock"/>
            </a:endParaRPr>
          </a:p>
        </p:txBody>
      </p:sp>
      <p:sp>
        <p:nvSpPr>
          <p:cNvPr id="553" name="Google Shape;553;p38"/>
          <p:cNvSpPr txBox="1">
            <a:spLocks noGrp="1"/>
          </p:cNvSpPr>
          <p:nvPr>
            <p:ph idx="1"/>
          </p:nvPr>
        </p:nvSpPr>
        <p:spPr>
          <a:xfrm>
            <a:off x="838200" y="1176532"/>
            <a:ext cx="6008370" cy="500043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609570" indent="-457177">
              <a:lnSpc>
                <a:spcPct val="115000"/>
              </a:lnSpc>
              <a:buClr>
                <a:srgbClr val="0F3570"/>
              </a:buClr>
              <a:buSzPts val="1600"/>
              <a:buChar char="●"/>
            </a:pPr>
            <a:r>
              <a:rPr lang="en-US" sz="2400" dirty="0" err="1">
                <a:ea typeface="Overlock"/>
                <a:cs typeface="Overlock"/>
                <a:sym typeface="Overlock"/>
              </a:rPr>
              <a:t>Stokastik</a:t>
            </a:r>
            <a:endParaRPr sz="2400" dirty="0">
              <a:ea typeface="Overlock"/>
              <a:cs typeface="Overlock"/>
              <a:sym typeface="Overlock"/>
            </a:endParaRPr>
          </a:p>
          <a:p>
            <a:pPr marL="1219139" lvl="1" indent="-423312">
              <a:lnSpc>
                <a:spcPct val="115000"/>
              </a:lnSpc>
              <a:buClr>
                <a:srgbClr val="0F3570"/>
              </a:buClr>
              <a:buFont typeface="Arial"/>
              <a:buChar char="•"/>
            </a:pPr>
            <a:r>
              <a:rPr lang="en-US" dirty="0" err="1">
                <a:ea typeface="Overlock"/>
                <a:cs typeface="Overlock"/>
                <a:sym typeface="Overlock"/>
              </a:rPr>
              <a:t>Mengatasi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masalah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dalam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imputasi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regresi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deterministik</a:t>
            </a:r>
            <a:r>
              <a:rPr lang="en-US" dirty="0">
                <a:ea typeface="Overlock"/>
                <a:cs typeface="Overlock"/>
                <a:sym typeface="Overlock"/>
              </a:rPr>
              <a:t>.</a:t>
            </a:r>
            <a:endParaRPr sz="2800" dirty="0"/>
          </a:p>
          <a:p>
            <a:pPr marL="1219139" lvl="1" indent="-423312">
              <a:lnSpc>
                <a:spcPct val="115000"/>
              </a:lnSpc>
              <a:buClr>
                <a:srgbClr val="0F3570"/>
              </a:buClr>
              <a:buFont typeface="Arial"/>
              <a:buChar char="•"/>
            </a:pPr>
            <a:r>
              <a:rPr lang="en-US" dirty="0" err="1">
                <a:ea typeface="Overlock"/>
                <a:cs typeface="Overlock"/>
                <a:sym typeface="Overlock"/>
              </a:rPr>
              <a:t>Menambahkan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fitur</a:t>
            </a:r>
            <a:r>
              <a:rPr lang="en-US" dirty="0">
                <a:ea typeface="Overlock"/>
                <a:cs typeface="Overlock"/>
                <a:sym typeface="Overlock"/>
              </a:rPr>
              <a:t> “random error” </a:t>
            </a:r>
            <a:r>
              <a:rPr lang="en-US" dirty="0" err="1">
                <a:ea typeface="Overlock"/>
                <a:cs typeface="Overlock"/>
                <a:sym typeface="Overlock"/>
              </a:rPr>
              <a:t>sehingga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reproduksi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korelasi</a:t>
            </a:r>
            <a:r>
              <a:rPr lang="en-US" dirty="0">
                <a:ea typeface="Overlock"/>
                <a:cs typeface="Overlock"/>
                <a:sym typeface="Overlock"/>
              </a:rPr>
              <a:t> X-Y </a:t>
            </a:r>
            <a:r>
              <a:rPr lang="en-US" dirty="0" err="1">
                <a:ea typeface="Overlock"/>
                <a:cs typeface="Overlock"/>
                <a:sym typeface="Overlock"/>
              </a:rPr>
              <a:t>lebih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tepat</a:t>
            </a:r>
            <a:r>
              <a:rPr lang="en-US" dirty="0">
                <a:ea typeface="Overlock"/>
                <a:cs typeface="Overlock"/>
                <a:sym typeface="Overlock"/>
              </a:rPr>
              <a:t>.</a:t>
            </a:r>
            <a:endParaRPr sz="2800" dirty="0"/>
          </a:p>
        </p:txBody>
      </p:sp>
      <p:sp>
        <p:nvSpPr>
          <p:cNvPr id="554" name="Google Shape;554;p38"/>
          <p:cNvSpPr txBox="1">
            <a:spLocks noGrp="1"/>
          </p:cNvSpPr>
          <p:nvPr>
            <p:ph type="sldNum" idx="4294967295"/>
          </p:nvPr>
        </p:nvSpPr>
        <p:spPr>
          <a:xfrm>
            <a:off x="11461750" y="6215063"/>
            <a:ext cx="730250" cy="52228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pPr>
              <a:buClr>
                <a:srgbClr val="000000"/>
              </a:buClr>
              <a:buSzPts val="1000"/>
            </a:pPr>
            <a:fld id="{00000000-1234-1234-1234-123412341234}" type="slidenum">
              <a:rPr lang="en-US"/>
              <a:pPr>
                <a:buClr>
                  <a:srgbClr val="000000"/>
                </a:buClr>
                <a:buSzPts val="1000"/>
              </a:pPr>
              <a:t>21</a:t>
            </a:fld>
            <a:endParaRPr/>
          </a:p>
        </p:txBody>
      </p:sp>
      <p:pic>
        <p:nvPicPr>
          <p:cNvPr id="555" name="Google Shape;555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21811" y="1630307"/>
            <a:ext cx="3389500" cy="4367855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38"/>
          <p:cNvSpPr txBox="1"/>
          <p:nvPr/>
        </p:nvSpPr>
        <p:spPr>
          <a:xfrm>
            <a:off x="7459831" y="6264635"/>
            <a:ext cx="2992700" cy="328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US" sz="667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sumber gbr: </a:t>
            </a:r>
            <a:endParaRPr sz="2400"/>
          </a:p>
          <a:p>
            <a:r>
              <a:rPr lang="en-US" sz="667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https://statisticsglobe.com/regression-imputation-stochastic-vs-deterministic/</a:t>
            </a:r>
            <a:endParaRPr sz="2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4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rgbClr val="0F3570"/>
              </a:buClr>
              <a:buSzPct val="115226"/>
            </a:pPr>
            <a:r>
              <a:rPr lang="en-US" dirty="0">
                <a:solidFill>
                  <a:srgbClr val="0F3570"/>
                </a:solidFill>
                <a:ea typeface="Overlock"/>
                <a:sym typeface="Overlock"/>
              </a:rPr>
              <a:t>Kesimpulan Teknik </a:t>
            </a:r>
            <a:r>
              <a:rPr lang="en-US" dirty="0" err="1">
                <a:solidFill>
                  <a:srgbClr val="0F3570"/>
                </a:solidFill>
                <a:ea typeface="Overlock"/>
                <a:sym typeface="Overlock"/>
              </a:rPr>
              <a:t>Imputasi</a:t>
            </a:r>
            <a:endParaRPr dirty="0"/>
          </a:p>
        </p:txBody>
      </p:sp>
      <p:sp>
        <p:nvSpPr>
          <p:cNvPr id="643" name="Google Shape;643;p4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609570" indent="-457177">
              <a:lnSpc>
                <a:spcPct val="115000"/>
              </a:lnSpc>
              <a:buClr>
                <a:srgbClr val="0F3570"/>
              </a:buClr>
              <a:buSzPts val="1680"/>
              <a:buChar char="●"/>
            </a:pPr>
            <a:r>
              <a:rPr lang="en-US" dirty="0">
                <a:ea typeface="Overlock"/>
                <a:cs typeface="Overlock"/>
                <a:sym typeface="Overlock"/>
              </a:rPr>
              <a:t>Dua </a:t>
            </a:r>
            <a:r>
              <a:rPr lang="en-US" dirty="0" err="1">
                <a:ea typeface="Overlock"/>
                <a:cs typeface="Overlock"/>
                <a:sym typeface="Overlock"/>
              </a:rPr>
              <a:t>kategori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imputasi</a:t>
            </a:r>
            <a:r>
              <a:rPr lang="en-US" dirty="0">
                <a:ea typeface="Overlock"/>
                <a:cs typeface="Overlock"/>
                <a:sym typeface="Overlock"/>
              </a:rPr>
              <a:t>:</a:t>
            </a:r>
            <a:endParaRPr dirty="0"/>
          </a:p>
          <a:p>
            <a:pPr marL="1219139" lvl="1" indent="-423312">
              <a:lnSpc>
                <a:spcPct val="115000"/>
              </a:lnSpc>
              <a:buClr>
                <a:srgbClr val="0F3570"/>
              </a:buClr>
              <a:buFont typeface="Arial"/>
              <a:buChar char="•"/>
            </a:pPr>
            <a:r>
              <a:rPr lang="en-US" sz="2800" dirty="0" err="1">
                <a:ea typeface="Overlock"/>
                <a:cs typeface="Overlock"/>
                <a:sym typeface="Overlock"/>
              </a:rPr>
              <a:t>Berdasarkan</a:t>
            </a:r>
            <a:r>
              <a:rPr lang="en-US" sz="2800" dirty="0">
                <a:ea typeface="Overlock"/>
                <a:cs typeface="Overlock"/>
                <a:sym typeface="Overlock"/>
              </a:rPr>
              <a:t> layer/</a:t>
            </a:r>
            <a:r>
              <a:rPr lang="en-US" sz="2800" dirty="0" err="1">
                <a:ea typeface="Overlock"/>
                <a:cs typeface="Overlock"/>
                <a:sym typeface="Overlock"/>
              </a:rPr>
              <a:t>tahapan</a:t>
            </a:r>
            <a:r>
              <a:rPr lang="en-US" sz="2800" dirty="0">
                <a:ea typeface="Overlock"/>
                <a:cs typeface="Overlock"/>
                <a:sym typeface="Overlock"/>
              </a:rPr>
              <a:t>: single imputation dan multiple imputation</a:t>
            </a:r>
            <a:endParaRPr sz="2800" dirty="0"/>
          </a:p>
          <a:p>
            <a:pPr marL="609570" indent="-457177">
              <a:lnSpc>
                <a:spcPct val="115000"/>
              </a:lnSpc>
              <a:buClr>
                <a:srgbClr val="0F3570"/>
              </a:buClr>
              <a:buSzPts val="1680"/>
              <a:buChar char="●"/>
            </a:pPr>
            <a:r>
              <a:rPr lang="en-US" dirty="0">
                <a:ea typeface="Overlock"/>
                <a:cs typeface="Overlock"/>
                <a:sym typeface="Overlock"/>
              </a:rPr>
              <a:t>Tidak </a:t>
            </a:r>
            <a:r>
              <a:rPr lang="en-US" dirty="0" err="1">
                <a:ea typeface="Overlock"/>
                <a:cs typeface="Overlock"/>
                <a:sym typeface="Overlock"/>
              </a:rPr>
              <a:t>ada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cara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sempurna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untuk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mengkompensasi</a:t>
            </a:r>
            <a:r>
              <a:rPr lang="en-US" dirty="0">
                <a:ea typeface="Overlock"/>
                <a:cs typeface="Overlock"/>
                <a:sym typeface="Overlock"/>
              </a:rPr>
              <a:t> missing value (</a:t>
            </a:r>
            <a:r>
              <a:rPr lang="en-US" dirty="0" err="1">
                <a:ea typeface="Overlock"/>
                <a:cs typeface="Overlock"/>
                <a:sym typeface="Overlock"/>
              </a:rPr>
              <a:t>nilai</a:t>
            </a:r>
            <a:r>
              <a:rPr lang="en-US" dirty="0">
                <a:ea typeface="Overlock"/>
                <a:cs typeface="Overlock"/>
                <a:sym typeface="Overlock"/>
              </a:rPr>
              <a:t> yang </a:t>
            </a:r>
            <a:r>
              <a:rPr lang="en-US" dirty="0" err="1">
                <a:ea typeface="Overlock"/>
                <a:cs typeface="Overlock"/>
                <a:sym typeface="Overlock"/>
              </a:rPr>
              <a:t>hilang</a:t>
            </a:r>
            <a:r>
              <a:rPr lang="en-US" dirty="0">
                <a:ea typeface="Overlock"/>
                <a:cs typeface="Overlock"/>
                <a:sym typeface="Overlock"/>
              </a:rPr>
              <a:t>) </a:t>
            </a:r>
            <a:r>
              <a:rPr lang="en-US" dirty="0" err="1">
                <a:ea typeface="Overlock"/>
                <a:cs typeface="Overlock"/>
                <a:sym typeface="Overlock"/>
              </a:rPr>
              <a:t>dalam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kumpulan</a:t>
            </a:r>
            <a:r>
              <a:rPr lang="en-US" dirty="0">
                <a:ea typeface="Overlock"/>
                <a:cs typeface="Overlock"/>
                <a:sym typeface="Overlock"/>
              </a:rPr>
              <a:t> data. </a:t>
            </a:r>
            <a:endParaRPr dirty="0"/>
          </a:p>
          <a:p>
            <a:pPr marL="609570" indent="-457177">
              <a:lnSpc>
                <a:spcPct val="115000"/>
              </a:lnSpc>
              <a:buClr>
                <a:srgbClr val="0F3570"/>
              </a:buClr>
              <a:buSzPts val="1680"/>
              <a:buChar char="●"/>
            </a:pPr>
            <a:r>
              <a:rPr lang="en-US" dirty="0" err="1">
                <a:ea typeface="Overlock"/>
                <a:cs typeface="Overlock"/>
                <a:sym typeface="Overlock"/>
              </a:rPr>
              <a:t>Setiap</a:t>
            </a:r>
            <a:r>
              <a:rPr lang="en-US" dirty="0">
                <a:ea typeface="Overlock"/>
                <a:cs typeface="Overlock"/>
                <a:sym typeface="Overlock"/>
              </a:rPr>
              <a:t> strategi </a:t>
            </a:r>
            <a:r>
              <a:rPr lang="en-US" dirty="0" err="1">
                <a:ea typeface="Overlock"/>
                <a:cs typeface="Overlock"/>
                <a:sym typeface="Overlock"/>
              </a:rPr>
              <a:t>memiliki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kinerja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lebih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baik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untuk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kumpulan</a:t>
            </a:r>
            <a:r>
              <a:rPr lang="en-US" dirty="0">
                <a:ea typeface="Overlock"/>
                <a:cs typeface="Overlock"/>
                <a:sym typeface="Overlock"/>
              </a:rPr>
              <a:t> data </a:t>
            </a:r>
            <a:r>
              <a:rPr lang="en-US" dirty="0" err="1">
                <a:ea typeface="Overlock"/>
                <a:cs typeface="Overlock"/>
                <a:sym typeface="Overlock"/>
              </a:rPr>
              <a:t>tertentu</a:t>
            </a:r>
            <a:r>
              <a:rPr lang="en-US" dirty="0">
                <a:ea typeface="Overlock"/>
                <a:cs typeface="Overlock"/>
                <a:sym typeface="Overlock"/>
              </a:rPr>
              <a:t> dan </a:t>
            </a:r>
            <a:r>
              <a:rPr lang="en-US" dirty="0" err="1">
                <a:ea typeface="Overlock"/>
                <a:cs typeface="Overlock"/>
                <a:sym typeface="Overlock"/>
              </a:rPr>
              <a:t>tipe</a:t>
            </a:r>
            <a:r>
              <a:rPr lang="en-US" dirty="0">
                <a:ea typeface="Overlock"/>
                <a:cs typeface="Overlock"/>
                <a:sym typeface="Overlock"/>
              </a:rPr>
              <a:t> data yang </a:t>
            </a:r>
            <a:r>
              <a:rPr lang="en-US" dirty="0" err="1">
                <a:ea typeface="Overlock"/>
                <a:cs typeface="Overlock"/>
                <a:sym typeface="Overlock"/>
              </a:rPr>
              <a:t>hilang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tetapi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dapat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berkinerja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jauh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lebih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buruk</a:t>
            </a:r>
            <a:r>
              <a:rPr lang="en-US" dirty="0">
                <a:ea typeface="Overlock"/>
                <a:cs typeface="Overlock"/>
                <a:sym typeface="Overlock"/>
              </a:rPr>
              <a:t> pada </a:t>
            </a:r>
            <a:r>
              <a:rPr lang="en-US" dirty="0" err="1">
                <a:ea typeface="Overlock"/>
                <a:cs typeface="Overlock"/>
                <a:sym typeface="Overlock"/>
              </a:rPr>
              <a:t>jenis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kumpulan</a:t>
            </a:r>
            <a:r>
              <a:rPr lang="en-US" dirty="0">
                <a:ea typeface="Overlock"/>
                <a:cs typeface="Overlock"/>
                <a:sym typeface="Overlock"/>
              </a:rPr>
              <a:t> data </a:t>
            </a:r>
            <a:r>
              <a:rPr lang="en-US" dirty="0" err="1">
                <a:ea typeface="Overlock"/>
                <a:cs typeface="Overlock"/>
                <a:sym typeface="Overlock"/>
              </a:rPr>
              <a:t>lainnya</a:t>
            </a:r>
            <a:r>
              <a:rPr lang="en-US" dirty="0">
                <a:ea typeface="Overlock"/>
                <a:cs typeface="Overlock"/>
                <a:sym typeface="Overlock"/>
              </a:rPr>
              <a:t>.</a:t>
            </a:r>
            <a:endParaRPr dirty="0"/>
          </a:p>
          <a:p>
            <a:pPr marL="609570" indent="-304779">
              <a:lnSpc>
                <a:spcPct val="115000"/>
              </a:lnSpc>
              <a:buSzPts val="1800"/>
            </a:pPr>
            <a:endParaRPr dirty="0">
              <a:ea typeface="Overlock"/>
              <a:cs typeface="Overlock"/>
              <a:sym typeface="Overlock"/>
            </a:endParaRPr>
          </a:p>
        </p:txBody>
      </p:sp>
      <p:sp>
        <p:nvSpPr>
          <p:cNvPr id="644" name="Google Shape;644;p44"/>
          <p:cNvSpPr txBox="1">
            <a:spLocks noGrp="1"/>
          </p:cNvSpPr>
          <p:nvPr>
            <p:ph type="sldNum" idx="4294967295"/>
          </p:nvPr>
        </p:nvSpPr>
        <p:spPr>
          <a:xfrm>
            <a:off x="11461750" y="6215063"/>
            <a:ext cx="730250" cy="52228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pPr>
              <a:buClr>
                <a:srgbClr val="000000"/>
              </a:buClr>
              <a:buSzPts val="1000"/>
            </a:pPr>
            <a:fld id="{00000000-1234-1234-1234-123412341234}" type="slidenum">
              <a:rPr lang="en-US"/>
              <a:pPr>
                <a:buClr>
                  <a:srgbClr val="000000"/>
                </a:buClr>
                <a:buSzPts val="1000"/>
              </a:pPr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4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rgbClr val="0F3570"/>
              </a:buClr>
              <a:buSzPct val="115226"/>
            </a:pPr>
            <a:r>
              <a:rPr lang="en-US" dirty="0" err="1">
                <a:solidFill>
                  <a:srgbClr val="0F3570"/>
                </a:solidFill>
                <a:ea typeface="Overlock"/>
                <a:sym typeface="Overlock"/>
              </a:rPr>
              <a:t>Mengatasi</a:t>
            </a:r>
            <a:r>
              <a:rPr lang="en-US" dirty="0">
                <a:solidFill>
                  <a:srgbClr val="0F3570"/>
                </a:solidFill>
                <a:ea typeface="Overlock"/>
                <a:sym typeface="Overlock"/>
              </a:rPr>
              <a:t> (</a:t>
            </a:r>
            <a:r>
              <a:rPr lang="en-US" i="1" dirty="0">
                <a:solidFill>
                  <a:srgbClr val="0F3570"/>
                </a:solidFill>
                <a:ea typeface="Overlock"/>
                <a:sym typeface="Overlock"/>
              </a:rPr>
              <a:t>Handling</a:t>
            </a:r>
            <a:r>
              <a:rPr lang="en-US" dirty="0">
                <a:solidFill>
                  <a:srgbClr val="0F3570"/>
                </a:solidFill>
                <a:ea typeface="Overlock"/>
                <a:sym typeface="Overlock"/>
              </a:rPr>
              <a:t>) </a:t>
            </a:r>
            <a:r>
              <a:rPr lang="en-US" i="1" dirty="0">
                <a:solidFill>
                  <a:srgbClr val="0F3570"/>
                </a:solidFill>
                <a:ea typeface="Overlock"/>
                <a:sym typeface="Overlock"/>
              </a:rPr>
              <a:t>Outlier </a:t>
            </a:r>
            <a:r>
              <a:rPr lang="en-US" dirty="0">
                <a:solidFill>
                  <a:srgbClr val="0F3570"/>
                </a:solidFill>
                <a:ea typeface="Overlock"/>
                <a:sym typeface="Overlock"/>
              </a:rPr>
              <a:t>(HO)</a:t>
            </a:r>
            <a:endParaRPr dirty="0"/>
          </a:p>
        </p:txBody>
      </p:sp>
      <p:sp>
        <p:nvSpPr>
          <p:cNvPr id="650" name="Google Shape;650;p45"/>
          <p:cNvSpPr txBox="1">
            <a:spLocks noGrp="1"/>
          </p:cNvSpPr>
          <p:nvPr>
            <p:ph type="sldNum" idx="4294967295"/>
          </p:nvPr>
        </p:nvSpPr>
        <p:spPr>
          <a:xfrm>
            <a:off x="11461750" y="6215063"/>
            <a:ext cx="730250" cy="52228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pPr>
              <a:buClr>
                <a:srgbClr val="000000"/>
              </a:buClr>
              <a:buSzPts val="1000"/>
            </a:pPr>
            <a:fld id="{00000000-1234-1234-1234-123412341234}" type="slidenum">
              <a:rPr lang="en-US"/>
              <a:pPr>
                <a:buClr>
                  <a:srgbClr val="000000"/>
                </a:buClr>
                <a:buSzPts val="1000"/>
              </a:pPr>
              <a:t>23</a:t>
            </a:fld>
            <a:endParaRPr/>
          </a:p>
        </p:txBody>
      </p:sp>
      <p:sp>
        <p:nvSpPr>
          <p:cNvPr id="651" name="Google Shape;651;p45"/>
          <p:cNvSpPr txBox="1"/>
          <p:nvPr/>
        </p:nvSpPr>
        <p:spPr>
          <a:xfrm>
            <a:off x="415601" y="1496570"/>
            <a:ext cx="5680400" cy="4413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97500"/>
          </a:bodyPr>
          <a:lstStyle/>
          <a:p>
            <a:pPr marL="609585" indent="-457189">
              <a:lnSpc>
                <a:spcPct val="115000"/>
              </a:lnSpc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-US" sz="2133" dirty="0" err="1">
                <a:ea typeface="Overlock"/>
                <a:cs typeface="Overlock"/>
                <a:sym typeface="Overlock"/>
              </a:rPr>
              <a:t>Definisi</a:t>
            </a:r>
            <a:r>
              <a:rPr lang="en-US" sz="2133" dirty="0">
                <a:ea typeface="Overlock"/>
                <a:cs typeface="Overlock"/>
                <a:sym typeface="Overlock"/>
              </a:rPr>
              <a:t> </a:t>
            </a:r>
            <a:r>
              <a:rPr lang="en-US" sz="2133" i="1" dirty="0">
                <a:ea typeface="Overlock"/>
                <a:cs typeface="Overlock"/>
                <a:sym typeface="Overlock"/>
              </a:rPr>
              <a:t>Outlier</a:t>
            </a:r>
            <a:r>
              <a:rPr lang="en-US" sz="2133" dirty="0">
                <a:ea typeface="Overlock"/>
                <a:cs typeface="Overlock"/>
                <a:sym typeface="Overlock"/>
              </a:rPr>
              <a:t>:</a:t>
            </a:r>
            <a:endParaRPr sz="2400" dirty="0"/>
          </a:p>
          <a:p>
            <a:pPr marL="1219170" lvl="1" indent="-423323">
              <a:lnSpc>
                <a:spcPct val="115000"/>
              </a:lnSpc>
              <a:buClr>
                <a:schemeClr val="dk2"/>
              </a:buClr>
              <a:buSzPct val="89743"/>
              <a:buFont typeface="Arial"/>
              <a:buChar char="•"/>
            </a:pPr>
            <a:r>
              <a:rPr lang="en-US" sz="2133" dirty="0" err="1">
                <a:ea typeface="Overlock"/>
                <a:cs typeface="Overlock"/>
                <a:sym typeface="Overlock"/>
              </a:rPr>
              <a:t>Titik</a:t>
            </a:r>
            <a:r>
              <a:rPr lang="en-US" sz="2133" dirty="0">
                <a:ea typeface="Overlock"/>
                <a:cs typeface="Overlock"/>
                <a:sym typeface="Overlock"/>
              </a:rPr>
              <a:t> data yang sangat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berbeda</a:t>
            </a:r>
            <a:r>
              <a:rPr lang="en-US" sz="2133" dirty="0">
                <a:ea typeface="Overlock"/>
                <a:cs typeface="Overlock"/>
                <a:sym typeface="Overlock"/>
              </a:rPr>
              <a:t>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dari</a:t>
            </a:r>
            <a:r>
              <a:rPr lang="en-US" sz="2133" dirty="0">
                <a:ea typeface="Overlock"/>
                <a:cs typeface="Overlock"/>
                <a:sym typeface="Overlock"/>
              </a:rPr>
              <a:t> data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lainnya</a:t>
            </a:r>
            <a:r>
              <a:rPr lang="en-US" sz="2133" dirty="0">
                <a:ea typeface="Overlock"/>
                <a:cs typeface="Overlock"/>
                <a:sym typeface="Overlock"/>
              </a:rPr>
              <a:t>.</a:t>
            </a:r>
            <a:endParaRPr sz="2400" dirty="0"/>
          </a:p>
          <a:p>
            <a:pPr marL="1219170" lvl="1" indent="-423323">
              <a:lnSpc>
                <a:spcPct val="115000"/>
              </a:lnSpc>
              <a:buClr>
                <a:schemeClr val="dk2"/>
              </a:buClr>
              <a:buSzPct val="89743"/>
              <a:buFont typeface="Arial"/>
              <a:buChar char="•"/>
            </a:pPr>
            <a:r>
              <a:rPr lang="en-US" sz="2133" dirty="0" err="1">
                <a:ea typeface="Overlock"/>
                <a:cs typeface="Overlock"/>
                <a:sym typeface="Overlock"/>
              </a:rPr>
              <a:t>Pengamatan</a:t>
            </a:r>
            <a:r>
              <a:rPr lang="en-US" sz="2133" dirty="0">
                <a:ea typeface="Overlock"/>
                <a:cs typeface="Overlock"/>
                <a:sym typeface="Overlock"/>
              </a:rPr>
              <a:t> yang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menyimpang</a:t>
            </a:r>
            <a:r>
              <a:rPr lang="en-US" sz="2133" dirty="0">
                <a:ea typeface="Overlock"/>
                <a:cs typeface="Overlock"/>
                <a:sym typeface="Overlock"/>
              </a:rPr>
              <a:t>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dari</a:t>
            </a:r>
            <a:r>
              <a:rPr lang="en-US" sz="2133" dirty="0">
                <a:ea typeface="Overlock"/>
                <a:cs typeface="Overlock"/>
                <a:sym typeface="Overlock"/>
              </a:rPr>
              <a:t>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pola</a:t>
            </a:r>
            <a:r>
              <a:rPr lang="en-US" sz="2133" dirty="0">
                <a:ea typeface="Overlock"/>
                <a:cs typeface="Overlock"/>
                <a:sym typeface="Overlock"/>
              </a:rPr>
              <a:t>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keseluruhan</a:t>
            </a:r>
            <a:r>
              <a:rPr lang="en-US" sz="2133" dirty="0">
                <a:ea typeface="Overlock"/>
                <a:cs typeface="Overlock"/>
                <a:sym typeface="Overlock"/>
              </a:rPr>
              <a:t> pada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sampel</a:t>
            </a:r>
            <a:r>
              <a:rPr lang="en-US" sz="2133" dirty="0">
                <a:ea typeface="Overlock"/>
                <a:cs typeface="Overlock"/>
                <a:sym typeface="Overlock"/>
              </a:rPr>
              <a:t>.</a:t>
            </a:r>
            <a:endParaRPr sz="2400" dirty="0"/>
          </a:p>
          <a:p>
            <a:pPr marL="609585" indent="-457189">
              <a:lnSpc>
                <a:spcPct val="115000"/>
              </a:lnSpc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-US" sz="2133" dirty="0" err="1">
                <a:ea typeface="Overlock"/>
                <a:cs typeface="Overlock"/>
                <a:sym typeface="Overlock"/>
              </a:rPr>
              <a:t>Penyebab</a:t>
            </a:r>
            <a:r>
              <a:rPr lang="en-US" sz="2133" dirty="0">
                <a:ea typeface="Overlock"/>
                <a:cs typeface="Overlock"/>
                <a:sym typeface="Overlock"/>
              </a:rPr>
              <a:t>:</a:t>
            </a:r>
            <a:endParaRPr sz="2400" dirty="0"/>
          </a:p>
          <a:p>
            <a:pPr marL="1219170" lvl="1" indent="-423323">
              <a:lnSpc>
                <a:spcPct val="115000"/>
              </a:lnSpc>
              <a:buClr>
                <a:schemeClr val="dk2"/>
              </a:buClr>
              <a:buSzPct val="89743"/>
              <a:buFont typeface="Arial"/>
              <a:buChar char="•"/>
            </a:pPr>
            <a:r>
              <a:rPr lang="en-US" sz="2133" dirty="0">
                <a:ea typeface="Overlock"/>
                <a:cs typeface="Overlock"/>
                <a:sym typeface="Overlock"/>
              </a:rPr>
              <a:t>Error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percobaan</a:t>
            </a:r>
            <a:r>
              <a:rPr lang="en-US" sz="2133" dirty="0">
                <a:ea typeface="Overlock"/>
                <a:cs typeface="Overlock"/>
                <a:sym typeface="Overlock"/>
              </a:rPr>
              <a:t>, salah input, error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instrumen</a:t>
            </a:r>
            <a:r>
              <a:rPr lang="en-US" sz="2133" dirty="0">
                <a:ea typeface="Overlock"/>
                <a:cs typeface="Overlock"/>
                <a:sym typeface="Overlock"/>
              </a:rPr>
              <a:t>,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kesengajaan</a:t>
            </a:r>
            <a:r>
              <a:rPr lang="en-US" sz="2133" dirty="0">
                <a:ea typeface="Overlock"/>
                <a:cs typeface="Overlock"/>
                <a:sym typeface="Overlock"/>
              </a:rPr>
              <a:t> (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untuk</a:t>
            </a:r>
            <a:r>
              <a:rPr lang="en-US" sz="2133" dirty="0">
                <a:ea typeface="Overlock"/>
                <a:cs typeface="Overlock"/>
                <a:sym typeface="Overlock"/>
              </a:rPr>
              <a:t>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pengujian</a:t>
            </a:r>
            <a:r>
              <a:rPr lang="en-US" sz="2133" dirty="0">
                <a:ea typeface="Overlock"/>
                <a:cs typeface="Overlock"/>
                <a:sym typeface="Overlock"/>
              </a:rPr>
              <a:t>), error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pemrosesan</a:t>
            </a:r>
            <a:r>
              <a:rPr lang="en-US" sz="2133" dirty="0">
                <a:ea typeface="Overlock"/>
                <a:cs typeface="Overlock"/>
                <a:sym typeface="Overlock"/>
              </a:rPr>
              <a:t> data, error sampling,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kewajaran</a:t>
            </a:r>
            <a:r>
              <a:rPr lang="en-US" sz="2133" dirty="0">
                <a:ea typeface="Overlock"/>
                <a:cs typeface="Overlock"/>
                <a:sym typeface="Overlock"/>
              </a:rPr>
              <a:t>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karena</a:t>
            </a:r>
            <a:r>
              <a:rPr lang="en-US" sz="2133" dirty="0">
                <a:ea typeface="Overlock"/>
                <a:cs typeface="Overlock"/>
                <a:sym typeface="Overlock"/>
              </a:rPr>
              <a:t>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keanehan</a:t>
            </a:r>
            <a:r>
              <a:rPr lang="en-US" sz="2133" dirty="0">
                <a:ea typeface="Overlock"/>
                <a:cs typeface="Overlock"/>
                <a:sym typeface="Overlock"/>
              </a:rPr>
              <a:t> 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dalam</a:t>
            </a:r>
            <a:r>
              <a:rPr lang="en-US" sz="2133" dirty="0">
                <a:ea typeface="Overlock"/>
                <a:cs typeface="Overlock"/>
                <a:sym typeface="Overlock"/>
              </a:rPr>
              <a:t> data (</a:t>
            </a:r>
            <a:r>
              <a:rPr lang="en-US" sz="2133" dirty="0" err="1">
                <a:ea typeface="Overlock"/>
                <a:cs typeface="Overlock"/>
                <a:sym typeface="Overlock"/>
              </a:rPr>
              <a:t>bukan</a:t>
            </a:r>
            <a:r>
              <a:rPr lang="en-US" sz="2133" dirty="0">
                <a:ea typeface="Overlock"/>
                <a:cs typeface="Overlock"/>
                <a:sym typeface="Overlock"/>
              </a:rPr>
              <a:t> error).</a:t>
            </a:r>
            <a:endParaRPr sz="2400" dirty="0"/>
          </a:p>
          <a:p>
            <a:pPr>
              <a:lnSpc>
                <a:spcPct val="115000"/>
              </a:lnSpc>
              <a:buClr>
                <a:schemeClr val="dk2"/>
              </a:buClr>
              <a:buSzPct val="115384"/>
            </a:pPr>
            <a:endParaRPr sz="2133" dirty="0">
              <a:ea typeface="Overlock"/>
              <a:cs typeface="Overlock"/>
              <a:sym typeface="Overlock"/>
            </a:endParaRPr>
          </a:p>
        </p:txBody>
      </p:sp>
      <p:pic>
        <p:nvPicPr>
          <p:cNvPr id="652" name="Google Shape;652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90260" y="1651532"/>
            <a:ext cx="6095999" cy="410337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45"/>
          <p:cNvSpPr txBox="1"/>
          <p:nvPr/>
        </p:nvSpPr>
        <p:spPr>
          <a:xfrm>
            <a:off x="7014681" y="6038794"/>
            <a:ext cx="4563643" cy="431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US" sz="667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sumber gbr: </a:t>
            </a:r>
            <a:endParaRPr sz="2400"/>
          </a:p>
          <a:p>
            <a:r>
              <a:rPr lang="en-US" sz="667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https://heartbeat.fritz.ai/hands-on-with-feature-engineering-techniques-dealing-with-outliers-fcc9f57cb63b</a:t>
            </a:r>
            <a:endParaRPr sz="2400"/>
          </a:p>
          <a:p>
            <a:r>
              <a:rPr lang="en-US" sz="667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https://www.analyticsvidhya.com/blog/2021/03/zooming-out-a-look-at-outlier-and-how-to-deal-with-them-indata-science/</a:t>
            </a:r>
            <a:endParaRPr sz="2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4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rgbClr val="0F3570"/>
              </a:buClr>
              <a:buSzPct val="115226"/>
            </a:pPr>
            <a:r>
              <a:rPr lang="en-US" dirty="0" err="1">
                <a:solidFill>
                  <a:srgbClr val="0F3570"/>
                </a:solidFill>
                <a:ea typeface="Overlock"/>
                <a:sym typeface="Overlock"/>
              </a:rPr>
              <a:t>Mengatasi</a:t>
            </a:r>
            <a:r>
              <a:rPr lang="en-US" dirty="0">
                <a:solidFill>
                  <a:srgbClr val="0F3570"/>
                </a:solidFill>
                <a:ea typeface="Overlock"/>
                <a:sym typeface="Overlock"/>
              </a:rPr>
              <a:t> (</a:t>
            </a:r>
            <a:r>
              <a:rPr lang="en-US" i="1" dirty="0">
                <a:solidFill>
                  <a:srgbClr val="0F3570"/>
                </a:solidFill>
                <a:ea typeface="Overlock"/>
                <a:sym typeface="Overlock"/>
              </a:rPr>
              <a:t>Handling</a:t>
            </a:r>
            <a:r>
              <a:rPr lang="en-US" dirty="0">
                <a:solidFill>
                  <a:srgbClr val="0F3570"/>
                </a:solidFill>
                <a:ea typeface="Overlock"/>
                <a:sym typeface="Overlock"/>
              </a:rPr>
              <a:t>) </a:t>
            </a:r>
            <a:r>
              <a:rPr lang="en-US" i="1" dirty="0">
                <a:solidFill>
                  <a:srgbClr val="0F3570"/>
                </a:solidFill>
                <a:ea typeface="Overlock"/>
                <a:sym typeface="Overlock"/>
              </a:rPr>
              <a:t>Outlier </a:t>
            </a:r>
            <a:r>
              <a:rPr lang="en-US" dirty="0">
                <a:solidFill>
                  <a:srgbClr val="0F3570"/>
                </a:solidFill>
                <a:ea typeface="Overlock"/>
                <a:sym typeface="Overlock"/>
              </a:rPr>
              <a:t>(HO)</a:t>
            </a:r>
            <a:endParaRPr dirty="0"/>
          </a:p>
        </p:txBody>
      </p:sp>
      <p:sp>
        <p:nvSpPr>
          <p:cNvPr id="659" name="Google Shape;659;p46"/>
          <p:cNvSpPr txBox="1">
            <a:spLocks noGrp="1"/>
          </p:cNvSpPr>
          <p:nvPr>
            <p:ph type="sldNum" idx="4294967295"/>
          </p:nvPr>
        </p:nvSpPr>
        <p:spPr>
          <a:xfrm>
            <a:off x="11461750" y="6215063"/>
            <a:ext cx="730250" cy="52228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pPr>
              <a:buClr>
                <a:srgbClr val="000000"/>
              </a:buClr>
              <a:buSzPts val="1000"/>
            </a:pPr>
            <a:fld id="{00000000-1234-1234-1234-123412341234}" type="slidenum">
              <a:rPr lang="en-US"/>
              <a:pPr>
                <a:buClr>
                  <a:srgbClr val="000000"/>
                </a:buClr>
                <a:buSzPts val="1000"/>
              </a:pPr>
              <a:t>24</a:t>
            </a:fld>
            <a:endParaRPr/>
          </a:p>
        </p:txBody>
      </p:sp>
      <p:sp>
        <p:nvSpPr>
          <p:cNvPr id="660" name="Google Shape;660;p46"/>
          <p:cNvSpPr txBox="1"/>
          <p:nvPr/>
        </p:nvSpPr>
        <p:spPr>
          <a:xfrm>
            <a:off x="415601" y="1592627"/>
            <a:ext cx="5528001" cy="3990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609585" indent="-457189">
              <a:lnSpc>
                <a:spcPct val="115000"/>
              </a:lnSpc>
              <a:buClr>
                <a:schemeClr val="dk2"/>
              </a:buClr>
              <a:buSzPts val="1800"/>
              <a:buFont typeface="Arial"/>
              <a:buChar char="●"/>
            </a:pPr>
            <a:r>
              <a:rPr lang="en-US" sz="2400" dirty="0">
                <a:ea typeface="Overlock"/>
                <a:cs typeface="Overlock"/>
                <a:sym typeface="Overlock"/>
              </a:rPr>
              <a:t>Jenis/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kategori</a:t>
            </a:r>
            <a:r>
              <a:rPr lang="en-US" sz="2400" dirty="0">
                <a:ea typeface="Overlock"/>
                <a:cs typeface="Overlock"/>
                <a:sym typeface="Overlock"/>
              </a:rPr>
              <a:t>:</a:t>
            </a:r>
            <a:endParaRPr sz="2800" dirty="0"/>
          </a:p>
          <a:p>
            <a:pPr marL="1219170" lvl="1" indent="-423323">
              <a:lnSpc>
                <a:spcPct val="115000"/>
              </a:lnSpc>
              <a:buClr>
                <a:schemeClr val="dk2"/>
              </a:buClr>
              <a:buSzPts val="1400"/>
              <a:buFont typeface="Arial"/>
              <a:buChar char="•"/>
            </a:pPr>
            <a:r>
              <a:rPr lang="en-US" sz="2400" dirty="0">
                <a:ea typeface="Overlock"/>
                <a:cs typeface="Overlock"/>
                <a:sym typeface="Overlock"/>
              </a:rPr>
              <a:t>Univariate vs multivariate</a:t>
            </a:r>
            <a:endParaRPr sz="2800" dirty="0"/>
          </a:p>
          <a:p>
            <a:pPr marL="1219170" lvl="1" indent="-423323">
              <a:lnSpc>
                <a:spcPct val="115000"/>
              </a:lnSpc>
              <a:buClr>
                <a:schemeClr val="dk2"/>
              </a:buClr>
              <a:buSzPts val="1400"/>
              <a:buFont typeface="Arial"/>
              <a:buChar char="•"/>
            </a:pPr>
            <a:r>
              <a:rPr lang="en-US" sz="2400" dirty="0" err="1">
                <a:ea typeface="Overlock"/>
                <a:cs typeface="Overlock"/>
                <a:sym typeface="Overlock"/>
              </a:rPr>
              <a:t>Parametrik</a:t>
            </a:r>
            <a:r>
              <a:rPr lang="en-US" sz="2400" dirty="0">
                <a:ea typeface="Overlock"/>
                <a:cs typeface="Overlock"/>
                <a:sym typeface="Overlock"/>
              </a:rPr>
              <a:t> vs non-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parametrik</a:t>
            </a:r>
            <a:endParaRPr sz="2800" dirty="0"/>
          </a:p>
          <a:p>
            <a:pPr marL="609585" indent="-457189">
              <a:lnSpc>
                <a:spcPct val="115000"/>
              </a:lnSpc>
              <a:buClr>
                <a:schemeClr val="dk2"/>
              </a:buClr>
              <a:buSzPts val="1800"/>
              <a:buFont typeface="Arial"/>
              <a:buChar char="●"/>
            </a:pPr>
            <a:r>
              <a:rPr lang="en-US" sz="2400" dirty="0" err="1">
                <a:ea typeface="Overlock"/>
                <a:cs typeface="Overlock"/>
                <a:sym typeface="Overlock"/>
              </a:rPr>
              <a:t>Deteksi</a:t>
            </a:r>
            <a:r>
              <a:rPr lang="en-US" sz="2400" dirty="0">
                <a:ea typeface="Overlock"/>
                <a:cs typeface="Overlock"/>
                <a:sym typeface="Overlock"/>
              </a:rPr>
              <a:t> dan Cari Outlier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dengan</a:t>
            </a:r>
            <a:r>
              <a:rPr lang="en-US" sz="2400" dirty="0">
                <a:ea typeface="Overlock"/>
                <a:cs typeface="Overlock"/>
                <a:sym typeface="Overlock"/>
              </a:rPr>
              <a:t>:</a:t>
            </a:r>
            <a:endParaRPr sz="2400" dirty="0">
              <a:ea typeface="Overlock"/>
              <a:cs typeface="Overlock"/>
              <a:sym typeface="Overlock"/>
            </a:endParaRPr>
          </a:p>
          <a:p>
            <a:pPr marL="1219170" lvl="1" indent="-423323">
              <a:lnSpc>
                <a:spcPct val="115000"/>
              </a:lnSpc>
              <a:buClr>
                <a:schemeClr val="dk2"/>
              </a:buClr>
              <a:buSzPts val="1400"/>
              <a:buFont typeface="Arial"/>
              <a:buChar char="•"/>
            </a:pPr>
            <a:r>
              <a:rPr lang="en-US" sz="2400" dirty="0" err="1">
                <a:ea typeface="Overlock"/>
                <a:cs typeface="Overlock"/>
                <a:sym typeface="Overlock"/>
              </a:rPr>
              <a:t>Visualisasi</a:t>
            </a:r>
            <a:endParaRPr sz="2400" dirty="0">
              <a:ea typeface="Overlock"/>
              <a:cs typeface="Overlock"/>
              <a:sym typeface="Overlock"/>
            </a:endParaRPr>
          </a:p>
          <a:p>
            <a:pPr marL="1219170" lvl="1" indent="-423323">
              <a:lnSpc>
                <a:spcPct val="115000"/>
              </a:lnSpc>
              <a:buClr>
                <a:schemeClr val="dk2"/>
              </a:buClr>
              <a:buSzPts val="1400"/>
              <a:buFont typeface="Arial"/>
              <a:buChar char="•"/>
            </a:pPr>
            <a:r>
              <a:rPr lang="en-US" sz="2400" dirty="0" err="1">
                <a:ea typeface="Overlock"/>
                <a:cs typeface="Overlock"/>
                <a:sym typeface="Overlock"/>
              </a:rPr>
              <a:t>Distribusi</a:t>
            </a:r>
            <a:r>
              <a:rPr lang="en-US" sz="2400" dirty="0">
                <a:ea typeface="Overlock"/>
                <a:cs typeface="Overlock"/>
                <a:sym typeface="Overlock"/>
              </a:rPr>
              <a:t> normal</a:t>
            </a:r>
            <a:endParaRPr sz="2800" dirty="0"/>
          </a:p>
        </p:txBody>
      </p:sp>
      <p:sp>
        <p:nvSpPr>
          <p:cNvPr id="661" name="Google Shape;661;p46"/>
          <p:cNvSpPr txBox="1"/>
          <p:nvPr/>
        </p:nvSpPr>
        <p:spPr>
          <a:xfrm>
            <a:off x="6248400" y="1592630"/>
            <a:ext cx="5528000" cy="3990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r>
              <a:rPr lang="en-US" sz="2400" dirty="0">
                <a:ea typeface="Overlock"/>
                <a:cs typeface="Overlock"/>
                <a:sym typeface="Overlock"/>
              </a:rPr>
              <a:t>Teknik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Mengatasi</a:t>
            </a:r>
            <a:r>
              <a:rPr lang="en-US" sz="2400" dirty="0">
                <a:ea typeface="Overlock"/>
                <a:cs typeface="Overlock"/>
                <a:sym typeface="Overlock"/>
              </a:rPr>
              <a:t> Outlier:</a:t>
            </a:r>
            <a:endParaRPr sz="2400" dirty="0">
              <a:ea typeface="Overlock"/>
              <a:cs typeface="Overlock"/>
              <a:sym typeface="Overlock"/>
            </a:endParaRPr>
          </a:p>
          <a:p>
            <a:pPr marL="380982" lvl="1" indent="-380982"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2400" dirty="0">
                <a:ea typeface="Overlock"/>
                <a:cs typeface="Overlock"/>
                <a:sym typeface="Overlock"/>
              </a:rPr>
              <a:t>Trimming</a:t>
            </a:r>
            <a:endParaRPr sz="2800" dirty="0"/>
          </a:p>
          <a:p>
            <a:pPr marL="380982" lvl="1" indent="-380982"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2400" dirty="0" err="1">
                <a:ea typeface="Overlock"/>
                <a:cs typeface="Overlock"/>
                <a:sym typeface="Overlock"/>
              </a:rPr>
              <a:t>Winsorizing</a:t>
            </a:r>
            <a:endParaRPr sz="2400" dirty="0">
              <a:ea typeface="Overlock"/>
              <a:cs typeface="Overlock"/>
              <a:sym typeface="Overlock"/>
            </a:endParaRPr>
          </a:p>
          <a:p>
            <a:pPr marL="380982" lvl="1" indent="-380982"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2400" dirty="0">
                <a:ea typeface="Overlock"/>
                <a:cs typeface="Overlock"/>
                <a:sym typeface="Overlock"/>
              </a:rPr>
              <a:t>Imputing</a:t>
            </a:r>
            <a:endParaRPr sz="2400" dirty="0">
              <a:ea typeface="Overlock"/>
              <a:cs typeface="Overlock"/>
              <a:sym typeface="Overlock"/>
            </a:endParaRPr>
          </a:p>
          <a:p>
            <a:pPr marL="380982" lvl="1" indent="-380982"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2400" dirty="0">
                <a:ea typeface="Overlock"/>
                <a:cs typeface="Overlock"/>
                <a:sym typeface="Overlock"/>
              </a:rPr>
              <a:t>Discretization</a:t>
            </a:r>
            <a:endParaRPr sz="2800" dirty="0"/>
          </a:p>
          <a:p>
            <a:pPr marL="380982" lvl="1" indent="-380982"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2400" dirty="0">
                <a:ea typeface="Overlock"/>
                <a:cs typeface="Overlock"/>
                <a:sym typeface="Overlock"/>
              </a:rPr>
              <a:t>Censoring</a:t>
            </a:r>
            <a:endParaRPr sz="2800" dirty="0"/>
          </a:p>
          <a:p>
            <a:pPr marL="380982" lvl="1" indent="-380982"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2400" dirty="0">
                <a:ea typeface="Overlock"/>
                <a:cs typeface="Overlock"/>
                <a:sym typeface="Overlock"/>
              </a:rPr>
              <a:t>Z-score</a:t>
            </a:r>
            <a:endParaRPr sz="2800" dirty="0"/>
          </a:p>
          <a:p>
            <a:pPr marL="380982" lvl="1" indent="-380982"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2400" dirty="0">
                <a:ea typeface="Overlock"/>
                <a:cs typeface="Overlock"/>
                <a:sym typeface="Overlock"/>
              </a:rPr>
              <a:t>Linear Regression Model</a:t>
            </a:r>
            <a:endParaRPr sz="2400" dirty="0">
              <a:ea typeface="Overlock"/>
              <a:cs typeface="Overlock"/>
              <a:sym typeface="Overlock"/>
            </a:endParaRPr>
          </a:p>
          <a:p>
            <a:endParaRPr sz="2400" dirty="0">
              <a:ea typeface="Overlock"/>
              <a:cs typeface="Overlock"/>
              <a:sym typeface="Overlock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4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rgbClr val="0F3570"/>
              </a:buClr>
              <a:buSzPct val="115226"/>
            </a:pPr>
            <a:r>
              <a:rPr lang="en-US" dirty="0" err="1">
                <a:solidFill>
                  <a:srgbClr val="0F3570"/>
                </a:solidFill>
                <a:ea typeface="Overlock"/>
                <a:sym typeface="Overlock"/>
              </a:rPr>
              <a:t>Deteksi</a:t>
            </a:r>
            <a:r>
              <a:rPr lang="en-US" dirty="0">
                <a:solidFill>
                  <a:srgbClr val="0F3570"/>
                </a:solidFill>
                <a:ea typeface="Overlock"/>
                <a:sym typeface="Overlock"/>
              </a:rPr>
              <a:t> Outlier</a:t>
            </a:r>
            <a:endParaRPr dirty="0"/>
          </a:p>
        </p:txBody>
      </p:sp>
      <p:sp>
        <p:nvSpPr>
          <p:cNvPr id="667" name="Google Shape;667;p47"/>
          <p:cNvSpPr txBox="1">
            <a:spLocks noGrp="1"/>
          </p:cNvSpPr>
          <p:nvPr>
            <p:ph type="sldNum" idx="4294967295"/>
          </p:nvPr>
        </p:nvSpPr>
        <p:spPr>
          <a:xfrm>
            <a:off x="11461750" y="6215063"/>
            <a:ext cx="730250" cy="52228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pPr>
              <a:buClr>
                <a:srgbClr val="000000"/>
              </a:buClr>
              <a:buSzPts val="1000"/>
            </a:pPr>
            <a:fld id="{00000000-1234-1234-1234-123412341234}" type="slidenum">
              <a:rPr lang="en-US"/>
              <a:pPr>
                <a:buClr>
                  <a:srgbClr val="000000"/>
                </a:buClr>
                <a:buSzPts val="1000"/>
              </a:pPr>
              <a:t>25</a:t>
            </a:fld>
            <a:endParaRPr/>
          </a:p>
        </p:txBody>
      </p:sp>
      <p:sp>
        <p:nvSpPr>
          <p:cNvPr id="668" name="Google Shape;668;p47"/>
          <p:cNvSpPr txBox="1"/>
          <p:nvPr/>
        </p:nvSpPr>
        <p:spPr>
          <a:xfrm>
            <a:off x="415603" y="982640"/>
            <a:ext cx="5338544" cy="5498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609585" indent="-457189">
              <a:lnSpc>
                <a:spcPct val="115000"/>
              </a:lnSpc>
              <a:buClr>
                <a:schemeClr val="dk2"/>
              </a:buClr>
              <a:buSzPts val="1251"/>
              <a:buFont typeface="Arial"/>
              <a:buChar char="●"/>
            </a:pPr>
            <a:r>
              <a:rPr lang="en-US" sz="2000" dirty="0" err="1">
                <a:ea typeface="Overlock"/>
                <a:cs typeface="Overlock"/>
                <a:sym typeface="Overlock"/>
              </a:rPr>
              <a:t>Visualiasi</a:t>
            </a:r>
            <a:r>
              <a:rPr lang="en-US" sz="2000" dirty="0"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ea typeface="Overlock"/>
                <a:cs typeface="Overlock"/>
                <a:sym typeface="Overlock"/>
              </a:rPr>
              <a:t>dgn</a:t>
            </a:r>
            <a:r>
              <a:rPr lang="en-US" sz="2000" dirty="0">
                <a:ea typeface="Overlock"/>
                <a:cs typeface="Overlock"/>
                <a:sym typeface="Overlock"/>
              </a:rPr>
              <a:t> Boxplot dan Scatterplot</a:t>
            </a:r>
            <a:endParaRPr sz="3200" dirty="0"/>
          </a:p>
          <a:p>
            <a:pPr marL="1219170" lvl="1" indent="-423323">
              <a:lnSpc>
                <a:spcPct val="115000"/>
              </a:lnSpc>
              <a:buClr>
                <a:schemeClr val="dk2"/>
              </a:buClr>
              <a:buSzPts val="1400"/>
              <a:buFont typeface="Arial"/>
              <a:buChar char="•"/>
            </a:pPr>
            <a:r>
              <a:rPr lang="en-US" sz="2000" dirty="0">
                <a:ea typeface="Overlock"/>
                <a:cs typeface="Overlock"/>
                <a:sym typeface="Overlock"/>
              </a:rPr>
              <a:t>Sebagian </a:t>
            </a:r>
            <a:r>
              <a:rPr lang="en-US" sz="2000" dirty="0" err="1">
                <a:ea typeface="Overlock"/>
                <a:cs typeface="Overlock"/>
                <a:sym typeface="Overlock"/>
              </a:rPr>
              <a:t>besar</a:t>
            </a:r>
            <a:r>
              <a:rPr lang="en-US" sz="2000" dirty="0"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ea typeface="Overlock"/>
                <a:cs typeface="Overlock"/>
                <a:sym typeface="Overlock"/>
              </a:rPr>
              <a:t>titik</a:t>
            </a:r>
            <a:r>
              <a:rPr lang="en-US" sz="2000" dirty="0">
                <a:ea typeface="Overlock"/>
                <a:cs typeface="Overlock"/>
                <a:sym typeface="Overlock"/>
              </a:rPr>
              <a:t> data </a:t>
            </a:r>
            <a:r>
              <a:rPr lang="en-US" sz="2000" dirty="0" err="1">
                <a:ea typeface="Overlock"/>
                <a:cs typeface="Overlock"/>
                <a:sym typeface="Overlock"/>
              </a:rPr>
              <a:t>terletak</a:t>
            </a:r>
            <a:r>
              <a:rPr lang="en-US" sz="2000" dirty="0">
                <a:ea typeface="Overlock"/>
                <a:cs typeface="Overlock"/>
                <a:sym typeface="Overlock"/>
              </a:rPr>
              <a:t> di </a:t>
            </a:r>
            <a:r>
              <a:rPr lang="en-US" sz="2000" dirty="0" err="1">
                <a:ea typeface="Overlock"/>
                <a:cs typeface="Overlock"/>
                <a:sym typeface="Overlock"/>
              </a:rPr>
              <a:t>tengah</a:t>
            </a:r>
            <a:r>
              <a:rPr lang="en-US" sz="2000" dirty="0">
                <a:ea typeface="Overlock"/>
                <a:cs typeface="Overlock"/>
                <a:sym typeface="Overlock"/>
              </a:rPr>
              <a:t>, </a:t>
            </a:r>
            <a:r>
              <a:rPr lang="en-US" sz="2000" dirty="0" err="1">
                <a:ea typeface="Overlock"/>
                <a:cs typeface="Overlock"/>
                <a:sym typeface="Overlock"/>
              </a:rPr>
              <a:t>tetapi</a:t>
            </a:r>
            <a:r>
              <a:rPr lang="en-US" sz="2000" dirty="0"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ea typeface="Overlock"/>
                <a:cs typeface="Overlock"/>
                <a:sym typeface="Overlock"/>
              </a:rPr>
              <a:t>ada</a:t>
            </a:r>
            <a:r>
              <a:rPr lang="en-US" sz="2000" dirty="0"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ea typeface="Overlock"/>
                <a:cs typeface="Overlock"/>
                <a:sym typeface="Overlock"/>
              </a:rPr>
              <a:t>satu</a:t>
            </a:r>
            <a:r>
              <a:rPr lang="en-US" sz="2000" dirty="0"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ea typeface="Overlock"/>
                <a:cs typeface="Overlock"/>
                <a:sym typeface="Overlock"/>
              </a:rPr>
              <a:t>titik</a:t>
            </a:r>
            <a:r>
              <a:rPr lang="en-US" sz="2000" dirty="0">
                <a:ea typeface="Overlock"/>
                <a:cs typeface="Overlock"/>
                <a:sym typeface="Overlock"/>
              </a:rPr>
              <a:t> yang </a:t>
            </a:r>
            <a:r>
              <a:rPr lang="en-US" sz="2000" dirty="0" err="1">
                <a:ea typeface="Overlock"/>
                <a:cs typeface="Overlock"/>
                <a:sym typeface="Overlock"/>
              </a:rPr>
              <a:t>jauh</a:t>
            </a:r>
            <a:r>
              <a:rPr lang="en-US" sz="2000" dirty="0"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ea typeface="Overlock"/>
                <a:cs typeface="Overlock"/>
                <a:sym typeface="Overlock"/>
              </a:rPr>
              <a:t>dari</a:t>
            </a:r>
            <a:r>
              <a:rPr lang="en-US" sz="2000" dirty="0"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ea typeface="Overlock"/>
                <a:cs typeface="Overlock"/>
                <a:sym typeface="Overlock"/>
              </a:rPr>
              <a:t>pengamatan</a:t>
            </a:r>
            <a:r>
              <a:rPr lang="en-US" sz="2000" dirty="0"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ea typeface="Overlock"/>
                <a:cs typeface="Overlock"/>
                <a:sym typeface="Overlock"/>
              </a:rPr>
              <a:t>lainnya</a:t>
            </a:r>
            <a:r>
              <a:rPr lang="en-US" sz="2000" dirty="0">
                <a:ea typeface="Overlock"/>
                <a:cs typeface="Overlock"/>
                <a:sym typeface="Overlock"/>
              </a:rPr>
              <a:t>; </a:t>
            </a:r>
            <a:r>
              <a:rPr lang="en-US" sz="2000" dirty="0" err="1">
                <a:ea typeface="Overlock"/>
                <a:cs typeface="Overlock"/>
                <a:sym typeface="Overlock"/>
              </a:rPr>
              <a:t>ini</a:t>
            </a:r>
            <a:r>
              <a:rPr lang="en-US" sz="2000" dirty="0"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ea typeface="Overlock"/>
                <a:cs typeface="Overlock"/>
                <a:sym typeface="Overlock"/>
              </a:rPr>
              <a:t>bisa</a:t>
            </a:r>
            <a:r>
              <a:rPr lang="en-US" sz="2000" dirty="0"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ea typeface="Overlock"/>
                <a:cs typeface="Overlock"/>
                <a:sym typeface="Overlock"/>
              </a:rPr>
              <a:t>menjadi</a:t>
            </a:r>
            <a:r>
              <a:rPr lang="en-US" sz="2000" dirty="0">
                <a:ea typeface="Overlock"/>
                <a:cs typeface="Overlock"/>
                <a:sym typeface="Overlock"/>
              </a:rPr>
              <a:t> outlier.</a:t>
            </a:r>
            <a:endParaRPr sz="2000" dirty="0">
              <a:ea typeface="Overlock"/>
              <a:cs typeface="Overlock"/>
              <a:sym typeface="Overlock"/>
            </a:endParaRPr>
          </a:p>
          <a:p>
            <a:pPr marL="609585" indent="-457189">
              <a:lnSpc>
                <a:spcPct val="115000"/>
              </a:lnSpc>
              <a:buClr>
                <a:schemeClr val="dk2"/>
              </a:buClr>
              <a:buSzPts val="1251"/>
              <a:buFont typeface="Arial"/>
              <a:buChar char="●"/>
            </a:pPr>
            <a:r>
              <a:rPr lang="en-US" sz="2000" dirty="0" err="1">
                <a:ea typeface="Overlock"/>
                <a:cs typeface="Overlock"/>
                <a:sym typeface="Overlock"/>
              </a:rPr>
              <a:t>Distribusi</a:t>
            </a:r>
            <a:r>
              <a:rPr lang="en-US" sz="2000" dirty="0">
                <a:ea typeface="Overlock"/>
                <a:cs typeface="Overlock"/>
                <a:sym typeface="Overlock"/>
              </a:rPr>
              <a:t> Normal</a:t>
            </a:r>
            <a:endParaRPr sz="3200" dirty="0"/>
          </a:p>
          <a:p>
            <a:pPr marL="1219170" lvl="1" indent="-423323">
              <a:lnSpc>
                <a:spcPct val="115000"/>
              </a:lnSpc>
              <a:buClr>
                <a:schemeClr val="dk2"/>
              </a:buClr>
              <a:buSzPts val="1400"/>
              <a:buFont typeface="Arial"/>
              <a:buChar char="•"/>
            </a:pPr>
            <a:r>
              <a:rPr lang="en-US" sz="2000" dirty="0" err="1">
                <a:ea typeface="Overlock"/>
                <a:cs typeface="Overlock"/>
                <a:sym typeface="Overlock"/>
              </a:rPr>
              <a:t>Dalam</a:t>
            </a:r>
            <a:r>
              <a:rPr lang="en-US" sz="2000" dirty="0"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ea typeface="Overlock"/>
                <a:cs typeface="Overlock"/>
                <a:sym typeface="Overlock"/>
              </a:rPr>
              <a:t>distribusi</a:t>
            </a:r>
            <a:r>
              <a:rPr lang="en-US" sz="2000" dirty="0">
                <a:ea typeface="Overlock"/>
                <a:cs typeface="Overlock"/>
                <a:sym typeface="Overlock"/>
              </a:rPr>
              <a:t> normal, </a:t>
            </a:r>
            <a:r>
              <a:rPr lang="en-US" sz="2000" dirty="0" err="1">
                <a:ea typeface="Overlock"/>
                <a:cs typeface="Overlock"/>
                <a:sym typeface="Overlock"/>
              </a:rPr>
              <a:t>sekitar</a:t>
            </a:r>
            <a:r>
              <a:rPr lang="en-US" sz="2000" dirty="0">
                <a:ea typeface="Overlock"/>
                <a:cs typeface="Overlock"/>
                <a:sym typeface="Overlock"/>
              </a:rPr>
              <a:t> 99,7% data </a:t>
            </a:r>
            <a:r>
              <a:rPr lang="en-US" sz="2000" dirty="0" err="1">
                <a:ea typeface="Overlock"/>
                <a:cs typeface="Overlock"/>
                <a:sym typeface="Overlock"/>
              </a:rPr>
              <a:t>berada</a:t>
            </a:r>
            <a:r>
              <a:rPr lang="en-US" sz="2000" dirty="0"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ea typeface="Overlock"/>
                <a:cs typeface="Overlock"/>
                <a:sym typeface="Overlock"/>
              </a:rPr>
              <a:t>dalam</a:t>
            </a:r>
            <a:r>
              <a:rPr lang="en-US" sz="2000" dirty="0"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ea typeface="Overlock"/>
                <a:cs typeface="Overlock"/>
                <a:sym typeface="Overlock"/>
              </a:rPr>
              <a:t>tiga</a:t>
            </a:r>
            <a:r>
              <a:rPr lang="en-US" sz="2000" dirty="0"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ea typeface="Overlock"/>
                <a:cs typeface="Overlock"/>
                <a:sym typeface="Overlock"/>
              </a:rPr>
              <a:t>standar</a:t>
            </a:r>
            <a:r>
              <a:rPr lang="en-US" sz="2000" dirty="0"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ea typeface="Overlock"/>
                <a:cs typeface="Overlock"/>
                <a:sym typeface="Overlock"/>
              </a:rPr>
              <a:t>deviasi</a:t>
            </a:r>
            <a:r>
              <a:rPr lang="en-US" sz="2000" dirty="0"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ea typeface="Overlock"/>
                <a:cs typeface="Overlock"/>
                <a:sym typeface="Overlock"/>
              </a:rPr>
              <a:t>dari</a:t>
            </a:r>
            <a:r>
              <a:rPr lang="en-US" sz="2000" dirty="0">
                <a:ea typeface="Overlock"/>
                <a:cs typeface="Overlock"/>
                <a:sym typeface="Overlock"/>
              </a:rPr>
              <a:t> mean. </a:t>
            </a:r>
            <a:endParaRPr sz="3200" dirty="0"/>
          </a:p>
          <a:p>
            <a:pPr marL="1219170" lvl="1" indent="-423323">
              <a:lnSpc>
                <a:spcPct val="115000"/>
              </a:lnSpc>
              <a:buClr>
                <a:schemeClr val="dk2"/>
              </a:buClr>
              <a:buSzPts val="1400"/>
              <a:buFont typeface="Arial"/>
              <a:buChar char="•"/>
            </a:pPr>
            <a:r>
              <a:rPr lang="en-US" sz="2000" dirty="0">
                <a:ea typeface="Overlock"/>
                <a:cs typeface="Overlock"/>
                <a:sym typeface="Overlock"/>
              </a:rPr>
              <a:t>Jika </a:t>
            </a:r>
            <a:r>
              <a:rPr lang="en-US" sz="2000" dirty="0" err="1">
                <a:ea typeface="Overlock"/>
                <a:cs typeface="Overlock"/>
                <a:sym typeface="Overlock"/>
              </a:rPr>
              <a:t>ada</a:t>
            </a:r>
            <a:r>
              <a:rPr lang="en-US" sz="2000" dirty="0"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ea typeface="Overlock"/>
                <a:cs typeface="Overlock"/>
                <a:sym typeface="Overlock"/>
              </a:rPr>
              <a:t>pengamatan</a:t>
            </a:r>
            <a:r>
              <a:rPr lang="en-US" sz="2000" dirty="0">
                <a:ea typeface="Overlock"/>
                <a:cs typeface="Overlock"/>
                <a:sym typeface="Overlock"/>
              </a:rPr>
              <a:t> yang </a:t>
            </a:r>
            <a:r>
              <a:rPr lang="en-US" sz="2000" dirty="0" err="1">
                <a:ea typeface="Overlock"/>
                <a:cs typeface="Overlock"/>
                <a:sym typeface="Overlock"/>
              </a:rPr>
              <a:t>lebih</a:t>
            </a:r>
            <a:r>
              <a:rPr lang="en-US" sz="2000" dirty="0"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ea typeface="Overlock"/>
                <a:cs typeface="Overlock"/>
                <a:sym typeface="Overlock"/>
              </a:rPr>
              <a:t>dari</a:t>
            </a:r>
            <a:r>
              <a:rPr lang="en-US" sz="2000" dirty="0"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ea typeface="Overlock"/>
                <a:cs typeface="Overlock"/>
                <a:sym typeface="Overlock"/>
              </a:rPr>
              <a:t>tiga</a:t>
            </a:r>
            <a:r>
              <a:rPr lang="en-US" sz="2000" dirty="0">
                <a:ea typeface="Overlock"/>
                <a:cs typeface="Overlock"/>
                <a:sym typeface="Overlock"/>
              </a:rPr>
              <a:t> kali </a:t>
            </a:r>
            <a:r>
              <a:rPr lang="en-US" sz="2000" dirty="0" err="1">
                <a:ea typeface="Overlock"/>
                <a:cs typeface="Overlock"/>
                <a:sym typeface="Overlock"/>
              </a:rPr>
              <a:t>standar</a:t>
            </a:r>
            <a:r>
              <a:rPr lang="en-US" sz="2000" dirty="0"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ea typeface="Overlock"/>
                <a:cs typeface="Overlock"/>
                <a:sym typeface="Overlock"/>
              </a:rPr>
              <a:t>deviasi</a:t>
            </a:r>
            <a:r>
              <a:rPr lang="en-US" sz="2000" dirty="0">
                <a:ea typeface="Overlock"/>
                <a:cs typeface="Overlock"/>
                <a:sym typeface="Overlock"/>
              </a:rPr>
              <a:t>, </a:t>
            </a:r>
            <a:r>
              <a:rPr lang="en-US" sz="2000" dirty="0" err="1">
                <a:ea typeface="Overlock"/>
                <a:cs typeface="Overlock"/>
                <a:sym typeface="Overlock"/>
              </a:rPr>
              <a:t>kemungkinan</a:t>
            </a:r>
            <a:r>
              <a:rPr lang="en-US" sz="2000" dirty="0"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ea typeface="Overlock"/>
                <a:cs typeface="Overlock"/>
                <a:sym typeface="Overlock"/>
              </a:rPr>
              <a:t>itu</a:t>
            </a:r>
            <a:r>
              <a:rPr lang="en-US" sz="2000" dirty="0"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ea typeface="Overlock"/>
                <a:cs typeface="Overlock"/>
                <a:sym typeface="Overlock"/>
              </a:rPr>
              <a:t>adalah</a:t>
            </a:r>
            <a:r>
              <a:rPr lang="en-US" sz="2000" dirty="0">
                <a:ea typeface="Overlock"/>
                <a:cs typeface="Overlock"/>
                <a:sym typeface="Overlock"/>
              </a:rPr>
              <a:t> outlier.</a:t>
            </a:r>
            <a:endParaRPr sz="2000" dirty="0">
              <a:ea typeface="Overlock"/>
              <a:cs typeface="Overlock"/>
              <a:sym typeface="Overlock"/>
            </a:endParaRPr>
          </a:p>
          <a:p>
            <a:pPr marL="609585" indent="-457189">
              <a:lnSpc>
                <a:spcPct val="115000"/>
              </a:lnSpc>
              <a:buClr>
                <a:schemeClr val="dk2"/>
              </a:buClr>
              <a:buSzPts val="1251"/>
              <a:buFont typeface="Arial"/>
              <a:buChar char="●"/>
            </a:pPr>
            <a:r>
              <a:rPr lang="en-US" sz="2000" dirty="0">
                <a:ea typeface="Overlock"/>
                <a:cs typeface="Overlock"/>
                <a:sym typeface="Overlock"/>
              </a:rPr>
              <a:t>Z-score</a:t>
            </a:r>
            <a:endParaRPr sz="2000" dirty="0">
              <a:ea typeface="Overlock"/>
              <a:cs typeface="Overlock"/>
              <a:sym typeface="Overlock"/>
            </a:endParaRPr>
          </a:p>
          <a:p>
            <a:pPr marL="609585" indent="-457189">
              <a:lnSpc>
                <a:spcPct val="115000"/>
              </a:lnSpc>
              <a:buClr>
                <a:schemeClr val="dk2"/>
              </a:buClr>
              <a:buSzPts val="1251"/>
              <a:buFont typeface="Arial"/>
              <a:buChar char="●"/>
            </a:pPr>
            <a:r>
              <a:rPr lang="en-US" sz="2000" dirty="0">
                <a:ea typeface="Overlock"/>
                <a:cs typeface="Overlock"/>
                <a:sym typeface="Overlock"/>
              </a:rPr>
              <a:t>Inter Quantile Range (IQR)</a:t>
            </a:r>
            <a:endParaRPr sz="3200" dirty="0"/>
          </a:p>
        </p:txBody>
      </p:sp>
      <p:pic>
        <p:nvPicPr>
          <p:cNvPr id="669" name="Google Shape;669;p47"/>
          <p:cNvPicPr preferRelativeResize="0"/>
          <p:nvPr/>
        </p:nvPicPr>
        <p:blipFill rotWithShape="1">
          <a:blip r:embed="rId3">
            <a:alphaModFix/>
          </a:blip>
          <a:srcRect l="9722" t="10184" r="8333"/>
          <a:stretch/>
        </p:blipFill>
        <p:spPr>
          <a:xfrm>
            <a:off x="6430159" y="910411"/>
            <a:ext cx="2591397" cy="2129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0" name="Google Shape;670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67441" y="910411"/>
            <a:ext cx="2894489" cy="2129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1" name="Google Shape;671;p4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30157" y="3094857"/>
            <a:ext cx="2927705" cy="188556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2" name="Google Shape;672;p4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357863" y="3237395"/>
            <a:ext cx="2633509" cy="1715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3" name="Google Shape;673;p4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0159" y="5034929"/>
            <a:ext cx="3423563" cy="1708223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47"/>
          <p:cNvSpPr/>
          <p:nvPr/>
        </p:nvSpPr>
        <p:spPr>
          <a:xfrm rot="-1500000">
            <a:off x="5830478" y="1705663"/>
            <a:ext cx="637897" cy="54508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A1A1A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75" name="Google Shape;675;p47"/>
          <p:cNvSpPr/>
          <p:nvPr/>
        </p:nvSpPr>
        <p:spPr>
          <a:xfrm>
            <a:off x="5754146" y="3990905"/>
            <a:ext cx="637897" cy="54508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A1A1A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76" name="Google Shape;676;p47"/>
          <p:cNvSpPr/>
          <p:nvPr/>
        </p:nvSpPr>
        <p:spPr>
          <a:xfrm>
            <a:off x="5754146" y="5700848"/>
            <a:ext cx="637897" cy="54508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A1A1A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77" name="Google Shape;677;p47"/>
          <p:cNvSpPr txBox="1"/>
          <p:nvPr/>
        </p:nvSpPr>
        <p:spPr>
          <a:xfrm>
            <a:off x="9891838" y="5700847"/>
            <a:ext cx="2137652" cy="738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US" sz="667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sumber gbr: </a:t>
            </a:r>
            <a:endParaRPr sz="2400"/>
          </a:p>
          <a:p>
            <a:r>
              <a:rPr lang="en-US" sz="667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https://heartbeat.fritz.ai/hands-on-with-feature-engineering-techniques-dealing-with-outliers-fcc9f57cb63b</a:t>
            </a:r>
            <a:endParaRPr sz="2400"/>
          </a:p>
          <a:p>
            <a:r>
              <a:rPr lang="en-US" sz="667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https://www.analyticsvidhya.com/blog/2021/05/detecting-and-treating-outliers-treating-the-odd-one-out/</a:t>
            </a:r>
            <a:endParaRPr sz="24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4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pPr>
              <a:buClr>
                <a:srgbClr val="0F3570"/>
              </a:buClr>
              <a:buSzPct val="115226"/>
            </a:pPr>
            <a:r>
              <a:rPr lang="en-US" dirty="0">
                <a:solidFill>
                  <a:srgbClr val="0F3570"/>
                </a:solidFill>
                <a:ea typeface="Overlock"/>
                <a:sym typeface="Overlock"/>
              </a:rPr>
              <a:t>Teknik HO: </a:t>
            </a:r>
            <a:br>
              <a:rPr lang="en-US" dirty="0">
                <a:solidFill>
                  <a:srgbClr val="0F3570"/>
                </a:solidFill>
                <a:ea typeface="Overlock"/>
                <a:sym typeface="Overlock"/>
              </a:rPr>
            </a:br>
            <a:r>
              <a:rPr lang="en-US" dirty="0">
                <a:solidFill>
                  <a:srgbClr val="0F3570"/>
                </a:solidFill>
                <a:ea typeface="Overlock"/>
                <a:sym typeface="Overlock"/>
              </a:rPr>
              <a:t>Trimming (</a:t>
            </a:r>
            <a:r>
              <a:rPr lang="en-US" dirty="0" err="1">
                <a:solidFill>
                  <a:srgbClr val="0F3570"/>
                </a:solidFill>
                <a:ea typeface="Overlock"/>
                <a:sym typeface="Overlock"/>
              </a:rPr>
              <a:t>Pangkas</a:t>
            </a:r>
            <a:r>
              <a:rPr lang="en-US" dirty="0">
                <a:solidFill>
                  <a:srgbClr val="0F3570"/>
                </a:solidFill>
                <a:ea typeface="Overlock"/>
                <a:sym typeface="Overlock"/>
              </a:rPr>
              <a:t>) vs </a:t>
            </a:r>
            <a:r>
              <a:rPr lang="en-US" dirty="0" err="1">
                <a:solidFill>
                  <a:srgbClr val="0F3570"/>
                </a:solidFill>
                <a:ea typeface="Overlock"/>
                <a:sym typeface="Overlock"/>
              </a:rPr>
              <a:t>Winsorizing</a:t>
            </a:r>
            <a:r>
              <a:rPr lang="en-US" dirty="0">
                <a:solidFill>
                  <a:srgbClr val="0F3570"/>
                </a:solidFill>
                <a:ea typeface="Overlock"/>
                <a:sym typeface="Overlock"/>
              </a:rPr>
              <a:t> </a:t>
            </a:r>
            <a:endParaRPr dirty="0"/>
          </a:p>
        </p:txBody>
      </p:sp>
      <p:sp>
        <p:nvSpPr>
          <p:cNvPr id="683" name="Google Shape;683;p48"/>
          <p:cNvSpPr txBox="1">
            <a:spLocks noGrp="1"/>
          </p:cNvSpPr>
          <p:nvPr>
            <p:ph type="sldNum" idx="4294967295"/>
          </p:nvPr>
        </p:nvSpPr>
        <p:spPr>
          <a:xfrm>
            <a:off x="11461750" y="6215063"/>
            <a:ext cx="730250" cy="52228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pPr>
              <a:buClr>
                <a:srgbClr val="000000"/>
              </a:buClr>
              <a:buSzPts val="1000"/>
            </a:pPr>
            <a:fld id="{00000000-1234-1234-1234-123412341234}" type="slidenum">
              <a:rPr lang="en-US"/>
              <a:pPr>
                <a:buClr>
                  <a:srgbClr val="000000"/>
                </a:buClr>
                <a:buSzPts val="1000"/>
              </a:pPr>
              <a:t>26</a:t>
            </a:fld>
            <a:endParaRPr/>
          </a:p>
        </p:txBody>
      </p:sp>
      <p:sp>
        <p:nvSpPr>
          <p:cNvPr id="684" name="Google Shape;684;p48"/>
          <p:cNvSpPr txBox="1"/>
          <p:nvPr/>
        </p:nvSpPr>
        <p:spPr>
          <a:xfrm>
            <a:off x="415602" y="1508308"/>
            <a:ext cx="5469561" cy="4422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609585" indent="-457189">
              <a:lnSpc>
                <a:spcPct val="115000"/>
              </a:lnSpc>
              <a:buClr>
                <a:schemeClr val="dk2"/>
              </a:buClr>
              <a:buSzPts val="1600"/>
              <a:buFont typeface="Arial"/>
              <a:buChar char="●"/>
            </a:pPr>
            <a:r>
              <a:rPr lang="en-US" sz="2400" dirty="0">
                <a:ea typeface="Overlock"/>
                <a:cs typeface="Overlock"/>
                <a:sym typeface="Overlock"/>
              </a:rPr>
              <a:t>Nama lain: Truncation (Potong)</a:t>
            </a:r>
            <a:endParaRPr sz="2800" dirty="0"/>
          </a:p>
          <a:p>
            <a:pPr marL="609585" indent="-457189">
              <a:lnSpc>
                <a:spcPct val="115000"/>
              </a:lnSpc>
              <a:buClr>
                <a:schemeClr val="dk2"/>
              </a:buClr>
              <a:buSzPts val="1600"/>
              <a:buFont typeface="Arial"/>
              <a:buChar char="●"/>
            </a:pPr>
            <a:r>
              <a:rPr lang="en-US" sz="2400" dirty="0" err="1">
                <a:ea typeface="Overlock"/>
                <a:cs typeface="Overlock"/>
                <a:sym typeface="Overlock"/>
              </a:rPr>
              <a:t>Definisi</a:t>
            </a:r>
            <a:r>
              <a:rPr lang="en-US" sz="2400" dirty="0">
                <a:ea typeface="Overlock"/>
                <a:cs typeface="Overlock"/>
                <a:sym typeface="Overlock"/>
              </a:rPr>
              <a:t>: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Menghapus</a:t>
            </a:r>
            <a:r>
              <a:rPr lang="en-US" sz="2400" dirty="0">
                <a:ea typeface="Overlock"/>
                <a:cs typeface="Overlock"/>
                <a:sym typeface="Overlock"/>
              </a:rPr>
              <a:t> outlier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dari</a:t>
            </a:r>
            <a:r>
              <a:rPr lang="en-US" sz="2400" dirty="0">
                <a:ea typeface="Overlock"/>
                <a:cs typeface="Overlock"/>
                <a:sym typeface="Overlock"/>
              </a:rPr>
              <a:t> dataset </a:t>
            </a:r>
            <a:endParaRPr sz="2800" dirty="0"/>
          </a:p>
          <a:p>
            <a:pPr marL="609585" indent="-457189">
              <a:lnSpc>
                <a:spcPct val="115000"/>
              </a:lnSpc>
              <a:buClr>
                <a:schemeClr val="dk2"/>
              </a:buClr>
              <a:buSzPts val="1600"/>
              <a:buFont typeface="Arial"/>
              <a:buChar char="●"/>
            </a:pPr>
            <a:r>
              <a:rPr lang="en-US" sz="2400" dirty="0" err="1">
                <a:ea typeface="Overlock"/>
                <a:cs typeface="Overlock"/>
                <a:sym typeface="Overlock"/>
              </a:rPr>
              <a:t>Perlu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memutuskan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metrik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untuk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menentukan</a:t>
            </a:r>
            <a:r>
              <a:rPr lang="en-US" sz="2400" dirty="0">
                <a:ea typeface="Overlock"/>
                <a:cs typeface="Overlock"/>
                <a:sym typeface="Overlock"/>
              </a:rPr>
              <a:t> outlier.</a:t>
            </a:r>
            <a:endParaRPr sz="2800" dirty="0"/>
          </a:p>
        </p:txBody>
      </p:sp>
      <p:sp>
        <p:nvSpPr>
          <p:cNvPr id="685" name="Google Shape;685;p48"/>
          <p:cNvSpPr txBox="1"/>
          <p:nvPr/>
        </p:nvSpPr>
        <p:spPr>
          <a:xfrm>
            <a:off x="6306840" y="1508308"/>
            <a:ext cx="5469563" cy="4422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r>
              <a:rPr lang="en-US" sz="2400" dirty="0" err="1">
                <a:ea typeface="Overlock"/>
                <a:cs typeface="Overlock"/>
                <a:sym typeface="Overlock"/>
              </a:rPr>
              <a:t>Definisi</a:t>
            </a:r>
            <a:r>
              <a:rPr lang="en-US" sz="2400" dirty="0">
                <a:ea typeface="Overlock"/>
                <a:cs typeface="Overlock"/>
                <a:sym typeface="Overlock"/>
              </a:rPr>
              <a:t>: </a:t>
            </a:r>
            <a:endParaRPr sz="2800" dirty="0"/>
          </a:p>
          <a:p>
            <a:r>
              <a:rPr lang="en-US" sz="2400" dirty="0" err="1">
                <a:ea typeface="Overlock"/>
                <a:cs typeface="Overlock"/>
                <a:sym typeface="Overlock"/>
              </a:rPr>
              <a:t>Mengganti</a:t>
            </a:r>
            <a:r>
              <a:rPr lang="en-US" sz="2400" dirty="0">
                <a:ea typeface="Overlock"/>
                <a:cs typeface="Overlock"/>
                <a:sym typeface="Overlock"/>
              </a:rPr>
              <a:t> outlier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dari</a:t>
            </a:r>
            <a:r>
              <a:rPr lang="en-US" sz="2400" dirty="0">
                <a:ea typeface="Overlock"/>
                <a:cs typeface="Overlock"/>
                <a:sym typeface="Overlock"/>
              </a:rPr>
              <a:t> dataset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dengan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nilai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persentil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setiap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ujung</a:t>
            </a:r>
            <a:r>
              <a:rPr lang="en-US" sz="2400" dirty="0">
                <a:ea typeface="Overlock"/>
                <a:cs typeface="Overlock"/>
                <a:sym typeface="Overlock"/>
              </a:rPr>
              <a:t>/batas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atas</a:t>
            </a:r>
            <a:r>
              <a:rPr lang="en-US" sz="2400" dirty="0">
                <a:ea typeface="Overlock"/>
                <a:cs typeface="Overlock"/>
                <a:sym typeface="Overlock"/>
              </a:rPr>
              <a:t> dan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bawah</a:t>
            </a:r>
            <a:r>
              <a:rPr lang="en-US" sz="2400" dirty="0">
                <a:ea typeface="Overlock"/>
                <a:cs typeface="Overlock"/>
                <a:sym typeface="Overlock"/>
              </a:rPr>
              <a:t>.</a:t>
            </a:r>
            <a:endParaRPr sz="2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4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rgbClr val="0F3570"/>
              </a:buClr>
              <a:buSzPct val="115226"/>
            </a:pPr>
            <a:r>
              <a:rPr lang="en-US" dirty="0">
                <a:solidFill>
                  <a:srgbClr val="0F3570"/>
                </a:solidFill>
                <a:ea typeface="Overlock"/>
                <a:sym typeface="Overlock"/>
              </a:rPr>
              <a:t>Trimming vs </a:t>
            </a:r>
            <a:r>
              <a:rPr lang="en-US" dirty="0" err="1">
                <a:solidFill>
                  <a:srgbClr val="0F3570"/>
                </a:solidFill>
                <a:ea typeface="Overlock"/>
                <a:sym typeface="Overlock"/>
              </a:rPr>
              <a:t>Winsorizing</a:t>
            </a:r>
            <a:endParaRPr dirty="0">
              <a:solidFill>
                <a:srgbClr val="0F3570"/>
              </a:solidFill>
              <a:ea typeface="Overlock"/>
              <a:sym typeface="Overlock"/>
            </a:endParaRPr>
          </a:p>
        </p:txBody>
      </p:sp>
      <p:sp>
        <p:nvSpPr>
          <p:cNvPr id="691" name="Google Shape;691;p49"/>
          <p:cNvSpPr txBox="1">
            <a:spLocks noGrp="1"/>
          </p:cNvSpPr>
          <p:nvPr>
            <p:ph type="sldNum" idx="4294967295"/>
          </p:nvPr>
        </p:nvSpPr>
        <p:spPr>
          <a:xfrm>
            <a:off x="11461750" y="6215063"/>
            <a:ext cx="730250" cy="52228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pPr>
              <a:buClr>
                <a:srgbClr val="000000"/>
              </a:buClr>
              <a:buSzPts val="1000"/>
            </a:pPr>
            <a:fld id="{00000000-1234-1234-1234-123412341234}" type="slidenum">
              <a:rPr lang="en-US"/>
              <a:pPr>
                <a:buClr>
                  <a:srgbClr val="000000"/>
                </a:buClr>
                <a:buSzPts val="1000"/>
              </a:pPr>
              <a:t>27</a:t>
            </a:fld>
            <a:endParaRPr/>
          </a:p>
        </p:txBody>
      </p:sp>
      <p:sp>
        <p:nvSpPr>
          <p:cNvPr id="692" name="Google Shape;692;p49"/>
          <p:cNvSpPr txBox="1"/>
          <p:nvPr/>
        </p:nvSpPr>
        <p:spPr>
          <a:xfrm>
            <a:off x="106992" y="1079433"/>
            <a:ext cx="5373273" cy="2349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609585" indent="-457189">
              <a:lnSpc>
                <a:spcPct val="115000"/>
              </a:lnSpc>
              <a:buClr>
                <a:schemeClr val="dk2"/>
              </a:buClr>
              <a:buSzPts val="1800"/>
              <a:buFont typeface="Arial"/>
              <a:buChar char="●"/>
            </a:pPr>
            <a:r>
              <a:rPr lang="en-US" sz="2400" dirty="0" err="1">
                <a:ea typeface="Overlock"/>
                <a:cs typeface="Overlock"/>
                <a:sym typeface="Overlock"/>
              </a:rPr>
              <a:t>Contoh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kasus</a:t>
            </a:r>
            <a:r>
              <a:rPr lang="en-US" sz="2400" dirty="0">
                <a:ea typeface="Overlock"/>
                <a:cs typeface="Overlock"/>
                <a:sym typeface="Overlock"/>
              </a:rPr>
              <a:t>: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laporan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jumlah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pasien</a:t>
            </a:r>
            <a:r>
              <a:rPr lang="en-US" sz="2400" dirty="0">
                <a:ea typeface="Overlock"/>
                <a:cs typeface="Overlock"/>
                <a:sym typeface="Overlock"/>
              </a:rPr>
              <a:t> yang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ditangani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tiap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dokter</a:t>
            </a:r>
            <a:r>
              <a:rPr lang="en-US" sz="2400" dirty="0">
                <a:ea typeface="Overlock"/>
                <a:cs typeface="Overlock"/>
                <a:sym typeface="Overlock"/>
              </a:rPr>
              <a:t>/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bulan</a:t>
            </a:r>
            <a:r>
              <a:rPr lang="en-US" sz="2400" dirty="0">
                <a:ea typeface="Overlock"/>
                <a:cs typeface="Overlock"/>
                <a:sym typeface="Overlock"/>
              </a:rPr>
              <a:t> (di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bawah</a:t>
            </a:r>
            <a:r>
              <a:rPr lang="en-US" sz="2400" dirty="0">
                <a:ea typeface="Overlock"/>
                <a:cs typeface="Overlock"/>
                <a:sym typeface="Overlock"/>
              </a:rPr>
              <a:t> 100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pasien</a:t>
            </a:r>
            <a:r>
              <a:rPr lang="en-US" sz="2400" dirty="0">
                <a:ea typeface="Overlock"/>
                <a:cs typeface="Overlock"/>
                <a:sym typeface="Overlock"/>
              </a:rPr>
              <a:t>),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dengan</a:t>
            </a:r>
            <a:r>
              <a:rPr lang="en-US" sz="2400" dirty="0">
                <a:ea typeface="Overlock"/>
                <a:cs typeface="Overlock"/>
                <a:sym typeface="Overlock"/>
              </a:rPr>
              <a:t> 4%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dilaporkan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lebih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dari</a:t>
            </a:r>
            <a:r>
              <a:rPr lang="en-US" sz="2400" dirty="0">
                <a:ea typeface="Overlock"/>
                <a:cs typeface="Overlock"/>
                <a:sym typeface="Overlock"/>
              </a:rPr>
              <a:t> 100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pasien</a:t>
            </a:r>
            <a:r>
              <a:rPr lang="en-US" sz="2400" dirty="0">
                <a:ea typeface="Overlock"/>
                <a:cs typeface="Overlock"/>
                <a:sym typeface="Overlock"/>
              </a:rPr>
              <a:t>.</a:t>
            </a:r>
            <a:endParaRPr sz="2400" dirty="0"/>
          </a:p>
        </p:txBody>
      </p:sp>
      <p:pic>
        <p:nvPicPr>
          <p:cNvPr id="693" name="Google Shape;693;p49"/>
          <p:cNvPicPr preferRelativeResize="0"/>
          <p:nvPr/>
        </p:nvPicPr>
        <p:blipFill rotWithShape="1">
          <a:blip r:embed="rId3">
            <a:alphaModFix/>
          </a:blip>
          <a:srcRect t="10526" b="4934"/>
          <a:stretch/>
        </p:blipFill>
        <p:spPr>
          <a:xfrm>
            <a:off x="5734359" y="520613"/>
            <a:ext cx="3484717" cy="2985547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49"/>
          <p:cNvSpPr txBox="1"/>
          <p:nvPr/>
        </p:nvSpPr>
        <p:spPr>
          <a:xfrm>
            <a:off x="9219076" y="319253"/>
            <a:ext cx="2496308" cy="31188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US" sz="2000" dirty="0">
                <a:ea typeface="Overlock"/>
                <a:cs typeface="Overlock"/>
                <a:sym typeface="Overlock"/>
              </a:rPr>
              <a:t>range [5,100]. </a:t>
            </a:r>
            <a:endParaRPr sz="2800" dirty="0"/>
          </a:p>
          <a:p>
            <a:r>
              <a:rPr lang="en-US" sz="2800" dirty="0">
                <a:ea typeface="Overlock"/>
                <a:cs typeface="Overlock"/>
                <a:sym typeface="Overlock"/>
              </a:rPr>
              <a:t>O</a:t>
            </a:r>
            <a:r>
              <a:rPr lang="en-US" sz="2000" dirty="0">
                <a:ea typeface="Overlock"/>
                <a:cs typeface="Overlock"/>
                <a:sym typeface="Overlock"/>
              </a:rPr>
              <a:t>utlier </a:t>
            </a:r>
            <a:r>
              <a:rPr lang="en-US" sz="2000" dirty="0" err="1">
                <a:ea typeface="Overlock"/>
                <a:cs typeface="Overlock"/>
                <a:sym typeface="Overlock"/>
              </a:rPr>
              <a:t>tidak</a:t>
            </a:r>
            <a:r>
              <a:rPr lang="en-US" sz="2000" dirty="0"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ea typeface="Overlock"/>
                <a:cs typeface="Overlock"/>
                <a:sym typeface="Overlock"/>
              </a:rPr>
              <a:t>dibuang</a:t>
            </a:r>
            <a:r>
              <a:rPr lang="en-US" sz="2000" dirty="0">
                <a:ea typeface="Overlock"/>
                <a:cs typeface="Overlock"/>
                <a:sym typeface="Overlock"/>
              </a:rPr>
              <a:t>, </a:t>
            </a:r>
            <a:r>
              <a:rPr lang="en-US" sz="2000" dirty="0" err="1">
                <a:ea typeface="Overlock"/>
                <a:cs typeface="Overlock"/>
                <a:sym typeface="Overlock"/>
              </a:rPr>
              <a:t>namun</a:t>
            </a:r>
            <a:r>
              <a:rPr lang="en-US" sz="2000" dirty="0"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ea typeface="Overlock"/>
                <a:cs typeface="Overlock"/>
                <a:sym typeface="Overlock"/>
              </a:rPr>
              <a:t>dimasukan</a:t>
            </a:r>
            <a:r>
              <a:rPr lang="en-US" sz="2000" dirty="0"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ea typeface="Overlock"/>
                <a:cs typeface="Overlock"/>
                <a:sym typeface="Overlock"/>
              </a:rPr>
              <a:t>ke</a:t>
            </a:r>
            <a:r>
              <a:rPr lang="en-US" sz="2000" dirty="0"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ea typeface="Overlock"/>
                <a:cs typeface="Overlock"/>
                <a:sym typeface="Overlock"/>
              </a:rPr>
              <a:t>dalam</a:t>
            </a:r>
            <a:r>
              <a:rPr lang="en-US" sz="2000" dirty="0">
                <a:ea typeface="Overlock"/>
                <a:cs typeface="Overlock"/>
                <a:sym typeface="Overlock"/>
              </a:rPr>
              <a:t> range </a:t>
            </a:r>
            <a:r>
              <a:rPr lang="en-US" sz="2000" dirty="0" err="1">
                <a:ea typeface="Overlock"/>
                <a:cs typeface="Overlock"/>
                <a:sym typeface="Overlock"/>
              </a:rPr>
              <a:t>terdekat</a:t>
            </a:r>
            <a:r>
              <a:rPr lang="en-US" sz="2000" dirty="0">
                <a:ea typeface="Overlock"/>
                <a:cs typeface="Overlock"/>
                <a:sym typeface="Overlock"/>
              </a:rPr>
              <a:t>. </a:t>
            </a:r>
            <a:r>
              <a:rPr lang="en-US" sz="2000" dirty="0" err="1">
                <a:ea typeface="Overlock"/>
                <a:cs typeface="Overlock"/>
                <a:sym typeface="Overlock"/>
              </a:rPr>
              <a:t>Sehingga</a:t>
            </a:r>
            <a:r>
              <a:rPr lang="en-US" sz="2000" dirty="0"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ea typeface="Overlock"/>
                <a:cs typeface="Overlock"/>
                <a:sym typeface="Overlock"/>
              </a:rPr>
              <a:t>nilai</a:t>
            </a:r>
            <a:r>
              <a:rPr lang="en-US" sz="2000" dirty="0">
                <a:ea typeface="Overlock"/>
                <a:cs typeface="Overlock"/>
                <a:sym typeface="Overlock"/>
              </a:rPr>
              <a:t> mean </a:t>
            </a:r>
            <a:r>
              <a:rPr lang="en-US" sz="2000" dirty="0" err="1">
                <a:ea typeface="Overlock"/>
                <a:cs typeface="Overlock"/>
                <a:sym typeface="Overlock"/>
              </a:rPr>
              <a:t>mengecil</a:t>
            </a:r>
            <a:r>
              <a:rPr lang="en-US" sz="2000" dirty="0">
                <a:ea typeface="Overlock"/>
                <a:cs typeface="Overlock"/>
                <a:sym typeface="Overlock"/>
              </a:rPr>
              <a:t>. Median dan N </a:t>
            </a:r>
            <a:r>
              <a:rPr lang="en-US" sz="2800" dirty="0" err="1">
                <a:ea typeface="Overlock"/>
                <a:cs typeface="Overlock"/>
                <a:sym typeface="Overlock"/>
              </a:rPr>
              <a:t>tidak</a:t>
            </a:r>
            <a:r>
              <a:rPr lang="en-US" sz="2000" dirty="0"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ea typeface="Overlock"/>
                <a:cs typeface="Overlock"/>
                <a:sym typeface="Overlock"/>
              </a:rPr>
              <a:t>berubah</a:t>
            </a:r>
            <a:r>
              <a:rPr lang="en-US" sz="2000" dirty="0">
                <a:ea typeface="Overlock"/>
                <a:cs typeface="Overlock"/>
                <a:sym typeface="Overlock"/>
              </a:rPr>
              <a:t>.</a:t>
            </a:r>
            <a:endParaRPr sz="2800" dirty="0"/>
          </a:p>
        </p:txBody>
      </p:sp>
      <p:pic>
        <p:nvPicPr>
          <p:cNvPr id="695" name="Google Shape;695;p49"/>
          <p:cNvPicPr preferRelativeResize="0"/>
          <p:nvPr/>
        </p:nvPicPr>
        <p:blipFill rotWithShape="1">
          <a:blip r:embed="rId4">
            <a:alphaModFix/>
          </a:blip>
          <a:srcRect t="7546"/>
          <a:stretch/>
        </p:blipFill>
        <p:spPr>
          <a:xfrm>
            <a:off x="5664139" y="3532487"/>
            <a:ext cx="3484716" cy="3204863"/>
          </a:xfrm>
          <a:prstGeom prst="rect">
            <a:avLst/>
          </a:prstGeom>
          <a:noFill/>
          <a:ln>
            <a:noFill/>
          </a:ln>
        </p:spPr>
      </p:pic>
      <p:sp>
        <p:nvSpPr>
          <p:cNvPr id="696" name="Google Shape;696;p49"/>
          <p:cNvSpPr txBox="1"/>
          <p:nvPr/>
        </p:nvSpPr>
        <p:spPr>
          <a:xfrm>
            <a:off x="9278766" y="3890274"/>
            <a:ext cx="2550271" cy="20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US" sz="2800" dirty="0" err="1">
                <a:ea typeface="Overlock"/>
                <a:cs typeface="Overlock"/>
                <a:sym typeface="Overlock"/>
              </a:rPr>
              <a:t>M</a:t>
            </a:r>
            <a:r>
              <a:rPr lang="en-US" sz="2000" dirty="0" err="1">
                <a:ea typeface="Overlock"/>
                <a:cs typeface="Overlock"/>
                <a:sym typeface="Overlock"/>
              </a:rPr>
              <a:t>embuang</a:t>
            </a:r>
            <a:r>
              <a:rPr lang="en-US" sz="2000" dirty="0">
                <a:ea typeface="Overlock"/>
                <a:cs typeface="Overlock"/>
                <a:sym typeface="Overlock"/>
              </a:rPr>
              <a:t> data yang </a:t>
            </a:r>
            <a:r>
              <a:rPr lang="en-US" sz="2000" dirty="0" err="1">
                <a:ea typeface="Overlock"/>
                <a:cs typeface="Overlock"/>
                <a:sym typeface="Overlock"/>
              </a:rPr>
              <a:t>berada</a:t>
            </a:r>
            <a:r>
              <a:rPr lang="en-US" sz="2000" dirty="0">
                <a:ea typeface="Overlock"/>
                <a:cs typeface="Overlock"/>
                <a:sym typeface="Overlock"/>
              </a:rPr>
              <a:t> di </a:t>
            </a:r>
            <a:r>
              <a:rPr lang="en-US" sz="2000" dirty="0" err="1">
                <a:ea typeface="Overlock"/>
                <a:cs typeface="Overlock"/>
                <a:sym typeface="Overlock"/>
              </a:rPr>
              <a:t>luar</a:t>
            </a:r>
            <a:r>
              <a:rPr lang="en-US" sz="2000" dirty="0">
                <a:ea typeface="Overlock"/>
                <a:cs typeface="Overlock"/>
                <a:sym typeface="Overlock"/>
              </a:rPr>
              <a:t> range. Nilai N </a:t>
            </a:r>
            <a:r>
              <a:rPr lang="en-US" sz="2000" dirty="0" err="1">
                <a:ea typeface="Overlock"/>
                <a:cs typeface="Overlock"/>
                <a:sym typeface="Overlock"/>
              </a:rPr>
              <a:t>berubah</a:t>
            </a:r>
            <a:r>
              <a:rPr lang="en-US" sz="2000" dirty="0">
                <a:ea typeface="Overlock"/>
                <a:cs typeface="Overlock"/>
                <a:sym typeface="Overlock"/>
              </a:rPr>
              <a:t>, mean </a:t>
            </a:r>
            <a:r>
              <a:rPr lang="en-US" sz="2000" dirty="0" err="1">
                <a:ea typeface="Overlock"/>
                <a:cs typeface="Overlock"/>
                <a:sym typeface="Overlock"/>
              </a:rPr>
              <a:t>mengecil</a:t>
            </a:r>
            <a:r>
              <a:rPr lang="en-US" sz="2000" dirty="0">
                <a:ea typeface="Overlock"/>
                <a:cs typeface="Overlock"/>
                <a:sym typeface="Overlock"/>
              </a:rPr>
              <a:t>, median </a:t>
            </a:r>
            <a:r>
              <a:rPr lang="en-US" sz="2000" dirty="0" err="1">
                <a:ea typeface="Overlock"/>
                <a:cs typeface="Overlock"/>
                <a:sym typeface="Overlock"/>
              </a:rPr>
              <a:t>masih</a:t>
            </a:r>
            <a:r>
              <a:rPr lang="en-US" sz="2000" dirty="0"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ea typeface="Overlock"/>
                <a:cs typeface="Overlock"/>
                <a:sym typeface="Overlock"/>
              </a:rPr>
              <a:t>dinilai</a:t>
            </a:r>
            <a:r>
              <a:rPr lang="en-US" sz="2000" dirty="0"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ea typeface="Overlock"/>
                <a:cs typeface="Overlock"/>
                <a:sym typeface="Overlock"/>
              </a:rPr>
              <a:t>yg</a:t>
            </a:r>
            <a:r>
              <a:rPr lang="en-US" sz="2000" dirty="0"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ea typeface="Overlock"/>
                <a:cs typeface="Overlock"/>
                <a:sym typeface="Overlock"/>
              </a:rPr>
              <a:t>sama</a:t>
            </a:r>
            <a:r>
              <a:rPr lang="en-US" sz="2000" dirty="0">
                <a:ea typeface="Overlock"/>
                <a:cs typeface="Overlock"/>
                <a:sym typeface="Overlock"/>
              </a:rPr>
              <a:t>. </a:t>
            </a:r>
            <a:endParaRPr sz="2800" dirty="0"/>
          </a:p>
        </p:txBody>
      </p:sp>
      <p:pic>
        <p:nvPicPr>
          <p:cNvPr id="697" name="Google Shape;697;p4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90153" y="2919775"/>
            <a:ext cx="2651813" cy="3295288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49"/>
          <p:cNvSpPr txBox="1"/>
          <p:nvPr/>
        </p:nvSpPr>
        <p:spPr>
          <a:xfrm>
            <a:off x="7704458" y="6435308"/>
            <a:ext cx="2550271" cy="328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US" sz="667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sumber gbr: </a:t>
            </a:r>
            <a:endParaRPr sz="2400"/>
          </a:p>
          <a:p>
            <a:r>
              <a:rPr lang="en-US" sz="667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https://protobi.com/post/extreme-values-winsorize-trim-or-retain</a:t>
            </a:r>
            <a:endParaRPr sz="24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5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rgbClr val="0F3570"/>
              </a:buClr>
              <a:buSzPct val="115226"/>
            </a:pPr>
            <a:r>
              <a:rPr lang="en-US" dirty="0">
                <a:solidFill>
                  <a:srgbClr val="0F3570"/>
                </a:solidFill>
                <a:ea typeface="Overlock"/>
                <a:sym typeface="Overlock"/>
              </a:rPr>
              <a:t>Discretization</a:t>
            </a:r>
            <a:endParaRPr dirty="0">
              <a:solidFill>
                <a:srgbClr val="0F3570"/>
              </a:solidFill>
              <a:ea typeface="Overlock"/>
              <a:sym typeface="Overlock"/>
            </a:endParaRPr>
          </a:p>
        </p:txBody>
      </p:sp>
      <p:sp>
        <p:nvSpPr>
          <p:cNvPr id="726" name="Google Shape;726;p51"/>
          <p:cNvSpPr txBox="1">
            <a:spLocks noGrp="1"/>
          </p:cNvSpPr>
          <p:nvPr>
            <p:ph type="sldNum" idx="4294967295"/>
          </p:nvPr>
        </p:nvSpPr>
        <p:spPr>
          <a:xfrm>
            <a:off x="11461750" y="6215063"/>
            <a:ext cx="730250" cy="52228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pPr>
              <a:buClr>
                <a:srgbClr val="000000"/>
              </a:buClr>
              <a:buSzPts val="1000"/>
            </a:pPr>
            <a:fld id="{00000000-1234-1234-1234-123412341234}" type="slidenum">
              <a:rPr lang="en-US"/>
              <a:pPr>
                <a:buClr>
                  <a:srgbClr val="000000"/>
                </a:buClr>
                <a:buSzPts val="1000"/>
              </a:pPr>
              <a:t>28</a:t>
            </a:fld>
            <a:endParaRPr/>
          </a:p>
        </p:txBody>
      </p:sp>
      <p:sp>
        <p:nvSpPr>
          <p:cNvPr id="727" name="Google Shape;727;p51"/>
          <p:cNvSpPr txBox="1"/>
          <p:nvPr/>
        </p:nvSpPr>
        <p:spPr>
          <a:xfrm>
            <a:off x="0" y="834391"/>
            <a:ext cx="6096001" cy="5094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609585" indent="-457189">
              <a:lnSpc>
                <a:spcPct val="115000"/>
              </a:lnSpc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-US" sz="2100" dirty="0" err="1">
                <a:ea typeface="Overlock"/>
                <a:cs typeface="Overlock"/>
                <a:sym typeface="Overlock"/>
              </a:rPr>
              <a:t>Definisi</a:t>
            </a:r>
            <a:r>
              <a:rPr lang="en-US" sz="2100" dirty="0">
                <a:ea typeface="Overlock"/>
                <a:cs typeface="Overlock"/>
                <a:sym typeface="Overlock"/>
              </a:rPr>
              <a:t>:</a:t>
            </a:r>
            <a:endParaRPr sz="2100" dirty="0"/>
          </a:p>
          <a:p>
            <a:pPr marL="1219170" lvl="1" indent="-423323">
              <a:lnSpc>
                <a:spcPct val="115000"/>
              </a:lnSpc>
              <a:buClr>
                <a:schemeClr val="dk2"/>
              </a:buClr>
              <a:buSzPct val="102564"/>
              <a:buFont typeface="Arial"/>
              <a:buChar char="•"/>
            </a:pPr>
            <a:r>
              <a:rPr lang="en-US" sz="2100" dirty="0">
                <a:ea typeface="Overlock"/>
                <a:cs typeface="Overlock"/>
                <a:sym typeface="Overlock"/>
              </a:rPr>
              <a:t>Proses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mengubah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fungsi</a:t>
            </a:r>
            <a:r>
              <a:rPr lang="en-US" sz="2100" dirty="0">
                <a:ea typeface="Overlock"/>
                <a:cs typeface="Overlock"/>
                <a:sym typeface="Overlock"/>
              </a:rPr>
              <a:t>, model dan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variabel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kontinu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menjadi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diskret</a:t>
            </a:r>
            <a:r>
              <a:rPr lang="en-US" sz="2100" dirty="0">
                <a:ea typeface="Overlock"/>
                <a:cs typeface="Overlock"/>
                <a:sym typeface="Overlock"/>
              </a:rPr>
              <a:t> (data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kontinu</a:t>
            </a:r>
            <a:r>
              <a:rPr lang="en-US" sz="2100" dirty="0">
                <a:ea typeface="Overlock"/>
                <a:cs typeface="Overlock"/>
                <a:sym typeface="Overlock"/>
              </a:rPr>
              <a:t> di </a:t>
            </a:r>
            <a:r>
              <a:rPr lang="en-US" sz="2100" i="1" dirty="0" err="1">
                <a:ea typeface="Overlock"/>
                <a:cs typeface="Overlock"/>
                <a:sym typeface="Overlock"/>
              </a:rPr>
              <a:t>Ukur</a:t>
            </a:r>
            <a:r>
              <a:rPr lang="en-US" sz="2100" i="1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>
                <a:ea typeface="Overlock"/>
                <a:cs typeface="Overlock"/>
                <a:sym typeface="Overlock"/>
              </a:rPr>
              <a:t>(measured) vs data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kontinu</a:t>
            </a:r>
            <a:r>
              <a:rPr lang="en-US" sz="2100" dirty="0">
                <a:ea typeface="Overlock"/>
                <a:cs typeface="Overlock"/>
                <a:sym typeface="Overlock"/>
              </a:rPr>
              <a:t> di </a:t>
            </a:r>
            <a:r>
              <a:rPr lang="en-US" sz="2100" i="1" dirty="0" err="1">
                <a:ea typeface="Overlock"/>
                <a:cs typeface="Overlock"/>
                <a:sym typeface="Overlock"/>
              </a:rPr>
              <a:t>Hitung</a:t>
            </a:r>
            <a:r>
              <a:rPr lang="en-US" sz="2100" dirty="0">
                <a:ea typeface="Overlock"/>
                <a:cs typeface="Overlock"/>
                <a:sym typeface="Overlock"/>
              </a:rPr>
              <a:t> (counted)).</a:t>
            </a:r>
            <a:endParaRPr sz="2100" dirty="0"/>
          </a:p>
          <a:p>
            <a:pPr marL="609585" indent="-457189">
              <a:lnSpc>
                <a:spcPct val="115000"/>
              </a:lnSpc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-US" sz="2100" dirty="0">
                <a:ea typeface="Overlock"/>
                <a:cs typeface="Overlock"/>
                <a:sym typeface="Overlock"/>
              </a:rPr>
              <a:t>Nama lain: Binning.</a:t>
            </a:r>
            <a:endParaRPr sz="2100" dirty="0"/>
          </a:p>
          <a:p>
            <a:pPr marL="609585" indent="-457189">
              <a:lnSpc>
                <a:spcPct val="115000"/>
              </a:lnSpc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-US" sz="2100" dirty="0">
                <a:ea typeface="Overlock"/>
                <a:cs typeface="Overlock"/>
                <a:sym typeface="Overlock"/>
              </a:rPr>
              <a:t>Dasar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Pertimbangan</a:t>
            </a:r>
            <a:r>
              <a:rPr lang="en-US" sz="2100" dirty="0">
                <a:ea typeface="Overlock"/>
                <a:cs typeface="Overlock"/>
                <a:sym typeface="Overlock"/>
              </a:rPr>
              <a:t>:</a:t>
            </a:r>
            <a:endParaRPr sz="2100" dirty="0"/>
          </a:p>
          <a:p>
            <a:pPr marL="1219170" lvl="1" indent="-423323">
              <a:lnSpc>
                <a:spcPct val="115000"/>
              </a:lnSpc>
              <a:buClr>
                <a:schemeClr val="dk2"/>
              </a:buClr>
              <a:buSzPct val="102564"/>
              <a:buFont typeface="Arial"/>
              <a:buChar char="•"/>
            </a:pPr>
            <a:r>
              <a:rPr lang="en-US" sz="2100" dirty="0">
                <a:ea typeface="Overlock"/>
                <a:cs typeface="Overlock"/>
                <a:sym typeface="Overlock"/>
              </a:rPr>
              <a:t>Data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kontinu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memiliki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derajat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kebebasan</a:t>
            </a:r>
            <a:r>
              <a:rPr lang="en-US" sz="2100" dirty="0">
                <a:ea typeface="Overlock"/>
                <a:cs typeface="Overlock"/>
                <a:sym typeface="Overlock"/>
              </a:rPr>
              <a:t> (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DoF</a:t>
            </a:r>
            <a:r>
              <a:rPr lang="en-US" sz="2100" dirty="0">
                <a:ea typeface="Overlock"/>
                <a:cs typeface="Overlock"/>
                <a:sym typeface="Overlock"/>
              </a:rPr>
              <a:t>) yang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tak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hingga</a:t>
            </a:r>
            <a:r>
              <a:rPr lang="en-US" sz="2100" dirty="0">
                <a:ea typeface="Overlock"/>
                <a:cs typeface="Overlock"/>
                <a:sym typeface="Overlock"/>
              </a:rPr>
              <a:t>.</a:t>
            </a:r>
            <a:endParaRPr sz="2100" dirty="0"/>
          </a:p>
          <a:p>
            <a:pPr marL="1219170" lvl="1" indent="-423323">
              <a:lnSpc>
                <a:spcPct val="115000"/>
              </a:lnSpc>
              <a:buClr>
                <a:schemeClr val="dk2"/>
              </a:buClr>
              <a:buSzPct val="102564"/>
              <a:buFont typeface="Arial"/>
              <a:buChar char="•"/>
            </a:pPr>
            <a:r>
              <a:rPr lang="en-US" sz="2100" dirty="0">
                <a:ea typeface="Overlock"/>
                <a:cs typeface="Overlock"/>
                <a:sym typeface="Overlock"/>
              </a:rPr>
              <a:t>Data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kontinu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lebih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mudah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dipahami</a:t>
            </a:r>
            <a:r>
              <a:rPr lang="en-US" sz="2100" dirty="0">
                <a:ea typeface="Overlock"/>
                <a:cs typeface="Overlock"/>
                <a:sym typeface="Overlock"/>
              </a:rPr>
              <a:t> dan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disimpan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dalam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bentuk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kategori</a:t>
            </a:r>
            <a:r>
              <a:rPr lang="en-US" sz="2100" dirty="0">
                <a:ea typeface="Overlock"/>
                <a:cs typeface="Overlock"/>
                <a:sym typeface="Overlock"/>
              </a:rPr>
              <a:t>/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grup</a:t>
            </a:r>
            <a:endParaRPr sz="2100" dirty="0">
              <a:ea typeface="Overlock"/>
              <a:cs typeface="Overlock"/>
              <a:sym typeface="Overlock"/>
            </a:endParaRPr>
          </a:p>
          <a:p>
            <a:pPr marL="1828754" lvl="2" indent="-423323">
              <a:lnSpc>
                <a:spcPct val="115000"/>
              </a:lnSpc>
              <a:buClr>
                <a:schemeClr val="dk2"/>
              </a:buClr>
              <a:buSzPct val="102564"/>
              <a:buFont typeface="Arial"/>
              <a:buChar char="•"/>
            </a:pPr>
            <a:r>
              <a:rPr lang="en-US" sz="2100" dirty="0" err="1">
                <a:ea typeface="Overlock"/>
                <a:cs typeface="Overlock"/>
                <a:sym typeface="Overlock"/>
              </a:rPr>
              <a:t>misal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berat</a:t>
            </a:r>
            <a:r>
              <a:rPr lang="en-US" sz="2100" dirty="0">
                <a:ea typeface="Overlock"/>
                <a:cs typeface="Overlock"/>
                <a:sym typeface="Overlock"/>
              </a:rPr>
              <a:t> badan &lt;  65 kg (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ringan</a:t>
            </a:r>
            <a:r>
              <a:rPr lang="en-US" sz="2100" dirty="0">
                <a:ea typeface="Overlock"/>
                <a:cs typeface="Overlock"/>
                <a:sym typeface="Overlock"/>
              </a:rPr>
              <a:t>); 65 – 80 kg (mid); &gt; 80 kg (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berat</a:t>
            </a:r>
            <a:r>
              <a:rPr lang="en-US" sz="2100" dirty="0">
                <a:ea typeface="Overlock"/>
                <a:cs typeface="Overlock"/>
                <a:sym typeface="Overlock"/>
              </a:rPr>
              <a:t>).</a:t>
            </a:r>
            <a:endParaRPr sz="2100" dirty="0"/>
          </a:p>
        </p:txBody>
      </p:sp>
      <p:pic>
        <p:nvPicPr>
          <p:cNvPr id="728" name="Google Shape;728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92432" y="2563903"/>
            <a:ext cx="5183968" cy="23144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5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rgbClr val="0F3570"/>
              </a:buClr>
              <a:buSzPct val="115226"/>
            </a:pPr>
            <a:r>
              <a:rPr lang="en-US" dirty="0">
                <a:solidFill>
                  <a:srgbClr val="0F3570"/>
                </a:solidFill>
                <a:ea typeface="Overlock"/>
                <a:sym typeface="Overlock"/>
              </a:rPr>
              <a:t>Discretization</a:t>
            </a:r>
            <a:endParaRPr dirty="0">
              <a:solidFill>
                <a:srgbClr val="0F3570"/>
              </a:solidFill>
              <a:ea typeface="Overlock"/>
              <a:sym typeface="Overlock"/>
            </a:endParaRPr>
          </a:p>
        </p:txBody>
      </p:sp>
      <p:sp>
        <p:nvSpPr>
          <p:cNvPr id="734" name="Google Shape;734;p52"/>
          <p:cNvSpPr txBox="1">
            <a:spLocks noGrp="1"/>
          </p:cNvSpPr>
          <p:nvPr>
            <p:ph type="sldNum" idx="4294967295"/>
          </p:nvPr>
        </p:nvSpPr>
        <p:spPr>
          <a:xfrm>
            <a:off x="11461750" y="6215063"/>
            <a:ext cx="730250" cy="52228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pPr>
              <a:buClr>
                <a:srgbClr val="000000"/>
              </a:buClr>
              <a:buSzPts val="1000"/>
            </a:pPr>
            <a:fld id="{00000000-1234-1234-1234-123412341234}" type="slidenum">
              <a:rPr lang="en-US"/>
              <a:pPr>
                <a:buClr>
                  <a:srgbClr val="000000"/>
                </a:buClr>
                <a:buSzPts val="1000"/>
              </a:pPr>
              <a:t>29</a:t>
            </a:fld>
            <a:endParaRPr/>
          </a:p>
        </p:txBody>
      </p:sp>
      <p:sp>
        <p:nvSpPr>
          <p:cNvPr id="735" name="Google Shape;735;p52"/>
          <p:cNvSpPr txBox="1"/>
          <p:nvPr/>
        </p:nvSpPr>
        <p:spPr>
          <a:xfrm>
            <a:off x="0" y="1661788"/>
            <a:ext cx="5334000" cy="4496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152396">
              <a:lnSpc>
                <a:spcPct val="115000"/>
              </a:lnSpc>
              <a:buClr>
                <a:schemeClr val="dk2"/>
              </a:buClr>
              <a:buSzPts val="1440"/>
            </a:pPr>
            <a:r>
              <a:rPr lang="en-US" sz="2400" dirty="0">
                <a:ea typeface="Overlock"/>
                <a:cs typeface="Overlock"/>
                <a:sym typeface="Overlock"/>
              </a:rPr>
              <a:t>Jenis:</a:t>
            </a:r>
            <a:endParaRPr sz="2400" dirty="0"/>
          </a:p>
          <a:p>
            <a:pPr marL="285750" lvl="1" indent="-171450">
              <a:lnSpc>
                <a:spcPct val="115000"/>
              </a:lnSpc>
              <a:buClr>
                <a:schemeClr val="dk2"/>
              </a:buClr>
              <a:buSzPts val="1400"/>
              <a:buFont typeface="Arial"/>
              <a:buChar char="•"/>
            </a:pPr>
            <a:r>
              <a:rPr lang="en-US" sz="2400" dirty="0">
                <a:ea typeface="Overlock"/>
                <a:cs typeface="Overlock"/>
                <a:sym typeface="Overlock"/>
              </a:rPr>
              <a:t>Supervised</a:t>
            </a:r>
            <a:endParaRPr sz="2400" dirty="0"/>
          </a:p>
          <a:p>
            <a:pPr marL="742950" lvl="2" indent="-342900">
              <a:lnSpc>
                <a:spcPct val="115000"/>
              </a:lnSpc>
              <a:buClr>
                <a:schemeClr val="dk2"/>
              </a:buClr>
              <a:buSzPts val="1400"/>
              <a:buFont typeface="Arial"/>
              <a:buChar char="•"/>
            </a:pPr>
            <a:r>
              <a:rPr lang="en-US" sz="2400" dirty="0">
                <a:ea typeface="Overlock"/>
                <a:cs typeface="Overlock"/>
                <a:sym typeface="Overlock"/>
              </a:rPr>
              <a:t>Decision Tree.</a:t>
            </a:r>
            <a:endParaRPr sz="2400" dirty="0"/>
          </a:p>
          <a:p>
            <a:pPr marL="285750" lvl="1" indent="-171450">
              <a:lnSpc>
                <a:spcPct val="115000"/>
              </a:lnSpc>
              <a:buClr>
                <a:schemeClr val="dk2"/>
              </a:buClr>
              <a:buSzPts val="1400"/>
              <a:buFont typeface="Arial"/>
              <a:buChar char="•"/>
            </a:pPr>
            <a:r>
              <a:rPr lang="en-US" sz="2400" dirty="0">
                <a:ea typeface="Overlock"/>
                <a:cs typeface="Overlock"/>
                <a:sym typeface="Overlock"/>
              </a:rPr>
              <a:t>Unsupervised</a:t>
            </a:r>
            <a:endParaRPr sz="2400" dirty="0"/>
          </a:p>
          <a:p>
            <a:pPr marL="742950" lvl="2" indent="-342900">
              <a:lnSpc>
                <a:spcPct val="115000"/>
              </a:lnSpc>
              <a:buClr>
                <a:schemeClr val="dk2"/>
              </a:buClr>
              <a:buSzPts val="1400"/>
              <a:buFont typeface="Arial"/>
              <a:buChar char="•"/>
            </a:pPr>
            <a:r>
              <a:rPr lang="en-US" sz="2400" dirty="0">
                <a:ea typeface="Overlock"/>
                <a:cs typeface="Overlock"/>
                <a:sym typeface="Overlock"/>
              </a:rPr>
              <a:t>Equal-width discretization.</a:t>
            </a:r>
            <a:endParaRPr sz="2400" dirty="0"/>
          </a:p>
          <a:p>
            <a:pPr marL="742950" lvl="2" indent="-342900">
              <a:lnSpc>
                <a:spcPct val="115000"/>
              </a:lnSpc>
              <a:buClr>
                <a:schemeClr val="dk2"/>
              </a:buClr>
              <a:buSzPts val="1400"/>
              <a:buFont typeface="Arial"/>
              <a:buChar char="•"/>
            </a:pPr>
            <a:r>
              <a:rPr lang="en-US" sz="2400" dirty="0">
                <a:ea typeface="Overlock"/>
                <a:cs typeface="Overlock"/>
                <a:sym typeface="Overlock"/>
              </a:rPr>
              <a:t>Equal-frequency discretization.</a:t>
            </a:r>
            <a:endParaRPr sz="2400" dirty="0"/>
          </a:p>
          <a:p>
            <a:pPr marL="742950" lvl="2" indent="-342900">
              <a:lnSpc>
                <a:spcPct val="115000"/>
              </a:lnSpc>
              <a:buClr>
                <a:schemeClr val="dk2"/>
              </a:buClr>
              <a:buSzPts val="1400"/>
              <a:buFont typeface="Arial"/>
              <a:buChar char="•"/>
            </a:pPr>
            <a:r>
              <a:rPr lang="en-US" sz="2400" dirty="0">
                <a:ea typeface="Overlock"/>
                <a:cs typeface="Overlock"/>
                <a:sym typeface="Overlock"/>
              </a:rPr>
              <a:t>K-means discretization.</a:t>
            </a:r>
            <a:endParaRPr sz="2400" dirty="0"/>
          </a:p>
          <a:p>
            <a:pPr marL="285750" lvl="1" indent="-171450">
              <a:lnSpc>
                <a:spcPct val="115000"/>
              </a:lnSpc>
              <a:buClr>
                <a:schemeClr val="dk2"/>
              </a:buClr>
              <a:buSzPts val="1400"/>
              <a:buFont typeface="Arial"/>
              <a:buChar char="•"/>
            </a:pPr>
            <a:r>
              <a:rPr lang="en-US" sz="2400" dirty="0" err="1">
                <a:ea typeface="Overlock"/>
                <a:cs typeface="Overlock"/>
                <a:sym typeface="Overlock"/>
              </a:rPr>
              <a:t>Lainnya</a:t>
            </a:r>
            <a:endParaRPr sz="2400" dirty="0"/>
          </a:p>
          <a:p>
            <a:pPr marL="742950" lvl="2" indent="-342900">
              <a:lnSpc>
                <a:spcPct val="115000"/>
              </a:lnSpc>
              <a:buClr>
                <a:schemeClr val="dk2"/>
              </a:buClr>
              <a:buSzPts val="1400"/>
              <a:buFont typeface="Arial"/>
              <a:buChar char="•"/>
            </a:pPr>
            <a:r>
              <a:rPr lang="en-US" sz="2400" dirty="0">
                <a:ea typeface="Overlock"/>
                <a:cs typeface="Overlock"/>
                <a:sym typeface="Overlock"/>
              </a:rPr>
              <a:t>Custom discretization.</a:t>
            </a:r>
            <a:endParaRPr sz="2400" dirty="0"/>
          </a:p>
        </p:txBody>
      </p:sp>
      <p:pic>
        <p:nvPicPr>
          <p:cNvPr id="736" name="Google Shape;736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92040" y="1661788"/>
            <a:ext cx="7299960" cy="4418430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p52"/>
          <p:cNvSpPr txBox="1"/>
          <p:nvPr/>
        </p:nvSpPr>
        <p:spPr>
          <a:xfrm>
            <a:off x="6444252" y="1330860"/>
            <a:ext cx="438912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ctr"/>
            <a:r>
              <a:rPr lang="en-US" sz="2400" dirty="0" err="1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Taksonomi</a:t>
            </a:r>
            <a:r>
              <a:rPr lang="en-US" sz="2400" dirty="0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 Discretization</a:t>
            </a:r>
            <a:endParaRPr sz="2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5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rgbClr val="0F3570"/>
              </a:buClr>
              <a:buSzPct val="115226"/>
            </a:pPr>
            <a:r>
              <a:rPr lang="en-US" dirty="0">
                <a:solidFill>
                  <a:srgbClr val="0F3570"/>
                </a:solidFill>
                <a:ea typeface="Overlock"/>
                <a:sym typeface="Overlock"/>
              </a:rPr>
              <a:t>Binning</a:t>
            </a:r>
            <a:endParaRPr dirty="0"/>
          </a:p>
        </p:txBody>
      </p:sp>
      <p:sp>
        <p:nvSpPr>
          <p:cNvPr id="743" name="Google Shape;743;p53"/>
          <p:cNvSpPr txBox="1">
            <a:spLocks noGrp="1"/>
          </p:cNvSpPr>
          <p:nvPr>
            <p:ph type="sldNum" idx="4294967295"/>
          </p:nvPr>
        </p:nvSpPr>
        <p:spPr>
          <a:xfrm>
            <a:off x="11461750" y="6215063"/>
            <a:ext cx="730250" cy="52228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pPr>
              <a:buClr>
                <a:srgbClr val="000000"/>
              </a:buClr>
              <a:buSzPts val="1000"/>
            </a:pPr>
            <a:fld id="{00000000-1234-1234-1234-123412341234}" type="slidenum">
              <a:rPr lang="en-US"/>
              <a:pPr>
                <a:buClr>
                  <a:srgbClr val="000000"/>
                </a:buClr>
                <a:buSzPts val="1000"/>
              </a:pPr>
              <a:t>30</a:t>
            </a:fld>
            <a:endParaRPr/>
          </a:p>
        </p:txBody>
      </p:sp>
      <p:sp>
        <p:nvSpPr>
          <p:cNvPr id="744" name="Google Shape;744;p53"/>
          <p:cNvSpPr txBox="1"/>
          <p:nvPr/>
        </p:nvSpPr>
        <p:spPr>
          <a:xfrm>
            <a:off x="0" y="788670"/>
            <a:ext cx="7143750" cy="5610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85750" indent="-228600">
              <a:lnSpc>
                <a:spcPct val="115000"/>
              </a:lnSpc>
              <a:buClr>
                <a:schemeClr val="dk2"/>
              </a:buClr>
              <a:buSzPct val="79999"/>
              <a:buFont typeface="Arial"/>
              <a:buChar char="●"/>
            </a:pPr>
            <a:r>
              <a:rPr lang="en-US" sz="2100" dirty="0">
                <a:ea typeface="Overlock"/>
                <a:cs typeface="Overlock"/>
                <a:sym typeface="Overlock"/>
              </a:rPr>
              <a:t>Pro:</a:t>
            </a:r>
            <a:endParaRPr sz="2100" dirty="0"/>
          </a:p>
          <a:p>
            <a:pPr marL="571500" lvl="1" indent="-285750">
              <a:lnSpc>
                <a:spcPct val="115000"/>
              </a:lnSpc>
              <a:buClr>
                <a:schemeClr val="dk2"/>
              </a:buClr>
              <a:buSzPct val="109375"/>
              <a:buFont typeface="Arial"/>
              <a:buChar char="•"/>
            </a:pPr>
            <a:r>
              <a:rPr lang="en-US" sz="2100" dirty="0" err="1">
                <a:ea typeface="Overlock"/>
                <a:cs typeface="Overlock"/>
                <a:sym typeface="Overlock"/>
              </a:rPr>
              <a:t>Dapat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diterapkan</a:t>
            </a:r>
            <a:r>
              <a:rPr lang="en-US" sz="2100" dirty="0">
                <a:ea typeface="Overlock"/>
                <a:cs typeface="Overlock"/>
                <a:sym typeface="Overlock"/>
              </a:rPr>
              <a:t> pada data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kategorik</a:t>
            </a:r>
            <a:r>
              <a:rPr lang="en-US" sz="2100" dirty="0">
                <a:ea typeface="Overlock"/>
                <a:cs typeface="Overlock"/>
                <a:sym typeface="Overlock"/>
              </a:rPr>
              <a:t> dan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numerik</a:t>
            </a:r>
            <a:r>
              <a:rPr lang="en-US" sz="2100" dirty="0">
                <a:ea typeface="Overlock"/>
                <a:cs typeface="Overlock"/>
                <a:sym typeface="Overlock"/>
              </a:rPr>
              <a:t>.</a:t>
            </a:r>
            <a:endParaRPr sz="2100" dirty="0"/>
          </a:p>
          <a:p>
            <a:pPr marL="571500" lvl="1" indent="-285750">
              <a:lnSpc>
                <a:spcPct val="115000"/>
              </a:lnSpc>
              <a:buClr>
                <a:schemeClr val="dk2"/>
              </a:buClr>
              <a:buSzPct val="109375"/>
              <a:buFont typeface="Arial"/>
              <a:buChar char="•"/>
            </a:pPr>
            <a:r>
              <a:rPr lang="en-US" sz="2100" dirty="0">
                <a:ea typeface="Overlock"/>
                <a:cs typeface="Overlock"/>
                <a:sym typeface="Overlock"/>
              </a:rPr>
              <a:t>Model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lebih</a:t>
            </a:r>
            <a:r>
              <a:rPr lang="en-US" sz="2100" dirty="0">
                <a:ea typeface="Overlock"/>
                <a:cs typeface="Overlock"/>
                <a:sym typeface="Overlock"/>
              </a:rPr>
              <a:t> robust dan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mencegah</a:t>
            </a:r>
            <a:r>
              <a:rPr lang="en-US" sz="2100" dirty="0">
                <a:ea typeface="Overlock"/>
                <a:cs typeface="Overlock"/>
                <a:sym typeface="Overlock"/>
              </a:rPr>
              <a:t> overfitting.</a:t>
            </a:r>
            <a:endParaRPr sz="2100" dirty="0"/>
          </a:p>
          <a:p>
            <a:pPr marL="285750" indent="-228600">
              <a:lnSpc>
                <a:spcPct val="115000"/>
              </a:lnSpc>
              <a:buClr>
                <a:schemeClr val="dk2"/>
              </a:buClr>
              <a:buSzPct val="79999"/>
              <a:buFont typeface="Arial"/>
              <a:buChar char="●"/>
            </a:pPr>
            <a:r>
              <a:rPr lang="en-US" sz="2100" dirty="0">
                <a:ea typeface="Overlock"/>
                <a:cs typeface="Overlock"/>
                <a:sym typeface="Overlock"/>
              </a:rPr>
              <a:t>Kontra:</a:t>
            </a:r>
            <a:endParaRPr sz="2100" dirty="0"/>
          </a:p>
          <a:p>
            <a:pPr marL="571500" lvl="2" indent="-285750">
              <a:lnSpc>
                <a:spcPct val="115000"/>
              </a:lnSpc>
              <a:buClr>
                <a:schemeClr val="dk2"/>
              </a:buClr>
              <a:buSzPct val="109375"/>
              <a:buFont typeface="Arial"/>
              <a:buChar char="•"/>
            </a:pPr>
            <a:r>
              <a:rPr lang="en-US" sz="2100" dirty="0" err="1">
                <a:ea typeface="Overlock"/>
                <a:cs typeface="Overlock"/>
                <a:sym typeface="Overlock"/>
              </a:rPr>
              <a:t>Meningkatnya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biaya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kinerja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perhitungan</a:t>
            </a:r>
            <a:r>
              <a:rPr lang="en-US" sz="2100" dirty="0">
                <a:ea typeface="Overlock"/>
                <a:cs typeface="Overlock"/>
                <a:sym typeface="Overlock"/>
              </a:rPr>
              <a:t>.</a:t>
            </a:r>
            <a:endParaRPr sz="2100" dirty="0"/>
          </a:p>
          <a:p>
            <a:pPr marL="571500" lvl="2" indent="-285750">
              <a:lnSpc>
                <a:spcPct val="115000"/>
              </a:lnSpc>
              <a:buClr>
                <a:schemeClr val="dk2"/>
              </a:buClr>
              <a:buSzPct val="109375"/>
              <a:buFont typeface="Arial"/>
              <a:buChar char="•"/>
            </a:pPr>
            <a:r>
              <a:rPr lang="en-US" sz="2100" dirty="0" err="1">
                <a:ea typeface="Overlock"/>
                <a:cs typeface="Overlock"/>
                <a:sym typeface="Overlock"/>
              </a:rPr>
              <a:t>Mengorbankan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informasi</a:t>
            </a:r>
            <a:r>
              <a:rPr lang="en-US" sz="2100" dirty="0">
                <a:ea typeface="Overlock"/>
                <a:cs typeface="Overlock"/>
                <a:sym typeface="Overlock"/>
              </a:rPr>
              <a:t>.</a:t>
            </a:r>
            <a:endParaRPr sz="2100" dirty="0"/>
          </a:p>
          <a:p>
            <a:pPr marL="571500" lvl="2" indent="-285750">
              <a:lnSpc>
                <a:spcPct val="115000"/>
              </a:lnSpc>
              <a:buClr>
                <a:schemeClr val="dk2"/>
              </a:buClr>
              <a:buSzPct val="109375"/>
              <a:buFont typeface="Arial"/>
              <a:buChar char="•"/>
            </a:pPr>
            <a:r>
              <a:rPr lang="en-US" sz="2100" dirty="0" err="1">
                <a:ea typeface="Overlock"/>
                <a:cs typeface="Overlock"/>
                <a:sym typeface="Overlock"/>
              </a:rPr>
              <a:t>Untuk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kolom</a:t>
            </a:r>
            <a:r>
              <a:rPr lang="en-US" sz="2100" dirty="0">
                <a:ea typeface="Overlock"/>
                <a:cs typeface="Overlock"/>
                <a:sym typeface="Overlock"/>
              </a:rPr>
              <a:t> data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numerik</a:t>
            </a:r>
            <a:r>
              <a:rPr lang="en-US" sz="2100" dirty="0">
                <a:ea typeface="Overlock"/>
                <a:cs typeface="Overlock"/>
                <a:sym typeface="Overlock"/>
              </a:rPr>
              <a:t>,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dapat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menyebabkan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redudansi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untuk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beberapa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algoritma</a:t>
            </a:r>
            <a:r>
              <a:rPr lang="en-US" sz="2100" dirty="0">
                <a:ea typeface="Overlock"/>
                <a:cs typeface="Overlock"/>
                <a:sym typeface="Overlock"/>
              </a:rPr>
              <a:t>.</a:t>
            </a:r>
            <a:endParaRPr sz="2100" dirty="0"/>
          </a:p>
          <a:p>
            <a:pPr marL="571500" lvl="2" indent="-285750">
              <a:lnSpc>
                <a:spcPct val="115000"/>
              </a:lnSpc>
              <a:buClr>
                <a:schemeClr val="dk2"/>
              </a:buClr>
              <a:buSzPct val="109375"/>
              <a:buFont typeface="Arial"/>
              <a:buChar char="•"/>
            </a:pPr>
            <a:r>
              <a:rPr lang="en-US" sz="2100" dirty="0" err="1">
                <a:ea typeface="Overlock"/>
                <a:cs typeface="Overlock"/>
                <a:sym typeface="Overlock"/>
              </a:rPr>
              <a:t>Untuk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kolom</a:t>
            </a:r>
            <a:r>
              <a:rPr lang="en-US" sz="2100" dirty="0">
                <a:ea typeface="Overlock"/>
                <a:cs typeface="Overlock"/>
                <a:sym typeface="Overlock"/>
              </a:rPr>
              <a:t> data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kategorik</a:t>
            </a:r>
            <a:r>
              <a:rPr lang="en-US" sz="2100" dirty="0">
                <a:ea typeface="Overlock"/>
                <a:cs typeface="Overlock"/>
                <a:sym typeface="Overlock"/>
              </a:rPr>
              <a:t>, label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dengan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frekuensi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rendah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berdampak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negatif</a:t>
            </a:r>
            <a:r>
              <a:rPr lang="en-US" sz="2100" dirty="0">
                <a:ea typeface="Overlock"/>
                <a:cs typeface="Overlock"/>
                <a:sym typeface="Overlock"/>
              </a:rPr>
              <a:t> pada robustness model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statistik</a:t>
            </a:r>
            <a:r>
              <a:rPr lang="en-US" sz="2100" dirty="0">
                <a:ea typeface="Overlock"/>
                <a:cs typeface="Overlock"/>
                <a:sym typeface="Overlock"/>
              </a:rPr>
              <a:t>.</a:t>
            </a:r>
            <a:endParaRPr sz="2100" dirty="0"/>
          </a:p>
          <a:p>
            <a:pPr marL="571500" lvl="2" indent="-285750">
              <a:lnSpc>
                <a:spcPct val="115000"/>
              </a:lnSpc>
              <a:buClr>
                <a:schemeClr val="dk2"/>
              </a:buClr>
              <a:buSzPct val="109375"/>
              <a:buFont typeface="Arial"/>
              <a:buChar char="•"/>
            </a:pPr>
            <a:r>
              <a:rPr lang="en-US" sz="2100" dirty="0" err="1">
                <a:ea typeface="Overlock"/>
                <a:cs typeface="Overlock"/>
                <a:sym typeface="Overlock"/>
              </a:rPr>
              <a:t>Untuk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ukuran</a:t>
            </a:r>
            <a:r>
              <a:rPr lang="en-US" sz="2100" dirty="0">
                <a:ea typeface="Overlock"/>
                <a:cs typeface="Overlock"/>
                <a:sym typeface="Overlock"/>
              </a:rPr>
              <a:t> data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dengan</a:t>
            </a:r>
            <a:r>
              <a:rPr lang="en-US" sz="2100" dirty="0">
                <a:ea typeface="Overlock"/>
                <a:cs typeface="Overlock"/>
                <a:sym typeface="Overlock"/>
              </a:rPr>
              <a:t> 100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ribu</a:t>
            </a:r>
            <a:r>
              <a:rPr lang="en-US" sz="2100" dirty="0">
                <a:ea typeface="Overlock"/>
                <a:cs typeface="Overlock"/>
                <a:sym typeface="Overlock"/>
              </a:rPr>
              <a:t> baris,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disarankan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menggabungkan</a:t>
            </a:r>
            <a:r>
              <a:rPr lang="en-US" sz="2100" dirty="0">
                <a:ea typeface="Overlock"/>
                <a:cs typeface="Overlock"/>
                <a:sym typeface="Overlock"/>
              </a:rPr>
              <a:t> label/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kolom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dengan</a:t>
            </a:r>
            <a:r>
              <a:rPr lang="en-US" sz="2100" dirty="0">
                <a:ea typeface="Overlock"/>
                <a:cs typeface="Overlock"/>
                <a:sym typeface="Overlock"/>
              </a:rPr>
              <a:t> record yang &lt; 100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menjadi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kategori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baru</a:t>
            </a:r>
            <a:r>
              <a:rPr lang="en-US" sz="2100" dirty="0">
                <a:ea typeface="Overlock"/>
                <a:cs typeface="Overlock"/>
                <a:sym typeface="Overlock"/>
              </a:rPr>
              <a:t>,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misal</a:t>
            </a:r>
            <a:r>
              <a:rPr lang="en-US" sz="2100" dirty="0">
                <a:ea typeface="Overlock"/>
                <a:cs typeface="Overlock"/>
                <a:sym typeface="Overlock"/>
              </a:rPr>
              <a:t> “Lain-lain”.</a:t>
            </a:r>
            <a:endParaRPr sz="2100" dirty="0">
              <a:ea typeface="Overlock"/>
              <a:cs typeface="Overlock"/>
              <a:sym typeface="Overlock"/>
            </a:endParaRPr>
          </a:p>
        </p:txBody>
      </p:sp>
      <p:pic>
        <p:nvPicPr>
          <p:cNvPr id="745" name="Google Shape;745;p53"/>
          <p:cNvPicPr preferRelativeResize="0"/>
          <p:nvPr/>
        </p:nvPicPr>
        <p:blipFill rotWithShape="1">
          <a:blip r:embed="rId3">
            <a:alphaModFix/>
          </a:blip>
          <a:srcRect r="33302" b="13713"/>
          <a:stretch/>
        </p:blipFill>
        <p:spPr>
          <a:xfrm>
            <a:off x="7061450" y="1746972"/>
            <a:ext cx="4945844" cy="2212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46" name="Google Shape;746;p53"/>
          <p:cNvPicPr preferRelativeResize="0"/>
          <p:nvPr/>
        </p:nvPicPr>
        <p:blipFill rotWithShape="1">
          <a:blip r:embed="rId3">
            <a:alphaModFix/>
          </a:blip>
          <a:srcRect l="67634" b="12846"/>
          <a:stretch/>
        </p:blipFill>
        <p:spPr>
          <a:xfrm>
            <a:off x="8279769" y="4154225"/>
            <a:ext cx="2509199" cy="2336171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p53"/>
          <p:cNvSpPr txBox="1"/>
          <p:nvPr/>
        </p:nvSpPr>
        <p:spPr>
          <a:xfrm>
            <a:off x="7664342" y="1141602"/>
            <a:ext cx="3740057" cy="86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US" sz="2400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Ilustrasi binning untuk data numerik</a:t>
            </a:r>
            <a:endParaRPr sz="24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5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rgbClr val="0F3570"/>
              </a:buClr>
              <a:buSzPct val="115226"/>
            </a:pPr>
            <a:r>
              <a:rPr lang="en-US" dirty="0">
                <a:solidFill>
                  <a:srgbClr val="0F3570"/>
                </a:solidFill>
                <a:ea typeface="Overlock"/>
                <a:sym typeface="Overlock"/>
              </a:rPr>
              <a:t>Scaling (</a:t>
            </a:r>
            <a:r>
              <a:rPr lang="en-US" dirty="0" err="1">
                <a:solidFill>
                  <a:srgbClr val="0F3570"/>
                </a:solidFill>
                <a:ea typeface="Overlock"/>
                <a:sym typeface="Overlock"/>
              </a:rPr>
              <a:t>Penskalaan</a:t>
            </a:r>
            <a:r>
              <a:rPr lang="en-US" dirty="0">
                <a:solidFill>
                  <a:srgbClr val="0F3570"/>
                </a:solidFill>
                <a:ea typeface="Overlock"/>
                <a:sym typeface="Overlock"/>
              </a:rPr>
              <a:t>)</a:t>
            </a:r>
            <a:endParaRPr dirty="0"/>
          </a:p>
        </p:txBody>
      </p:sp>
      <p:sp>
        <p:nvSpPr>
          <p:cNvPr id="791" name="Google Shape;791;p56"/>
          <p:cNvSpPr txBox="1">
            <a:spLocks noGrp="1"/>
          </p:cNvSpPr>
          <p:nvPr>
            <p:ph type="sldNum" idx="4294967295"/>
          </p:nvPr>
        </p:nvSpPr>
        <p:spPr>
          <a:xfrm>
            <a:off x="11461750" y="6215063"/>
            <a:ext cx="730250" cy="52228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pPr>
              <a:buClr>
                <a:srgbClr val="000000"/>
              </a:buClr>
              <a:buSzPts val="1000"/>
            </a:pPr>
            <a:fld id="{00000000-1234-1234-1234-123412341234}" type="slidenum">
              <a:rPr lang="en-US"/>
              <a:pPr>
                <a:buClr>
                  <a:srgbClr val="000000"/>
                </a:buClr>
                <a:buSzPts val="1000"/>
              </a:pPr>
              <a:t>31</a:t>
            </a:fld>
            <a:endParaRPr/>
          </a:p>
        </p:txBody>
      </p:sp>
      <p:sp>
        <p:nvSpPr>
          <p:cNvPr id="792" name="Google Shape;792;p56"/>
          <p:cNvSpPr txBox="1"/>
          <p:nvPr/>
        </p:nvSpPr>
        <p:spPr>
          <a:xfrm>
            <a:off x="415602" y="1609413"/>
            <a:ext cx="5787977" cy="4540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85750" lvl="1" indent="-228600">
              <a:lnSpc>
                <a:spcPct val="115000"/>
              </a:lnSpc>
              <a:buClr>
                <a:schemeClr val="dk2"/>
              </a:buClr>
              <a:buSzPct val="111111"/>
              <a:buFont typeface="Arial"/>
              <a:buChar char="•"/>
            </a:pPr>
            <a:r>
              <a:rPr lang="en-US" sz="2100" dirty="0">
                <a:ea typeface="Overlock"/>
                <a:cs typeface="Overlock"/>
                <a:sym typeface="Overlock"/>
              </a:rPr>
              <a:t>Sering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diabaikan</a:t>
            </a:r>
            <a:r>
              <a:rPr lang="en-US" sz="2100" dirty="0">
                <a:ea typeface="Overlock"/>
                <a:cs typeface="Overlock"/>
                <a:sym typeface="Overlock"/>
              </a:rPr>
              <a:t> oleh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pemula</a:t>
            </a:r>
            <a:r>
              <a:rPr lang="en-US" sz="2100" dirty="0">
                <a:ea typeface="Overlock"/>
                <a:cs typeface="Overlock"/>
                <a:sym typeface="Overlock"/>
              </a:rPr>
              <a:t> di Data Science.</a:t>
            </a:r>
            <a:endParaRPr sz="2100" dirty="0"/>
          </a:p>
          <a:p>
            <a:pPr marL="285750" lvl="1" indent="-228600">
              <a:lnSpc>
                <a:spcPct val="115000"/>
              </a:lnSpc>
              <a:buClr>
                <a:schemeClr val="dk2"/>
              </a:buClr>
              <a:buSzPct val="111111"/>
              <a:buFont typeface="Arial"/>
              <a:buChar char="•"/>
            </a:pPr>
            <a:r>
              <a:rPr lang="en-US" sz="2100" dirty="0">
                <a:ea typeface="Overlock"/>
                <a:cs typeface="Overlock"/>
                <a:sym typeface="Overlock"/>
              </a:rPr>
              <a:t>Data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numerik</a:t>
            </a:r>
            <a:r>
              <a:rPr lang="en-US" sz="2100" dirty="0">
                <a:ea typeface="Overlock"/>
                <a:cs typeface="Overlock"/>
                <a:sym typeface="Overlock"/>
              </a:rPr>
              <a:t> (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biasanya</a:t>
            </a:r>
            <a:r>
              <a:rPr lang="en-US" sz="2100" dirty="0">
                <a:ea typeface="Overlock"/>
                <a:cs typeface="Overlock"/>
                <a:sym typeface="Overlock"/>
              </a:rPr>
              <a:t>)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tidak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memiliki</a:t>
            </a:r>
            <a:r>
              <a:rPr lang="en-US" sz="2100" dirty="0">
                <a:ea typeface="Overlock"/>
                <a:cs typeface="Overlock"/>
                <a:sym typeface="Overlock"/>
              </a:rPr>
              <a:t> range. range  “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Usia</a:t>
            </a:r>
            <a:r>
              <a:rPr lang="en-US" sz="2100" dirty="0">
                <a:ea typeface="Overlock"/>
                <a:cs typeface="Overlock"/>
                <a:sym typeface="Overlock"/>
              </a:rPr>
              <a:t>” vs range “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Gaji</a:t>
            </a:r>
            <a:r>
              <a:rPr lang="en-US" sz="2100" dirty="0">
                <a:ea typeface="Overlock"/>
                <a:cs typeface="Overlock"/>
                <a:sym typeface="Overlock"/>
              </a:rPr>
              <a:t>”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tidak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sama</a:t>
            </a:r>
            <a:r>
              <a:rPr lang="en-US" sz="2100" dirty="0">
                <a:ea typeface="Overlock"/>
                <a:cs typeface="Overlock"/>
                <a:sym typeface="Overlock"/>
              </a:rPr>
              <a:t> (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karakteristik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berbeda</a:t>
            </a:r>
            <a:r>
              <a:rPr lang="en-US" sz="2100" dirty="0">
                <a:ea typeface="Overlock"/>
                <a:cs typeface="Overlock"/>
                <a:sym typeface="Overlock"/>
              </a:rPr>
              <a:t>). </a:t>
            </a:r>
            <a:r>
              <a:rPr lang="en-US" sz="2100" i="1" dirty="0" err="1">
                <a:ea typeface="Overlock"/>
                <a:cs typeface="Overlock"/>
                <a:sym typeface="Overlock"/>
              </a:rPr>
              <a:t>Usia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memiliki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rentang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dari</a:t>
            </a:r>
            <a:r>
              <a:rPr lang="en-US" sz="2100" dirty="0">
                <a:ea typeface="Overlock"/>
                <a:cs typeface="Overlock"/>
                <a:sym typeface="Overlock"/>
              </a:rPr>
              <a:t> 1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sampai</a:t>
            </a:r>
            <a:r>
              <a:rPr lang="en-US" sz="2100" dirty="0">
                <a:ea typeface="Overlock"/>
                <a:cs typeface="Overlock"/>
                <a:sym typeface="Overlock"/>
              </a:rPr>
              <a:t> 150 (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dalam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tahun</a:t>
            </a:r>
            <a:r>
              <a:rPr lang="en-US" sz="2100" dirty="0">
                <a:ea typeface="Overlock"/>
                <a:cs typeface="Overlock"/>
                <a:sym typeface="Overlock"/>
              </a:rPr>
              <a:t>),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sedangkan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i="1" dirty="0" err="1">
                <a:ea typeface="Overlock"/>
                <a:cs typeface="Overlock"/>
                <a:sym typeface="Overlock"/>
              </a:rPr>
              <a:t>Gaji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memiliki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rentang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dari</a:t>
            </a:r>
            <a:r>
              <a:rPr lang="en-US" sz="2100" dirty="0">
                <a:ea typeface="Overlock"/>
                <a:cs typeface="Overlock"/>
                <a:sym typeface="Overlock"/>
              </a:rPr>
              <a:t> 10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ribu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sampai</a:t>
            </a:r>
            <a:r>
              <a:rPr lang="en-US" sz="2100" dirty="0">
                <a:ea typeface="Overlock"/>
                <a:cs typeface="Overlock"/>
                <a:sym typeface="Overlock"/>
              </a:rPr>
              <a:t> 100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ribu</a:t>
            </a:r>
            <a:r>
              <a:rPr lang="en-US" sz="2100" dirty="0">
                <a:ea typeface="Overlock"/>
                <a:cs typeface="Overlock"/>
                <a:sym typeface="Overlock"/>
              </a:rPr>
              <a:t> (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dalam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dolar</a:t>
            </a:r>
            <a:r>
              <a:rPr lang="en-US" sz="2100" dirty="0">
                <a:ea typeface="Overlock"/>
                <a:cs typeface="Overlock"/>
                <a:sym typeface="Overlock"/>
              </a:rPr>
              <a:t>).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Untuk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itu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membandingkan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perlu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i="1" dirty="0">
                <a:ea typeface="Overlock"/>
                <a:cs typeface="Overlock"/>
                <a:sym typeface="Overlock"/>
              </a:rPr>
              <a:t>scaling</a:t>
            </a:r>
            <a:r>
              <a:rPr lang="en-US" sz="2100" dirty="0">
                <a:ea typeface="Overlock"/>
                <a:cs typeface="Overlock"/>
                <a:sym typeface="Overlock"/>
              </a:rPr>
              <a:t>.</a:t>
            </a:r>
            <a:endParaRPr sz="2100" dirty="0"/>
          </a:p>
          <a:p>
            <a:pPr marL="285750" lvl="1" indent="-228600">
              <a:lnSpc>
                <a:spcPct val="115000"/>
              </a:lnSpc>
              <a:buClr>
                <a:schemeClr val="dk2"/>
              </a:buClr>
              <a:buSzPct val="111111"/>
              <a:buFont typeface="Arial"/>
              <a:buChar char="•"/>
            </a:pPr>
            <a:r>
              <a:rPr lang="en-US" sz="2100" dirty="0" err="1">
                <a:ea typeface="Overlock"/>
                <a:cs typeface="Overlock"/>
                <a:sym typeface="Overlock"/>
              </a:rPr>
              <a:t>Beberapa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algoritma</a:t>
            </a:r>
            <a:r>
              <a:rPr lang="en-US" sz="2100" dirty="0">
                <a:ea typeface="Overlock"/>
                <a:cs typeface="Overlock"/>
                <a:sym typeface="Overlock"/>
              </a:rPr>
              <a:t> Machine Learning (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regresi</a:t>
            </a:r>
            <a:r>
              <a:rPr lang="en-US" sz="2100" dirty="0">
                <a:ea typeface="Overlock"/>
                <a:cs typeface="Overlock"/>
                <a:sym typeface="Overlock"/>
              </a:rPr>
              <a:t> linear dan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logistik</a:t>
            </a:r>
            <a:r>
              <a:rPr lang="en-US" sz="2100" dirty="0">
                <a:ea typeface="Overlock"/>
                <a:cs typeface="Overlock"/>
                <a:sym typeface="Overlock"/>
              </a:rPr>
              <a:t> dan Neural Network; SVM, KNN, K-means; LDA; PCA) yang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menggunakan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teknik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optimasi</a:t>
            </a:r>
            <a:r>
              <a:rPr lang="en-US" sz="2100" dirty="0">
                <a:ea typeface="Overlock"/>
                <a:cs typeface="Overlock"/>
                <a:sym typeface="Overlock"/>
              </a:rPr>
              <a:t> Euclidian Distance 2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poin</a:t>
            </a:r>
            <a:r>
              <a:rPr lang="en-US" sz="2100" dirty="0">
                <a:ea typeface="Overlock"/>
                <a:cs typeface="Overlock"/>
                <a:sym typeface="Overlock"/>
              </a:rPr>
              <a:t> (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titik</a:t>
            </a:r>
            <a:r>
              <a:rPr lang="en-US" sz="2100" dirty="0">
                <a:ea typeface="Overlock"/>
                <a:cs typeface="Overlock"/>
                <a:sym typeface="Overlock"/>
              </a:rPr>
              <a:t>).</a:t>
            </a:r>
            <a:endParaRPr sz="2100" dirty="0"/>
          </a:p>
        </p:txBody>
      </p:sp>
      <p:sp>
        <p:nvSpPr>
          <p:cNvPr id="793" name="Google Shape;793;p56"/>
          <p:cNvSpPr txBox="1"/>
          <p:nvPr/>
        </p:nvSpPr>
        <p:spPr>
          <a:xfrm>
            <a:off x="6203579" y="3604271"/>
            <a:ext cx="5889361" cy="2882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457177" indent="-457177">
              <a:lnSpc>
                <a:spcPct val="120000"/>
              </a:lnSpc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dirty="0">
                <a:ea typeface="Overlock"/>
                <a:cs typeface="Overlock"/>
                <a:sym typeface="Overlock"/>
              </a:rPr>
              <a:t>Dengan </a:t>
            </a:r>
            <a:r>
              <a:rPr lang="en-US" dirty="0" err="1">
                <a:ea typeface="Overlock"/>
                <a:cs typeface="Overlock"/>
                <a:sym typeface="Overlock"/>
              </a:rPr>
              <a:t>menggunakan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rumus</a:t>
            </a:r>
            <a:r>
              <a:rPr lang="en-US" dirty="0">
                <a:ea typeface="Overlock"/>
                <a:cs typeface="Overlock"/>
                <a:sym typeface="Overlock"/>
              </a:rPr>
              <a:t> Euclidean Distance di </a:t>
            </a:r>
            <a:r>
              <a:rPr lang="en-US" dirty="0" err="1">
                <a:ea typeface="Overlock"/>
                <a:cs typeface="Overlock"/>
                <a:sym typeface="Overlock"/>
              </a:rPr>
              <a:t>atas</a:t>
            </a:r>
            <a:r>
              <a:rPr lang="en-US" dirty="0">
                <a:ea typeface="Overlock"/>
                <a:cs typeface="Overlock"/>
                <a:sym typeface="Overlock"/>
              </a:rPr>
              <a:t>, </a:t>
            </a:r>
            <a:r>
              <a:rPr lang="en-US" dirty="0" err="1">
                <a:ea typeface="Overlock"/>
                <a:cs typeface="Overlock"/>
                <a:sym typeface="Overlock"/>
              </a:rPr>
              <a:t>maka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jelas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bahwa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hasil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perhitungan</a:t>
            </a:r>
            <a:r>
              <a:rPr lang="en-US" dirty="0">
                <a:ea typeface="Overlock"/>
                <a:cs typeface="Overlock"/>
                <a:sym typeface="Overlock"/>
              </a:rPr>
              <a:t> pada </a:t>
            </a:r>
            <a:r>
              <a:rPr lang="en-US" dirty="0" err="1">
                <a:ea typeface="Overlock"/>
                <a:cs typeface="Overlock"/>
                <a:sym typeface="Overlock"/>
              </a:rPr>
              <a:t>kolom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i="1" dirty="0" err="1">
                <a:ea typeface="Overlock"/>
                <a:cs typeface="Overlock"/>
                <a:sym typeface="Overlock"/>
              </a:rPr>
              <a:t>Usia</a:t>
            </a:r>
            <a:r>
              <a:rPr lang="en-US" i="1" dirty="0">
                <a:ea typeface="Overlock"/>
                <a:cs typeface="Overlock"/>
                <a:sym typeface="Overlock"/>
              </a:rPr>
              <a:t> </a:t>
            </a:r>
            <a:r>
              <a:rPr lang="en-US" dirty="0">
                <a:ea typeface="Overlock"/>
                <a:cs typeface="Overlock"/>
                <a:sym typeface="Overlock"/>
              </a:rPr>
              <a:t>dan </a:t>
            </a:r>
            <a:r>
              <a:rPr lang="en-US" i="1" dirty="0" err="1">
                <a:ea typeface="Overlock"/>
                <a:cs typeface="Overlock"/>
                <a:sym typeface="Overlock"/>
              </a:rPr>
              <a:t>Gaji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akan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memiliki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jarak</a:t>
            </a:r>
            <a:r>
              <a:rPr lang="en-US" dirty="0">
                <a:ea typeface="Overlock"/>
                <a:cs typeface="Overlock"/>
                <a:sym typeface="Overlock"/>
              </a:rPr>
              <a:t> (distance) yang sangat </a:t>
            </a:r>
            <a:r>
              <a:rPr lang="en-US" dirty="0" err="1">
                <a:ea typeface="Overlock"/>
                <a:cs typeface="Overlock"/>
                <a:sym typeface="Overlock"/>
              </a:rPr>
              <a:t>jauh</a:t>
            </a:r>
            <a:r>
              <a:rPr lang="en-US" dirty="0">
                <a:ea typeface="Overlock"/>
                <a:cs typeface="Overlock"/>
                <a:sym typeface="Overlock"/>
              </a:rPr>
              <a:t>. </a:t>
            </a:r>
            <a:r>
              <a:rPr lang="en-US" dirty="0" err="1">
                <a:ea typeface="Overlock"/>
                <a:cs typeface="Overlock"/>
                <a:sym typeface="Overlock"/>
              </a:rPr>
              <a:t>Disinilah</a:t>
            </a:r>
            <a:r>
              <a:rPr lang="en-US" dirty="0">
                <a:ea typeface="Overlock"/>
                <a:cs typeface="Overlock"/>
                <a:sym typeface="Overlock"/>
              </a:rPr>
              <a:t> proses Feature Scaling </a:t>
            </a:r>
            <a:r>
              <a:rPr lang="en-US" dirty="0" err="1">
                <a:ea typeface="Overlock"/>
                <a:cs typeface="Overlock"/>
                <a:sym typeface="Overlock"/>
              </a:rPr>
              <a:t>dibutuhkan</a:t>
            </a:r>
            <a:r>
              <a:rPr lang="en-US" dirty="0">
                <a:ea typeface="Overlock"/>
                <a:cs typeface="Overlock"/>
                <a:sym typeface="Overlock"/>
              </a:rPr>
              <a:t>.</a:t>
            </a:r>
            <a:endParaRPr dirty="0"/>
          </a:p>
          <a:p>
            <a:pPr marL="457177" indent="-457177">
              <a:lnSpc>
                <a:spcPct val="120000"/>
              </a:lnSpc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dirty="0">
                <a:ea typeface="Overlock"/>
                <a:cs typeface="Overlock"/>
                <a:sym typeface="Overlock"/>
              </a:rPr>
              <a:t>Feature Scaling </a:t>
            </a:r>
            <a:r>
              <a:rPr lang="en-US" dirty="0" err="1">
                <a:ea typeface="Overlock"/>
                <a:cs typeface="Overlock"/>
                <a:sym typeface="Overlock"/>
              </a:rPr>
              <a:t>adalah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suatu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cara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untuk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membuat</a:t>
            </a:r>
            <a:r>
              <a:rPr lang="en-US" dirty="0">
                <a:ea typeface="Overlock"/>
                <a:cs typeface="Overlock"/>
                <a:sym typeface="Overlock"/>
              </a:rPr>
              <a:t> numerical data pada dataset </a:t>
            </a:r>
            <a:r>
              <a:rPr lang="en-US" dirty="0" err="1">
                <a:ea typeface="Overlock"/>
                <a:cs typeface="Overlock"/>
                <a:sym typeface="Overlock"/>
              </a:rPr>
              <a:t>memiliki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rentang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nilai</a:t>
            </a:r>
            <a:r>
              <a:rPr lang="en-US" dirty="0">
                <a:ea typeface="Overlock"/>
                <a:cs typeface="Overlock"/>
                <a:sym typeface="Overlock"/>
              </a:rPr>
              <a:t> (scale) yang </a:t>
            </a:r>
            <a:r>
              <a:rPr lang="en-US" dirty="0" err="1">
                <a:ea typeface="Overlock"/>
                <a:cs typeface="Overlock"/>
                <a:sym typeface="Overlock"/>
              </a:rPr>
              <a:t>sama</a:t>
            </a:r>
            <a:r>
              <a:rPr lang="en-US" dirty="0">
                <a:ea typeface="Overlock"/>
                <a:cs typeface="Overlock"/>
                <a:sym typeface="Overlock"/>
              </a:rPr>
              <a:t>. Tidak </a:t>
            </a:r>
            <a:r>
              <a:rPr lang="en-US" dirty="0" err="1">
                <a:ea typeface="Overlock"/>
                <a:cs typeface="Overlock"/>
                <a:sym typeface="Overlock"/>
              </a:rPr>
              <a:t>ada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lagi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satu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variabel</a:t>
            </a:r>
            <a:r>
              <a:rPr lang="en-US" dirty="0">
                <a:ea typeface="Overlock"/>
                <a:cs typeface="Overlock"/>
                <a:sym typeface="Overlock"/>
              </a:rPr>
              <a:t> data yang </a:t>
            </a:r>
            <a:r>
              <a:rPr lang="en-US" dirty="0" err="1">
                <a:ea typeface="Overlock"/>
                <a:cs typeface="Overlock"/>
                <a:sym typeface="Overlock"/>
              </a:rPr>
              <a:t>mendominasi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variabel</a:t>
            </a:r>
            <a:r>
              <a:rPr lang="en-US" dirty="0">
                <a:ea typeface="Overlock"/>
                <a:cs typeface="Overlock"/>
                <a:sym typeface="Overlock"/>
              </a:rPr>
              <a:t> data </a:t>
            </a:r>
            <a:r>
              <a:rPr lang="en-US" dirty="0" err="1">
                <a:ea typeface="Overlock"/>
                <a:cs typeface="Overlock"/>
                <a:sym typeface="Overlock"/>
              </a:rPr>
              <a:t>lainnya</a:t>
            </a:r>
            <a:r>
              <a:rPr lang="en-US" dirty="0">
                <a:ea typeface="Overlock"/>
                <a:cs typeface="Overlock"/>
                <a:sym typeface="Overlock"/>
              </a:rPr>
              <a:t>.</a:t>
            </a:r>
            <a:endParaRPr dirty="0"/>
          </a:p>
        </p:txBody>
      </p:sp>
      <p:pic>
        <p:nvPicPr>
          <p:cNvPr id="794" name="Google Shape;794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90418" y="191069"/>
            <a:ext cx="5036457" cy="3062660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p56"/>
          <p:cNvSpPr txBox="1"/>
          <p:nvPr/>
        </p:nvSpPr>
        <p:spPr>
          <a:xfrm>
            <a:off x="6614391" y="6486473"/>
            <a:ext cx="3715120" cy="328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US" sz="667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sumber gbr: </a:t>
            </a:r>
            <a:endParaRPr sz="2400"/>
          </a:p>
          <a:p>
            <a:r>
              <a:rPr lang="en-US" sz="667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https://medium.com/machine-learning-id/melakukan-feature-scaling-pada-dataset-229531bb08de</a:t>
            </a:r>
            <a:endParaRPr sz="24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5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rgbClr val="0F3570"/>
              </a:buClr>
              <a:buSzPct val="115226"/>
            </a:pPr>
            <a:r>
              <a:rPr lang="en-US" dirty="0">
                <a:solidFill>
                  <a:srgbClr val="0F3570"/>
                </a:solidFill>
                <a:ea typeface="Overlock"/>
                <a:sym typeface="Overlock"/>
              </a:rPr>
              <a:t>Scaling: Jenis</a:t>
            </a:r>
            <a:endParaRPr dirty="0"/>
          </a:p>
        </p:txBody>
      </p:sp>
      <p:sp>
        <p:nvSpPr>
          <p:cNvPr id="824" name="Google Shape;824;p58"/>
          <p:cNvSpPr txBox="1">
            <a:spLocks noGrp="1"/>
          </p:cNvSpPr>
          <p:nvPr>
            <p:ph type="sldNum" idx="4294967295"/>
          </p:nvPr>
        </p:nvSpPr>
        <p:spPr>
          <a:xfrm>
            <a:off x="11461750" y="6215063"/>
            <a:ext cx="730250" cy="52228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pPr>
              <a:buClr>
                <a:srgbClr val="000000"/>
              </a:buClr>
              <a:buSzPts val="1000"/>
            </a:pPr>
            <a:fld id="{00000000-1234-1234-1234-123412341234}" type="slidenum">
              <a:rPr lang="en-US"/>
              <a:pPr>
                <a:buClr>
                  <a:srgbClr val="000000"/>
                </a:buClr>
                <a:buSzPts val="1000"/>
              </a:pPr>
              <a:t>32</a:t>
            </a:fld>
            <a:endParaRPr/>
          </a:p>
        </p:txBody>
      </p:sp>
      <p:pic>
        <p:nvPicPr>
          <p:cNvPr id="825" name="Google Shape;825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83520" y="1769803"/>
            <a:ext cx="8224960" cy="3318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5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rgbClr val="0F3570"/>
              </a:buClr>
              <a:buSzPct val="115226"/>
            </a:pPr>
            <a:r>
              <a:rPr lang="en-US" dirty="0">
                <a:solidFill>
                  <a:srgbClr val="0F3570"/>
                </a:solidFill>
                <a:ea typeface="Overlock"/>
                <a:sym typeface="Overlock"/>
              </a:rPr>
              <a:t>Scaling: </a:t>
            </a:r>
            <a:r>
              <a:rPr lang="en-US" dirty="0" err="1">
                <a:solidFill>
                  <a:srgbClr val="0F3570"/>
                </a:solidFill>
                <a:ea typeface="Overlock"/>
                <a:sym typeface="Overlock"/>
              </a:rPr>
              <a:t>Normalisasi</a:t>
            </a:r>
            <a:endParaRPr dirty="0">
              <a:solidFill>
                <a:srgbClr val="0F3570"/>
              </a:solidFill>
              <a:ea typeface="Overlock"/>
              <a:sym typeface="Overlock"/>
            </a:endParaRPr>
          </a:p>
        </p:txBody>
      </p:sp>
      <p:sp>
        <p:nvSpPr>
          <p:cNvPr id="831" name="Google Shape;831;p59"/>
          <p:cNvSpPr txBox="1">
            <a:spLocks noGrp="1"/>
          </p:cNvSpPr>
          <p:nvPr>
            <p:ph type="sldNum" idx="4294967295"/>
          </p:nvPr>
        </p:nvSpPr>
        <p:spPr>
          <a:xfrm>
            <a:off x="11461750" y="6215063"/>
            <a:ext cx="730250" cy="52228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pPr>
              <a:buClr>
                <a:srgbClr val="000000"/>
              </a:buClr>
              <a:buSzPts val="1000"/>
            </a:pPr>
            <a:fld id="{00000000-1234-1234-1234-123412341234}" type="slidenum">
              <a:rPr lang="en-US"/>
              <a:pPr>
                <a:buClr>
                  <a:srgbClr val="000000"/>
                </a:buClr>
                <a:buSzPts val="1000"/>
              </a:pPr>
              <a:t>33</a:t>
            </a:fld>
            <a:endParaRPr/>
          </a:p>
        </p:txBody>
      </p:sp>
      <p:sp>
        <p:nvSpPr>
          <p:cNvPr id="832" name="Google Shape;832;p59"/>
          <p:cNvSpPr txBox="1"/>
          <p:nvPr/>
        </p:nvSpPr>
        <p:spPr>
          <a:xfrm>
            <a:off x="248465" y="982640"/>
            <a:ext cx="5680400" cy="1963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609585" indent="-457189">
              <a:lnSpc>
                <a:spcPct val="115000"/>
              </a:lnSpc>
              <a:buClr>
                <a:schemeClr val="dk2"/>
              </a:buClr>
              <a:buSzPct val="107142"/>
              <a:buFont typeface="Arial"/>
              <a:buChar char="●"/>
            </a:pPr>
            <a:r>
              <a:rPr lang="en-US" sz="2100" dirty="0">
                <a:ea typeface="Overlock"/>
                <a:cs typeface="Overlock"/>
                <a:sym typeface="Overlock"/>
              </a:rPr>
              <a:t>Nama Lain: Min-Max Scaling.</a:t>
            </a:r>
            <a:endParaRPr sz="2100" dirty="0"/>
          </a:p>
          <a:p>
            <a:pPr marL="609585" indent="-457189">
              <a:lnSpc>
                <a:spcPct val="115000"/>
              </a:lnSpc>
              <a:buClr>
                <a:schemeClr val="dk2"/>
              </a:buClr>
              <a:buSzPct val="107142"/>
              <a:buFont typeface="Arial"/>
              <a:buChar char="●"/>
            </a:pPr>
            <a:r>
              <a:rPr lang="en-US" sz="2100" dirty="0" err="1">
                <a:ea typeface="Overlock"/>
                <a:cs typeface="Overlock"/>
                <a:sym typeface="Overlock"/>
              </a:rPr>
              <a:t>Definisi</a:t>
            </a:r>
            <a:r>
              <a:rPr lang="en-US" sz="2100" dirty="0">
                <a:ea typeface="Overlock"/>
                <a:cs typeface="Overlock"/>
                <a:sym typeface="Overlock"/>
              </a:rPr>
              <a:t>: Teknik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penskalaan</a:t>
            </a:r>
            <a:r>
              <a:rPr lang="en-US" sz="2100" dirty="0">
                <a:ea typeface="Overlock"/>
                <a:cs typeface="Overlock"/>
                <a:sym typeface="Overlock"/>
              </a:rPr>
              <a:t> di mana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nilai-nilai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digeser</a:t>
            </a:r>
            <a:r>
              <a:rPr lang="en-US" sz="2100" dirty="0">
                <a:ea typeface="Overlock"/>
                <a:cs typeface="Overlock"/>
                <a:sym typeface="Overlock"/>
              </a:rPr>
              <a:t> dan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diubah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skalanya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sehingga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nilainya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berkisar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antara</a:t>
            </a:r>
            <a:r>
              <a:rPr lang="en-US" sz="2100" dirty="0">
                <a:ea typeface="Overlock"/>
                <a:cs typeface="Overlock"/>
                <a:sym typeface="Overlock"/>
              </a:rPr>
              <a:t> 0 dan 1 (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rentang</a:t>
            </a:r>
            <a:r>
              <a:rPr lang="en-US" sz="2100" dirty="0">
                <a:ea typeface="Overlock"/>
                <a:cs typeface="Overlock"/>
                <a:sym typeface="Overlock"/>
              </a:rPr>
              <a:t> [0,1] ).</a:t>
            </a:r>
            <a:endParaRPr sz="2100" dirty="0"/>
          </a:p>
        </p:txBody>
      </p:sp>
      <p:sp>
        <p:nvSpPr>
          <p:cNvPr id="833" name="Google Shape;833;p59"/>
          <p:cNvSpPr txBox="1"/>
          <p:nvPr/>
        </p:nvSpPr>
        <p:spPr>
          <a:xfrm>
            <a:off x="5928865" y="2594580"/>
            <a:ext cx="6162184" cy="3620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r>
              <a:rPr lang="en-US" sz="2100" dirty="0">
                <a:ea typeface="Overlock"/>
                <a:cs typeface="Overlock"/>
                <a:sym typeface="Overlock"/>
              </a:rPr>
              <a:t>Di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sini</a:t>
            </a:r>
            <a:r>
              <a:rPr lang="en-US" sz="2100" dirty="0">
                <a:ea typeface="Overlock"/>
                <a:cs typeface="Overlock"/>
                <a:sym typeface="Overlock"/>
              </a:rPr>
              <a:t>,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Xmax</a:t>
            </a:r>
            <a:r>
              <a:rPr lang="en-US" sz="2100" dirty="0">
                <a:ea typeface="Overlock"/>
                <a:cs typeface="Overlock"/>
                <a:sym typeface="Overlock"/>
              </a:rPr>
              <a:t> dan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Xmin</a:t>
            </a:r>
            <a:r>
              <a:rPr lang="en-US" sz="2100" dirty="0">
                <a:ea typeface="Overlock"/>
                <a:cs typeface="Overlock"/>
                <a:sym typeface="Overlock"/>
              </a:rPr>
              <a:t> masing-masing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adalah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nilai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maksimum</a:t>
            </a:r>
            <a:r>
              <a:rPr lang="en-US" sz="2100" dirty="0">
                <a:ea typeface="Overlock"/>
                <a:cs typeface="Overlock"/>
                <a:sym typeface="Overlock"/>
              </a:rPr>
              <a:t> dan minimum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dari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fitur</a:t>
            </a:r>
            <a:r>
              <a:rPr lang="en-US" sz="2100" dirty="0">
                <a:ea typeface="Overlock"/>
                <a:cs typeface="Overlock"/>
                <a:sym typeface="Overlock"/>
              </a:rPr>
              <a:t>.</a:t>
            </a:r>
            <a:endParaRPr sz="2100" dirty="0"/>
          </a:p>
          <a:p>
            <a:pPr marL="380982" indent="-380982"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2100" dirty="0">
                <a:ea typeface="Overlock"/>
                <a:cs typeface="Overlock"/>
                <a:sym typeface="Overlock"/>
              </a:rPr>
              <a:t>Ketika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nilai</a:t>
            </a:r>
            <a:r>
              <a:rPr lang="en-US" sz="2100" dirty="0">
                <a:ea typeface="Overlock"/>
                <a:cs typeface="Overlock"/>
                <a:sym typeface="Overlock"/>
              </a:rPr>
              <a:t> X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adalah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nilai</a:t>
            </a:r>
            <a:r>
              <a:rPr lang="en-US" sz="2100" dirty="0">
                <a:ea typeface="Overlock"/>
                <a:cs typeface="Overlock"/>
                <a:sym typeface="Overlock"/>
              </a:rPr>
              <a:t> minimum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dalam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kolom</a:t>
            </a:r>
            <a:r>
              <a:rPr lang="en-US" sz="2100" dirty="0">
                <a:ea typeface="Overlock"/>
                <a:cs typeface="Overlock"/>
                <a:sym typeface="Overlock"/>
              </a:rPr>
              <a:t>,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pembilangnya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adalah</a:t>
            </a:r>
            <a:r>
              <a:rPr lang="en-US" sz="2100" dirty="0">
                <a:ea typeface="Overlock"/>
                <a:cs typeface="Overlock"/>
                <a:sym typeface="Overlock"/>
              </a:rPr>
              <a:t> 0, dan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karenanya</a:t>
            </a:r>
            <a:r>
              <a:rPr lang="en-US" sz="2100" dirty="0">
                <a:ea typeface="Overlock"/>
                <a:cs typeface="Overlock"/>
                <a:sym typeface="Overlock"/>
              </a:rPr>
              <a:t> X’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adalah</a:t>
            </a:r>
            <a:r>
              <a:rPr lang="en-US" sz="2100" dirty="0">
                <a:ea typeface="Overlock"/>
                <a:cs typeface="Overlock"/>
                <a:sym typeface="Overlock"/>
              </a:rPr>
              <a:t> 0.</a:t>
            </a:r>
            <a:endParaRPr sz="2100" dirty="0"/>
          </a:p>
          <a:p>
            <a:pPr marL="380982" indent="-380982"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2100" dirty="0" err="1">
                <a:ea typeface="Overlock"/>
                <a:cs typeface="Overlock"/>
                <a:sym typeface="Overlock"/>
              </a:rPr>
              <a:t>Sebaliknya</a:t>
            </a:r>
            <a:r>
              <a:rPr lang="en-US" sz="2100" dirty="0">
                <a:ea typeface="Overlock"/>
                <a:cs typeface="Overlock"/>
                <a:sym typeface="Overlock"/>
              </a:rPr>
              <a:t>,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ketika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nilai</a:t>
            </a:r>
            <a:r>
              <a:rPr lang="en-US" sz="2100" dirty="0">
                <a:ea typeface="Overlock"/>
                <a:cs typeface="Overlock"/>
                <a:sym typeface="Overlock"/>
              </a:rPr>
              <a:t> X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adalah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nilai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maksimum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dalam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kolom</a:t>
            </a:r>
            <a:r>
              <a:rPr lang="en-US" sz="2100" dirty="0">
                <a:ea typeface="Overlock"/>
                <a:cs typeface="Overlock"/>
                <a:sym typeface="Overlock"/>
              </a:rPr>
              <a:t>,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pembilangnya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sama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dengan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penyebutnya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sehingga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nilai</a:t>
            </a:r>
            <a:r>
              <a:rPr lang="en-US" sz="2100" dirty="0">
                <a:ea typeface="Overlock"/>
                <a:cs typeface="Overlock"/>
                <a:sym typeface="Overlock"/>
              </a:rPr>
              <a:t> X’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adalah</a:t>
            </a:r>
            <a:r>
              <a:rPr lang="en-US" sz="2100" dirty="0">
                <a:ea typeface="Overlock"/>
                <a:cs typeface="Overlock"/>
                <a:sym typeface="Overlock"/>
              </a:rPr>
              <a:t> 1.</a:t>
            </a:r>
            <a:endParaRPr sz="2100" dirty="0"/>
          </a:p>
          <a:p>
            <a:pPr marL="380982" indent="-380982"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2100" dirty="0">
                <a:ea typeface="Overlock"/>
                <a:cs typeface="Overlock"/>
                <a:sym typeface="Overlock"/>
              </a:rPr>
              <a:t>Jika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nilai</a:t>
            </a:r>
            <a:r>
              <a:rPr lang="en-US" sz="2100" dirty="0">
                <a:ea typeface="Overlock"/>
                <a:cs typeface="Overlock"/>
                <a:sym typeface="Overlock"/>
              </a:rPr>
              <a:t> X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berada</a:t>
            </a:r>
            <a:r>
              <a:rPr lang="en-US" sz="2100" dirty="0">
                <a:ea typeface="Overlock"/>
                <a:cs typeface="Overlock"/>
                <a:sym typeface="Overlock"/>
              </a:rPr>
              <a:t> di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antara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nilai</a:t>
            </a:r>
            <a:r>
              <a:rPr lang="en-US" sz="2100" dirty="0">
                <a:ea typeface="Overlock"/>
                <a:cs typeface="Overlock"/>
                <a:sym typeface="Overlock"/>
              </a:rPr>
              <a:t> minimum dan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maksimum</a:t>
            </a:r>
            <a:r>
              <a:rPr lang="en-US" sz="2100" dirty="0">
                <a:ea typeface="Overlock"/>
                <a:cs typeface="Overlock"/>
                <a:sym typeface="Overlock"/>
              </a:rPr>
              <a:t>,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maka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nilai</a:t>
            </a:r>
            <a:r>
              <a:rPr lang="en-US" sz="2100" dirty="0">
                <a:ea typeface="Overlock"/>
                <a:cs typeface="Overlock"/>
                <a:sym typeface="Overlock"/>
              </a:rPr>
              <a:t> X’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berada</a:t>
            </a:r>
            <a:r>
              <a:rPr lang="en-US" sz="2100" dirty="0">
                <a:ea typeface="Overlock"/>
                <a:cs typeface="Overlock"/>
                <a:sym typeface="Overlock"/>
              </a:rPr>
              <a:t> di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antara</a:t>
            </a:r>
            <a:r>
              <a:rPr lang="en-US" sz="2100" dirty="0">
                <a:ea typeface="Overlock"/>
                <a:cs typeface="Overlock"/>
                <a:sym typeface="Overlock"/>
              </a:rPr>
              <a:t> 0 dan 1.</a:t>
            </a:r>
            <a:endParaRPr sz="2100" dirty="0"/>
          </a:p>
        </p:txBody>
      </p:sp>
      <p:pic>
        <p:nvPicPr>
          <p:cNvPr id="834" name="Google Shape;834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19578" y="1555857"/>
            <a:ext cx="2443509" cy="791572"/>
          </a:xfrm>
          <a:prstGeom prst="rect">
            <a:avLst/>
          </a:prstGeom>
          <a:noFill/>
          <a:ln>
            <a:noFill/>
          </a:ln>
        </p:spPr>
      </p:pic>
      <p:pic>
        <p:nvPicPr>
          <p:cNvPr id="835" name="Google Shape;835;p5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4674" y="2936146"/>
            <a:ext cx="5274191" cy="39218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6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rgbClr val="0F3570"/>
              </a:buClr>
              <a:buSzPct val="115226"/>
            </a:pPr>
            <a:r>
              <a:rPr lang="en-US" dirty="0">
                <a:solidFill>
                  <a:srgbClr val="0F3570"/>
                </a:solidFill>
                <a:ea typeface="Overlock"/>
                <a:sym typeface="Overlock"/>
              </a:rPr>
              <a:t>Scaling: </a:t>
            </a:r>
            <a:r>
              <a:rPr lang="en-US" dirty="0" err="1">
                <a:solidFill>
                  <a:srgbClr val="0F3570"/>
                </a:solidFill>
                <a:ea typeface="Overlock"/>
                <a:sym typeface="Overlock"/>
              </a:rPr>
              <a:t>Standardisasi</a:t>
            </a:r>
            <a:endParaRPr dirty="0">
              <a:solidFill>
                <a:srgbClr val="0F3570"/>
              </a:solidFill>
              <a:ea typeface="Overlock"/>
              <a:sym typeface="Overlock"/>
            </a:endParaRPr>
          </a:p>
        </p:txBody>
      </p:sp>
      <p:sp>
        <p:nvSpPr>
          <p:cNvPr id="867" name="Google Shape;867;p61"/>
          <p:cNvSpPr txBox="1">
            <a:spLocks noGrp="1"/>
          </p:cNvSpPr>
          <p:nvPr>
            <p:ph type="sldNum" idx="4294967295"/>
          </p:nvPr>
        </p:nvSpPr>
        <p:spPr>
          <a:xfrm>
            <a:off x="11461750" y="6215063"/>
            <a:ext cx="730250" cy="52228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pPr>
              <a:buClr>
                <a:srgbClr val="000000"/>
              </a:buClr>
              <a:buSzPts val="1000"/>
            </a:pPr>
            <a:fld id="{00000000-1234-1234-1234-123412341234}" type="slidenum">
              <a:rPr lang="en-US"/>
              <a:pPr>
                <a:buClr>
                  <a:srgbClr val="000000"/>
                </a:buClr>
                <a:buSzPts val="1000"/>
              </a:pPr>
              <a:t>34</a:t>
            </a:fld>
            <a:endParaRPr/>
          </a:p>
        </p:txBody>
      </p:sp>
      <p:sp>
        <p:nvSpPr>
          <p:cNvPr id="868" name="Google Shape;868;p61"/>
          <p:cNvSpPr txBox="1"/>
          <p:nvPr/>
        </p:nvSpPr>
        <p:spPr>
          <a:xfrm>
            <a:off x="415601" y="1484985"/>
            <a:ext cx="5656752" cy="4871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609585" indent="-457189">
              <a:lnSpc>
                <a:spcPct val="115000"/>
              </a:lnSpc>
              <a:buClr>
                <a:schemeClr val="dk2"/>
              </a:buClr>
              <a:buSzPts val="1440"/>
              <a:buFont typeface="Arial"/>
              <a:buChar char="●"/>
            </a:pPr>
            <a:r>
              <a:rPr lang="en-US" sz="2100" dirty="0">
                <a:ea typeface="Overlock"/>
                <a:cs typeface="Overlock"/>
                <a:sym typeface="Overlock"/>
              </a:rPr>
              <a:t>Tujuan: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Berfokus</a:t>
            </a:r>
            <a:r>
              <a:rPr lang="en-US" sz="2100" dirty="0">
                <a:ea typeface="Overlock"/>
                <a:cs typeface="Overlock"/>
                <a:sym typeface="Overlock"/>
              </a:rPr>
              <a:t> pada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mengubah</a:t>
            </a:r>
            <a:r>
              <a:rPr lang="en-US" sz="2100" dirty="0">
                <a:ea typeface="Overlock"/>
                <a:cs typeface="Overlock"/>
                <a:sym typeface="Overlock"/>
              </a:rPr>
              <a:t> data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mentah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menjadi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informasi</a:t>
            </a:r>
            <a:r>
              <a:rPr lang="en-US" sz="2100" dirty="0">
                <a:ea typeface="Overlock"/>
                <a:cs typeface="Overlock"/>
                <a:sym typeface="Overlock"/>
              </a:rPr>
              <a:t> yang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dapat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digunakan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sebelum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dianalisis</a:t>
            </a:r>
            <a:r>
              <a:rPr lang="en-US" sz="2100" dirty="0">
                <a:ea typeface="Overlock"/>
                <a:cs typeface="Overlock"/>
                <a:sym typeface="Overlock"/>
              </a:rPr>
              <a:t>.</a:t>
            </a:r>
            <a:endParaRPr sz="2100" dirty="0"/>
          </a:p>
          <a:p>
            <a:pPr marL="609585" indent="-457189">
              <a:lnSpc>
                <a:spcPct val="115000"/>
              </a:lnSpc>
              <a:buClr>
                <a:schemeClr val="dk2"/>
              </a:buClr>
              <a:buSzPts val="1440"/>
              <a:buFont typeface="Arial"/>
              <a:buChar char="●"/>
            </a:pPr>
            <a:r>
              <a:rPr lang="en-US" sz="2100" dirty="0" err="1">
                <a:ea typeface="Overlock"/>
                <a:cs typeface="Overlock"/>
                <a:sym typeface="Overlock"/>
              </a:rPr>
              <a:t>Definisi</a:t>
            </a:r>
            <a:r>
              <a:rPr lang="en-US" sz="2100" dirty="0">
                <a:ea typeface="Overlock"/>
                <a:cs typeface="Overlock"/>
                <a:sym typeface="Overlock"/>
              </a:rPr>
              <a:t>: Teknik yang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menskalakan</a:t>
            </a:r>
            <a:r>
              <a:rPr lang="en-US" sz="2100" dirty="0">
                <a:ea typeface="Overlock"/>
                <a:cs typeface="Overlock"/>
                <a:sym typeface="Overlock"/>
              </a:rPr>
              <a:t> data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sehingga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memiliki</a:t>
            </a:r>
            <a:r>
              <a:rPr lang="en-US" sz="2100" dirty="0">
                <a:ea typeface="Overlock"/>
                <a:cs typeface="Overlock"/>
                <a:sym typeface="Overlock"/>
              </a:rPr>
              <a:t> mean = 0 dan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standar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deviasi</a:t>
            </a:r>
            <a:r>
              <a:rPr lang="en-US" sz="2100" dirty="0">
                <a:ea typeface="Overlock"/>
                <a:cs typeface="Overlock"/>
                <a:sym typeface="Overlock"/>
              </a:rPr>
              <a:t> =1 </a:t>
            </a:r>
            <a:endParaRPr sz="2100" dirty="0"/>
          </a:p>
          <a:p>
            <a:pPr marL="609585" indent="-457189">
              <a:lnSpc>
                <a:spcPct val="115000"/>
              </a:lnSpc>
              <a:buClr>
                <a:schemeClr val="dk2"/>
              </a:buClr>
              <a:buSzPts val="1440"/>
              <a:buFont typeface="Arial"/>
              <a:buChar char="●"/>
            </a:pPr>
            <a:r>
              <a:rPr lang="en-US" sz="2100" dirty="0">
                <a:ea typeface="Overlock"/>
                <a:cs typeface="Overlock"/>
                <a:sym typeface="Overlock"/>
              </a:rPr>
              <a:t>Kontra: </a:t>
            </a:r>
            <a:endParaRPr sz="2100" dirty="0"/>
          </a:p>
          <a:p>
            <a:pPr marL="1219170" lvl="1" indent="-423323">
              <a:lnSpc>
                <a:spcPct val="115000"/>
              </a:lnSpc>
              <a:buClr>
                <a:schemeClr val="dk2"/>
              </a:buClr>
              <a:buSzPts val="1400"/>
              <a:buFont typeface="Arial"/>
              <a:buChar char="•"/>
            </a:pPr>
            <a:r>
              <a:rPr lang="en-US" sz="2100" dirty="0" err="1">
                <a:ea typeface="Overlock"/>
                <a:cs typeface="Overlock"/>
                <a:sym typeface="Overlock"/>
              </a:rPr>
              <a:t>Menambah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langkah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dalam</a:t>
            </a:r>
            <a:r>
              <a:rPr lang="en-US" sz="2100" dirty="0">
                <a:ea typeface="Overlock"/>
                <a:cs typeface="Overlock"/>
                <a:sym typeface="Overlock"/>
              </a:rPr>
              <a:t> data preparation</a:t>
            </a:r>
            <a:endParaRPr sz="2100" dirty="0"/>
          </a:p>
          <a:p>
            <a:pPr marL="1219170" lvl="1" indent="-423323">
              <a:lnSpc>
                <a:spcPct val="115000"/>
              </a:lnSpc>
              <a:buClr>
                <a:schemeClr val="dk2"/>
              </a:buClr>
              <a:buSzPts val="1400"/>
              <a:buFont typeface="Arial"/>
              <a:buChar char="•"/>
            </a:pPr>
            <a:r>
              <a:rPr lang="en-US" sz="2100" dirty="0">
                <a:ea typeface="Overlock"/>
                <a:cs typeface="Overlock"/>
                <a:sym typeface="Overlock"/>
              </a:rPr>
              <a:t>Waktu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bertambah</a:t>
            </a:r>
            <a:endParaRPr sz="2100" dirty="0">
              <a:ea typeface="Overlock"/>
              <a:cs typeface="Overlock"/>
              <a:sym typeface="Overlock"/>
            </a:endParaRPr>
          </a:p>
          <a:p>
            <a:pPr marL="1219170" lvl="1" indent="-304792">
              <a:lnSpc>
                <a:spcPct val="115000"/>
              </a:lnSpc>
              <a:buClr>
                <a:schemeClr val="dk2"/>
              </a:buClr>
              <a:buSzPts val="1400"/>
            </a:pPr>
            <a:endParaRPr sz="2100" dirty="0">
              <a:ea typeface="Overlock"/>
              <a:cs typeface="Overlock"/>
              <a:sym typeface="Overlock"/>
            </a:endParaRPr>
          </a:p>
        </p:txBody>
      </p:sp>
      <p:pic>
        <p:nvPicPr>
          <p:cNvPr id="869" name="Google Shape;869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63591" y="868680"/>
            <a:ext cx="6328410" cy="5488529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p61"/>
          <p:cNvSpPr txBox="1"/>
          <p:nvPr/>
        </p:nvSpPr>
        <p:spPr>
          <a:xfrm>
            <a:off x="7986909" y="6356852"/>
            <a:ext cx="2358367" cy="328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US" sz="667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sumber:</a:t>
            </a:r>
            <a:endParaRPr sz="2400"/>
          </a:p>
          <a:p>
            <a:r>
              <a:rPr lang="en-US" sz="667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https://www.cnblogs.com/quinn-yann/p/9808247.html</a:t>
            </a:r>
            <a:endParaRPr sz="24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6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rgbClr val="0F3570"/>
              </a:buClr>
              <a:buSzPct val="115226"/>
            </a:pPr>
            <a:r>
              <a:rPr lang="en-US" dirty="0" err="1">
                <a:solidFill>
                  <a:srgbClr val="0F3570"/>
                </a:solidFill>
                <a:ea typeface="Overlock"/>
                <a:sym typeface="Overlock"/>
              </a:rPr>
              <a:t>Contoh</a:t>
            </a:r>
            <a:r>
              <a:rPr lang="en-US" dirty="0">
                <a:solidFill>
                  <a:srgbClr val="0F3570"/>
                </a:solidFill>
                <a:ea typeface="Overlock"/>
                <a:sym typeface="Overlock"/>
              </a:rPr>
              <a:t> </a:t>
            </a:r>
            <a:r>
              <a:rPr lang="en-US" dirty="0" err="1">
                <a:solidFill>
                  <a:srgbClr val="0F3570"/>
                </a:solidFill>
                <a:ea typeface="Overlock"/>
                <a:sym typeface="Overlock"/>
              </a:rPr>
              <a:t>Kasus</a:t>
            </a:r>
            <a:r>
              <a:rPr lang="en-US" dirty="0">
                <a:solidFill>
                  <a:srgbClr val="0F3570"/>
                </a:solidFill>
                <a:ea typeface="Overlock"/>
                <a:sym typeface="Overlock"/>
              </a:rPr>
              <a:t> </a:t>
            </a:r>
            <a:r>
              <a:rPr lang="en-US" i="1" dirty="0">
                <a:solidFill>
                  <a:srgbClr val="0F3570"/>
                </a:solidFill>
                <a:ea typeface="Overlock"/>
                <a:sym typeface="Overlock"/>
              </a:rPr>
              <a:t>Scaling</a:t>
            </a:r>
            <a:endParaRPr dirty="0">
              <a:solidFill>
                <a:srgbClr val="0F3570"/>
              </a:solidFill>
              <a:ea typeface="Overlock"/>
              <a:sym typeface="Overlock"/>
            </a:endParaRPr>
          </a:p>
        </p:txBody>
      </p:sp>
      <p:sp>
        <p:nvSpPr>
          <p:cNvPr id="902" name="Google Shape;902;p63"/>
          <p:cNvSpPr txBox="1">
            <a:spLocks noGrp="1"/>
          </p:cNvSpPr>
          <p:nvPr>
            <p:ph type="sldNum" idx="4294967295"/>
          </p:nvPr>
        </p:nvSpPr>
        <p:spPr>
          <a:xfrm>
            <a:off x="11461750" y="6215063"/>
            <a:ext cx="730250" cy="52228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pPr>
              <a:buClr>
                <a:srgbClr val="000000"/>
              </a:buClr>
              <a:buSzPts val="1000"/>
            </a:pPr>
            <a:fld id="{00000000-1234-1234-1234-123412341234}" type="slidenum">
              <a:rPr lang="en-US"/>
              <a:pPr>
                <a:buClr>
                  <a:srgbClr val="000000"/>
                </a:buClr>
                <a:buSzPts val="1000"/>
              </a:pPr>
              <a:t>35</a:t>
            </a:fld>
            <a:endParaRPr/>
          </a:p>
        </p:txBody>
      </p:sp>
      <p:pic>
        <p:nvPicPr>
          <p:cNvPr id="903" name="Google Shape;903;p63"/>
          <p:cNvPicPr preferRelativeResize="0"/>
          <p:nvPr/>
        </p:nvPicPr>
        <p:blipFill rotWithShape="1">
          <a:blip r:embed="rId3">
            <a:alphaModFix/>
          </a:blip>
          <a:srcRect r="34782"/>
          <a:stretch/>
        </p:blipFill>
        <p:spPr>
          <a:xfrm>
            <a:off x="148586" y="880110"/>
            <a:ext cx="5525668" cy="4056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904" name="Google Shape;904;p63"/>
          <p:cNvPicPr preferRelativeResize="0"/>
          <p:nvPr/>
        </p:nvPicPr>
        <p:blipFill rotWithShape="1">
          <a:blip r:embed="rId3">
            <a:alphaModFix/>
          </a:blip>
          <a:srcRect l="70370" b="29596"/>
          <a:stretch/>
        </p:blipFill>
        <p:spPr>
          <a:xfrm>
            <a:off x="3811951" y="3643875"/>
            <a:ext cx="2540235" cy="258600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5" name="Google Shape;905;p63"/>
          <p:cNvPicPr preferRelativeResize="0"/>
          <p:nvPr/>
        </p:nvPicPr>
        <p:blipFill rotWithShape="1">
          <a:blip r:embed="rId4">
            <a:alphaModFix/>
          </a:blip>
          <a:srcRect l="3048" t="10774" r="57143" b="15083"/>
          <a:stretch/>
        </p:blipFill>
        <p:spPr>
          <a:xfrm>
            <a:off x="7195679" y="215578"/>
            <a:ext cx="4671644" cy="3076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6" name="Google Shape;906;p63"/>
          <p:cNvPicPr preferRelativeResize="0"/>
          <p:nvPr/>
        </p:nvPicPr>
        <p:blipFill rotWithShape="1">
          <a:blip r:embed="rId4">
            <a:alphaModFix/>
          </a:blip>
          <a:srcRect l="50391" t="9983" b="4437"/>
          <a:stretch/>
        </p:blipFill>
        <p:spPr>
          <a:xfrm>
            <a:off x="7371771" y="3429000"/>
            <a:ext cx="4671643" cy="2931774"/>
          </a:xfrm>
          <a:prstGeom prst="rect">
            <a:avLst/>
          </a:prstGeom>
          <a:noFill/>
          <a:ln>
            <a:noFill/>
          </a:ln>
        </p:spPr>
      </p:pic>
      <p:sp>
        <p:nvSpPr>
          <p:cNvPr id="907" name="Google Shape;907;p63"/>
          <p:cNvSpPr txBox="1"/>
          <p:nvPr/>
        </p:nvSpPr>
        <p:spPr>
          <a:xfrm>
            <a:off x="6839091" y="6497749"/>
            <a:ext cx="3593292" cy="328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US" sz="667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sumber gbr: </a:t>
            </a:r>
            <a:endParaRPr sz="2400"/>
          </a:p>
          <a:p>
            <a:r>
              <a:rPr lang="en-US" sz="667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https://www.kdnuggets.com/2020/04/data-transformation-standardization-normalization.html</a:t>
            </a:r>
            <a:endParaRPr sz="24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6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rgbClr val="0F3570"/>
              </a:buClr>
              <a:buSzPct val="115226"/>
            </a:pPr>
            <a:r>
              <a:rPr lang="en-US" dirty="0" err="1">
                <a:solidFill>
                  <a:srgbClr val="0F3570"/>
                </a:solidFill>
                <a:ea typeface="Overlock"/>
                <a:sym typeface="Overlock"/>
              </a:rPr>
              <a:t>Contoh</a:t>
            </a:r>
            <a:r>
              <a:rPr lang="en-US" dirty="0">
                <a:solidFill>
                  <a:srgbClr val="0F3570"/>
                </a:solidFill>
                <a:ea typeface="Overlock"/>
                <a:sym typeface="Overlock"/>
              </a:rPr>
              <a:t> </a:t>
            </a:r>
            <a:r>
              <a:rPr lang="en-US" dirty="0" err="1">
                <a:solidFill>
                  <a:srgbClr val="0F3570"/>
                </a:solidFill>
                <a:ea typeface="Overlock"/>
                <a:sym typeface="Overlock"/>
              </a:rPr>
              <a:t>Kasus</a:t>
            </a:r>
            <a:r>
              <a:rPr lang="en-US" dirty="0">
                <a:solidFill>
                  <a:srgbClr val="0F3570"/>
                </a:solidFill>
                <a:ea typeface="Overlock"/>
                <a:sym typeface="Overlock"/>
              </a:rPr>
              <a:t> </a:t>
            </a:r>
            <a:r>
              <a:rPr lang="en-US" i="1" dirty="0">
                <a:solidFill>
                  <a:srgbClr val="0F3570"/>
                </a:solidFill>
                <a:ea typeface="Overlock"/>
                <a:sym typeface="Overlock"/>
              </a:rPr>
              <a:t>Scaling</a:t>
            </a:r>
            <a:endParaRPr dirty="0">
              <a:solidFill>
                <a:srgbClr val="0F3570"/>
              </a:solidFill>
              <a:ea typeface="Overlock"/>
              <a:sym typeface="Overlock"/>
            </a:endParaRPr>
          </a:p>
        </p:txBody>
      </p:sp>
      <p:sp>
        <p:nvSpPr>
          <p:cNvPr id="913" name="Google Shape;913;p64"/>
          <p:cNvSpPr txBox="1">
            <a:spLocks noGrp="1"/>
          </p:cNvSpPr>
          <p:nvPr>
            <p:ph type="sldNum" idx="4294967295"/>
          </p:nvPr>
        </p:nvSpPr>
        <p:spPr>
          <a:xfrm>
            <a:off x="11461750" y="6215063"/>
            <a:ext cx="730250" cy="52228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pPr>
              <a:buClr>
                <a:srgbClr val="000000"/>
              </a:buClr>
              <a:buSzPts val="1000"/>
            </a:pPr>
            <a:fld id="{00000000-1234-1234-1234-123412341234}" type="slidenum">
              <a:rPr lang="en-US"/>
              <a:pPr>
                <a:buClr>
                  <a:srgbClr val="000000"/>
                </a:buClr>
                <a:buSzPts val="1000"/>
              </a:pPr>
              <a:t>36</a:t>
            </a:fld>
            <a:endParaRPr/>
          </a:p>
        </p:txBody>
      </p:sp>
      <p:sp>
        <p:nvSpPr>
          <p:cNvPr id="914" name="Google Shape;914;p64"/>
          <p:cNvSpPr txBox="1"/>
          <p:nvPr/>
        </p:nvSpPr>
        <p:spPr>
          <a:xfrm>
            <a:off x="415604" y="1477231"/>
            <a:ext cx="5643977" cy="4787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90000" lnSpcReduction="10000"/>
          </a:bodyPr>
          <a:lstStyle/>
          <a:p>
            <a:pPr marL="609585" indent="-457189">
              <a:lnSpc>
                <a:spcPct val="115000"/>
              </a:lnSpc>
              <a:buClr>
                <a:schemeClr val="dk2"/>
              </a:buClr>
              <a:buSzPct val="111111"/>
              <a:buFont typeface="Arial"/>
              <a:buChar char="●"/>
            </a:pPr>
            <a:r>
              <a:rPr lang="en-US" sz="2400" dirty="0">
                <a:ea typeface="Overlock"/>
                <a:cs typeface="Overlock"/>
                <a:sym typeface="Overlock"/>
              </a:rPr>
              <a:t>Ketika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kita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menghitung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persamaan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jarak</a:t>
            </a:r>
            <a:r>
              <a:rPr lang="en-US" sz="2400" dirty="0">
                <a:ea typeface="Overlock"/>
                <a:cs typeface="Overlock"/>
                <a:sym typeface="Overlock"/>
              </a:rPr>
              <a:t> (distance) Euclidean,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jumlah</a:t>
            </a:r>
            <a:r>
              <a:rPr lang="en-US" sz="2400" dirty="0">
                <a:ea typeface="Overlock"/>
                <a:cs typeface="Overlock"/>
                <a:sym typeface="Overlock"/>
              </a:rPr>
              <a:t> (x2-x1)²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jauh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lebih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besar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daripada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jumlah</a:t>
            </a:r>
            <a:r>
              <a:rPr lang="en-US" sz="2400" dirty="0">
                <a:ea typeface="Overlock"/>
                <a:cs typeface="Overlock"/>
                <a:sym typeface="Overlock"/>
              </a:rPr>
              <a:t> (y2-y1)² yang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berarti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jarak</a:t>
            </a:r>
            <a:r>
              <a:rPr lang="en-US" sz="2400" dirty="0">
                <a:ea typeface="Overlock"/>
                <a:cs typeface="Overlock"/>
                <a:sym typeface="Overlock"/>
              </a:rPr>
              <a:t> Euclidean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akan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didominasi</a:t>
            </a:r>
            <a:r>
              <a:rPr lang="en-US" sz="2400" dirty="0">
                <a:ea typeface="Overlock"/>
                <a:cs typeface="Overlock"/>
                <a:sym typeface="Overlock"/>
              </a:rPr>
              <a:t> oleh </a:t>
            </a:r>
            <a:r>
              <a:rPr lang="en-US" sz="2400" i="1" dirty="0" err="1">
                <a:ea typeface="Overlock"/>
                <a:cs typeface="Overlock"/>
                <a:sym typeface="Overlock"/>
              </a:rPr>
              <a:t>Gaji</a:t>
            </a:r>
            <a:r>
              <a:rPr lang="en-US" sz="2400" i="1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jika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kita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tidak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menerapkan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penskalaan</a:t>
            </a:r>
            <a:r>
              <a:rPr lang="en-US" sz="2400" dirty="0">
                <a:ea typeface="Overlock"/>
                <a:cs typeface="Overlock"/>
                <a:sym typeface="Overlock"/>
              </a:rPr>
              <a:t>.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Perbedaan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i="1" dirty="0" err="1">
                <a:ea typeface="Overlock"/>
                <a:cs typeface="Overlock"/>
                <a:sym typeface="Overlock"/>
              </a:rPr>
              <a:t>Usia</a:t>
            </a:r>
            <a:r>
              <a:rPr lang="en-US" sz="2400" i="1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berkontribusi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lebih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sedikit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terhadap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perbedaan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keseluruhan</a:t>
            </a:r>
            <a:r>
              <a:rPr lang="en-US" sz="2400" dirty="0">
                <a:ea typeface="Overlock"/>
                <a:cs typeface="Overlock"/>
                <a:sym typeface="Overlock"/>
              </a:rPr>
              <a:t>.</a:t>
            </a:r>
            <a:endParaRPr sz="2400" dirty="0">
              <a:ea typeface="Overlock"/>
              <a:cs typeface="Overlock"/>
              <a:sym typeface="Overlock"/>
            </a:endParaRPr>
          </a:p>
          <a:p>
            <a:pPr marL="609585" indent="-457189">
              <a:lnSpc>
                <a:spcPct val="115000"/>
              </a:lnSpc>
              <a:buClr>
                <a:schemeClr val="dk2"/>
              </a:buClr>
              <a:buSzPct val="111111"/>
              <a:buFont typeface="Arial"/>
              <a:buChar char="●"/>
            </a:pPr>
            <a:r>
              <a:rPr lang="en-US" sz="2400" dirty="0">
                <a:ea typeface="Overlock"/>
                <a:cs typeface="Overlock"/>
                <a:sym typeface="Overlock"/>
              </a:rPr>
              <a:t>Oleh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karena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itu</a:t>
            </a:r>
            <a:r>
              <a:rPr lang="en-US" sz="2400" dirty="0">
                <a:ea typeface="Overlock"/>
                <a:cs typeface="Overlock"/>
                <a:sym typeface="Overlock"/>
              </a:rPr>
              <a:t>,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kita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harus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menggunakan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penskalaan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untuk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membawa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semua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nilai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ke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besaran</a:t>
            </a:r>
            <a:r>
              <a:rPr lang="en-US" sz="2400" dirty="0">
                <a:ea typeface="Overlock"/>
                <a:cs typeface="Overlock"/>
                <a:sym typeface="Overlock"/>
              </a:rPr>
              <a:t> yang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sama</a:t>
            </a:r>
            <a:r>
              <a:rPr lang="en-US" sz="2400" dirty="0">
                <a:ea typeface="Overlock"/>
                <a:cs typeface="Overlock"/>
                <a:sym typeface="Overlock"/>
              </a:rPr>
              <a:t> dan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dengan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demikian</a:t>
            </a:r>
            <a:r>
              <a:rPr lang="en-US" sz="2400" dirty="0">
                <a:ea typeface="Overlock"/>
                <a:cs typeface="Overlock"/>
                <a:sym typeface="Overlock"/>
              </a:rPr>
              <a:t>,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menyelesaikan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masalah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ini</a:t>
            </a:r>
            <a:r>
              <a:rPr lang="en-US" sz="2400" dirty="0">
                <a:ea typeface="Overlock"/>
                <a:cs typeface="Overlock"/>
                <a:sym typeface="Overlock"/>
              </a:rPr>
              <a:t>.</a:t>
            </a:r>
            <a:endParaRPr sz="2400" dirty="0">
              <a:ea typeface="Overlock"/>
              <a:cs typeface="Overlock"/>
              <a:sym typeface="Overlock"/>
            </a:endParaRPr>
          </a:p>
          <a:p>
            <a:pPr marL="609585" indent="-304792">
              <a:lnSpc>
                <a:spcPct val="115000"/>
              </a:lnSpc>
              <a:buClr>
                <a:schemeClr val="dk2"/>
              </a:buClr>
              <a:buSzPct val="111111"/>
            </a:pPr>
            <a:endParaRPr sz="2400" dirty="0">
              <a:ea typeface="Overlock"/>
              <a:cs typeface="Overlock"/>
              <a:sym typeface="Overlock"/>
            </a:endParaRPr>
          </a:p>
        </p:txBody>
      </p:sp>
      <p:pic>
        <p:nvPicPr>
          <p:cNvPr id="915" name="Google Shape;915;p64"/>
          <p:cNvPicPr preferRelativeResize="0"/>
          <p:nvPr/>
        </p:nvPicPr>
        <p:blipFill rotWithShape="1">
          <a:blip r:embed="rId3">
            <a:alphaModFix/>
          </a:blip>
          <a:srcRect l="15882" r="15293"/>
          <a:stretch/>
        </p:blipFill>
        <p:spPr>
          <a:xfrm>
            <a:off x="6256020" y="1303020"/>
            <a:ext cx="5680401" cy="45345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6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rgbClr val="0F3570"/>
              </a:buClr>
              <a:buSzPct val="115226"/>
            </a:pPr>
            <a:r>
              <a:rPr lang="en-US" dirty="0" err="1">
                <a:solidFill>
                  <a:srgbClr val="0F3570"/>
                </a:solidFill>
                <a:ea typeface="Overlock"/>
                <a:sym typeface="Overlock"/>
              </a:rPr>
              <a:t>Contoh</a:t>
            </a:r>
            <a:r>
              <a:rPr lang="en-US" dirty="0">
                <a:solidFill>
                  <a:srgbClr val="0F3570"/>
                </a:solidFill>
                <a:ea typeface="Overlock"/>
                <a:sym typeface="Overlock"/>
              </a:rPr>
              <a:t> </a:t>
            </a:r>
            <a:r>
              <a:rPr lang="en-US" dirty="0" err="1">
                <a:solidFill>
                  <a:srgbClr val="0F3570"/>
                </a:solidFill>
                <a:ea typeface="Overlock"/>
                <a:sym typeface="Overlock"/>
              </a:rPr>
              <a:t>Kasus</a:t>
            </a:r>
            <a:r>
              <a:rPr lang="en-US" dirty="0">
                <a:solidFill>
                  <a:srgbClr val="0F3570"/>
                </a:solidFill>
                <a:ea typeface="Overlock"/>
                <a:sym typeface="Overlock"/>
              </a:rPr>
              <a:t> </a:t>
            </a:r>
            <a:r>
              <a:rPr lang="en-US" i="1" dirty="0">
                <a:solidFill>
                  <a:srgbClr val="0F3570"/>
                </a:solidFill>
                <a:ea typeface="Overlock"/>
                <a:sym typeface="Overlock"/>
              </a:rPr>
              <a:t>Scaling</a:t>
            </a:r>
            <a:endParaRPr dirty="0">
              <a:solidFill>
                <a:srgbClr val="0F3570"/>
              </a:solidFill>
              <a:ea typeface="Overlock"/>
              <a:sym typeface="Overlock"/>
            </a:endParaRPr>
          </a:p>
        </p:txBody>
      </p:sp>
      <p:sp>
        <p:nvSpPr>
          <p:cNvPr id="921" name="Google Shape;921;p65"/>
          <p:cNvSpPr txBox="1">
            <a:spLocks noGrp="1"/>
          </p:cNvSpPr>
          <p:nvPr>
            <p:ph type="sldNum" idx="4294967295"/>
          </p:nvPr>
        </p:nvSpPr>
        <p:spPr>
          <a:xfrm>
            <a:off x="11461750" y="6215063"/>
            <a:ext cx="730250" cy="52228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pPr>
              <a:buClr>
                <a:srgbClr val="000000"/>
              </a:buClr>
              <a:buSzPts val="1000"/>
            </a:pPr>
            <a:fld id="{00000000-1234-1234-1234-123412341234}" type="slidenum">
              <a:rPr lang="en-US"/>
              <a:pPr>
                <a:buClr>
                  <a:srgbClr val="000000"/>
                </a:buClr>
                <a:buSzPts val="1000"/>
              </a:pPr>
              <a:t>37</a:t>
            </a:fld>
            <a:endParaRPr/>
          </a:p>
        </p:txBody>
      </p:sp>
      <p:pic>
        <p:nvPicPr>
          <p:cNvPr id="922" name="Google Shape;922;p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" y="1405890"/>
            <a:ext cx="6035040" cy="4394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3" name="Google Shape;923;p6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41097" y="2046310"/>
            <a:ext cx="6351368" cy="3753737"/>
          </a:xfrm>
          <a:prstGeom prst="rect">
            <a:avLst/>
          </a:prstGeom>
          <a:noFill/>
          <a:ln>
            <a:noFill/>
          </a:ln>
        </p:spPr>
      </p:pic>
      <p:sp>
        <p:nvSpPr>
          <p:cNvPr id="924" name="Google Shape;924;p65"/>
          <p:cNvSpPr txBox="1"/>
          <p:nvPr/>
        </p:nvSpPr>
        <p:spPr>
          <a:xfrm>
            <a:off x="7994229" y="5937823"/>
            <a:ext cx="3593292" cy="328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US" sz="667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sumber gbr: </a:t>
            </a:r>
            <a:endParaRPr sz="2400"/>
          </a:p>
          <a:p>
            <a:r>
              <a:rPr lang="en-US" sz="667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https://www.kdnuggets.com/2020/04/data-transformation-standardization-normalization.html</a:t>
            </a:r>
            <a:endParaRPr sz="24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66"/>
          <p:cNvSpPr txBox="1">
            <a:spLocks noGrp="1"/>
          </p:cNvSpPr>
          <p:nvPr>
            <p:ph type="title"/>
          </p:nvPr>
        </p:nvSpPr>
        <p:spPr>
          <a:xfrm>
            <a:off x="758190" y="2328479"/>
            <a:ext cx="10515600" cy="79157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b" anchorCtr="0">
            <a:noAutofit/>
          </a:bodyPr>
          <a:lstStyle/>
          <a:p>
            <a:r>
              <a:rPr lang="en-US" sz="4800" dirty="0" err="1"/>
              <a:t>Dokumentasi</a:t>
            </a:r>
            <a:r>
              <a:rPr lang="en-US" sz="4800" dirty="0"/>
              <a:t> Fitur</a:t>
            </a:r>
            <a:endParaRPr sz="4800" dirty="0"/>
          </a:p>
        </p:txBody>
      </p:sp>
      <p:sp>
        <p:nvSpPr>
          <p:cNvPr id="929" name="Google Shape;929;p66"/>
          <p:cNvSpPr txBox="1">
            <a:spLocks noGrp="1"/>
          </p:cNvSpPr>
          <p:nvPr>
            <p:ph type="sldNum" idx="4294967295"/>
          </p:nvPr>
        </p:nvSpPr>
        <p:spPr>
          <a:xfrm>
            <a:off x="11682413" y="5843588"/>
            <a:ext cx="509587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38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6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SzPct val="115226"/>
            </a:pPr>
            <a:r>
              <a:rPr lang="en-US" dirty="0" err="1">
                <a:ea typeface="Overlock"/>
                <a:sym typeface="Overlock"/>
              </a:rPr>
              <a:t>Perlunya</a:t>
            </a:r>
            <a:r>
              <a:rPr lang="en-US" dirty="0">
                <a:ea typeface="Overlock"/>
                <a:sym typeface="Overlock"/>
              </a:rPr>
              <a:t> </a:t>
            </a:r>
            <a:r>
              <a:rPr lang="en-US" dirty="0" err="1">
                <a:ea typeface="Overlock"/>
                <a:sym typeface="Overlock"/>
              </a:rPr>
              <a:t>Dokumentasi</a:t>
            </a:r>
            <a:r>
              <a:rPr lang="en-US" dirty="0">
                <a:ea typeface="Overlock"/>
                <a:sym typeface="Overlock"/>
              </a:rPr>
              <a:t> Data/Fitur</a:t>
            </a:r>
            <a:endParaRPr dirty="0">
              <a:ea typeface="Overlock"/>
              <a:sym typeface="Overlock"/>
            </a:endParaRPr>
          </a:p>
        </p:txBody>
      </p:sp>
      <p:sp>
        <p:nvSpPr>
          <p:cNvPr id="936" name="Google Shape;936;p67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0" indent="0" algn="ctr">
              <a:lnSpc>
                <a:spcPct val="115000"/>
              </a:lnSpc>
              <a:buSzPts val="1800"/>
            </a:pP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Dokumentasi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data </a:t>
            </a:r>
            <a:endParaRPr dirty="0">
              <a:latin typeface="Overlock"/>
              <a:ea typeface="Overlock"/>
              <a:cs typeface="Overlock"/>
              <a:sym typeface="Overlock"/>
            </a:endParaRPr>
          </a:p>
          <a:p>
            <a:pPr marL="0" indent="0" algn="ctr">
              <a:lnSpc>
                <a:spcPct val="115000"/>
              </a:lnSpc>
              <a:buSzPts val="1800"/>
            </a:pP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dapat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b="1" dirty="0" err="1">
                <a:solidFill>
                  <a:srgbClr val="E0E0E0"/>
                </a:solidFill>
                <a:highlight>
                  <a:schemeClr val="accent6"/>
                </a:highlight>
                <a:latin typeface="Overlock"/>
                <a:ea typeface="Overlock"/>
                <a:cs typeface="Overlock"/>
                <a:sym typeface="Overlock"/>
              </a:rPr>
              <a:t>menjembatani</a:t>
            </a:r>
            <a:r>
              <a:rPr lang="en-US" b="1" dirty="0">
                <a:solidFill>
                  <a:srgbClr val="E0E0E0"/>
                </a:solidFill>
                <a:highlight>
                  <a:schemeClr val="accent6"/>
                </a:highlight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b="1" dirty="0" err="1">
                <a:solidFill>
                  <a:srgbClr val="E0E0E0"/>
                </a:solidFill>
                <a:highlight>
                  <a:schemeClr val="accent6"/>
                </a:highlight>
                <a:latin typeface="Overlock"/>
                <a:ea typeface="Overlock"/>
                <a:cs typeface="Overlock"/>
                <a:sym typeface="Overlock"/>
              </a:rPr>
              <a:t>kesenjangan</a:t>
            </a:r>
            <a:r>
              <a:rPr lang="en-US" dirty="0">
                <a:solidFill>
                  <a:srgbClr val="E0E0E0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antara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b="1" dirty="0" err="1">
                <a:solidFill>
                  <a:srgbClr val="00717D"/>
                </a:solidFill>
                <a:latin typeface="Overlock"/>
                <a:ea typeface="Overlock"/>
                <a:cs typeface="Overlock"/>
                <a:sym typeface="Overlock"/>
              </a:rPr>
              <a:t>transaksi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(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pembuatan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data) dan </a:t>
            </a:r>
            <a:r>
              <a:rPr lang="en-US" b="1" dirty="0" err="1">
                <a:solidFill>
                  <a:srgbClr val="00717D"/>
                </a:solidFill>
                <a:latin typeface="Overlock"/>
                <a:ea typeface="Overlock"/>
                <a:cs typeface="Overlock"/>
                <a:sym typeface="Overlock"/>
              </a:rPr>
              <a:t>analisis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(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konsumsi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data).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Dokumentasi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data yang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baik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memungkinkan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pengguna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,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ataupun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rekan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tim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untuk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memahami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siapa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/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apa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/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kapan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/di mana/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bagaimana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/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mengapa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data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tersebut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dibentuk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ataupun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dikonsumsi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.</a:t>
            </a:r>
            <a:endParaRPr dirty="0">
              <a:latin typeface="Overlock"/>
              <a:ea typeface="Overlock"/>
              <a:cs typeface="Overlock"/>
              <a:sym typeface="Overlock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6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pPr>
              <a:buSzPts val="990"/>
            </a:pPr>
            <a:r>
              <a:rPr lang="en-US" dirty="0">
                <a:ea typeface="Overlock"/>
                <a:sym typeface="Overlock"/>
              </a:rPr>
              <a:t>Parameter/Daftar Isi </a:t>
            </a:r>
            <a:br>
              <a:rPr lang="en-US" dirty="0">
                <a:ea typeface="Overlock"/>
                <a:sym typeface="Overlock"/>
              </a:rPr>
            </a:br>
            <a:r>
              <a:rPr lang="en-US" dirty="0" err="1">
                <a:ea typeface="Overlock"/>
                <a:sym typeface="Overlock"/>
              </a:rPr>
              <a:t>Dokumentasi</a:t>
            </a:r>
            <a:r>
              <a:rPr lang="en-US" dirty="0">
                <a:ea typeface="Overlock"/>
                <a:sym typeface="Overlock"/>
              </a:rPr>
              <a:t> Data Transformation</a:t>
            </a:r>
            <a:endParaRPr sz="3227" dirty="0">
              <a:ea typeface="Overlock"/>
              <a:sym typeface="Overlock"/>
            </a:endParaRPr>
          </a:p>
        </p:txBody>
      </p:sp>
      <p:sp>
        <p:nvSpPr>
          <p:cNvPr id="942" name="Google Shape;942;p68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lnSpc>
                <a:spcPct val="105000"/>
              </a:lnSpc>
              <a:buClr>
                <a:srgbClr val="595959"/>
              </a:buClr>
              <a:buSzPts val="1800"/>
              <a:buNone/>
            </a:pPr>
            <a:r>
              <a:rPr lang="en-US" sz="2400" dirty="0" err="1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Laporan</a:t>
            </a:r>
            <a:r>
              <a:rPr lang="en-US" sz="2400" dirty="0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dokumentasi</a:t>
            </a:r>
            <a:r>
              <a:rPr lang="en-US" sz="2400" dirty="0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 data transformation, </a:t>
            </a:r>
            <a:r>
              <a:rPr lang="en-US" sz="2400" dirty="0" err="1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setidaknya</a:t>
            </a:r>
            <a:r>
              <a:rPr lang="en-US" sz="2400" dirty="0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memiliki</a:t>
            </a:r>
            <a:r>
              <a:rPr lang="en-US" sz="2400" dirty="0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 parameter </a:t>
            </a:r>
            <a:r>
              <a:rPr lang="en-US" sz="2400" dirty="0" err="1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berikut</a:t>
            </a:r>
            <a:r>
              <a:rPr lang="en-US" sz="2400" dirty="0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:</a:t>
            </a:r>
            <a:endParaRPr sz="2400" dirty="0">
              <a:solidFill>
                <a:srgbClr val="595959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pPr marL="609570" indent="-482577">
              <a:lnSpc>
                <a:spcPct val="105000"/>
              </a:lnSpc>
              <a:buClr>
                <a:srgbClr val="595959"/>
              </a:buClr>
              <a:buSzPts val="2100"/>
              <a:buFont typeface="Overlock"/>
              <a:buChar char="●"/>
            </a:pPr>
            <a:r>
              <a:rPr lang="en-US" sz="2400" dirty="0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Fitur </a:t>
            </a:r>
            <a:r>
              <a:rPr lang="en-US" sz="2400" dirty="0" err="1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awal</a:t>
            </a:r>
            <a:r>
              <a:rPr lang="en-US" sz="2400" dirty="0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 dan </a:t>
            </a:r>
            <a:r>
              <a:rPr lang="en-US" sz="2400" dirty="0" err="1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rekayasa</a:t>
            </a:r>
            <a:r>
              <a:rPr lang="en-US" sz="2400" dirty="0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fitur</a:t>
            </a:r>
            <a:r>
              <a:rPr lang="en-US" sz="2400" dirty="0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 yang </a:t>
            </a:r>
            <a:r>
              <a:rPr lang="en-US" sz="2400" dirty="0" err="1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digunakan</a:t>
            </a:r>
            <a:endParaRPr sz="2400" dirty="0">
              <a:solidFill>
                <a:srgbClr val="595959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pPr marL="609570" indent="-482577">
              <a:lnSpc>
                <a:spcPct val="105000"/>
              </a:lnSpc>
              <a:buClr>
                <a:srgbClr val="595959"/>
              </a:buClr>
              <a:buSzPts val="2100"/>
              <a:buFont typeface="Overlock"/>
              <a:buChar char="●"/>
            </a:pPr>
            <a:r>
              <a:rPr lang="en-US" sz="2400" dirty="0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Teknik </a:t>
            </a:r>
            <a:r>
              <a:rPr lang="en-US" sz="2400" dirty="0" err="1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transformasi</a:t>
            </a:r>
            <a:r>
              <a:rPr lang="en-US" sz="2400" dirty="0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 data yang </a:t>
            </a:r>
            <a:r>
              <a:rPr lang="en-US" sz="2400" dirty="0" err="1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diterapkan</a:t>
            </a:r>
            <a:endParaRPr sz="2400" dirty="0">
              <a:solidFill>
                <a:srgbClr val="595959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pPr marL="1219139" lvl="1" indent="-482577">
              <a:lnSpc>
                <a:spcPct val="105000"/>
              </a:lnSpc>
              <a:buClr>
                <a:srgbClr val="595959"/>
              </a:buClr>
              <a:buSzPts val="2100"/>
              <a:buFont typeface="Overlock"/>
              <a:buChar char="○"/>
            </a:pPr>
            <a:r>
              <a:rPr lang="en-US" sz="2000" dirty="0" err="1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Apakah</a:t>
            </a:r>
            <a:r>
              <a:rPr lang="en-US" sz="2000" dirty="0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algoritma</a:t>
            </a:r>
            <a:r>
              <a:rPr lang="en-US" sz="2000" dirty="0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pemodelan</a:t>
            </a:r>
            <a:r>
              <a:rPr lang="en-US" sz="2000" dirty="0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mengharapkan</a:t>
            </a:r>
            <a:r>
              <a:rPr lang="en-US" sz="2000" dirty="0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jenis</a:t>
            </a:r>
            <a:r>
              <a:rPr lang="en-US" sz="2000" dirty="0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 data </a:t>
            </a:r>
            <a:r>
              <a:rPr lang="en-US" sz="2000" dirty="0" err="1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tertentu</a:t>
            </a:r>
            <a:r>
              <a:rPr lang="en-US" sz="2000" dirty="0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, </a:t>
            </a:r>
            <a:r>
              <a:rPr lang="en-US" sz="2000" dirty="0" err="1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seperti</a:t>
            </a:r>
            <a:r>
              <a:rPr lang="en-US" sz="2000" dirty="0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numerik</a:t>
            </a:r>
            <a:r>
              <a:rPr lang="en-US" sz="2000" dirty="0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? Jika </a:t>
            </a:r>
            <a:r>
              <a:rPr lang="en-US" sz="2000" dirty="0" err="1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demikian</a:t>
            </a:r>
            <a:r>
              <a:rPr lang="en-US" sz="2000" dirty="0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, </a:t>
            </a:r>
            <a:r>
              <a:rPr lang="en-US" sz="2000" dirty="0" err="1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lakukan</a:t>
            </a:r>
            <a:r>
              <a:rPr lang="en-US" sz="2000" dirty="0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transformasi</a:t>
            </a:r>
            <a:r>
              <a:rPr lang="en-US" sz="2000" dirty="0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 yang </a:t>
            </a:r>
            <a:r>
              <a:rPr lang="en-US" sz="2000" dirty="0" err="1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diperlukan</a:t>
            </a:r>
            <a:endParaRPr sz="2000" dirty="0">
              <a:solidFill>
                <a:srgbClr val="595959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pPr marL="1219139" lvl="1" indent="-482577">
              <a:lnSpc>
                <a:spcPct val="105000"/>
              </a:lnSpc>
              <a:buClr>
                <a:srgbClr val="595959"/>
              </a:buClr>
              <a:buSzPts val="2100"/>
              <a:buFont typeface="Overlock"/>
              <a:buChar char="○"/>
            </a:pPr>
            <a:r>
              <a:rPr lang="en-US" sz="2000" dirty="0" err="1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Apakah</a:t>
            </a:r>
            <a:r>
              <a:rPr lang="en-US" sz="2000" dirty="0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 data </a:t>
            </a:r>
            <a:r>
              <a:rPr lang="en-US" sz="2000" dirty="0" err="1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perlu</a:t>
            </a:r>
            <a:r>
              <a:rPr lang="en-US" sz="2000" dirty="0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dinormalisasi</a:t>
            </a:r>
            <a:r>
              <a:rPr lang="en-US" sz="2000" dirty="0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sebelum</a:t>
            </a:r>
            <a:r>
              <a:rPr lang="en-US" sz="2000" dirty="0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pemodelan</a:t>
            </a:r>
            <a:r>
              <a:rPr lang="en-US" sz="2000" dirty="0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?</a:t>
            </a:r>
            <a:endParaRPr sz="2000" dirty="0">
              <a:solidFill>
                <a:srgbClr val="595959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pPr marL="1219139" lvl="1" indent="-482577">
              <a:lnSpc>
                <a:spcPct val="105000"/>
              </a:lnSpc>
              <a:buClr>
                <a:srgbClr val="595959"/>
              </a:buClr>
              <a:buSzPts val="2100"/>
              <a:buFont typeface="Overlock"/>
              <a:buChar char="○"/>
            </a:pPr>
            <a:r>
              <a:rPr lang="en-US" sz="2000" dirty="0" err="1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Bisakah</a:t>
            </a:r>
            <a:r>
              <a:rPr lang="en-US" sz="2000" dirty="0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atribut</a:t>
            </a:r>
            <a:r>
              <a:rPr lang="en-US" sz="2000" dirty="0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 yang </a:t>
            </a:r>
            <a:r>
              <a:rPr lang="en-US" sz="2000" dirty="0" err="1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hilang</a:t>
            </a:r>
            <a:r>
              <a:rPr lang="en-US" sz="2000" dirty="0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dibangun</a:t>
            </a:r>
            <a:r>
              <a:rPr lang="en-US" sz="2000" dirty="0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menggunakan</a:t>
            </a:r>
            <a:r>
              <a:rPr lang="en-US" sz="2000" dirty="0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agregasi</a:t>
            </a:r>
            <a:r>
              <a:rPr lang="en-US" sz="2000" dirty="0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, rata-rata, </a:t>
            </a:r>
            <a:r>
              <a:rPr lang="en-US" sz="2000" dirty="0" err="1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atau</a:t>
            </a:r>
            <a:r>
              <a:rPr lang="en-US" sz="2000" dirty="0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induksi</a:t>
            </a:r>
            <a:r>
              <a:rPr lang="en-US" sz="2000" dirty="0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?</a:t>
            </a:r>
            <a:endParaRPr sz="2000" dirty="0">
              <a:solidFill>
                <a:srgbClr val="595959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pPr marL="609570" indent="-482577">
              <a:lnSpc>
                <a:spcPct val="105000"/>
              </a:lnSpc>
              <a:buClr>
                <a:srgbClr val="595959"/>
              </a:buClr>
              <a:buSzPts val="2100"/>
              <a:buFont typeface="Overlock"/>
              <a:buChar char="●"/>
            </a:pPr>
            <a:r>
              <a:rPr lang="en-US" sz="2400" dirty="0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Hasil </a:t>
            </a:r>
            <a:r>
              <a:rPr lang="en-US" sz="2400" dirty="0" err="1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transformasi</a:t>
            </a:r>
            <a:endParaRPr sz="2400" dirty="0">
              <a:solidFill>
                <a:srgbClr val="595959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pPr marL="609570" indent="-482577">
              <a:lnSpc>
                <a:spcPct val="105000"/>
              </a:lnSpc>
              <a:buClr>
                <a:srgbClr val="595959"/>
              </a:buClr>
              <a:buSzPts val="2100"/>
              <a:buFont typeface="Overlock"/>
              <a:buChar char="●"/>
            </a:pPr>
            <a:r>
              <a:rPr lang="en-US" sz="2400" dirty="0" err="1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Rekomendasi</a:t>
            </a:r>
            <a:r>
              <a:rPr lang="en-US" sz="2400" dirty="0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solidFill>
                  <a:srgbClr val="595959"/>
                </a:solidFill>
                <a:latin typeface="Overlock"/>
                <a:ea typeface="Overlock"/>
                <a:cs typeface="Overlock"/>
                <a:sym typeface="Overlock"/>
              </a:rPr>
              <a:t>transformasi</a:t>
            </a:r>
            <a:endParaRPr sz="2400" dirty="0">
              <a:solidFill>
                <a:srgbClr val="595959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pPr marL="0" indent="0" algn="ctr">
              <a:lnSpc>
                <a:spcPct val="105000"/>
              </a:lnSpc>
              <a:buSzPts val="1800"/>
            </a:pPr>
            <a:endParaRPr sz="2400" dirty="0">
              <a:latin typeface="Overlock"/>
              <a:ea typeface="Overlock"/>
              <a:cs typeface="Overlock"/>
              <a:sym typeface="Overlock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8">
          <a:extLst>
            <a:ext uri="{FF2B5EF4-FFF2-40B4-BE49-F238E27FC236}">
              <a16:creationId xmlns:a16="http://schemas.microsoft.com/office/drawing/2014/main" id="{8D464D1B-7A25-1674-07B5-83A832371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66">
            <a:extLst>
              <a:ext uri="{FF2B5EF4-FFF2-40B4-BE49-F238E27FC236}">
                <a16:creationId xmlns:a16="http://schemas.microsoft.com/office/drawing/2014/main" id="{DBA4075F-BA3B-981A-F440-26316E3E1D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8190" y="2328479"/>
            <a:ext cx="10515600" cy="79157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b" anchorCtr="0">
            <a:noAutofit/>
          </a:bodyPr>
          <a:lstStyle/>
          <a:p>
            <a:r>
              <a:rPr lang="en-US" sz="4800" dirty="0" err="1"/>
              <a:t>Pelabelan</a:t>
            </a:r>
            <a:r>
              <a:rPr lang="en-US" sz="4800" dirty="0"/>
              <a:t> Data</a:t>
            </a:r>
            <a:endParaRPr sz="4800" dirty="0"/>
          </a:p>
        </p:txBody>
      </p:sp>
      <p:sp>
        <p:nvSpPr>
          <p:cNvPr id="929" name="Google Shape;929;p66">
            <a:extLst>
              <a:ext uri="{FF2B5EF4-FFF2-40B4-BE49-F238E27FC236}">
                <a16:creationId xmlns:a16="http://schemas.microsoft.com/office/drawing/2014/main" id="{E0F730E9-53F9-FD73-7D95-7A6CFB4A9732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11682413" y="5843588"/>
            <a:ext cx="509587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41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08624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7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rgbClr val="0F3570"/>
              </a:buClr>
              <a:buSzPct val="115226"/>
            </a:pPr>
            <a:r>
              <a:rPr lang="en-US" dirty="0" err="1">
                <a:solidFill>
                  <a:srgbClr val="0F3570"/>
                </a:solidFill>
                <a:ea typeface="Overlock"/>
                <a:sym typeface="Overlock"/>
              </a:rPr>
              <a:t>Pelabelan</a:t>
            </a:r>
            <a:r>
              <a:rPr lang="en-US" dirty="0">
                <a:solidFill>
                  <a:srgbClr val="0F3570"/>
                </a:solidFill>
                <a:ea typeface="Overlock"/>
                <a:sym typeface="Overlock"/>
              </a:rPr>
              <a:t> Data - Intro</a:t>
            </a:r>
            <a:endParaRPr dirty="0">
              <a:solidFill>
                <a:srgbClr val="0F3570"/>
              </a:solidFill>
              <a:ea typeface="Overlock"/>
              <a:sym typeface="Overlock"/>
            </a:endParaRPr>
          </a:p>
        </p:txBody>
      </p:sp>
      <p:sp>
        <p:nvSpPr>
          <p:cNvPr id="962" name="Google Shape;962;p71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 fontScale="92500"/>
          </a:bodyPr>
          <a:lstStyle/>
          <a:p>
            <a:pPr marL="609570" indent="-457177">
              <a:lnSpc>
                <a:spcPct val="115000"/>
              </a:lnSpc>
              <a:buClr>
                <a:srgbClr val="0F3570"/>
              </a:buClr>
              <a:buSzPts val="1800"/>
              <a:buFont typeface="Overlock"/>
              <a:buChar char="●"/>
            </a:pPr>
            <a:r>
              <a:rPr lang="en-US" b="1" dirty="0" err="1">
                <a:ea typeface="Overlock"/>
                <a:cs typeface="Overlock"/>
                <a:sym typeface="Overlock"/>
              </a:rPr>
              <a:t>Kuantitas</a:t>
            </a:r>
            <a:r>
              <a:rPr lang="en-US" b="1" dirty="0">
                <a:ea typeface="Overlock"/>
                <a:cs typeface="Overlock"/>
                <a:sym typeface="Overlock"/>
              </a:rPr>
              <a:t> &amp; </a:t>
            </a:r>
            <a:r>
              <a:rPr lang="en-US" b="1" dirty="0" err="1">
                <a:ea typeface="Overlock"/>
                <a:cs typeface="Overlock"/>
                <a:sym typeface="Overlock"/>
              </a:rPr>
              <a:t>kualitas</a:t>
            </a:r>
            <a:r>
              <a:rPr lang="en-US" b="1" dirty="0">
                <a:ea typeface="Overlock"/>
                <a:cs typeface="Overlock"/>
                <a:sym typeface="Overlock"/>
              </a:rPr>
              <a:t> data </a:t>
            </a:r>
            <a:r>
              <a:rPr lang="en-US" b="1" dirty="0" err="1">
                <a:ea typeface="Overlock"/>
                <a:cs typeface="Overlock"/>
                <a:sym typeface="Overlock"/>
              </a:rPr>
              <a:t>pelatihan</a:t>
            </a:r>
            <a:r>
              <a:rPr lang="en-US" dirty="0">
                <a:ea typeface="Overlock"/>
                <a:cs typeface="Overlock"/>
                <a:sym typeface="Overlock"/>
              </a:rPr>
              <a:t> yang </a:t>
            </a:r>
            <a:r>
              <a:rPr lang="en-US" dirty="0" err="1">
                <a:ea typeface="Overlock"/>
                <a:cs typeface="Overlock"/>
                <a:sym typeface="Overlock"/>
              </a:rPr>
              <a:t>secara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langsung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b="1" dirty="0" err="1">
                <a:ea typeface="Overlock"/>
                <a:cs typeface="Overlock"/>
                <a:sym typeface="Overlock"/>
              </a:rPr>
              <a:t>menentukan</a:t>
            </a:r>
            <a:r>
              <a:rPr lang="en-US" b="1" dirty="0">
                <a:ea typeface="Overlock"/>
                <a:cs typeface="Overlock"/>
                <a:sym typeface="Overlock"/>
              </a:rPr>
              <a:t> </a:t>
            </a:r>
            <a:r>
              <a:rPr lang="en-US" b="1" dirty="0" err="1">
                <a:ea typeface="Overlock"/>
                <a:cs typeface="Overlock"/>
                <a:sym typeface="Overlock"/>
              </a:rPr>
              <a:t>keberhasilan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suatu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b="1" dirty="0" err="1">
                <a:ea typeface="Overlock"/>
                <a:cs typeface="Overlock"/>
                <a:sym typeface="Overlock"/>
              </a:rPr>
              <a:t>algoritma</a:t>
            </a:r>
            <a:r>
              <a:rPr lang="en-US" b="1" dirty="0">
                <a:ea typeface="Overlock"/>
                <a:cs typeface="Overlock"/>
                <a:sym typeface="Overlock"/>
              </a:rPr>
              <a:t> AI </a:t>
            </a:r>
            <a:r>
              <a:rPr lang="en-US" dirty="0" err="1">
                <a:ea typeface="Overlock"/>
                <a:cs typeface="Overlock"/>
                <a:sym typeface="Overlock"/>
              </a:rPr>
              <a:t>sehingga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tidak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mengherankan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jika</a:t>
            </a:r>
            <a:r>
              <a:rPr lang="en-US" dirty="0">
                <a:ea typeface="Overlock"/>
                <a:cs typeface="Overlock"/>
                <a:sym typeface="Overlock"/>
              </a:rPr>
              <a:t> rata-rata 80% </a:t>
            </a:r>
            <a:r>
              <a:rPr lang="en-US" dirty="0" err="1">
                <a:ea typeface="Overlock"/>
                <a:cs typeface="Overlock"/>
                <a:sym typeface="Overlock"/>
              </a:rPr>
              <a:t>waktu</a:t>
            </a:r>
            <a:r>
              <a:rPr lang="en-US" dirty="0">
                <a:ea typeface="Overlock"/>
                <a:cs typeface="Overlock"/>
                <a:sym typeface="Overlock"/>
              </a:rPr>
              <a:t> yang </a:t>
            </a:r>
            <a:r>
              <a:rPr lang="en-US" dirty="0" err="1">
                <a:ea typeface="Overlock"/>
                <a:cs typeface="Overlock"/>
                <a:sym typeface="Overlock"/>
              </a:rPr>
              <a:t>dihabiskan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untuk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proyek</a:t>
            </a:r>
            <a:r>
              <a:rPr lang="en-US" dirty="0">
                <a:ea typeface="Overlock"/>
                <a:cs typeface="Overlock"/>
                <a:sym typeface="Overlock"/>
              </a:rPr>
              <a:t> AI </a:t>
            </a:r>
            <a:r>
              <a:rPr lang="en-US" dirty="0" err="1">
                <a:ea typeface="Overlock"/>
                <a:cs typeface="Overlock"/>
                <a:sym typeface="Overlock"/>
              </a:rPr>
              <a:t>membahas</a:t>
            </a:r>
            <a:r>
              <a:rPr lang="en-US" dirty="0">
                <a:ea typeface="Overlock"/>
                <a:cs typeface="Overlock"/>
                <a:sym typeface="Overlock"/>
              </a:rPr>
              <a:t> data </a:t>
            </a:r>
            <a:r>
              <a:rPr lang="en-US" dirty="0" err="1">
                <a:ea typeface="Overlock"/>
                <a:cs typeface="Overlock"/>
                <a:sym typeface="Overlock"/>
              </a:rPr>
              <a:t>pelatihan</a:t>
            </a:r>
            <a:r>
              <a:rPr lang="en-US" dirty="0">
                <a:ea typeface="Overlock"/>
                <a:cs typeface="Overlock"/>
                <a:sym typeface="Overlock"/>
              </a:rPr>
              <a:t> yang </a:t>
            </a:r>
            <a:r>
              <a:rPr lang="en-US" dirty="0" err="1">
                <a:ea typeface="Overlock"/>
                <a:cs typeface="Overlock"/>
                <a:sym typeface="Overlock"/>
              </a:rPr>
              <a:t>mencakup</a:t>
            </a:r>
            <a:r>
              <a:rPr lang="en-US" dirty="0">
                <a:ea typeface="Overlock"/>
                <a:cs typeface="Overlock"/>
                <a:sym typeface="Overlock"/>
              </a:rPr>
              <a:t> proses </a:t>
            </a:r>
            <a:r>
              <a:rPr lang="en-US" b="1" dirty="0" err="1">
                <a:ea typeface="Overlock"/>
                <a:cs typeface="Overlock"/>
                <a:sym typeface="Overlock"/>
              </a:rPr>
              <a:t>pelabelan</a:t>
            </a:r>
            <a:r>
              <a:rPr lang="en-US" b="1" dirty="0">
                <a:ea typeface="Overlock"/>
                <a:cs typeface="Overlock"/>
                <a:sym typeface="Overlock"/>
              </a:rPr>
              <a:t> data</a:t>
            </a:r>
            <a:r>
              <a:rPr lang="en-US" dirty="0">
                <a:ea typeface="Overlock"/>
                <a:cs typeface="Overlock"/>
                <a:sym typeface="Overlock"/>
              </a:rPr>
              <a:t>.</a:t>
            </a:r>
            <a:endParaRPr b="1" dirty="0">
              <a:ea typeface="Overlock"/>
              <a:cs typeface="Overlock"/>
              <a:sym typeface="Overlock"/>
            </a:endParaRPr>
          </a:p>
          <a:p>
            <a:pPr marL="609570" indent="-457177">
              <a:lnSpc>
                <a:spcPct val="115000"/>
              </a:lnSpc>
              <a:buClr>
                <a:srgbClr val="0F3570"/>
              </a:buClr>
              <a:buSzPts val="1800"/>
              <a:buFont typeface="Overlock"/>
              <a:buChar char="●"/>
            </a:pPr>
            <a:r>
              <a:rPr lang="en-US" b="1" dirty="0" err="1">
                <a:ea typeface="Overlock"/>
                <a:cs typeface="Overlock"/>
                <a:sym typeface="Overlock"/>
              </a:rPr>
              <a:t>Keakuratan</a:t>
            </a:r>
            <a:r>
              <a:rPr lang="en-US" b="1" dirty="0">
                <a:ea typeface="Overlock"/>
                <a:cs typeface="Overlock"/>
                <a:sym typeface="Overlock"/>
              </a:rPr>
              <a:t> model AI Anda </a:t>
            </a:r>
            <a:r>
              <a:rPr lang="en-US" b="1" dirty="0" err="1">
                <a:ea typeface="Overlock"/>
                <a:cs typeface="Overlock"/>
                <a:sym typeface="Overlock"/>
              </a:rPr>
              <a:t>berkorelasi</a:t>
            </a:r>
            <a:r>
              <a:rPr lang="en-US" b="1" dirty="0">
                <a:ea typeface="Overlock"/>
                <a:cs typeface="Overlock"/>
                <a:sym typeface="Overlock"/>
              </a:rPr>
              <a:t> </a:t>
            </a:r>
            <a:r>
              <a:rPr lang="en-US" b="1" dirty="0" err="1">
                <a:ea typeface="Overlock"/>
                <a:cs typeface="Overlock"/>
                <a:sym typeface="Overlock"/>
              </a:rPr>
              <a:t>langsung</a:t>
            </a:r>
            <a:r>
              <a:rPr lang="en-US" b="1" dirty="0">
                <a:ea typeface="Overlock"/>
                <a:cs typeface="Overlock"/>
                <a:sym typeface="Overlock"/>
              </a:rPr>
              <a:t> </a:t>
            </a:r>
            <a:r>
              <a:rPr lang="en-US" b="1" dirty="0" err="1">
                <a:ea typeface="Overlock"/>
                <a:cs typeface="Overlock"/>
                <a:sym typeface="Overlock"/>
              </a:rPr>
              <a:t>dengan</a:t>
            </a:r>
            <a:r>
              <a:rPr lang="en-US" b="1" dirty="0">
                <a:ea typeface="Overlock"/>
                <a:cs typeface="Overlock"/>
                <a:sym typeface="Overlock"/>
              </a:rPr>
              <a:t> </a:t>
            </a:r>
            <a:r>
              <a:rPr lang="en-US" b="1" dirty="0" err="1">
                <a:ea typeface="Overlock"/>
                <a:cs typeface="Overlock"/>
                <a:sym typeface="Overlock"/>
              </a:rPr>
              <a:t>kualitas</a:t>
            </a:r>
            <a:r>
              <a:rPr lang="en-US" b="1" dirty="0">
                <a:ea typeface="Overlock"/>
                <a:cs typeface="Overlock"/>
                <a:sym typeface="Overlock"/>
              </a:rPr>
              <a:t> data </a:t>
            </a:r>
            <a:r>
              <a:rPr lang="en-US" dirty="0">
                <a:ea typeface="Overlock"/>
                <a:cs typeface="Overlock"/>
                <a:sym typeface="Overlock"/>
              </a:rPr>
              <a:t>yang </a:t>
            </a:r>
            <a:r>
              <a:rPr lang="en-US" dirty="0" err="1">
                <a:ea typeface="Overlock"/>
                <a:cs typeface="Overlock"/>
                <a:sym typeface="Overlock"/>
              </a:rPr>
              <a:t>digunakan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untuk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melatihnya</a:t>
            </a:r>
            <a:r>
              <a:rPr lang="en-US" dirty="0">
                <a:ea typeface="Overlock"/>
                <a:cs typeface="Overlock"/>
                <a:sym typeface="Overlock"/>
              </a:rPr>
              <a:t>. </a:t>
            </a:r>
            <a:endParaRPr dirty="0">
              <a:ea typeface="Overlock"/>
              <a:cs typeface="Overlock"/>
              <a:sym typeface="Overlock"/>
            </a:endParaRPr>
          </a:p>
          <a:p>
            <a:pPr marL="609570" indent="-457177">
              <a:lnSpc>
                <a:spcPct val="115000"/>
              </a:lnSpc>
              <a:buSzPts val="1800"/>
              <a:buFont typeface="Overlock"/>
              <a:buChar char="●"/>
            </a:pPr>
            <a:r>
              <a:rPr lang="en-US" dirty="0">
                <a:ea typeface="Overlock"/>
                <a:cs typeface="Overlock"/>
                <a:sym typeface="Overlock"/>
              </a:rPr>
              <a:t>Hal </a:t>
            </a:r>
            <a:r>
              <a:rPr lang="en-US" dirty="0" err="1">
                <a:ea typeface="Overlock"/>
                <a:cs typeface="Overlock"/>
                <a:sym typeface="Overlock"/>
              </a:rPr>
              <a:t>ini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menjadi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satu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alasan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mengapa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b="1" i="1" dirty="0">
                <a:ea typeface="Overlock"/>
                <a:cs typeface="Overlock"/>
                <a:sym typeface="Overlock"/>
              </a:rPr>
              <a:t>proses </a:t>
            </a:r>
            <a:r>
              <a:rPr lang="en-US" b="1" i="1" dirty="0" err="1">
                <a:ea typeface="Overlock"/>
                <a:cs typeface="Overlock"/>
                <a:sym typeface="Overlock"/>
              </a:rPr>
              <a:t>pelabelan</a:t>
            </a:r>
            <a:r>
              <a:rPr lang="en-US" b="1" i="1" dirty="0">
                <a:ea typeface="Overlock"/>
                <a:cs typeface="Overlock"/>
                <a:sym typeface="Overlock"/>
              </a:rPr>
              <a:t> data </a:t>
            </a:r>
            <a:r>
              <a:rPr lang="en-US" b="1" i="1" dirty="0" err="1">
                <a:ea typeface="Overlock"/>
                <a:cs typeface="Overlock"/>
                <a:sym typeface="Overlock"/>
              </a:rPr>
              <a:t>merupakan</a:t>
            </a:r>
            <a:r>
              <a:rPr lang="en-US" b="1" i="1" dirty="0">
                <a:ea typeface="Overlock"/>
                <a:cs typeface="Overlock"/>
                <a:sym typeface="Overlock"/>
              </a:rPr>
              <a:t> </a:t>
            </a:r>
            <a:r>
              <a:rPr lang="en-US" b="1" i="1" dirty="0" err="1">
                <a:ea typeface="Overlock"/>
                <a:cs typeface="Overlock"/>
                <a:sym typeface="Overlock"/>
              </a:rPr>
              <a:t>bagian</a:t>
            </a:r>
            <a:r>
              <a:rPr lang="en-US" b="1" i="1" dirty="0">
                <a:ea typeface="Overlock"/>
                <a:cs typeface="Overlock"/>
                <a:sym typeface="Overlock"/>
              </a:rPr>
              <a:t> integral </a:t>
            </a:r>
            <a:r>
              <a:rPr lang="en-US" b="1" i="1" dirty="0" err="1">
                <a:ea typeface="Overlock"/>
                <a:cs typeface="Overlock"/>
                <a:sym typeface="Overlock"/>
              </a:rPr>
              <a:t>dari</a:t>
            </a:r>
            <a:r>
              <a:rPr lang="en-US" b="1" i="1" dirty="0">
                <a:ea typeface="Overlock"/>
                <a:cs typeface="Overlock"/>
                <a:sym typeface="Overlock"/>
              </a:rPr>
              <a:t> </a:t>
            </a:r>
            <a:r>
              <a:rPr lang="en-US" b="1" i="1" dirty="0" err="1">
                <a:ea typeface="Overlock"/>
                <a:cs typeface="Overlock"/>
                <a:sym typeface="Overlock"/>
              </a:rPr>
              <a:t>alur</a:t>
            </a:r>
            <a:r>
              <a:rPr lang="en-US" b="1" i="1" dirty="0">
                <a:ea typeface="Overlock"/>
                <a:cs typeface="Overlock"/>
                <a:sym typeface="Overlock"/>
              </a:rPr>
              <a:t> </a:t>
            </a:r>
            <a:r>
              <a:rPr lang="en-US" b="1" i="1" dirty="0" err="1">
                <a:ea typeface="Overlock"/>
                <a:cs typeface="Overlock"/>
                <a:sym typeface="Overlock"/>
              </a:rPr>
              <a:t>kerja</a:t>
            </a:r>
            <a:r>
              <a:rPr lang="en-US" b="1" i="1" dirty="0">
                <a:ea typeface="Overlock"/>
                <a:cs typeface="Overlock"/>
                <a:sym typeface="Overlock"/>
              </a:rPr>
              <a:t> </a:t>
            </a:r>
            <a:r>
              <a:rPr lang="en-US" b="1" i="1" dirty="0" err="1">
                <a:ea typeface="Overlock"/>
                <a:cs typeface="Overlock"/>
                <a:sym typeface="Overlock"/>
              </a:rPr>
              <a:t>persiapan</a:t>
            </a:r>
            <a:r>
              <a:rPr lang="en-US" b="1" i="1" dirty="0">
                <a:ea typeface="Overlock"/>
                <a:cs typeface="Overlock"/>
                <a:sym typeface="Overlock"/>
              </a:rPr>
              <a:t> data </a:t>
            </a:r>
            <a:r>
              <a:rPr lang="en-US" b="1" i="1" dirty="0" err="1">
                <a:ea typeface="Overlock"/>
                <a:cs typeface="Overlock"/>
                <a:sym typeface="Overlock"/>
              </a:rPr>
              <a:t>dalam</a:t>
            </a:r>
            <a:r>
              <a:rPr lang="en-US" b="1" i="1" dirty="0">
                <a:ea typeface="Overlock"/>
                <a:cs typeface="Overlock"/>
                <a:sym typeface="Overlock"/>
              </a:rPr>
              <a:t> </a:t>
            </a:r>
            <a:r>
              <a:rPr lang="en-US" b="1" i="1" dirty="0" err="1">
                <a:ea typeface="Overlock"/>
                <a:cs typeface="Overlock"/>
                <a:sym typeface="Overlock"/>
              </a:rPr>
              <a:t>membangun</a:t>
            </a:r>
            <a:r>
              <a:rPr lang="en-US" b="1" i="1" dirty="0">
                <a:ea typeface="Overlock"/>
                <a:cs typeface="Overlock"/>
                <a:sym typeface="Overlock"/>
              </a:rPr>
              <a:t> model AI yang </a:t>
            </a:r>
            <a:r>
              <a:rPr lang="en-US" b="1" i="1" dirty="0" err="1">
                <a:ea typeface="Overlock"/>
                <a:cs typeface="Overlock"/>
                <a:sym typeface="Overlock"/>
              </a:rPr>
              <a:t>andal</a:t>
            </a:r>
            <a:r>
              <a:rPr lang="en-US" dirty="0">
                <a:ea typeface="Overlock"/>
                <a:cs typeface="Overlock"/>
                <a:sym typeface="Overlock"/>
              </a:rPr>
              <a:t>.</a:t>
            </a:r>
            <a:endParaRPr dirty="0">
              <a:ea typeface="Overlock"/>
              <a:cs typeface="Overlock"/>
              <a:sym typeface="Overlock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7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chemeClr val="dk1"/>
              </a:buClr>
              <a:buSzPct val="39285"/>
            </a:pPr>
            <a:r>
              <a:rPr lang="en-US" dirty="0" err="1">
                <a:solidFill>
                  <a:srgbClr val="0F3570"/>
                </a:solidFill>
                <a:ea typeface="Overlock"/>
                <a:sym typeface="Overlock"/>
              </a:rPr>
              <a:t>Pelabelan</a:t>
            </a:r>
            <a:r>
              <a:rPr lang="en-US" dirty="0">
                <a:solidFill>
                  <a:srgbClr val="0F3570"/>
                </a:solidFill>
                <a:ea typeface="Overlock"/>
                <a:sym typeface="Overlock"/>
              </a:rPr>
              <a:t> Data - Intro</a:t>
            </a:r>
            <a:endParaRPr dirty="0"/>
          </a:p>
        </p:txBody>
      </p:sp>
      <p:sp>
        <p:nvSpPr>
          <p:cNvPr id="969" name="Google Shape;969;p72"/>
          <p:cNvSpPr txBox="1">
            <a:spLocks noGrp="1"/>
          </p:cNvSpPr>
          <p:nvPr>
            <p:ph type="body" idx="4294967295"/>
          </p:nvPr>
        </p:nvSpPr>
        <p:spPr>
          <a:xfrm>
            <a:off x="831850" y="1234440"/>
            <a:ext cx="10621010" cy="468217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518153" indent="-342900">
              <a:lnSpc>
                <a:spcPct val="100000"/>
              </a:lnSpc>
              <a:spcBef>
                <a:spcPts val="600"/>
              </a:spcBef>
              <a:buClr>
                <a:schemeClr val="dk1"/>
              </a:buClr>
              <a:buSzPct val="100000"/>
            </a:pPr>
            <a:r>
              <a:rPr lang="en-US" sz="2400" dirty="0" err="1">
                <a:ea typeface="Overlock"/>
                <a:cs typeface="Overlock"/>
                <a:sym typeface="Overlock"/>
              </a:rPr>
              <a:t>Pelabelan</a:t>
            </a:r>
            <a:r>
              <a:rPr lang="en-US" sz="2400" dirty="0">
                <a:ea typeface="Overlock"/>
                <a:cs typeface="Overlock"/>
                <a:sym typeface="Overlock"/>
              </a:rPr>
              <a:t> data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dalam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konteks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pembelajaran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mesin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adalah</a:t>
            </a:r>
            <a:r>
              <a:rPr lang="en-US" sz="2400" dirty="0">
                <a:ea typeface="Overlock"/>
                <a:cs typeface="Overlock"/>
                <a:sym typeface="Overlock"/>
              </a:rPr>
              <a:t> proses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mendeteksi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serta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menandai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sampel</a:t>
            </a:r>
            <a:r>
              <a:rPr lang="en-US" sz="2400" dirty="0">
                <a:ea typeface="Overlock"/>
                <a:cs typeface="Overlock"/>
                <a:sym typeface="Overlock"/>
              </a:rPr>
              <a:t> data.</a:t>
            </a:r>
          </a:p>
          <a:p>
            <a:pPr marL="518153" indent="-342900">
              <a:lnSpc>
                <a:spcPct val="100000"/>
              </a:lnSpc>
              <a:spcBef>
                <a:spcPts val="600"/>
              </a:spcBef>
              <a:buClr>
                <a:schemeClr val="dk1"/>
              </a:buClr>
              <a:buSzPct val="100000"/>
            </a:pPr>
            <a:r>
              <a:rPr lang="en-US" sz="2400" dirty="0" err="1">
                <a:ea typeface="Overlock"/>
                <a:cs typeface="Overlock"/>
                <a:sym typeface="Overlock"/>
              </a:rPr>
              <a:t>Tahapan</a:t>
            </a:r>
            <a:r>
              <a:rPr lang="en-US" sz="2400" dirty="0">
                <a:ea typeface="Overlock"/>
                <a:cs typeface="Overlock"/>
                <a:sym typeface="Overlock"/>
              </a:rPr>
              <a:t> proses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ini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menjadi</a:t>
            </a:r>
            <a:r>
              <a:rPr lang="en-US" sz="2400" dirty="0">
                <a:ea typeface="Overlock"/>
                <a:cs typeface="Overlock"/>
                <a:sym typeface="Overlock"/>
              </a:rPr>
              <a:t> sangat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penting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dalam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hal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pembangunan</a:t>
            </a:r>
            <a:r>
              <a:rPr lang="en-US" sz="2400" dirty="0">
                <a:ea typeface="Overlock"/>
                <a:cs typeface="Overlock"/>
                <a:sym typeface="Overlock"/>
              </a:rPr>
              <a:t> model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dengan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pendekatan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pembelajaran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mesin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berbasiskan</a:t>
            </a:r>
            <a:r>
              <a:rPr lang="en-US" sz="2400" dirty="0">
                <a:ea typeface="Overlock"/>
                <a:cs typeface="Overlock"/>
                <a:sym typeface="Overlock"/>
              </a:rPr>
              <a:t> supervised-learning.</a:t>
            </a:r>
            <a:endParaRPr sz="2400" dirty="0">
              <a:ea typeface="Overlock"/>
              <a:cs typeface="Overlock"/>
              <a:sym typeface="Overlock"/>
            </a:endParaRPr>
          </a:p>
          <a:p>
            <a:pPr marL="518153" indent="-342900">
              <a:lnSpc>
                <a:spcPct val="100000"/>
              </a:lnSpc>
              <a:spcBef>
                <a:spcPts val="600"/>
              </a:spcBef>
              <a:buClr>
                <a:schemeClr val="dk1"/>
              </a:buClr>
              <a:buSzPct val="100000"/>
            </a:pPr>
            <a:r>
              <a:rPr lang="en-US" sz="2400" dirty="0" err="1">
                <a:ea typeface="Overlock"/>
                <a:cs typeface="Overlock"/>
                <a:sym typeface="Overlock"/>
              </a:rPr>
              <a:t>Pelabelan</a:t>
            </a:r>
            <a:r>
              <a:rPr lang="en-US" sz="2400" dirty="0">
                <a:ea typeface="Overlock"/>
                <a:cs typeface="Overlock"/>
                <a:sym typeface="Overlock"/>
              </a:rPr>
              <a:t> Data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mengacu</a:t>
            </a:r>
            <a:r>
              <a:rPr lang="en-US" sz="2400" dirty="0">
                <a:ea typeface="Overlock"/>
                <a:cs typeface="Overlock"/>
                <a:sym typeface="Overlock"/>
              </a:rPr>
              <a:t> pada proses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menambahkan</a:t>
            </a:r>
            <a:r>
              <a:rPr lang="en-US" sz="2400" dirty="0">
                <a:ea typeface="Overlock"/>
                <a:cs typeface="Overlock"/>
                <a:sym typeface="Overlock"/>
              </a:rPr>
              <a:t> tag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atau</a:t>
            </a:r>
            <a:r>
              <a:rPr lang="en-US" sz="2400" dirty="0">
                <a:ea typeface="Overlock"/>
                <a:cs typeface="Overlock"/>
                <a:sym typeface="Overlock"/>
              </a:rPr>
              <a:t> label pada data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masukan</a:t>
            </a:r>
            <a:r>
              <a:rPr lang="en-US" sz="2400" dirty="0">
                <a:ea typeface="Overlock"/>
                <a:cs typeface="Overlock"/>
                <a:sym typeface="Overlock"/>
              </a:rPr>
              <a:t> yang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berbentuk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b="1" i="1" dirty="0" err="1">
                <a:ea typeface="Overlock"/>
                <a:cs typeface="Overlock"/>
                <a:sym typeface="Overlock"/>
              </a:rPr>
              <a:t>gambar</a:t>
            </a:r>
            <a:r>
              <a:rPr lang="en-US" sz="2400" dirty="0">
                <a:ea typeface="Overlock"/>
                <a:cs typeface="Overlock"/>
                <a:sym typeface="Overlock"/>
              </a:rPr>
              <a:t>, </a:t>
            </a:r>
            <a:r>
              <a:rPr lang="en-US" sz="2400" b="1" i="1" dirty="0">
                <a:ea typeface="Overlock"/>
                <a:cs typeface="Overlock"/>
                <a:sym typeface="Overlock"/>
              </a:rPr>
              <a:t>video</a:t>
            </a:r>
            <a:r>
              <a:rPr lang="en-US" sz="2400" dirty="0">
                <a:ea typeface="Overlock"/>
                <a:cs typeface="Overlock"/>
                <a:sym typeface="Overlock"/>
              </a:rPr>
              <a:t>, </a:t>
            </a:r>
            <a:r>
              <a:rPr lang="en-US" sz="2400" b="1" i="1" dirty="0" err="1">
                <a:ea typeface="Overlock"/>
                <a:cs typeface="Overlock"/>
                <a:sym typeface="Overlock"/>
              </a:rPr>
              <a:t>teks</a:t>
            </a:r>
            <a:r>
              <a:rPr lang="en-US" sz="2400" dirty="0">
                <a:ea typeface="Overlock"/>
                <a:cs typeface="Overlock"/>
                <a:sym typeface="Overlock"/>
              </a:rPr>
              <a:t>, dan </a:t>
            </a:r>
            <a:r>
              <a:rPr lang="en-US" sz="2400" b="1" i="1" dirty="0">
                <a:ea typeface="Overlock"/>
                <a:cs typeface="Overlock"/>
                <a:sym typeface="Overlock"/>
              </a:rPr>
              <a:t>audio</a:t>
            </a:r>
            <a:r>
              <a:rPr lang="en-US" sz="2400" dirty="0">
                <a:ea typeface="Overlock"/>
                <a:cs typeface="Overlock"/>
                <a:sym typeface="Overlock"/>
              </a:rPr>
              <a:t>.</a:t>
            </a:r>
            <a:endParaRPr sz="2400" dirty="0">
              <a:ea typeface="Overlock"/>
              <a:cs typeface="Overlock"/>
              <a:sym typeface="Overlock"/>
            </a:endParaRPr>
          </a:p>
          <a:p>
            <a:pPr marL="518153" indent="-342900">
              <a:lnSpc>
                <a:spcPct val="100000"/>
              </a:lnSpc>
              <a:spcBef>
                <a:spcPts val="600"/>
              </a:spcBef>
              <a:buClr>
                <a:srgbClr val="E0E0E0"/>
              </a:buClr>
              <a:buSzPct val="100000"/>
            </a:pPr>
            <a:r>
              <a:rPr lang="en-US" sz="2400" b="1" dirty="0">
                <a:ea typeface="Overlock"/>
                <a:cs typeface="Overlock"/>
                <a:sym typeface="Overlock"/>
              </a:rPr>
              <a:t>Tag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ini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b="1" dirty="0" err="1">
                <a:ea typeface="Overlock"/>
                <a:cs typeface="Overlock"/>
                <a:sym typeface="Overlock"/>
              </a:rPr>
              <a:t>membentuk</a:t>
            </a:r>
            <a:r>
              <a:rPr lang="en-US" sz="2400" b="1" dirty="0">
                <a:ea typeface="Overlock"/>
                <a:cs typeface="Overlock"/>
                <a:sym typeface="Overlock"/>
              </a:rPr>
              <a:t> </a:t>
            </a:r>
            <a:r>
              <a:rPr lang="en-US" sz="2400" b="1" dirty="0" err="1">
                <a:ea typeface="Overlock"/>
                <a:cs typeface="Overlock"/>
                <a:sym typeface="Overlock"/>
              </a:rPr>
              <a:t>representasi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dari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kelas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b="1" dirty="0" err="1">
                <a:ea typeface="Overlock"/>
                <a:cs typeface="Overlock"/>
                <a:sym typeface="Overlock"/>
              </a:rPr>
              <a:t>objek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apa</a:t>
            </a:r>
            <a:r>
              <a:rPr lang="en-US" sz="2400" dirty="0">
                <a:ea typeface="Overlock"/>
                <a:cs typeface="Overlock"/>
                <a:sym typeface="Overlock"/>
              </a:rPr>
              <a:t> yang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dimiliki</a:t>
            </a:r>
            <a:r>
              <a:rPr lang="en-US" sz="2400" dirty="0">
                <a:ea typeface="Overlock"/>
                <a:cs typeface="Overlock"/>
                <a:sym typeface="Overlock"/>
              </a:rPr>
              <a:t> data dan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membantu</a:t>
            </a:r>
            <a:r>
              <a:rPr lang="en-US" sz="2400" dirty="0">
                <a:ea typeface="Overlock"/>
                <a:cs typeface="Overlock"/>
                <a:sym typeface="Overlock"/>
              </a:rPr>
              <a:t> model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pembelajaran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mesin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untuk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mengidentifikasi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kelas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objek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tertentu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saat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ditemui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dalam</a:t>
            </a:r>
            <a:r>
              <a:rPr lang="en-US" sz="2400" dirty="0">
                <a:ea typeface="Overlock"/>
                <a:cs typeface="Overlock"/>
                <a:sym typeface="Overlock"/>
              </a:rPr>
              <a:t> data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tanpa</a:t>
            </a:r>
            <a:r>
              <a:rPr lang="en-US" sz="2400" dirty="0">
                <a:ea typeface="Overlock"/>
                <a:cs typeface="Overlock"/>
                <a:sym typeface="Overlock"/>
              </a:rPr>
              <a:t> tag.</a:t>
            </a:r>
            <a:endParaRPr sz="2400" dirty="0">
              <a:ea typeface="Overlock"/>
              <a:cs typeface="Overlock"/>
              <a:sym typeface="Overlock"/>
            </a:endParaRPr>
          </a:p>
          <a:p>
            <a:pPr marL="518153" indent="-342900">
              <a:lnSpc>
                <a:spcPct val="100000"/>
              </a:lnSpc>
              <a:spcBef>
                <a:spcPts val="600"/>
              </a:spcBef>
              <a:buClr>
                <a:schemeClr val="dk1"/>
              </a:buClr>
              <a:buSzPct val="100000"/>
            </a:pPr>
            <a:r>
              <a:rPr lang="en-US" sz="2400" dirty="0" err="1">
                <a:ea typeface="Overlock"/>
                <a:cs typeface="Overlock"/>
                <a:sym typeface="Overlock"/>
              </a:rPr>
              <a:t>Secara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umum</a:t>
            </a:r>
            <a:r>
              <a:rPr lang="en-US" sz="2400" dirty="0">
                <a:ea typeface="Overlock"/>
                <a:cs typeface="Overlock"/>
                <a:sym typeface="Overlock"/>
              </a:rPr>
              <a:t>,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pelabelan</a:t>
            </a:r>
            <a:r>
              <a:rPr lang="en-US" sz="2400" dirty="0">
                <a:ea typeface="Overlock"/>
                <a:cs typeface="Overlock"/>
                <a:sym typeface="Overlock"/>
              </a:rPr>
              <a:t> data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dapat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merujuk</a:t>
            </a:r>
            <a:r>
              <a:rPr lang="en-US" sz="2400" dirty="0">
                <a:ea typeface="Overlock"/>
                <a:cs typeface="Overlock"/>
                <a:sym typeface="Overlock"/>
              </a:rPr>
              <a:t> pada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tugas</a:t>
            </a:r>
            <a:r>
              <a:rPr lang="en-US" sz="2400" dirty="0">
                <a:ea typeface="Overlock"/>
                <a:cs typeface="Overlock"/>
                <a:sym typeface="Overlock"/>
              </a:rPr>
              <a:t> yang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mencakup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b="1" dirty="0" err="1">
                <a:ea typeface="Overlock"/>
                <a:cs typeface="Overlock"/>
                <a:sym typeface="Overlock"/>
              </a:rPr>
              <a:t>penandaan</a:t>
            </a:r>
            <a:r>
              <a:rPr lang="en-US" sz="2400" b="1" dirty="0">
                <a:ea typeface="Overlock"/>
                <a:cs typeface="Overlock"/>
                <a:sym typeface="Overlock"/>
              </a:rPr>
              <a:t> data</a:t>
            </a:r>
            <a:r>
              <a:rPr lang="en-US" sz="2400" dirty="0">
                <a:ea typeface="Overlock"/>
                <a:cs typeface="Overlock"/>
                <a:sym typeface="Overlock"/>
              </a:rPr>
              <a:t>, </a:t>
            </a:r>
            <a:r>
              <a:rPr lang="en-US" sz="2400" b="1" dirty="0" err="1">
                <a:ea typeface="Overlock"/>
                <a:cs typeface="Overlock"/>
                <a:sym typeface="Overlock"/>
              </a:rPr>
              <a:t>anotasi</a:t>
            </a:r>
            <a:r>
              <a:rPr lang="en-US" sz="2400" dirty="0">
                <a:ea typeface="Overlock"/>
                <a:cs typeface="Overlock"/>
                <a:sym typeface="Overlock"/>
              </a:rPr>
              <a:t>, </a:t>
            </a:r>
            <a:r>
              <a:rPr lang="en-US" sz="2400" b="1" dirty="0" err="1">
                <a:ea typeface="Overlock"/>
                <a:cs typeface="Overlock"/>
                <a:sym typeface="Overlock"/>
              </a:rPr>
              <a:t>klasifikasi</a:t>
            </a:r>
            <a:r>
              <a:rPr lang="en-US" sz="2400" dirty="0">
                <a:ea typeface="Overlock"/>
                <a:cs typeface="Overlock"/>
                <a:sym typeface="Overlock"/>
              </a:rPr>
              <a:t>, </a:t>
            </a:r>
            <a:r>
              <a:rPr lang="en-US" sz="2400" b="1" dirty="0" err="1">
                <a:ea typeface="Overlock"/>
                <a:cs typeface="Overlock"/>
                <a:sym typeface="Overlock"/>
              </a:rPr>
              <a:t>moderasi</a:t>
            </a:r>
            <a:r>
              <a:rPr lang="en-US" sz="2400" dirty="0">
                <a:ea typeface="Overlock"/>
                <a:cs typeface="Overlock"/>
                <a:sym typeface="Overlock"/>
              </a:rPr>
              <a:t>, </a:t>
            </a:r>
            <a:r>
              <a:rPr lang="en-US" sz="2400" b="1" dirty="0" err="1">
                <a:ea typeface="Overlock"/>
                <a:cs typeface="Overlock"/>
                <a:sym typeface="Overlock"/>
              </a:rPr>
              <a:t>transkripsi</a:t>
            </a:r>
            <a:r>
              <a:rPr lang="en-US" sz="2400" dirty="0">
                <a:ea typeface="Overlock"/>
                <a:cs typeface="Overlock"/>
                <a:sym typeface="Overlock"/>
              </a:rPr>
              <a:t>,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atau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b="1" dirty="0" err="1">
                <a:ea typeface="Overlock"/>
                <a:cs typeface="Overlock"/>
                <a:sym typeface="Overlock"/>
              </a:rPr>
              <a:t>pemrosesan</a:t>
            </a:r>
            <a:r>
              <a:rPr lang="en-US" sz="2400" dirty="0">
                <a:ea typeface="Overlock"/>
                <a:cs typeface="Overlock"/>
                <a:sym typeface="Overlock"/>
              </a:rPr>
              <a:t>.</a:t>
            </a:r>
            <a:endParaRPr sz="2400" dirty="0">
              <a:ea typeface="Overlock"/>
              <a:cs typeface="Overlock"/>
              <a:sym typeface="Overlock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7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buSzPts val="1800"/>
            </a:pPr>
            <a:r>
              <a:rPr lang="en-US" sz="2400" dirty="0" err="1">
                <a:ea typeface="Overlock"/>
                <a:cs typeface="Overlock"/>
                <a:sym typeface="Overlock"/>
              </a:rPr>
              <a:t>Pelabelan</a:t>
            </a:r>
            <a:r>
              <a:rPr lang="en-US" sz="2400" dirty="0">
                <a:ea typeface="Overlock"/>
                <a:cs typeface="Overlock"/>
                <a:sym typeface="Overlock"/>
              </a:rPr>
              <a:t> data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adalah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bagian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utama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dari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alur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kerja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pra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pemrosesan</a:t>
            </a:r>
            <a:r>
              <a:rPr lang="en-US" sz="2400" dirty="0">
                <a:ea typeface="Overlock"/>
                <a:cs typeface="Overlock"/>
                <a:sym typeface="Overlock"/>
              </a:rPr>
              <a:t> data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untuk</a:t>
            </a:r>
            <a:r>
              <a:rPr lang="en-US" sz="2400" dirty="0">
                <a:ea typeface="Overlock"/>
                <a:cs typeface="Overlock"/>
                <a:sym typeface="Overlock"/>
              </a:rPr>
              <a:t> machine learning. Data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berlabel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ini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kemudian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digunakan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untuk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melatih</a:t>
            </a:r>
            <a:r>
              <a:rPr lang="en-US" sz="2400" dirty="0">
                <a:ea typeface="Overlock"/>
                <a:cs typeface="Overlock"/>
                <a:sym typeface="Overlock"/>
              </a:rPr>
              <a:t> model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pembelajaran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mesin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untuk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menemukan</a:t>
            </a:r>
            <a:r>
              <a:rPr lang="en-US" sz="2400" dirty="0">
                <a:ea typeface="Overlock"/>
                <a:cs typeface="Overlock"/>
                <a:sym typeface="Overlock"/>
              </a:rPr>
              <a:t> "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makna</a:t>
            </a:r>
            <a:r>
              <a:rPr lang="en-US" sz="2400" dirty="0">
                <a:ea typeface="Overlock"/>
                <a:cs typeface="Overlock"/>
                <a:sym typeface="Overlock"/>
              </a:rPr>
              <a:t>"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dalam</a:t>
            </a:r>
            <a:r>
              <a:rPr lang="en-US" sz="2400" dirty="0">
                <a:ea typeface="Overlock"/>
                <a:cs typeface="Overlock"/>
                <a:sym typeface="Overlock"/>
              </a:rPr>
              <a:t> data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baru</a:t>
            </a:r>
            <a:r>
              <a:rPr lang="en-US" sz="2400" dirty="0">
                <a:ea typeface="Overlock"/>
                <a:cs typeface="Overlock"/>
                <a:sym typeface="Overlock"/>
              </a:rPr>
              <a:t> yang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serupa</a:t>
            </a:r>
            <a:r>
              <a:rPr lang="en-US" sz="2400" dirty="0">
                <a:ea typeface="Overlock"/>
                <a:cs typeface="Overlock"/>
                <a:sym typeface="Overlock"/>
              </a:rPr>
              <a:t> dan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relevan</a:t>
            </a:r>
            <a:r>
              <a:rPr lang="en-US" sz="2400" dirty="0">
                <a:ea typeface="Overlock"/>
                <a:cs typeface="Overlock"/>
                <a:sym typeface="Overlock"/>
              </a:rPr>
              <a:t>. </a:t>
            </a:r>
            <a:endParaRPr sz="2400" dirty="0">
              <a:ea typeface="Overlock"/>
              <a:cs typeface="Overlock"/>
              <a:sym typeface="Overlock"/>
            </a:endParaRPr>
          </a:p>
          <a:p>
            <a:pPr>
              <a:buSzPts val="1800"/>
            </a:pPr>
            <a:r>
              <a:rPr lang="en-US" sz="2400" dirty="0" err="1">
                <a:ea typeface="Overlock"/>
                <a:cs typeface="Overlock"/>
                <a:sym typeface="Overlock"/>
              </a:rPr>
              <a:t>Pelabelan</a:t>
            </a:r>
            <a:r>
              <a:rPr lang="en-US" sz="2400" dirty="0">
                <a:ea typeface="Overlock"/>
                <a:cs typeface="Overlock"/>
                <a:sym typeface="Overlock"/>
              </a:rPr>
              <a:t> data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menyusun</a:t>
            </a:r>
            <a:r>
              <a:rPr lang="en-US" sz="2400" dirty="0">
                <a:ea typeface="Overlock"/>
                <a:cs typeface="Overlock"/>
                <a:sym typeface="Overlock"/>
              </a:rPr>
              <a:t> data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untuk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membuatnya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bermakna</a:t>
            </a:r>
            <a:r>
              <a:rPr lang="en-US" sz="2400" dirty="0">
                <a:ea typeface="Overlock"/>
                <a:cs typeface="Overlock"/>
                <a:sym typeface="Overlock"/>
              </a:rPr>
              <a:t>. </a:t>
            </a:r>
            <a:endParaRPr sz="2400" dirty="0">
              <a:ea typeface="Overlock"/>
              <a:cs typeface="Overlock"/>
              <a:sym typeface="Overlock"/>
            </a:endParaRPr>
          </a:p>
          <a:p>
            <a:pPr>
              <a:buSzPts val="1800"/>
            </a:pPr>
            <a:r>
              <a:rPr lang="en-US" sz="2400" dirty="0" err="1">
                <a:ea typeface="Overlock"/>
                <a:cs typeface="Overlock"/>
                <a:sym typeface="Overlock"/>
              </a:rPr>
              <a:t>Sepanjang</a:t>
            </a:r>
            <a:r>
              <a:rPr lang="en-US" sz="2400" dirty="0">
                <a:ea typeface="Overlock"/>
                <a:cs typeface="Overlock"/>
                <a:sym typeface="Overlock"/>
              </a:rPr>
              <a:t> proses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ini</a:t>
            </a:r>
            <a:r>
              <a:rPr lang="en-US" sz="2400" dirty="0">
                <a:ea typeface="Overlock"/>
                <a:cs typeface="Overlock"/>
                <a:sym typeface="Overlock"/>
              </a:rPr>
              <a:t>, data scientist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berusaha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keras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untuk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memperoleh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kualitas</a:t>
            </a:r>
            <a:r>
              <a:rPr lang="en-US" sz="2400" dirty="0">
                <a:ea typeface="Overlock"/>
                <a:cs typeface="Overlock"/>
                <a:sym typeface="Overlock"/>
              </a:rPr>
              <a:t> dan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kuantitas</a:t>
            </a:r>
            <a:r>
              <a:rPr lang="en-US" sz="2400" dirty="0">
                <a:ea typeface="Overlock"/>
                <a:cs typeface="Overlock"/>
                <a:sym typeface="Overlock"/>
              </a:rPr>
              <a:t> yang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baik</a:t>
            </a:r>
            <a:r>
              <a:rPr lang="en-US" sz="2400" dirty="0">
                <a:ea typeface="Overlock"/>
                <a:cs typeface="Overlock"/>
                <a:sym typeface="Overlock"/>
              </a:rPr>
              <a:t>. </a:t>
            </a:r>
            <a:endParaRPr sz="2400" dirty="0">
              <a:ea typeface="Overlock"/>
              <a:cs typeface="Overlock"/>
              <a:sym typeface="Overlock"/>
            </a:endParaRPr>
          </a:p>
          <a:p>
            <a:pPr>
              <a:buSzPts val="1800"/>
            </a:pPr>
            <a:r>
              <a:rPr lang="en-US" sz="2400" dirty="0">
                <a:ea typeface="Overlock"/>
                <a:cs typeface="Overlock"/>
                <a:sym typeface="Overlock"/>
              </a:rPr>
              <a:t>Label yang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lebih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akurat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ditambah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dengan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jumlah</a:t>
            </a:r>
            <a:r>
              <a:rPr lang="en-US" sz="2400" dirty="0">
                <a:ea typeface="Overlock"/>
                <a:cs typeface="Overlock"/>
                <a:sym typeface="Overlock"/>
              </a:rPr>
              <a:t> data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berlabel</a:t>
            </a:r>
            <a:r>
              <a:rPr lang="en-US" sz="2400" dirty="0">
                <a:ea typeface="Overlock"/>
                <a:cs typeface="Overlock"/>
                <a:sym typeface="Overlock"/>
              </a:rPr>
              <a:t> yang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lebih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besar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menciptakan</a:t>
            </a:r>
            <a:r>
              <a:rPr lang="en-US" sz="2400" dirty="0">
                <a:ea typeface="Overlock"/>
                <a:cs typeface="Overlock"/>
                <a:sym typeface="Overlock"/>
              </a:rPr>
              <a:t> model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pembelajaran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mendalam</a:t>
            </a:r>
            <a:r>
              <a:rPr lang="en-US" sz="2400" dirty="0">
                <a:ea typeface="Overlock"/>
                <a:cs typeface="Overlock"/>
                <a:sym typeface="Overlock"/>
              </a:rPr>
              <a:t> yang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lebih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berguna</a:t>
            </a:r>
            <a:r>
              <a:rPr lang="en-US" sz="2400" dirty="0">
                <a:ea typeface="Overlock"/>
                <a:cs typeface="Overlock"/>
                <a:sym typeface="Overlock"/>
              </a:rPr>
              <a:t>, </a:t>
            </a:r>
            <a:endParaRPr sz="2400" dirty="0">
              <a:ea typeface="Overlock"/>
              <a:cs typeface="Overlock"/>
              <a:sym typeface="Overlock"/>
            </a:endParaRPr>
          </a:p>
          <a:p>
            <a:pPr>
              <a:buSzPts val="1100"/>
            </a:pPr>
            <a:r>
              <a:rPr lang="en-US" sz="2400" dirty="0" err="1">
                <a:ea typeface="Overlock"/>
                <a:cs typeface="Overlock"/>
                <a:sym typeface="Overlock"/>
              </a:rPr>
              <a:t>karena</a:t>
            </a:r>
            <a:r>
              <a:rPr lang="en-US" sz="2400" dirty="0">
                <a:ea typeface="Overlock"/>
                <a:cs typeface="Overlock"/>
                <a:sym typeface="Overlock"/>
              </a:rPr>
              <a:t> model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pembelajaran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mesin</a:t>
            </a:r>
            <a:r>
              <a:rPr lang="en-US" sz="2400" dirty="0">
                <a:ea typeface="Overlock"/>
                <a:cs typeface="Overlock"/>
                <a:sym typeface="Overlock"/>
              </a:rPr>
              <a:t> yang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dihasilkan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mendasarkan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keputusan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mereka</a:t>
            </a:r>
            <a:r>
              <a:rPr lang="en-US" sz="2400" dirty="0">
                <a:ea typeface="Overlock"/>
                <a:cs typeface="Overlock"/>
                <a:sym typeface="Overlock"/>
              </a:rPr>
              <a:t> pada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semua</a:t>
            </a:r>
            <a:r>
              <a:rPr lang="en-US" sz="2400" dirty="0">
                <a:ea typeface="Overlock"/>
                <a:cs typeface="Overlock"/>
                <a:sym typeface="Overlock"/>
              </a:rPr>
              <a:t> data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berlabel</a:t>
            </a:r>
            <a:r>
              <a:rPr lang="en-US" sz="2400" dirty="0">
                <a:ea typeface="Overlock"/>
                <a:cs typeface="Overlock"/>
                <a:sym typeface="Overlock"/>
              </a:rPr>
              <a:t>.</a:t>
            </a:r>
            <a:endParaRPr sz="2400" dirty="0">
              <a:ea typeface="Overlock"/>
              <a:cs typeface="Overlock"/>
              <a:sym typeface="Overlock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82EE1F1-50BB-DFE3-72FD-FE7C08568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Pelabelan</a:t>
            </a:r>
            <a:r>
              <a:rPr lang="en-US" dirty="0"/>
              <a:t> Data - Intro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7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rgbClr val="0F3570"/>
              </a:buClr>
              <a:buSzPct val="115226"/>
            </a:pPr>
            <a:r>
              <a:rPr lang="en-US" dirty="0" err="1">
                <a:solidFill>
                  <a:srgbClr val="0F3570"/>
                </a:solidFill>
                <a:ea typeface="Overlock"/>
                <a:sym typeface="Overlock"/>
              </a:rPr>
              <a:t>Pelabelan</a:t>
            </a:r>
            <a:r>
              <a:rPr lang="en-US" dirty="0">
                <a:solidFill>
                  <a:srgbClr val="0F3570"/>
                </a:solidFill>
                <a:ea typeface="Overlock"/>
                <a:sym typeface="Overlock"/>
              </a:rPr>
              <a:t> Data - Data Training</a:t>
            </a:r>
            <a:endParaRPr dirty="0">
              <a:solidFill>
                <a:srgbClr val="0F3570"/>
              </a:solidFill>
              <a:ea typeface="Overlock"/>
              <a:sym typeface="Overlock"/>
            </a:endParaRPr>
          </a:p>
        </p:txBody>
      </p:sp>
      <p:sp>
        <p:nvSpPr>
          <p:cNvPr id="1074" name="Google Shape;1074;p7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lnSpc>
                <a:spcPct val="115000"/>
              </a:lnSpc>
              <a:buSzPct val="56628"/>
            </a:pPr>
            <a:r>
              <a:rPr lang="en-US" sz="2400" dirty="0">
                <a:ea typeface="Overlock"/>
                <a:cs typeface="Overlock"/>
                <a:sym typeface="Overlock"/>
              </a:rPr>
              <a:t>Data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pelatihan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mengacu</a:t>
            </a:r>
            <a:r>
              <a:rPr lang="en-US" sz="2400" dirty="0">
                <a:ea typeface="Overlock"/>
                <a:cs typeface="Overlock"/>
                <a:sym typeface="Overlock"/>
              </a:rPr>
              <a:t> pada data yang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telah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dikumpulkan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untuk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diumpankan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ke</a:t>
            </a:r>
            <a:r>
              <a:rPr lang="en-US" sz="2400" dirty="0">
                <a:ea typeface="Overlock"/>
                <a:cs typeface="Overlock"/>
                <a:sym typeface="Overlock"/>
              </a:rPr>
              <a:t> model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pembelajaran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mesin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untuk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membantu</a:t>
            </a:r>
            <a:r>
              <a:rPr lang="en-US" sz="2400" dirty="0">
                <a:ea typeface="Overlock"/>
                <a:cs typeface="Overlock"/>
                <a:sym typeface="Overlock"/>
              </a:rPr>
              <a:t> model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mempelajari</a:t>
            </a:r>
            <a:r>
              <a:rPr lang="en-US" sz="2400" dirty="0">
                <a:ea typeface="Overlock"/>
                <a:cs typeface="Overlock"/>
                <a:sym typeface="Overlock"/>
              </a:rPr>
              <a:t> data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lebih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lanjut</a:t>
            </a:r>
            <a:r>
              <a:rPr lang="en-US" sz="2400" dirty="0">
                <a:ea typeface="Overlock"/>
                <a:cs typeface="Overlock"/>
                <a:sym typeface="Overlock"/>
              </a:rPr>
              <a:t>.</a:t>
            </a:r>
            <a:endParaRPr sz="2400" dirty="0">
              <a:ea typeface="Overlock"/>
              <a:cs typeface="Overlock"/>
              <a:sym typeface="Overlock"/>
            </a:endParaRPr>
          </a:p>
          <a:p>
            <a:pPr>
              <a:lnSpc>
                <a:spcPct val="115000"/>
              </a:lnSpc>
              <a:buSzPct val="92664"/>
            </a:pPr>
            <a:r>
              <a:rPr lang="en-US" sz="2400" dirty="0">
                <a:ea typeface="Overlock"/>
                <a:cs typeface="Overlock"/>
                <a:sym typeface="Overlock"/>
              </a:rPr>
              <a:t>Data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pelatihan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dapat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berupa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berbagai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bentuk</a:t>
            </a:r>
            <a:r>
              <a:rPr lang="en-US" sz="2400" dirty="0">
                <a:ea typeface="Overlock"/>
                <a:cs typeface="Overlock"/>
                <a:sym typeface="Overlock"/>
              </a:rPr>
              <a:t>,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termasuk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gambar</a:t>
            </a:r>
            <a:r>
              <a:rPr lang="en-US" sz="2400" dirty="0">
                <a:ea typeface="Overlock"/>
                <a:cs typeface="Overlock"/>
                <a:sym typeface="Overlock"/>
              </a:rPr>
              <a:t>,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suara</a:t>
            </a:r>
            <a:r>
              <a:rPr lang="en-US" sz="2400" dirty="0">
                <a:ea typeface="Overlock"/>
                <a:cs typeface="Overlock"/>
                <a:sym typeface="Overlock"/>
              </a:rPr>
              <a:t>,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teks</a:t>
            </a:r>
            <a:r>
              <a:rPr lang="en-US" sz="2400" dirty="0">
                <a:ea typeface="Overlock"/>
                <a:cs typeface="Overlock"/>
                <a:sym typeface="Overlock"/>
              </a:rPr>
              <a:t>,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atau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fitur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tergantung</a:t>
            </a:r>
            <a:r>
              <a:rPr lang="en-US" sz="2400" dirty="0">
                <a:ea typeface="Overlock"/>
                <a:cs typeface="Overlock"/>
                <a:sym typeface="Overlock"/>
              </a:rPr>
              <a:t> pada model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pembelajaran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mesin</a:t>
            </a:r>
            <a:r>
              <a:rPr lang="en-US" sz="2400" dirty="0">
                <a:ea typeface="Overlock"/>
                <a:cs typeface="Overlock"/>
                <a:sym typeface="Overlock"/>
              </a:rPr>
              <a:t> yang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digunakan</a:t>
            </a:r>
            <a:r>
              <a:rPr lang="en-US" sz="2400" dirty="0">
                <a:ea typeface="Overlock"/>
                <a:cs typeface="Overlock"/>
                <a:sym typeface="Overlock"/>
              </a:rPr>
              <a:t> dan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tugas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ataupun</a:t>
            </a:r>
            <a:r>
              <a:rPr lang="en-US" sz="2400" dirty="0">
                <a:ea typeface="Overlock"/>
                <a:cs typeface="Overlock"/>
                <a:sym typeface="Overlock"/>
              </a:rPr>
              <a:t> business goal yang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ingin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dicapai</a:t>
            </a:r>
            <a:r>
              <a:rPr lang="en-US" sz="2400" dirty="0">
                <a:ea typeface="Overlock"/>
                <a:cs typeface="Overlock"/>
                <a:sym typeface="Overlock"/>
              </a:rPr>
              <a:t>.</a:t>
            </a:r>
            <a:endParaRPr sz="2400" dirty="0">
              <a:ea typeface="Overlock"/>
              <a:cs typeface="Overlock"/>
              <a:sym typeface="Overlock"/>
            </a:endParaRPr>
          </a:p>
          <a:p>
            <a:pPr>
              <a:lnSpc>
                <a:spcPct val="115000"/>
              </a:lnSpc>
              <a:buSzPct val="92664"/>
            </a:pPr>
            <a:r>
              <a:rPr lang="en-US" sz="2400" dirty="0">
                <a:ea typeface="Overlock"/>
                <a:cs typeface="Overlock"/>
                <a:sym typeface="Overlock"/>
              </a:rPr>
              <a:t>Data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pelatihan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bisa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diberi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anotasi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maupun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tidak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diberi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anotasi</a:t>
            </a:r>
            <a:r>
              <a:rPr lang="en-US" sz="2400" dirty="0">
                <a:ea typeface="Overlock"/>
                <a:cs typeface="Overlock"/>
                <a:sym typeface="Overlock"/>
              </a:rPr>
              <a:t>. </a:t>
            </a:r>
            <a:endParaRPr sz="2400" dirty="0">
              <a:ea typeface="Overlock"/>
              <a:cs typeface="Overlock"/>
              <a:sym typeface="Overlock"/>
            </a:endParaRPr>
          </a:p>
          <a:p>
            <a:pPr>
              <a:lnSpc>
                <a:spcPct val="115000"/>
              </a:lnSpc>
              <a:buSzPct val="92664"/>
            </a:pPr>
            <a:r>
              <a:rPr lang="en-US" sz="2400" dirty="0">
                <a:ea typeface="Overlock"/>
                <a:cs typeface="Overlock"/>
                <a:sym typeface="Overlock"/>
              </a:rPr>
              <a:t>Ketika data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pelatihan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dianotasi</a:t>
            </a:r>
            <a:r>
              <a:rPr lang="en-US" sz="2400" dirty="0">
                <a:ea typeface="Overlock"/>
                <a:cs typeface="Overlock"/>
                <a:sym typeface="Overlock"/>
              </a:rPr>
              <a:t>, label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tersebut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disebut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sebagai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dasar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kebenaran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atau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b="1" i="1" dirty="0">
                <a:ea typeface="Overlock"/>
                <a:cs typeface="Overlock"/>
                <a:sym typeface="Overlock"/>
              </a:rPr>
              <a:t>Ground Truth - </a:t>
            </a:r>
            <a:r>
              <a:rPr lang="en-US" sz="2400" b="1" i="1" dirty="0" err="1">
                <a:ea typeface="Overlock"/>
                <a:cs typeface="Overlock"/>
                <a:sym typeface="Overlock"/>
              </a:rPr>
              <a:t>istilah</a:t>
            </a:r>
            <a:r>
              <a:rPr lang="en-US" sz="2400" b="1" i="1" dirty="0">
                <a:ea typeface="Overlock"/>
                <a:cs typeface="Overlock"/>
                <a:sym typeface="Overlock"/>
              </a:rPr>
              <a:t> </a:t>
            </a:r>
            <a:r>
              <a:rPr lang="en-US" sz="2400" b="1" i="1" dirty="0" err="1">
                <a:ea typeface="Overlock"/>
                <a:cs typeface="Overlock"/>
                <a:sym typeface="Overlock"/>
              </a:rPr>
              <a:t>digunakan</a:t>
            </a:r>
            <a:r>
              <a:rPr lang="en-US" sz="2400" b="1" i="1" dirty="0">
                <a:ea typeface="Overlock"/>
                <a:cs typeface="Overlock"/>
                <a:sym typeface="Overlock"/>
              </a:rPr>
              <a:t> </a:t>
            </a:r>
            <a:r>
              <a:rPr lang="en-US" sz="2400" b="1" i="1" dirty="0" err="1">
                <a:ea typeface="Overlock"/>
                <a:cs typeface="Overlock"/>
                <a:sym typeface="Overlock"/>
              </a:rPr>
              <a:t>untuk</a:t>
            </a:r>
            <a:r>
              <a:rPr lang="en-US" sz="2400" b="1" i="1" dirty="0">
                <a:ea typeface="Overlock"/>
                <a:cs typeface="Overlock"/>
                <a:sym typeface="Overlock"/>
              </a:rPr>
              <a:t> </a:t>
            </a:r>
            <a:r>
              <a:rPr lang="en-US" sz="2400" b="1" i="1" dirty="0" err="1">
                <a:ea typeface="Overlock"/>
                <a:cs typeface="Overlock"/>
                <a:sym typeface="Overlock"/>
              </a:rPr>
              <a:t>informasi</a:t>
            </a:r>
            <a:r>
              <a:rPr lang="en-US" sz="2400" b="1" i="1" dirty="0">
                <a:ea typeface="Overlock"/>
                <a:cs typeface="Overlock"/>
                <a:sym typeface="Overlock"/>
              </a:rPr>
              <a:t> yang </a:t>
            </a:r>
            <a:r>
              <a:rPr lang="en-US" sz="2400" b="1" i="1" dirty="0" err="1">
                <a:ea typeface="Overlock"/>
                <a:cs typeface="Overlock"/>
                <a:sym typeface="Overlock"/>
              </a:rPr>
              <a:t>telah</a:t>
            </a:r>
            <a:r>
              <a:rPr lang="en-US" sz="2400" b="1" i="1" dirty="0">
                <a:ea typeface="Overlock"/>
                <a:cs typeface="Overlock"/>
                <a:sym typeface="Overlock"/>
              </a:rPr>
              <a:t> </a:t>
            </a:r>
            <a:r>
              <a:rPr lang="en-US" sz="2400" b="1" i="1" dirty="0" err="1">
                <a:ea typeface="Overlock"/>
                <a:cs typeface="Overlock"/>
                <a:sym typeface="Overlock"/>
              </a:rPr>
              <a:t>diketahui</a:t>
            </a:r>
            <a:r>
              <a:rPr lang="en-US" sz="2400" b="1" i="1" dirty="0">
                <a:ea typeface="Overlock"/>
                <a:cs typeface="Overlock"/>
                <a:sym typeface="Overlock"/>
              </a:rPr>
              <a:t> </a:t>
            </a:r>
            <a:r>
              <a:rPr lang="en-US" sz="2400" b="1" i="1" dirty="0" err="1">
                <a:ea typeface="Overlock"/>
                <a:cs typeface="Overlock"/>
                <a:sym typeface="Overlock"/>
              </a:rPr>
              <a:t>sebelumnya</a:t>
            </a:r>
            <a:r>
              <a:rPr lang="en-US" sz="2400" b="1" i="1" dirty="0">
                <a:ea typeface="Overlock"/>
                <a:cs typeface="Overlock"/>
                <a:sym typeface="Overlock"/>
              </a:rPr>
              <a:t> </a:t>
            </a:r>
            <a:r>
              <a:rPr lang="en-US" sz="2400" b="1" i="1" dirty="0" err="1">
                <a:ea typeface="Overlock"/>
                <a:cs typeface="Overlock"/>
                <a:sym typeface="Overlock"/>
              </a:rPr>
              <a:t>bernilai</a:t>
            </a:r>
            <a:r>
              <a:rPr lang="en-US" sz="2400" b="1" i="1" dirty="0">
                <a:ea typeface="Overlock"/>
                <a:cs typeface="Overlock"/>
                <a:sym typeface="Overlock"/>
              </a:rPr>
              <a:t> </a:t>
            </a:r>
            <a:r>
              <a:rPr lang="en-US" sz="2400" b="1" i="1" dirty="0" err="1">
                <a:ea typeface="Overlock"/>
                <a:cs typeface="Overlock"/>
                <a:sym typeface="Overlock"/>
              </a:rPr>
              <a:t>benar</a:t>
            </a:r>
            <a:r>
              <a:rPr lang="en-US" sz="2400" dirty="0">
                <a:ea typeface="Overlock"/>
                <a:cs typeface="Overlock"/>
                <a:sym typeface="Overlock"/>
              </a:rPr>
              <a:t>. </a:t>
            </a:r>
            <a:endParaRPr sz="2400" dirty="0">
              <a:ea typeface="Overlock"/>
              <a:cs typeface="Overlock"/>
              <a:sym typeface="Overlock"/>
            </a:endParaRPr>
          </a:p>
          <a:p>
            <a:pPr marL="0" indent="0">
              <a:lnSpc>
                <a:spcPct val="115000"/>
              </a:lnSpc>
              <a:buSzPct val="92664"/>
            </a:pPr>
            <a:endParaRPr sz="2400" dirty="0">
              <a:ea typeface="Overlock"/>
              <a:cs typeface="Overlock"/>
              <a:sym typeface="Overlock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75"/>
          <p:cNvSpPr txBox="1">
            <a:spLocks noGrp="1"/>
          </p:cNvSpPr>
          <p:nvPr>
            <p:ph type="title"/>
          </p:nvPr>
        </p:nvSpPr>
        <p:spPr>
          <a:xfrm>
            <a:off x="205740" y="191069"/>
            <a:ext cx="11148060" cy="79157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pPr>
              <a:buClr>
                <a:srgbClr val="0F3570"/>
              </a:buClr>
              <a:buSzPct val="115226"/>
            </a:pPr>
            <a:r>
              <a:rPr lang="en-US" dirty="0" err="1">
                <a:solidFill>
                  <a:srgbClr val="0F3570"/>
                </a:solidFill>
                <a:ea typeface="Overlock"/>
                <a:sym typeface="Overlock"/>
              </a:rPr>
              <a:t>Pelabelan</a:t>
            </a:r>
            <a:r>
              <a:rPr lang="en-US" dirty="0">
                <a:solidFill>
                  <a:srgbClr val="0F3570"/>
                </a:solidFill>
                <a:ea typeface="Overlock"/>
                <a:sym typeface="Overlock"/>
              </a:rPr>
              <a:t> Data – </a:t>
            </a:r>
            <a:br>
              <a:rPr lang="en-US" dirty="0">
                <a:solidFill>
                  <a:srgbClr val="0F3570"/>
                </a:solidFill>
                <a:ea typeface="Overlock"/>
                <a:sym typeface="Overlock"/>
              </a:rPr>
            </a:br>
            <a:r>
              <a:rPr lang="en-US" dirty="0" err="1">
                <a:ea typeface="Overlock"/>
                <a:sym typeface="Overlock"/>
              </a:rPr>
              <a:t>Mengapa</a:t>
            </a:r>
            <a:r>
              <a:rPr lang="en-US" dirty="0">
                <a:ea typeface="Overlock"/>
                <a:sym typeface="Overlock"/>
              </a:rPr>
              <a:t> Proses </a:t>
            </a:r>
            <a:r>
              <a:rPr lang="en-US" dirty="0" err="1">
                <a:ea typeface="Overlock"/>
                <a:sym typeface="Overlock"/>
              </a:rPr>
              <a:t>Pelabelan</a:t>
            </a:r>
            <a:r>
              <a:rPr lang="en-US" dirty="0">
                <a:ea typeface="Overlock"/>
                <a:sym typeface="Overlock"/>
              </a:rPr>
              <a:t> </a:t>
            </a:r>
            <a:r>
              <a:rPr lang="en-US" dirty="0" err="1">
                <a:ea typeface="Overlock"/>
                <a:sym typeface="Overlock"/>
              </a:rPr>
              <a:t>Diperlukan</a:t>
            </a:r>
            <a:r>
              <a:rPr lang="en-US" dirty="0">
                <a:ea typeface="Overlock"/>
                <a:sym typeface="Overlock"/>
              </a:rPr>
              <a:t> ?</a:t>
            </a:r>
            <a:endParaRPr dirty="0">
              <a:ea typeface="Overlock"/>
              <a:sym typeface="Overlock"/>
            </a:endParaRPr>
          </a:p>
        </p:txBody>
      </p:sp>
      <p:sp>
        <p:nvSpPr>
          <p:cNvPr id="1080" name="Google Shape;1080;p75"/>
          <p:cNvSpPr txBox="1">
            <a:spLocks noGrp="1"/>
          </p:cNvSpPr>
          <p:nvPr>
            <p:ph idx="1"/>
          </p:nvPr>
        </p:nvSpPr>
        <p:spPr>
          <a:xfrm>
            <a:off x="6096000" y="1176532"/>
            <a:ext cx="5981700" cy="500043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 fontScale="85000" lnSpcReduction="10000"/>
          </a:bodyPr>
          <a:lstStyle/>
          <a:p>
            <a:pPr marL="285750" indent="-285750">
              <a:lnSpc>
                <a:spcPct val="115000"/>
              </a:lnSpc>
              <a:buSzPct val="100000"/>
              <a:buFont typeface="Overlock"/>
              <a:buChar char="●"/>
            </a:pP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Anda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memiliki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banyak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data yang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tidak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berlabel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. </a:t>
            </a:r>
            <a:endParaRPr sz="2400" dirty="0">
              <a:latin typeface="Overlock"/>
              <a:ea typeface="Overlock"/>
              <a:cs typeface="Overlock"/>
              <a:sym typeface="Overlock"/>
            </a:endParaRPr>
          </a:p>
          <a:p>
            <a:pPr marL="285750" indent="-285750">
              <a:lnSpc>
                <a:spcPct val="115000"/>
              </a:lnSpc>
              <a:buSzPct val="100000"/>
              <a:buFont typeface="Overlock"/>
              <a:buChar char="●"/>
            </a:pP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Sebagian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besar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data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tidak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dalam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bentuk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berlabel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,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hal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merupakan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tantangan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bagi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sebagian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besar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tim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proyek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Data Science. </a:t>
            </a:r>
            <a:endParaRPr sz="2400" dirty="0">
              <a:latin typeface="Overlock"/>
              <a:ea typeface="Overlock"/>
              <a:cs typeface="Overlock"/>
              <a:sym typeface="Overlock"/>
            </a:endParaRPr>
          </a:p>
          <a:p>
            <a:pPr marL="285750" indent="-285750">
              <a:lnSpc>
                <a:spcPct val="115000"/>
              </a:lnSpc>
              <a:buSzPct val="100000"/>
              <a:buFont typeface="Overlock"/>
              <a:buChar char="●"/>
            </a:pP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Sepenuhnya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80%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dari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waktu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proyek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berbasis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AI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dihabiskan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untuk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mengumpulkan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,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mengatur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, dan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memberi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label data, </a:t>
            </a:r>
            <a:endParaRPr sz="2400" dirty="0">
              <a:latin typeface="Overlock"/>
              <a:ea typeface="Overlock"/>
              <a:cs typeface="Overlock"/>
              <a:sym typeface="Overlock"/>
            </a:endParaRPr>
          </a:p>
          <a:p>
            <a:pPr marL="285750" indent="-285750">
              <a:lnSpc>
                <a:spcPct val="115000"/>
              </a:lnSpc>
              <a:buSzPct val="100000"/>
              <a:buFont typeface="Overlock"/>
              <a:buChar char="●"/>
            </a:pP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menurut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firma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analis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Cognilytica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, dan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ini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adalah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waktu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yang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tidak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dapat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dihabiskan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oleh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tim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karena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mereka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berlomba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untuk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mendapatkan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data yang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dapat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digunakan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,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yaitu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data yang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terstruktur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dan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diberi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label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dengan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benar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untuk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melatih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dan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menerapkan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model.</a:t>
            </a:r>
            <a:endParaRPr sz="2400" dirty="0">
              <a:latin typeface="Overlock"/>
              <a:ea typeface="Overlock"/>
              <a:cs typeface="Overlock"/>
              <a:sym typeface="Overlock"/>
            </a:endParaRPr>
          </a:p>
        </p:txBody>
      </p:sp>
      <p:pic>
        <p:nvPicPr>
          <p:cNvPr id="1081" name="Google Shape;1081;p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" y="1400780"/>
            <a:ext cx="6249623" cy="5266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76"/>
          <p:cNvSpPr txBox="1">
            <a:spLocks noGrp="1"/>
          </p:cNvSpPr>
          <p:nvPr>
            <p:ph type="title"/>
          </p:nvPr>
        </p:nvSpPr>
        <p:spPr>
          <a:xfrm>
            <a:off x="331470" y="191069"/>
            <a:ext cx="11022330" cy="79157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chemeClr val="dk1"/>
              </a:buClr>
              <a:buSzPct val="39285"/>
            </a:pPr>
            <a:r>
              <a:rPr lang="en-US" dirty="0" err="1">
                <a:solidFill>
                  <a:srgbClr val="0F3570"/>
                </a:solidFill>
                <a:ea typeface="Overlock"/>
                <a:sym typeface="Overlock"/>
              </a:rPr>
              <a:t>Pelabelan</a:t>
            </a:r>
            <a:r>
              <a:rPr lang="en-US" dirty="0">
                <a:solidFill>
                  <a:srgbClr val="0F3570"/>
                </a:solidFill>
                <a:ea typeface="Overlock"/>
                <a:sym typeface="Overlock"/>
              </a:rPr>
              <a:t> Data - </a:t>
            </a:r>
            <a:r>
              <a:rPr lang="en-US" dirty="0" err="1">
                <a:solidFill>
                  <a:srgbClr val="0F3570"/>
                </a:solidFill>
                <a:ea typeface="Overlock"/>
                <a:sym typeface="Overlock"/>
              </a:rPr>
              <a:t>Unlabelled</a:t>
            </a:r>
            <a:r>
              <a:rPr lang="en-US" dirty="0">
                <a:solidFill>
                  <a:srgbClr val="0F3570"/>
                </a:solidFill>
                <a:ea typeface="Overlock"/>
                <a:sym typeface="Overlock"/>
              </a:rPr>
              <a:t> vs Labelled</a:t>
            </a:r>
            <a:endParaRPr dirty="0"/>
          </a:p>
        </p:txBody>
      </p:sp>
      <p:sp>
        <p:nvSpPr>
          <p:cNvPr id="1087" name="Google Shape;1087;p76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609570" indent="-457177">
              <a:lnSpc>
                <a:spcPct val="115000"/>
              </a:lnSpc>
              <a:buSzPts val="1800"/>
              <a:buFont typeface="Overlock"/>
              <a:buChar char="●"/>
            </a:pP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Dataset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pelatihan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bergantung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pada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jenis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permasalahan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ataupun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tujuan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model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pembelajaran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mesin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yang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ingin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kita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bentuk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.</a:t>
            </a:r>
            <a:endParaRPr dirty="0">
              <a:latin typeface="Overlock"/>
              <a:ea typeface="Overlock"/>
              <a:cs typeface="Overlock"/>
              <a:sym typeface="Overlock"/>
            </a:endParaRPr>
          </a:p>
          <a:p>
            <a:pPr marL="609570" indent="-457177">
              <a:lnSpc>
                <a:spcPct val="115000"/>
              </a:lnSpc>
              <a:buSzPts val="1800"/>
              <a:buFont typeface="Overlock"/>
              <a:buChar char="●"/>
            </a:pP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Algoritma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Machine/Deep Learning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dapat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secara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luas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diklasifikasikan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berdasarkan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jenis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data yang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mereka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butuhkan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dalam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tiga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tipe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,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yaitu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:</a:t>
            </a:r>
            <a:endParaRPr dirty="0">
              <a:latin typeface="Overlock"/>
              <a:ea typeface="Overlock"/>
              <a:cs typeface="Overlock"/>
              <a:sym typeface="Overlock"/>
            </a:endParaRPr>
          </a:p>
          <a:p>
            <a:pPr marL="1219139" lvl="1" indent="-423312">
              <a:lnSpc>
                <a:spcPct val="115000"/>
              </a:lnSpc>
              <a:buFont typeface="Overlock"/>
              <a:buChar char="○"/>
            </a:pP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Supervised Learning</a:t>
            </a:r>
            <a:endParaRPr dirty="0">
              <a:latin typeface="Overlock"/>
              <a:ea typeface="Overlock"/>
              <a:cs typeface="Overlock"/>
              <a:sym typeface="Overlock"/>
            </a:endParaRPr>
          </a:p>
          <a:p>
            <a:pPr marL="1219139" lvl="1" indent="-423312">
              <a:lnSpc>
                <a:spcPct val="115000"/>
              </a:lnSpc>
              <a:buFont typeface="Overlock"/>
              <a:buChar char="○"/>
            </a:pP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Unsupervised Learning</a:t>
            </a:r>
            <a:endParaRPr dirty="0">
              <a:latin typeface="Overlock"/>
              <a:ea typeface="Overlock"/>
              <a:cs typeface="Overlock"/>
              <a:sym typeface="Overlock"/>
            </a:endParaRPr>
          </a:p>
          <a:p>
            <a:pPr marL="1219139" lvl="1" indent="-423312">
              <a:lnSpc>
                <a:spcPct val="115000"/>
              </a:lnSpc>
              <a:buFont typeface="Overlock"/>
              <a:buChar char="○"/>
            </a:pP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Semi-supervised Learning</a:t>
            </a:r>
            <a:endParaRPr dirty="0">
              <a:latin typeface="Overlock"/>
              <a:ea typeface="Overlock"/>
              <a:cs typeface="Overlock"/>
              <a:sym typeface="Overlock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77"/>
          <p:cNvSpPr txBox="1">
            <a:spLocks noGrp="1"/>
          </p:cNvSpPr>
          <p:nvPr>
            <p:ph type="title"/>
          </p:nvPr>
        </p:nvSpPr>
        <p:spPr>
          <a:xfrm>
            <a:off x="502920" y="191069"/>
            <a:ext cx="10850880" cy="79157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rgbClr val="0F3570"/>
              </a:buClr>
              <a:buSzPct val="115226"/>
            </a:pPr>
            <a:r>
              <a:rPr lang="en-US" dirty="0" err="1">
                <a:solidFill>
                  <a:srgbClr val="0F3570"/>
                </a:solidFill>
                <a:ea typeface="Overlock"/>
                <a:sym typeface="Overlock"/>
              </a:rPr>
              <a:t>Pelabelan</a:t>
            </a:r>
            <a:r>
              <a:rPr lang="en-US" dirty="0">
                <a:solidFill>
                  <a:srgbClr val="0F3570"/>
                </a:solidFill>
                <a:ea typeface="Overlock"/>
                <a:sym typeface="Overlock"/>
              </a:rPr>
              <a:t> Data - Supervised Learning</a:t>
            </a:r>
            <a:endParaRPr dirty="0">
              <a:solidFill>
                <a:srgbClr val="0F3570"/>
              </a:solidFill>
              <a:ea typeface="Overlock"/>
              <a:sym typeface="Overlock"/>
            </a:endParaRPr>
          </a:p>
        </p:txBody>
      </p:sp>
      <p:sp>
        <p:nvSpPr>
          <p:cNvPr id="1093" name="Google Shape;1093;p77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609570" indent="-444820">
              <a:lnSpc>
                <a:spcPct val="115000"/>
              </a:lnSpc>
              <a:buSzPct val="92664"/>
              <a:buFont typeface="Overlock"/>
              <a:buChar char="●"/>
            </a:pP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Pembelajaran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terawasi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,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jenis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yang paling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umum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,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adalah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jenis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algoritma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pembelajaran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mesin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yang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memerlukan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data dan label yang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sesuai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untuk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dilatih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. </a:t>
            </a:r>
            <a:endParaRPr sz="2100" dirty="0">
              <a:latin typeface="Overlock"/>
              <a:ea typeface="Overlock"/>
              <a:cs typeface="Overlock"/>
              <a:sym typeface="Overlock"/>
            </a:endParaRPr>
          </a:p>
          <a:p>
            <a:pPr marL="609570" indent="-444820">
              <a:lnSpc>
                <a:spcPct val="115000"/>
              </a:lnSpc>
              <a:buSzPct val="92664"/>
              <a:buFont typeface="Overlock"/>
              <a:buChar char="●"/>
            </a:pP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Pendekatan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ini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biasanya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digunakan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untuk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menyelesaikan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permasalahan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b="1" dirty="0" err="1">
                <a:latin typeface="Overlock"/>
                <a:ea typeface="Overlock"/>
                <a:cs typeface="Overlock"/>
                <a:sym typeface="Overlock"/>
              </a:rPr>
              <a:t>klasifikasi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dan </a:t>
            </a:r>
            <a:r>
              <a:rPr lang="en-US" sz="2100" b="1" dirty="0" err="1">
                <a:latin typeface="Overlock"/>
                <a:ea typeface="Overlock"/>
                <a:cs typeface="Overlock"/>
                <a:sym typeface="Overlock"/>
              </a:rPr>
              <a:t>segmentasi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.</a:t>
            </a:r>
            <a:endParaRPr sz="2100" dirty="0">
              <a:latin typeface="Overlock"/>
              <a:ea typeface="Overlock"/>
              <a:cs typeface="Overlock"/>
              <a:sym typeface="Overlock"/>
            </a:endParaRPr>
          </a:p>
          <a:p>
            <a:pPr marL="609570" indent="-444820">
              <a:lnSpc>
                <a:spcPct val="115000"/>
              </a:lnSpc>
              <a:buSzPct val="92664"/>
              <a:buFont typeface="Overlock"/>
              <a:buChar char="●"/>
            </a:pP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Prosedur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pelatihan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tipikal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terdiri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dari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memasukkan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data yang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telah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beranotasi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ke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mesin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untuk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membantu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model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belajar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, dan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kemudian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melakukan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pengujian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model yang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terbentuk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pada data yang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tak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beranotasi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.</a:t>
            </a:r>
            <a:endParaRPr sz="2100" dirty="0">
              <a:latin typeface="Overlock"/>
              <a:ea typeface="Overlock"/>
              <a:cs typeface="Overlock"/>
              <a:sym typeface="Overlock"/>
            </a:endParaRPr>
          </a:p>
          <a:p>
            <a:pPr marL="609570" indent="-444820">
              <a:lnSpc>
                <a:spcPct val="115000"/>
              </a:lnSpc>
              <a:buSzPct val="92664"/>
              <a:buFont typeface="Overlock"/>
              <a:buChar char="●"/>
            </a:pP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Untuk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menemukan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keakuratan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metode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tersebut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, data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beranotasi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(ground truth)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dengan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label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tersembunyi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biasanya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digunakan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dalam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tahap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pengujian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algoritma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. </a:t>
            </a:r>
            <a:endParaRPr sz="2100" dirty="0">
              <a:latin typeface="Overlock"/>
              <a:ea typeface="Overlock"/>
              <a:cs typeface="Overlock"/>
              <a:sym typeface="Overlock"/>
            </a:endParaRPr>
          </a:p>
          <a:p>
            <a:pPr marL="609570" indent="-444820">
              <a:lnSpc>
                <a:spcPct val="115000"/>
              </a:lnSpc>
              <a:buSzPct val="92664"/>
              <a:buFont typeface="Overlock"/>
              <a:buChar char="●"/>
            </a:pP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Dengan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demikian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, data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beranotasi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merupakan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kebutuhan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mutlak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untuk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melatih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model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pembelajaran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mesin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secara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terawasi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.</a:t>
            </a:r>
            <a:endParaRPr sz="2100" dirty="0">
              <a:latin typeface="Overlock"/>
              <a:ea typeface="Overlock"/>
              <a:cs typeface="Overlock"/>
              <a:sym typeface="Overlock"/>
            </a:endParaRPr>
          </a:p>
          <a:p>
            <a:pPr marL="0" indent="0">
              <a:lnSpc>
                <a:spcPct val="115000"/>
              </a:lnSpc>
              <a:buSzPct val="92664"/>
            </a:pPr>
            <a:endParaRPr sz="2100" dirty="0">
              <a:latin typeface="Overlock"/>
              <a:ea typeface="Overlock"/>
              <a:cs typeface="Overlock"/>
              <a:sym typeface="Overlock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78"/>
          <p:cNvSpPr txBox="1">
            <a:spLocks noGrp="1"/>
          </p:cNvSpPr>
          <p:nvPr>
            <p:ph type="title"/>
          </p:nvPr>
        </p:nvSpPr>
        <p:spPr>
          <a:xfrm>
            <a:off x="388620" y="191069"/>
            <a:ext cx="10965180" cy="79157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rgbClr val="0F3570"/>
              </a:buClr>
              <a:buSzPct val="115226"/>
            </a:pPr>
            <a:r>
              <a:rPr lang="en-US" dirty="0" err="1">
                <a:solidFill>
                  <a:srgbClr val="0F3570"/>
                </a:solidFill>
                <a:ea typeface="Overlock"/>
                <a:sym typeface="Overlock"/>
              </a:rPr>
              <a:t>Pelabelan</a:t>
            </a:r>
            <a:r>
              <a:rPr lang="en-US" dirty="0">
                <a:solidFill>
                  <a:srgbClr val="0F3570"/>
                </a:solidFill>
                <a:ea typeface="Overlock"/>
                <a:sym typeface="Overlock"/>
              </a:rPr>
              <a:t> Data - Unsupervised Learning</a:t>
            </a:r>
            <a:endParaRPr dirty="0">
              <a:solidFill>
                <a:srgbClr val="0F3570"/>
              </a:solidFill>
              <a:ea typeface="Overlock"/>
              <a:sym typeface="Overlock"/>
            </a:endParaRPr>
          </a:p>
        </p:txBody>
      </p:sp>
      <p:sp>
        <p:nvSpPr>
          <p:cNvPr id="1099" name="Google Shape;1099;p78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609570" indent="-457177">
              <a:lnSpc>
                <a:spcPct val="115000"/>
              </a:lnSpc>
              <a:buSzPts val="1800"/>
              <a:buFont typeface="Overlock"/>
              <a:buChar char="●"/>
            </a:pPr>
            <a:r>
              <a:rPr lang="en-US" dirty="0" err="1">
                <a:ea typeface="Overlock"/>
                <a:cs typeface="Overlock"/>
                <a:sym typeface="Overlock"/>
              </a:rPr>
              <a:t>Dalam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pembelajaran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tanpa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pengawasan</a:t>
            </a:r>
            <a:r>
              <a:rPr lang="en-US" dirty="0">
                <a:ea typeface="Overlock"/>
                <a:cs typeface="Overlock"/>
                <a:sym typeface="Overlock"/>
              </a:rPr>
              <a:t>, data input </a:t>
            </a:r>
            <a:r>
              <a:rPr lang="en-US" dirty="0" err="1">
                <a:ea typeface="Overlock"/>
                <a:cs typeface="Overlock"/>
                <a:sym typeface="Overlock"/>
              </a:rPr>
              <a:t>merupakan</a:t>
            </a:r>
            <a:r>
              <a:rPr lang="en-US" dirty="0">
                <a:ea typeface="Overlock"/>
                <a:cs typeface="Overlock"/>
                <a:sym typeface="Overlock"/>
              </a:rPr>
              <a:t> data </a:t>
            </a:r>
            <a:r>
              <a:rPr lang="en-US" dirty="0" err="1">
                <a:ea typeface="Overlock"/>
                <a:cs typeface="Overlock"/>
                <a:sym typeface="Overlock"/>
              </a:rPr>
              <a:t>tanpa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anotasi</a:t>
            </a:r>
            <a:r>
              <a:rPr lang="en-US" dirty="0">
                <a:ea typeface="Overlock"/>
                <a:cs typeface="Overlock"/>
                <a:sym typeface="Overlock"/>
              </a:rPr>
              <a:t> dan model </a:t>
            </a:r>
            <a:r>
              <a:rPr lang="en-US" dirty="0" err="1">
                <a:ea typeface="Overlock"/>
                <a:cs typeface="Overlock"/>
                <a:sym typeface="Overlock"/>
              </a:rPr>
              <a:t>berlatih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tanpa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pengetahuan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tentang</a:t>
            </a:r>
            <a:r>
              <a:rPr lang="en-US" dirty="0">
                <a:ea typeface="Overlock"/>
                <a:cs typeface="Overlock"/>
                <a:sym typeface="Overlock"/>
              </a:rPr>
              <a:t> label yang </a:t>
            </a:r>
            <a:r>
              <a:rPr lang="en-US" dirty="0" err="1">
                <a:ea typeface="Overlock"/>
                <a:cs typeface="Overlock"/>
                <a:sym typeface="Overlock"/>
              </a:rPr>
              <a:t>mungkin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dimiliki</a:t>
            </a:r>
            <a:r>
              <a:rPr lang="en-US" dirty="0">
                <a:ea typeface="Overlock"/>
                <a:cs typeface="Overlock"/>
                <a:sym typeface="Overlock"/>
              </a:rPr>
              <a:t> data input.</a:t>
            </a:r>
            <a:endParaRPr dirty="0">
              <a:ea typeface="Overlock"/>
              <a:cs typeface="Overlock"/>
              <a:sym typeface="Overlock"/>
            </a:endParaRPr>
          </a:p>
          <a:p>
            <a:pPr marL="609570" indent="-457177">
              <a:lnSpc>
                <a:spcPct val="115000"/>
              </a:lnSpc>
              <a:buSzPts val="1800"/>
              <a:buFont typeface="Overlock"/>
              <a:buChar char="●"/>
            </a:pPr>
            <a:r>
              <a:rPr lang="en-US" dirty="0" err="1">
                <a:ea typeface="Overlock"/>
                <a:cs typeface="Overlock"/>
                <a:sym typeface="Overlock"/>
              </a:rPr>
              <a:t>Algoritma</a:t>
            </a:r>
            <a:r>
              <a:rPr lang="en-US" dirty="0">
                <a:ea typeface="Overlock"/>
                <a:cs typeface="Overlock"/>
                <a:sym typeface="Overlock"/>
              </a:rPr>
              <a:t> unsupervised </a:t>
            </a:r>
            <a:r>
              <a:rPr lang="en-US" dirty="0" err="1">
                <a:ea typeface="Overlock"/>
                <a:cs typeface="Overlock"/>
                <a:sym typeface="Overlock"/>
              </a:rPr>
              <a:t>termasuk</a:t>
            </a:r>
            <a:r>
              <a:rPr lang="en-US" dirty="0">
                <a:ea typeface="Overlock"/>
                <a:cs typeface="Overlock"/>
                <a:sym typeface="Overlock"/>
              </a:rPr>
              <a:t> autoencoder yang </a:t>
            </a:r>
            <a:r>
              <a:rPr lang="en-US" dirty="0" err="1">
                <a:ea typeface="Overlock"/>
                <a:cs typeface="Overlock"/>
                <a:sym typeface="Overlock"/>
              </a:rPr>
              <a:t>memiliki</a:t>
            </a:r>
            <a:r>
              <a:rPr lang="en-US" dirty="0">
                <a:ea typeface="Overlock"/>
                <a:cs typeface="Overlock"/>
                <a:sym typeface="Overlock"/>
              </a:rPr>
              <a:t> output yang </a:t>
            </a:r>
            <a:r>
              <a:rPr lang="en-US" dirty="0" err="1">
                <a:ea typeface="Overlock"/>
                <a:cs typeface="Overlock"/>
                <a:sym typeface="Overlock"/>
              </a:rPr>
              <a:t>sama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dengan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inputnya</a:t>
            </a:r>
            <a:r>
              <a:rPr lang="en-US" dirty="0">
                <a:ea typeface="Overlock"/>
                <a:cs typeface="Overlock"/>
                <a:sym typeface="Overlock"/>
              </a:rPr>
              <a:t>. </a:t>
            </a:r>
            <a:endParaRPr dirty="0">
              <a:ea typeface="Overlock"/>
              <a:cs typeface="Overlock"/>
              <a:sym typeface="Overlock"/>
            </a:endParaRPr>
          </a:p>
          <a:p>
            <a:pPr marL="609570" indent="-457177">
              <a:lnSpc>
                <a:spcPct val="115000"/>
              </a:lnSpc>
              <a:buSzPts val="1800"/>
              <a:buFont typeface="Overlock"/>
              <a:buChar char="●"/>
            </a:pPr>
            <a:r>
              <a:rPr lang="en-US" dirty="0">
                <a:ea typeface="Overlock"/>
                <a:cs typeface="Overlock"/>
                <a:sym typeface="Overlock"/>
              </a:rPr>
              <a:t>Metode </a:t>
            </a:r>
            <a:r>
              <a:rPr lang="en-US" dirty="0" err="1">
                <a:ea typeface="Overlock"/>
                <a:cs typeface="Overlock"/>
                <a:sym typeface="Overlock"/>
              </a:rPr>
              <a:t>pembelajaran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tanpa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pengawasan</a:t>
            </a:r>
            <a:r>
              <a:rPr lang="en-US" dirty="0">
                <a:ea typeface="Overlock"/>
                <a:cs typeface="Overlock"/>
                <a:sym typeface="Overlock"/>
              </a:rPr>
              <a:t> juga </a:t>
            </a:r>
            <a:r>
              <a:rPr lang="en-US" dirty="0" err="1">
                <a:ea typeface="Overlock"/>
                <a:cs typeface="Overlock"/>
                <a:sym typeface="Overlock"/>
              </a:rPr>
              <a:t>mencakup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algoritma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pengelompokan</a:t>
            </a:r>
            <a:r>
              <a:rPr lang="en-US" dirty="0">
                <a:ea typeface="Overlock"/>
                <a:cs typeface="Overlock"/>
                <a:sym typeface="Overlock"/>
              </a:rPr>
              <a:t> yang </a:t>
            </a:r>
            <a:r>
              <a:rPr lang="en-US" dirty="0" err="1">
                <a:ea typeface="Overlock"/>
                <a:cs typeface="Overlock"/>
                <a:sym typeface="Overlock"/>
              </a:rPr>
              <a:t>mengelompokkan</a:t>
            </a:r>
            <a:r>
              <a:rPr lang="en-US" dirty="0">
                <a:ea typeface="Overlock"/>
                <a:cs typeface="Overlock"/>
                <a:sym typeface="Overlock"/>
              </a:rPr>
              <a:t> data </a:t>
            </a:r>
            <a:r>
              <a:rPr lang="en-US" dirty="0" err="1">
                <a:ea typeface="Overlock"/>
                <a:cs typeface="Overlock"/>
                <a:sym typeface="Overlock"/>
              </a:rPr>
              <a:t>ke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dalam</a:t>
            </a:r>
            <a:r>
              <a:rPr lang="en-US" dirty="0">
                <a:ea typeface="Overlock"/>
                <a:cs typeface="Overlock"/>
                <a:sym typeface="Overlock"/>
              </a:rPr>
              <a:t> cluster 'n', di mana 'n' </a:t>
            </a:r>
            <a:r>
              <a:rPr lang="en-US" dirty="0" err="1">
                <a:ea typeface="Overlock"/>
                <a:cs typeface="Overlock"/>
                <a:sym typeface="Overlock"/>
              </a:rPr>
              <a:t>adalah</a:t>
            </a:r>
            <a:r>
              <a:rPr lang="en-US" dirty="0">
                <a:ea typeface="Overlock"/>
                <a:cs typeface="Overlock"/>
                <a:sym typeface="Overlock"/>
              </a:rPr>
              <a:t> hyperparameter.</a:t>
            </a:r>
            <a:endParaRPr dirty="0">
              <a:ea typeface="Overlock"/>
              <a:cs typeface="Overlock"/>
              <a:sym typeface="Overlock"/>
            </a:endParaRPr>
          </a:p>
          <a:p>
            <a:pPr marL="0" indent="0">
              <a:lnSpc>
                <a:spcPct val="115000"/>
              </a:lnSpc>
              <a:buSzPts val="1800"/>
            </a:pPr>
            <a:endParaRPr dirty="0">
              <a:ea typeface="Overlock"/>
              <a:cs typeface="Overlock"/>
              <a:sym typeface="Overlock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79"/>
          <p:cNvSpPr txBox="1">
            <a:spLocks noGrp="1"/>
          </p:cNvSpPr>
          <p:nvPr>
            <p:ph type="title"/>
          </p:nvPr>
        </p:nvSpPr>
        <p:spPr>
          <a:xfrm>
            <a:off x="838200" y="191069"/>
            <a:ext cx="10515600" cy="79157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pPr>
              <a:buClr>
                <a:srgbClr val="0F3570"/>
              </a:buClr>
              <a:buSzPct val="115226"/>
            </a:pPr>
            <a:r>
              <a:rPr lang="en-US" dirty="0" err="1">
                <a:solidFill>
                  <a:srgbClr val="0F3570"/>
                </a:solidFill>
                <a:ea typeface="Overlock"/>
                <a:sym typeface="Overlock"/>
              </a:rPr>
              <a:t>Pelabelan</a:t>
            </a:r>
            <a:r>
              <a:rPr lang="en-US" dirty="0">
                <a:solidFill>
                  <a:srgbClr val="0F3570"/>
                </a:solidFill>
                <a:ea typeface="Overlock"/>
                <a:sym typeface="Overlock"/>
              </a:rPr>
              <a:t> Data – </a:t>
            </a:r>
            <a:br>
              <a:rPr lang="en-US" dirty="0">
                <a:solidFill>
                  <a:srgbClr val="0F3570"/>
                </a:solidFill>
                <a:ea typeface="Overlock"/>
                <a:sym typeface="Overlock"/>
              </a:rPr>
            </a:br>
            <a:r>
              <a:rPr lang="en-US" dirty="0">
                <a:ea typeface="Overlock"/>
                <a:sym typeface="Overlock"/>
              </a:rPr>
              <a:t>Supervised vs Unsupervised</a:t>
            </a:r>
            <a:endParaRPr dirty="0">
              <a:ea typeface="Overlock"/>
              <a:sym typeface="Overlock"/>
            </a:endParaRPr>
          </a:p>
        </p:txBody>
      </p:sp>
      <p:pic>
        <p:nvPicPr>
          <p:cNvPr id="1105" name="Google Shape;1105;p7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4534" y="0"/>
            <a:ext cx="5520716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E012971-448B-E188-DD95-4A22E8FF8CCD}"/>
              </a:ext>
            </a:extLst>
          </p:cNvPr>
          <p:cNvSpPr/>
          <p:nvPr/>
        </p:nvSpPr>
        <p:spPr>
          <a:xfrm>
            <a:off x="8081010" y="191069"/>
            <a:ext cx="3760470" cy="7915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0" name="Google Shape;1110;p8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rgbClr val="0F3570"/>
              </a:buClr>
              <a:buSzPct val="115226"/>
            </a:pPr>
            <a:r>
              <a:rPr lang="en-US" dirty="0" err="1">
                <a:solidFill>
                  <a:srgbClr val="0F3570"/>
                </a:solidFill>
                <a:ea typeface="Overlock"/>
                <a:sym typeface="Overlock"/>
              </a:rPr>
              <a:t>Pelabelan</a:t>
            </a:r>
            <a:r>
              <a:rPr lang="en-US" dirty="0">
                <a:solidFill>
                  <a:srgbClr val="0F3570"/>
                </a:solidFill>
                <a:ea typeface="Overlock"/>
                <a:sym typeface="Overlock"/>
              </a:rPr>
              <a:t> Data - Semi-supervised Learning</a:t>
            </a:r>
            <a:endParaRPr dirty="0">
              <a:solidFill>
                <a:srgbClr val="0F3570"/>
              </a:solidFill>
              <a:ea typeface="Overlock"/>
              <a:sym typeface="Overlock"/>
            </a:endParaRPr>
          </a:p>
        </p:txBody>
      </p:sp>
      <p:sp>
        <p:nvSpPr>
          <p:cNvPr id="1111" name="Google Shape;1111;p80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609570" indent="-457177">
              <a:lnSpc>
                <a:spcPct val="115000"/>
              </a:lnSpc>
              <a:buSzPts val="1800"/>
              <a:buFont typeface="Overlock"/>
              <a:buChar char="●"/>
            </a:pPr>
            <a:r>
              <a:rPr lang="en-US" dirty="0" err="1">
                <a:ea typeface="Overlock"/>
                <a:cs typeface="Overlock"/>
                <a:sym typeface="Overlock"/>
              </a:rPr>
              <a:t>Dalam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pembelajaran</a:t>
            </a:r>
            <a:r>
              <a:rPr lang="en-US" dirty="0">
                <a:ea typeface="Overlock"/>
                <a:cs typeface="Overlock"/>
                <a:sym typeface="Overlock"/>
              </a:rPr>
              <a:t> semi-</a:t>
            </a:r>
            <a:r>
              <a:rPr lang="en-US" dirty="0" err="1">
                <a:ea typeface="Overlock"/>
                <a:cs typeface="Overlock"/>
                <a:sym typeface="Overlock"/>
              </a:rPr>
              <a:t>diawasi</a:t>
            </a:r>
            <a:r>
              <a:rPr lang="en-US" dirty="0">
                <a:ea typeface="Overlock"/>
                <a:cs typeface="Overlock"/>
                <a:sym typeface="Overlock"/>
              </a:rPr>
              <a:t>, </a:t>
            </a:r>
            <a:r>
              <a:rPr lang="en-US" dirty="0" err="1">
                <a:ea typeface="Overlock"/>
                <a:cs typeface="Overlock"/>
                <a:sym typeface="Overlock"/>
              </a:rPr>
              <a:t>kombinasi</a:t>
            </a:r>
            <a:r>
              <a:rPr lang="en-US" dirty="0">
                <a:ea typeface="Overlock"/>
                <a:cs typeface="Overlock"/>
                <a:sym typeface="Overlock"/>
              </a:rPr>
              <a:t> data </a:t>
            </a:r>
            <a:r>
              <a:rPr lang="en-US" dirty="0" err="1">
                <a:ea typeface="Overlock"/>
                <a:cs typeface="Overlock"/>
                <a:sym typeface="Overlock"/>
              </a:rPr>
              <a:t>beranotasi</a:t>
            </a:r>
            <a:r>
              <a:rPr lang="en-US" dirty="0">
                <a:ea typeface="Overlock"/>
                <a:cs typeface="Overlock"/>
                <a:sym typeface="Overlock"/>
              </a:rPr>
              <a:t> dan </a:t>
            </a:r>
            <a:r>
              <a:rPr lang="en-US" dirty="0" err="1">
                <a:ea typeface="Overlock"/>
                <a:cs typeface="Overlock"/>
                <a:sym typeface="Overlock"/>
              </a:rPr>
              <a:t>tidak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beranotasi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digunakan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untuk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melatih</a:t>
            </a:r>
            <a:r>
              <a:rPr lang="en-US" dirty="0">
                <a:ea typeface="Overlock"/>
                <a:cs typeface="Overlock"/>
                <a:sym typeface="Overlock"/>
              </a:rPr>
              <a:t> model.</a:t>
            </a:r>
            <a:endParaRPr dirty="0">
              <a:ea typeface="Overlock"/>
              <a:cs typeface="Overlock"/>
              <a:sym typeface="Overlock"/>
            </a:endParaRPr>
          </a:p>
          <a:p>
            <a:pPr marL="609570" indent="-457177">
              <a:lnSpc>
                <a:spcPct val="115000"/>
              </a:lnSpc>
              <a:buSzPts val="1800"/>
              <a:buFont typeface="Overlock"/>
              <a:buChar char="●"/>
            </a:pPr>
            <a:r>
              <a:rPr lang="en-US" dirty="0" err="1">
                <a:ea typeface="Overlock"/>
                <a:cs typeface="Overlock"/>
                <a:sym typeface="Overlock"/>
              </a:rPr>
              <a:t>Meskipun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hal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ini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mengurangi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biaya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anotasi</a:t>
            </a:r>
            <a:r>
              <a:rPr lang="en-US" dirty="0">
                <a:ea typeface="Overlock"/>
                <a:cs typeface="Overlock"/>
                <a:sym typeface="Overlock"/>
              </a:rPr>
              <a:t> data </a:t>
            </a:r>
            <a:r>
              <a:rPr lang="en-US" dirty="0" err="1">
                <a:ea typeface="Overlock"/>
                <a:cs typeface="Overlock"/>
                <a:sym typeface="Overlock"/>
              </a:rPr>
              <a:t>dengan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menggunakan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kedua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jenis</a:t>
            </a:r>
            <a:r>
              <a:rPr lang="en-US" dirty="0">
                <a:ea typeface="Overlock"/>
                <a:cs typeface="Overlock"/>
                <a:sym typeface="Overlock"/>
              </a:rPr>
              <a:t> data </a:t>
            </a:r>
            <a:r>
              <a:rPr lang="en-US" dirty="0" err="1">
                <a:ea typeface="Overlock"/>
                <a:cs typeface="Overlock"/>
                <a:sym typeface="Overlock"/>
              </a:rPr>
              <a:t>tersebut</a:t>
            </a:r>
            <a:r>
              <a:rPr lang="en-US" dirty="0">
                <a:ea typeface="Overlock"/>
                <a:cs typeface="Overlock"/>
                <a:sym typeface="Overlock"/>
              </a:rPr>
              <a:t>, pada </a:t>
            </a:r>
            <a:r>
              <a:rPr lang="en-US" dirty="0" err="1">
                <a:ea typeface="Overlock"/>
                <a:cs typeface="Overlock"/>
                <a:sym typeface="Overlock"/>
              </a:rPr>
              <a:t>umumnya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pendekatan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ini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menggunakan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banyak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asumsi</a:t>
            </a:r>
            <a:r>
              <a:rPr lang="en-US" dirty="0">
                <a:ea typeface="Overlock"/>
                <a:cs typeface="Overlock"/>
                <a:sym typeface="Overlock"/>
              </a:rPr>
              <a:t> pada data </a:t>
            </a:r>
            <a:r>
              <a:rPr lang="en-US" dirty="0" err="1">
                <a:ea typeface="Overlock"/>
                <a:cs typeface="Overlock"/>
                <a:sym typeface="Overlock"/>
              </a:rPr>
              <a:t>pelatihan</a:t>
            </a:r>
            <a:r>
              <a:rPr lang="en-US" dirty="0">
                <a:ea typeface="Overlock"/>
                <a:cs typeface="Overlock"/>
                <a:sym typeface="Overlock"/>
              </a:rPr>
              <a:t> yang </a:t>
            </a:r>
            <a:r>
              <a:rPr lang="en-US" dirty="0" err="1">
                <a:ea typeface="Overlock"/>
                <a:cs typeface="Overlock"/>
                <a:sym typeface="Overlock"/>
              </a:rPr>
              <a:t>digunakan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untuk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membangun</a:t>
            </a:r>
            <a:r>
              <a:rPr lang="en-US" dirty="0">
                <a:ea typeface="Overlock"/>
                <a:cs typeface="Overlock"/>
                <a:sym typeface="Overlock"/>
              </a:rPr>
              <a:t> model. </a:t>
            </a:r>
            <a:endParaRPr dirty="0">
              <a:ea typeface="Overlock"/>
              <a:cs typeface="Overlock"/>
              <a:sym typeface="Overlock"/>
            </a:endParaRPr>
          </a:p>
          <a:p>
            <a:pPr marL="609570" indent="-457177">
              <a:lnSpc>
                <a:spcPct val="115000"/>
              </a:lnSpc>
              <a:buSzPts val="1800"/>
              <a:buFont typeface="Overlock"/>
              <a:buChar char="●"/>
            </a:pPr>
            <a:r>
              <a:rPr lang="en-US" dirty="0" err="1">
                <a:ea typeface="Overlock"/>
                <a:cs typeface="Overlock"/>
                <a:sym typeface="Overlock"/>
              </a:rPr>
              <a:t>Kasus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penggunaan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pembelajaran</a:t>
            </a:r>
            <a:r>
              <a:rPr lang="en-US" dirty="0">
                <a:ea typeface="Overlock"/>
                <a:cs typeface="Overlock"/>
                <a:sym typeface="Overlock"/>
              </a:rPr>
              <a:t> semi-</a:t>
            </a:r>
            <a:r>
              <a:rPr lang="en-US" dirty="0" err="1">
                <a:ea typeface="Overlock"/>
                <a:cs typeface="Overlock"/>
                <a:sym typeface="Overlock"/>
              </a:rPr>
              <a:t>diawasi</a:t>
            </a:r>
            <a:r>
              <a:rPr lang="en-US" dirty="0">
                <a:ea typeface="Overlock"/>
                <a:cs typeface="Overlock"/>
                <a:sym typeface="Overlock"/>
              </a:rPr>
              <a:t> salah </a:t>
            </a:r>
            <a:r>
              <a:rPr lang="en-US" dirty="0" err="1">
                <a:ea typeface="Overlock"/>
                <a:cs typeface="Overlock"/>
                <a:sym typeface="Overlock"/>
              </a:rPr>
              <a:t>satunya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klasifikasi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urutan</a:t>
            </a:r>
            <a:r>
              <a:rPr lang="en-US" dirty="0">
                <a:ea typeface="Overlock"/>
                <a:cs typeface="Overlock"/>
                <a:sym typeface="Overlock"/>
              </a:rPr>
              <a:t> Protein dan </a:t>
            </a:r>
            <a:r>
              <a:rPr lang="en-US" dirty="0" err="1">
                <a:ea typeface="Overlock"/>
                <a:cs typeface="Overlock"/>
                <a:sym typeface="Overlock"/>
              </a:rPr>
              <a:t>analisis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konten</a:t>
            </a:r>
            <a:r>
              <a:rPr lang="en-US" dirty="0">
                <a:ea typeface="Overlock"/>
                <a:cs typeface="Overlock"/>
                <a:sym typeface="Overlock"/>
              </a:rPr>
              <a:t> Internet.</a:t>
            </a:r>
            <a:endParaRPr dirty="0">
              <a:ea typeface="Overlock"/>
              <a:cs typeface="Overlock"/>
              <a:sym typeface="Overlock"/>
            </a:endParaRPr>
          </a:p>
          <a:p>
            <a:pPr marL="0" indent="0">
              <a:lnSpc>
                <a:spcPct val="115000"/>
              </a:lnSpc>
              <a:buSzPts val="1800"/>
            </a:pPr>
            <a:endParaRPr dirty="0">
              <a:ea typeface="Overlock"/>
              <a:cs typeface="Overlock"/>
              <a:sym typeface="Overlock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2AE080E-7CBE-104A-7F41-6A52D874C6A0}"/>
              </a:ext>
            </a:extLst>
          </p:cNvPr>
          <p:cNvSpPr/>
          <p:nvPr/>
        </p:nvSpPr>
        <p:spPr>
          <a:xfrm>
            <a:off x="8081010" y="191069"/>
            <a:ext cx="3760470" cy="7915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6" name="Google Shape;1116;p8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chemeClr val="dk1"/>
              </a:buClr>
              <a:buSzPct val="39285"/>
            </a:pPr>
            <a:r>
              <a:rPr lang="en-US" dirty="0" err="1">
                <a:solidFill>
                  <a:srgbClr val="0F3570"/>
                </a:solidFill>
                <a:ea typeface="Overlock"/>
                <a:sym typeface="Overlock"/>
              </a:rPr>
              <a:t>Pelabelan</a:t>
            </a:r>
            <a:r>
              <a:rPr lang="en-US" dirty="0">
                <a:solidFill>
                  <a:srgbClr val="0F3570"/>
                </a:solidFill>
                <a:ea typeface="Overlock"/>
                <a:sym typeface="Overlock"/>
              </a:rPr>
              <a:t> Data - Semi-supervised Learning</a:t>
            </a:r>
            <a:endParaRPr dirty="0">
              <a:solidFill>
                <a:srgbClr val="0F3570"/>
              </a:solidFill>
              <a:ea typeface="Overlock"/>
              <a:sym typeface="Overlock"/>
            </a:endParaRPr>
          </a:p>
          <a:p>
            <a:pPr>
              <a:buSzPct val="115226"/>
            </a:pPr>
            <a:endParaRPr dirty="0"/>
          </a:p>
        </p:txBody>
      </p:sp>
      <p:pic>
        <p:nvPicPr>
          <p:cNvPr id="1117" name="Google Shape;1117;p8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94701" y="2123319"/>
            <a:ext cx="4089401" cy="377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8" name="Google Shape;1118;p8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5599" y="2532165"/>
            <a:ext cx="6814133" cy="2617423"/>
          </a:xfrm>
          <a:prstGeom prst="rect">
            <a:avLst/>
          </a:prstGeom>
          <a:noFill/>
          <a:ln>
            <a:noFill/>
          </a:ln>
        </p:spPr>
      </p:pic>
      <p:sp>
        <p:nvSpPr>
          <p:cNvPr id="1119" name="Google Shape;1119;p81"/>
          <p:cNvSpPr txBox="1"/>
          <p:nvPr/>
        </p:nvSpPr>
        <p:spPr>
          <a:xfrm>
            <a:off x="829733" y="1998567"/>
            <a:ext cx="30200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US" sz="2400" b="1">
                <a:solidFill>
                  <a:srgbClr val="0D5DDF"/>
                </a:solidFill>
                <a:latin typeface="Overlock"/>
                <a:ea typeface="Overlock"/>
                <a:cs typeface="Overlock"/>
                <a:sym typeface="Overlock"/>
              </a:rPr>
              <a:t>Dataset awal :</a:t>
            </a:r>
            <a:endParaRPr sz="2400" b="1">
              <a:solidFill>
                <a:srgbClr val="0D5DDF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1120" name="Google Shape;1120;p81"/>
          <p:cNvSpPr txBox="1"/>
          <p:nvPr/>
        </p:nvSpPr>
        <p:spPr>
          <a:xfrm>
            <a:off x="7594700" y="1452834"/>
            <a:ext cx="3020000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US" sz="2400" b="1">
                <a:solidFill>
                  <a:srgbClr val="0D5DDF"/>
                </a:solidFill>
                <a:latin typeface="Overlock"/>
                <a:ea typeface="Overlock"/>
                <a:cs typeface="Overlock"/>
                <a:sym typeface="Overlock"/>
              </a:rPr>
              <a:t>Dataset yang telah diperkaya :</a:t>
            </a:r>
            <a:endParaRPr sz="2400" b="1">
              <a:solidFill>
                <a:srgbClr val="0D5DDF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21C56E2-A8ED-9C8F-4B06-C9DDDE227579}"/>
              </a:ext>
            </a:extLst>
          </p:cNvPr>
          <p:cNvSpPr/>
          <p:nvPr/>
        </p:nvSpPr>
        <p:spPr>
          <a:xfrm>
            <a:off x="8081010" y="191069"/>
            <a:ext cx="3760470" cy="7915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5" name="Google Shape;1125;p8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chemeClr val="dk1"/>
              </a:buClr>
              <a:buSzPct val="39285"/>
            </a:pPr>
            <a:r>
              <a:rPr lang="en-US" dirty="0" err="1">
                <a:solidFill>
                  <a:srgbClr val="0F3570"/>
                </a:solidFill>
                <a:ea typeface="Overlock"/>
                <a:sym typeface="Overlock"/>
              </a:rPr>
              <a:t>Pelabelan</a:t>
            </a:r>
            <a:r>
              <a:rPr lang="en-US" dirty="0">
                <a:solidFill>
                  <a:srgbClr val="0F3570"/>
                </a:solidFill>
                <a:ea typeface="Overlock"/>
                <a:sym typeface="Overlock"/>
              </a:rPr>
              <a:t> Data - Semi-supervised Learning</a:t>
            </a:r>
            <a:endParaRPr dirty="0">
              <a:solidFill>
                <a:srgbClr val="0F3570"/>
              </a:solidFill>
              <a:ea typeface="Overlock"/>
              <a:sym typeface="Overlock"/>
            </a:endParaRPr>
          </a:p>
          <a:p>
            <a:pPr>
              <a:buClr>
                <a:schemeClr val="dk1"/>
              </a:buClr>
              <a:buSzPct val="39285"/>
            </a:pPr>
            <a:endParaRPr dirty="0"/>
          </a:p>
          <a:p>
            <a:pPr>
              <a:buSzPct val="115226"/>
            </a:pPr>
            <a:endParaRPr dirty="0"/>
          </a:p>
        </p:txBody>
      </p:sp>
      <p:sp>
        <p:nvSpPr>
          <p:cNvPr id="1126" name="Google Shape;1126;p82"/>
          <p:cNvSpPr txBox="1">
            <a:spLocks noGrp="1"/>
          </p:cNvSpPr>
          <p:nvPr>
            <p:ph idx="1"/>
          </p:nvPr>
        </p:nvSpPr>
        <p:spPr>
          <a:xfrm>
            <a:off x="4046220" y="1176532"/>
            <a:ext cx="8023860" cy="500043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 fontScale="77500" lnSpcReduction="20000"/>
          </a:bodyPr>
          <a:lstStyle/>
          <a:p>
            <a:pPr>
              <a:lnSpc>
                <a:spcPct val="115000"/>
              </a:lnSpc>
              <a:buSzPct val="61111"/>
            </a:pPr>
            <a:r>
              <a:rPr lang="en-US" dirty="0" err="1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Setelah</a:t>
            </a:r>
            <a:r>
              <a:rPr lang="en-US" dirty="0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 </a:t>
            </a:r>
            <a:r>
              <a:rPr lang="en-US" dirty="0" err="1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menjalankan</a:t>
            </a:r>
            <a:r>
              <a:rPr lang="en-US" dirty="0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 </a:t>
            </a:r>
            <a:r>
              <a:rPr lang="en-US" dirty="0" err="1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algoritma</a:t>
            </a:r>
            <a:r>
              <a:rPr lang="en-US" dirty="0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 supervised learning pada </a:t>
            </a:r>
            <a:r>
              <a:rPr lang="en-US" dirty="0" err="1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studi</a:t>
            </a:r>
            <a:r>
              <a:rPr lang="en-US" dirty="0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 </a:t>
            </a:r>
            <a:r>
              <a:rPr lang="en-US" dirty="0" err="1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kasus</a:t>
            </a:r>
            <a:r>
              <a:rPr lang="en-US" dirty="0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 </a:t>
            </a:r>
            <a:r>
              <a:rPr lang="en-US" dirty="0" err="1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ini</a:t>
            </a:r>
            <a:r>
              <a:rPr lang="en-US" dirty="0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, </a:t>
            </a:r>
            <a:r>
              <a:rPr lang="en-US" dirty="0" err="1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hasil</a:t>
            </a:r>
            <a:r>
              <a:rPr lang="en-US" dirty="0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 model </a:t>
            </a:r>
            <a:r>
              <a:rPr lang="en-US" dirty="0" err="1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kedua</a:t>
            </a:r>
            <a:r>
              <a:rPr lang="en-US" dirty="0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 </a:t>
            </a:r>
            <a:r>
              <a:rPr lang="en-US" b="1" dirty="0" err="1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pasti</a:t>
            </a:r>
            <a:r>
              <a:rPr lang="en-US" dirty="0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  </a:t>
            </a:r>
            <a:r>
              <a:rPr lang="en-US" dirty="0" err="1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mengungguli</a:t>
            </a:r>
            <a:r>
              <a:rPr lang="en-US" dirty="0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 model </a:t>
            </a:r>
            <a:r>
              <a:rPr lang="en-US" dirty="0" err="1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pertama</a:t>
            </a:r>
            <a:r>
              <a:rPr lang="en-US" dirty="0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 yang </a:t>
            </a:r>
            <a:r>
              <a:rPr lang="en-US" dirty="0" err="1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dibangun</a:t>
            </a:r>
            <a:r>
              <a:rPr lang="en-US" dirty="0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 </a:t>
            </a:r>
            <a:r>
              <a:rPr lang="en-US" dirty="0" err="1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hanya</a:t>
            </a:r>
            <a:r>
              <a:rPr lang="en-US" dirty="0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 </a:t>
            </a:r>
            <a:r>
              <a:rPr lang="en-US" dirty="0" err="1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berisi</a:t>
            </a:r>
            <a:r>
              <a:rPr lang="en-US" dirty="0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 dua </a:t>
            </a:r>
            <a:r>
              <a:rPr lang="en-US" dirty="0" err="1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gambar</a:t>
            </a:r>
            <a:r>
              <a:rPr lang="en-US" dirty="0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 </a:t>
            </a:r>
            <a:r>
              <a:rPr lang="en-US" dirty="0" err="1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sebagai</a:t>
            </a:r>
            <a:r>
              <a:rPr lang="en-US" dirty="0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 data </a:t>
            </a:r>
            <a:r>
              <a:rPr lang="en-US" dirty="0" err="1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pelatihan</a:t>
            </a:r>
            <a:r>
              <a:rPr lang="en-US" dirty="0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.</a:t>
            </a:r>
            <a:endParaRPr dirty="0">
              <a:ea typeface="Nirmala UI" panose="020B0502040204020203" pitchFamily="34" charset="0"/>
              <a:cs typeface="Nirmala UI" panose="020B0502040204020203" pitchFamily="34" charset="0"/>
              <a:sym typeface="Overlock"/>
            </a:endParaRPr>
          </a:p>
          <a:p>
            <a:pPr>
              <a:lnSpc>
                <a:spcPct val="115000"/>
              </a:lnSpc>
              <a:buSzPct val="61111"/>
            </a:pPr>
            <a:endParaRPr dirty="0">
              <a:ea typeface="Nirmala UI" panose="020B0502040204020203" pitchFamily="34" charset="0"/>
              <a:cs typeface="Nirmala UI" panose="020B0502040204020203" pitchFamily="34" charset="0"/>
              <a:sym typeface="Overlock"/>
            </a:endParaRPr>
          </a:p>
          <a:p>
            <a:pPr>
              <a:lnSpc>
                <a:spcPct val="115000"/>
              </a:lnSpc>
              <a:buSzPct val="61111"/>
            </a:pPr>
            <a:r>
              <a:rPr lang="en-US" dirty="0" err="1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Tetapi</a:t>
            </a:r>
            <a:r>
              <a:rPr lang="en-US" dirty="0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 </a:t>
            </a:r>
            <a:r>
              <a:rPr lang="en-US" dirty="0" err="1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pendekatan</a:t>
            </a:r>
            <a:r>
              <a:rPr lang="en-US" dirty="0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 </a:t>
            </a:r>
            <a:r>
              <a:rPr lang="en-US" dirty="0" err="1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ini</a:t>
            </a:r>
            <a:r>
              <a:rPr lang="en-US" dirty="0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 </a:t>
            </a:r>
            <a:r>
              <a:rPr lang="en-US" dirty="0" err="1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hanya</a:t>
            </a:r>
            <a:r>
              <a:rPr lang="en-US" dirty="0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 </a:t>
            </a:r>
            <a:r>
              <a:rPr lang="en-US" dirty="0" err="1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berlaku</a:t>
            </a:r>
            <a:r>
              <a:rPr lang="en-US" dirty="0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 </a:t>
            </a:r>
            <a:r>
              <a:rPr lang="en-US" dirty="0" err="1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untuk</a:t>
            </a:r>
            <a:r>
              <a:rPr lang="en-US" dirty="0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 </a:t>
            </a:r>
            <a:r>
              <a:rPr lang="en-US" dirty="0" err="1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tujuan</a:t>
            </a:r>
            <a:r>
              <a:rPr lang="en-US" dirty="0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 </a:t>
            </a:r>
            <a:r>
              <a:rPr lang="en-US" dirty="0" err="1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kecil</a:t>
            </a:r>
            <a:r>
              <a:rPr lang="en-US" dirty="0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 </a:t>
            </a:r>
            <a:r>
              <a:rPr lang="en-US" dirty="0" err="1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karena</a:t>
            </a:r>
            <a:r>
              <a:rPr lang="en-US" dirty="0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 </a:t>
            </a:r>
            <a:r>
              <a:rPr lang="en-US" dirty="0" err="1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anotasi</a:t>
            </a:r>
            <a:r>
              <a:rPr lang="en-US" dirty="0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/</a:t>
            </a:r>
            <a:r>
              <a:rPr lang="en-US" dirty="0" err="1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pelabelan</a:t>
            </a:r>
            <a:r>
              <a:rPr lang="en-US" dirty="0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 manual </a:t>
            </a:r>
            <a:r>
              <a:rPr lang="en-US" dirty="0" err="1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ke</a:t>
            </a:r>
            <a:r>
              <a:rPr lang="en-US" dirty="0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 </a:t>
            </a:r>
            <a:r>
              <a:rPr lang="en-US" dirty="0" err="1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kumpulan</a:t>
            </a:r>
            <a:r>
              <a:rPr lang="en-US" dirty="0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 data </a:t>
            </a:r>
            <a:r>
              <a:rPr lang="en-US" dirty="0" err="1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besar</a:t>
            </a:r>
            <a:r>
              <a:rPr lang="en-US" dirty="0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 </a:t>
            </a:r>
            <a:r>
              <a:rPr lang="en-US" dirty="0" err="1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bisa</a:t>
            </a:r>
            <a:r>
              <a:rPr lang="en-US" dirty="0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 </a:t>
            </a:r>
            <a:r>
              <a:rPr lang="en-US" dirty="0" err="1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sangatlah</a:t>
            </a:r>
            <a:r>
              <a:rPr lang="en-US" dirty="0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 </a:t>
            </a:r>
            <a:r>
              <a:rPr lang="en-US" dirty="0" err="1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sulit</a:t>
            </a:r>
            <a:r>
              <a:rPr lang="en-US" dirty="0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 dan mahal.</a:t>
            </a:r>
            <a:endParaRPr dirty="0">
              <a:ea typeface="Nirmala UI" panose="020B0502040204020203" pitchFamily="34" charset="0"/>
              <a:cs typeface="Nirmala UI" panose="020B0502040204020203" pitchFamily="34" charset="0"/>
              <a:sym typeface="Overlock"/>
            </a:endParaRPr>
          </a:p>
          <a:p>
            <a:pPr>
              <a:lnSpc>
                <a:spcPct val="115000"/>
              </a:lnSpc>
              <a:buSzPct val="61111"/>
            </a:pPr>
            <a:endParaRPr dirty="0">
              <a:ea typeface="Nirmala UI" panose="020B0502040204020203" pitchFamily="34" charset="0"/>
              <a:cs typeface="Nirmala UI" panose="020B0502040204020203" pitchFamily="34" charset="0"/>
              <a:sym typeface="Overlock"/>
            </a:endParaRPr>
          </a:p>
          <a:p>
            <a:pPr>
              <a:lnSpc>
                <a:spcPct val="115000"/>
              </a:lnSpc>
              <a:buSzPct val="61111"/>
            </a:pPr>
            <a:r>
              <a:rPr lang="en-US" dirty="0" err="1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untuk</a:t>
            </a:r>
            <a:r>
              <a:rPr lang="en-US" dirty="0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 </a:t>
            </a:r>
            <a:r>
              <a:rPr lang="en-US" dirty="0" err="1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memecahkan</a:t>
            </a:r>
            <a:r>
              <a:rPr lang="en-US" dirty="0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 </a:t>
            </a:r>
            <a:r>
              <a:rPr lang="en-US" dirty="0" err="1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jenis</a:t>
            </a:r>
            <a:r>
              <a:rPr lang="en-US" dirty="0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 </a:t>
            </a:r>
            <a:r>
              <a:rPr lang="en-US" dirty="0" err="1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masalah</a:t>
            </a:r>
            <a:r>
              <a:rPr lang="en-US" dirty="0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 </a:t>
            </a:r>
            <a:r>
              <a:rPr lang="en-US" dirty="0" err="1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ini</a:t>
            </a:r>
            <a:r>
              <a:rPr lang="en-US" dirty="0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, </a:t>
            </a:r>
            <a:r>
              <a:rPr lang="en-US" dirty="0" err="1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terdapat</a:t>
            </a:r>
            <a:r>
              <a:rPr lang="en-US" dirty="0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 </a:t>
            </a:r>
            <a:r>
              <a:rPr lang="en-US" dirty="0" err="1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jenis</a:t>
            </a:r>
            <a:r>
              <a:rPr lang="en-US" dirty="0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 </a:t>
            </a:r>
            <a:r>
              <a:rPr lang="en-US" dirty="0" err="1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pembelajaran</a:t>
            </a:r>
            <a:r>
              <a:rPr lang="en-US" dirty="0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 yang </a:t>
            </a:r>
            <a:r>
              <a:rPr lang="en-US" dirty="0" err="1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berbeda</a:t>
            </a:r>
            <a:r>
              <a:rPr lang="en-US" dirty="0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 yang </a:t>
            </a:r>
            <a:r>
              <a:rPr lang="en-US" dirty="0" err="1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dikenal</a:t>
            </a:r>
            <a:r>
              <a:rPr lang="en-US" dirty="0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 </a:t>
            </a:r>
            <a:r>
              <a:rPr lang="en-US" dirty="0" err="1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sebagai</a:t>
            </a:r>
            <a:r>
              <a:rPr lang="en-US" dirty="0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 </a:t>
            </a:r>
            <a:r>
              <a:rPr lang="en-US" b="1" i="1" dirty="0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semi-supervised learning</a:t>
            </a:r>
            <a:r>
              <a:rPr lang="en-US" dirty="0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, yang </a:t>
            </a:r>
            <a:r>
              <a:rPr lang="en-US" dirty="0" err="1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menggunakan</a:t>
            </a:r>
            <a:r>
              <a:rPr lang="en-US" dirty="0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 </a:t>
            </a:r>
            <a:r>
              <a:rPr lang="en-US" dirty="0" err="1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baik</a:t>
            </a:r>
            <a:r>
              <a:rPr lang="en-US" dirty="0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 data </a:t>
            </a:r>
            <a:r>
              <a:rPr lang="en-US" dirty="0" err="1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berlabel</a:t>
            </a:r>
            <a:r>
              <a:rPr lang="en-US" dirty="0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 (</a:t>
            </a:r>
            <a:r>
              <a:rPr lang="en-US" dirty="0" err="1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pembelajaran</a:t>
            </a:r>
            <a:r>
              <a:rPr lang="en-US" dirty="0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 </a:t>
            </a:r>
            <a:r>
              <a:rPr lang="en-US" dirty="0" err="1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terbimbing</a:t>
            </a:r>
            <a:r>
              <a:rPr lang="en-US" dirty="0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) dan data </a:t>
            </a:r>
            <a:r>
              <a:rPr lang="en-US" dirty="0" err="1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tidak</a:t>
            </a:r>
            <a:r>
              <a:rPr lang="en-US" dirty="0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 </a:t>
            </a:r>
            <a:r>
              <a:rPr lang="en-US" dirty="0" err="1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berlabel</a:t>
            </a:r>
            <a:r>
              <a:rPr lang="en-US" dirty="0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 (</a:t>
            </a:r>
            <a:r>
              <a:rPr lang="en-US" dirty="0" err="1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pembelajaran</a:t>
            </a:r>
            <a:r>
              <a:rPr lang="en-US" dirty="0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 </a:t>
            </a:r>
            <a:r>
              <a:rPr lang="en-US" dirty="0" err="1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tanpa</a:t>
            </a:r>
            <a:r>
              <a:rPr lang="en-US" dirty="0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 </a:t>
            </a:r>
            <a:r>
              <a:rPr lang="en-US" dirty="0" err="1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pengawasan</a:t>
            </a:r>
            <a:r>
              <a:rPr lang="en-US" dirty="0">
                <a:ea typeface="Nirmala UI" panose="020B0502040204020203" pitchFamily="34" charset="0"/>
                <a:cs typeface="Nirmala UI" panose="020B0502040204020203" pitchFamily="34" charset="0"/>
                <a:sym typeface="Overlock"/>
              </a:rPr>
              <a:t>).</a:t>
            </a:r>
            <a:endParaRPr dirty="0">
              <a:ea typeface="Nirmala UI" panose="020B0502040204020203" pitchFamily="34" charset="0"/>
              <a:cs typeface="Nirmala UI" panose="020B0502040204020203" pitchFamily="34" charset="0"/>
              <a:sym typeface="Overlock"/>
            </a:endParaRPr>
          </a:p>
          <a:p>
            <a:pPr>
              <a:lnSpc>
                <a:spcPct val="115000"/>
              </a:lnSpc>
              <a:buSzPct val="110599"/>
            </a:pPr>
            <a:endParaRPr dirty="0">
              <a:ea typeface="Nirmala UI" panose="020B0502040204020203" pitchFamily="34" charset="0"/>
              <a:cs typeface="Nirmala UI" panose="020B0502040204020203" pitchFamily="34" charset="0"/>
              <a:sym typeface="Overlock"/>
            </a:endParaRPr>
          </a:p>
        </p:txBody>
      </p:sp>
      <p:pic>
        <p:nvPicPr>
          <p:cNvPr id="1127" name="Google Shape;1127;p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35923"/>
            <a:ext cx="3946068" cy="342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8" name="Google Shape;1128;p82"/>
          <p:cNvSpPr txBox="1"/>
          <p:nvPr/>
        </p:nvSpPr>
        <p:spPr>
          <a:xfrm>
            <a:off x="214068" y="1319397"/>
            <a:ext cx="3020000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US" sz="2000" b="1" dirty="0">
                <a:solidFill>
                  <a:srgbClr val="0D5DDF"/>
                </a:solidFill>
                <a:latin typeface="Overlock"/>
                <a:ea typeface="Overlock"/>
                <a:cs typeface="Overlock"/>
                <a:sym typeface="Overlock"/>
              </a:rPr>
              <a:t>Dataset yang </a:t>
            </a:r>
            <a:r>
              <a:rPr lang="en-US" sz="2000" b="1" dirty="0" err="1">
                <a:solidFill>
                  <a:srgbClr val="0D5DDF"/>
                </a:solidFill>
                <a:latin typeface="Overlock"/>
                <a:ea typeface="Overlock"/>
                <a:cs typeface="Overlock"/>
                <a:sym typeface="Overlock"/>
              </a:rPr>
              <a:t>telah</a:t>
            </a:r>
            <a:r>
              <a:rPr lang="en-US" sz="2000" b="1" dirty="0">
                <a:solidFill>
                  <a:srgbClr val="0D5DDF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000" b="1" dirty="0" err="1">
                <a:solidFill>
                  <a:srgbClr val="0D5DDF"/>
                </a:solidFill>
                <a:latin typeface="Overlock"/>
                <a:ea typeface="Overlock"/>
                <a:cs typeface="Overlock"/>
                <a:sym typeface="Overlock"/>
              </a:rPr>
              <a:t>dilabeli</a:t>
            </a:r>
            <a:r>
              <a:rPr lang="en-US" sz="2000" b="1" dirty="0">
                <a:solidFill>
                  <a:srgbClr val="0D5DDF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000" b="1" dirty="0" err="1">
                <a:solidFill>
                  <a:srgbClr val="0D5DDF"/>
                </a:solidFill>
                <a:latin typeface="Overlock"/>
                <a:ea typeface="Overlock"/>
                <a:cs typeface="Overlock"/>
                <a:sym typeface="Overlock"/>
              </a:rPr>
              <a:t>secara</a:t>
            </a:r>
            <a:r>
              <a:rPr lang="en-US" sz="2000" b="1" dirty="0">
                <a:solidFill>
                  <a:srgbClr val="0D5DDF"/>
                </a:solidFill>
                <a:latin typeface="Overlock"/>
                <a:ea typeface="Overlock"/>
                <a:cs typeface="Overlock"/>
                <a:sym typeface="Overlock"/>
              </a:rPr>
              <a:t> manual</a:t>
            </a:r>
            <a:endParaRPr sz="2000" b="1" dirty="0">
              <a:solidFill>
                <a:srgbClr val="0D5DDF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3"/>
          <p:cNvSpPr txBox="1">
            <a:spLocks noGrp="1"/>
          </p:cNvSpPr>
          <p:nvPr>
            <p:ph type="title"/>
          </p:nvPr>
        </p:nvSpPr>
        <p:spPr>
          <a:xfrm>
            <a:off x="468630" y="191069"/>
            <a:ext cx="10885170" cy="79157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rgbClr val="0F3570"/>
              </a:buClr>
              <a:buSzPct val="115226"/>
            </a:pPr>
            <a:r>
              <a:rPr lang="en-US" dirty="0" err="1">
                <a:solidFill>
                  <a:srgbClr val="0F3570"/>
                </a:solidFill>
                <a:ea typeface="Overlock"/>
                <a:sym typeface="Overlock"/>
              </a:rPr>
              <a:t>Pelabelan</a:t>
            </a:r>
            <a:r>
              <a:rPr lang="en-US" dirty="0">
                <a:solidFill>
                  <a:srgbClr val="0F3570"/>
                </a:solidFill>
                <a:ea typeface="Overlock"/>
                <a:sym typeface="Overlock"/>
              </a:rPr>
              <a:t> Data - </a:t>
            </a:r>
            <a:r>
              <a:rPr lang="en-US" dirty="0">
                <a:ea typeface="Overlock"/>
                <a:sym typeface="Overlock"/>
              </a:rPr>
              <a:t>Peran data </a:t>
            </a:r>
            <a:r>
              <a:rPr lang="en-US" dirty="0" err="1">
                <a:ea typeface="Overlock"/>
                <a:sym typeface="Overlock"/>
              </a:rPr>
              <a:t>tanpa</a:t>
            </a:r>
            <a:r>
              <a:rPr lang="en-US" dirty="0">
                <a:ea typeface="Overlock"/>
                <a:sym typeface="Overlock"/>
              </a:rPr>
              <a:t> label</a:t>
            </a:r>
            <a:endParaRPr dirty="0">
              <a:ea typeface="Overlock"/>
              <a:sym typeface="Overlock"/>
            </a:endParaRPr>
          </a:p>
        </p:txBody>
      </p:sp>
      <p:sp>
        <p:nvSpPr>
          <p:cNvPr id="1134" name="Google Shape;1134;p83"/>
          <p:cNvSpPr txBox="1">
            <a:spLocks noGrp="1"/>
          </p:cNvSpPr>
          <p:nvPr>
            <p:ph idx="1"/>
          </p:nvPr>
        </p:nvSpPr>
        <p:spPr>
          <a:xfrm>
            <a:off x="838200" y="1176532"/>
            <a:ext cx="5257800" cy="500043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0" indent="0">
              <a:lnSpc>
                <a:spcPct val="115000"/>
              </a:lnSpc>
              <a:buSzPts val="1100"/>
              <a:buNone/>
            </a:pPr>
            <a:r>
              <a:rPr lang="en-US" dirty="0">
                <a:ea typeface="Overlock"/>
                <a:cs typeface="Overlock"/>
                <a:sym typeface="Overlock"/>
              </a:rPr>
              <a:t>Pada </a:t>
            </a:r>
            <a:r>
              <a:rPr lang="en-US" dirty="0" err="1">
                <a:ea typeface="Overlock"/>
                <a:cs typeface="Overlock"/>
                <a:sym typeface="Overlock"/>
              </a:rPr>
              <a:t>pembangunan</a:t>
            </a:r>
            <a:r>
              <a:rPr lang="en-US" dirty="0">
                <a:ea typeface="Overlock"/>
                <a:cs typeface="Overlock"/>
                <a:sym typeface="Overlock"/>
              </a:rPr>
              <a:t> model </a:t>
            </a:r>
            <a:r>
              <a:rPr lang="en-US" dirty="0" err="1">
                <a:ea typeface="Overlock"/>
                <a:cs typeface="Overlock"/>
                <a:sym typeface="Overlock"/>
              </a:rPr>
              <a:t>dengan</a:t>
            </a:r>
            <a:r>
              <a:rPr lang="en-US" dirty="0">
                <a:ea typeface="Overlock"/>
                <a:cs typeface="Overlock"/>
                <a:sym typeface="Overlock"/>
              </a:rPr>
              <a:t> data </a:t>
            </a:r>
            <a:r>
              <a:rPr lang="en-US" dirty="0" err="1">
                <a:ea typeface="Overlock"/>
                <a:cs typeface="Overlock"/>
                <a:sym typeface="Overlock"/>
              </a:rPr>
              <a:t>berlabel</a:t>
            </a:r>
            <a:r>
              <a:rPr lang="en-US" dirty="0">
                <a:ea typeface="Overlock"/>
                <a:cs typeface="Overlock"/>
                <a:sym typeface="Overlock"/>
              </a:rPr>
              <a:t>, Anda </a:t>
            </a:r>
            <a:r>
              <a:rPr lang="en-US" dirty="0" err="1">
                <a:ea typeface="Overlock"/>
                <a:cs typeface="Overlock"/>
                <a:sym typeface="Overlock"/>
              </a:rPr>
              <a:t>hanya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memiliki</a:t>
            </a:r>
            <a:r>
              <a:rPr lang="en-US" dirty="0">
                <a:ea typeface="Overlock"/>
                <a:cs typeface="Overlock"/>
                <a:sym typeface="Overlock"/>
              </a:rPr>
              <a:t> dua </a:t>
            </a:r>
            <a:r>
              <a:rPr lang="en-US" dirty="0" err="1">
                <a:ea typeface="Overlock"/>
                <a:cs typeface="Overlock"/>
                <a:sym typeface="Overlock"/>
              </a:rPr>
              <a:t>titik</a:t>
            </a:r>
            <a:r>
              <a:rPr lang="en-US" dirty="0">
                <a:ea typeface="Overlock"/>
                <a:cs typeface="Overlock"/>
                <a:sym typeface="Overlock"/>
              </a:rPr>
              <a:t> data yang </a:t>
            </a:r>
            <a:r>
              <a:rPr lang="en-US" dirty="0" err="1">
                <a:ea typeface="Overlock"/>
                <a:cs typeface="Overlock"/>
                <a:sym typeface="Overlock"/>
              </a:rPr>
              <a:t>termasuk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dalam</a:t>
            </a:r>
            <a:r>
              <a:rPr lang="en-US" dirty="0">
                <a:ea typeface="Overlock"/>
                <a:cs typeface="Overlock"/>
                <a:sym typeface="Overlock"/>
              </a:rPr>
              <a:t> dua </a:t>
            </a:r>
            <a:r>
              <a:rPr lang="en-US" dirty="0" err="1">
                <a:ea typeface="Overlock"/>
                <a:cs typeface="Overlock"/>
                <a:sym typeface="Overlock"/>
              </a:rPr>
              <a:t>kategori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berbeda</a:t>
            </a:r>
            <a:r>
              <a:rPr lang="en-US" dirty="0">
                <a:ea typeface="Overlock"/>
                <a:cs typeface="Overlock"/>
                <a:sym typeface="Overlock"/>
              </a:rPr>
              <a:t>, dan garis yang </a:t>
            </a:r>
            <a:r>
              <a:rPr lang="en-US" dirty="0" err="1">
                <a:ea typeface="Overlock"/>
                <a:cs typeface="Overlock"/>
                <a:sym typeface="Overlock"/>
              </a:rPr>
              <a:t>ditarik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adalah</a:t>
            </a:r>
            <a:r>
              <a:rPr lang="en-US" dirty="0">
                <a:ea typeface="Overlock"/>
                <a:cs typeface="Overlock"/>
                <a:sym typeface="Overlock"/>
              </a:rPr>
              <a:t> batas </a:t>
            </a:r>
            <a:r>
              <a:rPr lang="en-US" dirty="0" err="1">
                <a:ea typeface="Overlock"/>
                <a:cs typeface="Overlock"/>
                <a:sym typeface="Overlock"/>
              </a:rPr>
              <a:t>keputusan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dari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setiap</a:t>
            </a:r>
            <a:r>
              <a:rPr lang="en-US" dirty="0">
                <a:ea typeface="Overlock"/>
                <a:cs typeface="Overlock"/>
                <a:sym typeface="Overlock"/>
              </a:rPr>
              <a:t> model yang </a:t>
            </a:r>
            <a:r>
              <a:rPr lang="en-US" dirty="0" err="1">
                <a:ea typeface="Overlock"/>
                <a:cs typeface="Overlock"/>
                <a:sym typeface="Overlock"/>
              </a:rPr>
              <a:t>diawasi</a:t>
            </a:r>
            <a:r>
              <a:rPr lang="en-US" dirty="0">
                <a:ea typeface="Overlock"/>
                <a:cs typeface="Overlock"/>
                <a:sym typeface="Overlock"/>
              </a:rPr>
              <a:t>.</a:t>
            </a:r>
            <a:endParaRPr dirty="0">
              <a:ea typeface="Overlock"/>
              <a:cs typeface="Overlock"/>
              <a:sym typeface="Overlock"/>
            </a:endParaRPr>
          </a:p>
          <a:p>
            <a:pPr marL="0" indent="0">
              <a:lnSpc>
                <a:spcPct val="115000"/>
              </a:lnSpc>
              <a:buSzPts val="1800"/>
              <a:buNone/>
            </a:pPr>
            <a:endParaRPr dirty="0">
              <a:ea typeface="Overlock"/>
              <a:cs typeface="Overlock"/>
              <a:sym typeface="Overlock"/>
            </a:endParaRPr>
          </a:p>
        </p:txBody>
      </p:sp>
      <p:pic>
        <p:nvPicPr>
          <p:cNvPr id="1135" name="Google Shape;1135;p8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6801" y="1560167"/>
            <a:ext cx="5482000" cy="418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84"/>
          <p:cNvSpPr txBox="1">
            <a:spLocks noGrp="1"/>
          </p:cNvSpPr>
          <p:nvPr>
            <p:ph type="title"/>
          </p:nvPr>
        </p:nvSpPr>
        <p:spPr>
          <a:xfrm>
            <a:off x="297180" y="191069"/>
            <a:ext cx="11056620" cy="79157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rgbClr val="0F3570"/>
              </a:buClr>
              <a:buSzPct val="115226"/>
            </a:pPr>
            <a:r>
              <a:rPr lang="en-US" dirty="0" err="1">
                <a:solidFill>
                  <a:srgbClr val="0F3570"/>
                </a:solidFill>
                <a:ea typeface="Overlock"/>
                <a:sym typeface="Overlock"/>
              </a:rPr>
              <a:t>Pelabelan</a:t>
            </a:r>
            <a:r>
              <a:rPr lang="en-US" dirty="0">
                <a:solidFill>
                  <a:srgbClr val="0F3570"/>
                </a:solidFill>
                <a:ea typeface="Overlock"/>
                <a:sym typeface="Overlock"/>
              </a:rPr>
              <a:t> Data - </a:t>
            </a:r>
            <a:r>
              <a:rPr lang="en-US" dirty="0">
                <a:ea typeface="Overlock"/>
                <a:sym typeface="Overlock"/>
              </a:rPr>
              <a:t>Peran data </a:t>
            </a:r>
            <a:r>
              <a:rPr lang="en-US" dirty="0" err="1">
                <a:ea typeface="Overlock"/>
                <a:sym typeface="Overlock"/>
              </a:rPr>
              <a:t>tanpa</a:t>
            </a:r>
            <a:r>
              <a:rPr lang="en-US" dirty="0">
                <a:ea typeface="Overlock"/>
                <a:sym typeface="Overlock"/>
              </a:rPr>
              <a:t> label</a:t>
            </a:r>
            <a:endParaRPr dirty="0">
              <a:ea typeface="Overlock"/>
              <a:sym typeface="Overlock"/>
            </a:endParaRPr>
          </a:p>
        </p:txBody>
      </p:sp>
      <p:sp>
        <p:nvSpPr>
          <p:cNvPr id="1141" name="Google Shape;1141;p84"/>
          <p:cNvSpPr txBox="1">
            <a:spLocks noGrp="1"/>
          </p:cNvSpPr>
          <p:nvPr>
            <p:ph idx="1"/>
          </p:nvPr>
        </p:nvSpPr>
        <p:spPr>
          <a:xfrm>
            <a:off x="203198" y="1176532"/>
            <a:ext cx="6414772" cy="500043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 fontScale="92500" lnSpcReduction="20000"/>
          </a:bodyPr>
          <a:lstStyle/>
          <a:p>
            <a:pPr marL="0" indent="0">
              <a:lnSpc>
                <a:spcPct val="115000"/>
              </a:lnSpc>
              <a:buSzPct val="100840"/>
            </a:pPr>
            <a:r>
              <a:rPr lang="en-US" dirty="0" err="1">
                <a:ea typeface="Overlock"/>
                <a:cs typeface="Overlock"/>
                <a:sym typeface="Overlock"/>
              </a:rPr>
              <a:t>Selanjutnya</a:t>
            </a:r>
            <a:r>
              <a:rPr lang="en-US" dirty="0">
                <a:ea typeface="Overlock"/>
                <a:cs typeface="Overlock"/>
                <a:sym typeface="Overlock"/>
              </a:rPr>
              <a:t>, </a:t>
            </a:r>
            <a:r>
              <a:rPr lang="en-US" dirty="0" err="1">
                <a:ea typeface="Overlock"/>
                <a:cs typeface="Overlock"/>
                <a:sym typeface="Overlock"/>
              </a:rPr>
              <a:t>katakanlah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kita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menambahkan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beberapa</a:t>
            </a:r>
            <a:r>
              <a:rPr lang="en-US" dirty="0">
                <a:ea typeface="Overlock"/>
                <a:cs typeface="Overlock"/>
                <a:sym typeface="Overlock"/>
              </a:rPr>
              <a:t> data yang </a:t>
            </a:r>
            <a:r>
              <a:rPr lang="en-US" dirty="0" err="1">
                <a:ea typeface="Overlock"/>
                <a:cs typeface="Overlock"/>
                <a:sym typeface="Overlock"/>
              </a:rPr>
              <a:t>tidak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berlabel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ke</a:t>
            </a:r>
            <a:r>
              <a:rPr lang="en-US" dirty="0">
                <a:ea typeface="Overlock"/>
                <a:cs typeface="Overlock"/>
                <a:sym typeface="Overlock"/>
              </a:rPr>
              <a:t> data </a:t>
            </a:r>
            <a:r>
              <a:rPr lang="en-US" dirty="0" err="1">
                <a:ea typeface="Overlock"/>
                <a:cs typeface="Overlock"/>
                <a:sym typeface="Overlock"/>
              </a:rPr>
              <a:t>ini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seperti</a:t>
            </a:r>
            <a:r>
              <a:rPr lang="en-US" dirty="0">
                <a:ea typeface="Overlock"/>
                <a:cs typeface="Overlock"/>
                <a:sym typeface="Overlock"/>
              </a:rPr>
              <a:t> yang </a:t>
            </a:r>
            <a:r>
              <a:rPr lang="en-US" dirty="0" err="1">
                <a:ea typeface="Overlock"/>
                <a:cs typeface="Overlock"/>
                <a:sym typeface="Overlock"/>
              </a:rPr>
              <a:t>ditunjukkan</a:t>
            </a:r>
            <a:r>
              <a:rPr lang="en-US" dirty="0">
                <a:ea typeface="Overlock"/>
                <a:cs typeface="Overlock"/>
                <a:sym typeface="Overlock"/>
              </a:rPr>
              <a:t> pada </a:t>
            </a:r>
            <a:r>
              <a:rPr lang="en-US" dirty="0" err="1">
                <a:ea typeface="Overlock"/>
                <a:cs typeface="Overlock"/>
                <a:sym typeface="Overlock"/>
              </a:rPr>
              <a:t>gambar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samping</a:t>
            </a:r>
            <a:r>
              <a:rPr lang="en-US" dirty="0">
                <a:ea typeface="Overlock"/>
                <a:cs typeface="Overlock"/>
                <a:sym typeface="Overlock"/>
              </a:rPr>
              <a:t>.</a:t>
            </a:r>
            <a:endParaRPr dirty="0">
              <a:ea typeface="Overlock"/>
              <a:cs typeface="Overlock"/>
              <a:sym typeface="Overlock"/>
            </a:endParaRPr>
          </a:p>
          <a:p>
            <a:pPr marL="0" indent="0">
              <a:lnSpc>
                <a:spcPct val="115000"/>
              </a:lnSpc>
              <a:buSzPct val="100840"/>
            </a:pPr>
            <a:endParaRPr dirty="0">
              <a:ea typeface="Overlock"/>
              <a:cs typeface="Overlock"/>
              <a:sym typeface="Overlock"/>
            </a:endParaRPr>
          </a:p>
          <a:p>
            <a:pPr marL="0" indent="0">
              <a:lnSpc>
                <a:spcPct val="115000"/>
              </a:lnSpc>
              <a:buSzPct val="100840"/>
            </a:pPr>
            <a:r>
              <a:rPr lang="en-US" dirty="0">
                <a:ea typeface="Overlock"/>
                <a:cs typeface="Overlock"/>
                <a:sym typeface="Overlock"/>
              </a:rPr>
              <a:t>Gambar </a:t>
            </a:r>
            <a:r>
              <a:rPr lang="en-US" dirty="0" err="1">
                <a:ea typeface="Overlock"/>
                <a:cs typeface="Overlock"/>
                <a:sym typeface="Overlock"/>
              </a:rPr>
              <a:t>ini</a:t>
            </a:r>
            <a:r>
              <a:rPr lang="en-US" dirty="0">
                <a:ea typeface="Overlock"/>
                <a:cs typeface="Overlock"/>
                <a:sym typeface="Overlock"/>
              </a:rPr>
              <a:t> (di </a:t>
            </a:r>
            <a:r>
              <a:rPr lang="en-US" dirty="0" err="1">
                <a:ea typeface="Overlock"/>
                <a:cs typeface="Overlock"/>
                <a:sym typeface="Overlock"/>
              </a:rPr>
              <a:t>kanan</a:t>
            </a:r>
            <a:r>
              <a:rPr lang="en-US" dirty="0">
                <a:ea typeface="Overlock"/>
                <a:cs typeface="Overlock"/>
                <a:sym typeface="Overlock"/>
              </a:rPr>
              <a:t>), garis </a:t>
            </a:r>
            <a:r>
              <a:rPr lang="en-US" dirty="0" err="1">
                <a:ea typeface="Overlock"/>
                <a:cs typeface="Overlock"/>
                <a:sym typeface="Overlock"/>
              </a:rPr>
              <a:t>pembatas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antara</a:t>
            </a:r>
            <a:r>
              <a:rPr lang="en-US" dirty="0">
                <a:ea typeface="Overlock"/>
                <a:cs typeface="Overlock"/>
                <a:sym typeface="Overlock"/>
              </a:rPr>
              <a:t> wilayah </a:t>
            </a:r>
            <a:r>
              <a:rPr lang="en-US" dirty="0" err="1">
                <a:ea typeface="Overlock"/>
                <a:cs typeface="Overlock"/>
                <a:sym typeface="Overlock"/>
              </a:rPr>
              <a:t>hijau</a:t>
            </a:r>
            <a:r>
              <a:rPr lang="en-US" dirty="0">
                <a:ea typeface="Overlock"/>
                <a:cs typeface="Overlock"/>
                <a:sym typeface="Overlock"/>
              </a:rPr>
              <a:t> dan </a:t>
            </a:r>
            <a:r>
              <a:rPr lang="en-US" dirty="0" err="1">
                <a:ea typeface="Overlock"/>
                <a:cs typeface="Overlock"/>
                <a:sym typeface="Overlock"/>
              </a:rPr>
              <a:t>putih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menjadi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lebih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presisi</a:t>
            </a:r>
            <a:r>
              <a:rPr lang="en-US" dirty="0">
                <a:ea typeface="Overlock"/>
                <a:cs typeface="Overlock"/>
                <a:sym typeface="Overlock"/>
              </a:rPr>
              <a:t>. </a:t>
            </a:r>
            <a:r>
              <a:rPr lang="en-US" dirty="0" err="1">
                <a:ea typeface="Overlock"/>
                <a:cs typeface="Overlock"/>
                <a:sym typeface="Overlock"/>
              </a:rPr>
              <a:t>Perbedaan</a:t>
            </a:r>
            <a:r>
              <a:rPr lang="en-US" dirty="0">
                <a:ea typeface="Overlock"/>
                <a:cs typeface="Overlock"/>
                <a:sym typeface="Overlock"/>
              </a:rPr>
              <a:t> garis </a:t>
            </a:r>
            <a:r>
              <a:rPr lang="en-US" dirty="0" err="1">
                <a:ea typeface="Overlock"/>
                <a:cs typeface="Overlock"/>
                <a:sym typeface="Overlock"/>
              </a:rPr>
              <a:t>pembatas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tersebut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menunjukkan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bahwa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dengan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memberikan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menambahkan</a:t>
            </a:r>
            <a:r>
              <a:rPr lang="en-US" dirty="0">
                <a:ea typeface="Overlock"/>
                <a:cs typeface="Overlock"/>
                <a:sym typeface="Overlock"/>
              </a:rPr>
              <a:t> data yang </a:t>
            </a:r>
            <a:r>
              <a:rPr lang="en-US" dirty="0" err="1">
                <a:ea typeface="Overlock"/>
                <a:cs typeface="Overlock"/>
                <a:sym typeface="Overlock"/>
              </a:rPr>
              <a:t>tidak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berlabel</a:t>
            </a:r>
            <a:r>
              <a:rPr lang="en-US" dirty="0">
                <a:ea typeface="Overlock"/>
                <a:cs typeface="Overlock"/>
                <a:sym typeface="Overlock"/>
              </a:rPr>
              <a:t>, garis batas </a:t>
            </a:r>
            <a:r>
              <a:rPr lang="en-US" dirty="0" err="1">
                <a:ea typeface="Overlock"/>
                <a:cs typeface="Overlock"/>
                <a:sym typeface="Overlock"/>
              </a:rPr>
              <a:t>keputusan</a:t>
            </a:r>
            <a:r>
              <a:rPr lang="en-US" dirty="0">
                <a:ea typeface="Overlock"/>
                <a:cs typeface="Overlock"/>
                <a:sym typeface="Overlock"/>
              </a:rPr>
              <a:t> model </a:t>
            </a:r>
            <a:r>
              <a:rPr lang="en-US" dirty="0" err="1">
                <a:ea typeface="Overlock"/>
                <a:cs typeface="Overlock"/>
                <a:sym typeface="Overlock"/>
              </a:rPr>
              <a:t>menjadi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lebih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akurat</a:t>
            </a:r>
            <a:r>
              <a:rPr lang="en-US" dirty="0">
                <a:ea typeface="Overlock"/>
                <a:cs typeface="Overlock"/>
                <a:sym typeface="Overlock"/>
              </a:rPr>
              <a:t>.</a:t>
            </a:r>
            <a:endParaRPr dirty="0">
              <a:ea typeface="Overlock"/>
              <a:cs typeface="Overlock"/>
              <a:sym typeface="Overlock"/>
            </a:endParaRPr>
          </a:p>
        </p:txBody>
      </p:sp>
      <p:pic>
        <p:nvPicPr>
          <p:cNvPr id="1142" name="Google Shape;1142;p8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6801" y="1560167"/>
            <a:ext cx="5482001" cy="4680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85"/>
          <p:cNvSpPr txBox="1">
            <a:spLocks noGrp="1"/>
          </p:cNvSpPr>
          <p:nvPr>
            <p:ph type="title"/>
          </p:nvPr>
        </p:nvSpPr>
        <p:spPr>
          <a:xfrm>
            <a:off x="422910" y="191069"/>
            <a:ext cx="10930890" cy="79157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chemeClr val="dk1"/>
              </a:buClr>
              <a:buSzPct val="39285"/>
            </a:pPr>
            <a:r>
              <a:rPr lang="en-US" dirty="0" err="1">
                <a:solidFill>
                  <a:srgbClr val="0F3570"/>
                </a:solidFill>
                <a:ea typeface="Overlock"/>
                <a:sym typeface="Overlock"/>
              </a:rPr>
              <a:t>Pelabelan</a:t>
            </a:r>
            <a:r>
              <a:rPr lang="en-US" dirty="0">
                <a:solidFill>
                  <a:srgbClr val="0F3570"/>
                </a:solidFill>
                <a:ea typeface="Overlock"/>
                <a:sym typeface="Overlock"/>
              </a:rPr>
              <a:t> Data - </a:t>
            </a:r>
            <a:r>
              <a:rPr lang="en-US" dirty="0">
                <a:ea typeface="Overlock"/>
                <a:sym typeface="Overlock"/>
              </a:rPr>
              <a:t>Peran data </a:t>
            </a:r>
            <a:r>
              <a:rPr lang="en-US" dirty="0" err="1">
                <a:ea typeface="Overlock"/>
                <a:sym typeface="Overlock"/>
              </a:rPr>
              <a:t>tanpa</a:t>
            </a:r>
            <a:r>
              <a:rPr lang="en-US" dirty="0">
                <a:ea typeface="Overlock"/>
                <a:sym typeface="Overlock"/>
              </a:rPr>
              <a:t> label</a:t>
            </a:r>
            <a:endParaRPr dirty="0"/>
          </a:p>
        </p:txBody>
      </p:sp>
      <p:sp>
        <p:nvSpPr>
          <p:cNvPr id="1148" name="Google Shape;1148;p85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0" indent="0">
              <a:lnSpc>
                <a:spcPct val="115000"/>
              </a:lnSpc>
              <a:buSzPts val="1100"/>
              <a:buNone/>
            </a:pPr>
            <a:r>
              <a:rPr lang="en-US" dirty="0" err="1">
                <a:ea typeface="Overlock"/>
                <a:cs typeface="Overlock"/>
                <a:sym typeface="Overlock"/>
              </a:rPr>
              <a:t>Keuntungan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menggunakan</a:t>
            </a:r>
            <a:r>
              <a:rPr lang="en-US" dirty="0">
                <a:ea typeface="Overlock"/>
                <a:cs typeface="Overlock"/>
                <a:sym typeface="Overlock"/>
              </a:rPr>
              <a:t> data </a:t>
            </a:r>
            <a:r>
              <a:rPr lang="en-US" dirty="0" err="1">
                <a:ea typeface="Overlock"/>
                <a:cs typeface="Overlock"/>
                <a:sym typeface="Overlock"/>
              </a:rPr>
              <a:t>tidak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berlabel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adalah</a:t>
            </a:r>
            <a:r>
              <a:rPr lang="en-US" dirty="0">
                <a:ea typeface="Overlock"/>
                <a:cs typeface="Overlock"/>
                <a:sym typeface="Overlock"/>
              </a:rPr>
              <a:t>:</a:t>
            </a:r>
            <a:endParaRPr dirty="0">
              <a:ea typeface="Overlock"/>
              <a:cs typeface="Overlock"/>
              <a:sym typeface="Overlock"/>
            </a:endParaRPr>
          </a:p>
          <a:p>
            <a:pPr marL="152393" indent="0">
              <a:lnSpc>
                <a:spcPct val="115000"/>
              </a:lnSpc>
              <a:buSzPts val="1800"/>
              <a:buNone/>
            </a:pPr>
            <a:r>
              <a:rPr lang="en-US" dirty="0">
                <a:ea typeface="Overlock"/>
                <a:cs typeface="Overlock"/>
                <a:sym typeface="Overlock"/>
              </a:rPr>
              <a:t>Data </a:t>
            </a:r>
            <a:r>
              <a:rPr lang="en-US" dirty="0" err="1">
                <a:ea typeface="Overlock"/>
                <a:cs typeface="Overlock"/>
                <a:sym typeface="Overlock"/>
              </a:rPr>
              <a:t>berlabel</a:t>
            </a:r>
            <a:r>
              <a:rPr lang="en-US" dirty="0">
                <a:ea typeface="Overlock"/>
                <a:cs typeface="Overlock"/>
                <a:sym typeface="Overlock"/>
              </a:rPr>
              <a:t> mahal dan </a:t>
            </a:r>
            <a:r>
              <a:rPr lang="en-US" dirty="0" err="1">
                <a:ea typeface="Overlock"/>
                <a:cs typeface="Overlock"/>
                <a:sym typeface="Overlock"/>
              </a:rPr>
              <a:t>sulit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didapat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sedangkan</a:t>
            </a:r>
            <a:r>
              <a:rPr lang="en-US" dirty="0">
                <a:ea typeface="Overlock"/>
                <a:cs typeface="Overlock"/>
                <a:sym typeface="Overlock"/>
              </a:rPr>
              <a:t> data </a:t>
            </a:r>
            <a:r>
              <a:rPr lang="en-US" dirty="0" err="1">
                <a:ea typeface="Overlock"/>
                <a:cs typeface="Overlock"/>
                <a:sym typeface="Overlock"/>
              </a:rPr>
              <a:t>tidak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berlabel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berlimpah</a:t>
            </a:r>
            <a:r>
              <a:rPr lang="en-US" dirty="0">
                <a:ea typeface="Overlock"/>
                <a:cs typeface="Overlock"/>
                <a:sym typeface="Overlock"/>
              </a:rPr>
              <a:t> dan </a:t>
            </a:r>
            <a:r>
              <a:rPr lang="en-US" dirty="0" err="1">
                <a:ea typeface="Overlock"/>
                <a:cs typeface="Overlock"/>
                <a:sym typeface="Overlock"/>
              </a:rPr>
              <a:t>murah</a:t>
            </a:r>
            <a:r>
              <a:rPr lang="en-US" dirty="0">
                <a:ea typeface="Overlock"/>
                <a:cs typeface="Overlock"/>
                <a:sym typeface="Overlock"/>
              </a:rPr>
              <a:t>.</a:t>
            </a:r>
            <a:endParaRPr dirty="0">
              <a:ea typeface="Overlock"/>
              <a:cs typeface="Overlock"/>
              <a:sym typeface="Overlock"/>
            </a:endParaRPr>
          </a:p>
          <a:p>
            <a:pPr marL="152393" indent="0">
              <a:lnSpc>
                <a:spcPct val="115000"/>
              </a:lnSpc>
              <a:buSzPts val="1800"/>
              <a:buNone/>
            </a:pPr>
            <a:r>
              <a:rPr lang="en-US" dirty="0" err="1">
                <a:ea typeface="Overlock"/>
                <a:cs typeface="Overlock"/>
                <a:sym typeface="Overlock"/>
              </a:rPr>
              <a:t>Meningkatkan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ketahanan</a:t>
            </a:r>
            <a:r>
              <a:rPr lang="en-US" dirty="0">
                <a:ea typeface="Overlock"/>
                <a:cs typeface="Overlock"/>
                <a:sym typeface="Overlock"/>
              </a:rPr>
              <a:t> model </a:t>
            </a:r>
            <a:r>
              <a:rPr lang="en-US" dirty="0" err="1">
                <a:ea typeface="Overlock"/>
                <a:cs typeface="Overlock"/>
                <a:sym typeface="Overlock"/>
              </a:rPr>
              <a:t>dengan</a:t>
            </a:r>
            <a:r>
              <a:rPr lang="en-US" dirty="0">
                <a:ea typeface="Overlock"/>
                <a:cs typeface="Overlock"/>
                <a:sym typeface="Overlock"/>
              </a:rPr>
              <a:t> batas </a:t>
            </a:r>
            <a:r>
              <a:rPr lang="en-US" dirty="0" err="1">
                <a:ea typeface="Overlock"/>
                <a:cs typeface="Overlock"/>
                <a:sym typeface="Overlock"/>
              </a:rPr>
              <a:t>keputusan</a:t>
            </a:r>
            <a:r>
              <a:rPr lang="en-US" dirty="0">
                <a:ea typeface="Overlock"/>
                <a:cs typeface="Overlock"/>
                <a:sym typeface="Overlock"/>
              </a:rPr>
              <a:t> yang </a:t>
            </a:r>
            <a:r>
              <a:rPr lang="en-US" dirty="0" err="1">
                <a:ea typeface="Overlock"/>
                <a:cs typeface="Overlock"/>
                <a:sym typeface="Overlock"/>
              </a:rPr>
              <a:t>lebih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tepat</a:t>
            </a:r>
            <a:r>
              <a:rPr lang="en-US" dirty="0">
                <a:ea typeface="Overlock"/>
                <a:cs typeface="Overlock"/>
                <a:sym typeface="Overlock"/>
              </a:rPr>
              <a:t>.</a:t>
            </a:r>
            <a:endParaRPr dirty="0">
              <a:ea typeface="Overlock"/>
              <a:cs typeface="Overlock"/>
              <a:sym typeface="Overlock"/>
            </a:endParaRPr>
          </a:p>
          <a:p>
            <a:pPr marL="0" indent="0">
              <a:lnSpc>
                <a:spcPct val="115000"/>
              </a:lnSpc>
              <a:buSzPts val="1100"/>
            </a:pPr>
            <a:endParaRPr dirty="0">
              <a:ea typeface="Overlock"/>
              <a:cs typeface="Overlock"/>
              <a:sym typeface="Overlock"/>
            </a:endParaRPr>
          </a:p>
          <a:p>
            <a:pPr marL="0" indent="0">
              <a:lnSpc>
                <a:spcPct val="115000"/>
              </a:lnSpc>
              <a:buSzPts val="1800"/>
            </a:pPr>
            <a:endParaRPr dirty="0">
              <a:ea typeface="Overlock"/>
              <a:cs typeface="Overlock"/>
              <a:sym typeface="Overlock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8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chemeClr val="dk1"/>
              </a:buClr>
              <a:buSzPct val="39285"/>
            </a:pPr>
            <a:r>
              <a:rPr lang="en-US" dirty="0">
                <a:solidFill>
                  <a:srgbClr val="0F3570"/>
                </a:solidFill>
                <a:ea typeface="Overlock"/>
                <a:sym typeface="Overlock"/>
              </a:rPr>
              <a:t>Pseudo Labelling</a:t>
            </a:r>
            <a:endParaRPr dirty="0">
              <a:solidFill>
                <a:srgbClr val="0F3570"/>
              </a:solidFill>
              <a:ea typeface="Overlock"/>
              <a:sym typeface="Overlock"/>
            </a:endParaRPr>
          </a:p>
          <a:p>
            <a:pPr>
              <a:buSzPct val="115226"/>
            </a:pPr>
            <a:endParaRPr dirty="0"/>
          </a:p>
        </p:txBody>
      </p:sp>
      <p:sp>
        <p:nvSpPr>
          <p:cNvPr id="1154" name="Google Shape;1154;p86"/>
          <p:cNvSpPr txBox="1">
            <a:spLocks noGrp="1"/>
          </p:cNvSpPr>
          <p:nvPr>
            <p:ph idx="1"/>
          </p:nvPr>
        </p:nvSpPr>
        <p:spPr>
          <a:xfrm>
            <a:off x="90666" y="1176532"/>
            <a:ext cx="7224534" cy="500043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609570" indent="-448711">
              <a:buSzPts val="1700"/>
              <a:buFont typeface="Overlock"/>
              <a:buChar char="●"/>
            </a:pP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Manusia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tidak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hanya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belajar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dari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informasi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tetapi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mampu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memahami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suatu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berdasarkan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kesamaan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karakteristik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yang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dimiliki</a:t>
            </a:r>
            <a:endParaRPr sz="2400" dirty="0">
              <a:latin typeface="Overlock"/>
              <a:ea typeface="Overlock"/>
              <a:cs typeface="Overlock"/>
              <a:sym typeface="Overlock"/>
            </a:endParaRPr>
          </a:p>
          <a:p>
            <a:pPr marL="609570" indent="-448711">
              <a:buSzPts val="1700"/>
              <a:buFont typeface="Overlock"/>
              <a:buChar char="●"/>
            </a:pP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Bisakah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kita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membangun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sistem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yang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membutuhkan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pengawasan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minimal yang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dapat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mempelajari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sebagian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besar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tugas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sendiri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? </a:t>
            </a:r>
            <a:endParaRPr sz="2400" dirty="0">
              <a:latin typeface="Overlock"/>
              <a:ea typeface="Overlock"/>
              <a:cs typeface="Overlock"/>
              <a:sym typeface="Overlock"/>
            </a:endParaRPr>
          </a:p>
          <a:p>
            <a:pPr marL="609570" indent="-448711">
              <a:buSzPts val="1700"/>
              <a:buFont typeface="Overlock"/>
              <a:buChar char="●"/>
            </a:pP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Terdapat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berbagai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teknik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penerapan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semi-Supervised Learning, salah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satu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tekniknya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adalah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Teknik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Pelabelan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Pseudo </a:t>
            </a:r>
            <a:r>
              <a:rPr lang="en-US" sz="2400" dirty="0" err="1">
                <a:latin typeface="Overlock"/>
                <a:ea typeface="Overlock"/>
                <a:cs typeface="Overlock"/>
                <a:sym typeface="Overlock"/>
              </a:rPr>
              <a:t>atau</a:t>
            </a:r>
            <a:r>
              <a:rPr lang="en-US" sz="2400" dirty="0">
                <a:latin typeface="Overlock"/>
                <a:ea typeface="Overlock"/>
                <a:cs typeface="Overlock"/>
                <a:sym typeface="Overlock"/>
              </a:rPr>
              <a:t>  pseudo-labelling.</a:t>
            </a:r>
            <a:endParaRPr sz="3600" dirty="0">
              <a:latin typeface="Overlock"/>
              <a:ea typeface="Overlock"/>
              <a:cs typeface="Overlock"/>
              <a:sym typeface="Overlock"/>
            </a:endParaRPr>
          </a:p>
        </p:txBody>
      </p:sp>
      <p:pic>
        <p:nvPicPr>
          <p:cNvPr id="1155" name="Google Shape;1155;p8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04167" y="191069"/>
            <a:ext cx="4197167" cy="57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156" name="Google Shape;1156;p86"/>
          <p:cNvSpPr txBox="1"/>
          <p:nvPr/>
        </p:nvSpPr>
        <p:spPr>
          <a:xfrm>
            <a:off x="90666" y="5263284"/>
            <a:ext cx="7745600" cy="1107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US" sz="933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Ref :</a:t>
            </a:r>
            <a:endParaRPr sz="933" dirty="0">
              <a:solidFill>
                <a:schemeClr val="dk1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r>
              <a:rPr lang="en-US" sz="933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[4] Q. Xie, M.-T. Luong, E. Hovy, and Q.V. Le, “Self-training with noisy student improves ImageNet classification,” arXiv:1911.04252, 2020.</a:t>
            </a:r>
            <a:endParaRPr sz="933" dirty="0">
              <a:solidFill>
                <a:schemeClr val="dk1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r>
              <a:rPr lang="en-US" sz="933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[5] I.Z. </a:t>
            </a:r>
            <a:r>
              <a:rPr lang="en-US" sz="933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Yalniz</a:t>
            </a:r>
            <a:r>
              <a:rPr lang="en-US" sz="933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, H. Jégou, K. Chen, M. </a:t>
            </a:r>
            <a:r>
              <a:rPr lang="en-US" sz="933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Paluri</a:t>
            </a:r>
            <a:r>
              <a:rPr lang="en-US" sz="933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, and D. Mahajan, “Billion-scale semi-supervised learning for image classification,” arXiv:1905.00546, 2019.</a:t>
            </a:r>
            <a:endParaRPr sz="933" dirty="0">
              <a:solidFill>
                <a:schemeClr val="dk1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r>
              <a:rPr lang="en-US" sz="933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[6] K. Sohn, D. Berthelot, C.-L. Li, Z. Zhang, N. Carlini, E.D. </a:t>
            </a:r>
            <a:r>
              <a:rPr lang="en-US" sz="933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Cubuk</a:t>
            </a:r>
            <a:r>
              <a:rPr lang="en-US" sz="933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, A. Kurakin, H. Zhang, and C. Raffel, “</a:t>
            </a:r>
            <a:r>
              <a:rPr lang="en-US" sz="933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FixMatch</a:t>
            </a:r>
            <a:r>
              <a:rPr lang="en-US" sz="933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: Simplifying semi-supervised learning with consistency and confidence,” arXiv:2001.07685, 2020.</a:t>
            </a:r>
            <a:endParaRPr sz="933" dirty="0">
              <a:solidFill>
                <a:schemeClr val="dk1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8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rgbClr val="0F3570"/>
              </a:buClr>
              <a:buSzPct val="115226"/>
            </a:pPr>
            <a:r>
              <a:rPr lang="en-US" b="1" dirty="0">
                <a:solidFill>
                  <a:srgbClr val="0F3570"/>
                </a:solidFill>
                <a:ea typeface="Overlock"/>
                <a:sym typeface="Overlock"/>
              </a:rPr>
              <a:t>Human in The Loop (HITL)</a:t>
            </a:r>
            <a:endParaRPr b="1" dirty="0">
              <a:solidFill>
                <a:srgbClr val="0F3570"/>
              </a:solidFill>
              <a:ea typeface="Overlock"/>
              <a:sym typeface="Overlock"/>
            </a:endParaRPr>
          </a:p>
        </p:txBody>
      </p:sp>
      <p:sp>
        <p:nvSpPr>
          <p:cNvPr id="1162" name="Google Shape;1162;p87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 fontScale="92500" lnSpcReduction="20000"/>
          </a:bodyPr>
          <a:lstStyle/>
          <a:p>
            <a:pPr marL="0" indent="0" algn="ctr">
              <a:lnSpc>
                <a:spcPct val="115000"/>
              </a:lnSpc>
              <a:buSzPts val="1100"/>
              <a:buNone/>
            </a:pPr>
            <a:r>
              <a:rPr lang="en-US" sz="2933" b="1" dirty="0">
                <a:latin typeface="Overlock"/>
                <a:ea typeface="Overlock"/>
                <a:cs typeface="Overlock"/>
                <a:sym typeface="Overlock"/>
              </a:rPr>
              <a:t>Istilah Human-In-The-Loop paling </a:t>
            </a:r>
            <a:r>
              <a:rPr lang="en-US" sz="2933" b="1" dirty="0" err="1">
                <a:latin typeface="Overlock"/>
                <a:ea typeface="Overlock"/>
                <a:cs typeface="Overlock"/>
                <a:sym typeface="Overlock"/>
              </a:rPr>
              <a:t>sering</a:t>
            </a:r>
            <a:r>
              <a:rPr lang="en-US" sz="2933" b="1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933" b="1" dirty="0" err="1">
                <a:latin typeface="Overlock"/>
                <a:ea typeface="Overlock"/>
                <a:cs typeface="Overlock"/>
                <a:sym typeface="Overlock"/>
              </a:rPr>
              <a:t>mengacu</a:t>
            </a:r>
            <a:r>
              <a:rPr lang="en-US" sz="2933" b="1" dirty="0">
                <a:latin typeface="Overlock"/>
                <a:ea typeface="Overlock"/>
                <a:cs typeface="Overlock"/>
                <a:sym typeface="Overlock"/>
              </a:rPr>
              <a:t> pada </a:t>
            </a:r>
            <a:r>
              <a:rPr lang="en-US" sz="2933" b="1" dirty="0" err="1">
                <a:latin typeface="Overlock"/>
                <a:ea typeface="Overlock"/>
                <a:cs typeface="Overlock"/>
                <a:sym typeface="Overlock"/>
              </a:rPr>
              <a:t>pengawasan</a:t>
            </a:r>
            <a:r>
              <a:rPr lang="en-US" sz="2933" b="1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933" b="1" dirty="0" err="1">
                <a:latin typeface="Overlock"/>
                <a:ea typeface="Overlock"/>
                <a:cs typeface="Overlock"/>
                <a:sym typeface="Overlock"/>
              </a:rPr>
              <a:t>konstan</a:t>
            </a:r>
            <a:r>
              <a:rPr lang="en-US" sz="2933" b="1" dirty="0">
                <a:latin typeface="Overlock"/>
                <a:ea typeface="Overlock"/>
                <a:cs typeface="Overlock"/>
                <a:sym typeface="Overlock"/>
              </a:rPr>
              <a:t> dan </a:t>
            </a:r>
            <a:r>
              <a:rPr lang="en-US" sz="2933" b="1" dirty="0" err="1">
                <a:latin typeface="Overlock"/>
                <a:ea typeface="Overlock"/>
                <a:cs typeface="Overlock"/>
                <a:sym typeface="Overlock"/>
              </a:rPr>
              <a:t>validasi</a:t>
            </a:r>
            <a:r>
              <a:rPr lang="en-US" sz="2933" b="1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933" b="1" dirty="0" err="1">
                <a:latin typeface="Overlock"/>
                <a:ea typeface="Overlock"/>
                <a:cs typeface="Overlock"/>
                <a:sym typeface="Overlock"/>
              </a:rPr>
              <a:t>hasil</a:t>
            </a:r>
            <a:r>
              <a:rPr lang="en-US" sz="2933" b="1" dirty="0">
                <a:latin typeface="Overlock"/>
                <a:ea typeface="Overlock"/>
                <a:cs typeface="Overlock"/>
                <a:sym typeface="Overlock"/>
              </a:rPr>
              <a:t> model AI oleh </a:t>
            </a:r>
            <a:r>
              <a:rPr lang="en-US" sz="2933" b="1" dirty="0" err="1">
                <a:latin typeface="Overlock"/>
                <a:ea typeface="Overlock"/>
                <a:cs typeface="Overlock"/>
                <a:sym typeface="Overlock"/>
              </a:rPr>
              <a:t>manusia</a:t>
            </a:r>
            <a:r>
              <a:rPr lang="en-US" sz="2933" b="1" dirty="0">
                <a:latin typeface="Overlock"/>
                <a:ea typeface="Overlock"/>
                <a:cs typeface="Overlock"/>
                <a:sym typeface="Overlock"/>
              </a:rPr>
              <a:t>.</a:t>
            </a:r>
            <a:endParaRPr sz="2933" b="1" dirty="0">
              <a:latin typeface="Overlock"/>
              <a:ea typeface="Overlock"/>
              <a:cs typeface="Overlock"/>
              <a:sym typeface="Overlock"/>
            </a:endParaRPr>
          </a:p>
          <a:p>
            <a:pPr marL="0" indent="0">
              <a:lnSpc>
                <a:spcPct val="115000"/>
              </a:lnSpc>
              <a:buSzPts val="1100"/>
            </a:pPr>
            <a:endParaRPr sz="2300" dirty="0">
              <a:latin typeface="Overlock"/>
              <a:ea typeface="Overlock"/>
              <a:cs typeface="Overlock"/>
              <a:sym typeface="Overlock"/>
            </a:endParaRPr>
          </a:p>
          <a:p>
            <a:pPr marL="0" indent="0">
              <a:lnSpc>
                <a:spcPct val="115000"/>
              </a:lnSpc>
              <a:buSzPts val="1100"/>
              <a:buNone/>
            </a:pPr>
            <a:r>
              <a:rPr lang="en-US" sz="2300" dirty="0">
                <a:latin typeface="Overlock"/>
                <a:ea typeface="Overlock"/>
                <a:cs typeface="Overlock"/>
                <a:sym typeface="Overlock"/>
              </a:rPr>
              <a:t>Ada dua </a:t>
            </a:r>
            <a:r>
              <a:rPr lang="en-US" sz="2300" dirty="0" err="1">
                <a:latin typeface="Overlock"/>
                <a:ea typeface="Overlock"/>
                <a:cs typeface="Overlock"/>
                <a:sym typeface="Overlock"/>
              </a:rPr>
              <a:t>cara</a:t>
            </a:r>
            <a:r>
              <a:rPr lang="en-US" sz="23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300" dirty="0" err="1">
                <a:latin typeface="Overlock"/>
                <a:ea typeface="Overlock"/>
                <a:cs typeface="Overlock"/>
                <a:sym typeface="Overlock"/>
              </a:rPr>
              <a:t>utama</a:t>
            </a:r>
            <a:r>
              <a:rPr lang="en-US" sz="2300" dirty="0">
                <a:latin typeface="Overlock"/>
                <a:ea typeface="Overlock"/>
                <a:cs typeface="Overlock"/>
                <a:sym typeface="Overlock"/>
              </a:rPr>
              <a:t> di mana </a:t>
            </a:r>
            <a:r>
              <a:rPr lang="en-US" sz="2300" dirty="0" err="1">
                <a:latin typeface="Overlock"/>
                <a:ea typeface="Overlock"/>
                <a:cs typeface="Overlock"/>
                <a:sym typeface="Overlock"/>
              </a:rPr>
              <a:t>manusia</a:t>
            </a:r>
            <a:r>
              <a:rPr lang="en-US" sz="23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300" dirty="0" err="1">
                <a:latin typeface="Overlock"/>
                <a:ea typeface="Overlock"/>
                <a:cs typeface="Overlock"/>
                <a:sym typeface="Overlock"/>
              </a:rPr>
              <a:t>menjadi</a:t>
            </a:r>
            <a:r>
              <a:rPr lang="en-US" sz="23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300" dirty="0" err="1">
                <a:latin typeface="Overlock"/>
                <a:ea typeface="Overlock"/>
                <a:cs typeface="Overlock"/>
                <a:sym typeface="Overlock"/>
              </a:rPr>
              <a:t>bagian</a:t>
            </a:r>
            <a:r>
              <a:rPr lang="en-US" sz="23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300" dirty="0" err="1">
                <a:latin typeface="Overlock"/>
                <a:ea typeface="Overlock"/>
                <a:cs typeface="Overlock"/>
                <a:sym typeface="Overlock"/>
              </a:rPr>
              <a:t>dari</a:t>
            </a:r>
            <a:r>
              <a:rPr lang="en-US" sz="2300" dirty="0">
                <a:latin typeface="Overlock"/>
                <a:ea typeface="Overlock"/>
                <a:cs typeface="Overlock"/>
                <a:sym typeface="Overlock"/>
              </a:rPr>
              <a:t> loop Machine Learning:</a:t>
            </a:r>
            <a:endParaRPr sz="2300" dirty="0">
              <a:latin typeface="Overlock"/>
              <a:ea typeface="Overlock"/>
              <a:cs typeface="Overlock"/>
              <a:sym typeface="Overlock"/>
            </a:endParaRPr>
          </a:p>
          <a:p>
            <a:pPr marL="609570" indent="-440245">
              <a:lnSpc>
                <a:spcPct val="115000"/>
              </a:lnSpc>
              <a:buSzPts val="1600"/>
              <a:buFont typeface="Overlock"/>
              <a:buChar char="●"/>
            </a:pPr>
            <a:r>
              <a:rPr lang="en-US" sz="2300" dirty="0" err="1">
                <a:latin typeface="Overlock"/>
                <a:ea typeface="Overlock"/>
                <a:cs typeface="Overlock"/>
                <a:sym typeface="Overlock"/>
              </a:rPr>
              <a:t>Memberi</a:t>
            </a:r>
            <a:r>
              <a:rPr lang="en-US" sz="2300" dirty="0">
                <a:latin typeface="Overlock"/>
                <a:ea typeface="Overlock"/>
                <a:cs typeface="Overlock"/>
                <a:sym typeface="Overlock"/>
              </a:rPr>
              <a:t> label pada data </a:t>
            </a:r>
            <a:r>
              <a:rPr lang="en-US" sz="2300" dirty="0" err="1">
                <a:latin typeface="Overlock"/>
                <a:ea typeface="Overlock"/>
                <a:cs typeface="Overlock"/>
                <a:sym typeface="Overlock"/>
              </a:rPr>
              <a:t>pelatihan</a:t>
            </a:r>
            <a:r>
              <a:rPr lang="en-US" sz="2300" dirty="0">
                <a:latin typeface="Overlock"/>
                <a:ea typeface="Overlock"/>
                <a:cs typeface="Overlock"/>
                <a:sym typeface="Overlock"/>
              </a:rPr>
              <a:t>: </a:t>
            </a:r>
            <a:r>
              <a:rPr lang="en-US" sz="2300" dirty="0" err="1">
                <a:latin typeface="Overlock"/>
                <a:ea typeface="Overlock"/>
                <a:cs typeface="Overlock"/>
                <a:sym typeface="Overlock"/>
              </a:rPr>
              <a:t>Seorang</a:t>
            </a:r>
            <a:r>
              <a:rPr lang="en-US" sz="23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300" dirty="0" err="1">
                <a:latin typeface="Overlock"/>
                <a:ea typeface="Overlock"/>
                <a:cs typeface="Overlock"/>
                <a:sym typeface="Overlock"/>
              </a:rPr>
              <a:t>anotator</a:t>
            </a:r>
            <a:r>
              <a:rPr lang="en-US" sz="2300" dirty="0">
                <a:latin typeface="Overlock"/>
                <a:ea typeface="Overlock"/>
                <a:cs typeface="Overlock"/>
                <a:sym typeface="Overlock"/>
              </a:rPr>
              <a:t>  (</a:t>
            </a:r>
            <a:r>
              <a:rPr lang="en-US" sz="2300" i="1" dirty="0">
                <a:latin typeface="Overlock"/>
                <a:ea typeface="Overlock"/>
                <a:cs typeface="Overlock"/>
                <a:sym typeface="Overlock"/>
              </a:rPr>
              <a:t>experts</a:t>
            </a:r>
            <a:r>
              <a:rPr lang="en-US" sz="2300" dirty="0">
                <a:latin typeface="Overlock"/>
                <a:ea typeface="Overlock"/>
                <a:cs typeface="Overlock"/>
                <a:sym typeface="Overlock"/>
              </a:rPr>
              <a:t>) </a:t>
            </a:r>
            <a:r>
              <a:rPr lang="en-US" sz="2300" dirty="0" err="1">
                <a:latin typeface="Overlock"/>
                <a:ea typeface="Overlock"/>
                <a:cs typeface="Overlock"/>
                <a:sym typeface="Overlock"/>
              </a:rPr>
              <a:t>diwajibkan</a:t>
            </a:r>
            <a:r>
              <a:rPr lang="en-US" sz="23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300" dirty="0" err="1">
                <a:latin typeface="Overlock"/>
                <a:ea typeface="Overlock"/>
                <a:cs typeface="Overlock"/>
                <a:sym typeface="Overlock"/>
              </a:rPr>
              <a:t>untuk</a:t>
            </a:r>
            <a:r>
              <a:rPr lang="en-US" sz="23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300" dirty="0" err="1">
                <a:latin typeface="Overlock"/>
                <a:ea typeface="Overlock"/>
                <a:cs typeface="Overlock"/>
                <a:sym typeface="Overlock"/>
              </a:rPr>
              <a:t>memberi</a:t>
            </a:r>
            <a:r>
              <a:rPr lang="en-US" sz="2300" dirty="0">
                <a:latin typeface="Overlock"/>
                <a:ea typeface="Overlock"/>
                <a:cs typeface="Overlock"/>
                <a:sym typeface="Overlock"/>
              </a:rPr>
              <a:t> label pada data </a:t>
            </a:r>
            <a:r>
              <a:rPr lang="en-US" sz="2300" dirty="0" err="1">
                <a:latin typeface="Overlock"/>
                <a:ea typeface="Overlock"/>
                <a:cs typeface="Overlock"/>
                <a:sym typeface="Overlock"/>
              </a:rPr>
              <a:t>pelatihan</a:t>
            </a:r>
            <a:r>
              <a:rPr lang="en-US" sz="2300" dirty="0">
                <a:latin typeface="Overlock"/>
                <a:ea typeface="Overlock"/>
                <a:cs typeface="Overlock"/>
                <a:sym typeface="Overlock"/>
              </a:rPr>
              <a:t> yang </a:t>
            </a:r>
            <a:r>
              <a:rPr lang="en-US" sz="2300" dirty="0" err="1">
                <a:latin typeface="Overlock"/>
                <a:ea typeface="Overlock"/>
                <a:cs typeface="Overlock"/>
                <a:sym typeface="Overlock"/>
              </a:rPr>
              <a:t>diumpankan</a:t>
            </a:r>
            <a:r>
              <a:rPr lang="en-US" sz="23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300" dirty="0" err="1">
                <a:latin typeface="Overlock"/>
                <a:ea typeface="Overlock"/>
                <a:cs typeface="Overlock"/>
                <a:sym typeface="Overlock"/>
              </a:rPr>
              <a:t>ke</a:t>
            </a:r>
            <a:r>
              <a:rPr lang="en-US" sz="2300" dirty="0">
                <a:latin typeface="Overlock"/>
                <a:ea typeface="Overlock"/>
                <a:cs typeface="Overlock"/>
                <a:sym typeface="Overlock"/>
              </a:rPr>
              <a:t> model </a:t>
            </a:r>
            <a:r>
              <a:rPr lang="en-US" sz="2300" dirty="0" err="1">
                <a:latin typeface="Overlock"/>
                <a:ea typeface="Overlock"/>
                <a:cs typeface="Overlock"/>
                <a:sym typeface="Overlock"/>
              </a:rPr>
              <a:t>pembelajaran</a:t>
            </a:r>
            <a:r>
              <a:rPr lang="en-US" sz="23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300" dirty="0" err="1">
                <a:latin typeface="Overlock"/>
                <a:ea typeface="Overlock"/>
                <a:cs typeface="Overlock"/>
                <a:sym typeface="Overlock"/>
              </a:rPr>
              <a:t>mesin</a:t>
            </a:r>
            <a:r>
              <a:rPr lang="en-US" sz="2300" dirty="0">
                <a:latin typeface="Overlock"/>
                <a:ea typeface="Overlock"/>
                <a:cs typeface="Overlock"/>
                <a:sym typeface="Overlock"/>
              </a:rPr>
              <a:t> (</a:t>
            </a:r>
            <a:r>
              <a:rPr lang="en-US" sz="2300" dirty="0" err="1">
                <a:latin typeface="Overlock"/>
                <a:ea typeface="Overlock"/>
                <a:cs typeface="Overlock"/>
                <a:sym typeface="Overlock"/>
              </a:rPr>
              <a:t>diawasi</a:t>
            </a:r>
            <a:r>
              <a:rPr lang="en-US" sz="2300" dirty="0">
                <a:latin typeface="Overlock"/>
                <a:ea typeface="Overlock"/>
                <a:cs typeface="Overlock"/>
                <a:sym typeface="Overlock"/>
              </a:rPr>
              <a:t>/semi-</a:t>
            </a:r>
            <a:r>
              <a:rPr lang="en-US" sz="2300" dirty="0" err="1">
                <a:latin typeface="Overlock"/>
                <a:ea typeface="Overlock"/>
                <a:cs typeface="Overlock"/>
                <a:sym typeface="Overlock"/>
              </a:rPr>
              <a:t>diawasi</a:t>
            </a:r>
            <a:r>
              <a:rPr lang="en-US" sz="2300" dirty="0">
                <a:latin typeface="Overlock"/>
                <a:ea typeface="Overlock"/>
                <a:cs typeface="Overlock"/>
                <a:sym typeface="Overlock"/>
              </a:rPr>
              <a:t>).</a:t>
            </a:r>
            <a:endParaRPr sz="2300" dirty="0">
              <a:latin typeface="Overlock"/>
              <a:ea typeface="Overlock"/>
              <a:cs typeface="Overlock"/>
              <a:sym typeface="Overlock"/>
            </a:endParaRPr>
          </a:p>
          <a:p>
            <a:pPr marL="609570" indent="-440245">
              <a:lnSpc>
                <a:spcPct val="115000"/>
              </a:lnSpc>
              <a:buSzPts val="1600"/>
              <a:buFont typeface="Overlock"/>
              <a:buChar char="●"/>
            </a:pPr>
            <a:r>
              <a:rPr lang="en-US" sz="2300" dirty="0" err="1">
                <a:latin typeface="Overlock"/>
                <a:ea typeface="Overlock"/>
                <a:cs typeface="Overlock"/>
                <a:sym typeface="Overlock"/>
              </a:rPr>
              <a:t>Melatih</a:t>
            </a:r>
            <a:r>
              <a:rPr lang="en-US" sz="2300" dirty="0">
                <a:latin typeface="Overlock"/>
                <a:ea typeface="Overlock"/>
                <a:cs typeface="Overlock"/>
                <a:sym typeface="Overlock"/>
              </a:rPr>
              <a:t> model: Data scientist </a:t>
            </a:r>
            <a:r>
              <a:rPr lang="en-US" sz="2300" dirty="0" err="1">
                <a:latin typeface="Overlock"/>
                <a:ea typeface="Overlock"/>
                <a:cs typeface="Overlock"/>
                <a:sym typeface="Overlock"/>
              </a:rPr>
              <a:t>melatih</a:t>
            </a:r>
            <a:r>
              <a:rPr lang="en-US" sz="2300" dirty="0">
                <a:latin typeface="Overlock"/>
                <a:ea typeface="Overlock"/>
                <a:cs typeface="Overlock"/>
                <a:sym typeface="Overlock"/>
              </a:rPr>
              <a:t> model </a:t>
            </a:r>
            <a:r>
              <a:rPr lang="en-US" sz="2300" dirty="0" err="1">
                <a:latin typeface="Overlock"/>
                <a:ea typeface="Overlock"/>
                <a:cs typeface="Overlock"/>
                <a:sym typeface="Overlock"/>
              </a:rPr>
              <a:t>dengan</a:t>
            </a:r>
            <a:r>
              <a:rPr lang="en-US" sz="23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300" dirty="0" err="1">
                <a:latin typeface="Overlock"/>
                <a:ea typeface="Overlock"/>
                <a:cs typeface="Overlock"/>
                <a:sym typeface="Overlock"/>
              </a:rPr>
              <a:t>terus-menerus</a:t>
            </a:r>
            <a:r>
              <a:rPr lang="en-US" sz="23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300" dirty="0" err="1">
                <a:latin typeface="Overlock"/>
                <a:ea typeface="Overlock"/>
                <a:cs typeface="Overlock"/>
                <a:sym typeface="Overlock"/>
              </a:rPr>
              <a:t>mengawasi</a:t>
            </a:r>
            <a:r>
              <a:rPr lang="en-US" sz="2300" dirty="0">
                <a:latin typeface="Overlock"/>
                <a:ea typeface="Overlock"/>
                <a:cs typeface="Overlock"/>
                <a:sym typeface="Overlock"/>
              </a:rPr>
              <a:t> detail model </a:t>
            </a:r>
            <a:r>
              <a:rPr lang="en-US" sz="2300" dirty="0" err="1">
                <a:latin typeface="Overlock"/>
                <a:ea typeface="Overlock"/>
                <a:cs typeface="Overlock"/>
                <a:sym typeface="Overlock"/>
              </a:rPr>
              <a:t>seperti</a:t>
            </a:r>
            <a:r>
              <a:rPr lang="en-US" sz="23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300" dirty="0" err="1">
                <a:latin typeface="Overlock"/>
                <a:ea typeface="Overlock"/>
                <a:cs typeface="Overlock"/>
                <a:sym typeface="Overlock"/>
              </a:rPr>
              <a:t>fungsi</a:t>
            </a:r>
            <a:r>
              <a:rPr lang="en-US" sz="23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300" dirty="0" err="1">
                <a:latin typeface="Overlock"/>
                <a:ea typeface="Overlock"/>
                <a:cs typeface="Overlock"/>
                <a:sym typeface="Overlock"/>
              </a:rPr>
              <a:t>kerugian</a:t>
            </a:r>
            <a:r>
              <a:rPr lang="en-US" sz="2300" dirty="0">
                <a:latin typeface="Overlock"/>
                <a:ea typeface="Overlock"/>
                <a:cs typeface="Overlock"/>
                <a:sym typeface="Overlock"/>
              </a:rPr>
              <a:t> (</a:t>
            </a:r>
            <a:r>
              <a:rPr lang="en-US" sz="2300" i="1" dirty="0">
                <a:latin typeface="Overlock"/>
                <a:ea typeface="Overlock"/>
                <a:cs typeface="Overlock"/>
                <a:sym typeface="Overlock"/>
              </a:rPr>
              <a:t>loss function</a:t>
            </a:r>
            <a:r>
              <a:rPr lang="en-US" sz="2300" dirty="0">
                <a:latin typeface="Overlock"/>
                <a:ea typeface="Overlock"/>
                <a:cs typeface="Overlock"/>
                <a:sym typeface="Overlock"/>
              </a:rPr>
              <a:t>) dan </a:t>
            </a:r>
            <a:r>
              <a:rPr lang="en-US" sz="2300" dirty="0" err="1">
                <a:latin typeface="Overlock"/>
                <a:ea typeface="Overlock"/>
                <a:cs typeface="Overlock"/>
                <a:sym typeface="Overlock"/>
              </a:rPr>
              <a:t>hasil</a:t>
            </a:r>
            <a:r>
              <a:rPr lang="en-US" sz="23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300" dirty="0" err="1">
                <a:latin typeface="Overlock"/>
                <a:ea typeface="Overlock"/>
                <a:cs typeface="Overlock"/>
                <a:sym typeface="Overlock"/>
              </a:rPr>
              <a:t>prediksi</a:t>
            </a:r>
            <a:r>
              <a:rPr lang="en-US" sz="2300" dirty="0">
                <a:latin typeface="Overlock"/>
                <a:ea typeface="Overlock"/>
                <a:cs typeface="Overlock"/>
                <a:sym typeface="Overlock"/>
              </a:rPr>
              <a:t>. </a:t>
            </a:r>
            <a:endParaRPr sz="2300" dirty="0">
              <a:latin typeface="Overlock"/>
              <a:ea typeface="Overlock"/>
              <a:cs typeface="Overlock"/>
              <a:sym typeface="Overlock"/>
            </a:endParaRPr>
          </a:p>
          <a:p>
            <a:pPr marL="609570" indent="-440245">
              <a:lnSpc>
                <a:spcPct val="115000"/>
              </a:lnSpc>
              <a:buSzPts val="1600"/>
              <a:buFont typeface="Overlock"/>
              <a:buChar char="●"/>
            </a:pPr>
            <a:r>
              <a:rPr lang="en-US" sz="2300" dirty="0" err="1">
                <a:latin typeface="Overlock"/>
                <a:ea typeface="Overlock"/>
                <a:cs typeface="Overlock"/>
                <a:sym typeface="Overlock"/>
              </a:rPr>
              <a:t>Terkadang</a:t>
            </a:r>
            <a:r>
              <a:rPr lang="en-US" sz="23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300" dirty="0" err="1">
                <a:latin typeface="Overlock"/>
                <a:ea typeface="Overlock"/>
                <a:cs typeface="Overlock"/>
                <a:sym typeface="Overlock"/>
              </a:rPr>
              <a:t>kinerja</a:t>
            </a:r>
            <a:r>
              <a:rPr lang="en-US" sz="2300" dirty="0">
                <a:latin typeface="Overlock"/>
                <a:ea typeface="Overlock"/>
                <a:cs typeface="Overlock"/>
                <a:sym typeface="Overlock"/>
              </a:rPr>
              <a:t> model dan </a:t>
            </a:r>
            <a:r>
              <a:rPr lang="en-US" sz="2300" dirty="0" err="1">
                <a:latin typeface="Overlock"/>
                <a:ea typeface="Overlock"/>
                <a:cs typeface="Overlock"/>
                <a:sym typeface="Overlock"/>
              </a:rPr>
              <a:t>prediksi</a:t>
            </a:r>
            <a:r>
              <a:rPr lang="en-US" sz="23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300" dirty="0" err="1">
                <a:latin typeface="Overlock"/>
                <a:ea typeface="Overlock"/>
                <a:cs typeface="Overlock"/>
                <a:sym typeface="Overlock"/>
              </a:rPr>
              <a:t>divalidasi</a:t>
            </a:r>
            <a:r>
              <a:rPr lang="en-US" sz="2300" dirty="0">
                <a:latin typeface="Overlock"/>
                <a:ea typeface="Overlock"/>
                <a:cs typeface="Overlock"/>
                <a:sym typeface="Overlock"/>
              </a:rPr>
              <a:t> oleh </a:t>
            </a:r>
            <a:r>
              <a:rPr lang="en-US" sz="2300" dirty="0" err="1">
                <a:latin typeface="Overlock"/>
                <a:ea typeface="Overlock"/>
                <a:cs typeface="Overlock"/>
                <a:sym typeface="Overlock"/>
              </a:rPr>
              <a:t>manusia</a:t>
            </a:r>
            <a:r>
              <a:rPr lang="en-US" sz="2300" dirty="0">
                <a:latin typeface="Overlock"/>
                <a:ea typeface="Overlock"/>
                <a:cs typeface="Overlock"/>
                <a:sym typeface="Overlock"/>
              </a:rPr>
              <a:t> dan </a:t>
            </a:r>
            <a:r>
              <a:rPr lang="en-US" sz="2300" dirty="0" err="1">
                <a:latin typeface="Overlock"/>
                <a:ea typeface="Overlock"/>
                <a:cs typeface="Overlock"/>
                <a:sym typeface="Overlock"/>
              </a:rPr>
              <a:t>hasil</a:t>
            </a:r>
            <a:r>
              <a:rPr lang="en-US" sz="23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300" dirty="0" err="1">
                <a:latin typeface="Overlock"/>
                <a:ea typeface="Overlock"/>
                <a:cs typeface="Overlock"/>
                <a:sym typeface="Overlock"/>
              </a:rPr>
              <a:t>validasi</a:t>
            </a:r>
            <a:r>
              <a:rPr lang="en-US" sz="23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300" dirty="0" err="1">
                <a:latin typeface="Overlock"/>
                <a:ea typeface="Overlock"/>
                <a:cs typeface="Overlock"/>
                <a:sym typeface="Overlock"/>
              </a:rPr>
              <a:t>diumpankan</a:t>
            </a:r>
            <a:r>
              <a:rPr lang="en-US" sz="23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300" dirty="0" err="1">
                <a:latin typeface="Overlock"/>
                <a:ea typeface="Overlock"/>
                <a:cs typeface="Overlock"/>
                <a:sym typeface="Overlock"/>
              </a:rPr>
              <a:t>kembali</a:t>
            </a:r>
            <a:r>
              <a:rPr lang="en-US" sz="23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300" dirty="0" err="1">
                <a:latin typeface="Overlock"/>
                <a:ea typeface="Overlock"/>
                <a:cs typeface="Overlock"/>
                <a:sym typeface="Overlock"/>
              </a:rPr>
              <a:t>ke</a:t>
            </a:r>
            <a:r>
              <a:rPr lang="en-US" sz="2300" dirty="0">
                <a:latin typeface="Overlock"/>
                <a:ea typeface="Overlock"/>
                <a:cs typeface="Overlock"/>
                <a:sym typeface="Overlock"/>
              </a:rPr>
              <a:t> model.</a:t>
            </a:r>
            <a:endParaRPr sz="2300" dirty="0">
              <a:latin typeface="Overlock"/>
              <a:ea typeface="Overlock"/>
              <a:cs typeface="Overlock"/>
              <a:sym typeface="Overlock"/>
            </a:endParaRPr>
          </a:p>
          <a:p>
            <a:pPr marL="0" indent="0">
              <a:lnSpc>
                <a:spcPct val="115000"/>
              </a:lnSpc>
              <a:buSzPts val="1800"/>
            </a:pPr>
            <a:endParaRPr dirty="0">
              <a:latin typeface="Overlock"/>
              <a:ea typeface="Overlock"/>
              <a:cs typeface="Overlock"/>
              <a:sym typeface="Overlock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8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SzPct val="115226"/>
            </a:pPr>
            <a:r>
              <a:rPr lang="en-US" dirty="0" err="1">
                <a:ea typeface="Overlock"/>
                <a:sym typeface="Overlock"/>
              </a:rPr>
              <a:t>Pendekatan</a:t>
            </a:r>
            <a:r>
              <a:rPr lang="en-US" dirty="0">
                <a:ea typeface="Overlock"/>
                <a:sym typeface="Overlock"/>
              </a:rPr>
              <a:t> </a:t>
            </a:r>
            <a:r>
              <a:rPr lang="en-US" dirty="0" err="1">
                <a:ea typeface="Overlock"/>
                <a:sym typeface="Overlock"/>
              </a:rPr>
              <a:t>Pelabelan</a:t>
            </a:r>
            <a:r>
              <a:rPr lang="en-US" dirty="0">
                <a:ea typeface="Overlock"/>
                <a:sym typeface="Overlock"/>
              </a:rPr>
              <a:t> Data</a:t>
            </a:r>
            <a:endParaRPr dirty="0">
              <a:ea typeface="Overlock"/>
              <a:sym typeface="Overlock"/>
            </a:endParaRPr>
          </a:p>
        </p:txBody>
      </p:sp>
      <p:sp>
        <p:nvSpPr>
          <p:cNvPr id="1168" name="Google Shape;1168;p88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609570" indent="-440245">
              <a:lnSpc>
                <a:spcPct val="115000"/>
              </a:lnSpc>
              <a:buSzPts val="1600"/>
              <a:buFont typeface="Overlock"/>
              <a:buChar char="●"/>
            </a:pPr>
            <a:r>
              <a:rPr lang="en-US" sz="2133" dirty="0" err="1">
                <a:latin typeface="Overlock"/>
                <a:ea typeface="Overlock"/>
                <a:cs typeface="Overlock"/>
                <a:sym typeface="Overlock"/>
              </a:rPr>
              <a:t>Pendekatan</a:t>
            </a:r>
            <a:r>
              <a:rPr lang="en-US" sz="2133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33" dirty="0" err="1">
                <a:latin typeface="Overlock"/>
                <a:ea typeface="Overlock"/>
                <a:cs typeface="Overlock"/>
                <a:sym typeface="Overlock"/>
              </a:rPr>
              <a:t>pelabelan</a:t>
            </a:r>
            <a:r>
              <a:rPr lang="en-US" sz="2133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33" dirty="0" err="1">
                <a:latin typeface="Overlock"/>
                <a:ea typeface="Overlock"/>
                <a:cs typeface="Overlock"/>
                <a:sym typeface="Overlock"/>
              </a:rPr>
              <a:t>bergantung</a:t>
            </a:r>
            <a:r>
              <a:rPr lang="en-US" sz="2133" dirty="0">
                <a:latin typeface="Overlock"/>
                <a:ea typeface="Overlock"/>
                <a:cs typeface="Overlock"/>
                <a:sym typeface="Overlock"/>
              </a:rPr>
              <a:t> pada </a:t>
            </a:r>
            <a:r>
              <a:rPr lang="en-US" sz="2133" dirty="0" err="1">
                <a:solidFill>
                  <a:srgbClr val="00717D"/>
                </a:solidFill>
                <a:latin typeface="Overlock"/>
                <a:ea typeface="Overlock"/>
                <a:cs typeface="Overlock"/>
                <a:sym typeface="Overlock"/>
              </a:rPr>
              <a:t>pernyataan</a:t>
            </a:r>
            <a:r>
              <a:rPr lang="en-US" sz="2133" dirty="0">
                <a:solidFill>
                  <a:srgbClr val="00717D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33" dirty="0" err="1">
                <a:solidFill>
                  <a:srgbClr val="00717D"/>
                </a:solidFill>
                <a:latin typeface="Overlock"/>
                <a:ea typeface="Overlock"/>
                <a:cs typeface="Overlock"/>
                <a:sym typeface="Overlock"/>
              </a:rPr>
              <a:t>masalah</a:t>
            </a:r>
            <a:r>
              <a:rPr lang="en-US" sz="2133" dirty="0">
                <a:latin typeface="Overlock"/>
                <a:ea typeface="Overlock"/>
                <a:cs typeface="Overlock"/>
                <a:sym typeface="Overlock"/>
              </a:rPr>
              <a:t>, </a:t>
            </a:r>
            <a:r>
              <a:rPr lang="en-US" sz="2133" dirty="0" err="1">
                <a:solidFill>
                  <a:srgbClr val="00717D"/>
                </a:solidFill>
                <a:latin typeface="Overlock"/>
                <a:ea typeface="Overlock"/>
                <a:cs typeface="Overlock"/>
                <a:sym typeface="Overlock"/>
              </a:rPr>
              <a:t>kerangka</a:t>
            </a:r>
            <a:r>
              <a:rPr lang="en-US" sz="2133" dirty="0">
                <a:solidFill>
                  <a:srgbClr val="00717D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33" dirty="0" err="1">
                <a:solidFill>
                  <a:srgbClr val="00717D"/>
                </a:solidFill>
                <a:latin typeface="Overlock"/>
                <a:ea typeface="Overlock"/>
                <a:cs typeface="Overlock"/>
                <a:sym typeface="Overlock"/>
              </a:rPr>
              <a:t>waktu</a:t>
            </a:r>
            <a:r>
              <a:rPr lang="en-US" sz="2133" dirty="0">
                <a:solidFill>
                  <a:srgbClr val="00717D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33" dirty="0" err="1">
                <a:solidFill>
                  <a:srgbClr val="00717D"/>
                </a:solidFill>
                <a:latin typeface="Overlock"/>
                <a:ea typeface="Overlock"/>
                <a:cs typeface="Overlock"/>
                <a:sym typeface="Overlock"/>
              </a:rPr>
              <a:t>proyek</a:t>
            </a:r>
            <a:r>
              <a:rPr lang="en-US" sz="2133" dirty="0">
                <a:latin typeface="Overlock"/>
                <a:ea typeface="Overlock"/>
                <a:cs typeface="Overlock"/>
                <a:sym typeface="Overlock"/>
              </a:rPr>
              <a:t>, dan </a:t>
            </a:r>
            <a:r>
              <a:rPr lang="en-US" sz="2133" dirty="0" err="1">
                <a:solidFill>
                  <a:srgbClr val="00717D"/>
                </a:solidFill>
                <a:latin typeface="Overlock"/>
                <a:ea typeface="Overlock"/>
                <a:cs typeface="Overlock"/>
                <a:sym typeface="Overlock"/>
              </a:rPr>
              <a:t>jumlah</a:t>
            </a:r>
            <a:r>
              <a:rPr lang="en-US" sz="2133" dirty="0">
                <a:solidFill>
                  <a:srgbClr val="00717D"/>
                </a:solidFill>
                <a:latin typeface="Overlock"/>
                <a:ea typeface="Overlock"/>
                <a:cs typeface="Overlock"/>
                <a:sym typeface="Overlock"/>
              </a:rPr>
              <a:t> orang</a:t>
            </a:r>
            <a:r>
              <a:rPr lang="en-US" sz="2133" dirty="0">
                <a:latin typeface="Overlock"/>
                <a:ea typeface="Overlock"/>
                <a:cs typeface="Overlock"/>
                <a:sym typeface="Overlock"/>
              </a:rPr>
              <a:t> yang </a:t>
            </a:r>
            <a:r>
              <a:rPr lang="en-US" sz="2133" dirty="0" err="1">
                <a:latin typeface="Overlock"/>
                <a:ea typeface="Overlock"/>
                <a:cs typeface="Overlock"/>
                <a:sym typeface="Overlock"/>
              </a:rPr>
              <a:t>terkait</a:t>
            </a:r>
            <a:r>
              <a:rPr lang="en-US" sz="2133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33" dirty="0" err="1">
                <a:latin typeface="Overlock"/>
                <a:ea typeface="Overlock"/>
                <a:cs typeface="Overlock"/>
                <a:sym typeface="Overlock"/>
              </a:rPr>
              <a:t>dengan</a:t>
            </a:r>
            <a:r>
              <a:rPr lang="en-US" sz="2133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33" dirty="0" err="1">
                <a:latin typeface="Overlock"/>
                <a:ea typeface="Overlock"/>
                <a:cs typeface="Overlock"/>
                <a:sym typeface="Overlock"/>
              </a:rPr>
              <a:t>pekerjaan</a:t>
            </a:r>
            <a:r>
              <a:rPr lang="en-US" sz="2133" dirty="0">
                <a:latin typeface="Overlock"/>
                <a:ea typeface="Overlock"/>
                <a:cs typeface="Overlock"/>
                <a:sym typeface="Overlock"/>
              </a:rPr>
              <a:t>.</a:t>
            </a:r>
            <a:endParaRPr sz="2133" dirty="0">
              <a:latin typeface="Overlock"/>
              <a:ea typeface="Overlock"/>
              <a:cs typeface="Overlock"/>
              <a:sym typeface="Overlock"/>
            </a:endParaRPr>
          </a:p>
          <a:p>
            <a:pPr marL="609570" indent="-440245">
              <a:lnSpc>
                <a:spcPct val="115000"/>
              </a:lnSpc>
              <a:buSzPts val="1600"/>
              <a:buFont typeface="Overlock"/>
              <a:buChar char="●"/>
            </a:pPr>
            <a:r>
              <a:rPr lang="en-US" sz="2133" dirty="0" err="1">
                <a:latin typeface="Overlock"/>
                <a:ea typeface="Overlock"/>
                <a:cs typeface="Overlock"/>
                <a:sym typeface="Overlock"/>
              </a:rPr>
              <a:t>Pelabelan</a:t>
            </a:r>
            <a:r>
              <a:rPr lang="en-US" sz="2133" dirty="0">
                <a:latin typeface="Overlock"/>
                <a:ea typeface="Overlock"/>
                <a:cs typeface="Overlock"/>
                <a:sym typeface="Overlock"/>
              </a:rPr>
              <a:t> internal dan crowdsourcing sangat </a:t>
            </a:r>
            <a:r>
              <a:rPr lang="en-US" sz="2133" dirty="0" err="1">
                <a:latin typeface="Overlock"/>
                <a:ea typeface="Overlock"/>
                <a:cs typeface="Overlock"/>
                <a:sym typeface="Overlock"/>
              </a:rPr>
              <a:t>umum</a:t>
            </a:r>
            <a:r>
              <a:rPr lang="en-US" sz="2133" dirty="0">
                <a:latin typeface="Overlock"/>
                <a:ea typeface="Overlock"/>
                <a:cs typeface="Overlock"/>
                <a:sym typeface="Overlock"/>
              </a:rPr>
              <a:t>, </a:t>
            </a:r>
            <a:r>
              <a:rPr lang="en-US" sz="2133" dirty="0" err="1">
                <a:latin typeface="Overlock"/>
                <a:ea typeface="Overlock"/>
                <a:cs typeface="Overlock"/>
                <a:sym typeface="Overlock"/>
              </a:rPr>
              <a:t>terminologi</a:t>
            </a:r>
            <a:r>
              <a:rPr lang="en-US" sz="2133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33" dirty="0" err="1">
                <a:latin typeface="Overlock"/>
                <a:ea typeface="Overlock"/>
                <a:cs typeface="Overlock"/>
                <a:sym typeface="Overlock"/>
              </a:rPr>
              <a:t>ini</a:t>
            </a:r>
            <a:r>
              <a:rPr lang="en-US" sz="2133" dirty="0">
                <a:latin typeface="Overlock"/>
                <a:ea typeface="Overlock"/>
                <a:cs typeface="Overlock"/>
                <a:sym typeface="Overlock"/>
              </a:rPr>
              <a:t> juga </a:t>
            </a:r>
            <a:r>
              <a:rPr lang="en-US" sz="2133" dirty="0" err="1">
                <a:latin typeface="Overlock"/>
                <a:ea typeface="Overlock"/>
                <a:cs typeface="Overlock"/>
                <a:sym typeface="Overlock"/>
              </a:rPr>
              <a:t>dapat</a:t>
            </a:r>
            <a:r>
              <a:rPr lang="en-US" sz="2133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33" dirty="0" err="1">
                <a:latin typeface="Overlock"/>
                <a:ea typeface="Overlock"/>
                <a:cs typeface="Overlock"/>
                <a:sym typeface="Overlock"/>
              </a:rPr>
              <a:t>mencakup</a:t>
            </a:r>
            <a:r>
              <a:rPr lang="en-US" sz="2133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33" dirty="0" err="1">
                <a:latin typeface="Overlock"/>
                <a:ea typeface="Overlock"/>
                <a:cs typeface="Overlock"/>
                <a:sym typeface="Overlock"/>
              </a:rPr>
              <a:t>bentuk-bentuk</a:t>
            </a:r>
            <a:r>
              <a:rPr lang="en-US" sz="2133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33" dirty="0" err="1">
                <a:latin typeface="Overlock"/>
                <a:ea typeface="Overlock"/>
                <a:cs typeface="Overlock"/>
                <a:sym typeface="Overlock"/>
              </a:rPr>
              <a:t>baru</a:t>
            </a:r>
            <a:r>
              <a:rPr lang="en-US" sz="2133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33" dirty="0" err="1">
                <a:latin typeface="Overlock"/>
                <a:ea typeface="Overlock"/>
                <a:cs typeface="Overlock"/>
                <a:sym typeface="Overlock"/>
              </a:rPr>
              <a:t>pelabelan</a:t>
            </a:r>
            <a:r>
              <a:rPr lang="en-US" sz="2133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33" dirty="0" err="1">
                <a:latin typeface="Overlock"/>
                <a:ea typeface="Overlock"/>
                <a:cs typeface="Overlock"/>
                <a:sym typeface="Overlock"/>
              </a:rPr>
              <a:t>baru</a:t>
            </a:r>
            <a:r>
              <a:rPr lang="en-US" sz="2133" dirty="0">
                <a:latin typeface="Overlock"/>
                <a:ea typeface="Overlock"/>
                <a:cs typeface="Overlock"/>
                <a:sym typeface="Overlock"/>
              </a:rPr>
              <a:t> dan </a:t>
            </a:r>
            <a:r>
              <a:rPr lang="en-US" sz="2133" dirty="0" err="1">
                <a:latin typeface="Overlock"/>
                <a:ea typeface="Overlock"/>
                <a:cs typeface="Overlock"/>
                <a:sym typeface="Overlock"/>
              </a:rPr>
              <a:t>anotasi</a:t>
            </a:r>
            <a:r>
              <a:rPr lang="en-US" sz="2133" dirty="0">
                <a:latin typeface="Overlock"/>
                <a:ea typeface="Overlock"/>
                <a:cs typeface="Overlock"/>
                <a:sym typeface="Overlock"/>
              </a:rPr>
              <a:t> yang </a:t>
            </a:r>
            <a:r>
              <a:rPr lang="en-US" sz="2133" dirty="0" err="1">
                <a:latin typeface="Overlock"/>
                <a:ea typeface="Overlock"/>
                <a:cs typeface="Overlock"/>
                <a:sym typeface="Overlock"/>
              </a:rPr>
              <a:t>memanfaatkan</a:t>
            </a:r>
            <a:r>
              <a:rPr lang="en-US" sz="2133" dirty="0">
                <a:latin typeface="Overlock"/>
                <a:ea typeface="Overlock"/>
                <a:cs typeface="Overlock"/>
                <a:sym typeface="Overlock"/>
              </a:rPr>
              <a:t> AI dan </a:t>
            </a:r>
            <a:r>
              <a:rPr lang="en-US" sz="2133" dirty="0" err="1">
                <a:latin typeface="Overlock"/>
                <a:ea typeface="Overlock"/>
                <a:cs typeface="Overlock"/>
                <a:sym typeface="Overlock"/>
              </a:rPr>
              <a:t>pembelajaran</a:t>
            </a:r>
            <a:r>
              <a:rPr lang="en-US" sz="2133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33" dirty="0" err="1">
                <a:latin typeface="Overlock"/>
                <a:ea typeface="Overlock"/>
                <a:cs typeface="Overlock"/>
                <a:sym typeface="Overlock"/>
              </a:rPr>
              <a:t>aktif</a:t>
            </a:r>
            <a:r>
              <a:rPr lang="en-US" sz="2133" dirty="0">
                <a:latin typeface="Overlock"/>
                <a:ea typeface="Overlock"/>
                <a:cs typeface="Overlock"/>
                <a:sym typeface="Overlock"/>
              </a:rPr>
              <a:t> (</a:t>
            </a:r>
            <a:r>
              <a:rPr lang="en-US" sz="2133" i="1" dirty="0">
                <a:latin typeface="Overlock"/>
                <a:ea typeface="Overlock"/>
                <a:cs typeface="Overlock"/>
                <a:sym typeface="Overlock"/>
              </a:rPr>
              <a:t>active learning</a:t>
            </a:r>
            <a:r>
              <a:rPr lang="en-US" sz="2133" dirty="0">
                <a:latin typeface="Overlock"/>
                <a:ea typeface="Overlock"/>
                <a:cs typeface="Overlock"/>
                <a:sym typeface="Overlock"/>
              </a:rPr>
              <a:t>) </a:t>
            </a:r>
            <a:r>
              <a:rPr lang="en-US" sz="2133" dirty="0" err="1">
                <a:latin typeface="Overlock"/>
                <a:ea typeface="Overlock"/>
                <a:cs typeface="Overlock"/>
                <a:sym typeface="Overlock"/>
              </a:rPr>
              <a:t>untuk</a:t>
            </a:r>
            <a:r>
              <a:rPr lang="en-US" sz="2133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33" dirty="0" err="1">
                <a:latin typeface="Overlock"/>
                <a:ea typeface="Overlock"/>
                <a:cs typeface="Overlock"/>
                <a:sym typeface="Overlock"/>
              </a:rPr>
              <a:t>melakukan</a:t>
            </a:r>
            <a:r>
              <a:rPr lang="en-US" sz="2133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33" dirty="0" err="1">
                <a:latin typeface="Overlock"/>
                <a:ea typeface="Overlock"/>
                <a:cs typeface="Overlock"/>
                <a:sym typeface="Overlock"/>
              </a:rPr>
              <a:t>tugas</a:t>
            </a:r>
            <a:r>
              <a:rPr lang="en-US" sz="2133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33" dirty="0" err="1">
                <a:latin typeface="Overlock"/>
                <a:ea typeface="Overlock"/>
                <a:cs typeface="Overlock"/>
                <a:sym typeface="Overlock"/>
              </a:rPr>
              <a:t>pelabelan</a:t>
            </a:r>
            <a:r>
              <a:rPr lang="en-US" sz="2133" dirty="0">
                <a:latin typeface="Overlock"/>
                <a:ea typeface="Overlock"/>
                <a:cs typeface="Overlock"/>
                <a:sym typeface="Overlock"/>
              </a:rPr>
              <a:t>/</a:t>
            </a:r>
            <a:r>
              <a:rPr lang="en-US" sz="2133" dirty="0" err="1">
                <a:latin typeface="Overlock"/>
                <a:ea typeface="Overlock"/>
                <a:cs typeface="Overlock"/>
                <a:sym typeface="Overlock"/>
              </a:rPr>
              <a:t>anotasi</a:t>
            </a:r>
            <a:r>
              <a:rPr lang="en-US" sz="2133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33" dirty="0" err="1">
                <a:latin typeface="Overlock"/>
                <a:ea typeface="Overlock"/>
                <a:cs typeface="Overlock"/>
                <a:sym typeface="Overlock"/>
              </a:rPr>
              <a:t>tersebut</a:t>
            </a:r>
            <a:r>
              <a:rPr lang="en-US" sz="2133" dirty="0">
                <a:latin typeface="Overlock"/>
                <a:ea typeface="Overlock"/>
                <a:cs typeface="Overlock"/>
                <a:sym typeface="Overlock"/>
              </a:rPr>
              <a:t>.</a:t>
            </a:r>
            <a:endParaRPr sz="2133" dirty="0">
              <a:latin typeface="Overlock"/>
              <a:ea typeface="Overlock"/>
              <a:cs typeface="Overlock"/>
              <a:sym typeface="Overlock"/>
            </a:endParaRPr>
          </a:p>
          <a:p>
            <a:pPr marL="609570" indent="-440245">
              <a:lnSpc>
                <a:spcPct val="115000"/>
              </a:lnSpc>
              <a:buSzPts val="1600"/>
              <a:buFont typeface="Overlock"/>
              <a:buChar char="●"/>
            </a:pPr>
            <a:r>
              <a:rPr lang="en-US" sz="2133" dirty="0" err="1">
                <a:latin typeface="Overlock"/>
                <a:ea typeface="Overlock"/>
                <a:cs typeface="Overlock"/>
                <a:sym typeface="Overlock"/>
              </a:rPr>
              <a:t>Pendekatan</a:t>
            </a:r>
            <a:r>
              <a:rPr lang="en-US" sz="2133" dirty="0">
                <a:latin typeface="Overlock"/>
                <a:ea typeface="Overlock"/>
                <a:cs typeface="Overlock"/>
                <a:sym typeface="Overlock"/>
              </a:rPr>
              <a:t> yang paling </a:t>
            </a:r>
            <a:r>
              <a:rPr lang="en-US" sz="2133" dirty="0" err="1">
                <a:latin typeface="Overlock"/>
                <a:ea typeface="Overlock"/>
                <a:cs typeface="Overlock"/>
                <a:sym typeface="Overlock"/>
              </a:rPr>
              <a:t>umum</a:t>
            </a:r>
            <a:r>
              <a:rPr lang="en-US" sz="2133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33" dirty="0" err="1">
                <a:latin typeface="Overlock"/>
                <a:ea typeface="Overlock"/>
                <a:cs typeface="Overlock"/>
                <a:sym typeface="Overlock"/>
              </a:rPr>
              <a:t>untuk</a:t>
            </a:r>
            <a:r>
              <a:rPr lang="en-US" sz="2133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33" dirty="0" err="1">
                <a:latin typeface="Overlock"/>
                <a:ea typeface="Overlock"/>
                <a:cs typeface="Overlock"/>
                <a:sym typeface="Overlock"/>
              </a:rPr>
              <a:t>anotasi</a:t>
            </a:r>
            <a:r>
              <a:rPr lang="en-US" sz="2133" dirty="0">
                <a:latin typeface="Overlock"/>
                <a:ea typeface="Overlock"/>
                <a:cs typeface="Overlock"/>
                <a:sym typeface="Overlock"/>
              </a:rPr>
              <a:t> data </a:t>
            </a:r>
            <a:r>
              <a:rPr lang="en-US" sz="2133" dirty="0" err="1">
                <a:latin typeface="Overlock"/>
                <a:ea typeface="Overlock"/>
                <a:cs typeface="Overlock"/>
                <a:sym typeface="Overlock"/>
              </a:rPr>
              <a:t>tercantum</a:t>
            </a:r>
            <a:r>
              <a:rPr lang="en-US" sz="2133" dirty="0">
                <a:latin typeface="Overlock"/>
                <a:ea typeface="Overlock"/>
                <a:cs typeface="Overlock"/>
                <a:sym typeface="Overlock"/>
              </a:rPr>
              <a:t> di </a:t>
            </a:r>
            <a:r>
              <a:rPr lang="en-US" sz="2133" dirty="0" err="1">
                <a:latin typeface="Overlock"/>
                <a:ea typeface="Overlock"/>
                <a:cs typeface="Overlock"/>
                <a:sym typeface="Overlock"/>
              </a:rPr>
              <a:t>bawah</a:t>
            </a:r>
            <a:r>
              <a:rPr lang="en-US" sz="2133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33" dirty="0" err="1">
                <a:latin typeface="Overlock"/>
                <a:ea typeface="Overlock"/>
                <a:cs typeface="Overlock"/>
                <a:sym typeface="Overlock"/>
              </a:rPr>
              <a:t>ini</a:t>
            </a:r>
            <a:endParaRPr sz="2133" dirty="0">
              <a:latin typeface="Overlock"/>
              <a:ea typeface="Overlock"/>
              <a:cs typeface="Overlock"/>
              <a:sym typeface="Overlock"/>
            </a:endParaRPr>
          </a:p>
          <a:p>
            <a:pPr marL="1219139" lvl="1" indent="-440245">
              <a:lnSpc>
                <a:spcPct val="115000"/>
              </a:lnSpc>
              <a:buSzPts val="1600"/>
              <a:buFont typeface="Overlock"/>
              <a:buChar char="○"/>
            </a:pPr>
            <a:r>
              <a:rPr lang="en-US" sz="2133" dirty="0">
                <a:latin typeface="Overlock"/>
                <a:ea typeface="Overlock"/>
                <a:cs typeface="Overlock"/>
                <a:sym typeface="Overlock"/>
              </a:rPr>
              <a:t>In-house data labelling</a:t>
            </a:r>
            <a:endParaRPr sz="2133" dirty="0">
              <a:latin typeface="Overlock"/>
              <a:ea typeface="Overlock"/>
              <a:cs typeface="Overlock"/>
              <a:sym typeface="Overlock"/>
            </a:endParaRPr>
          </a:p>
          <a:p>
            <a:pPr marL="1219139" lvl="1" indent="-440245">
              <a:lnSpc>
                <a:spcPct val="115000"/>
              </a:lnSpc>
              <a:buSzPts val="1600"/>
              <a:buFont typeface="Overlock"/>
              <a:buChar char="○"/>
            </a:pPr>
            <a:r>
              <a:rPr lang="en-US" sz="2133" dirty="0">
                <a:latin typeface="Overlock"/>
                <a:ea typeface="Overlock"/>
                <a:cs typeface="Overlock"/>
                <a:sym typeface="Overlock"/>
              </a:rPr>
              <a:t>Crowdsourcing</a:t>
            </a:r>
            <a:endParaRPr sz="2133" dirty="0">
              <a:latin typeface="Overlock"/>
              <a:ea typeface="Overlock"/>
              <a:cs typeface="Overlock"/>
              <a:sym typeface="Overlock"/>
            </a:endParaRPr>
          </a:p>
          <a:p>
            <a:pPr marL="1219139" lvl="1" indent="-440245">
              <a:lnSpc>
                <a:spcPct val="115000"/>
              </a:lnSpc>
              <a:buSzPts val="1600"/>
              <a:buFont typeface="Overlock"/>
              <a:buChar char="○"/>
            </a:pPr>
            <a:r>
              <a:rPr lang="en-US" sz="2133" dirty="0">
                <a:latin typeface="Overlock"/>
                <a:ea typeface="Overlock"/>
                <a:cs typeface="Overlock"/>
                <a:sym typeface="Overlock"/>
              </a:rPr>
              <a:t>Outsourcing</a:t>
            </a:r>
            <a:endParaRPr sz="2133" dirty="0">
              <a:latin typeface="Overlock"/>
              <a:ea typeface="Overlock"/>
              <a:cs typeface="Overlock"/>
              <a:sym typeface="Overlock"/>
            </a:endParaRPr>
          </a:p>
          <a:p>
            <a:pPr marL="1219139" lvl="1" indent="-440245">
              <a:lnSpc>
                <a:spcPct val="115000"/>
              </a:lnSpc>
              <a:buSzPts val="1600"/>
              <a:buFont typeface="Overlock"/>
              <a:buChar char="○"/>
            </a:pPr>
            <a:r>
              <a:rPr lang="en-US" sz="2133" dirty="0">
                <a:latin typeface="Overlock"/>
                <a:ea typeface="Overlock"/>
                <a:cs typeface="Overlock"/>
                <a:sym typeface="Overlock"/>
              </a:rPr>
              <a:t>Machine-based annotation</a:t>
            </a:r>
            <a:endParaRPr sz="2133" dirty="0">
              <a:latin typeface="Overlock"/>
              <a:ea typeface="Overlock"/>
              <a:cs typeface="Overlock"/>
              <a:sym typeface="Overlock"/>
            </a:endParaRPr>
          </a:p>
          <a:p>
            <a:pPr marL="0" indent="0">
              <a:lnSpc>
                <a:spcPct val="115000"/>
              </a:lnSpc>
              <a:buSzPts val="1800"/>
            </a:pPr>
            <a:endParaRPr dirty="0">
              <a:latin typeface="Overlock"/>
              <a:ea typeface="Overlock"/>
              <a:cs typeface="Overlock"/>
              <a:sym typeface="Overlock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p8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rgbClr val="0F3570"/>
              </a:buClr>
              <a:buSzPct val="115226"/>
            </a:pPr>
            <a:r>
              <a:rPr lang="en-US" dirty="0">
                <a:solidFill>
                  <a:srgbClr val="0F3570"/>
                </a:solidFill>
                <a:ea typeface="Overlock"/>
                <a:sym typeface="Overlock"/>
              </a:rPr>
              <a:t>In-house Labelling</a:t>
            </a:r>
            <a:endParaRPr dirty="0">
              <a:solidFill>
                <a:srgbClr val="0F3570"/>
              </a:solidFill>
              <a:ea typeface="Overlock"/>
              <a:sym typeface="Overlock"/>
            </a:endParaRPr>
          </a:p>
        </p:txBody>
      </p:sp>
      <p:sp>
        <p:nvSpPr>
          <p:cNvPr id="1174" name="Google Shape;1174;p89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 fontScale="92500" lnSpcReduction="10000"/>
          </a:bodyPr>
          <a:lstStyle/>
          <a:p>
            <a:pPr marL="609570" indent="-414422">
              <a:buSzPct val="100000"/>
              <a:buFont typeface="Overlock"/>
              <a:buChar char="●"/>
            </a:pPr>
            <a:r>
              <a:rPr lang="en-US" dirty="0" err="1">
                <a:ea typeface="Overlock"/>
                <a:cs typeface="Overlock"/>
                <a:sym typeface="Overlock"/>
              </a:rPr>
              <a:t>Memiliki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kualitas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tertinggi</a:t>
            </a:r>
            <a:r>
              <a:rPr lang="en-US" dirty="0">
                <a:ea typeface="Overlock"/>
                <a:cs typeface="Overlock"/>
                <a:sym typeface="Overlock"/>
              </a:rPr>
              <a:t> dan </a:t>
            </a:r>
            <a:r>
              <a:rPr lang="en-US" dirty="0" err="1">
                <a:ea typeface="Overlock"/>
                <a:cs typeface="Overlock"/>
                <a:sym typeface="Overlock"/>
              </a:rPr>
              <a:t>umumnya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dilakukan</a:t>
            </a:r>
            <a:r>
              <a:rPr lang="en-US" dirty="0">
                <a:ea typeface="Overlock"/>
                <a:cs typeface="Overlock"/>
                <a:sym typeface="Overlock"/>
              </a:rPr>
              <a:t> oleh data scientist dan </a:t>
            </a:r>
            <a:r>
              <a:rPr lang="en-US" dirty="0" err="1">
                <a:ea typeface="Overlock"/>
                <a:cs typeface="Overlock"/>
                <a:sym typeface="Overlock"/>
              </a:rPr>
              <a:t>insinyur</a:t>
            </a:r>
            <a:r>
              <a:rPr lang="en-US" dirty="0">
                <a:ea typeface="Overlock"/>
                <a:cs typeface="Overlock"/>
                <a:sym typeface="Overlock"/>
              </a:rPr>
              <a:t> data yang </a:t>
            </a:r>
            <a:r>
              <a:rPr lang="en-US" dirty="0" err="1">
                <a:ea typeface="Overlock"/>
                <a:cs typeface="Overlock"/>
                <a:sym typeface="Overlock"/>
              </a:rPr>
              <a:t>dipekerjakan</a:t>
            </a:r>
            <a:r>
              <a:rPr lang="en-US" dirty="0">
                <a:ea typeface="Overlock"/>
                <a:cs typeface="Overlock"/>
                <a:sym typeface="Overlock"/>
              </a:rPr>
              <a:t> di </a:t>
            </a:r>
            <a:r>
              <a:rPr lang="en-US" dirty="0" err="1">
                <a:ea typeface="Overlock"/>
                <a:cs typeface="Overlock"/>
                <a:sym typeface="Overlock"/>
              </a:rPr>
              <a:t>organisasi</a:t>
            </a:r>
            <a:r>
              <a:rPr lang="en-US" dirty="0">
                <a:ea typeface="Overlock"/>
                <a:cs typeface="Overlock"/>
                <a:sym typeface="Overlock"/>
              </a:rPr>
              <a:t>.</a:t>
            </a:r>
            <a:endParaRPr dirty="0">
              <a:ea typeface="Overlock"/>
              <a:cs typeface="Overlock"/>
              <a:sym typeface="Overlock"/>
            </a:endParaRPr>
          </a:p>
          <a:p>
            <a:pPr marL="0" indent="0">
              <a:buSzPct val="78571"/>
              <a:buNone/>
            </a:pPr>
            <a:endParaRPr dirty="0">
              <a:ea typeface="Overlock"/>
              <a:cs typeface="Overlock"/>
              <a:sym typeface="Overlock"/>
            </a:endParaRPr>
          </a:p>
          <a:p>
            <a:pPr marL="609570" indent="-414422">
              <a:buSzPct val="100000"/>
              <a:buFont typeface="Overlock"/>
              <a:buChar char="●"/>
            </a:pPr>
            <a:r>
              <a:rPr lang="en-US" dirty="0" err="1">
                <a:ea typeface="Overlock"/>
                <a:cs typeface="Overlock"/>
                <a:sym typeface="Overlock"/>
              </a:rPr>
              <a:t>Pelabelan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berkualitas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tinggi</a:t>
            </a:r>
            <a:r>
              <a:rPr lang="en-US" dirty="0">
                <a:ea typeface="Overlock"/>
                <a:cs typeface="Overlock"/>
                <a:sym typeface="Overlock"/>
              </a:rPr>
              <a:t> sangat </a:t>
            </a:r>
            <a:r>
              <a:rPr lang="en-US" dirty="0" err="1">
                <a:ea typeface="Overlock"/>
                <a:cs typeface="Overlock"/>
                <a:sym typeface="Overlock"/>
              </a:rPr>
              <a:t>penting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untuk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industri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seperti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asuransi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atau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perawatan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kesehatan</a:t>
            </a:r>
            <a:r>
              <a:rPr lang="en-US" dirty="0">
                <a:ea typeface="Overlock"/>
                <a:cs typeface="Overlock"/>
                <a:sym typeface="Overlock"/>
              </a:rPr>
              <a:t>, dan </a:t>
            </a:r>
            <a:r>
              <a:rPr lang="en-US" dirty="0" err="1">
                <a:ea typeface="Overlock"/>
                <a:cs typeface="Overlock"/>
                <a:sym typeface="Overlock"/>
              </a:rPr>
              <a:t>seringkali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memerlukan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konsultasi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dengan</a:t>
            </a:r>
            <a:r>
              <a:rPr lang="en-US" dirty="0">
                <a:ea typeface="Overlock"/>
                <a:cs typeface="Overlock"/>
                <a:sym typeface="Overlock"/>
              </a:rPr>
              <a:t> para </a:t>
            </a:r>
            <a:r>
              <a:rPr lang="en-US" dirty="0" err="1">
                <a:ea typeface="Overlock"/>
                <a:cs typeface="Overlock"/>
                <a:sym typeface="Overlock"/>
              </a:rPr>
              <a:t>ahli</a:t>
            </a:r>
            <a:r>
              <a:rPr lang="en-US" dirty="0">
                <a:ea typeface="Overlock"/>
                <a:cs typeface="Overlock"/>
                <a:sym typeface="Overlock"/>
              </a:rPr>
              <a:t> di </a:t>
            </a:r>
            <a:r>
              <a:rPr lang="en-US" dirty="0" err="1">
                <a:ea typeface="Overlock"/>
                <a:cs typeface="Overlock"/>
                <a:sym typeface="Overlock"/>
              </a:rPr>
              <a:t>bidang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terkait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untuk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pelabelan</a:t>
            </a:r>
            <a:r>
              <a:rPr lang="en-US" dirty="0">
                <a:ea typeface="Overlock"/>
                <a:cs typeface="Overlock"/>
                <a:sym typeface="Overlock"/>
              </a:rPr>
              <a:t> data yang </a:t>
            </a:r>
            <a:r>
              <a:rPr lang="en-US" dirty="0" err="1">
                <a:ea typeface="Overlock"/>
                <a:cs typeface="Overlock"/>
                <a:sym typeface="Overlock"/>
              </a:rPr>
              <a:t>tepat</a:t>
            </a:r>
            <a:r>
              <a:rPr lang="en-US" dirty="0">
                <a:ea typeface="Overlock"/>
                <a:cs typeface="Overlock"/>
                <a:sym typeface="Overlock"/>
              </a:rPr>
              <a:t>.</a:t>
            </a:r>
            <a:endParaRPr dirty="0">
              <a:ea typeface="Overlock"/>
              <a:cs typeface="Overlock"/>
              <a:sym typeface="Overlock"/>
            </a:endParaRPr>
          </a:p>
          <a:p>
            <a:pPr marL="0" indent="0">
              <a:buSzPct val="78571"/>
              <a:buNone/>
            </a:pPr>
            <a:endParaRPr dirty="0">
              <a:ea typeface="Overlock"/>
              <a:cs typeface="Overlock"/>
              <a:sym typeface="Overlock"/>
            </a:endParaRPr>
          </a:p>
          <a:p>
            <a:pPr marL="609570" indent="-414422">
              <a:buSzPct val="100000"/>
              <a:buFont typeface="Overlock"/>
              <a:buChar char="●"/>
            </a:pPr>
            <a:r>
              <a:rPr lang="en-US" dirty="0" err="1">
                <a:ea typeface="Overlock"/>
                <a:cs typeface="Overlock"/>
                <a:sym typeface="Overlock"/>
              </a:rPr>
              <a:t>Seperti</a:t>
            </a:r>
            <a:r>
              <a:rPr lang="en-US" dirty="0">
                <a:ea typeface="Overlock"/>
                <a:cs typeface="Overlock"/>
                <a:sym typeface="Overlock"/>
              </a:rPr>
              <a:t> yang </a:t>
            </a:r>
            <a:r>
              <a:rPr lang="en-US" dirty="0" err="1">
                <a:ea typeface="Overlock"/>
                <a:cs typeface="Overlock"/>
                <a:sym typeface="Overlock"/>
              </a:rPr>
              <a:t>diharapkan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untuk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pelabelan</a:t>
            </a:r>
            <a:r>
              <a:rPr lang="en-US" dirty="0">
                <a:ea typeface="Overlock"/>
                <a:cs typeface="Overlock"/>
                <a:sym typeface="Overlock"/>
              </a:rPr>
              <a:t> internal, </a:t>
            </a:r>
            <a:r>
              <a:rPr lang="en-US" dirty="0" err="1">
                <a:ea typeface="Overlock"/>
                <a:cs typeface="Overlock"/>
                <a:sym typeface="Overlock"/>
              </a:rPr>
              <a:t>dengan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peningkatan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kualitas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anotasi</a:t>
            </a:r>
            <a:r>
              <a:rPr lang="en-US" dirty="0">
                <a:ea typeface="Overlock"/>
                <a:cs typeface="Overlock"/>
                <a:sym typeface="Overlock"/>
              </a:rPr>
              <a:t>, </a:t>
            </a:r>
            <a:r>
              <a:rPr lang="en-US" dirty="0" err="1">
                <a:ea typeface="Overlock"/>
                <a:cs typeface="Overlock"/>
                <a:sym typeface="Overlock"/>
              </a:rPr>
              <a:t>waktu</a:t>
            </a:r>
            <a:r>
              <a:rPr lang="en-US" dirty="0">
                <a:ea typeface="Overlock"/>
                <a:cs typeface="Overlock"/>
                <a:sym typeface="Overlock"/>
              </a:rPr>
              <a:t> yang </a:t>
            </a:r>
            <a:r>
              <a:rPr lang="en-US" dirty="0" err="1">
                <a:ea typeface="Overlock"/>
                <a:cs typeface="Overlock"/>
                <a:sym typeface="Overlock"/>
              </a:rPr>
              <a:t>dibutuhkan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untuk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membuat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anotasi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cukup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tinggi</a:t>
            </a:r>
            <a:r>
              <a:rPr lang="en-US" dirty="0">
                <a:ea typeface="Overlock"/>
                <a:cs typeface="Overlock"/>
                <a:sym typeface="Overlock"/>
              </a:rPr>
              <a:t>, </a:t>
            </a:r>
            <a:r>
              <a:rPr lang="en-US" dirty="0" err="1">
                <a:ea typeface="Overlock"/>
                <a:cs typeface="Overlock"/>
                <a:sym typeface="Overlock"/>
              </a:rPr>
              <a:t>sehingga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seluruh</a:t>
            </a:r>
            <a:r>
              <a:rPr lang="en-US" dirty="0">
                <a:ea typeface="Overlock"/>
                <a:cs typeface="Overlock"/>
                <a:sym typeface="Overlock"/>
              </a:rPr>
              <a:t> proses </a:t>
            </a:r>
            <a:r>
              <a:rPr lang="en-US" dirty="0" err="1">
                <a:ea typeface="Overlock"/>
                <a:cs typeface="Overlock"/>
                <a:sym typeface="Overlock"/>
              </a:rPr>
              <a:t>pelabelan</a:t>
            </a:r>
            <a:r>
              <a:rPr lang="en-US" dirty="0">
                <a:ea typeface="Overlock"/>
                <a:cs typeface="Overlock"/>
                <a:sym typeface="Overlock"/>
              </a:rPr>
              <a:t> dan </a:t>
            </a:r>
            <a:r>
              <a:rPr lang="en-US" dirty="0" err="1">
                <a:ea typeface="Overlock"/>
                <a:cs typeface="Overlock"/>
                <a:sym typeface="Overlock"/>
              </a:rPr>
              <a:t>pembersihan</a:t>
            </a:r>
            <a:r>
              <a:rPr lang="en-US" dirty="0">
                <a:ea typeface="Overlock"/>
                <a:cs typeface="Overlock"/>
                <a:sym typeface="Overlock"/>
              </a:rPr>
              <a:t> data </a:t>
            </a:r>
            <a:r>
              <a:rPr lang="en-US" dirty="0" err="1">
                <a:ea typeface="Overlock"/>
                <a:cs typeface="Overlock"/>
                <a:sym typeface="Overlock"/>
              </a:rPr>
              <a:t>menjadi</a:t>
            </a:r>
            <a:r>
              <a:rPr lang="en-US" dirty="0">
                <a:ea typeface="Overlock"/>
                <a:cs typeface="Overlock"/>
                <a:sym typeface="Overlock"/>
              </a:rPr>
              <a:t> sangat </a:t>
            </a:r>
            <a:r>
              <a:rPr lang="en-US" dirty="0" err="1">
                <a:ea typeface="Overlock"/>
                <a:cs typeface="Overlock"/>
                <a:sym typeface="Overlock"/>
              </a:rPr>
              <a:t>lambat</a:t>
            </a:r>
            <a:r>
              <a:rPr lang="en-US" dirty="0">
                <a:ea typeface="Overlock"/>
                <a:cs typeface="Overlock"/>
                <a:sym typeface="Overlock"/>
              </a:rPr>
              <a:t>.</a:t>
            </a:r>
            <a:endParaRPr dirty="0">
              <a:ea typeface="Overlock"/>
              <a:cs typeface="Overlock"/>
              <a:sym typeface="Overlock"/>
            </a:endParaRPr>
          </a:p>
          <a:p>
            <a:pPr marL="0" indent="0">
              <a:buSzPct val="108108"/>
              <a:buNone/>
            </a:pPr>
            <a:endParaRPr dirty="0">
              <a:ea typeface="Overlock"/>
              <a:cs typeface="Overlock"/>
              <a:sym typeface="Overlock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2">
          <a:extLst>
            <a:ext uri="{FF2B5EF4-FFF2-40B4-BE49-F238E27FC236}">
              <a16:creationId xmlns:a16="http://schemas.microsoft.com/office/drawing/2014/main" id="{84B32F4B-EAA2-5F9B-BEAA-85C318D9C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p89">
            <a:extLst>
              <a:ext uri="{FF2B5EF4-FFF2-40B4-BE49-F238E27FC236}">
                <a16:creationId xmlns:a16="http://schemas.microsoft.com/office/drawing/2014/main" id="{ACE9B75F-45E3-34A9-D924-F06D660BBF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rgbClr val="0F3570"/>
              </a:buClr>
              <a:buSzPct val="115226"/>
            </a:pPr>
            <a:r>
              <a:rPr lang="en-US" dirty="0">
                <a:solidFill>
                  <a:srgbClr val="0F3570"/>
                </a:solidFill>
                <a:ea typeface="Overlock"/>
                <a:sym typeface="Overlock"/>
              </a:rPr>
              <a:t>Crowdsourcing</a:t>
            </a:r>
            <a:endParaRPr dirty="0">
              <a:solidFill>
                <a:srgbClr val="0F3570"/>
              </a:solidFill>
              <a:ea typeface="Overlock"/>
              <a:sym typeface="Overlock"/>
            </a:endParaRPr>
          </a:p>
        </p:txBody>
      </p:sp>
      <p:sp>
        <p:nvSpPr>
          <p:cNvPr id="1174" name="Google Shape;1174;p89">
            <a:extLst>
              <a:ext uri="{FF2B5EF4-FFF2-40B4-BE49-F238E27FC236}">
                <a16:creationId xmlns:a16="http://schemas.microsoft.com/office/drawing/2014/main" id="{BEDBBDE0-C7B6-1E3F-E5A3-978E0D6B3F9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609570" indent="-423312">
              <a:buFont typeface="Overlock"/>
              <a:buChar char="●"/>
            </a:pP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Crowdsourcing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mengacu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pada proses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memperoleh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data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beranotasi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dengan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bantuan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sejumlah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besar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pekerja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lepas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yang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terdaftar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di platform crowdsourcing.</a:t>
            </a:r>
          </a:p>
          <a:p>
            <a:pPr marL="609570" indent="-423312">
              <a:buFont typeface="Overlock"/>
              <a:buChar char="●"/>
            </a:pP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Kumpulan data yang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dianotasi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sebagian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besar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terdiri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dari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data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sepele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seperti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gambar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hewan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,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tumbuhan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, dan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lingkungan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alam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dan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tidak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memerlukan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keahlian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tambahan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. </a:t>
            </a:r>
          </a:p>
          <a:p>
            <a:pPr marL="609570" indent="-423312">
              <a:buFont typeface="Overlock"/>
              <a:buChar char="●"/>
            </a:pP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Oleh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karena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itu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,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tugas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membuat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anotasi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pada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kumpulan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data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sederhana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sering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kali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dilakukan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secara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crowdsource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ke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platform yang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memiliki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puluhan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ribu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annotator data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terdaftar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.</a:t>
            </a:r>
          </a:p>
          <a:p>
            <a:pPr marL="0" indent="0">
              <a:buNone/>
            </a:pPr>
            <a:endParaRPr lang="en-US" dirty="0">
              <a:latin typeface="Overlock"/>
              <a:ea typeface="Overlock"/>
              <a:cs typeface="Overlock"/>
              <a:sym typeface="Overlock"/>
            </a:endParaRPr>
          </a:p>
          <a:p>
            <a:pPr marL="609570" indent="-423312">
              <a:buFont typeface="Overlock"/>
              <a:buChar char="●"/>
            </a:pPr>
            <a:endParaRPr lang="en-US" dirty="0">
              <a:latin typeface="Overlock"/>
              <a:ea typeface="Overlock"/>
              <a:cs typeface="Overlock"/>
              <a:sym typeface="Overlock"/>
            </a:endParaRPr>
          </a:p>
          <a:p>
            <a:pPr marL="0" indent="0">
              <a:buNone/>
            </a:pPr>
            <a:endParaRPr lang="en-US" dirty="0">
              <a:ea typeface="Overlock"/>
              <a:cs typeface="Overlock"/>
              <a:sym typeface="Overlock"/>
            </a:endParaRPr>
          </a:p>
        </p:txBody>
      </p:sp>
    </p:spTree>
    <p:extLst>
      <p:ext uri="{BB962C8B-B14F-4D97-AF65-F5344CB8AC3E}">
        <p14:creationId xmlns:p14="http://schemas.microsoft.com/office/powerpoint/2010/main" val="135685698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2">
          <a:extLst>
            <a:ext uri="{FF2B5EF4-FFF2-40B4-BE49-F238E27FC236}">
              <a16:creationId xmlns:a16="http://schemas.microsoft.com/office/drawing/2014/main" id="{D22F23F5-D7DE-6ECC-66B0-0D216F97D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p89">
            <a:extLst>
              <a:ext uri="{FF2B5EF4-FFF2-40B4-BE49-F238E27FC236}">
                <a16:creationId xmlns:a16="http://schemas.microsoft.com/office/drawing/2014/main" id="{B96EE2F4-142B-4B32-BE7C-696522CF45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rgbClr val="0F3570"/>
              </a:buClr>
              <a:buSzPct val="115226"/>
            </a:pPr>
            <a:r>
              <a:rPr lang="en-US" dirty="0">
                <a:solidFill>
                  <a:srgbClr val="0F3570"/>
                </a:solidFill>
                <a:ea typeface="Overlock"/>
                <a:sym typeface="Overlock"/>
              </a:rPr>
              <a:t>Outsourcing</a:t>
            </a:r>
            <a:endParaRPr dirty="0">
              <a:solidFill>
                <a:srgbClr val="0F3570"/>
              </a:solidFill>
              <a:ea typeface="Overlock"/>
              <a:sym typeface="Overlock"/>
            </a:endParaRPr>
          </a:p>
        </p:txBody>
      </p:sp>
      <p:sp>
        <p:nvSpPr>
          <p:cNvPr id="1174" name="Google Shape;1174;p89">
            <a:extLst>
              <a:ext uri="{FF2B5EF4-FFF2-40B4-BE49-F238E27FC236}">
                <a16:creationId xmlns:a16="http://schemas.microsoft.com/office/drawing/2014/main" id="{8ED326CC-7617-98E1-BF2E-949F7C04091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609570" indent="-423312">
              <a:buFont typeface="Overlock"/>
              <a:buChar char="●"/>
            </a:pP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Outsourcing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adalah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jalan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tengah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antara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crowdsourcing dan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pelabelan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data internal di mana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tugas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anotasi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data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dialihdayakan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ke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organisasi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atau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individu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.</a:t>
            </a:r>
          </a:p>
          <a:p>
            <a:pPr marL="609570" indent="-423312">
              <a:buFont typeface="Overlock"/>
              <a:buChar char="●"/>
            </a:pP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Salah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satu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keuntungan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outsourcing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adalah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kita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dapat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menilai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topik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tertentu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sebelum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pekerjaan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diserahkan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.</a:t>
            </a:r>
          </a:p>
          <a:p>
            <a:pPr marL="609570" indent="-423312">
              <a:buFont typeface="Overlock"/>
              <a:buChar char="●"/>
            </a:pP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Pendekatan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membangun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kumpulan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data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anotasi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ini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sangat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cocok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untuk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proyek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yang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tidak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memiliki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banyak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dana,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namun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membutuhkan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kualitas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anotasi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data yang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signifikan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.</a:t>
            </a:r>
          </a:p>
          <a:p>
            <a:pPr marL="0" indent="0">
              <a:buNone/>
            </a:pPr>
            <a:endParaRPr lang="en-US" dirty="0">
              <a:latin typeface="Overlock"/>
              <a:ea typeface="Overlock"/>
              <a:cs typeface="Overlock"/>
              <a:sym typeface="Overlock"/>
            </a:endParaRPr>
          </a:p>
          <a:p>
            <a:pPr marL="609570" indent="-423312">
              <a:buFont typeface="Overlock"/>
              <a:buChar char="●"/>
            </a:pPr>
            <a:endParaRPr lang="en-US" dirty="0">
              <a:latin typeface="Overlock"/>
              <a:ea typeface="Overlock"/>
              <a:cs typeface="Overlock"/>
              <a:sym typeface="Overlock"/>
            </a:endParaRPr>
          </a:p>
          <a:p>
            <a:pPr marL="0" indent="0">
              <a:buNone/>
            </a:pPr>
            <a:endParaRPr lang="en-US" dirty="0">
              <a:ea typeface="Overlock"/>
              <a:cs typeface="Overlock"/>
              <a:sym typeface="Overlock"/>
            </a:endParaRPr>
          </a:p>
        </p:txBody>
      </p:sp>
    </p:spTree>
    <p:extLst>
      <p:ext uri="{BB962C8B-B14F-4D97-AF65-F5344CB8AC3E}">
        <p14:creationId xmlns:p14="http://schemas.microsoft.com/office/powerpoint/2010/main" val="292817538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9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spcBef>
                <a:spcPts val="0"/>
              </a:spcBef>
              <a:buClr>
                <a:srgbClr val="0F3570"/>
              </a:buClr>
              <a:buSzPts val="2700"/>
            </a:pPr>
            <a:r>
              <a:rPr lang="en-US" dirty="0">
                <a:solidFill>
                  <a:srgbClr val="0F3570"/>
                </a:solidFill>
                <a:ea typeface="Overlock"/>
                <a:sym typeface="Overlock"/>
              </a:rPr>
              <a:t>Machine-based Annotation</a:t>
            </a:r>
          </a:p>
        </p:txBody>
      </p:sp>
      <p:sp>
        <p:nvSpPr>
          <p:cNvPr id="1182" name="Google Shape;1182;p90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 lnSpcReduction="10000"/>
          </a:bodyPr>
          <a:lstStyle/>
          <a:p>
            <a:pPr>
              <a:buSzPct val="100000"/>
            </a:pPr>
            <a:r>
              <a:rPr lang="en-US" sz="2400" dirty="0">
                <a:ea typeface="Overlock"/>
                <a:cs typeface="Overlock"/>
                <a:sym typeface="Overlock"/>
              </a:rPr>
              <a:t>Salah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satu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bentuk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anotasi</a:t>
            </a:r>
            <a:r>
              <a:rPr lang="en-US" sz="2400" dirty="0">
                <a:ea typeface="Overlock"/>
                <a:cs typeface="Overlock"/>
                <a:sym typeface="Overlock"/>
              </a:rPr>
              <a:t> yang paling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baru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adalah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anotasi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berbasis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mesin</a:t>
            </a:r>
            <a:r>
              <a:rPr lang="en-US" sz="2400" dirty="0">
                <a:ea typeface="Overlock"/>
                <a:cs typeface="Overlock"/>
                <a:sym typeface="Overlock"/>
              </a:rPr>
              <a:t>. </a:t>
            </a:r>
          </a:p>
          <a:p>
            <a:pPr>
              <a:buSzPct val="100000"/>
            </a:pPr>
            <a:r>
              <a:rPr lang="en-US" sz="2400" dirty="0" err="1">
                <a:ea typeface="Overlock"/>
                <a:cs typeface="Overlock"/>
                <a:sym typeface="Overlock"/>
              </a:rPr>
              <a:t>Anotasi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berbasis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mesin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mengacu</a:t>
            </a:r>
            <a:r>
              <a:rPr lang="en-US" sz="2400" dirty="0">
                <a:ea typeface="Overlock"/>
                <a:cs typeface="Overlock"/>
                <a:sym typeface="Overlock"/>
              </a:rPr>
              <a:t> pada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penggunaan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alat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anotasi</a:t>
            </a:r>
            <a:r>
              <a:rPr lang="en-US" sz="2400" dirty="0">
                <a:ea typeface="Overlock"/>
                <a:cs typeface="Overlock"/>
                <a:sym typeface="Overlock"/>
              </a:rPr>
              <a:t> dan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otomatisasi</a:t>
            </a:r>
            <a:r>
              <a:rPr lang="en-US" sz="2400" dirty="0">
                <a:ea typeface="Overlock"/>
                <a:cs typeface="Overlock"/>
                <a:sym typeface="Overlock"/>
              </a:rPr>
              <a:t> yang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secara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drastis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dapat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meningkatkan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kecepatan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anotasi</a:t>
            </a:r>
            <a:r>
              <a:rPr lang="en-US" sz="2400" dirty="0">
                <a:ea typeface="Overlock"/>
                <a:cs typeface="Overlock"/>
                <a:sym typeface="Overlock"/>
              </a:rPr>
              <a:t> data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tanpa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mengorbankan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kualitas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hasil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pelabelan</a:t>
            </a:r>
            <a:r>
              <a:rPr lang="en-US" sz="2400" dirty="0">
                <a:ea typeface="Overlock"/>
                <a:cs typeface="Overlock"/>
                <a:sym typeface="Overlock"/>
              </a:rPr>
              <a:t>.</a:t>
            </a:r>
          </a:p>
          <a:p>
            <a:pPr>
              <a:buSzPct val="100000"/>
            </a:pPr>
            <a:r>
              <a:rPr lang="en-US" sz="2400" dirty="0" err="1">
                <a:ea typeface="Overlock"/>
                <a:cs typeface="Overlock"/>
                <a:sym typeface="Overlock"/>
              </a:rPr>
              <a:t>Perkembangan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otomatisasi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baru-baru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ini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dalam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alat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anotasi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mesin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tradisional</a:t>
            </a:r>
            <a:r>
              <a:rPr lang="en-US" sz="2400" dirty="0">
                <a:ea typeface="Overlock"/>
                <a:cs typeface="Overlock"/>
                <a:sym typeface="Overlock"/>
              </a:rPr>
              <a:t>—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menggunakan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algoritma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pembelajaran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mesin</a:t>
            </a:r>
            <a:r>
              <a:rPr lang="en-US" sz="2400" dirty="0">
                <a:ea typeface="Overlock"/>
                <a:cs typeface="Overlock"/>
                <a:sym typeface="Overlock"/>
              </a:rPr>
              <a:t> yang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tidak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diawasi</a:t>
            </a:r>
            <a:r>
              <a:rPr lang="en-US" sz="2400" dirty="0">
                <a:ea typeface="Overlock"/>
                <a:cs typeface="Overlock"/>
                <a:sym typeface="Overlock"/>
              </a:rPr>
              <a:t> dan semi-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diawasi</a:t>
            </a:r>
            <a:r>
              <a:rPr lang="en-US" sz="2400" dirty="0">
                <a:ea typeface="Overlock"/>
                <a:cs typeface="Overlock"/>
                <a:sym typeface="Overlock"/>
              </a:rPr>
              <a:t>—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membantu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secara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signifikan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mengurangi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beban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kerja</a:t>
            </a:r>
            <a:r>
              <a:rPr lang="en-US" sz="2400" dirty="0">
                <a:ea typeface="Overlock"/>
                <a:cs typeface="Overlock"/>
                <a:sym typeface="Overlock"/>
              </a:rPr>
              <a:t> pada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pemberi</a:t>
            </a:r>
            <a:r>
              <a:rPr lang="en-US" sz="2400" dirty="0">
                <a:ea typeface="Overlock"/>
                <a:cs typeface="Overlock"/>
                <a:sym typeface="Overlock"/>
              </a:rPr>
              <a:t> label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manusia</a:t>
            </a:r>
            <a:r>
              <a:rPr lang="en-US" sz="2400" dirty="0">
                <a:ea typeface="Overlock"/>
                <a:cs typeface="Overlock"/>
                <a:sym typeface="Overlock"/>
              </a:rPr>
              <a:t>.</a:t>
            </a:r>
          </a:p>
          <a:p>
            <a:pPr>
              <a:buSzPct val="78571"/>
            </a:pPr>
            <a:r>
              <a:rPr lang="en-US" sz="2400" dirty="0" err="1">
                <a:ea typeface="Overlock"/>
                <a:cs typeface="Overlock"/>
                <a:sym typeface="Overlock"/>
              </a:rPr>
              <a:t>Algoritma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tanpa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pengawasan</a:t>
            </a:r>
            <a:r>
              <a:rPr lang="en-US" sz="2400" dirty="0">
                <a:ea typeface="Overlock"/>
                <a:cs typeface="Overlock"/>
                <a:sym typeface="Overlock"/>
              </a:rPr>
              <a:t> (</a:t>
            </a:r>
            <a:r>
              <a:rPr lang="en-US" sz="2400" b="1" i="1" dirty="0">
                <a:ea typeface="Overlock"/>
                <a:cs typeface="Overlock"/>
                <a:sym typeface="Overlock"/>
              </a:rPr>
              <a:t>unsupervised learning</a:t>
            </a:r>
            <a:r>
              <a:rPr lang="en-US" sz="2400" dirty="0">
                <a:ea typeface="Overlock"/>
                <a:cs typeface="Overlock"/>
                <a:sym typeface="Overlock"/>
              </a:rPr>
              <a:t>)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seperti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pengelompokan</a:t>
            </a:r>
            <a:r>
              <a:rPr lang="en-US" sz="2400" dirty="0">
                <a:ea typeface="Overlock"/>
                <a:cs typeface="Overlock"/>
                <a:sym typeface="Overlock"/>
              </a:rPr>
              <a:t> dan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algoritma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b="1" i="1" dirty="0">
                <a:ea typeface="Overlock"/>
                <a:cs typeface="Overlock"/>
                <a:sym typeface="Overlock"/>
              </a:rPr>
              <a:t>semi-supervised</a:t>
            </a:r>
            <a:r>
              <a:rPr lang="en-US" sz="2400" dirty="0">
                <a:ea typeface="Overlock"/>
                <a:cs typeface="Overlock"/>
                <a:sym typeface="Overlock"/>
              </a:rPr>
              <a:t> yang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baru</a:t>
            </a:r>
            <a:r>
              <a:rPr lang="en-US" sz="2400" b="1" dirty="0">
                <a:ea typeface="Overlock"/>
                <a:cs typeface="Overlock"/>
                <a:sym typeface="Overlock"/>
              </a:rPr>
              <a:t> </a:t>
            </a:r>
            <a:r>
              <a:rPr lang="en-US" sz="2400" b="1" dirty="0" err="1">
                <a:ea typeface="Overlock"/>
                <a:cs typeface="Overlock"/>
                <a:sym typeface="Overlock"/>
              </a:rPr>
              <a:t>banyak</a:t>
            </a:r>
            <a:r>
              <a:rPr lang="en-US" sz="2400" b="1" dirty="0">
                <a:ea typeface="Overlock"/>
                <a:cs typeface="Overlock"/>
                <a:sym typeface="Overlock"/>
              </a:rPr>
              <a:t> </a:t>
            </a:r>
            <a:r>
              <a:rPr lang="en-US" sz="2400" b="1" dirty="0" err="1">
                <a:ea typeface="Overlock"/>
                <a:cs typeface="Overlock"/>
                <a:sym typeface="Overlock"/>
              </a:rPr>
              <a:t>dikembangkan</a:t>
            </a:r>
            <a:r>
              <a:rPr lang="en-US" sz="2400" b="1" dirty="0">
                <a:ea typeface="Overlock"/>
                <a:cs typeface="Overlock"/>
                <a:sym typeface="Overlock"/>
              </a:rPr>
              <a:t> </a:t>
            </a:r>
            <a:r>
              <a:rPr lang="en-US" sz="2400" b="1" dirty="0" err="1">
                <a:ea typeface="Overlock"/>
                <a:cs typeface="Overlock"/>
                <a:sym typeface="Overlock"/>
              </a:rPr>
              <a:t>untuk</a:t>
            </a:r>
            <a:r>
              <a:rPr lang="en-US" sz="2400" b="1" dirty="0">
                <a:ea typeface="Overlock"/>
                <a:cs typeface="Overlock"/>
                <a:sym typeface="Overlock"/>
              </a:rPr>
              <a:t> </a:t>
            </a:r>
            <a:r>
              <a:rPr lang="en-US" sz="2400" b="1" dirty="0" err="1">
                <a:ea typeface="Overlock"/>
                <a:cs typeface="Overlock"/>
                <a:sym typeface="Overlock"/>
              </a:rPr>
              <a:t>melakukan</a:t>
            </a:r>
            <a:r>
              <a:rPr lang="en-US" sz="2400" b="1" dirty="0">
                <a:ea typeface="Overlock"/>
                <a:cs typeface="Overlock"/>
                <a:sym typeface="Overlock"/>
              </a:rPr>
              <a:t> proses </a:t>
            </a:r>
            <a:r>
              <a:rPr lang="en-US" sz="2400" b="1" dirty="0" err="1">
                <a:ea typeface="Overlock"/>
                <a:cs typeface="Overlock"/>
                <a:sym typeface="Overlock"/>
              </a:rPr>
              <a:t>pelabelan</a:t>
            </a:r>
            <a:r>
              <a:rPr lang="en-US" sz="2400" b="1" dirty="0">
                <a:ea typeface="Overlock"/>
                <a:cs typeface="Overlock"/>
                <a:sym typeface="Overlock"/>
              </a:rPr>
              <a:t> data AI</a:t>
            </a:r>
            <a:r>
              <a:rPr lang="en-US" sz="2400" dirty="0">
                <a:ea typeface="Overlock"/>
                <a:cs typeface="Overlock"/>
                <a:sym typeface="Overlock"/>
              </a:rPr>
              <a:t>—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seperti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pembelajaran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aktif</a:t>
            </a:r>
            <a:r>
              <a:rPr lang="en-US" sz="2400" dirty="0">
                <a:ea typeface="Overlock"/>
                <a:cs typeface="Overlock"/>
                <a:sym typeface="Overlock"/>
              </a:rPr>
              <a:t> (</a:t>
            </a:r>
            <a:r>
              <a:rPr lang="en-US" sz="2400" b="1" dirty="0">
                <a:ea typeface="Overlock"/>
                <a:cs typeface="Overlock"/>
                <a:sym typeface="Overlock"/>
              </a:rPr>
              <a:t>active learning</a:t>
            </a:r>
            <a:r>
              <a:rPr lang="en-US" sz="2400" dirty="0">
                <a:ea typeface="Overlock"/>
                <a:cs typeface="Overlock"/>
                <a:sym typeface="Overlock"/>
              </a:rPr>
              <a:t>)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adalah</a:t>
            </a:r>
            <a:r>
              <a:rPr lang="en-US" sz="2400" dirty="0">
                <a:ea typeface="Overlock"/>
                <a:cs typeface="Overlock"/>
                <a:sym typeface="Overlock"/>
              </a:rPr>
              <a:t> salah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satu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pendekatan</a:t>
            </a:r>
            <a:r>
              <a:rPr lang="en-US" sz="2400" dirty="0">
                <a:ea typeface="Overlock"/>
                <a:cs typeface="Overlock"/>
                <a:sym typeface="Overlock"/>
              </a:rPr>
              <a:t> yang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dapat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mengurangi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waktu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anotasi</a:t>
            </a:r>
            <a:r>
              <a:rPr lang="en-US" sz="2400" dirty="0">
                <a:ea typeface="Overlock"/>
                <a:cs typeface="Overlock"/>
                <a:sym typeface="Overlock"/>
              </a:rPr>
              <a:t>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hingga</a:t>
            </a:r>
            <a:r>
              <a:rPr lang="en-US" sz="2400" dirty="0">
                <a:ea typeface="Overlock"/>
                <a:cs typeface="Overlock"/>
                <a:sym typeface="Overlock"/>
              </a:rPr>
              <a:t> batas </a:t>
            </a:r>
            <a:r>
              <a:rPr lang="en-US" sz="2400" dirty="0" err="1">
                <a:ea typeface="Overlock"/>
                <a:cs typeface="Overlock"/>
                <a:sym typeface="Overlock"/>
              </a:rPr>
              <a:t>tertentu</a:t>
            </a:r>
            <a:r>
              <a:rPr lang="en-US" sz="2400" dirty="0">
                <a:ea typeface="Overlock"/>
                <a:cs typeface="Overlock"/>
                <a:sym typeface="Overlock"/>
              </a:rPr>
              <a:t>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9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pPr>
              <a:buClr>
                <a:srgbClr val="0F3570"/>
              </a:buClr>
            </a:pPr>
            <a:r>
              <a:rPr lang="en-US" dirty="0" err="1">
                <a:solidFill>
                  <a:srgbClr val="0F3570"/>
                </a:solidFill>
                <a:ea typeface="Overlock"/>
                <a:sym typeface="Overlock"/>
              </a:rPr>
              <a:t>Kelebihan</a:t>
            </a:r>
            <a:r>
              <a:rPr lang="en-US" dirty="0">
                <a:solidFill>
                  <a:srgbClr val="0F3570"/>
                </a:solidFill>
                <a:ea typeface="Overlock"/>
                <a:sym typeface="Overlock"/>
              </a:rPr>
              <a:t> dan </a:t>
            </a:r>
            <a:r>
              <a:rPr lang="en-US" dirty="0" err="1">
                <a:solidFill>
                  <a:srgbClr val="0F3570"/>
                </a:solidFill>
                <a:ea typeface="Overlock"/>
                <a:sym typeface="Overlock"/>
              </a:rPr>
              <a:t>Kekurangan</a:t>
            </a:r>
            <a:r>
              <a:rPr lang="en-US" dirty="0">
                <a:solidFill>
                  <a:srgbClr val="0F3570"/>
                </a:solidFill>
                <a:ea typeface="Overlock"/>
                <a:sym typeface="Overlock"/>
              </a:rPr>
              <a:t> </a:t>
            </a:r>
            <a:br>
              <a:rPr lang="en-US" dirty="0">
                <a:solidFill>
                  <a:srgbClr val="0F3570"/>
                </a:solidFill>
                <a:ea typeface="Overlock"/>
                <a:sym typeface="Overlock"/>
              </a:rPr>
            </a:br>
            <a:r>
              <a:rPr lang="en-US" dirty="0">
                <a:solidFill>
                  <a:srgbClr val="0F3570"/>
                </a:solidFill>
                <a:ea typeface="Overlock"/>
                <a:sym typeface="Overlock"/>
              </a:rPr>
              <a:t>Masing-masing Metode</a:t>
            </a:r>
            <a:endParaRPr dirty="0">
              <a:solidFill>
                <a:srgbClr val="0F3570"/>
              </a:solidFill>
              <a:ea typeface="Overlock"/>
              <a:sym typeface="Overlock"/>
            </a:endParaRPr>
          </a:p>
        </p:txBody>
      </p:sp>
      <p:pic>
        <p:nvPicPr>
          <p:cNvPr id="1190" name="Google Shape;1190;p91"/>
          <p:cNvPicPr preferRelativeResize="0"/>
          <p:nvPr/>
        </p:nvPicPr>
        <p:blipFill rotWithShape="1">
          <a:blip r:embed="rId3">
            <a:alphaModFix/>
          </a:blip>
          <a:srcRect t="9861"/>
          <a:stretch/>
        </p:blipFill>
        <p:spPr>
          <a:xfrm>
            <a:off x="5765112" y="0"/>
            <a:ext cx="6426888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92"/>
          <p:cNvSpPr txBox="1">
            <a:spLocks noGrp="1"/>
          </p:cNvSpPr>
          <p:nvPr>
            <p:ph type="title"/>
          </p:nvPr>
        </p:nvSpPr>
        <p:spPr>
          <a:xfrm>
            <a:off x="674370" y="191069"/>
            <a:ext cx="10679430" cy="79157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b" anchorCtr="0">
            <a:normAutofit/>
          </a:bodyPr>
          <a:lstStyle/>
          <a:p>
            <a:r>
              <a:rPr lang="en-US" dirty="0" err="1">
                <a:ea typeface="Overlock"/>
                <a:sym typeface="Overlock"/>
              </a:rPr>
              <a:t>Pelabelan</a:t>
            </a:r>
            <a:r>
              <a:rPr lang="en-US" dirty="0">
                <a:ea typeface="Overlock"/>
                <a:sym typeface="Overlock"/>
              </a:rPr>
              <a:t> data : </a:t>
            </a:r>
            <a:r>
              <a:rPr lang="en-US" dirty="0" err="1">
                <a:ea typeface="Overlock"/>
                <a:sym typeface="Overlock"/>
              </a:rPr>
              <a:t>Pengolahan</a:t>
            </a:r>
            <a:r>
              <a:rPr lang="en-US" dirty="0">
                <a:ea typeface="Overlock"/>
                <a:sym typeface="Overlock"/>
              </a:rPr>
              <a:t> Citra</a:t>
            </a:r>
            <a:endParaRPr dirty="0">
              <a:ea typeface="Overlock"/>
              <a:sym typeface="Overlock"/>
            </a:endParaRPr>
          </a:p>
        </p:txBody>
      </p:sp>
      <p:pic>
        <p:nvPicPr>
          <p:cNvPr id="1196" name="Google Shape;1196;p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6250" y="822960"/>
            <a:ext cx="7638817" cy="6035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9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rgbClr val="0F3570"/>
              </a:buClr>
              <a:buSzPts val="2800"/>
            </a:pPr>
            <a:r>
              <a:rPr lang="en-US" sz="3333" dirty="0" err="1">
                <a:solidFill>
                  <a:srgbClr val="0F3570"/>
                </a:solidFill>
                <a:ea typeface="Overlock"/>
                <a:sym typeface="Overlock"/>
              </a:rPr>
              <a:t>Pelabelan</a:t>
            </a:r>
            <a:r>
              <a:rPr lang="en-US" sz="3333" dirty="0">
                <a:solidFill>
                  <a:srgbClr val="0F3570"/>
                </a:solidFill>
                <a:ea typeface="Overlock"/>
                <a:sym typeface="Overlock"/>
              </a:rPr>
              <a:t> data : </a:t>
            </a:r>
            <a:r>
              <a:rPr lang="en-US" sz="3333" dirty="0" err="1">
                <a:solidFill>
                  <a:srgbClr val="0F3570"/>
                </a:solidFill>
                <a:ea typeface="Overlock"/>
                <a:sym typeface="Overlock"/>
              </a:rPr>
              <a:t>Pengolahan</a:t>
            </a:r>
            <a:r>
              <a:rPr lang="en-US" sz="3333" dirty="0">
                <a:solidFill>
                  <a:srgbClr val="0F3570"/>
                </a:solidFill>
                <a:ea typeface="Overlock"/>
                <a:sym typeface="Overlock"/>
              </a:rPr>
              <a:t> Citra</a:t>
            </a:r>
            <a:endParaRPr sz="3333" dirty="0">
              <a:solidFill>
                <a:srgbClr val="0F3570"/>
              </a:solidFill>
              <a:ea typeface="Overlock"/>
              <a:sym typeface="Overlock"/>
            </a:endParaRPr>
          </a:p>
          <a:p>
            <a:pPr>
              <a:buSzPts val="2800"/>
            </a:pPr>
            <a:endParaRPr dirty="0"/>
          </a:p>
        </p:txBody>
      </p:sp>
      <p:sp>
        <p:nvSpPr>
          <p:cNvPr id="1202" name="Google Shape;1202;p9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lnSpc>
                <a:spcPct val="115000"/>
              </a:lnSpc>
              <a:buSzPct val="165898"/>
              <a:buNone/>
            </a:pPr>
            <a:r>
              <a:rPr lang="en-US" dirty="0" err="1">
                <a:ea typeface="Overlock"/>
                <a:cs typeface="Overlock"/>
                <a:sym typeface="Overlock"/>
              </a:rPr>
              <a:t>Permasalahan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pengolahan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citra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memerlukan</a:t>
            </a:r>
            <a:r>
              <a:rPr lang="en-US" dirty="0">
                <a:ea typeface="Overlock"/>
                <a:cs typeface="Overlock"/>
                <a:sym typeface="Overlock"/>
              </a:rPr>
              <a:t> data visual </a:t>
            </a:r>
            <a:r>
              <a:rPr lang="en-US" dirty="0" err="1">
                <a:ea typeface="Overlock"/>
                <a:cs typeface="Overlock"/>
                <a:sym typeface="Overlock"/>
              </a:rPr>
              <a:t>beranotasi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dalam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bentuk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gambar</a:t>
            </a:r>
            <a:r>
              <a:rPr lang="en-US" dirty="0">
                <a:ea typeface="Overlock"/>
                <a:cs typeface="Overlock"/>
                <a:sym typeface="Overlock"/>
              </a:rPr>
              <a:t>. </a:t>
            </a:r>
            <a:r>
              <a:rPr lang="en-US" dirty="0" err="1">
                <a:ea typeface="Overlock"/>
                <a:cs typeface="Overlock"/>
                <a:sym typeface="Overlock"/>
              </a:rPr>
              <a:t>Anotasi</a:t>
            </a:r>
            <a:r>
              <a:rPr lang="en-US" dirty="0">
                <a:ea typeface="Overlock"/>
                <a:cs typeface="Overlock"/>
                <a:sym typeface="Overlock"/>
              </a:rPr>
              <a:t> data </a:t>
            </a:r>
            <a:r>
              <a:rPr lang="en-US" dirty="0" err="1">
                <a:ea typeface="Overlock"/>
                <a:cs typeface="Overlock"/>
                <a:sym typeface="Overlock"/>
              </a:rPr>
              <a:t>dalam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pengolahan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citra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bergantung</a:t>
            </a:r>
            <a:r>
              <a:rPr lang="en-US" dirty="0">
                <a:ea typeface="Overlock"/>
                <a:cs typeface="Overlock"/>
                <a:sym typeface="Overlock"/>
              </a:rPr>
              <a:t> pada </a:t>
            </a:r>
            <a:r>
              <a:rPr lang="en-US" dirty="0" err="1">
                <a:ea typeface="Overlock"/>
                <a:cs typeface="Overlock"/>
                <a:sym typeface="Overlock"/>
              </a:rPr>
              <a:t>tugas</a:t>
            </a:r>
            <a:r>
              <a:rPr lang="en-US" dirty="0">
                <a:ea typeface="Overlock"/>
                <a:cs typeface="Overlock"/>
                <a:sym typeface="Overlock"/>
              </a:rPr>
              <a:t> visual yang </a:t>
            </a:r>
            <a:r>
              <a:rPr lang="en-US" dirty="0" err="1">
                <a:ea typeface="Overlock"/>
                <a:cs typeface="Overlock"/>
                <a:sym typeface="Overlock"/>
              </a:rPr>
              <a:t>kita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inginkan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untuk</a:t>
            </a:r>
            <a:r>
              <a:rPr lang="en-US" dirty="0"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ea typeface="Overlock"/>
                <a:cs typeface="Overlock"/>
                <a:sym typeface="Overlock"/>
              </a:rPr>
              <a:t>dilakukan</a:t>
            </a:r>
            <a:r>
              <a:rPr lang="en-US" dirty="0">
                <a:ea typeface="Overlock"/>
                <a:cs typeface="Overlock"/>
                <a:sym typeface="Overlock"/>
              </a:rPr>
              <a:t> oleh model.</a:t>
            </a:r>
            <a:endParaRPr dirty="0">
              <a:ea typeface="Overlock"/>
              <a:cs typeface="Overlock"/>
              <a:sym typeface="Overlock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0">
          <a:extLst>
            <a:ext uri="{FF2B5EF4-FFF2-40B4-BE49-F238E27FC236}">
              <a16:creationId xmlns:a16="http://schemas.microsoft.com/office/drawing/2014/main" id="{29B08B79-5C6B-0D31-1490-2F25FAC15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93">
            <a:extLst>
              <a:ext uri="{FF2B5EF4-FFF2-40B4-BE49-F238E27FC236}">
                <a16:creationId xmlns:a16="http://schemas.microsoft.com/office/drawing/2014/main" id="{3BB4F25E-88F6-421E-8435-3B059EA929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rgbClr val="0F3570"/>
              </a:buClr>
              <a:buSzPts val="2800"/>
            </a:pPr>
            <a:r>
              <a:rPr lang="en-US" sz="3333" dirty="0">
                <a:solidFill>
                  <a:srgbClr val="0F3570"/>
                </a:solidFill>
                <a:ea typeface="Overlock"/>
                <a:sym typeface="Overlock"/>
              </a:rPr>
              <a:t>Jenis </a:t>
            </a:r>
            <a:r>
              <a:rPr lang="en-US" sz="3333" dirty="0" err="1">
                <a:solidFill>
                  <a:srgbClr val="0F3570"/>
                </a:solidFill>
                <a:ea typeface="Overlock"/>
                <a:sym typeface="Overlock"/>
              </a:rPr>
              <a:t>Anotasi</a:t>
            </a:r>
            <a:r>
              <a:rPr lang="en-US" sz="3333" dirty="0">
                <a:solidFill>
                  <a:srgbClr val="0F3570"/>
                </a:solidFill>
                <a:ea typeface="Overlock"/>
                <a:sym typeface="Overlock"/>
              </a:rPr>
              <a:t> </a:t>
            </a:r>
            <a:r>
              <a:rPr lang="en-US" sz="3333" dirty="0" err="1">
                <a:solidFill>
                  <a:srgbClr val="0F3570"/>
                </a:solidFill>
                <a:ea typeface="Overlock"/>
                <a:sym typeface="Overlock"/>
              </a:rPr>
              <a:t>Pengolahan</a:t>
            </a:r>
            <a:r>
              <a:rPr lang="en-US" sz="3333" dirty="0">
                <a:solidFill>
                  <a:srgbClr val="0F3570"/>
                </a:solidFill>
                <a:ea typeface="Overlock"/>
                <a:sym typeface="Overlock"/>
              </a:rPr>
              <a:t> Citra</a:t>
            </a:r>
            <a:endParaRPr sz="3333" dirty="0">
              <a:solidFill>
                <a:srgbClr val="0F3570"/>
              </a:solidFill>
              <a:ea typeface="Overlock"/>
              <a:sym typeface="Overlock"/>
            </a:endParaRPr>
          </a:p>
          <a:p>
            <a:pPr>
              <a:buSzPts val="2800"/>
            </a:pPr>
            <a:endParaRPr dirty="0"/>
          </a:p>
        </p:txBody>
      </p:sp>
      <p:sp>
        <p:nvSpPr>
          <p:cNvPr id="1202" name="Google Shape;1202;p93">
            <a:extLst>
              <a:ext uri="{FF2B5EF4-FFF2-40B4-BE49-F238E27FC236}">
                <a16:creationId xmlns:a16="http://schemas.microsoft.com/office/drawing/2014/main" id="{7CBC9919-E513-92F8-DEC9-F6731AEDB18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0" y="1176532"/>
            <a:ext cx="7237124" cy="500043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609570" indent="-396642">
              <a:lnSpc>
                <a:spcPct val="115000"/>
              </a:lnSpc>
              <a:buSzPct val="100000"/>
              <a:buFont typeface="Overlock"/>
              <a:buChar char="●"/>
            </a:pPr>
            <a:r>
              <a:rPr lang="en-US" sz="2100" i="1" dirty="0">
                <a:ea typeface="Overlock"/>
                <a:cs typeface="Overlock"/>
                <a:sym typeface="Overlock"/>
              </a:rPr>
              <a:t>Image Classification</a:t>
            </a:r>
            <a:r>
              <a:rPr lang="en-US" sz="2100" dirty="0">
                <a:ea typeface="Overlock"/>
                <a:cs typeface="Overlock"/>
                <a:sym typeface="Overlock"/>
              </a:rPr>
              <a:t>  -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klasifikasi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gambar</a:t>
            </a:r>
            <a:endParaRPr sz="2100" dirty="0">
              <a:ea typeface="Overlock"/>
              <a:cs typeface="Overlock"/>
              <a:sym typeface="Overlock"/>
            </a:endParaRPr>
          </a:p>
          <a:p>
            <a:pPr marL="1219139" lvl="1" indent="-396643">
              <a:lnSpc>
                <a:spcPct val="115000"/>
              </a:lnSpc>
              <a:buSzPct val="100000"/>
              <a:buFont typeface="Overlock"/>
              <a:buChar char="○"/>
            </a:pPr>
            <a:r>
              <a:rPr lang="en-US" sz="2100" dirty="0" err="1">
                <a:ea typeface="Overlock"/>
                <a:cs typeface="Overlock"/>
                <a:sym typeface="Overlock"/>
              </a:rPr>
              <a:t>Anotasi</a:t>
            </a:r>
            <a:r>
              <a:rPr lang="en-US" sz="2100" dirty="0">
                <a:ea typeface="Overlock"/>
                <a:cs typeface="Overlock"/>
                <a:sym typeface="Overlock"/>
              </a:rPr>
              <a:t> data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untuk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klasifikasi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gambar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memerlukan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penambahan</a:t>
            </a:r>
            <a:r>
              <a:rPr lang="en-US" sz="2100" dirty="0">
                <a:ea typeface="Overlock"/>
                <a:cs typeface="Overlock"/>
                <a:sym typeface="Overlock"/>
              </a:rPr>
              <a:t> tag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ke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gambar</a:t>
            </a:r>
            <a:r>
              <a:rPr lang="en-US" sz="2100" dirty="0">
                <a:ea typeface="Overlock"/>
                <a:cs typeface="Overlock"/>
                <a:sym typeface="Overlock"/>
              </a:rPr>
              <a:t> yang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sedang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dikerjakan</a:t>
            </a:r>
            <a:r>
              <a:rPr lang="en-US" sz="2100" dirty="0">
                <a:ea typeface="Overlock"/>
                <a:cs typeface="Overlock"/>
                <a:sym typeface="Overlock"/>
              </a:rPr>
              <a:t>. </a:t>
            </a:r>
            <a:endParaRPr sz="2100" dirty="0">
              <a:ea typeface="Overlock"/>
              <a:cs typeface="Overlock"/>
              <a:sym typeface="Overlock"/>
            </a:endParaRPr>
          </a:p>
          <a:p>
            <a:pPr marL="1219139" lvl="1" indent="-396643">
              <a:lnSpc>
                <a:spcPct val="115000"/>
              </a:lnSpc>
              <a:buSzPct val="100000"/>
              <a:buFont typeface="Overlock"/>
              <a:buChar char="○"/>
            </a:pPr>
            <a:r>
              <a:rPr lang="en-US" sz="2100" dirty="0" err="1">
                <a:ea typeface="Overlock"/>
                <a:cs typeface="Overlock"/>
                <a:sym typeface="Overlock"/>
              </a:rPr>
              <a:t>Jumlah</a:t>
            </a:r>
            <a:r>
              <a:rPr lang="en-US" sz="2100" dirty="0">
                <a:ea typeface="Overlock"/>
                <a:cs typeface="Overlock"/>
                <a:sym typeface="Overlock"/>
              </a:rPr>
              <a:t> tag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unik</a:t>
            </a:r>
            <a:r>
              <a:rPr lang="en-US" sz="2100" dirty="0">
                <a:ea typeface="Overlock"/>
                <a:cs typeface="Overlock"/>
                <a:sym typeface="Overlock"/>
              </a:rPr>
              <a:t> di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seluruh</a:t>
            </a:r>
            <a:r>
              <a:rPr lang="en-US" sz="2100" dirty="0">
                <a:ea typeface="Overlock"/>
                <a:cs typeface="Overlock"/>
                <a:sym typeface="Overlock"/>
              </a:rPr>
              <a:t> database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adalah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jumlah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kelas</a:t>
            </a:r>
            <a:r>
              <a:rPr lang="en-US" sz="2100" dirty="0">
                <a:ea typeface="Overlock"/>
                <a:cs typeface="Overlock"/>
                <a:sym typeface="Overlock"/>
              </a:rPr>
              <a:t> yang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dapat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diklasifikasi</a:t>
            </a:r>
            <a:r>
              <a:rPr lang="en-US" sz="2100" dirty="0">
                <a:ea typeface="Overlock"/>
                <a:cs typeface="Overlock"/>
                <a:sym typeface="Overlock"/>
              </a:rPr>
              <a:t> oleh model.</a:t>
            </a:r>
            <a:endParaRPr sz="2100" dirty="0">
              <a:ea typeface="Overlock"/>
              <a:cs typeface="Overlock"/>
              <a:sym typeface="Overlock"/>
            </a:endParaRPr>
          </a:p>
          <a:p>
            <a:pPr marL="1219139" lvl="1" indent="-396643">
              <a:lnSpc>
                <a:spcPct val="115000"/>
              </a:lnSpc>
              <a:buSzPct val="100000"/>
              <a:buFont typeface="Overlock"/>
              <a:buChar char="○"/>
            </a:pPr>
            <a:r>
              <a:rPr lang="en-US" sz="2100" dirty="0" err="1">
                <a:ea typeface="Overlock"/>
                <a:cs typeface="Overlock"/>
                <a:sym typeface="Overlock"/>
              </a:rPr>
              <a:t>Masalah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klasifikasi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dapat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dibagi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lagi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menjadi</a:t>
            </a:r>
            <a:r>
              <a:rPr lang="en-US" sz="2100" dirty="0">
                <a:ea typeface="Overlock"/>
                <a:cs typeface="Overlock"/>
                <a:sym typeface="Overlock"/>
              </a:rPr>
              <a:t>:</a:t>
            </a:r>
            <a:endParaRPr sz="2100" dirty="0">
              <a:ea typeface="Overlock"/>
              <a:cs typeface="Overlock"/>
              <a:sym typeface="Overlock"/>
            </a:endParaRPr>
          </a:p>
          <a:p>
            <a:pPr marL="1828709" lvl="2" indent="-396685">
              <a:lnSpc>
                <a:spcPct val="115000"/>
              </a:lnSpc>
              <a:buSzPct val="100000"/>
              <a:buFont typeface="Overlock"/>
              <a:buChar char="■"/>
            </a:pPr>
            <a:r>
              <a:rPr lang="en-US" sz="2100" dirty="0" err="1">
                <a:ea typeface="Overlock"/>
                <a:cs typeface="Overlock"/>
                <a:sym typeface="Overlock"/>
              </a:rPr>
              <a:t>Klasifikasi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kelas</a:t>
            </a:r>
            <a:r>
              <a:rPr lang="en-US" sz="2100" dirty="0">
                <a:ea typeface="Overlock"/>
                <a:cs typeface="Overlock"/>
                <a:sym typeface="Overlock"/>
              </a:rPr>
              <a:t> biner (yang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hanya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terdiri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dari</a:t>
            </a:r>
            <a:r>
              <a:rPr lang="en-US" sz="2100" dirty="0">
                <a:ea typeface="Overlock"/>
                <a:cs typeface="Overlock"/>
                <a:sym typeface="Overlock"/>
              </a:rPr>
              <a:t> dua tag)</a:t>
            </a:r>
            <a:endParaRPr sz="2100" dirty="0">
              <a:ea typeface="Overlock"/>
              <a:cs typeface="Overlock"/>
              <a:sym typeface="Overlock"/>
            </a:endParaRPr>
          </a:p>
          <a:p>
            <a:pPr marL="1828709" lvl="2" indent="-396685">
              <a:lnSpc>
                <a:spcPct val="115000"/>
              </a:lnSpc>
              <a:buSzPct val="100000"/>
              <a:buFont typeface="Overlock"/>
              <a:buChar char="■"/>
            </a:pPr>
            <a:r>
              <a:rPr lang="en-US" sz="2100" dirty="0" err="1">
                <a:ea typeface="Overlock"/>
                <a:cs typeface="Overlock"/>
                <a:sym typeface="Overlock"/>
              </a:rPr>
              <a:t>Klasifikasi</a:t>
            </a:r>
            <a:r>
              <a:rPr lang="en-US" sz="2100" dirty="0">
                <a:ea typeface="Overlock"/>
                <a:cs typeface="Overlock"/>
                <a:sym typeface="Overlock"/>
              </a:rPr>
              <a:t> multiclass (yang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berisi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beberapa</a:t>
            </a:r>
            <a:r>
              <a:rPr lang="en-US" sz="2100" dirty="0">
                <a:ea typeface="Overlock"/>
                <a:cs typeface="Overlock"/>
                <a:sym typeface="Overlock"/>
              </a:rPr>
              <a:t> tag)</a:t>
            </a:r>
            <a:endParaRPr sz="2100" dirty="0">
              <a:ea typeface="Overlock"/>
              <a:cs typeface="Overlock"/>
              <a:sym typeface="Overlock"/>
            </a:endParaRPr>
          </a:p>
          <a:p>
            <a:pPr marL="1219139" lvl="1" indent="-396643">
              <a:lnSpc>
                <a:spcPct val="115000"/>
              </a:lnSpc>
              <a:buSzPct val="100000"/>
              <a:buFont typeface="Overlock"/>
              <a:buChar char="○"/>
            </a:pPr>
            <a:r>
              <a:rPr lang="en-US" sz="2100" dirty="0">
                <a:ea typeface="Overlock"/>
                <a:cs typeface="Overlock"/>
                <a:sym typeface="Overlock"/>
              </a:rPr>
              <a:t>Selain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itu</a:t>
            </a:r>
            <a:r>
              <a:rPr lang="en-US" sz="2100" dirty="0">
                <a:ea typeface="Overlock"/>
                <a:cs typeface="Overlock"/>
                <a:sym typeface="Overlock"/>
              </a:rPr>
              <a:t>,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klasifikasi</a:t>
            </a:r>
            <a:r>
              <a:rPr lang="en-US" sz="2100" dirty="0">
                <a:ea typeface="Overlock"/>
                <a:cs typeface="Overlock"/>
                <a:sym typeface="Overlock"/>
              </a:rPr>
              <a:t> multi-label juga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dapat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dilihat</a:t>
            </a:r>
            <a:r>
              <a:rPr lang="en-US" sz="2100" dirty="0">
                <a:ea typeface="Overlock"/>
                <a:cs typeface="Overlock"/>
                <a:sym typeface="Overlock"/>
              </a:rPr>
              <a:t>,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terutama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dalam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hal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deteksi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penyakit</a:t>
            </a:r>
            <a:r>
              <a:rPr lang="en-US" sz="2100" dirty="0">
                <a:ea typeface="Overlock"/>
                <a:cs typeface="Overlock"/>
                <a:sym typeface="Overlock"/>
              </a:rPr>
              <a:t>, dan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mengacu</a:t>
            </a:r>
            <a:r>
              <a:rPr lang="en-US" sz="2100" dirty="0">
                <a:ea typeface="Overlock"/>
                <a:cs typeface="Overlock"/>
                <a:sym typeface="Overlock"/>
              </a:rPr>
              <a:t> pada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setiap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gambar</a:t>
            </a:r>
            <a:r>
              <a:rPr lang="en-US" sz="2100" dirty="0">
                <a:ea typeface="Overlock"/>
                <a:cs typeface="Overlock"/>
                <a:sym typeface="Overlock"/>
              </a:rPr>
              <a:t> yang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memiliki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lebih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dari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satu</a:t>
            </a:r>
            <a:r>
              <a:rPr lang="en-US" sz="2100" dirty="0">
                <a:ea typeface="Overlock"/>
                <a:cs typeface="Overlock"/>
                <a:sym typeface="Overlock"/>
              </a:rPr>
              <a:t> tag.</a:t>
            </a:r>
            <a:endParaRPr sz="2100" dirty="0">
              <a:ea typeface="Overlock"/>
              <a:cs typeface="Overlock"/>
              <a:sym typeface="Overlock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657C5C-9D97-55FC-14F8-A6FEFE170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7124" y="1290833"/>
            <a:ext cx="4954876" cy="3886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42928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0">
          <a:extLst>
            <a:ext uri="{FF2B5EF4-FFF2-40B4-BE49-F238E27FC236}">
              <a16:creationId xmlns:a16="http://schemas.microsoft.com/office/drawing/2014/main" id="{B10190CE-684F-BB28-28A9-D3CBE7BC1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93">
            <a:extLst>
              <a:ext uri="{FF2B5EF4-FFF2-40B4-BE49-F238E27FC236}">
                <a16:creationId xmlns:a16="http://schemas.microsoft.com/office/drawing/2014/main" id="{2D703C80-6CD1-82AF-4D70-2CEFB237E0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rgbClr val="0F3570"/>
              </a:buClr>
              <a:buSzPts val="2800"/>
            </a:pPr>
            <a:r>
              <a:rPr lang="en-US" sz="3333" dirty="0">
                <a:solidFill>
                  <a:srgbClr val="0F3570"/>
                </a:solidFill>
                <a:ea typeface="Overlock"/>
                <a:sym typeface="Overlock"/>
              </a:rPr>
              <a:t>Jenis </a:t>
            </a:r>
            <a:r>
              <a:rPr lang="en-US" sz="3333" dirty="0" err="1">
                <a:solidFill>
                  <a:srgbClr val="0F3570"/>
                </a:solidFill>
                <a:ea typeface="Overlock"/>
                <a:sym typeface="Overlock"/>
              </a:rPr>
              <a:t>Anotasi</a:t>
            </a:r>
            <a:r>
              <a:rPr lang="en-US" sz="3333" dirty="0">
                <a:solidFill>
                  <a:srgbClr val="0F3570"/>
                </a:solidFill>
                <a:ea typeface="Overlock"/>
                <a:sym typeface="Overlock"/>
              </a:rPr>
              <a:t> </a:t>
            </a:r>
            <a:r>
              <a:rPr lang="en-US" sz="3333" dirty="0" err="1">
                <a:solidFill>
                  <a:srgbClr val="0F3570"/>
                </a:solidFill>
                <a:ea typeface="Overlock"/>
                <a:sym typeface="Overlock"/>
              </a:rPr>
              <a:t>Pengolahan</a:t>
            </a:r>
            <a:r>
              <a:rPr lang="en-US" sz="3333" dirty="0">
                <a:solidFill>
                  <a:srgbClr val="0F3570"/>
                </a:solidFill>
                <a:ea typeface="Overlock"/>
                <a:sym typeface="Overlock"/>
              </a:rPr>
              <a:t> Citra</a:t>
            </a:r>
            <a:endParaRPr sz="3333" dirty="0">
              <a:solidFill>
                <a:srgbClr val="0F3570"/>
              </a:solidFill>
              <a:ea typeface="Overlock"/>
              <a:sym typeface="Overlock"/>
            </a:endParaRPr>
          </a:p>
          <a:p>
            <a:pPr>
              <a:buSzPts val="2800"/>
            </a:pPr>
            <a:endParaRPr dirty="0"/>
          </a:p>
        </p:txBody>
      </p:sp>
      <p:sp>
        <p:nvSpPr>
          <p:cNvPr id="1202" name="Google Shape;1202;p93">
            <a:extLst>
              <a:ext uri="{FF2B5EF4-FFF2-40B4-BE49-F238E27FC236}">
                <a16:creationId xmlns:a16="http://schemas.microsoft.com/office/drawing/2014/main" id="{3F867BD0-F2B6-87E7-D87E-7FDE5189FD9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91440" y="1176532"/>
            <a:ext cx="7635240" cy="500043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609570" indent="-396642">
              <a:lnSpc>
                <a:spcPct val="115000"/>
              </a:lnSpc>
              <a:buSzPct val="100000"/>
              <a:buFont typeface="Overlock"/>
              <a:buChar char="●"/>
            </a:pPr>
            <a:r>
              <a:rPr lang="en-US" sz="2100" i="1" dirty="0">
                <a:ea typeface="Overlock"/>
                <a:cs typeface="Overlock"/>
                <a:sym typeface="Overlock"/>
              </a:rPr>
              <a:t>Image Segmentation -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segmentasi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gambar</a:t>
            </a:r>
            <a:endParaRPr sz="2100" dirty="0">
              <a:ea typeface="Overlock"/>
              <a:cs typeface="Overlock"/>
              <a:sym typeface="Overlock"/>
            </a:endParaRPr>
          </a:p>
          <a:p>
            <a:pPr marL="1219139" lvl="1" indent="-396643">
              <a:lnSpc>
                <a:spcPct val="115000"/>
              </a:lnSpc>
              <a:buSzPct val="100000"/>
              <a:buFont typeface="Overlock"/>
              <a:buChar char="○"/>
            </a:pPr>
            <a:r>
              <a:rPr lang="en-US" sz="2100" dirty="0" err="1">
                <a:ea typeface="Overlock"/>
                <a:cs typeface="Overlock"/>
                <a:sym typeface="Overlock"/>
              </a:rPr>
              <a:t>Dalam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Segmentasi</a:t>
            </a:r>
            <a:r>
              <a:rPr lang="en-US" sz="2100" dirty="0">
                <a:ea typeface="Overlock"/>
                <a:cs typeface="Overlock"/>
                <a:sym typeface="Overlock"/>
              </a:rPr>
              <a:t> Gambar,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tugas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algoritma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pengolahan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citra</a:t>
            </a:r>
            <a:r>
              <a:rPr lang="en-US" sz="2100" dirty="0">
                <a:ea typeface="Overlock"/>
                <a:cs typeface="Overlock"/>
                <a:sym typeface="Overlock"/>
              </a:rPr>
              <a:t> (</a:t>
            </a:r>
            <a:r>
              <a:rPr lang="en-US" sz="2100" i="1" dirty="0">
                <a:ea typeface="Overlock"/>
                <a:cs typeface="Overlock"/>
                <a:sym typeface="Overlock"/>
              </a:rPr>
              <a:t>Computer Vision</a:t>
            </a:r>
            <a:r>
              <a:rPr lang="en-US" sz="2100" dirty="0">
                <a:ea typeface="Overlock"/>
                <a:cs typeface="Overlock"/>
                <a:sym typeface="Overlock"/>
              </a:rPr>
              <a:t>)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adalah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memisahkan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objek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dalam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gambar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dari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latar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belakangnya</a:t>
            </a:r>
            <a:r>
              <a:rPr lang="en-US" sz="2100" dirty="0">
                <a:ea typeface="Overlock"/>
                <a:cs typeface="Overlock"/>
                <a:sym typeface="Overlock"/>
              </a:rPr>
              <a:t> dan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objek</a:t>
            </a:r>
            <a:r>
              <a:rPr lang="en-US" sz="2100" dirty="0">
                <a:ea typeface="Overlock"/>
                <a:cs typeface="Overlock"/>
                <a:sym typeface="Overlock"/>
              </a:rPr>
              <a:t> lain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dalam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gambar</a:t>
            </a:r>
            <a:r>
              <a:rPr lang="en-US" sz="2100" dirty="0">
                <a:ea typeface="Overlock"/>
                <a:cs typeface="Overlock"/>
                <a:sym typeface="Overlock"/>
              </a:rPr>
              <a:t> yang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sama</a:t>
            </a:r>
            <a:r>
              <a:rPr lang="en-US" sz="2100" dirty="0">
                <a:ea typeface="Overlock"/>
                <a:cs typeface="Overlock"/>
                <a:sym typeface="Overlock"/>
              </a:rPr>
              <a:t>. </a:t>
            </a:r>
            <a:endParaRPr sz="2100" dirty="0">
              <a:ea typeface="Overlock"/>
              <a:cs typeface="Overlock"/>
              <a:sym typeface="Overlock"/>
            </a:endParaRPr>
          </a:p>
          <a:p>
            <a:pPr marL="1219139" lvl="1" indent="-396643">
              <a:lnSpc>
                <a:spcPct val="115000"/>
              </a:lnSpc>
              <a:buSzPct val="100000"/>
              <a:buFont typeface="Overlock"/>
              <a:buChar char="○"/>
            </a:pPr>
            <a:r>
              <a:rPr lang="en-US" sz="2100" dirty="0">
                <a:ea typeface="Overlock"/>
                <a:cs typeface="Overlock"/>
                <a:sym typeface="Overlock"/>
              </a:rPr>
              <a:t>Ini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umumnya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berarti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peta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piksel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dengan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ukuran</a:t>
            </a:r>
            <a:r>
              <a:rPr lang="en-US" sz="2100" dirty="0">
                <a:ea typeface="Overlock"/>
                <a:cs typeface="Overlock"/>
                <a:sym typeface="Overlock"/>
              </a:rPr>
              <a:t> yang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sama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dengan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gambar</a:t>
            </a:r>
            <a:r>
              <a:rPr lang="en-US" sz="2100" dirty="0">
                <a:ea typeface="Overlock"/>
                <a:cs typeface="Overlock"/>
                <a:sym typeface="Overlock"/>
              </a:rPr>
              <a:t> yang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berisi</a:t>
            </a:r>
            <a:r>
              <a:rPr lang="en-US" sz="2100" dirty="0">
                <a:ea typeface="Overlock"/>
                <a:cs typeface="Overlock"/>
                <a:sym typeface="Overlock"/>
              </a:rPr>
              <a:t> 1 di mana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objek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ada</a:t>
            </a:r>
            <a:r>
              <a:rPr lang="en-US" sz="2100" dirty="0">
                <a:ea typeface="Overlock"/>
                <a:cs typeface="Overlock"/>
                <a:sym typeface="Overlock"/>
              </a:rPr>
              <a:t> dan 0 di mana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anotasi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belum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dibuat</a:t>
            </a:r>
            <a:r>
              <a:rPr lang="en-US" sz="2100" dirty="0">
                <a:ea typeface="Overlock"/>
                <a:cs typeface="Overlock"/>
                <a:sym typeface="Overlock"/>
              </a:rPr>
              <a:t>.</a:t>
            </a:r>
            <a:endParaRPr sz="2100" dirty="0">
              <a:ea typeface="Overlock"/>
              <a:cs typeface="Overlock"/>
              <a:sym typeface="Overlock"/>
            </a:endParaRPr>
          </a:p>
          <a:p>
            <a:pPr marL="1219139" lvl="1" indent="-396643">
              <a:lnSpc>
                <a:spcPct val="115000"/>
              </a:lnSpc>
              <a:buSzPct val="100000"/>
              <a:buFont typeface="Overlock"/>
              <a:buChar char="○"/>
            </a:pPr>
            <a:r>
              <a:rPr lang="en-US" sz="2100" dirty="0" err="1">
                <a:ea typeface="Overlock"/>
                <a:cs typeface="Overlock"/>
                <a:sym typeface="Overlock"/>
              </a:rPr>
              <a:t>Untuk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beberapa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objek</a:t>
            </a:r>
            <a:r>
              <a:rPr lang="en-US" sz="2100" dirty="0">
                <a:ea typeface="Overlock"/>
                <a:cs typeface="Overlock"/>
                <a:sym typeface="Overlock"/>
              </a:rPr>
              <a:t> yang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akan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disegmentasi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dalam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gambar</a:t>
            </a:r>
            <a:r>
              <a:rPr lang="en-US" sz="2100" dirty="0">
                <a:ea typeface="Overlock"/>
                <a:cs typeface="Overlock"/>
                <a:sym typeface="Overlock"/>
              </a:rPr>
              <a:t> yang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sama</a:t>
            </a:r>
            <a:r>
              <a:rPr lang="en-US" sz="2100" dirty="0">
                <a:ea typeface="Overlock"/>
                <a:cs typeface="Overlock"/>
                <a:sym typeface="Overlock"/>
              </a:rPr>
              <a:t>,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peta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piksel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untuk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setiap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objek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digabungkan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berdasarkan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saluran</a:t>
            </a:r>
            <a:r>
              <a:rPr lang="en-US" sz="2100" dirty="0">
                <a:ea typeface="Overlock"/>
                <a:cs typeface="Overlock"/>
                <a:sym typeface="Overlock"/>
              </a:rPr>
              <a:t> dan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digunakan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sebagai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kebenaran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dasar</a:t>
            </a:r>
            <a:r>
              <a:rPr lang="en-US" sz="2100" dirty="0"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ea typeface="Overlock"/>
                <a:cs typeface="Overlock"/>
                <a:sym typeface="Overlock"/>
              </a:rPr>
              <a:t>untuk</a:t>
            </a:r>
            <a:r>
              <a:rPr lang="en-US" sz="2100" dirty="0">
                <a:ea typeface="Overlock"/>
                <a:cs typeface="Overlock"/>
                <a:sym typeface="Overlock"/>
              </a:rPr>
              <a:t> model.</a:t>
            </a:r>
            <a:endParaRPr sz="2100" dirty="0">
              <a:ea typeface="Overlock"/>
              <a:cs typeface="Overlock"/>
              <a:sym typeface="Overlock"/>
            </a:endParaRPr>
          </a:p>
          <a:p>
            <a:pPr marL="609570" indent="0">
              <a:lnSpc>
                <a:spcPct val="115000"/>
              </a:lnSpc>
              <a:buSzPct val="165898"/>
            </a:pPr>
            <a:endParaRPr sz="2100" dirty="0">
              <a:ea typeface="Overlock"/>
              <a:cs typeface="Overlock"/>
              <a:sym typeface="Overlock"/>
            </a:endParaRPr>
          </a:p>
          <a:p>
            <a:pPr marL="0" indent="0">
              <a:lnSpc>
                <a:spcPct val="115000"/>
              </a:lnSpc>
              <a:buSzPct val="165898"/>
            </a:pPr>
            <a:endParaRPr sz="2100" dirty="0">
              <a:ea typeface="Overlock"/>
              <a:cs typeface="Overlock"/>
              <a:sym typeface="Overlock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24277B-5932-456F-0CA0-98A39D7E14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9866" y="1176532"/>
            <a:ext cx="4016088" cy="424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31806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p9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rgbClr val="0F3570"/>
              </a:buClr>
              <a:buSzPts val="2800"/>
            </a:pPr>
            <a:r>
              <a:rPr lang="en-US" sz="3333" dirty="0">
                <a:solidFill>
                  <a:srgbClr val="0F3570"/>
                </a:solidFill>
                <a:ea typeface="Overlock"/>
                <a:sym typeface="Overlock"/>
              </a:rPr>
              <a:t>Jenis </a:t>
            </a:r>
            <a:r>
              <a:rPr lang="en-US" sz="3333" dirty="0" err="1">
                <a:solidFill>
                  <a:srgbClr val="0F3570"/>
                </a:solidFill>
                <a:ea typeface="Overlock"/>
                <a:sym typeface="Overlock"/>
              </a:rPr>
              <a:t>Anotasi</a:t>
            </a:r>
            <a:r>
              <a:rPr lang="en-US" sz="3333" dirty="0">
                <a:solidFill>
                  <a:srgbClr val="0F3570"/>
                </a:solidFill>
                <a:ea typeface="Overlock"/>
                <a:sym typeface="Overlock"/>
              </a:rPr>
              <a:t> </a:t>
            </a:r>
            <a:r>
              <a:rPr lang="en-US" sz="3333" dirty="0" err="1">
                <a:solidFill>
                  <a:srgbClr val="0F3570"/>
                </a:solidFill>
                <a:ea typeface="Overlock"/>
                <a:sym typeface="Overlock"/>
              </a:rPr>
              <a:t>Pengolahan</a:t>
            </a:r>
            <a:r>
              <a:rPr lang="en-US" sz="3333" dirty="0">
                <a:solidFill>
                  <a:srgbClr val="0F3570"/>
                </a:solidFill>
                <a:ea typeface="Overlock"/>
                <a:sym typeface="Overlock"/>
              </a:rPr>
              <a:t> Citra</a:t>
            </a:r>
          </a:p>
        </p:txBody>
      </p:sp>
      <p:sp>
        <p:nvSpPr>
          <p:cNvPr id="1208" name="Google Shape;1208;p94"/>
          <p:cNvSpPr txBox="1">
            <a:spLocks noGrp="1"/>
          </p:cNvSpPr>
          <p:nvPr>
            <p:ph idx="1"/>
          </p:nvPr>
        </p:nvSpPr>
        <p:spPr>
          <a:xfrm>
            <a:off x="114300" y="765810"/>
            <a:ext cx="8884068" cy="541115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609570" indent="-396642">
              <a:lnSpc>
                <a:spcPct val="115000"/>
              </a:lnSpc>
              <a:buSzPct val="100000"/>
              <a:buFont typeface="Overlock"/>
              <a:buChar char="●"/>
            </a:pPr>
            <a:r>
              <a:rPr lang="en-US" sz="2100" i="1" dirty="0">
                <a:latin typeface="Overlock"/>
                <a:ea typeface="Overlock"/>
                <a:cs typeface="Overlock"/>
                <a:sym typeface="Overlock"/>
              </a:rPr>
              <a:t>Object Detection -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Deteksi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obyek</a:t>
            </a:r>
            <a:endParaRPr sz="2100" dirty="0">
              <a:latin typeface="Overlock"/>
              <a:ea typeface="Overlock"/>
              <a:cs typeface="Overlock"/>
              <a:sym typeface="Overlock"/>
            </a:endParaRPr>
          </a:p>
          <a:p>
            <a:pPr marL="971550" lvl="1" indent="-342900">
              <a:lnSpc>
                <a:spcPct val="115000"/>
              </a:lnSpc>
              <a:buSzPct val="100000"/>
              <a:buFont typeface="Overlock"/>
              <a:buChar char="○"/>
            </a:pP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Deteksi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Objek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mengacu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pada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deteksi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objek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dan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lokasinya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melalui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pengolahan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citra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.</a:t>
            </a:r>
            <a:endParaRPr sz="2100" dirty="0">
              <a:latin typeface="Overlock"/>
              <a:ea typeface="Overlock"/>
              <a:cs typeface="Overlock"/>
              <a:sym typeface="Overlock"/>
            </a:endParaRPr>
          </a:p>
          <a:p>
            <a:pPr marL="971550" lvl="1" indent="-342900">
              <a:lnSpc>
                <a:spcPct val="115000"/>
              </a:lnSpc>
              <a:buSzPct val="100000"/>
              <a:buFont typeface="Overlock"/>
              <a:buChar char="○"/>
            </a:pP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Anotasi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data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dalam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deteksi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objek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sangat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berbeda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dari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yang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ada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di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Klasifikasi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Gambar,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dengan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setiap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objek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dianotasi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menggunakan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kotak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pembatas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(</a:t>
            </a:r>
            <a:r>
              <a:rPr lang="en-US" sz="2100" i="1" dirty="0">
                <a:latin typeface="Overlock"/>
                <a:ea typeface="Overlock"/>
                <a:cs typeface="Overlock"/>
                <a:sym typeface="Overlock"/>
              </a:rPr>
              <a:t>bounding box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). </a:t>
            </a:r>
            <a:endParaRPr sz="2100" dirty="0">
              <a:latin typeface="Overlock"/>
              <a:ea typeface="Overlock"/>
              <a:cs typeface="Overlock"/>
              <a:sym typeface="Overlock"/>
            </a:endParaRPr>
          </a:p>
          <a:p>
            <a:pPr marL="971550" lvl="1" indent="-342900">
              <a:lnSpc>
                <a:spcPct val="115000"/>
              </a:lnSpc>
              <a:buSzPct val="100000"/>
              <a:buFont typeface="Overlock"/>
              <a:buChar char="○"/>
            </a:pP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Kotak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pembatas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adalah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segmen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persegi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panjang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terkecil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yang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berisi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objek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dalam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gambar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. </a:t>
            </a:r>
            <a:endParaRPr sz="2100" dirty="0">
              <a:latin typeface="Overlock"/>
              <a:ea typeface="Overlock"/>
              <a:cs typeface="Overlock"/>
              <a:sym typeface="Overlock"/>
            </a:endParaRPr>
          </a:p>
          <a:p>
            <a:pPr marL="971550" lvl="1" indent="-342900">
              <a:lnSpc>
                <a:spcPct val="115000"/>
              </a:lnSpc>
              <a:buSzPct val="100000"/>
              <a:buFont typeface="Overlock"/>
              <a:buChar char="○"/>
            </a:pP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Anotasi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kotak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pembatas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biasanya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disertai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dengan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tag di mana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setiap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kotak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pembatas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diberi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label pada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gambar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.</a:t>
            </a:r>
            <a:endParaRPr sz="2100" dirty="0">
              <a:latin typeface="Overlock"/>
              <a:ea typeface="Overlock"/>
              <a:cs typeface="Overlock"/>
              <a:sym typeface="Overlock"/>
            </a:endParaRPr>
          </a:p>
          <a:p>
            <a:pPr marL="971550" lvl="1" indent="-342900">
              <a:lnSpc>
                <a:spcPct val="115000"/>
              </a:lnSpc>
              <a:buSzPct val="100000"/>
              <a:buFont typeface="Overlock"/>
              <a:buChar char="○"/>
            </a:pP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Umumnya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,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koordinat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kotak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pembatas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ini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dan tag yang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sesuai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untuknya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disimpan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dalam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file JSON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terpisah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dalam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format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kamus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dengan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nomor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gambar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/ID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gambar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menjadi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kunci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kamus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.</a:t>
            </a:r>
            <a:endParaRPr sz="2100" dirty="0">
              <a:latin typeface="Overlock"/>
              <a:ea typeface="Overlock"/>
              <a:cs typeface="Overlock"/>
              <a:sym typeface="Overlock"/>
            </a:endParaRPr>
          </a:p>
          <a:p>
            <a:pPr marL="1219139" indent="0">
              <a:lnSpc>
                <a:spcPct val="115000"/>
              </a:lnSpc>
              <a:buSzPct val="110599"/>
            </a:pPr>
            <a:endParaRPr sz="2100" dirty="0">
              <a:latin typeface="Overlock"/>
              <a:ea typeface="Overlock"/>
              <a:cs typeface="Overlock"/>
              <a:sym typeface="Overlock"/>
            </a:endParaRPr>
          </a:p>
          <a:p>
            <a:pPr marL="0" indent="0">
              <a:lnSpc>
                <a:spcPct val="115000"/>
              </a:lnSpc>
              <a:buSzPct val="165898"/>
              <a:buNone/>
            </a:pPr>
            <a:endParaRPr sz="2100" dirty="0">
              <a:ea typeface="Overlock"/>
              <a:cs typeface="Overlock"/>
              <a:sym typeface="Overlock"/>
            </a:endParaRPr>
          </a:p>
        </p:txBody>
      </p:sp>
      <p:pic>
        <p:nvPicPr>
          <p:cNvPr id="1209" name="Google Shape;1209;p9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98368" y="982640"/>
            <a:ext cx="3079332" cy="230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6">
          <a:extLst>
            <a:ext uri="{FF2B5EF4-FFF2-40B4-BE49-F238E27FC236}">
              <a16:creationId xmlns:a16="http://schemas.microsoft.com/office/drawing/2014/main" id="{5967BF4D-A7DE-FCA7-56BD-783ECE717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p94">
            <a:extLst>
              <a:ext uri="{FF2B5EF4-FFF2-40B4-BE49-F238E27FC236}">
                <a16:creationId xmlns:a16="http://schemas.microsoft.com/office/drawing/2014/main" id="{49586E41-3965-3B5E-8AB1-1F00A36676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rgbClr val="0F3570"/>
              </a:buClr>
              <a:buSzPts val="2800"/>
            </a:pPr>
            <a:r>
              <a:rPr lang="en-US" sz="3333" dirty="0">
                <a:solidFill>
                  <a:srgbClr val="0F3570"/>
                </a:solidFill>
                <a:ea typeface="Overlock"/>
                <a:sym typeface="Overlock"/>
              </a:rPr>
              <a:t>Jenis </a:t>
            </a:r>
            <a:r>
              <a:rPr lang="en-US" sz="3333" dirty="0" err="1">
                <a:solidFill>
                  <a:srgbClr val="0F3570"/>
                </a:solidFill>
                <a:ea typeface="Overlock"/>
                <a:sym typeface="Overlock"/>
              </a:rPr>
              <a:t>Anotasi</a:t>
            </a:r>
            <a:r>
              <a:rPr lang="en-US" sz="3333" dirty="0">
                <a:solidFill>
                  <a:srgbClr val="0F3570"/>
                </a:solidFill>
                <a:ea typeface="Overlock"/>
                <a:sym typeface="Overlock"/>
              </a:rPr>
              <a:t> </a:t>
            </a:r>
            <a:r>
              <a:rPr lang="en-US" sz="3333" dirty="0" err="1">
                <a:solidFill>
                  <a:srgbClr val="0F3570"/>
                </a:solidFill>
                <a:ea typeface="Overlock"/>
                <a:sym typeface="Overlock"/>
              </a:rPr>
              <a:t>Pengolahan</a:t>
            </a:r>
            <a:r>
              <a:rPr lang="en-US" sz="3333" dirty="0">
                <a:solidFill>
                  <a:srgbClr val="0F3570"/>
                </a:solidFill>
                <a:ea typeface="Overlock"/>
                <a:sym typeface="Overlock"/>
              </a:rPr>
              <a:t> Citra</a:t>
            </a:r>
          </a:p>
        </p:txBody>
      </p:sp>
      <p:sp>
        <p:nvSpPr>
          <p:cNvPr id="1208" name="Google Shape;1208;p94">
            <a:extLst>
              <a:ext uri="{FF2B5EF4-FFF2-40B4-BE49-F238E27FC236}">
                <a16:creationId xmlns:a16="http://schemas.microsoft.com/office/drawing/2014/main" id="{5FA87AF4-5340-AFE9-33D3-1EF2CC7B11B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-182880" y="948350"/>
            <a:ext cx="8423910" cy="519432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609570" indent="-396642">
              <a:lnSpc>
                <a:spcPct val="115000"/>
              </a:lnSpc>
              <a:buSzPct val="100000"/>
              <a:buFont typeface="Overlock"/>
              <a:buChar char="●"/>
            </a:pPr>
            <a:r>
              <a:rPr lang="en-US" sz="2100" i="1" dirty="0">
                <a:latin typeface="Overlock"/>
                <a:ea typeface="Overlock"/>
                <a:cs typeface="Overlock"/>
                <a:sym typeface="Overlock"/>
              </a:rPr>
              <a:t>Pose Estimation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-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Estimasi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pose</a:t>
            </a:r>
            <a:endParaRPr sz="2100" dirty="0">
              <a:latin typeface="Overlock"/>
              <a:ea typeface="Overlock"/>
              <a:cs typeface="Overlock"/>
              <a:sym typeface="Overlock"/>
            </a:endParaRPr>
          </a:p>
          <a:p>
            <a:pPr marL="1219139" lvl="1" indent="-396643">
              <a:lnSpc>
                <a:spcPct val="115000"/>
              </a:lnSpc>
              <a:buSzPct val="100000"/>
              <a:buFont typeface="Overlock"/>
              <a:buChar char="○"/>
            </a:pP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Estimasi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pose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mengacu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pada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penggunaan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alat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Computer Vision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untuk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memperkirakan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pose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seseorang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dalam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sebuah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gambar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. </a:t>
            </a:r>
            <a:endParaRPr sz="2100" dirty="0">
              <a:latin typeface="Overlock"/>
              <a:ea typeface="Overlock"/>
              <a:cs typeface="Overlock"/>
              <a:sym typeface="Overlock"/>
            </a:endParaRPr>
          </a:p>
          <a:p>
            <a:pPr marL="1219139" lvl="1" indent="-396643">
              <a:lnSpc>
                <a:spcPct val="115000"/>
              </a:lnSpc>
              <a:buSzPct val="100000"/>
              <a:buFont typeface="Overlock"/>
              <a:buChar char="○"/>
            </a:pP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Estimasi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pose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berjalan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dengan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mendeteksi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titik-titik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kunci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dalam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tubuh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dan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menghubungkan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titik-titik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kunci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ini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untuk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mendapatkan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pose. </a:t>
            </a:r>
            <a:endParaRPr sz="2100" dirty="0">
              <a:latin typeface="Overlock"/>
              <a:ea typeface="Overlock"/>
              <a:cs typeface="Overlock"/>
              <a:sym typeface="Overlock"/>
            </a:endParaRPr>
          </a:p>
          <a:p>
            <a:pPr marL="1219139" lvl="1" indent="-396643">
              <a:lnSpc>
                <a:spcPct val="115000"/>
              </a:lnSpc>
              <a:buSzPct val="128571"/>
              <a:buFont typeface="Overlock"/>
              <a:buChar char="○"/>
            </a:pPr>
            <a:r>
              <a:rPr lang="en-US" sz="2100" i="1" dirty="0">
                <a:latin typeface="Overlock"/>
                <a:ea typeface="Overlock"/>
                <a:cs typeface="Overlock"/>
                <a:sym typeface="Overlock"/>
              </a:rPr>
              <a:t>Ground Truth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(GT) yang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sesuai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untuk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model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estimasi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pose,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menjadi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poin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kunci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dari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sebuah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gambar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. </a:t>
            </a:r>
            <a:endParaRPr sz="2100" dirty="0">
              <a:latin typeface="Overlock"/>
              <a:ea typeface="Overlock"/>
              <a:cs typeface="Overlock"/>
              <a:sym typeface="Overlock"/>
            </a:endParaRPr>
          </a:p>
          <a:p>
            <a:pPr marL="1219139" lvl="1" indent="-396643">
              <a:lnSpc>
                <a:spcPct val="115000"/>
              </a:lnSpc>
              <a:buSzPct val="128571"/>
              <a:buFont typeface="Overlock"/>
              <a:buChar char="○"/>
            </a:pPr>
            <a:r>
              <a:rPr lang="en-US" sz="2100" i="1" dirty="0">
                <a:latin typeface="Overlock"/>
                <a:ea typeface="Overlock"/>
                <a:cs typeface="Overlock"/>
                <a:sym typeface="Overlock"/>
              </a:rPr>
              <a:t>Ground Truth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(GT)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dapat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berupa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data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koordinat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sederhana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yang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diberi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label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dengan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bantuan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tag, di mana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setiap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koordinat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memberikan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lokasi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titik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kunci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tertentu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, yang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diidentifikasi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oleh tag, pada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gambar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masing-masing.</a:t>
            </a:r>
            <a:endParaRPr sz="2100" dirty="0">
              <a:latin typeface="Overlock"/>
              <a:ea typeface="Overlock"/>
              <a:cs typeface="Overlock"/>
              <a:sym typeface="Overlock"/>
            </a:endParaRPr>
          </a:p>
          <a:p>
            <a:pPr marL="0" indent="0">
              <a:lnSpc>
                <a:spcPct val="115000"/>
              </a:lnSpc>
              <a:buSzPct val="165898"/>
            </a:pPr>
            <a:endParaRPr sz="2100" dirty="0">
              <a:ea typeface="Overlock"/>
              <a:cs typeface="Overlock"/>
              <a:sym typeface="Overlock"/>
            </a:endParaRPr>
          </a:p>
        </p:txBody>
      </p:sp>
      <p:pic>
        <p:nvPicPr>
          <p:cNvPr id="1210" name="Google Shape;1210;p94">
            <a:extLst>
              <a:ext uri="{FF2B5EF4-FFF2-40B4-BE49-F238E27FC236}">
                <a16:creationId xmlns:a16="http://schemas.microsoft.com/office/drawing/2014/main" id="{63712217-759C-443F-14ED-AC712030679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8191" y="1288337"/>
            <a:ext cx="3671860" cy="25407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3969611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0C487F0-75E9-A339-62C4-D946F8486FF2}"/>
              </a:ext>
            </a:extLst>
          </p:cNvPr>
          <p:cNvSpPr/>
          <p:nvPr/>
        </p:nvSpPr>
        <p:spPr>
          <a:xfrm>
            <a:off x="8081010" y="191069"/>
            <a:ext cx="3760470" cy="7915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5" name="Google Shape;1325;p9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b" anchorCtr="0">
            <a:normAutofit/>
          </a:bodyPr>
          <a:lstStyle/>
          <a:p>
            <a:pPr>
              <a:buSzPct val="111111"/>
            </a:pPr>
            <a:r>
              <a:rPr lang="en-US" dirty="0" err="1">
                <a:ea typeface="Overlock"/>
                <a:sym typeface="Overlock"/>
              </a:rPr>
              <a:t>Pelabelan</a:t>
            </a:r>
            <a:r>
              <a:rPr lang="en-US" dirty="0">
                <a:ea typeface="Overlock"/>
                <a:sym typeface="Overlock"/>
              </a:rPr>
              <a:t> data : Natural Language Processing (NLP)</a:t>
            </a:r>
            <a:endParaRPr dirty="0">
              <a:ea typeface="Overlock"/>
              <a:sym typeface="Overlock"/>
            </a:endParaRPr>
          </a:p>
        </p:txBody>
      </p:sp>
      <p:pic>
        <p:nvPicPr>
          <p:cNvPr id="1326" name="Google Shape;1326;p9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067" y="1493685"/>
            <a:ext cx="6341193" cy="38706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7" name="Google Shape;1327;p9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92596" y="3953761"/>
            <a:ext cx="4248884" cy="2874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8" name="Google Shape;1328;p9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04932" y="1122298"/>
            <a:ext cx="4248868" cy="2831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79C5E22-CD53-8E8C-8F75-62B28A2AEB7A}"/>
              </a:ext>
            </a:extLst>
          </p:cNvPr>
          <p:cNvSpPr/>
          <p:nvPr/>
        </p:nvSpPr>
        <p:spPr>
          <a:xfrm>
            <a:off x="8081010" y="191069"/>
            <a:ext cx="3760470" cy="7915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3" name="Google Shape;1333;p9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3001" dirty="0" err="1">
                <a:solidFill>
                  <a:srgbClr val="0F3570"/>
                </a:solidFill>
                <a:ea typeface="Overlock"/>
                <a:sym typeface="Overlock"/>
              </a:rPr>
              <a:t>Pelabelan</a:t>
            </a:r>
            <a:r>
              <a:rPr lang="en-US" sz="3001" dirty="0">
                <a:solidFill>
                  <a:srgbClr val="0F3570"/>
                </a:solidFill>
                <a:ea typeface="Overlock"/>
                <a:sym typeface="Overlock"/>
              </a:rPr>
              <a:t> data : Natural Language Processing (NLP)</a:t>
            </a:r>
            <a:endParaRPr sz="3001" dirty="0">
              <a:solidFill>
                <a:srgbClr val="0F3570"/>
              </a:solidFill>
            </a:endParaRPr>
          </a:p>
        </p:txBody>
      </p:sp>
      <p:sp>
        <p:nvSpPr>
          <p:cNvPr id="1334" name="Google Shape;1334;p96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lnSpc>
                <a:spcPct val="95000"/>
              </a:lnSpc>
              <a:buSzPts val="852"/>
              <a:buNone/>
            </a:pPr>
            <a:r>
              <a:rPr lang="en-US" sz="2100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Pemrosesan</a:t>
            </a:r>
            <a:r>
              <a:rPr lang="en-US" sz="2100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bahasa</a:t>
            </a:r>
            <a:r>
              <a:rPr lang="en-US" sz="2100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alami</a:t>
            </a:r>
            <a:r>
              <a:rPr lang="en-US" sz="2100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 (</a:t>
            </a:r>
            <a:r>
              <a:rPr lang="en-US" sz="2100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atau</a:t>
            </a:r>
            <a:r>
              <a:rPr lang="en-US" sz="2100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disingkat</a:t>
            </a:r>
            <a:r>
              <a:rPr lang="en-US" sz="2100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 NLP) </a:t>
            </a:r>
            <a:r>
              <a:rPr lang="en-US" sz="2100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mengacu</a:t>
            </a:r>
            <a:r>
              <a:rPr lang="en-US" sz="2100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 pada </a:t>
            </a:r>
            <a:r>
              <a:rPr lang="en-US" sz="2100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analisis</a:t>
            </a:r>
            <a:r>
              <a:rPr lang="en-US" sz="2100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bahasa</a:t>
            </a:r>
            <a:r>
              <a:rPr lang="en-US" sz="2100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manusia</a:t>
            </a:r>
            <a:r>
              <a:rPr lang="en-US" sz="2100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 dan </a:t>
            </a:r>
            <a:r>
              <a:rPr lang="en-US" sz="2100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bentuknya</a:t>
            </a:r>
            <a:r>
              <a:rPr lang="en-US" sz="2100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selama</a:t>
            </a:r>
            <a:r>
              <a:rPr lang="en-US" sz="2100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interaksi</a:t>
            </a:r>
            <a:r>
              <a:rPr lang="en-US" sz="2100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baik</a:t>
            </a:r>
            <a:r>
              <a:rPr lang="en-US" sz="2100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dengan</a:t>
            </a:r>
            <a:r>
              <a:rPr lang="en-US" sz="2100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manusia</a:t>
            </a:r>
            <a:r>
              <a:rPr lang="en-US" sz="2100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 lain </a:t>
            </a:r>
            <a:r>
              <a:rPr lang="en-US" sz="2100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maupun</a:t>
            </a:r>
            <a:r>
              <a:rPr lang="en-US" sz="2100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dengan</a:t>
            </a:r>
            <a:r>
              <a:rPr lang="en-US" sz="2100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mesin</a:t>
            </a:r>
            <a:r>
              <a:rPr lang="en-US" sz="2100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. </a:t>
            </a:r>
            <a:r>
              <a:rPr lang="en-US" sz="2100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Menjadi</a:t>
            </a:r>
            <a:r>
              <a:rPr lang="en-US" sz="2100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bagian</a:t>
            </a:r>
            <a:r>
              <a:rPr lang="en-US" sz="2100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dari</a:t>
            </a:r>
            <a:r>
              <a:rPr lang="en-US" sz="2100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linguistik</a:t>
            </a:r>
            <a:r>
              <a:rPr lang="en-US" sz="2100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komputasi</a:t>
            </a:r>
            <a:r>
              <a:rPr lang="en-US" sz="2100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awalnya</a:t>
            </a:r>
            <a:r>
              <a:rPr lang="en-US" sz="2100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, NLP </a:t>
            </a:r>
            <a:r>
              <a:rPr lang="en-US" sz="2100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telah</a:t>
            </a:r>
            <a:r>
              <a:rPr lang="en-US" sz="2100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berkembang</a:t>
            </a:r>
            <a:r>
              <a:rPr lang="en-US" sz="2100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lebih</a:t>
            </a:r>
            <a:r>
              <a:rPr lang="en-US" sz="2100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lanjut</a:t>
            </a:r>
            <a:r>
              <a:rPr lang="en-US" sz="2100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dengan</a:t>
            </a:r>
            <a:r>
              <a:rPr lang="en-US" sz="2100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bantuan</a:t>
            </a:r>
            <a:r>
              <a:rPr lang="en-US" sz="2100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 Artificial Intelligence dan Deep Learning.</a:t>
            </a:r>
            <a:endParaRPr sz="2100" dirty="0">
              <a:solidFill>
                <a:schemeClr val="dk1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pPr marL="0" indent="0">
              <a:lnSpc>
                <a:spcPct val="95000"/>
              </a:lnSpc>
              <a:buSzPts val="852"/>
            </a:pPr>
            <a:endParaRPr sz="2100" dirty="0">
              <a:solidFill>
                <a:schemeClr val="dk1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pPr marL="609570" indent="0">
              <a:lnSpc>
                <a:spcPct val="95000"/>
              </a:lnSpc>
              <a:buSzPts val="852"/>
            </a:pPr>
            <a:endParaRPr sz="2100" dirty="0">
              <a:solidFill>
                <a:schemeClr val="dk1"/>
              </a:solidFill>
              <a:highlight>
                <a:srgbClr val="FFFFFF"/>
              </a:highlight>
              <a:latin typeface="Overlock"/>
              <a:ea typeface="Overlock"/>
              <a:cs typeface="Overlock"/>
              <a:sym typeface="Overlock"/>
            </a:endParaRPr>
          </a:p>
          <a:p>
            <a:pPr marL="0" indent="0">
              <a:lnSpc>
                <a:spcPct val="95000"/>
              </a:lnSpc>
              <a:buSzPts val="852"/>
            </a:pPr>
            <a:endParaRPr sz="21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2">
          <a:extLst>
            <a:ext uri="{FF2B5EF4-FFF2-40B4-BE49-F238E27FC236}">
              <a16:creationId xmlns:a16="http://schemas.microsoft.com/office/drawing/2014/main" id="{01EC8245-405A-EE0E-1860-2A5A50F40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9E222C1-03FC-2288-6503-923187DDBF1C}"/>
              </a:ext>
            </a:extLst>
          </p:cNvPr>
          <p:cNvSpPr/>
          <p:nvPr/>
        </p:nvSpPr>
        <p:spPr>
          <a:xfrm>
            <a:off x="8081010" y="191069"/>
            <a:ext cx="3760470" cy="7915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3" name="Google Shape;1333;p96">
            <a:extLst>
              <a:ext uri="{FF2B5EF4-FFF2-40B4-BE49-F238E27FC236}">
                <a16:creationId xmlns:a16="http://schemas.microsoft.com/office/drawing/2014/main" id="{EFA28691-A87C-3A2A-E82A-BDDB4FF2FA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3001" dirty="0" err="1">
                <a:solidFill>
                  <a:srgbClr val="0F3570"/>
                </a:solidFill>
                <a:ea typeface="Overlock"/>
                <a:sym typeface="Overlock"/>
              </a:rPr>
              <a:t>Pelabelan</a:t>
            </a:r>
            <a:r>
              <a:rPr lang="en-US" sz="3001" dirty="0">
                <a:solidFill>
                  <a:srgbClr val="0F3570"/>
                </a:solidFill>
                <a:ea typeface="Overlock"/>
                <a:sym typeface="Overlock"/>
              </a:rPr>
              <a:t> data : Natural Language Processing (NLP)</a:t>
            </a:r>
            <a:endParaRPr sz="3001" dirty="0">
              <a:solidFill>
                <a:srgbClr val="0F3570"/>
              </a:solidFill>
            </a:endParaRPr>
          </a:p>
        </p:txBody>
      </p:sp>
      <p:sp>
        <p:nvSpPr>
          <p:cNvPr id="1334" name="Google Shape;1334;p96">
            <a:extLst>
              <a:ext uri="{FF2B5EF4-FFF2-40B4-BE49-F238E27FC236}">
                <a16:creationId xmlns:a16="http://schemas.microsoft.com/office/drawing/2014/main" id="{C21A0168-009C-20C9-086D-2B49A731D7D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82930" y="1062990"/>
            <a:ext cx="10949940" cy="454247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lnSpc>
                <a:spcPct val="95000"/>
              </a:lnSpc>
              <a:buSzPts val="852"/>
              <a:buNone/>
            </a:pP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Pendekatan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pelabelan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data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untuk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pelabelan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data NLP :</a:t>
            </a:r>
            <a:endParaRPr sz="2100" dirty="0">
              <a:latin typeface="Overlock"/>
              <a:ea typeface="Overlock"/>
              <a:cs typeface="Overlock"/>
              <a:sym typeface="Overlock"/>
            </a:endParaRPr>
          </a:p>
          <a:p>
            <a:pPr marL="196850" indent="-196850">
              <a:lnSpc>
                <a:spcPct val="95000"/>
              </a:lnSpc>
              <a:buSzPts val="1185"/>
              <a:buFont typeface="Overlock"/>
              <a:buChar char="●"/>
            </a:pP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Entity annotation and linking</a:t>
            </a:r>
            <a:endParaRPr sz="2100" dirty="0">
              <a:latin typeface="Overlock"/>
              <a:ea typeface="Overlock"/>
              <a:cs typeface="Overlock"/>
              <a:sym typeface="Overlock"/>
            </a:endParaRPr>
          </a:p>
          <a:p>
            <a:pPr marL="571500" lvl="1" indent="-342900">
              <a:lnSpc>
                <a:spcPct val="95000"/>
              </a:lnSpc>
              <a:buSzPts val="1185"/>
              <a:buFont typeface="Overlock"/>
              <a:buChar char="○"/>
            </a:pP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Anotasi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entitas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mengacu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pada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anotasi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entitas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atau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fitur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tertentu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dalam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korpus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data yang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tidak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berlabel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.</a:t>
            </a:r>
            <a:endParaRPr sz="2100" dirty="0">
              <a:latin typeface="Overlock"/>
              <a:ea typeface="Overlock"/>
              <a:cs typeface="Overlock"/>
              <a:sym typeface="Overlock"/>
            </a:endParaRPr>
          </a:p>
          <a:p>
            <a:pPr marL="571500" lvl="1" indent="-342900">
              <a:lnSpc>
                <a:spcPct val="95000"/>
              </a:lnSpc>
              <a:buSzPts val="1185"/>
              <a:buFont typeface="Overlock"/>
              <a:buChar char="○"/>
            </a:pP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Kata '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Entitas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'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dapat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mengambil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bentuk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yang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berbeda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tergantung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pada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tugas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yang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dihadapi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.</a:t>
            </a:r>
            <a:endParaRPr sz="2100" dirty="0">
              <a:latin typeface="Overlock"/>
              <a:ea typeface="Overlock"/>
              <a:cs typeface="Overlock"/>
              <a:sym typeface="Overlock"/>
            </a:endParaRPr>
          </a:p>
          <a:p>
            <a:pPr marL="571500" lvl="1" indent="-342900">
              <a:lnSpc>
                <a:spcPct val="95000"/>
              </a:lnSpc>
              <a:buSzPts val="1185"/>
              <a:buFont typeface="Overlock"/>
              <a:buChar char="○"/>
            </a:pP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Untuk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anotasi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kata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benda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yang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tepat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, kami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telah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menamai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anotasi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entitas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yang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mengacu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pada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identifikasi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dan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penandaan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nama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dalam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teks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. </a:t>
            </a:r>
            <a:endParaRPr sz="2100" dirty="0">
              <a:latin typeface="Overlock"/>
              <a:ea typeface="Overlock"/>
              <a:cs typeface="Overlock"/>
              <a:sym typeface="Overlock"/>
            </a:endParaRPr>
          </a:p>
          <a:p>
            <a:pPr marL="571500" lvl="1" indent="-342900">
              <a:lnSpc>
                <a:spcPct val="95000"/>
              </a:lnSpc>
              <a:buSzPts val="1185"/>
              <a:buFont typeface="Overlock"/>
              <a:buChar char="○"/>
            </a:pP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Untuk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analisis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frasa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, kami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mengacu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pada proses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sebagai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penandaan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frasa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kunci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di mana kata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kunci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atau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frasa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kunci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dari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teks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dianotasi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. </a:t>
            </a:r>
            <a:endParaRPr sz="2100" dirty="0">
              <a:latin typeface="Overlock"/>
              <a:ea typeface="Overlock"/>
              <a:cs typeface="Overlock"/>
              <a:sym typeface="Overlock"/>
            </a:endParaRPr>
          </a:p>
          <a:p>
            <a:pPr marL="0" indent="0">
              <a:lnSpc>
                <a:spcPct val="95000"/>
              </a:lnSpc>
              <a:buSzPts val="852"/>
            </a:pPr>
            <a:endParaRPr sz="2100" dirty="0"/>
          </a:p>
        </p:txBody>
      </p:sp>
    </p:spTree>
    <p:extLst>
      <p:ext uri="{BB962C8B-B14F-4D97-AF65-F5344CB8AC3E}">
        <p14:creationId xmlns:p14="http://schemas.microsoft.com/office/powerpoint/2010/main" val="426838751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2">
          <a:extLst>
            <a:ext uri="{FF2B5EF4-FFF2-40B4-BE49-F238E27FC236}">
              <a16:creationId xmlns:a16="http://schemas.microsoft.com/office/drawing/2014/main" id="{4F03B747-F089-3DEB-A732-FBBF67F1D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F5EED3F-5866-D275-2C2A-7BDE598654C1}"/>
              </a:ext>
            </a:extLst>
          </p:cNvPr>
          <p:cNvSpPr/>
          <p:nvPr/>
        </p:nvSpPr>
        <p:spPr>
          <a:xfrm>
            <a:off x="8081010" y="191069"/>
            <a:ext cx="3760470" cy="7915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3" name="Google Shape;1333;p96">
            <a:extLst>
              <a:ext uri="{FF2B5EF4-FFF2-40B4-BE49-F238E27FC236}">
                <a16:creationId xmlns:a16="http://schemas.microsoft.com/office/drawing/2014/main" id="{D529969E-D4FD-D830-2C6D-5BEE7042B0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3001" dirty="0" err="1">
                <a:solidFill>
                  <a:srgbClr val="0F3570"/>
                </a:solidFill>
                <a:ea typeface="Overlock"/>
                <a:sym typeface="Overlock"/>
              </a:rPr>
              <a:t>Pelabelan</a:t>
            </a:r>
            <a:r>
              <a:rPr lang="en-US" sz="3001" dirty="0">
                <a:solidFill>
                  <a:srgbClr val="0F3570"/>
                </a:solidFill>
                <a:ea typeface="Overlock"/>
                <a:sym typeface="Overlock"/>
              </a:rPr>
              <a:t> data : Natural Language Processing (NLP)</a:t>
            </a:r>
            <a:endParaRPr sz="3001" dirty="0">
              <a:solidFill>
                <a:srgbClr val="0F3570"/>
              </a:solidFill>
            </a:endParaRPr>
          </a:p>
        </p:txBody>
      </p:sp>
      <p:sp>
        <p:nvSpPr>
          <p:cNvPr id="1334" name="Google Shape;1334;p96">
            <a:extLst>
              <a:ext uri="{FF2B5EF4-FFF2-40B4-BE49-F238E27FC236}">
                <a16:creationId xmlns:a16="http://schemas.microsoft.com/office/drawing/2014/main" id="{A3F1F40F-3DF0-6560-996D-5EC0DBE1F0E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37210" y="1188720"/>
            <a:ext cx="11029950" cy="441674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571500" lvl="1" indent="-342900">
              <a:lnSpc>
                <a:spcPct val="95000"/>
              </a:lnSpc>
              <a:buSzPts val="1185"/>
              <a:buFont typeface="Overlock"/>
              <a:buChar char="○"/>
            </a:pP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Untuk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analisis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dan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anotasi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elemen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fungsional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dari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teks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apapun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seperti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kata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kerja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, kata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benda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,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preposisi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, kami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menggunakan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penandaan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Parts of Speech,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disingkat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sebagai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penandaan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POS.</a:t>
            </a:r>
            <a:endParaRPr sz="2100" dirty="0">
              <a:latin typeface="Overlock"/>
              <a:ea typeface="Overlock"/>
              <a:cs typeface="Overlock"/>
              <a:sym typeface="Overlock"/>
            </a:endParaRPr>
          </a:p>
          <a:p>
            <a:pPr marL="571500" lvl="1" indent="-342900">
              <a:lnSpc>
                <a:spcPct val="95000"/>
              </a:lnSpc>
              <a:buSzPts val="1185"/>
              <a:buFont typeface="Overlock"/>
              <a:buChar char="○"/>
            </a:pP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Penandaan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POS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digunakan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dalam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penguraian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,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terjemahan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mesin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, dan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pembuatan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data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linguistik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.</a:t>
            </a:r>
            <a:endParaRPr sz="2100" dirty="0">
              <a:latin typeface="Overlock"/>
              <a:ea typeface="Overlock"/>
              <a:cs typeface="Overlock"/>
              <a:sym typeface="Overlock"/>
            </a:endParaRPr>
          </a:p>
          <a:p>
            <a:pPr marL="571500" lvl="1" indent="-342900">
              <a:lnSpc>
                <a:spcPct val="95000"/>
              </a:lnSpc>
              <a:buSzPts val="1185"/>
              <a:buFont typeface="Overlock"/>
              <a:buChar char="○"/>
            </a:pP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Anotasi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entitas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diikuti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dengan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penautan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entitas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, di mana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entitas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beranotasi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ditautkan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ke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repositori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data di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sekitarnya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untuk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menetapkan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identitas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unik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ke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masing-masing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entitas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ini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. Hal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ini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sangat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penting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ketika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teks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berisi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data yang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dapat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ambigu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dan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perlu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disambiguasi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.</a:t>
            </a:r>
            <a:endParaRPr sz="2100" dirty="0">
              <a:latin typeface="Overlock"/>
              <a:ea typeface="Overlock"/>
              <a:cs typeface="Overlock"/>
              <a:sym typeface="Overlock"/>
            </a:endParaRPr>
          </a:p>
          <a:p>
            <a:pPr marL="571500" lvl="1" indent="-342900">
              <a:lnSpc>
                <a:spcPct val="95000"/>
              </a:lnSpc>
              <a:buSzPts val="1185"/>
              <a:buFont typeface="Overlock"/>
              <a:buChar char="○"/>
            </a:pP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Tautan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entitas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sering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digunakan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untuk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anotasi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semantik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, di mana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informasi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semantik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entitas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ditambahkan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sebagai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anotasi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.</a:t>
            </a:r>
            <a:endParaRPr sz="2100" dirty="0">
              <a:latin typeface="Overlock"/>
              <a:ea typeface="Overlock"/>
              <a:cs typeface="Overlock"/>
              <a:sym typeface="Overlock"/>
            </a:endParaRPr>
          </a:p>
          <a:p>
            <a:pPr marL="609570" indent="0">
              <a:lnSpc>
                <a:spcPct val="95000"/>
              </a:lnSpc>
              <a:buSzPts val="852"/>
            </a:pPr>
            <a:endParaRPr sz="2100" dirty="0">
              <a:latin typeface="Overlock"/>
              <a:ea typeface="Overlock"/>
              <a:cs typeface="Overlock"/>
              <a:sym typeface="Overlock"/>
            </a:endParaRPr>
          </a:p>
          <a:p>
            <a:pPr marL="0" indent="0">
              <a:lnSpc>
                <a:spcPct val="95000"/>
              </a:lnSpc>
              <a:buSzPts val="852"/>
            </a:pPr>
            <a:endParaRPr sz="2100" dirty="0"/>
          </a:p>
        </p:txBody>
      </p:sp>
    </p:spTree>
    <p:extLst>
      <p:ext uri="{BB962C8B-B14F-4D97-AF65-F5344CB8AC3E}">
        <p14:creationId xmlns:p14="http://schemas.microsoft.com/office/powerpoint/2010/main" val="188624081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p9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rgbClr val="0F3570"/>
              </a:buClr>
              <a:buSzPts val="2800"/>
            </a:pPr>
            <a:r>
              <a:rPr lang="en-US" sz="3001" dirty="0" err="1">
                <a:solidFill>
                  <a:srgbClr val="0F3570"/>
                </a:solidFill>
                <a:ea typeface="Overlock"/>
                <a:sym typeface="Overlock"/>
              </a:rPr>
              <a:t>Pelabelan</a:t>
            </a:r>
            <a:r>
              <a:rPr lang="en-US" sz="3001" dirty="0">
                <a:solidFill>
                  <a:srgbClr val="0F3570"/>
                </a:solidFill>
                <a:ea typeface="Overlock"/>
                <a:sym typeface="Overlock"/>
              </a:rPr>
              <a:t> data : Natural Language Processing (NLP)</a:t>
            </a:r>
            <a:endParaRPr sz="3001" dirty="0">
              <a:solidFill>
                <a:srgbClr val="0F3570"/>
              </a:solidFill>
            </a:endParaRPr>
          </a:p>
        </p:txBody>
      </p:sp>
      <p:sp>
        <p:nvSpPr>
          <p:cNvPr id="1340" name="Google Shape;1340;p97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609570" indent="-410562">
              <a:lnSpc>
                <a:spcPct val="115000"/>
              </a:lnSpc>
              <a:buClr>
                <a:srgbClr val="1F1F1F"/>
              </a:buClr>
              <a:buSzPct val="100000"/>
              <a:buFont typeface="Overlock"/>
              <a:buChar char="●"/>
            </a:pP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Text Classification</a:t>
            </a:r>
            <a:endParaRPr sz="2100" dirty="0">
              <a:latin typeface="Overlock"/>
              <a:ea typeface="Overlock"/>
              <a:cs typeface="Overlock"/>
              <a:sym typeface="Overlock"/>
            </a:endParaRPr>
          </a:p>
          <a:p>
            <a:pPr marL="1219139" indent="-410506">
              <a:lnSpc>
                <a:spcPct val="115000"/>
              </a:lnSpc>
              <a:buClr>
                <a:srgbClr val="1F1F1F"/>
              </a:buClr>
              <a:buSzPct val="96428"/>
              <a:buFont typeface="Courier New" panose="02070309020205020404" pitchFamily="49" charset="0"/>
              <a:buChar char="o"/>
            </a:pP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Mirip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dengan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klasifikasi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gambar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di mana kami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menetapkan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label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ke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data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gambar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,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dalam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klasifikasi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teks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,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menetapkan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satu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atau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beberapa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label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ke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blok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teks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.</a:t>
            </a:r>
            <a:endParaRPr sz="2100" dirty="0">
              <a:latin typeface="Overlock"/>
              <a:ea typeface="Overlock"/>
              <a:cs typeface="Overlock"/>
              <a:sym typeface="Overlock"/>
            </a:endParaRPr>
          </a:p>
          <a:p>
            <a:pPr marL="1219139" indent="-410506">
              <a:lnSpc>
                <a:spcPct val="115000"/>
              </a:lnSpc>
              <a:buClr>
                <a:srgbClr val="1F1F1F"/>
              </a:buClr>
              <a:buSzPct val="96428"/>
              <a:buFont typeface="Courier New" panose="02070309020205020404" pitchFamily="49" charset="0"/>
              <a:buChar char="o"/>
            </a:pP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Sementara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dalam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anotasi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dan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penautan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entitas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,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kita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memisahkan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entitas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di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dalam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setiap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baris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teks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,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dalam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klasifikasi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teks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,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teks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dianggap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sebagai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keseluruhan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dan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satu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set tag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ditetapkan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ke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dalamnya</a:t>
            </a:r>
            <a:endParaRPr sz="2100" dirty="0">
              <a:latin typeface="Overlock"/>
              <a:ea typeface="Overlock"/>
              <a:cs typeface="Overlock"/>
              <a:sym typeface="Overlock"/>
            </a:endParaRPr>
          </a:p>
          <a:p>
            <a:pPr marL="1219139" indent="-410506">
              <a:lnSpc>
                <a:spcPct val="115000"/>
              </a:lnSpc>
              <a:buClr>
                <a:srgbClr val="1F1F1F"/>
              </a:buClr>
              <a:buSzPct val="96428"/>
              <a:buFont typeface="Courier New" panose="02070309020205020404" pitchFamily="49" charset="0"/>
              <a:buChar char="o"/>
            </a:pP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Jenis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klasifikasi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teks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meliputi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klasifikasi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berdasarkan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sentimen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(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untuk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analisis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sentimen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) dan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klasifikasi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berdasarkan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topik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yang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ingin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disampaikan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teks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(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untuk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kategorisasi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topik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).</a:t>
            </a:r>
            <a:endParaRPr sz="2100" dirty="0">
              <a:latin typeface="Overlock"/>
              <a:ea typeface="Overlock"/>
              <a:cs typeface="Overlock"/>
              <a:sym typeface="Overlock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8">
          <a:extLst>
            <a:ext uri="{FF2B5EF4-FFF2-40B4-BE49-F238E27FC236}">
              <a16:creationId xmlns:a16="http://schemas.microsoft.com/office/drawing/2014/main" id="{A5F0C469-1CED-2670-7DE8-DCA4B49CE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p97">
            <a:extLst>
              <a:ext uri="{FF2B5EF4-FFF2-40B4-BE49-F238E27FC236}">
                <a16:creationId xmlns:a16="http://schemas.microsoft.com/office/drawing/2014/main" id="{F28A9001-4584-8857-9355-44C4B4E578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rgbClr val="0F3570"/>
              </a:buClr>
              <a:buSzPts val="2800"/>
            </a:pPr>
            <a:r>
              <a:rPr lang="en-US" sz="3001" dirty="0" err="1">
                <a:solidFill>
                  <a:srgbClr val="0F3570"/>
                </a:solidFill>
                <a:ea typeface="Overlock"/>
                <a:sym typeface="Overlock"/>
              </a:rPr>
              <a:t>Pelabelan</a:t>
            </a:r>
            <a:r>
              <a:rPr lang="en-US" sz="3001" dirty="0">
                <a:solidFill>
                  <a:srgbClr val="0F3570"/>
                </a:solidFill>
                <a:ea typeface="Overlock"/>
                <a:sym typeface="Overlock"/>
              </a:rPr>
              <a:t> data : Natural Language Processing (NLP)</a:t>
            </a:r>
            <a:endParaRPr sz="3001" dirty="0">
              <a:solidFill>
                <a:srgbClr val="0F3570"/>
              </a:solidFill>
            </a:endParaRPr>
          </a:p>
        </p:txBody>
      </p:sp>
      <p:sp>
        <p:nvSpPr>
          <p:cNvPr id="1340" name="Google Shape;1340;p97">
            <a:extLst>
              <a:ext uri="{FF2B5EF4-FFF2-40B4-BE49-F238E27FC236}">
                <a16:creationId xmlns:a16="http://schemas.microsoft.com/office/drawing/2014/main" id="{1F9D0B48-406F-D26D-D06D-A1C03BFF6C8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609570" indent="-410562">
              <a:lnSpc>
                <a:spcPct val="115000"/>
              </a:lnSpc>
              <a:buClr>
                <a:srgbClr val="1F1F1F"/>
              </a:buClr>
              <a:buSzPct val="100000"/>
              <a:buFont typeface="Overlock"/>
              <a:buChar char="●"/>
            </a:pP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Phonetic Annotation</a:t>
            </a:r>
            <a:endParaRPr sz="2100" dirty="0">
              <a:latin typeface="Overlock"/>
              <a:ea typeface="Overlock"/>
              <a:cs typeface="Overlock"/>
              <a:sym typeface="Overlock"/>
            </a:endParaRPr>
          </a:p>
          <a:p>
            <a:pPr marL="1219139" lvl="1" indent="-410506">
              <a:lnSpc>
                <a:spcPct val="115000"/>
              </a:lnSpc>
              <a:buClr>
                <a:srgbClr val="1F1F1F"/>
              </a:buClr>
              <a:buSzPct val="96428"/>
              <a:buFont typeface="Overlock"/>
              <a:buChar char="○"/>
            </a:pP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Anotasi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fonetik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mengacu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pada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pelabelan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koma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dan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titik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koma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yang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ada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dalam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teks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dan sangat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diperlukan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dalam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chatbot yang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menghasilkan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informasi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tekstual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berdasarkan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input yang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diberikan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kepada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mereka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. </a:t>
            </a:r>
            <a:endParaRPr sz="2100" dirty="0">
              <a:latin typeface="Overlock"/>
              <a:ea typeface="Overlock"/>
              <a:cs typeface="Overlock"/>
              <a:sym typeface="Overlock"/>
            </a:endParaRPr>
          </a:p>
          <a:p>
            <a:pPr marL="1219139" lvl="1" indent="-410506">
              <a:lnSpc>
                <a:spcPct val="115000"/>
              </a:lnSpc>
              <a:buClr>
                <a:srgbClr val="1F1F1F"/>
              </a:buClr>
              <a:buSzPct val="133234"/>
              <a:buFont typeface="Overlock"/>
              <a:buChar char="○"/>
            </a:pP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Koma dan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berhenti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di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tempat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yang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tidak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diinginkan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dapat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mengubah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struktur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kalimat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,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menambah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pentingnya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langkah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100" dirty="0" err="1">
                <a:latin typeface="Overlock"/>
                <a:ea typeface="Overlock"/>
                <a:cs typeface="Overlock"/>
                <a:sym typeface="Overlock"/>
              </a:rPr>
              <a:t>ini</a:t>
            </a:r>
            <a:r>
              <a:rPr lang="en-US" sz="2100" dirty="0">
                <a:latin typeface="Overlock"/>
                <a:ea typeface="Overlock"/>
                <a:cs typeface="Overlock"/>
                <a:sym typeface="Overlock"/>
              </a:rPr>
              <a:t>.</a:t>
            </a:r>
            <a:endParaRPr sz="2100" dirty="0">
              <a:latin typeface="Overlock"/>
              <a:ea typeface="Overlock"/>
              <a:cs typeface="Overlock"/>
              <a:sym typeface="Overlock"/>
            </a:endParaRPr>
          </a:p>
          <a:p>
            <a:pPr marL="0" indent="0">
              <a:lnSpc>
                <a:spcPct val="115000"/>
              </a:lnSpc>
              <a:buSzPct val="92664"/>
            </a:pPr>
            <a:endParaRPr sz="2100" dirty="0"/>
          </a:p>
        </p:txBody>
      </p:sp>
    </p:spTree>
    <p:extLst>
      <p:ext uri="{BB962C8B-B14F-4D97-AF65-F5344CB8AC3E}">
        <p14:creationId xmlns:p14="http://schemas.microsoft.com/office/powerpoint/2010/main" val="55856063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p9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SzPct val="115226"/>
            </a:pPr>
            <a:r>
              <a:rPr lang="en-US" dirty="0" err="1">
                <a:ea typeface="Overlock"/>
                <a:sym typeface="Overlock"/>
              </a:rPr>
              <a:t>Pelabelan</a:t>
            </a:r>
            <a:r>
              <a:rPr lang="en-US" dirty="0">
                <a:ea typeface="Overlock"/>
                <a:sym typeface="Overlock"/>
              </a:rPr>
              <a:t> Data : Best Practice</a:t>
            </a:r>
            <a:endParaRPr dirty="0">
              <a:ea typeface="Overlock"/>
              <a:sym typeface="Overlock"/>
            </a:endParaRPr>
          </a:p>
        </p:txBody>
      </p:sp>
      <p:sp>
        <p:nvSpPr>
          <p:cNvPr id="1346" name="Google Shape;1346;p98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609570" indent="-423312">
              <a:lnSpc>
                <a:spcPct val="115000"/>
              </a:lnSpc>
              <a:buFont typeface="Overlock"/>
              <a:buChar char="●"/>
            </a:pPr>
            <a:r>
              <a:rPr lang="en-US" sz="1867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Dengan </a:t>
            </a:r>
            <a:r>
              <a:rPr lang="en-US" sz="1867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pembelajaran</a:t>
            </a:r>
            <a:r>
              <a:rPr lang="en-US" sz="1867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 yang </a:t>
            </a:r>
            <a:r>
              <a:rPr lang="en-US" sz="1867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diawasi</a:t>
            </a:r>
            <a:r>
              <a:rPr lang="en-US" sz="1867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1867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menjadi</a:t>
            </a:r>
            <a:r>
              <a:rPr lang="en-US" sz="1867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1867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bentuk</a:t>
            </a:r>
            <a:r>
              <a:rPr lang="en-US" sz="1867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1867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pembelajaran</a:t>
            </a:r>
            <a:r>
              <a:rPr lang="en-US" sz="1867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1867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mesin</a:t>
            </a:r>
            <a:r>
              <a:rPr lang="en-US" sz="1867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 yang paling </a:t>
            </a:r>
            <a:r>
              <a:rPr lang="en-US" sz="1867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umum</a:t>
            </a:r>
            <a:r>
              <a:rPr lang="en-US" sz="1867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1867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saat</a:t>
            </a:r>
            <a:r>
              <a:rPr lang="en-US" sz="1867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1867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ini</a:t>
            </a:r>
            <a:r>
              <a:rPr lang="en-US" sz="1867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, </a:t>
            </a:r>
            <a:r>
              <a:rPr lang="en-US" sz="1867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pelabelan</a:t>
            </a:r>
            <a:r>
              <a:rPr lang="en-US" sz="1867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 data </a:t>
            </a:r>
            <a:r>
              <a:rPr lang="en-US" sz="1867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ditemukan</a:t>
            </a:r>
            <a:r>
              <a:rPr lang="en-US" sz="1867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 di </a:t>
            </a:r>
            <a:r>
              <a:rPr lang="en-US" sz="1867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hampir</a:t>
            </a:r>
            <a:r>
              <a:rPr lang="en-US" sz="1867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1867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setiap</a:t>
            </a:r>
            <a:r>
              <a:rPr lang="en-US" sz="1867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1867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tempat</a:t>
            </a:r>
            <a:r>
              <a:rPr lang="en-US" sz="1867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1867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kerja</a:t>
            </a:r>
            <a:r>
              <a:rPr lang="en-US" sz="1867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 yang </a:t>
            </a:r>
            <a:r>
              <a:rPr lang="en-US" sz="1867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membahas</a:t>
            </a:r>
            <a:r>
              <a:rPr lang="en-US" sz="1867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1867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tentang</a:t>
            </a:r>
            <a:r>
              <a:rPr lang="en-US" sz="1867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 AI.</a:t>
            </a:r>
            <a:endParaRPr sz="1867" dirty="0">
              <a:solidFill>
                <a:schemeClr val="dk1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pPr marL="609570" indent="-423312">
              <a:lnSpc>
                <a:spcPct val="115000"/>
              </a:lnSpc>
              <a:buFont typeface="Overlock"/>
              <a:buChar char="●"/>
            </a:pPr>
            <a:r>
              <a:rPr lang="en-US" sz="1867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Berikut</a:t>
            </a:r>
            <a:r>
              <a:rPr lang="en-US" sz="1867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1867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adalah</a:t>
            </a:r>
            <a:r>
              <a:rPr lang="en-US" sz="1867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1867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beberapa</a:t>
            </a:r>
            <a:r>
              <a:rPr lang="en-US" sz="1867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1867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praktik</a:t>
            </a:r>
            <a:r>
              <a:rPr lang="en-US" sz="1867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1867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terbaik</a:t>
            </a:r>
            <a:r>
              <a:rPr lang="en-US" sz="1867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1867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untuk</a:t>
            </a:r>
            <a:r>
              <a:rPr lang="en-US" sz="1867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1867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pelabelan</a:t>
            </a:r>
            <a:r>
              <a:rPr lang="en-US" sz="1867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 data </a:t>
            </a:r>
            <a:r>
              <a:rPr lang="en-US" sz="1867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untuk</a:t>
            </a:r>
            <a:r>
              <a:rPr lang="en-US" sz="1867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 AI guna </a:t>
            </a:r>
            <a:r>
              <a:rPr lang="en-US" sz="1867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memastikan</a:t>
            </a:r>
            <a:r>
              <a:rPr lang="en-US" sz="1867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 model Anda </a:t>
            </a:r>
            <a:r>
              <a:rPr lang="en-US" sz="1867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tidak</a:t>
            </a:r>
            <a:r>
              <a:rPr lang="en-US" sz="1867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1867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rusak</a:t>
            </a:r>
            <a:r>
              <a:rPr lang="en-US" sz="1867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1867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karena</a:t>
            </a:r>
            <a:r>
              <a:rPr lang="en-US" sz="1867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 data yang </a:t>
            </a:r>
            <a:r>
              <a:rPr lang="en-US" sz="1867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buruk</a:t>
            </a:r>
            <a:r>
              <a:rPr lang="en-US" sz="1867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:</a:t>
            </a:r>
            <a:endParaRPr sz="1867" dirty="0">
              <a:solidFill>
                <a:schemeClr val="dk1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pPr marL="0" indent="0">
              <a:lnSpc>
                <a:spcPct val="115000"/>
              </a:lnSpc>
              <a:buSzPts val="1800"/>
            </a:pPr>
            <a:endParaRPr sz="1867" dirty="0">
              <a:solidFill>
                <a:schemeClr val="dk1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4">
          <a:extLst>
            <a:ext uri="{FF2B5EF4-FFF2-40B4-BE49-F238E27FC236}">
              <a16:creationId xmlns:a16="http://schemas.microsoft.com/office/drawing/2014/main" id="{48948561-6019-0245-A727-EE64D4D77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p98">
            <a:extLst>
              <a:ext uri="{FF2B5EF4-FFF2-40B4-BE49-F238E27FC236}">
                <a16:creationId xmlns:a16="http://schemas.microsoft.com/office/drawing/2014/main" id="{1110C0AD-8624-691F-A16B-1695B7E64E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SzPct val="115226"/>
            </a:pPr>
            <a:r>
              <a:rPr lang="en-US" dirty="0" err="1">
                <a:ea typeface="Overlock"/>
                <a:sym typeface="Overlock"/>
              </a:rPr>
              <a:t>Pelabelan</a:t>
            </a:r>
            <a:r>
              <a:rPr lang="en-US" dirty="0">
                <a:ea typeface="Overlock"/>
                <a:sym typeface="Overlock"/>
              </a:rPr>
              <a:t> Data : Best Practice</a:t>
            </a:r>
            <a:endParaRPr dirty="0">
              <a:ea typeface="Overlock"/>
              <a:sym typeface="Overlock"/>
            </a:endParaRPr>
          </a:p>
        </p:txBody>
      </p:sp>
      <p:grpSp>
        <p:nvGrpSpPr>
          <p:cNvPr id="1347" name="Google Shape;1347;p98">
            <a:extLst>
              <a:ext uri="{FF2B5EF4-FFF2-40B4-BE49-F238E27FC236}">
                <a16:creationId xmlns:a16="http://schemas.microsoft.com/office/drawing/2014/main" id="{D81165AC-D88B-3031-AFC1-D64D88464269}"/>
              </a:ext>
            </a:extLst>
          </p:cNvPr>
          <p:cNvGrpSpPr/>
          <p:nvPr/>
        </p:nvGrpSpPr>
        <p:grpSpPr>
          <a:xfrm>
            <a:off x="3815213" y="1074421"/>
            <a:ext cx="4222141" cy="5296434"/>
            <a:chOff x="3071457" y="2013875"/>
            <a:chExt cx="1944600" cy="1569600"/>
          </a:xfrm>
        </p:grpSpPr>
        <p:sp>
          <p:nvSpPr>
            <p:cNvPr id="1348" name="Google Shape;1348;p98">
              <a:extLst>
                <a:ext uri="{FF2B5EF4-FFF2-40B4-BE49-F238E27FC236}">
                  <a16:creationId xmlns:a16="http://schemas.microsoft.com/office/drawing/2014/main" id="{90D1571F-9AA1-B6FF-3D2D-791D43498C8D}"/>
                </a:ext>
              </a:extLst>
            </p:cNvPr>
            <p:cNvSpPr/>
            <p:nvPr/>
          </p:nvSpPr>
          <p:spPr>
            <a:xfrm rot="10800000" flipH="1">
              <a:off x="3071457" y="2013875"/>
              <a:ext cx="1944600" cy="1569600"/>
            </a:xfrm>
            <a:prstGeom prst="round2DiagRect">
              <a:avLst>
                <a:gd name="adj1" fmla="val 0"/>
                <a:gd name="adj2" fmla="val 17764"/>
              </a:avLst>
            </a:prstGeom>
            <a:solidFill>
              <a:srgbClr val="0D5DD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49" name="Google Shape;1349;p98">
              <a:extLst>
                <a:ext uri="{FF2B5EF4-FFF2-40B4-BE49-F238E27FC236}">
                  <a16:creationId xmlns:a16="http://schemas.microsoft.com/office/drawing/2014/main" id="{E5D08455-9FE8-5EBE-C029-8954635DF64F}"/>
                </a:ext>
              </a:extLst>
            </p:cNvPr>
            <p:cNvSpPr txBox="1"/>
            <p:nvPr/>
          </p:nvSpPr>
          <p:spPr>
            <a:xfrm>
              <a:off x="3317852" y="2157360"/>
              <a:ext cx="1451700" cy="45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r>
                <a:rPr lang="en-US" sz="16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Proper Annotation Approach</a:t>
              </a:r>
              <a:endParaRPr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50" name="Google Shape;1350;p98">
              <a:extLst>
                <a:ext uri="{FF2B5EF4-FFF2-40B4-BE49-F238E27FC236}">
                  <a16:creationId xmlns:a16="http://schemas.microsoft.com/office/drawing/2014/main" id="{FD57DA65-2215-4D6E-7474-988CD1E1354A}"/>
                </a:ext>
              </a:extLst>
            </p:cNvPr>
            <p:cNvSpPr txBox="1"/>
            <p:nvPr/>
          </p:nvSpPr>
          <p:spPr>
            <a:xfrm>
              <a:off x="3316092" y="2563950"/>
              <a:ext cx="1586400" cy="51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>
                <a:lnSpc>
                  <a:spcPct val="115000"/>
                </a:lnSpc>
                <a:spcAft>
                  <a:spcPts val="2133"/>
                </a:spcAft>
              </a:pPr>
              <a:r>
                <a:rPr lang="en-US" sz="1600" dirty="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Data yang </a:t>
              </a:r>
              <a:r>
                <a:rPr lang="en-US" sz="1600" dirty="0" err="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akan</a:t>
              </a:r>
              <a:r>
                <a:rPr lang="en-US" sz="1600" dirty="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600" dirty="0" err="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dianotasi</a:t>
              </a:r>
              <a:r>
                <a:rPr lang="en-US" sz="1600" dirty="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600" dirty="0" err="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harus</a:t>
              </a:r>
              <a:r>
                <a:rPr lang="en-US" sz="1600" dirty="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600" dirty="0" err="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diberi</a:t>
              </a:r>
              <a:r>
                <a:rPr lang="en-US" sz="1600" dirty="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 label </a:t>
              </a:r>
              <a:r>
                <a:rPr lang="en-US" sz="1600" dirty="0" err="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melalui</a:t>
              </a:r>
              <a:r>
                <a:rPr lang="en-US" sz="1600" dirty="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600" dirty="0" err="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pelabelan</a:t>
              </a:r>
              <a:r>
                <a:rPr lang="en-US" sz="1600" dirty="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 internal, outsourcing, </a:t>
              </a:r>
              <a:r>
                <a:rPr lang="en-US" sz="1600" dirty="0" err="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atau</a:t>
              </a:r>
              <a:r>
                <a:rPr lang="en-US" sz="1600" dirty="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600" dirty="0" err="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melalui</a:t>
              </a:r>
              <a:r>
                <a:rPr lang="en-US" sz="1600" dirty="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600" dirty="0" err="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cara</a:t>
              </a:r>
              <a:r>
                <a:rPr lang="en-US" sz="1600" dirty="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 crowdsourcing. </a:t>
              </a:r>
              <a:r>
                <a:rPr lang="en-US" sz="1600" dirty="0" err="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Pilihan</a:t>
              </a:r>
              <a:r>
                <a:rPr lang="en-US" sz="1600" dirty="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 yang </a:t>
              </a:r>
              <a:r>
                <a:rPr lang="en-US" sz="1600" dirty="0" err="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tepat</a:t>
              </a:r>
              <a:r>
                <a:rPr lang="en-US" sz="1600" dirty="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600" dirty="0" err="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dari</a:t>
              </a:r>
              <a:r>
                <a:rPr lang="en-US" sz="1600" dirty="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600" dirty="0" err="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pendekatan</a:t>
              </a:r>
              <a:r>
                <a:rPr lang="en-US" sz="1600" dirty="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600" dirty="0" err="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pelabelan</a:t>
              </a:r>
              <a:r>
                <a:rPr lang="en-US" sz="1600" dirty="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 data yang </a:t>
              </a:r>
              <a:r>
                <a:rPr lang="en-US" sz="1600" dirty="0" err="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dilakukan</a:t>
              </a:r>
              <a:r>
                <a:rPr lang="en-US" sz="1600" dirty="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600" dirty="0" err="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membantu</a:t>
              </a:r>
              <a:r>
                <a:rPr lang="en-US" sz="1600" dirty="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600" dirty="0" err="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menjaga</a:t>
              </a:r>
              <a:r>
                <a:rPr lang="en-US" sz="1600" dirty="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600" dirty="0" err="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anggaran</a:t>
              </a:r>
              <a:r>
                <a:rPr lang="en-US" sz="1600" dirty="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600" dirty="0" err="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tetap</a:t>
              </a:r>
              <a:r>
                <a:rPr lang="en-US" sz="1600" dirty="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600" dirty="0" err="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terkendali</a:t>
              </a:r>
              <a:r>
                <a:rPr lang="en-US" sz="1600" dirty="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600" dirty="0" err="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tanpa</a:t>
              </a:r>
              <a:r>
                <a:rPr lang="en-US" sz="1600" dirty="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600" dirty="0" err="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mengurangi</a:t>
              </a:r>
              <a:r>
                <a:rPr lang="en-US" sz="1600" dirty="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600" dirty="0" err="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akurasi</a:t>
              </a:r>
              <a:r>
                <a:rPr lang="en-US" sz="1600" dirty="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600" dirty="0" err="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anotasi</a:t>
              </a:r>
              <a:r>
                <a:rPr lang="en-US" sz="1600" dirty="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.</a:t>
              </a:r>
              <a:endParaRPr sz="16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51" name="Google Shape;1351;p98">
            <a:extLst>
              <a:ext uri="{FF2B5EF4-FFF2-40B4-BE49-F238E27FC236}">
                <a16:creationId xmlns:a16="http://schemas.microsoft.com/office/drawing/2014/main" id="{AB403136-6C53-6A2D-36BF-F0351F58E430}"/>
              </a:ext>
            </a:extLst>
          </p:cNvPr>
          <p:cNvGrpSpPr/>
          <p:nvPr/>
        </p:nvGrpSpPr>
        <p:grpSpPr>
          <a:xfrm>
            <a:off x="-38628" y="1074421"/>
            <a:ext cx="3833240" cy="5296434"/>
            <a:chOff x="1126863" y="2013875"/>
            <a:chExt cx="1944600" cy="1569600"/>
          </a:xfrm>
        </p:grpSpPr>
        <p:sp>
          <p:nvSpPr>
            <p:cNvPr id="1352" name="Google Shape;1352;p98">
              <a:extLst>
                <a:ext uri="{FF2B5EF4-FFF2-40B4-BE49-F238E27FC236}">
                  <a16:creationId xmlns:a16="http://schemas.microsoft.com/office/drawing/2014/main" id="{5EF0B5FA-46D7-0AB3-4620-F4CB7CC98842}"/>
                </a:ext>
              </a:extLst>
            </p:cNvPr>
            <p:cNvSpPr/>
            <p:nvPr/>
          </p:nvSpPr>
          <p:spPr>
            <a:xfrm>
              <a:off x="1126863" y="2013875"/>
              <a:ext cx="1944600" cy="1569600"/>
            </a:xfrm>
            <a:prstGeom prst="round2DiagRect">
              <a:avLst>
                <a:gd name="adj1" fmla="val 0"/>
                <a:gd name="adj2" fmla="val 17764"/>
              </a:avLst>
            </a:prstGeom>
            <a:solidFill>
              <a:srgbClr val="307BF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53" name="Google Shape;1353;p98">
              <a:extLst>
                <a:ext uri="{FF2B5EF4-FFF2-40B4-BE49-F238E27FC236}">
                  <a16:creationId xmlns:a16="http://schemas.microsoft.com/office/drawing/2014/main" id="{0488F785-B453-CC74-9E74-FB2DF5C33E8E}"/>
                </a:ext>
              </a:extLst>
            </p:cNvPr>
            <p:cNvSpPr txBox="1"/>
            <p:nvPr/>
          </p:nvSpPr>
          <p:spPr>
            <a:xfrm>
              <a:off x="1235679" y="2143573"/>
              <a:ext cx="14517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r>
                <a:rPr lang="en-US" sz="1600" b="1" dirty="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Proper dataset collection and cleaning</a:t>
              </a:r>
              <a:endParaRPr sz="11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54" name="Google Shape;1354;p98">
              <a:extLst>
                <a:ext uri="{FF2B5EF4-FFF2-40B4-BE49-F238E27FC236}">
                  <a16:creationId xmlns:a16="http://schemas.microsoft.com/office/drawing/2014/main" id="{E0B43156-46A3-2795-9345-B69CB72613A5}"/>
                </a:ext>
              </a:extLst>
            </p:cNvPr>
            <p:cNvSpPr txBox="1"/>
            <p:nvPr/>
          </p:nvSpPr>
          <p:spPr>
            <a:xfrm>
              <a:off x="1242951" y="2382787"/>
              <a:ext cx="1683600" cy="51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>
                <a:lnSpc>
                  <a:spcPct val="115000"/>
                </a:lnSpc>
                <a:spcAft>
                  <a:spcPts val="2133"/>
                </a:spcAft>
              </a:pPr>
              <a:r>
                <a:rPr lang="en-US" sz="1600" dirty="0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Data </a:t>
              </a:r>
              <a:r>
                <a:rPr lang="en-US" sz="1600" dirty="0" err="1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harus</a:t>
              </a:r>
              <a:r>
                <a:rPr lang="en-US" sz="1600" dirty="0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beragam</a:t>
              </a:r>
              <a:r>
                <a:rPr lang="en-US" sz="1600" dirty="0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tetapi</a:t>
              </a:r>
              <a:r>
                <a:rPr lang="en-US" sz="1600" dirty="0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spesifik</a:t>
              </a:r>
              <a:r>
                <a:rPr lang="en-US" sz="1600" dirty="0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untuk</a:t>
              </a:r>
              <a:r>
                <a:rPr lang="en-US" sz="1600" dirty="0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pernyataan</a:t>
              </a:r>
              <a:r>
                <a:rPr lang="en-US" sz="1600" dirty="0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masalah</a:t>
              </a:r>
              <a:r>
                <a:rPr lang="en-US" sz="1600" dirty="0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. Data yang </a:t>
              </a:r>
              <a:r>
                <a:rPr lang="en-US" sz="1600" dirty="0" err="1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beragam</a:t>
              </a:r>
              <a:r>
                <a:rPr lang="en-US" sz="1600" dirty="0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memungkinkan</a:t>
              </a:r>
              <a:r>
                <a:rPr lang="en-US" sz="1600" dirty="0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 kami </a:t>
              </a:r>
              <a:r>
                <a:rPr lang="en-US" sz="1600" dirty="0" err="1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untuk</a:t>
              </a:r>
              <a:r>
                <a:rPr lang="en-US" sz="1600" dirty="0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menyimpulkan</a:t>
              </a:r>
              <a:r>
                <a:rPr lang="en-US" sz="1600" dirty="0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 model ML </a:t>
              </a:r>
              <a:r>
                <a:rPr lang="en-US" sz="1600" dirty="0" err="1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dalam</a:t>
              </a:r>
              <a:r>
                <a:rPr lang="en-US" sz="1600" dirty="0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beberapa</a:t>
              </a:r>
              <a:r>
                <a:rPr lang="en-US" sz="1600" dirty="0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skenario</a:t>
              </a:r>
              <a:r>
                <a:rPr lang="en-US" sz="1600" dirty="0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 dunia </a:t>
              </a:r>
              <a:r>
                <a:rPr lang="en-US" sz="1600" dirty="0" err="1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nyata</a:t>
              </a:r>
              <a:r>
                <a:rPr lang="en-US" sz="1600" dirty="0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sambil</a:t>
              </a:r>
              <a:r>
                <a:rPr lang="en-US" sz="1600" dirty="0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mempertahankan</a:t>
              </a:r>
              <a:r>
                <a:rPr lang="en-US" sz="1600" dirty="0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spesifisitas</a:t>
              </a:r>
              <a:r>
                <a:rPr lang="en-US" sz="1600" dirty="0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sehingga</a:t>
              </a:r>
              <a:r>
                <a:rPr lang="en-US" sz="1600" dirty="0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mengurangi</a:t>
              </a:r>
              <a:r>
                <a:rPr lang="en-US" sz="1600" dirty="0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kemungkinan</a:t>
              </a:r>
              <a:r>
                <a:rPr lang="en-US" sz="1600" dirty="0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kesalahan</a:t>
              </a:r>
              <a:r>
                <a:rPr lang="en-US" sz="1600" dirty="0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. </a:t>
              </a:r>
              <a:r>
                <a:rPr lang="en-US" sz="1600" dirty="0" err="1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Demikian</a:t>
              </a:r>
              <a:r>
                <a:rPr lang="en-US" sz="1600" dirty="0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 pula, </a:t>
              </a:r>
              <a:r>
                <a:rPr lang="en-US" sz="1600" dirty="0" err="1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pemeriksaan</a:t>
              </a:r>
              <a:r>
                <a:rPr lang="en-US" sz="1600" dirty="0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 bias yang </a:t>
              </a:r>
              <a:r>
                <a:rPr lang="en-US" sz="1600" dirty="0" err="1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tepat</a:t>
              </a:r>
              <a:r>
                <a:rPr lang="en-US" sz="1600" dirty="0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mencegah</a:t>
              </a:r>
              <a:r>
                <a:rPr lang="en-US" sz="1600" dirty="0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 model </a:t>
              </a:r>
              <a:r>
                <a:rPr lang="en-US" sz="1600" dirty="0" err="1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dari</a:t>
              </a:r>
              <a:r>
                <a:rPr lang="en-US" sz="1600" dirty="0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 overfitting </a:t>
              </a:r>
              <a:r>
                <a:rPr lang="en-US" sz="1600" dirty="0" err="1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ke</a:t>
              </a:r>
              <a:r>
                <a:rPr lang="en-US" sz="1600" dirty="0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skenario</a:t>
              </a:r>
              <a:r>
                <a:rPr lang="en-US" sz="1600" dirty="0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tertentu</a:t>
              </a:r>
              <a:r>
                <a:rPr lang="en-US" sz="1600" dirty="0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.</a:t>
              </a:r>
              <a:endParaRPr sz="16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55" name="Google Shape;1355;p98">
            <a:extLst>
              <a:ext uri="{FF2B5EF4-FFF2-40B4-BE49-F238E27FC236}">
                <a16:creationId xmlns:a16="http://schemas.microsoft.com/office/drawing/2014/main" id="{4AD49446-CCCC-237A-FE44-01A25A3FAE29}"/>
              </a:ext>
            </a:extLst>
          </p:cNvPr>
          <p:cNvGrpSpPr/>
          <p:nvPr/>
        </p:nvGrpSpPr>
        <p:grpSpPr>
          <a:xfrm>
            <a:off x="8082212" y="1074421"/>
            <a:ext cx="4109788" cy="5296434"/>
            <a:chOff x="5015938" y="2013875"/>
            <a:chExt cx="3001200" cy="1569600"/>
          </a:xfrm>
        </p:grpSpPr>
        <p:sp>
          <p:nvSpPr>
            <p:cNvPr id="1356" name="Google Shape;1356;p98">
              <a:extLst>
                <a:ext uri="{FF2B5EF4-FFF2-40B4-BE49-F238E27FC236}">
                  <a16:creationId xmlns:a16="http://schemas.microsoft.com/office/drawing/2014/main" id="{0BBC5875-85F3-582C-E708-8492D13CF91E}"/>
                </a:ext>
              </a:extLst>
            </p:cNvPr>
            <p:cNvSpPr/>
            <p:nvPr/>
          </p:nvSpPr>
          <p:spPr>
            <a:xfrm>
              <a:off x="5015938" y="2013875"/>
              <a:ext cx="3001200" cy="1569600"/>
            </a:xfrm>
            <a:prstGeom prst="round2DiagRect">
              <a:avLst>
                <a:gd name="adj1" fmla="val 0"/>
                <a:gd name="adj2" fmla="val 17764"/>
              </a:avLst>
            </a:prstGeom>
            <a:solidFill>
              <a:srgbClr val="0944A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endParaRPr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endParaRPr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endParaRPr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57" name="Google Shape;1357;p98">
              <a:extLst>
                <a:ext uri="{FF2B5EF4-FFF2-40B4-BE49-F238E27FC236}">
                  <a16:creationId xmlns:a16="http://schemas.microsoft.com/office/drawing/2014/main" id="{9EB3F9A8-58FC-165A-5E85-BEC57627CDD1}"/>
                </a:ext>
              </a:extLst>
            </p:cNvPr>
            <p:cNvSpPr txBox="1"/>
            <p:nvPr/>
          </p:nvSpPr>
          <p:spPr>
            <a:xfrm>
              <a:off x="5360239" y="2179087"/>
              <a:ext cx="2417100" cy="45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r>
                <a:rPr lang="en-US" sz="1600" b="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QA</a:t>
              </a:r>
              <a:endParaRPr sz="16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58" name="Google Shape;1358;p98">
              <a:extLst>
                <a:ext uri="{FF2B5EF4-FFF2-40B4-BE49-F238E27FC236}">
                  <a16:creationId xmlns:a16="http://schemas.microsoft.com/office/drawing/2014/main" id="{7F36349B-0C73-D235-0269-A65CC4B58783}"/>
                </a:ext>
              </a:extLst>
            </p:cNvPr>
            <p:cNvSpPr txBox="1"/>
            <p:nvPr/>
          </p:nvSpPr>
          <p:spPr>
            <a:xfrm>
              <a:off x="5360239" y="2617328"/>
              <a:ext cx="2417100" cy="51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>
                <a:lnSpc>
                  <a:spcPct val="115000"/>
                </a:lnSpc>
                <a:spcAft>
                  <a:spcPts val="2133"/>
                </a:spcAft>
              </a:pPr>
              <a:r>
                <a:rPr lang="en-US" sz="1600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Quality Assurance </a:t>
              </a:r>
              <a:r>
                <a:rPr lang="en-US" sz="1600" dirty="0" err="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mencegah</a:t>
              </a:r>
              <a:r>
                <a:rPr lang="en-US" sz="1600" dirty="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 label </a:t>
              </a:r>
              <a:r>
                <a:rPr lang="en-US" sz="1600" dirty="0" err="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palsu</a:t>
              </a:r>
              <a:r>
                <a:rPr lang="en-US" sz="1600" dirty="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 dan data yang </a:t>
              </a:r>
              <a:r>
                <a:rPr lang="en-US" sz="1600" dirty="0" err="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tidak</a:t>
              </a:r>
              <a:r>
                <a:rPr lang="en-US" sz="1600" dirty="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600" dirty="0" err="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diberi</a:t>
              </a:r>
              <a:r>
                <a:rPr lang="en-US" sz="1600" dirty="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 label </a:t>
              </a:r>
              <a:r>
                <a:rPr lang="en-US" sz="1600" dirty="0" err="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dengan</a:t>
              </a:r>
              <a:r>
                <a:rPr lang="en-US" sz="1600" dirty="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600" dirty="0" err="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benar</a:t>
              </a:r>
              <a:r>
                <a:rPr lang="en-US" sz="1600" dirty="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600" dirty="0" err="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diumpankan</a:t>
              </a:r>
              <a:r>
                <a:rPr lang="en-US" sz="1600" dirty="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600" dirty="0" err="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ke</a:t>
              </a:r>
              <a:r>
                <a:rPr lang="en-US" sz="1600" dirty="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600" dirty="0" err="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algoritme</a:t>
              </a:r>
              <a:r>
                <a:rPr lang="en-US" sz="1600" dirty="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 ML. </a:t>
              </a:r>
              <a:r>
                <a:rPr lang="en-US" sz="1600" dirty="0" err="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Anotasi</a:t>
              </a:r>
              <a:r>
                <a:rPr lang="en-US" sz="1600" dirty="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 yang </a:t>
              </a:r>
              <a:r>
                <a:rPr lang="en-US" sz="1600" dirty="0" err="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tidak</a:t>
              </a:r>
              <a:r>
                <a:rPr lang="en-US" sz="1600" dirty="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600" dirty="0" err="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tepat</a:t>
              </a:r>
              <a:r>
                <a:rPr lang="en-US" sz="1600" dirty="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600" dirty="0" err="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dapat</a:t>
              </a:r>
              <a:r>
                <a:rPr lang="en-US" sz="1600" dirty="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600" dirty="0" err="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menjadi</a:t>
              </a:r>
              <a:r>
                <a:rPr lang="en-US" sz="1600" dirty="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 noise dan </a:t>
              </a:r>
              <a:r>
                <a:rPr lang="en-US" sz="1600" dirty="0" err="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merusak</a:t>
              </a:r>
              <a:r>
                <a:rPr lang="en-US" sz="1600" dirty="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 model ML yang </a:t>
              </a:r>
              <a:r>
                <a:rPr lang="en-US" sz="1600" dirty="0" err="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dapat</a:t>
              </a:r>
              <a:r>
                <a:rPr lang="en-US" sz="1600" dirty="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600" dirty="0" err="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dibangun</a:t>
              </a:r>
              <a:r>
                <a:rPr lang="en-US" sz="1600" dirty="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.</a:t>
              </a:r>
              <a:endParaRPr sz="16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59" name="Google Shape;1359;p98">
            <a:extLst>
              <a:ext uri="{FF2B5EF4-FFF2-40B4-BE49-F238E27FC236}">
                <a16:creationId xmlns:a16="http://schemas.microsoft.com/office/drawing/2014/main" id="{DEB9BE99-1230-72EA-3F69-57DF3A3791A7}"/>
              </a:ext>
            </a:extLst>
          </p:cNvPr>
          <p:cNvGrpSpPr/>
          <p:nvPr/>
        </p:nvGrpSpPr>
        <p:grpSpPr>
          <a:xfrm>
            <a:off x="7915532" y="3598877"/>
            <a:ext cx="348761" cy="347172"/>
            <a:chOff x="4858109" y="2631368"/>
            <a:chExt cx="316442" cy="315000"/>
          </a:xfrm>
        </p:grpSpPr>
        <p:sp>
          <p:nvSpPr>
            <p:cNvPr id="1360" name="Google Shape;1360;p98">
              <a:extLst>
                <a:ext uri="{FF2B5EF4-FFF2-40B4-BE49-F238E27FC236}">
                  <a16:creationId xmlns:a16="http://schemas.microsoft.com/office/drawing/2014/main" id="{40538991-DB6B-353A-B95F-06EE4999D8B5}"/>
                </a:ext>
              </a:extLst>
            </p:cNvPr>
            <p:cNvSpPr/>
            <p:nvPr/>
          </p:nvSpPr>
          <p:spPr>
            <a:xfrm>
              <a:off x="4859551" y="2631368"/>
              <a:ext cx="315000" cy="315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61" name="Google Shape;1361;p98">
              <a:extLst>
                <a:ext uri="{FF2B5EF4-FFF2-40B4-BE49-F238E27FC236}">
                  <a16:creationId xmlns:a16="http://schemas.microsoft.com/office/drawing/2014/main" id="{5B0A9B75-E034-2572-6A4B-A018C7593F07}"/>
                </a:ext>
              </a:extLst>
            </p:cNvPr>
            <p:cNvSpPr/>
            <p:nvPr/>
          </p:nvSpPr>
          <p:spPr>
            <a:xfrm>
              <a:off x="4858109" y="2739300"/>
              <a:ext cx="239100" cy="99000"/>
            </a:xfrm>
            <a:prstGeom prst="rightArrow">
              <a:avLst>
                <a:gd name="adj1" fmla="val 32020"/>
                <a:gd name="adj2" fmla="val 66970"/>
              </a:avLst>
            </a:prstGeom>
            <a:solidFill>
              <a:srgbClr val="0D5DD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br>
                <a:rPr lang="en-US" sz="24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</a:br>
              <a:endParaRPr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1362" name="Google Shape;1362;p98">
            <a:extLst>
              <a:ext uri="{FF2B5EF4-FFF2-40B4-BE49-F238E27FC236}">
                <a16:creationId xmlns:a16="http://schemas.microsoft.com/office/drawing/2014/main" id="{65C23A77-07EE-2BA8-F704-B7D2CD8813FB}"/>
              </a:ext>
            </a:extLst>
          </p:cNvPr>
          <p:cNvGrpSpPr/>
          <p:nvPr/>
        </p:nvGrpSpPr>
        <p:grpSpPr>
          <a:xfrm>
            <a:off x="3605528" y="3709032"/>
            <a:ext cx="347156" cy="347156"/>
            <a:chOff x="3157188" y="909150"/>
            <a:chExt cx="470400" cy="470400"/>
          </a:xfrm>
        </p:grpSpPr>
        <p:sp>
          <p:nvSpPr>
            <p:cNvPr id="1363" name="Google Shape;1363;p98">
              <a:extLst>
                <a:ext uri="{FF2B5EF4-FFF2-40B4-BE49-F238E27FC236}">
                  <a16:creationId xmlns:a16="http://schemas.microsoft.com/office/drawing/2014/main" id="{57F81BED-62F5-1FD3-D2A9-DBB17CB19772}"/>
                </a:ext>
              </a:extLst>
            </p:cNvPr>
            <p:cNvSpPr/>
            <p:nvPr/>
          </p:nvSpPr>
          <p:spPr>
            <a:xfrm>
              <a:off x="3157188" y="909150"/>
              <a:ext cx="470400" cy="470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64" name="Google Shape;1364;p98">
              <a:extLst>
                <a:ext uri="{FF2B5EF4-FFF2-40B4-BE49-F238E27FC236}">
                  <a16:creationId xmlns:a16="http://schemas.microsoft.com/office/drawing/2014/main" id="{F1A92C55-3D78-0F58-E83F-0E7A01E57B60}"/>
                </a:ext>
              </a:extLst>
            </p:cNvPr>
            <p:cNvSpPr/>
            <p:nvPr/>
          </p:nvSpPr>
          <p:spPr>
            <a:xfrm>
              <a:off x="3243138" y="995100"/>
              <a:ext cx="298500" cy="298500"/>
            </a:xfrm>
            <a:prstGeom prst="mathPlus">
              <a:avLst>
                <a:gd name="adj1" fmla="val 9900"/>
              </a:avLst>
            </a:prstGeom>
            <a:solidFill>
              <a:srgbClr val="307BF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7159012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p9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SzPct val="115226"/>
            </a:pPr>
            <a:r>
              <a:rPr lang="en-US" dirty="0" err="1">
                <a:ea typeface="Overlock"/>
                <a:sym typeface="Overlock"/>
              </a:rPr>
              <a:t>Pelabelan</a:t>
            </a:r>
            <a:r>
              <a:rPr lang="en-US" dirty="0">
                <a:ea typeface="Overlock"/>
                <a:sym typeface="Overlock"/>
              </a:rPr>
              <a:t> Data : Best </a:t>
            </a:r>
            <a:r>
              <a:rPr lang="en-US" dirty="0" err="1">
                <a:ea typeface="Overlock"/>
                <a:sym typeface="Overlock"/>
              </a:rPr>
              <a:t>Practise</a:t>
            </a:r>
            <a:endParaRPr dirty="0">
              <a:ea typeface="Overlock"/>
              <a:sym typeface="Overlock"/>
            </a:endParaRPr>
          </a:p>
        </p:txBody>
      </p:sp>
      <p:grpSp>
        <p:nvGrpSpPr>
          <p:cNvPr id="1370" name="Google Shape;1370;p99"/>
          <p:cNvGrpSpPr/>
          <p:nvPr/>
        </p:nvGrpSpPr>
        <p:grpSpPr>
          <a:xfrm>
            <a:off x="1811310" y="1436103"/>
            <a:ext cx="2978260" cy="3927189"/>
            <a:chOff x="1830046" y="1146343"/>
            <a:chExt cx="1827900" cy="2399700"/>
          </a:xfrm>
        </p:grpSpPr>
        <p:sp>
          <p:nvSpPr>
            <p:cNvPr id="1371" name="Google Shape;1371;p99"/>
            <p:cNvSpPr/>
            <p:nvPr/>
          </p:nvSpPr>
          <p:spPr>
            <a:xfrm rot="-5400000">
              <a:off x="1544146" y="1432243"/>
              <a:ext cx="2399700" cy="1827900"/>
            </a:xfrm>
            <a:prstGeom prst="rightArrowCallout">
              <a:avLst>
                <a:gd name="adj1" fmla="val 9283"/>
                <a:gd name="adj2" fmla="val 13570"/>
                <a:gd name="adj3" fmla="val 16082"/>
                <a:gd name="adj4" fmla="val 81236"/>
              </a:avLst>
            </a:prstGeom>
            <a:solidFill>
              <a:srgbClr val="D0E0E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72" name="Google Shape;1372;p99"/>
            <p:cNvSpPr/>
            <p:nvPr/>
          </p:nvSpPr>
          <p:spPr>
            <a:xfrm flipH="1">
              <a:off x="1918613" y="1686400"/>
              <a:ext cx="1649400" cy="1769700"/>
            </a:xfrm>
            <a:prstGeom prst="snip1Rect">
              <a:avLst>
                <a:gd name="adj" fmla="val 0"/>
              </a:avLst>
            </a:prstGeom>
            <a:solidFill>
              <a:srgbClr val="00717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73" name="Google Shape;1373;p99"/>
            <p:cNvSpPr txBox="1"/>
            <p:nvPr/>
          </p:nvSpPr>
          <p:spPr>
            <a:xfrm>
              <a:off x="2052463" y="1795520"/>
              <a:ext cx="1383000" cy="147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>
                <a:lnSpc>
                  <a:spcPct val="115000"/>
                </a:lnSpc>
              </a:pPr>
              <a:r>
                <a:rPr lang="en-US" sz="1733" b="1" dirty="0" err="1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Hampir</a:t>
              </a:r>
              <a:r>
                <a:rPr lang="en-US" sz="1733" b="1" dirty="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 </a:t>
              </a:r>
              <a:r>
                <a:rPr lang="en-US" sz="1733" b="1" dirty="0" err="1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semua</a:t>
              </a:r>
              <a:r>
                <a:rPr lang="en-US" sz="1733" b="1" dirty="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 </a:t>
              </a:r>
              <a:r>
                <a:rPr lang="en-US" sz="1733" b="1" dirty="0" err="1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algoritma</a:t>
              </a:r>
              <a:r>
                <a:rPr lang="en-US" sz="1733" b="1" dirty="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 AI </a:t>
              </a:r>
              <a:r>
                <a:rPr lang="en-US" sz="1733" b="1" dirty="0" err="1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bekerja</a:t>
              </a:r>
              <a:r>
                <a:rPr lang="en-US" sz="1733" b="1" dirty="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 </a:t>
              </a:r>
              <a:r>
                <a:rPr lang="en-US" sz="1733" b="1" dirty="0" err="1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dengan</a:t>
              </a:r>
              <a:r>
                <a:rPr lang="en-US" sz="1733" b="1" dirty="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 </a:t>
              </a:r>
              <a:r>
                <a:rPr lang="en-US" sz="1733" b="1" dirty="0" err="1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asumsi</a:t>
              </a:r>
              <a:r>
                <a:rPr lang="en-US" sz="1733" b="1" dirty="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 </a:t>
              </a:r>
              <a:r>
                <a:rPr lang="en-US" sz="1733" b="1" dirty="0" err="1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bahwa</a:t>
              </a:r>
              <a:r>
                <a:rPr lang="en-US" sz="1733" b="1" dirty="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 </a:t>
              </a:r>
              <a:r>
                <a:rPr lang="en-US" sz="1733" b="1" i="1" dirty="0">
                  <a:solidFill>
                    <a:schemeClr val="lt1"/>
                  </a:solidFill>
                  <a:highlight>
                    <a:srgbClr val="FFAA3F"/>
                  </a:highlight>
                  <a:latin typeface="Corbel"/>
                  <a:ea typeface="Corbel"/>
                  <a:cs typeface="Corbel"/>
                  <a:sym typeface="Corbel"/>
                </a:rPr>
                <a:t>ground truth</a:t>
              </a:r>
              <a:r>
                <a:rPr lang="en-US" sz="1733" b="1" dirty="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 yang </a:t>
              </a:r>
              <a:r>
                <a:rPr lang="en-US" sz="1733" b="1" dirty="0" err="1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diberikan</a:t>
              </a:r>
              <a:r>
                <a:rPr lang="en-US" sz="1733" b="1" dirty="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 </a:t>
              </a:r>
              <a:r>
                <a:rPr lang="en-US" sz="1733" b="1" dirty="0" err="1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adalah</a:t>
              </a:r>
              <a:r>
                <a:rPr lang="en-US" sz="1733" b="1" dirty="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 </a:t>
              </a:r>
              <a:r>
                <a:rPr lang="en-US" sz="1733" b="1" dirty="0" err="1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akurat</a:t>
              </a:r>
              <a:r>
                <a:rPr lang="en-US" sz="1733" b="1" dirty="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.</a:t>
              </a:r>
              <a:endParaRPr sz="1333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algn="ctr">
                <a:lnSpc>
                  <a:spcPct val="115000"/>
                </a:lnSpc>
              </a:pPr>
              <a:endParaRPr sz="933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algn="ctr">
                <a:lnSpc>
                  <a:spcPct val="115000"/>
                </a:lnSpc>
                <a:spcAft>
                  <a:spcPts val="2133"/>
                </a:spcAft>
              </a:pPr>
              <a:endParaRPr sz="933" b="1" dirty="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1374" name="Google Shape;1374;p99"/>
          <p:cNvGrpSpPr/>
          <p:nvPr/>
        </p:nvGrpSpPr>
        <p:grpSpPr>
          <a:xfrm>
            <a:off x="4789811" y="2174386"/>
            <a:ext cx="2978260" cy="3927189"/>
            <a:chOff x="3658096" y="1597469"/>
            <a:chExt cx="1827900" cy="2399700"/>
          </a:xfrm>
        </p:grpSpPr>
        <p:sp>
          <p:nvSpPr>
            <p:cNvPr id="1375" name="Google Shape;1375;p99"/>
            <p:cNvSpPr/>
            <p:nvPr/>
          </p:nvSpPr>
          <p:spPr>
            <a:xfrm rot="5400000">
              <a:off x="3372196" y="1883369"/>
              <a:ext cx="2399700" cy="1827900"/>
            </a:xfrm>
            <a:prstGeom prst="rightArrowCallout">
              <a:avLst>
                <a:gd name="adj1" fmla="val 9283"/>
                <a:gd name="adj2" fmla="val 13570"/>
                <a:gd name="adj3" fmla="val 16082"/>
                <a:gd name="adj4" fmla="val 81236"/>
              </a:avLst>
            </a:prstGeom>
            <a:solidFill>
              <a:srgbClr val="00717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76" name="Google Shape;1376;p99"/>
            <p:cNvSpPr/>
            <p:nvPr/>
          </p:nvSpPr>
          <p:spPr>
            <a:xfrm rot="10800000" flipH="1">
              <a:off x="3748030" y="1687411"/>
              <a:ext cx="1649400" cy="1769700"/>
            </a:xfrm>
            <a:prstGeom prst="snip1Rect">
              <a:avLst>
                <a:gd name="adj" fmla="val 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77" name="Google Shape;1377;p99"/>
            <p:cNvSpPr txBox="1"/>
            <p:nvPr/>
          </p:nvSpPr>
          <p:spPr>
            <a:xfrm>
              <a:off x="3880463" y="1687395"/>
              <a:ext cx="1383000" cy="147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>
                <a:lnSpc>
                  <a:spcPct val="115000"/>
                </a:lnSpc>
              </a:pPr>
              <a:r>
                <a:rPr lang="en-US" sz="1467" b="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Ketidakakuratan anotasi data oleh manusia sering mengakibatkan model ini tidak dapat melakukan yang terbaik, sehingga menurunkan akurasi prediksi secara keseluruhan.</a:t>
              </a:r>
              <a:endParaRPr sz="1067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algn="ctr">
                <a:lnSpc>
                  <a:spcPct val="115000"/>
                </a:lnSpc>
              </a:pPr>
              <a:endParaRPr sz="667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algn="ctr">
                <a:lnSpc>
                  <a:spcPct val="115000"/>
                </a:lnSpc>
                <a:spcAft>
                  <a:spcPts val="2133"/>
                </a:spcAft>
              </a:pPr>
              <a:endParaRPr sz="667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78" name="Google Shape;1378;p99"/>
          <p:cNvGrpSpPr/>
          <p:nvPr/>
        </p:nvGrpSpPr>
        <p:grpSpPr>
          <a:xfrm>
            <a:off x="7768069" y="1436103"/>
            <a:ext cx="2978260" cy="3927189"/>
            <a:chOff x="5485996" y="1146343"/>
            <a:chExt cx="1827900" cy="2399700"/>
          </a:xfrm>
        </p:grpSpPr>
        <p:sp>
          <p:nvSpPr>
            <p:cNvPr id="1379" name="Google Shape;1379;p99"/>
            <p:cNvSpPr/>
            <p:nvPr/>
          </p:nvSpPr>
          <p:spPr>
            <a:xfrm rot="-5400000">
              <a:off x="5200096" y="1432243"/>
              <a:ext cx="2399700" cy="1827900"/>
            </a:xfrm>
            <a:prstGeom prst="rightArrowCallout">
              <a:avLst>
                <a:gd name="adj1" fmla="val 9283"/>
                <a:gd name="adj2" fmla="val 13570"/>
                <a:gd name="adj3" fmla="val 16082"/>
                <a:gd name="adj4" fmla="val 81236"/>
              </a:avLst>
            </a:prstGeom>
            <a:solidFill>
              <a:srgbClr val="D0E0E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80" name="Google Shape;1380;p99"/>
            <p:cNvSpPr/>
            <p:nvPr/>
          </p:nvSpPr>
          <p:spPr>
            <a:xfrm flipH="1">
              <a:off x="5574563" y="1686400"/>
              <a:ext cx="1649400" cy="1769700"/>
            </a:xfrm>
            <a:prstGeom prst="snip1Rect">
              <a:avLst>
                <a:gd name="adj" fmla="val 0"/>
              </a:avLst>
            </a:prstGeom>
            <a:solidFill>
              <a:srgbClr val="00717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81" name="Google Shape;1381;p99"/>
            <p:cNvSpPr txBox="1"/>
            <p:nvPr/>
          </p:nvSpPr>
          <p:spPr>
            <a:xfrm>
              <a:off x="5708438" y="1729495"/>
              <a:ext cx="1383000" cy="147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2133"/>
                </a:spcAft>
              </a:pPr>
              <a:r>
                <a:rPr lang="en-US" sz="1600" b="1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Tahapan pelabelan dan anotasi data merupakan salah satu tantangan terbesar yang dihadapi AI saat ini, yang menghambat integrasi AI skala besar di industri.</a:t>
              </a:r>
              <a:endParaRPr sz="800" b="1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p10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rgbClr val="0F3570"/>
              </a:buClr>
              <a:buSzPct val="115226"/>
            </a:pPr>
            <a:r>
              <a:rPr lang="en-US" dirty="0" err="1">
                <a:solidFill>
                  <a:srgbClr val="0F3570"/>
                </a:solidFill>
                <a:ea typeface="Overlock"/>
                <a:sym typeface="Overlock"/>
              </a:rPr>
              <a:t>Kualitas</a:t>
            </a:r>
            <a:r>
              <a:rPr lang="en-US" dirty="0">
                <a:solidFill>
                  <a:srgbClr val="0F3570"/>
                </a:solidFill>
                <a:ea typeface="Overlock"/>
                <a:sym typeface="Overlock"/>
              </a:rPr>
              <a:t> dan </a:t>
            </a:r>
            <a:r>
              <a:rPr lang="en-US" dirty="0" err="1">
                <a:solidFill>
                  <a:srgbClr val="0F3570"/>
                </a:solidFill>
                <a:ea typeface="Overlock"/>
                <a:sym typeface="Overlock"/>
              </a:rPr>
              <a:t>Akurasi</a:t>
            </a:r>
            <a:r>
              <a:rPr lang="en-US" dirty="0">
                <a:solidFill>
                  <a:srgbClr val="0F3570"/>
                </a:solidFill>
                <a:ea typeface="Overlock"/>
                <a:sym typeface="Overlock"/>
              </a:rPr>
              <a:t> Data</a:t>
            </a:r>
            <a:endParaRPr dirty="0">
              <a:solidFill>
                <a:srgbClr val="0F3570"/>
              </a:solidFill>
              <a:ea typeface="Overlock"/>
              <a:sym typeface="Overlock"/>
            </a:endParaRPr>
          </a:p>
        </p:txBody>
      </p:sp>
      <p:sp>
        <p:nvSpPr>
          <p:cNvPr id="1393" name="Google Shape;1393;p101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 fontScale="77500" lnSpcReduction="20000"/>
          </a:bodyPr>
          <a:lstStyle/>
          <a:p>
            <a:pPr marL="609570" indent="-445782">
              <a:lnSpc>
                <a:spcPct val="115000"/>
              </a:lnSpc>
              <a:buClr>
                <a:srgbClr val="202124"/>
              </a:buClr>
              <a:buSzPct val="85714"/>
              <a:buChar char="●"/>
            </a:pPr>
            <a:r>
              <a:rPr lang="en-US" b="1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Akurasi</a:t>
            </a:r>
            <a:r>
              <a:rPr lang="en-US" b="1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dalam</a:t>
            </a:r>
            <a:r>
              <a:rPr lang="en-US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pelabelan</a:t>
            </a:r>
            <a:r>
              <a:rPr lang="en-US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 data </a:t>
            </a:r>
            <a:r>
              <a:rPr lang="en-US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mengukur</a:t>
            </a:r>
            <a:r>
              <a:rPr lang="en-US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b="1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seberapa</a:t>
            </a:r>
            <a:r>
              <a:rPr lang="en-US" b="1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b="1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dekat</a:t>
            </a:r>
            <a:r>
              <a:rPr lang="en-US" b="1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b="1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pelabelan</a:t>
            </a:r>
            <a:r>
              <a:rPr lang="en-US" b="1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b="1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dengan</a:t>
            </a:r>
            <a:r>
              <a:rPr lang="en-US" b="1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b="1" i="1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ground truth</a:t>
            </a:r>
            <a:r>
              <a:rPr lang="en-US" b="1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,</a:t>
            </a:r>
            <a:r>
              <a:rPr lang="en-US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atau</a:t>
            </a:r>
            <a:r>
              <a:rPr lang="en-US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seberapa</a:t>
            </a:r>
            <a:r>
              <a:rPr lang="en-US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baik</a:t>
            </a:r>
            <a:r>
              <a:rPr lang="en-US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fitur</a:t>
            </a:r>
            <a:r>
              <a:rPr lang="en-US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berlabel</a:t>
            </a:r>
            <a:r>
              <a:rPr lang="en-US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dalam</a:t>
            </a:r>
            <a:r>
              <a:rPr lang="en-US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 data set </a:t>
            </a:r>
            <a:r>
              <a:rPr lang="en-US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konsisten</a:t>
            </a:r>
            <a:r>
              <a:rPr lang="en-US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dengan</a:t>
            </a:r>
            <a:r>
              <a:rPr lang="en-US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kondisi</a:t>
            </a:r>
            <a:r>
              <a:rPr lang="en-US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 dunia </a:t>
            </a:r>
            <a:r>
              <a:rPr lang="en-US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nyata</a:t>
            </a:r>
            <a:r>
              <a:rPr lang="en-US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. Misal </a:t>
            </a:r>
            <a:r>
              <a:rPr lang="en-US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dalam</a:t>
            </a:r>
            <a:r>
              <a:rPr lang="en-US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i="1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computer vision</a:t>
            </a:r>
            <a:r>
              <a:rPr lang="en-US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, </a:t>
            </a:r>
            <a:r>
              <a:rPr lang="en-US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dalam</a:t>
            </a:r>
            <a:r>
              <a:rPr lang="en-US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meletakkan</a:t>
            </a:r>
            <a:r>
              <a:rPr lang="en-US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kotak</a:t>
            </a:r>
            <a:r>
              <a:rPr lang="en-US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pembatas</a:t>
            </a:r>
            <a:r>
              <a:rPr lang="en-US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 di </a:t>
            </a:r>
            <a:r>
              <a:rPr lang="en-US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sekitar</a:t>
            </a:r>
            <a:r>
              <a:rPr lang="en-US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objek</a:t>
            </a:r>
            <a:r>
              <a:rPr lang="en-US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 di </a:t>
            </a:r>
            <a:r>
              <a:rPr lang="en-US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satu</a:t>
            </a:r>
            <a:r>
              <a:rPr lang="en-US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jalanan</a:t>
            </a:r>
            <a:r>
              <a:rPr lang="en-US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) </a:t>
            </a:r>
            <a:r>
              <a:rPr lang="en-US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atau</a:t>
            </a:r>
            <a:r>
              <a:rPr lang="en-US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 model </a:t>
            </a:r>
            <a:r>
              <a:rPr lang="en-US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pemrosesan</a:t>
            </a:r>
            <a:r>
              <a:rPr lang="en-US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bahasa</a:t>
            </a:r>
            <a:r>
              <a:rPr lang="en-US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alami</a:t>
            </a:r>
            <a:r>
              <a:rPr lang="en-US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 (NLP) </a:t>
            </a:r>
            <a:r>
              <a:rPr lang="en-US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seperti</a:t>
            </a:r>
            <a:r>
              <a:rPr lang="en-US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mengklasifikasikan</a:t>
            </a:r>
            <a:r>
              <a:rPr lang="en-US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teks</a:t>
            </a:r>
            <a:r>
              <a:rPr lang="en-US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untuk</a:t>
            </a:r>
            <a:r>
              <a:rPr lang="en-US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sentimen</a:t>
            </a:r>
            <a:r>
              <a:rPr lang="en-US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sosial</a:t>
            </a:r>
            <a:r>
              <a:rPr lang="en-US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.</a:t>
            </a:r>
            <a:endParaRPr dirty="0">
              <a:solidFill>
                <a:srgbClr val="202124"/>
              </a:solidFill>
              <a:highlight>
                <a:srgbClr val="F8F9FA"/>
              </a:highlight>
              <a:latin typeface="Overlock"/>
              <a:ea typeface="Overlock"/>
              <a:cs typeface="Overlock"/>
              <a:sym typeface="Overlock"/>
            </a:endParaRPr>
          </a:p>
          <a:p>
            <a:pPr marL="609570" indent="0">
              <a:lnSpc>
                <a:spcPct val="115000"/>
              </a:lnSpc>
              <a:buSzPct val="92664"/>
            </a:pPr>
            <a:endParaRPr dirty="0">
              <a:solidFill>
                <a:srgbClr val="202124"/>
              </a:solidFill>
              <a:highlight>
                <a:srgbClr val="F8F9FA"/>
              </a:highlight>
              <a:latin typeface="Overlock"/>
              <a:ea typeface="Overlock"/>
              <a:cs typeface="Overlock"/>
              <a:sym typeface="Overlock"/>
            </a:endParaRPr>
          </a:p>
          <a:p>
            <a:pPr marL="609570" marR="50797" indent="-445782">
              <a:lnSpc>
                <a:spcPct val="128571"/>
              </a:lnSpc>
              <a:buClr>
                <a:srgbClr val="202124"/>
              </a:buClr>
              <a:buSzPct val="85714"/>
              <a:buChar char="●"/>
            </a:pPr>
            <a:r>
              <a:rPr lang="en-US" b="1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Kualitas</a:t>
            </a:r>
            <a:r>
              <a:rPr lang="en-US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dalam</a:t>
            </a:r>
            <a:r>
              <a:rPr lang="en-US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pelabelan</a:t>
            </a:r>
            <a:r>
              <a:rPr lang="en-US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 data </a:t>
            </a:r>
            <a:r>
              <a:rPr lang="en-US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adalah</a:t>
            </a:r>
            <a:r>
              <a:rPr lang="en-US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tentang</a:t>
            </a:r>
            <a:r>
              <a:rPr lang="en-US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a</a:t>
            </a:r>
            <a:r>
              <a:rPr lang="en-US" b="1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kurasi</a:t>
            </a:r>
            <a:r>
              <a:rPr lang="en-US" b="1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 dataset </a:t>
            </a:r>
            <a:r>
              <a:rPr lang="en-US" b="1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secara</a:t>
            </a:r>
            <a:r>
              <a:rPr lang="en-US" b="1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b="1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keseluruhan</a:t>
            </a:r>
            <a:r>
              <a:rPr lang="en-US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. </a:t>
            </a:r>
            <a:r>
              <a:rPr lang="en-US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Apakah</a:t>
            </a:r>
            <a:r>
              <a:rPr lang="en-US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pekerjaan</a:t>
            </a:r>
            <a:r>
              <a:rPr lang="en-US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semua</a:t>
            </a:r>
            <a:r>
              <a:rPr lang="en-US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pemberi</a:t>
            </a:r>
            <a:r>
              <a:rPr lang="en-US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 label </a:t>
            </a:r>
            <a:r>
              <a:rPr lang="en-US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terlihat</a:t>
            </a:r>
            <a:r>
              <a:rPr lang="en-US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sama</a:t>
            </a:r>
            <a:r>
              <a:rPr lang="en-US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? </a:t>
            </a:r>
            <a:r>
              <a:rPr lang="en-US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Apakah</a:t>
            </a:r>
            <a:r>
              <a:rPr lang="en-US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pelabelan</a:t>
            </a:r>
            <a:r>
              <a:rPr lang="en-US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secara</a:t>
            </a:r>
            <a:r>
              <a:rPr lang="en-US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konsisten</a:t>
            </a:r>
            <a:r>
              <a:rPr lang="en-US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akurat</a:t>
            </a:r>
            <a:r>
              <a:rPr lang="en-US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 di </a:t>
            </a:r>
            <a:r>
              <a:rPr lang="en-US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seluruh</a:t>
            </a:r>
            <a:r>
              <a:rPr lang="en-US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 data set? </a:t>
            </a:r>
            <a:r>
              <a:rPr lang="en-US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Misalkan</a:t>
            </a:r>
            <a:r>
              <a:rPr lang="en-US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kita</a:t>
            </a:r>
            <a:r>
              <a:rPr lang="en-US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memiliki</a:t>
            </a:r>
            <a:r>
              <a:rPr lang="en-US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 29, 89, </a:t>
            </a:r>
            <a:r>
              <a:rPr lang="en-US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atau</a:t>
            </a:r>
            <a:r>
              <a:rPr lang="en-US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 999 </a:t>
            </a:r>
            <a:r>
              <a:rPr lang="en-US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pelabel</a:t>
            </a:r>
            <a:r>
              <a:rPr lang="en-US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 data yang </a:t>
            </a:r>
            <a:r>
              <a:rPr lang="en-US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bekerja</a:t>
            </a:r>
            <a:r>
              <a:rPr lang="en-US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secara</a:t>
            </a:r>
            <a:r>
              <a:rPr lang="en-US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bersamaan</a:t>
            </a:r>
            <a:r>
              <a:rPr lang="en-US" dirty="0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.</a:t>
            </a:r>
            <a:endParaRPr dirty="0">
              <a:latin typeface="Overlock"/>
              <a:ea typeface="Overlock"/>
              <a:cs typeface="Overlock"/>
              <a:sym typeface="Overlock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p10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SzPct val="115226"/>
            </a:pPr>
            <a:r>
              <a:rPr lang="en-US" dirty="0" err="1">
                <a:ea typeface="Overlock"/>
                <a:sym typeface="Overlock"/>
              </a:rPr>
              <a:t>Menganalisis</a:t>
            </a:r>
            <a:r>
              <a:rPr lang="en-US" dirty="0">
                <a:ea typeface="Overlock"/>
                <a:sym typeface="Overlock"/>
              </a:rPr>
              <a:t> </a:t>
            </a:r>
            <a:r>
              <a:rPr lang="en-US" dirty="0" err="1">
                <a:ea typeface="Overlock"/>
                <a:sym typeface="Overlock"/>
              </a:rPr>
              <a:t>Akurasi</a:t>
            </a:r>
            <a:r>
              <a:rPr lang="en-US" dirty="0">
                <a:ea typeface="Overlock"/>
                <a:sym typeface="Overlock"/>
              </a:rPr>
              <a:t> </a:t>
            </a:r>
            <a:r>
              <a:rPr lang="en-US" dirty="0" err="1">
                <a:ea typeface="Overlock"/>
                <a:sym typeface="Overlock"/>
              </a:rPr>
              <a:t>Pelabelan</a:t>
            </a:r>
            <a:r>
              <a:rPr lang="en-US" dirty="0">
                <a:ea typeface="Overlock"/>
                <a:sym typeface="Overlock"/>
              </a:rPr>
              <a:t> Data</a:t>
            </a:r>
            <a:endParaRPr dirty="0">
              <a:ea typeface="Overlock"/>
              <a:sym typeface="Overlock"/>
            </a:endParaRPr>
          </a:p>
        </p:txBody>
      </p:sp>
      <p:sp>
        <p:nvSpPr>
          <p:cNvPr id="1399" name="Google Shape;1399;p10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609570" indent="-440245">
              <a:lnSpc>
                <a:spcPct val="115000"/>
              </a:lnSpc>
              <a:buSzPts val="1600"/>
              <a:buFont typeface="Overlock"/>
              <a:buChar char="●"/>
            </a:pPr>
            <a:r>
              <a:rPr lang="en-US" sz="2133">
                <a:latin typeface="Overlock"/>
                <a:ea typeface="Overlock"/>
                <a:cs typeface="Overlock"/>
                <a:sym typeface="Overlock"/>
              </a:rPr>
              <a:t>Business Goals suatu AI  yang berbeda memerlukan ukuran kualitas data yang berbeda. </a:t>
            </a:r>
            <a:endParaRPr sz="2133">
              <a:latin typeface="Overlock"/>
              <a:ea typeface="Overlock"/>
              <a:cs typeface="Overlock"/>
              <a:sym typeface="Overlock"/>
            </a:endParaRPr>
          </a:p>
          <a:p>
            <a:pPr marL="609570" indent="0">
              <a:lnSpc>
                <a:spcPct val="115000"/>
              </a:lnSpc>
              <a:buSzPts val="1800"/>
            </a:pPr>
            <a:endParaRPr sz="2133">
              <a:latin typeface="Overlock"/>
              <a:ea typeface="Overlock"/>
              <a:cs typeface="Overlock"/>
              <a:sym typeface="Overlock"/>
            </a:endParaRPr>
          </a:p>
          <a:p>
            <a:pPr marL="609570" indent="-440245">
              <a:lnSpc>
                <a:spcPct val="115000"/>
              </a:lnSpc>
              <a:buSzPts val="1600"/>
              <a:buFont typeface="Overlock"/>
              <a:buChar char="●"/>
            </a:pPr>
            <a:r>
              <a:rPr lang="en-US" sz="2133">
                <a:latin typeface="Overlock"/>
                <a:ea typeface="Overlock"/>
                <a:cs typeface="Overlock"/>
                <a:sym typeface="Overlock"/>
              </a:rPr>
              <a:t>Keseimbangan dan variasi titik data di dalam dataset merupakan indikator seberapa baik algoritma dapat memprediksi suatu titik atau pola selanjutnya. </a:t>
            </a:r>
            <a:endParaRPr sz="2133">
              <a:latin typeface="Overlock"/>
              <a:ea typeface="Overlock"/>
              <a:cs typeface="Overlock"/>
              <a:sym typeface="Overlock"/>
            </a:endParaRPr>
          </a:p>
          <a:p>
            <a:pPr marL="609570" indent="0">
              <a:lnSpc>
                <a:spcPct val="115000"/>
              </a:lnSpc>
              <a:buSzPts val="1800"/>
            </a:pPr>
            <a:endParaRPr sz="2133">
              <a:latin typeface="Overlock"/>
              <a:ea typeface="Overlock"/>
              <a:cs typeface="Overlock"/>
              <a:sym typeface="Overlock"/>
            </a:endParaRPr>
          </a:p>
          <a:p>
            <a:pPr marL="1219139" lvl="1" indent="-440245">
              <a:lnSpc>
                <a:spcPct val="115000"/>
              </a:lnSpc>
              <a:buSzPts val="1600"/>
              <a:buFont typeface="Overlock"/>
              <a:buChar char="○"/>
            </a:pPr>
            <a:r>
              <a:rPr lang="en-US" sz="2133">
                <a:latin typeface="Overlock"/>
                <a:ea typeface="Overlock"/>
                <a:cs typeface="Overlock"/>
                <a:sym typeface="Overlock"/>
              </a:rPr>
              <a:t>Misal tugas suatu AI adalah membedakan antara kendaraan yang bergerak dan tidak bergerak. Jika dataset memuat 90% gambar mobil bergerak tetapi hanya 10% yang diparkir, maka dapat dianggap tidak seimbang. </a:t>
            </a:r>
            <a:endParaRPr sz="2133">
              <a:latin typeface="Overlock"/>
              <a:ea typeface="Overlock"/>
              <a:cs typeface="Overlock"/>
              <a:sym typeface="Overlock"/>
            </a:endParaRPr>
          </a:p>
          <a:p>
            <a:pPr marL="1219139" lvl="1" indent="-440245">
              <a:lnSpc>
                <a:spcPct val="115000"/>
              </a:lnSpc>
              <a:buSzPts val="1600"/>
              <a:buFont typeface="Overlock"/>
              <a:buChar char="○"/>
            </a:pPr>
            <a:r>
              <a:rPr lang="en-US" sz="2133">
                <a:latin typeface="Overlock"/>
                <a:ea typeface="Overlock"/>
                <a:cs typeface="Overlock"/>
                <a:sym typeface="Overlock"/>
              </a:rPr>
              <a:t>Untuk mengatasi masalah ini dapat digunakan teknik seperti oversampling, downsampling atau weight balancing.</a:t>
            </a:r>
            <a:endParaRPr sz="2133">
              <a:latin typeface="Overlock"/>
              <a:ea typeface="Overlock"/>
              <a:cs typeface="Overlock"/>
              <a:sym typeface="Overlock"/>
            </a:endParaRPr>
          </a:p>
          <a:p>
            <a:pPr marL="0" indent="0">
              <a:lnSpc>
                <a:spcPct val="115000"/>
              </a:lnSpc>
              <a:buSzPts val="1800"/>
            </a:pPr>
            <a:endParaRPr>
              <a:latin typeface="Overlock"/>
              <a:ea typeface="Overlock"/>
              <a:cs typeface="Overlock"/>
              <a:sym typeface="Overlock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p10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SzPct val="115226"/>
            </a:pPr>
            <a:r>
              <a:rPr lang="en-US" dirty="0" err="1">
                <a:ea typeface="Overlock"/>
                <a:sym typeface="Overlock"/>
              </a:rPr>
              <a:t>Menganalisis</a:t>
            </a:r>
            <a:r>
              <a:rPr lang="en-US" dirty="0">
                <a:ea typeface="Overlock"/>
                <a:sym typeface="Overlock"/>
              </a:rPr>
              <a:t> </a:t>
            </a:r>
            <a:r>
              <a:rPr lang="en-US" dirty="0" err="1">
                <a:ea typeface="Overlock"/>
                <a:sym typeface="Overlock"/>
              </a:rPr>
              <a:t>Akurasi</a:t>
            </a:r>
            <a:r>
              <a:rPr lang="en-US" dirty="0">
                <a:ea typeface="Overlock"/>
                <a:sym typeface="Overlock"/>
              </a:rPr>
              <a:t> </a:t>
            </a:r>
            <a:r>
              <a:rPr lang="en-US" dirty="0" err="1">
                <a:ea typeface="Overlock"/>
                <a:sym typeface="Overlock"/>
              </a:rPr>
              <a:t>Pelabelan</a:t>
            </a:r>
            <a:r>
              <a:rPr lang="en-US" dirty="0">
                <a:ea typeface="Overlock"/>
                <a:sym typeface="Overlock"/>
              </a:rPr>
              <a:t> Data</a:t>
            </a:r>
            <a:endParaRPr dirty="0">
              <a:ea typeface="Overlock"/>
              <a:sym typeface="Overlock"/>
            </a:endParaRPr>
          </a:p>
        </p:txBody>
      </p:sp>
      <p:sp>
        <p:nvSpPr>
          <p:cNvPr id="1405" name="Google Shape;1405;p103"/>
          <p:cNvSpPr txBox="1">
            <a:spLocks noGrp="1"/>
          </p:cNvSpPr>
          <p:nvPr>
            <p:ph idx="1"/>
          </p:nvPr>
        </p:nvSpPr>
        <p:spPr>
          <a:xfrm>
            <a:off x="422910" y="868680"/>
            <a:ext cx="5086350" cy="530828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 fontScale="92500" lnSpcReduction="10000"/>
          </a:bodyPr>
          <a:lstStyle/>
          <a:p>
            <a:pPr marL="609570" indent="-428431">
              <a:lnSpc>
                <a:spcPct val="115000"/>
              </a:lnSpc>
              <a:buSzPct val="100000"/>
              <a:buFont typeface="Overlock"/>
              <a:buChar char="●"/>
            </a:pPr>
            <a:r>
              <a:rPr lang="en-US" sz="2000" dirty="0" err="1">
                <a:latin typeface="Overlock"/>
                <a:ea typeface="Overlock"/>
                <a:cs typeface="Overlock"/>
                <a:sym typeface="Overlock"/>
              </a:rPr>
              <a:t>Kualitas</a:t>
            </a:r>
            <a:r>
              <a:rPr lang="en-US" sz="2000" dirty="0">
                <a:latin typeface="Overlock"/>
                <a:ea typeface="Overlock"/>
                <a:cs typeface="Overlock"/>
                <a:sym typeface="Overlock"/>
              </a:rPr>
              <a:t> data set </a:t>
            </a:r>
            <a:r>
              <a:rPr lang="en-US" sz="2000" dirty="0" err="1">
                <a:latin typeface="Overlock"/>
                <a:ea typeface="Overlock"/>
                <a:cs typeface="Overlock"/>
                <a:sym typeface="Overlock"/>
              </a:rPr>
              <a:t>untuk</a:t>
            </a:r>
            <a:r>
              <a:rPr lang="en-US" sz="20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latin typeface="Overlock"/>
                <a:ea typeface="Overlock"/>
                <a:cs typeface="Overlock"/>
                <a:sym typeface="Overlock"/>
              </a:rPr>
              <a:t>pelatihan</a:t>
            </a:r>
            <a:r>
              <a:rPr lang="en-US" sz="2000" dirty="0">
                <a:latin typeface="Overlock"/>
                <a:ea typeface="Overlock"/>
                <a:cs typeface="Overlock"/>
                <a:sym typeface="Overlock"/>
              </a:rPr>
              <a:t> model </a:t>
            </a:r>
            <a:r>
              <a:rPr lang="en-US" sz="2000" dirty="0" err="1">
                <a:latin typeface="Overlock"/>
                <a:ea typeface="Overlock"/>
                <a:cs typeface="Overlock"/>
                <a:sym typeface="Overlock"/>
              </a:rPr>
              <a:t>sering</a:t>
            </a:r>
            <a:r>
              <a:rPr lang="en-US" sz="20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latin typeface="Overlock"/>
                <a:ea typeface="Overlock"/>
                <a:cs typeface="Overlock"/>
                <a:sym typeface="Overlock"/>
              </a:rPr>
              <a:t>ditentukan</a:t>
            </a:r>
            <a:r>
              <a:rPr lang="en-US" sz="2000" dirty="0">
                <a:latin typeface="Overlock"/>
                <a:ea typeface="Overlock"/>
                <a:cs typeface="Overlock"/>
                <a:sym typeface="Overlock"/>
              </a:rPr>
              <a:t> oleh </a:t>
            </a:r>
            <a:r>
              <a:rPr lang="en-US" sz="2000" dirty="0" err="1">
                <a:latin typeface="Overlock"/>
                <a:ea typeface="Overlock"/>
                <a:cs typeface="Overlock"/>
                <a:sym typeface="Overlock"/>
              </a:rPr>
              <a:t>seberapa</a:t>
            </a:r>
            <a:r>
              <a:rPr lang="en-US" sz="20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latin typeface="Overlock"/>
                <a:ea typeface="Overlock"/>
                <a:cs typeface="Overlock"/>
                <a:sym typeface="Overlock"/>
              </a:rPr>
              <a:t>tepat</a:t>
            </a:r>
            <a:r>
              <a:rPr lang="en-US" sz="2000" dirty="0">
                <a:latin typeface="Overlock"/>
                <a:ea typeface="Overlock"/>
                <a:cs typeface="Overlock"/>
                <a:sym typeface="Overlock"/>
              </a:rPr>
              <a:t> label dan </a:t>
            </a:r>
            <a:r>
              <a:rPr lang="en-US" sz="2000" dirty="0" err="1">
                <a:latin typeface="Overlock"/>
                <a:ea typeface="Overlock"/>
                <a:cs typeface="Overlock"/>
                <a:sym typeface="Overlock"/>
              </a:rPr>
              <a:t>kategori</a:t>
            </a:r>
            <a:r>
              <a:rPr lang="en-US" sz="20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latin typeface="Overlock"/>
                <a:ea typeface="Overlock"/>
                <a:cs typeface="Overlock"/>
                <a:sym typeface="Overlock"/>
              </a:rPr>
              <a:t>ditempatkan</a:t>
            </a:r>
            <a:r>
              <a:rPr lang="en-US" sz="2000" dirty="0">
                <a:latin typeface="Overlock"/>
                <a:ea typeface="Overlock"/>
                <a:cs typeface="Overlock"/>
                <a:sym typeface="Overlock"/>
              </a:rPr>
              <a:t> pada </a:t>
            </a:r>
            <a:r>
              <a:rPr lang="en-US" sz="2000" dirty="0" err="1">
                <a:latin typeface="Overlock"/>
                <a:ea typeface="Overlock"/>
                <a:cs typeface="Overlock"/>
                <a:sym typeface="Overlock"/>
              </a:rPr>
              <a:t>setiap</a:t>
            </a:r>
            <a:r>
              <a:rPr lang="en-US" sz="20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latin typeface="Overlock"/>
                <a:ea typeface="Overlock"/>
                <a:cs typeface="Overlock"/>
                <a:sym typeface="Overlock"/>
              </a:rPr>
              <a:t>titik</a:t>
            </a:r>
            <a:r>
              <a:rPr lang="en-US" sz="2000" dirty="0">
                <a:latin typeface="Overlock"/>
                <a:ea typeface="Overlock"/>
                <a:cs typeface="Overlock"/>
                <a:sym typeface="Overlock"/>
              </a:rPr>
              <a:t> data. </a:t>
            </a:r>
            <a:endParaRPr sz="2000" dirty="0">
              <a:latin typeface="Overlock"/>
              <a:ea typeface="Overlock"/>
              <a:cs typeface="Overlock"/>
              <a:sym typeface="Overlock"/>
            </a:endParaRPr>
          </a:p>
          <a:p>
            <a:pPr marL="609570" indent="-419960">
              <a:lnSpc>
                <a:spcPct val="115000"/>
              </a:lnSpc>
              <a:buSzPct val="93150"/>
              <a:buFont typeface="Overlock"/>
              <a:buChar char="●"/>
            </a:pPr>
            <a:r>
              <a:rPr lang="en-US" sz="2000" dirty="0" err="1">
                <a:latin typeface="Overlock"/>
                <a:ea typeface="Overlock"/>
                <a:cs typeface="Overlock"/>
                <a:sym typeface="Overlock"/>
              </a:rPr>
              <a:t>Namun</a:t>
            </a:r>
            <a:r>
              <a:rPr lang="en-US" sz="2000" dirty="0">
                <a:latin typeface="Overlock"/>
                <a:ea typeface="Overlock"/>
                <a:cs typeface="Overlock"/>
                <a:sym typeface="Overlock"/>
              </a:rPr>
              <a:t>, </a:t>
            </a:r>
            <a:r>
              <a:rPr lang="en-US" sz="2000" dirty="0" err="1">
                <a:latin typeface="Overlock"/>
                <a:ea typeface="Overlock"/>
                <a:cs typeface="Overlock"/>
                <a:sym typeface="Overlock"/>
              </a:rPr>
              <a:t>bukan</a:t>
            </a:r>
            <a:r>
              <a:rPr lang="en-US" sz="20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latin typeface="Overlock"/>
                <a:ea typeface="Overlock"/>
                <a:cs typeface="Overlock"/>
                <a:sym typeface="Overlock"/>
              </a:rPr>
              <a:t>hanya</a:t>
            </a:r>
            <a:r>
              <a:rPr lang="en-US" sz="20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latin typeface="Overlock"/>
                <a:ea typeface="Overlock"/>
                <a:cs typeface="Overlock"/>
                <a:sym typeface="Overlock"/>
              </a:rPr>
              <a:t>tentang</a:t>
            </a:r>
            <a:r>
              <a:rPr lang="en-US" sz="20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latin typeface="Overlock"/>
                <a:ea typeface="Overlock"/>
                <a:cs typeface="Overlock"/>
                <a:sym typeface="Overlock"/>
              </a:rPr>
              <a:t>keakuratan</a:t>
            </a:r>
            <a:r>
              <a:rPr lang="en-US" sz="20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latin typeface="Overlock"/>
                <a:ea typeface="Overlock"/>
                <a:cs typeface="Overlock"/>
                <a:sym typeface="Overlock"/>
              </a:rPr>
              <a:t>pelabelan</a:t>
            </a:r>
            <a:r>
              <a:rPr lang="en-US" sz="2000" dirty="0">
                <a:latin typeface="Overlock"/>
                <a:ea typeface="Overlock"/>
                <a:cs typeface="Overlock"/>
                <a:sym typeface="Overlock"/>
              </a:rPr>
              <a:t> data </a:t>
            </a:r>
            <a:r>
              <a:rPr lang="en-US" sz="2000" dirty="0" err="1">
                <a:latin typeface="Overlock"/>
                <a:ea typeface="Overlock"/>
                <a:cs typeface="Overlock"/>
                <a:sym typeface="Overlock"/>
              </a:rPr>
              <a:t>tetapi</a:t>
            </a:r>
            <a:r>
              <a:rPr lang="en-US" sz="2000" dirty="0">
                <a:latin typeface="Overlock"/>
                <a:ea typeface="Overlock"/>
                <a:cs typeface="Overlock"/>
                <a:sym typeface="Overlock"/>
              </a:rPr>
              <a:t> juga </a:t>
            </a:r>
            <a:r>
              <a:rPr lang="en-US" sz="2000" dirty="0" err="1">
                <a:latin typeface="Overlock"/>
                <a:ea typeface="Overlock"/>
                <a:cs typeface="Overlock"/>
                <a:sym typeface="Overlock"/>
              </a:rPr>
              <a:t>tentang</a:t>
            </a:r>
            <a:r>
              <a:rPr lang="en-US" sz="20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latin typeface="Overlock"/>
                <a:ea typeface="Overlock"/>
                <a:cs typeface="Overlock"/>
                <a:sym typeface="Overlock"/>
              </a:rPr>
              <a:t>seberapa</a:t>
            </a:r>
            <a:r>
              <a:rPr lang="en-US" sz="20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latin typeface="Overlock"/>
                <a:ea typeface="Overlock"/>
                <a:cs typeface="Overlock"/>
                <a:sym typeface="Overlock"/>
              </a:rPr>
              <a:t>konsisten</a:t>
            </a:r>
            <a:r>
              <a:rPr lang="en-US" sz="20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000" dirty="0" err="1">
                <a:latin typeface="Overlock"/>
                <a:ea typeface="Overlock"/>
                <a:cs typeface="Overlock"/>
                <a:sym typeface="Overlock"/>
              </a:rPr>
              <a:t>keakuratannya</a:t>
            </a:r>
            <a:r>
              <a:rPr lang="en-US" sz="2000" dirty="0">
                <a:latin typeface="Overlock"/>
                <a:ea typeface="Overlock"/>
                <a:cs typeface="Overlock"/>
                <a:sym typeface="Overlock"/>
              </a:rPr>
              <a:t>.</a:t>
            </a:r>
            <a:r>
              <a:rPr lang="en-US" sz="1800" dirty="0">
                <a:latin typeface="Overlock"/>
                <a:ea typeface="Overlock"/>
                <a:cs typeface="Overlock"/>
                <a:sym typeface="Overlock"/>
              </a:rPr>
              <a:t> </a:t>
            </a:r>
            <a:endParaRPr sz="1800" dirty="0">
              <a:latin typeface="Overlock"/>
              <a:ea typeface="Overlock"/>
              <a:cs typeface="Overlock"/>
              <a:sym typeface="Overlock"/>
            </a:endParaRPr>
          </a:p>
          <a:p>
            <a:pPr marL="1219139" lvl="1" indent="-419926">
              <a:lnSpc>
                <a:spcPct val="115000"/>
              </a:lnSpc>
              <a:buSzPct val="100000"/>
              <a:buFont typeface="Overlock"/>
              <a:buChar char="○"/>
            </a:pPr>
            <a:r>
              <a:rPr lang="en-US" sz="1800" dirty="0" err="1">
                <a:latin typeface="Overlock"/>
                <a:ea typeface="Overlock"/>
                <a:cs typeface="Overlock"/>
                <a:sym typeface="Overlock"/>
              </a:rPr>
              <a:t>Akurasi</a:t>
            </a:r>
            <a:r>
              <a:rPr lang="en-US" sz="1800" dirty="0">
                <a:latin typeface="Overlock"/>
                <a:ea typeface="Overlock"/>
                <a:cs typeface="Overlock"/>
                <a:sym typeface="Overlock"/>
              </a:rPr>
              <a:t> dan </a:t>
            </a:r>
            <a:r>
              <a:rPr lang="en-US" sz="1800" dirty="0" err="1">
                <a:latin typeface="Overlock"/>
                <a:ea typeface="Overlock"/>
                <a:cs typeface="Overlock"/>
                <a:sym typeface="Overlock"/>
              </a:rPr>
              <a:t>konsistensi</a:t>
            </a:r>
            <a:r>
              <a:rPr lang="en-US" sz="1800" dirty="0">
                <a:latin typeface="Overlock"/>
                <a:ea typeface="Overlock"/>
                <a:cs typeface="Overlock"/>
                <a:sym typeface="Overlock"/>
              </a:rPr>
              <a:t> data </a:t>
            </a:r>
            <a:r>
              <a:rPr lang="en-US" sz="1800" dirty="0" err="1">
                <a:latin typeface="Overlock"/>
                <a:ea typeface="Overlock"/>
                <a:cs typeface="Overlock"/>
                <a:sym typeface="Overlock"/>
              </a:rPr>
              <a:t>diukur</a:t>
            </a:r>
            <a:r>
              <a:rPr lang="en-US" sz="18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1800" dirty="0" err="1">
                <a:latin typeface="Overlock"/>
                <a:ea typeface="Overlock"/>
                <a:cs typeface="Overlock"/>
                <a:sym typeface="Overlock"/>
              </a:rPr>
              <a:t>selama</a:t>
            </a:r>
            <a:r>
              <a:rPr lang="en-US" sz="1800" dirty="0">
                <a:latin typeface="Overlock"/>
                <a:ea typeface="Overlock"/>
                <a:cs typeface="Overlock"/>
                <a:sym typeface="Overlock"/>
              </a:rPr>
              <a:t> proses </a:t>
            </a:r>
            <a:r>
              <a:rPr lang="en-US" sz="1800" dirty="0" err="1">
                <a:latin typeface="Overlock"/>
                <a:ea typeface="Overlock"/>
                <a:cs typeface="Overlock"/>
                <a:sym typeface="Overlock"/>
              </a:rPr>
              <a:t>penjaminan</a:t>
            </a:r>
            <a:r>
              <a:rPr lang="en-US" sz="18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1800" dirty="0" err="1">
                <a:latin typeface="Overlock"/>
                <a:ea typeface="Overlock"/>
                <a:cs typeface="Overlock"/>
                <a:sym typeface="Overlock"/>
              </a:rPr>
              <a:t>mutu</a:t>
            </a:r>
            <a:r>
              <a:rPr lang="en-US" sz="1800" dirty="0">
                <a:latin typeface="Overlock"/>
                <a:ea typeface="Overlock"/>
                <a:cs typeface="Overlock"/>
                <a:sym typeface="Overlock"/>
              </a:rPr>
              <a:t>, </a:t>
            </a:r>
            <a:r>
              <a:rPr lang="en-US" sz="1800" dirty="0" err="1">
                <a:latin typeface="Overlock"/>
                <a:ea typeface="Overlock"/>
                <a:cs typeface="Overlock"/>
                <a:sym typeface="Overlock"/>
              </a:rPr>
              <a:t>langkah-langkah</a:t>
            </a:r>
            <a:r>
              <a:rPr lang="en-US" sz="18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1800" dirty="0" err="1">
                <a:latin typeface="Overlock"/>
                <a:ea typeface="Overlock"/>
                <a:cs typeface="Overlock"/>
                <a:sym typeface="Overlock"/>
              </a:rPr>
              <a:t>terpisah</a:t>
            </a:r>
            <a:r>
              <a:rPr lang="en-US" sz="1800" dirty="0">
                <a:latin typeface="Overlock"/>
                <a:ea typeface="Overlock"/>
                <a:cs typeface="Overlock"/>
                <a:sym typeface="Overlock"/>
              </a:rPr>
              <a:t> yang </a:t>
            </a:r>
            <a:r>
              <a:rPr lang="en-US" sz="1800" dirty="0" err="1">
                <a:latin typeface="Overlock"/>
                <a:ea typeface="Overlock"/>
                <a:cs typeface="Overlock"/>
                <a:sym typeface="Overlock"/>
              </a:rPr>
              <a:t>dapat</a:t>
            </a:r>
            <a:r>
              <a:rPr lang="en-US" sz="18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1800" dirty="0" err="1">
                <a:latin typeface="Overlock"/>
                <a:ea typeface="Overlock"/>
                <a:cs typeface="Overlock"/>
                <a:sym typeface="Overlock"/>
              </a:rPr>
              <a:t>dilakukan</a:t>
            </a:r>
            <a:r>
              <a:rPr lang="en-US" sz="18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1800" dirty="0" err="1">
                <a:latin typeface="Overlock"/>
                <a:ea typeface="Overlock"/>
                <a:cs typeface="Overlock"/>
                <a:sym typeface="Overlock"/>
              </a:rPr>
              <a:t>secara</a:t>
            </a:r>
            <a:r>
              <a:rPr lang="en-US" sz="1800" dirty="0">
                <a:latin typeface="Overlock"/>
                <a:ea typeface="Overlock"/>
                <a:cs typeface="Overlock"/>
                <a:sym typeface="Overlock"/>
              </a:rPr>
              <a:t> manual </a:t>
            </a:r>
            <a:r>
              <a:rPr lang="en-US" sz="1800" dirty="0" err="1">
                <a:latin typeface="Overlock"/>
                <a:ea typeface="Overlock"/>
                <a:cs typeface="Overlock"/>
                <a:sym typeface="Overlock"/>
              </a:rPr>
              <a:t>atau</a:t>
            </a:r>
            <a:r>
              <a:rPr lang="en-US" sz="18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1800" dirty="0" err="1">
                <a:latin typeface="Overlock"/>
                <a:ea typeface="Overlock"/>
                <a:cs typeface="Overlock"/>
                <a:sym typeface="Overlock"/>
              </a:rPr>
              <a:t>otomatis</a:t>
            </a:r>
            <a:r>
              <a:rPr lang="en-US" sz="1800" dirty="0">
                <a:latin typeface="Overlock"/>
                <a:ea typeface="Overlock"/>
                <a:cs typeface="Overlock"/>
                <a:sym typeface="Overlock"/>
              </a:rPr>
              <a:t>.</a:t>
            </a:r>
            <a:endParaRPr sz="1800" dirty="0">
              <a:latin typeface="Overlock"/>
              <a:ea typeface="Overlock"/>
              <a:cs typeface="Overlock"/>
              <a:sym typeface="Overlock"/>
            </a:endParaRPr>
          </a:p>
          <a:p>
            <a:pPr marL="1219139" lvl="1" indent="-419926">
              <a:lnSpc>
                <a:spcPct val="115000"/>
              </a:lnSpc>
              <a:buSzPct val="100000"/>
              <a:buFont typeface="Overlock"/>
              <a:buChar char="○"/>
            </a:pPr>
            <a:r>
              <a:rPr lang="en-US" sz="1800" dirty="0" err="1">
                <a:latin typeface="Overlock"/>
                <a:ea typeface="Overlock"/>
                <a:cs typeface="Overlock"/>
                <a:sym typeface="Overlock"/>
              </a:rPr>
              <a:t>Pendekatan</a:t>
            </a:r>
            <a:r>
              <a:rPr lang="en-US" sz="1800" dirty="0">
                <a:latin typeface="Overlock"/>
                <a:ea typeface="Overlock"/>
                <a:cs typeface="Overlock"/>
                <a:sym typeface="Overlock"/>
              </a:rPr>
              <a:t> yang </a:t>
            </a:r>
            <a:r>
              <a:rPr lang="en-US" sz="1800" dirty="0" err="1">
                <a:latin typeface="Overlock"/>
                <a:ea typeface="Overlock"/>
                <a:cs typeface="Overlock"/>
                <a:sym typeface="Overlock"/>
              </a:rPr>
              <a:t>berbeda</a:t>
            </a:r>
            <a:r>
              <a:rPr lang="en-US" sz="18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1800" dirty="0" err="1">
                <a:latin typeface="Overlock"/>
                <a:ea typeface="Overlock"/>
                <a:cs typeface="Overlock"/>
                <a:sym typeface="Overlock"/>
              </a:rPr>
              <a:t>dapat</a:t>
            </a:r>
            <a:r>
              <a:rPr lang="en-US" sz="18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1800" dirty="0" err="1">
                <a:latin typeface="Overlock"/>
                <a:ea typeface="Overlock"/>
                <a:cs typeface="Overlock"/>
                <a:sym typeface="Overlock"/>
              </a:rPr>
              <a:t>digabungkan</a:t>
            </a:r>
            <a:r>
              <a:rPr lang="en-US" sz="18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1800" dirty="0" err="1">
                <a:latin typeface="Overlock"/>
                <a:ea typeface="Overlock"/>
                <a:cs typeface="Overlock"/>
                <a:sym typeface="Overlock"/>
              </a:rPr>
              <a:t>untuk</a:t>
            </a:r>
            <a:r>
              <a:rPr lang="en-US" sz="18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1800" i="1" dirty="0">
                <a:latin typeface="Overlock"/>
                <a:ea typeface="Overlock"/>
                <a:cs typeface="Overlock"/>
                <a:sym typeface="Overlock"/>
              </a:rPr>
              <a:t>cross check </a:t>
            </a:r>
            <a:r>
              <a:rPr lang="en-US" sz="1800" dirty="0">
                <a:latin typeface="Overlock"/>
                <a:ea typeface="Overlock"/>
                <a:cs typeface="Overlock"/>
                <a:sym typeface="Overlock"/>
              </a:rPr>
              <a:t>dan </a:t>
            </a:r>
            <a:r>
              <a:rPr lang="en-US" sz="1800" dirty="0" err="1">
                <a:latin typeface="Overlock"/>
                <a:ea typeface="Overlock"/>
                <a:cs typeface="Overlock"/>
                <a:sym typeface="Overlock"/>
              </a:rPr>
              <a:t>memastikan</a:t>
            </a:r>
            <a:r>
              <a:rPr lang="en-US" sz="1800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1800" dirty="0" err="1">
                <a:latin typeface="Overlock"/>
                <a:ea typeface="Overlock"/>
                <a:cs typeface="Overlock"/>
                <a:sym typeface="Overlock"/>
              </a:rPr>
              <a:t>kesempurnaan</a:t>
            </a:r>
            <a:r>
              <a:rPr lang="en-US" sz="1800" dirty="0">
                <a:latin typeface="Overlock"/>
                <a:ea typeface="Overlock"/>
                <a:cs typeface="Overlock"/>
                <a:sym typeface="Overlock"/>
              </a:rPr>
              <a:t> data set.</a:t>
            </a:r>
            <a:endParaRPr sz="1800" dirty="0">
              <a:latin typeface="Overlock"/>
              <a:ea typeface="Overlock"/>
              <a:cs typeface="Overlock"/>
              <a:sym typeface="Overlock"/>
            </a:endParaRPr>
          </a:p>
        </p:txBody>
      </p:sp>
      <p:pic>
        <p:nvPicPr>
          <p:cNvPr id="1406" name="Google Shape;1406;p103"/>
          <p:cNvPicPr preferRelativeResize="0"/>
          <p:nvPr/>
        </p:nvPicPr>
        <p:blipFill rotWithShape="1">
          <a:blip r:embed="rId3">
            <a:alphaModFix/>
          </a:blip>
          <a:srcRect l="9586" t="7623" r="9585" b="5840"/>
          <a:stretch/>
        </p:blipFill>
        <p:spPr>
          <a:xfrm>
            <a:off x="5703713" y="1572880"/>
            <a:ext cx="6311200" cy="29560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10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pPr>
              <a:buSzPct val="115226"/>
            </a:pPr>
            <a:r>
              <a:rPr lang="en-US" dirty="0">
                <a:ea typeface="Overlock"/>
                <a:sym typeface="Overlock"/>
              </a:rPr>
              <a:t>Apa yang </a:t>
            </a:r>
            <a:r>
              <a:rPr lang="en-US" dirty="0" err="1">
                <a:ea typeface="Overlock"/>
                <a:sym typeface="Overlock"/>
              </a:rPr>
              <a:t>mempengaruhi</a:t>
            </a:r>
            <a:r>
              <a:rPr lang="en-US" dirty="0">
                <a:ea typeface="Overlock"/>
                <a:sym typeface="Overlock"/>
              </a:rPr>
              <a:t> </a:t>
            </a:r>
            <a:r>
              <a:rPr lang="en-US" dirty="0" err="1">
                <a:ea typeface="Overlock"/>
                <a:sym typeface="Overlock"/>
              </a:rPr>
              <a:t>kualitas</a:t>
            </a:r>
            <a:r>
              <a:rPr lang="en-US" dirty="0">
                <a:ea typeface="Overlock"/>
                <a:sym typeface="Overlock"/>
              </a:rPr>
              <a:t> data </a:t>
            </a:r>
            <a:r>
              <a:rPr lang="en-US" dirty="0" err="1">
                <a:ea typeface="Overlock"/>
                <a:sym typeface="Overlock"/>
              </a:rPr>
              <a:t>dalam</a:t>
            </a:r>
            <a:r>
              <a:rPr lang="en-US" dirty="0">
                <a:ea typeface="Overlock"/>
                <a:sym typeface="Overlock"/>
              </a:rPr>
              <a:t> </a:t>
            </a:r>
            <a:r>
              <a:rPr lang="en-US" dirty="0" err="1">
                <a:ea typeface="Overlock"/>
                <a:sym typeface="Overlock"/>
              </a:rPr>
              <a:t>pelabelan</a:t>
            </a:r>
            <a:r>
              <a:rPr lang="en-US" dirty="0">
                <a:ea typeface="Overlock"/>
                <a:sym typeface="Overlock"/>
              </a:rPr>
              <a:t>?</a:t>
            </a:r>
            <a:endParaRPr dirty="0">
              <a:ea typeface="Overlock"/>
              <a:sym typeface="Overlock"/>
            </a:endParaRPr>
          </a:p>
        </p:txBody>
      </p:sp>
      <p:sp>
        <p:nvSpPr>
          <p:cNvPr id="1412" name="Google Shape;1412;p10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 fontScale="70000" lnSpcReduction="20000"/>
          </a:bodyPr>
          <a:lstStyle/>
          <a:p>
            <a:pPr marL="609570" indent="-457177">
              <a:lnSpc>
                <a:spcPct val="115000"/>
              </a:lnSpc>
              <a:buSzPct val="100840"/>
              <a:buFont typeface="Overlock"/>
              <a:buChar char="●"/>
            </a:pPr>
            <a:r>
              <a:rPr lang="en-US" i="1" dirty="0">
                <a:latin typeface="Overlock"/>
                <a:ea typeface="Overlock"/>
                <a:cs typeface="Overlock"/>
                <a:sym typeface="Overlock"/>
              </a:rPr>
              <a:t>Knowledge and context</a:t>
            </a:r>
            <a:endParaRPr i="1" dirty="0">
              <a:latin typeface="Overlock"/>
              <a:ea typeface="Overlock"/>
              <a:cs typeface="Overlock"/>
              <a:sym typeface="Overlock"/>
            </a:endParaRPr>
          </a:p>
          <a:p>
            <a:pPr marL="1219139" lvl="1" indent="-423312">
              <a:lnSpc>
                <a:spcPct val="115000"/>
              </a:lnSpc>
              <a:buSzPct val="91503"/>
              <a:buFont typeface="Overlock"/>
              <a:buChar char="○"/>
            </a:pP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Pengetahuan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dasar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satu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domain dan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pemahaman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kontekstual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sangat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penting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seperti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pemberi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label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untuk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membuat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set data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terstruktur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berkualitas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tinggi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.</a:t>
            </a:r>
            <a:endParaRPr dirty="0">
              <a:latin typeface="Overlock"/>
              <a:ea typeface="Overlock"/>
              <a:cs typeface="Overlock"/>
              <a:sym typeface="Overlock"/>
            </a:endParaRPr>
          </a:p>
          <a:p>
            <a:pPr marL="609570" indent="-457177">
              <a:lnSpc>
                <a:spcPct val="115000"/>
              </a:lnSpc>
              <a:buSzPct val="100840"/>
              <a:buFont typeface="Overlock"/>
              <a:buChar char="●"/>
            </a:pPr>
            <a:r>
              <a:rPr lang="en-US" i="1" dirty="0">
                <a:latin typeface="Overlock"/>
                <a:ea typeface="Overlock"/>
                <a:cs typeface="Overlock"/>
                <a:sym typeface="Overlock"/>
              </a:rPr>
              <a:t>Agility</a:t>
            </a:r>
            <a:endParaRPr i="1" dirty="0">
              <a:latin typeface="Overlock"/>
              <a:ea typeface="Overlock"/>
              <a:cs typeface="Overlock"/>
              <a:sym typeface="Overlock"/>
            </a:endParaRPr>
          </a:p>
          <a:p>
            <a:pPr marL="1219139" lvl="1" indent="-423312">
              <a:lnSpc>
                <a:spcPct val="115000"/>
              </a:lnSpc>
              <a:buSzPct val="91503"/>
              <a:buFont typeface="Overlock"/>
              <a:buChar char="○"/>
            </a:pP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Pelabelan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data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berkembang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saat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dilakukan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pengujian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dan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validasi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model,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sehingga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harus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disiapkan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data set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baru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dan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memperkaya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data set yang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ada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untuk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meningkatkan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hasil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algoritma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Machine Learning.</a:t>
            </a:r>
            <a:endParaRPr dirty="0">
              <a:latin typeface="Overlock"/>
              <a:ea typeface="Overlock"/>
              <a:cs typeface="Overlock"/>
              <a:sym typeface="Overlock"/>
            </a:endParaRPr>
          </a:p>
          <a:p>
            <a:pPr marL="609570" indent="-457177">
              <a:lnSpc>
                <a:spcPct val="115000"/>
              </a:lnSpc>
              <a:buSzPct val="100840"/>
              <a:buFont typeface="Overlock"/>
              <a:buChar char="●"/>
            </a:pPr>
            <a:r>
              <a:rPr lang="en-US" i="1" dirty="0">
                <a:latin typeface="Overlock"/>
                <a:ea typeface="Overlock"/>
                <a:cs typeface="Overlock"/>
                <a:sym typeface="Overlock"/>
              </a:rPr>
              <a:t>Relationship</a:t>
            </a:r>
            <a:endParaRPr i="1" dirty="0">
              <a:latin typeface="Overlock"/>
              <a:ea typeface="Overlock"/>
              <a:cs typeface="Overlock"/>
              <a:sym typeface="Overlock"/>
            </a:endParaRPr>
          </a:p>
          <a:p>
            <a:pPr marL="1219139" lvl="1" indent="-423312">
              <a:lnSpc>
                <a:spcPct val="115000"/>
              </a:lnSpc>
              <a:buSzPct val="91503"/>
              <a:buFont typeface="Overlock"/>
              <a:buChar char="○"/>
            </a:pP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Kita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memerlukan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pemberi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label data yang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dapat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merespons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dengan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cepat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dan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mengikuti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alur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kerja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tim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,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berdasarkan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apa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yang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telah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dipelajari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dalam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fase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pengujian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dan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validasi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model.</a:t>
            </a:r>
            <a:endParaRPr dirty="0">
              <a:latin typeface="Overlock"/>
              <a:ea typeface="Overlock"/>
              <a:cs typeface="Overlock"/>
              <a:sym typeface="Overlock"/>
            </a:endParaRPr>
          </a:p>
          <a:p>
            <a:pPr marL="609570" indent="-457177">
              <a:lnSpc>
                <a:spcPct val="115000"/>
              </a:lnSpc>
              <a:buSzPct val="100840"/>
              <a:buFont typeface="Overlock"/>
              <a:buChar char="●"/>
            </a:pPr>
            <a:r>
              <a:rPr lang="en-US" i="1" dirty="0">
                <a:latin typeface="Overlock"/>
                <a:ea typeface="Overlock"/>
                <a:cs typeface="Overlock"/>
                <a:sym typeface="Overlock"/>
              </a:rPr>
              <a:t>Communication</a:t>
            </a:r>
            <a:endParaRPr i="1" dirty="0">
              <a:latin typeface="Overlock"/>
              <a:ea typeface="Overlock"/>
              <a:cs typeface="Overlock"/>
              <a:sym typeface="Overlock"/>
            </a:endParaRPr>
          </a:p>
          <a:p>
            <a:pPr marL="1219139" lvl="1" indent="-423312">
              <a:lnSpc>
                <a:spcPct val="115000"/>
              </a:lnSpc>
              <a:buSzPct val="91503"/>
              <a:buFont typeface="Overlock"/>
              <a:buChar char="○"/>
            </a:pP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Pendekatan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umpan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balik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(feedback)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adalah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cara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terbaik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untuk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membangun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komunikasi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dan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kolaborasi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yang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andal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antara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tim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dan </a:t>
            </a:r>
            <a:r>
              <a:rPr lang="en-US" dirty="0" err="1">
                <a:latin typeface="Overlock"/>
                <a:ea typeface="Overlock"/>
                <a:cs typeface="Overlock"/>
                <a:sym typeface="Overlock"/>
              </a:rPr>
              <a:t>pemberi</a:t>
            </a:r>
            <a:r>
              <a:rPr lang="en-US" dirty="0">
                <a:latin typeface="Overlock"/>
                <a:ea typeface="Overlock"/>
                <a:cs typeface="Overlock"/>
                <a:sym typeface="Overlock"/>
              </a:rPr>
              <a:t> label data.</a:t>
            </a:r>
            <a:endParaRPr dirty="0">
              <a:latin typeface="Overlock"/>
              <a:ea typeface="Overlock"/>
              <a:cs typeface="Overlock"/>
              <a:sym typeface="Overlock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p10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rgbClr val="202124"/>
              </a:buClr>
              <a:buSzPts val="2800"/>
            </a:pPr>
            <a:r>
              <a:rPr lang="en-US" sz="2800" dirty="0">
                <a:solidFill>
                  <a:srgbClr val="202124"/>
                </a:solidFill>
                <a:highlight>
                  <a:srgbClr val="F8F9FA"/>
                </a:highlight>
                <a:ea typeface="Overlock"/>
                <a:sym typeface="Overlock"/>
              </a:rPr>
              <a:t>Metode QA </a:t>
            </a:r>
            <a:r>
              <a:rPr lang="en-US" sz="2800" dirty="0" err="1">
                <a:solidFill>
                  <a:srgbClr val="202124"/>
                </a:solidFill>
                <a:highlight>
                  <a:srgbClr val="F8F9FA"/>
                </a:highlight>
                <a:ea typeface="Overlock"/>
                <a:sym typeface="Overlock"/>
              </a:rPr>
              <a:t>untuk</a:t>
            </a:r>
            <a:r>
              <a:rPr lang="en-US" sz="2800" dirty="0">
                <a:solidFill>
                  <a:srgbClr val="202124"/>
                </a:solidFill>
                <a:highlight>
                  <a:srgbClr val="F8F9FA"/>
                </a:highlight>
                <a:ea typeface="Overlock"/>
                <a:sym typeface="Overlock"/>
              </a:rPr>
              <a:t> </a:t>
            </a:r>
            <a:r>
              <a:rPr lang="en-US" sz="2800" dirty="0" err="1">
                <a:solidFill>
                  <a:srgbClr val="202124"/>
                </a:solidFill>
                <a:highlight>
                  <a:srgbClr val="F8F9FA"/>
                </a:highlight>
                <a:ea typeface="Overlock"/>
                <a:sym typeface="Overlock"/>
              </a:rPr>
              <a:t>Mengukur</a:t>
            </a:r>
            <a:r>
              <a:rPr lang="en-US" sz="2800" dirty="0">
                <a:solidFill>
                  <a:srgbClr val="202124"/>
                </a:solidFill>
                <a:highlight>
                  <a:srgbClr val="F8F9FA"/>
                </a:highlight>
                <a:ea typeface="Overlock"/>
                <a:sym typeface="Overlock"/>
              </a:rPr>
              <a:t> </a:t>
            </a:r>
            <a:r>
              <a:rPr lang="en-US" sz="2800" dirty="0" err="1">
                <a:solidFill>
                  <a:srgbClr val="202124"/>
                </a:solidFill>
                <a:highlight>
                  <a:srgbClr val="F8F9FA"/>
                </a:highlight>
                <a:ea typeface="Overlock"/>
                <a:sym typeface="Overlock"/>
              </a:rPr>
              <a:t>Kualitas</a:t>
            </a:r>
            <a:r>
              <a:rPr lang="en-US" sz="2800" dirty="0">
                <a:solidFill>
                  <a:srgbClr val="202124"/>
                </a:solidFill>
                <a:highlight>
                  <a:srgbClr val="F8F9FA"/>
                </a:highlight>
                <a:ea typeface="Overlock"/>
                <a:sym typeface="Overlock"/>
              </a:rPr>
              <a:t> Data</a:t>
            </a:r>
            <a:endParaRPr dirty="0">
              <a:ea typeface="Overlock"/>
              <a:sym typeface="Overlock"/>
            </a:endParaRPr>
          </a:p>
        </p:txBody>
      </p:sp>
      <p:sp>
        <p:nvSpPr>
          <p:cNvPr id="1418" name="Google Shape;1418;p105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 fontScale="85000" lnSpcReduction="20000"/>
          </a:bodyPr>
          <a:lstStyle/>
          <a:p>
            <a:pPr marL="609570" indent="-450205">
              <a:lnSpc>
                <a:spcPct val="115000"/>
              </a:lnSpc>
              <a:buSzPct val="108171"/>
              <a:buFont typeface="Overlock"/>
              <a:buChar char="●"/>
            </a:pPr>
            <a:r>
              <a:rPr lang="en-US" sz="2289" b="1" dirty="0">
                <a:latin typeface="Overlock"/>
                <a:ea typeface="Overlock"/>
                <a:cs typeface="Overlock"/>
                <a:sym typeface="Overlock"/>
              </a:rPr>
              <a:t>Consensus Algorithm</a:t>
            </a:r>
            <a:endParaRPr sz="2289" b="1" dirty="0">
              <a:latin typeface="Overlock"/>
              <a:ea typeface="Overlock"/>
              <a:cs typeface="Overlock"/>
              <a:sym typeface="Overlock"/>
            </a:endParaRPr>
          </a:p>
          <a:p>
            <a:pPr marL="1219139" lvl="1" indent="-450205">
              <a:lnSpc>
                <a:spcPct val="115000"/>
              </a:lnSpc>
              <a:buSzPct val="108171"/>
              <a:buFont typeface="Overlock"/>
              <a:buChar char="○"/>
            </a:pPr>
            <a:r>
              <a:rPr lang="en-US" sz="2289" dirty="0" err="1">
                <a:latin typeface="Overlock"/>
                <a:ea typeface="Overlock"/>
                <a:cs typeface="Overlock"/>
                <a:sym typeface="Overlock"/>
              </a:rPr>
              <a:t>Merupakan</a:t>
            </a: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 proses </a:t>
            </a:r>
            <a:r>
              <a:rPr lang="en-US" sz="2289" dirty="0" err="1">
                <a:latin typeface="Overlock"/>
                <a:ea typeface="Overlock"/>
                <a:cs typeface="Overlock"/>
                <a:sym typeface="Overlock"/>
              </a:rPr>
              <a:t>untuk</a:t>
            </a: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289" dirty="0" err="1">
                <a:latin typeface="Overlock"/>
                <a:ea typeface="Overlock"/>
                <a:cs typeface="Overlock"/>
                <a:sym typeface="Overlock"/>
              </a:rPr>
              <a:t>mencapai</a:t>
            </a: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289" dirty="0" err="1">
                <a:latin typeface="Overlock"/>
                <a:ea typeface="Overlock"/>
                <a:cs typeface="Overlock"/>
                <a:sym typeface="Overlock"/>
              </a:rPr>
              <a:t>reliabilitas</a:t>
            </a: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 data </a:t>
            </a:r>
            <a:r>
              <a:rPr lang="en-US" sz="2289" dirty="0" err="1">
                <a:latin typeface="Overlock"/>
                <a:ea typeface="Overlock"/>
                <a:cs typeface="Overlock"/>
                <a:sym typeface="Overlock"/>
              </a:rPr>
              <a:t>melalui</a:t>
            </a: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289" dirty="0" err="1">
                <a:latin typeface="Overlock"/>
                <a:ea typeface="Overlock"/>
                <a:cs typeface="Overlock"/>
                <a:sym typeface="Overlock"/>
              </a:rPr>
              <a:t>kesepakatan</a:t>
            </a: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 pada </a:t>
            </a:r>
            <a:r>
              <a:rPr lang="en-US" sz="2289" dirty="0" err="1">
                <a:latin typeface="Overlock"/>
                <a:ea typeface="Overlock"/>
                <a:cs typeface="Overlock"/>
                <a:sym typeface="Overlock"/>
              </a:rPr>
              <a:t>satu</a:t>
            </a: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289" dirty="0" err="1">
                <a:latin typeface="Overlock"/>
                <a:ea typeface="Overlock"/>
                <a:cs typeface="Overlock"/>
                <a:sym typeface="Overlock"/>
              </a:rPr>
              <a:t>titik</a:t>
            </a: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 data di </a:t>
            </a:r>
            <a:r>
              <a:rPr lang="en-US" sz="2289" dirty="0" err="1">
                <a:latin typeface="Overlock"/>
                <a:ea typeface="Overlock"/>
                <a:cs typeface="Overlock"/>
                <a:sym typeface="Overlock"/>
              </a:rPr>
              <a:t>antara</a:t>
            </a: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289" dirty="0" err="1">
                <a:latin typeface="Overlock"/>
                <a:ea typeface="Overlock"/>
                <a:cs typeface="Overlock"/>
                <a:sym typeface="Overlock"/>
              </a:rPr>
              <a:t>beberapa</a:t>
            </a: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289" dirty="0" err="1">
                <a:latin typeface="Overlock"/>
                <a:ea typeface="Overlock"/>
                <a:cs typeface="Overlock"/>
                <a:sym typeface="Overlock"/>
              </a:rPr>
              <a:t>individu</a:t>
            </a: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289" dirty="0" err="1">
                <a:latin typeface="Overlock"/>
                <a:ea typeface="Overlock"/>
                <a:cs typeface="Overlock"/>
                <a:sym typeface="Overlock"/>
              </a:rPr>
              <a:t>pemberi</a:t>
            </a: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 label data </a:t>
            </a:r>
            <a:r>
              <a:rPr lang="en-US" sz="2289" dirty="0" err="1">
                <a:latin typeface="Overlock"/>
                <a:ea typeface="Overlock"/>
                <a:cs typeface="Overlock"/>
                <a:sym typeface="Overlock"/>
              </a:rPr>
              <a:t>atau</a:t>
            </a: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289" dirty="0" err="1">
                <a:latin typeface="Overlock"/>
                <a:ea typeface="Overlock"/>
                <a:cs typeface="Overlock"/>
                <a:sym typeface="Overlock"/>
              </a:rPr>
              <a:t>suatu</a:t>
            </a: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289" dirty="0" err="1">
                <a:latin typeface="Overlock"/>
                <a:ea typeface="Overlock"/>
                <a:cs typeface="Overlock"/>
                <a:sym typeface="Overlock"/>
              </a:rPr>
              <a:t>organisasi</a:t>
            </a: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. </a:t>
            </a:r>
            <a:endParaRPr sz="2289" dirty="0">
              <a:latin typeface="Overlock"/>
              <a:ea typeface="Overlock"/>
              <a:cs typeface="Overlock"/>
              <a:sym typeface="Overlock"/>
            </a:endParaRPr>
          </a:p>
          <a:p>
            <a:pPr marL="1219139" lvl="1" indent="-450205">
              <a:lnSpc>
                <a:spcPct val="115000"/>
              </a:lnSpc>
              <a:buSzPct val="108171"/>
              <a:buFont typeface="Overlock"/>
              <a:buChar char="○"/>
            </a:pPr>
            <a:r>
              <a:rPr lang="en-US" sz="2289" dirty="0" err="1">
                <a:latin typeface="Overlock"/>
                <a:ea typeface="Overlock"/>
                <a:cs typeface="Overlock"/>
                <a:sym typeface="Overlock"/>
              </a:rPr>
              <a:t>Konsensus</a:t>
            </a: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289" dirty="0" err="1">
                <a:latin typeface="Overlock"/>
                <a:ea typeface="Overlock"/>
                <a:cs typeface="Overlock"/>
                <a:sym typeface="Overlock"/>
              </a:rPr>
              <a:t>dapat</a:t>
            </a: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289" dirty="0" err="1">
                <a:latin typeface="Overlock"/>
                <a:ea typeface="Overlock"/>
                <a:cs typeface="Overlock"/>
                <a:sym typeface="Overlock"/>
              </a:rPr>
              <a:t>dilakukan</a:t>
            </a: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289" dirty="0" err="1">
                <a:latin typeface="Overlock"/>
                <a:ea typeface="Overlock"/>
                <a:cs typeface="Overlock"/>
                <a:sym typeface="Overlock"/>
              </a:rPr>
              <a:t>dengan</a:t>
            </a: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289" dirty="0" err="1">
                <a:latin typeface="Overlock"/>
                <a:ea typeface="Overlock"/>
                <a:cs typeface="Overlock"/>
                <a:sym typeface="Overlock"/>
              </a:rPr>
              <a:t>menetapkan</a:t>
            </a: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289" dirty="0" err="1">
                <a:latin typeface="Overlock"/>
                <a:ea typeface="Overlock"/>
                <a:cs typeface="Overlock"/>
                <a:sym typeface="Overlock"/>
              </a:rPr>
              <a:t>sejumlah</a:t>
            </a: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289" i="1" dirty="0">
                <a:latin typeface="Overlock"/>
                <a:ea typeface="Overlock"/>
                <a:cs typeface="Overlock"/>
                <a:sym typeface="Overlock"/>
              </a:rPr>
              <a:t>reviewer</a:t>
            </a: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 per </a:t>
            </a:r>
            <a:r>
              <a:rPr lang="en-US" sz="2289" dirty="0" err="1">
                <a:latin typeface="Overlock"/>
                <a:ea typeface="Overlock"/>
                <a:cs typeface="Overlock"/>
                <a:sym typeface="Overlock"/>
              </a:rPr>
              <a:t>titik</a:t>
            </a: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 data (</a:t>
            </a:r>
            <a:r>
              <a:rPr lang="en-US" sz="2289" dirty="0" err="1">
                <a:latin typeface="Overlock"/>
                <a:ea typeface="Overlock"/>
                <a:cs typeface="Overlock"/>
                <a:sym typeface="Overlock"/>
              </a:rPr>
              <a:t>umumnya</a:t>
            </a: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289" dirty="0" err="1">
                <a:latin typeface="Overlock"/>
                <a:ea typeface="Overlock"/>
                <a:cs typeface="Overlock"/>
                <a:sym typeface="Overlock"/>
              </a:rPr>
              <a:t>untuk</a:t>
            </a: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289" i="1" dirty="0">
                <a:latin typeface="Overlock"/>
                <a:ea typeface="Overlock"/>
                <a:cs typeface="Overlock"/>
                <a:sym typeface="Overlock"/>
              </a:rPr>
              <a:t>data open source</a:t>
            </a: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) </a:t>
            </a:r>
            <a:r>
              <a:rPr lang="en-US" sz="2289" dirty="0" err="1">
                <a:latin typeface="Overlock"/>
                <a:ea typeface="Overlock"/>
                <a:cs typeface="Overlock"/>
                <a:sym typeface="Overlock"/>
              </a:rPr>
              <a:t>atau</a:t>
            </a: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289" dirty="0" err="1">
                <a:latin typeface="Overlock"/>
                <a:ea typeface="Overlock"/>
                <a:cs typeface="Overlock"/>
                <a:sym typeface="Overlock"/>
              </a:rPr>
              <a:t>sepenuhnya</a:t>
            </a: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289" dirty="0" err="1">
                <a:latin typeface="Overlock"/>
                <a:ea typeface="Overlock"/>
                <a:cs typeface="Overlock"/>
                <a:sym typeface="Overlock"/>
              </a:rPr>
              <a:t>otomatis</a:t>
            </a: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.</a:t>
            </a:r>
            <a:endParaRPr sz="2289" dirty="0">
              <a:latin typeface="Overlock"/>
              <a:ea typeface="Overlock"/>
              <a:cs typeface="Overlock"/>
              <a:sym typeface="Overlock"/>
            </a:endParaRPr>
          </a:p>
          <a:p>
            <a:pPr marL="1219139" indent="0">
              <a:lnSpc>
                <a:spcPct val="115000"/>
              </a:lnSpc>
              <a:buSzPct val="113334"/>
            </a:pPr>
            <a:endParaRPr sz="2289" dirty="0">
              <a:latin typeface="Overlock"/>
              <a:ea typeface="Overlock"/>
              <a:cs typeface="Overlock"/>
              <a:sym typeface="Overlock"/>
            </a:endParaRPr>
          </a:p>
          <a:p>
            <a:pPr marL="609570" indent="-450205">
              <a:lnSpc>
                <a:spcPct val="115000"/>
              </a:lnSpc>
              <a:buSzPct val="108171"/>
              <a:buFont typeface="Overlock"/>
              <a:buChar char="●"/>
            </a:pPr>
            <a:r>
              <a:rPr lang="en-US" sz="2289" b="1" dirty="0">
                <a:latin typeface="Overlock"/>
                <a:ea typeface="Overlock"/>
                <a:cs typeface="Overlock"/>
                <a:sym typeface="Overlock"/>
              </a:rPr>
              <a:t>Benchmarking and Gold Standard</a:t>
            </a:r>
            <a:endParaRPr sz="2289" b="1" dirty="0">
              <a:latin typeface="Overlock"/>
              <a:ea typeface="Overlock"/>
              <a:cs typeface="Overlock"/>
              <a:sym typeface="Overlock"/>
            </a:endParaRPr>
          </a:p>
          <a:p>
            <a:pPr marL="1219139" lvl="1" indent="-450205">
              <a:lnSpc>
                <a:spcPct val="115000"/>
              </a:lnSpc>
              <a:buSzPct val="108171"/>
              <a:buFont typeface="Overlock"/>
              <a:buChar char="○"/>
            </a:pP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Benchmarking </a:t>
            </a:r>
            <a:r>
              <a:rPr lang="en-US" sz="2289" dirty="0" err="1">
                <a:latin typeface="Overlock"/>
                <a:ea typeface="Overlock"/>
                <a:cs typeface="Overlock"/>
                <a:sym typeface="Overlock"/>
              </a:rPr>
              <a:t>adalah</a:t>
            </a: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289" dirty="0" err="1">
                <a:latin typeface="Overlock"/>
                <a:ea typeface="Overlock"/>
                <a:cs typeface="Overlock"/>
                <a:sym typeface="Overlock"/>
              </a:rPr>
              <a:t>pendekatan</a:t>
            </a: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 yang </a:t>
            </a:r>
            <a:r>
              <a:rPr lang="en-US" sz="2289" dirty="0" err="1">
                <a:latin typeface="Overlock"/>
                <a:ea typeface="Overlock"/>
                <a:cs typeface="Overlock"/>
                <a:sym typeface="Overlock"/>
              </a:rPr>
              <a:t>lebih</a:t>
            </a: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289" dirty="0" err="1">
                <a:latin typeface="Overlock"/>
                <a:ea typeface="Overlock"/>
                <a:cs typeface="Overlock"/>
                <a:sym typeface="Overlock"/>
              </a:rPr>
              <a:t>kompleks</a:t>
            </a: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 dan </a:t>
            </a:r>
            <a:r>
              <a:rPr lang="en-US" sz="2289" dirty="0" err="1">
                <a:latin typeface="Overlock"/>
                <a:ea typeface="Overlock"/>
                <a:cs typeface="Overlock"/>
                <a:sym typeface="Overlock"/>
              </a:rPr>
              <a:t>andal</a:t>
            </a: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289" dirty="0" err="1">
                <a:latin typeface="Overlock"/>
                <a:ea typeface="Overlock"/>
                <a:cs typeface="Overlock"/>
                <a:sym typeface="Overlock"/>
              </a:rPr>
              <a:t>untuk</a:t>
            </a: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 QA, </a:t>
            </a:r>
            <a:r>
              <a:rPr lang="en-US" sz="2289" dirty="0" err="1">
                <a:latin typeface="Overlock"/>
                <a:ea typeface="Overlock"/>
                <a:cs typeface="Overlock"/>
                <a:sym typeface="Overlock"/>
              </a:rPr>
              <a:t>karena</a:t>
            </a: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289" dirty="0" err="1">
                <a:latin typeface="Overlock"/>
                <a:ea typeface="Overlock"/>
                <a:cs typeface="Overlock"/>
                <a:sym typeface="Overlock"/>
              </a:rPr>
              <a:t>menggunakan</a:t>
            </a: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289" dirty="0" err="1">
                <a:latin typeface="Overlock"/>
                <a:ea typeface="Overlock"/>
                <a:cs typeface="Overlock"/>
                <a:sym typeface="Overlock"/>
              </a:rPr>
              <a:t>standar</a:t>
            </a: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289" dirty="0" err="1">
                <a:latin typeface="Overlock"/>
                <a:ea typeface="Overlock"/>
                <a:cs typeface="Overlock"/>
                <a:sym typeface="Overlock"/>
              </a:rPr>
              <a:t>tertentu</a:t>
            </a: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.</a:t>
            </a:r>
            <a:endParaRPr sz="2289" dirty="0">
              <a:latin typeface="Overlock"/>
              <a:ea typeface="Overlock"/>
              <a:cs typeface="Overlock"/>
              <a:sym typeface="Overlock"/>
            </a:endParaRPr>
          </a:p>
          <a:p>
            <a:pPr marL="1219139" lvl="1" indent="-450205">
              <a:lnSpc>
                <a:spcPct val="115000"/>
              </a:lnSpc>
              <a:buSzPct val="108171"/>
              <a:buFont typeface="Overlock"/>
              <a:buChar char="○"/>
            </a:pPr>
            <a:r>
              <a:rPr lang="en-US" sz="2289" dirty="0" err="1">
                <a:latin typeface="Overlock"/>
                <a:ea typeface="Overlock"/>
                <a:cs typeface="Overlock"/>
                <a:sym typeface="Overlock"/>
              </a:rPr>
              <a:t>Menggunakan</a:t>
            </a: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289" dirty="0" err="1">
                <a:latin typeface="Overlock"/>
                <a:ea typeface="Overlock"/>
                <a:cs typeface="Overlock"/>
                <a:sym typeface="Overlock"/>
              </a:rPr>
              <a:t>otomatisasi</a:t>
            </a: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, </a:t>
            </a:r>
            <a:r>
              <a:rPr lang="en-US" sz="2289" dirty="0" err="1">
                <a:latin typeface="Overlock"/>
                <a:ea typeface="Overlock"/>
                <a:cs typeface="Overlock"/>
                <a:sym typeface="Overlock"/>
              </a:rPr>
              <a:t>pemberi</a:t>
            </a: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 label </a:t>
            </a:r>
            <a:r>
              <a:rPr lang="en-US" sz="2289" dirty="0" err="1">
                <a:latin typeface="Overlock"/>
                <a:ea typeface="Overlock"/>
                <a:cs typeface="Overlock"/>
                <a:sym typeface="Overlock"/>
              </a:rPr>
              <a:t>mendapatkan</a:t>
            </a: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 benchmark </a:t>
            </a:r>
            <a:r>
              <a:rPr lang="en-US" sz="2289" dirty="0" err="1">
                <a:latin typeface="Overlock"/>
                <a:ea typeface="Overlock"/>
                <a:cs typeface="Overlock"/>
                <a:sym typeface="Overlock"/>
              </a:rPr>
              <a:t>secara</a:t>
            </a: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289" dirty="0" err="1">
                <a:latin typeface="Overlock"/>
                <a:ea typeface="Overlock"/>
                <a:cs typeface="Overlock"/>
                <a:sym typeface="Overlock"/>
              </a:rPr>
              <a:t>acak</a:t>
            </a: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289" dirty="0" err="1">
                <a:latin typeface="Overlock"/>
                <a:ea typeface="Overlock"/>
                <a:cs typeface="Overlock"/>
                <a:sym typeface="Overlock"/>
              </a:rPr>
              <a:t>untuk</a:t>
            </a: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289" dirty="0" err="1">
                <a:latin typeface="Overlock"/>
                <a:ea typeface="Overlock"/>
                <a:cs typeface="Overlock"/>
                <a:sym typeface="Overlock"/>
              </a:rPr>
              <a:t>memastikan</a:t>
            </a: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289" dirty="0" err="1">
                <a:latin typeface="Overlock"/>
                <a:ea typeface="Overlock"/>
                <a:cs typeface="Overlock"/>
                <a:sym typeface="Overlock"/>
              </a:rPr>
              <a:t>bahwa</a:t>
            </a: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 label dan </a:t>
            </a:r>
            <a:r>
              <a:rPr lang="en-US" sz="2289" dirty="0" err="1">
                <a:latin typeface="Overlock"/>
                <a:ea typeface="Overlock"/>
                <a:cs typeface="Overlock"/>
                <a:sym typeface="Overlock"/>
              </a:rPr>
              <a:t>anotasi</a:t>
            </a: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289" dirty="0" err="1">
                <a:latin typeface="Overlock"/>
                <a:ea typeface="Overlock"/>
                <a:cs typeface="Overlock"/>
                <a:sym typeface="Overlock"/>
              </a:rPr>
              <a:t>mematuhi</a:t>
            </a: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289" dirty="0" err="1">
                <a:latin typeface="Overlock"/>
                <a:ea typeface="Overlock"/>
                <a:cs typeface="Overlock"/>
                <a:sym typeface="Overlock"/>
              </a:rPr>
              <a:t>referensi</a:t>
            </a: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 yang </a:t>
            </a:r>
            <a:r>
              <a:rPr lang="en-US" sz="2289" dirty="0" err="1">
                <a:latin typeface="Overlock"/>
                <a:ea typeface="Overlock"/>
                <a:cs typeface="Overlock"/>
                <a:sym typeface="Overlock"/>
              </a:rPr>
              <a:t>telah</a:t>
            </a: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289" dirty="0" err="1">
                <a:latin typeface="Overlock"/>
                <a:ea typeface="Overlock"/>
                <a:cs typeface="Overlock"/>
                <a:sym typeface="Overlock"/>
              </a:rPr>
              <a:t>ditentukan</a:t>
            </a:r>
            <a:endParaRPr sz="2289" dirty="0">
              <a:latin typeface="Overlock"/>
              <a:ea typeface="Overlock"/>
              <a:cs typeface="Overlock"/>
              <a:sym typeface="Overlock"/>
            </a:endParaRPr>
          </a:p>
          <a:p>
            <a:pPr marL="1219139" lvl="1" indent="-450205">
              <a:lnSpc>
                <a:spcPct val="115000"/>
              </a:lnSpc>
              <a:buSzPct val="108171"/>
              <a:buFont typeface="Overlock"/>
              <a:buChar char="○"/>
            </a:pP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Ahli </a:t>
            </a:r>
            <a:r>
              <a:rPr lang="en-US" sz="2289" dirty="0" err="1">
                <a:latin typeface="Overlock"/>
                <a:ea typeface="Overlock"/>
                <a:cs typeface="Overlock"/>
                <a:sym typeface="Overlock"/>
              </a:rPr>
              <a:t>diperlukan</a:t>
            </a: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289" dirty="0" err="1">
                <a:latin typeface="Overlock"/>
                <a:ea typeface="Overlock"/>
                <a:cs typeface="Overlock"/>
                <a:sym typeface="Overlock"/>
              </a:rPr>
              <a:t>hanya</a:t>
            </a: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289" dirty="0" err="1">
                <a:latin typeface="Overlock"/>
                <a:ea typeface="Overlock"/>
                <a:cs typeface="Overlock"/>
                <a:sym typeface="Overlock"/>
              </a:rPr>
              <a:t>untuk</a:t>
            </a: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289" dirty="0" err="1">
                <a:latin typeface="Overlock"/>
                <a:ea typeface="Overlock"/>
                <a:cs typeface="Overlock"/>
                <a:sym typeface="Overlock"/>
              </a:rPr>
              <a:t>membuat</a:t>
            </a: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289" dirty="0" err="1">
                <a:latin typeface="Overlock"/>
                <a:ea typeface="Overlock"/>
                <a:cs typeface="Overlock"/>
                <a:sym typeface="Overlock"/>
              </a:rPr>
              <a:t>referensi</a:t>
            </a: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 dan </a:t>
            </a:r>
            <a:r>
              <a:rPr lang="en-US" sz="2289" dirty="0" err="1">
                <a:latin typeface="Overlock"/>
                <a:ea typeface="Overlock"/>
                <a:cs typeface="Overlock"/>
                <a:sym typeface="Overlock"/>
              </a:rPr>
              <a:t>meninjau</a:t>
            </a: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289" dirty="0" err="1">
                <a:latin typeface="Overlock"/>
                <a:ea typeface="Overlock"/>
                <a:cs typeface="Overlock"/>
                <a:sym typeface="Overlock"/>
              </a:rPr>
              <a:t>kualitas</a:t>
            </a: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289" dirty="0" err="1">
                <a:latin typeface="Overlock"/>
                <a:ea typeface="Overlock"/>
                <a:cs typeface="Overlock"/>
                <a:sym typeface="Overlock"/>
              </a:rPr>
              <a:t>secara</a:t>
            </a: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289" dirty="0" err="1">
                <a:latin typeface="Overlock"/>
                <a:ea typeface="Overlock"/>
                <a:cs typeface="Overlock"/>
                <a:sym typeface="Overlock"/>
              </a:rPr>
              <a:t>keseluruhan</a:t>
            </a: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 dan </a:t>
            </a:r>
            <a:r>
              <a:rPr lang="en-US" sz="2289" dirty="0" err="1">
                <a:latin typeface="Overlock"/>
                <a:ea typeface="Overlock"/>
                <a:cs typeface="Overlock"/>
                <a:sym typeface="Overlock"/>
              </a:rPr>
              <a:t>potensi</a:t>
            </a: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289" dirty="0" err="1">
                <a:latin typeface="Overlock"/>
                <a:ea typeface="Overlock"/>
                <a:cs typeface="Overlock"/>
                <a:sym typeface="Overlock"/>
              </a:rPr>
              <a:t>penyimpangan</a:t>
            </a:r>
            <a:r>
              <a:rPr lang="en-US" sz="2289" dirty="0">
                <a:latin typeface="Overlock"/>
                <a:ea typeface="Overlock"/>
                <a:cs typeface="Overlock"/>
                <a:sym typeface="Overlock"/>
              </a:rPr>
              <a:t>.</a:t>
            </a:r>
            <a:endParaRPr dirty="0">
              <a:latin typeface="Overlock"/>
              <a:ea typeface="Overlock"/>
              <a:cs typeface="Overlock"/>
              <a:sym typeface="Overlock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p10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rgbClr val="202124"/>
              </a:buClr>
              <a:buSzPts val="2800"/>
            </a:pPr>
            <a:r>
              <a:rPr lang="en-US" sz="2800" dirty="0">
                <a:solidFill>
                  <a:srgbClr val="202124"/>
                </a:solidFill>
                <a:highlight>
                  <a:srgbClr val="F8F9FA"/>
                </a:highlight>
                <a:ea typeface="Overlock"/>
                <a:sym typeface="Overlock"/>
              </a:rPr>
              <a:t>Metode QA </a:t>
            </a:r>
            <a:r>
              <a:rPr lang="en-US" sz="2800" dirty="0" err="1">
                <a:solidFill>
                  <a:srgbClr val="202124"/>
                </a:solidFill>
                <a:highlight>
                  <a:srgbClr val="F8F9FA"/>
                </a:highlight>
                <a:ea typeface="Overlock"/>
                <a:sym typeface="Overlock"/>
              </a:rPr>
              <a:t>untuk</a:t>
            </a:r>
            <a:r>
              <a:rPr lang="en-US" sz="2800" dirty="0">
                <a:solidFill>
                  <a:srgbClr val="202124"/>
                </a:solidFill>
                <a:highlight>
                  <a:srgbClr val="F8F9FA"/>
                </a:highlight>
                <a:ea typeface="Overlock"/>
                <a:sym typeface="Overlock"/>
              </a:rPr>
              <a:t> </a:t>
            </a:r>
            <a:r>
              <a:rPr lang="en-US" sz="2800" dirty="0" err="1">
                <a:solidFill>
                  <a:srgbClr val="202124"/>
                </a:solidFill>
                <a:highlight>
                  <a:srgbClr val="F8F9FA"/>
                </a:highlight>
                <a:ea typeface="Overlock"/>
                <a:sym typeface="Overlock"/>
              </a:rPr>
              <a:t>Mengukur</a:t>
            </a:r>
            <a:r>
              <a:rPr lang="en-US" sz="2800" dirty="0">
                <a:solidFill>
                  <a:srgbClr val="202124"/>
                </a:solidFill>
                <a:highlight>
                  <a:srgbClr val="F8F9FA"/>
                </a:highlight>
                <a:ea typeface="Overlock"/>
                <a:sym typeface="Overlock"/>
              </a:rPr>
              <a:t> </a:t>
            </a:r>
            <a:r>
              <a:rPr lang="en-US" sz="2800" dirty="0" err="1">
                <a:solidFill>
                  <a:srgbClr val="202124"/>
                </a:solidFill>
                <a:highlight>
                  <a:srgbClr val="F8F9FA"/>
                </a:highlight>
                <a:ea typeface="Overlock"/>
                <a:sym typeface="Overlock"/>
              </a:rPr>
              <a:t>Kualitas</a:t>
            </a:r>
            <a:r>
              <a:rPr lang="en-US" sz="2800" dirty="0">
                <a:solidFill>
                  <a:srgbClr val="202124"/>
                </a:solidFill>
                <a:highlight>
                  <a:srgbClr val="F8F9FA"/>
                </a:highlight>
                <a:ea typeface="Overlock"/>
                <a:sym typeface="Overlock"/>
              </a:rPr>
              <a:t> Data</a:t>
            </a:r>
            <a:endParaRPr dirty="0">
              <a:ea typeface="Overlock"/>
              <a:sym typeface="Overlock"/>
            </a:endParaRPr>
          </a:p>
        </p:txBody>
      </p:sp>
      <p:sp>
        <p:nvSpPr>
          <p:cNvPr id="1424" name="Google Shape;1424;p106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 lnSpcReduction="10000"/>
          </a:bodyPr>
          <a:lstStyle/>
          <a:p>
            <a:pPr marL="609570" indent="-450205">
              <a:lnSpc>
                <a:spcPct val="115000"/>
              </a:lnSpc>
              <a:buSzPts val="1718"/>
              <a:buFont typeface="Overlock"/>
              <a:buChar char="●"/>
            </a:pPr>
            <a:r>
              <a:rPr lang="en-US" sz="2289" b="1">
                <a:latin typeface="Overlock"/>
                <a:ea typeface="Overlock"/>
                <a:cs typeface="Overlock"/>
                <a:sym typeface="Overlock"/>
              </a:rPr>
              <a:t>Sample review</a:t>
            </a:r>
            <a:endParaRPr sz="2289" b="1">
              <a:latin typeface="Overlock"/>
              <a:ea typeface="Overlock"/>
              <a:cs typeface="Overlock"/>
              <a:sym typeface="Overlock"/>
            </a:endParaRPr>
          </a:p>
          <a:p>
            <a:pPr marL="1219139" lvl="1" indent="-450205">
              <a:lnSpc>
                <a:spcPct val="115000"/>
              </a:lnSpc>
              <a:buSzPts val="1718"/>
              <a:buFont typeface="Overlock"/>
              <a:buChar char="○"/>
            </a:pPr>
            <a:r>
              <a:rPr lang="en-US" sz="2289">
                <a:latin typeface="Overlock"/>
                <a:ea typeface="Overlock"/>
                <a:cs typeface="Overlock"/>
                <a:sym typeface="Overlock"/>
              </a:rPr>
              <a:t>Pilih sampel acak dari hasil pelabelan yang telah diselesaikan.</a:t>
            </a:r>
            <a:endParaRPr sz="2289">
              <a:latin typeface="Overlock"/>
              <a:ea typeface="Overlock"/>
              <a:cs typeface="Overlock"/>
              <a:sym typeface="Overlock"/>
            </a:endParaRPr>
          </a:p>
          <a:p>
            <a:pPr marL="1219139" lvl="1" indent="-450205">
              <a:lnSpc>
                <a:spcPct val="115000"/>
              </a:lnSpc>
              <a:buSzPts val="1718"/>
              <a:buFont typeface="Overlock"/>
              <a:buChar char="○"/>
            </a:pPr>
            <a:r>
              <a:rPr lang="en-US" sz="2289">
                <a:latin typeface="Overlock"/>
                <a:ea typeface="Overlock"/>
                <a:cs typeface="Overlock"/>
                <a:sym typeface="Overlock"/>
              </a:rPr>
              <a:t>Pekerja yang lebih berpengalaman, seperti pemimpin tim atau manajer proyek, dapat meninjau sampel untuk mengukur akurasinya.</a:t>
            </a:r>
            <a:endParaRPr sz="2289">
              <a:latin typeface="Overlock"/>
              <a:ea typeface="Overlock"/>
              <a:cs typeface="Overlock"/>
              <a:sym typeface="Overlock"/>
            </a:endParaRPr>
          </a:p>
          <a:p>
            <a:pPr marL="1219139" indent="0">
              <a:lnSpc>
                <a:spcPct val="115000"/>
              </a:lnSpc>
              <a:buSzPts val="1800"/>
            </a:pPr>
            <a:endParaRPr sz="2289">
              <a:latin typeface="Overlock"/>
              <a:ea typeface="Overlock"/>
              <a:cs typeface="Overlock"/>
              <a:sym typeface="Overlock"/>
            </a:endParaRPr>
          </a:p>
          <a:p>
            <a:pPr marL="609570" indent="-450205">
              <a:lnSpc>
                <a:spcPct val="115000"/>
              </a:lnSpc>
              <a:buSzPts val="1718"/>
              <a:buFont typeface="Overlock"/>
              <a:buChar char="●"/>
            </a:pPr>
            <a:r>
              <a:rPr lang="en-US" sz="2289" b="1">
                <a:latin typeface="Overlock"/>
                <a:ea typeface="Overlock"/>
                <a:cs typeface="Overlock"/>
                <a:sym typeface="Overlock"/>
              </a:rPr>
              <a:t>Cronbach's Alpha Test</a:t>
            </a:r>
            <a:endParaRPr sz="2289" b="1">
              <a:latin typeface="Overlock"/>
              <a:ea typeface="Overlock"/>
              <a:cs typeface="Overlock"/>
              <a:sym typeface="Overlock"/>
            </a:endParaRPr>
          </a:p>
          <a:p>
            <a:pPr marL="1219139" lvl="1" indent="-475603">
              <a:lnSpc>
                <a:spcPct val="115000"/>
              </a:lnSpc>
              <a:buSzPts val="2018"/>
              <a:buFont typeface="Overlock"/>
              <a:buChar char="○"/>
            </a:pPr>
            <a:r>
              <a:rPr lang="en-US" sz="2267">
                <a:latin typeface="Overlock"/>
                <a:ea typeface="Overlock"/>
                <a:cs typeface="Overlock"/>
                <a:sym typeface="Overlock"/>
              </a:rPr>
              <a:t>Digunakan sebagai ukuran korelasi rata-rata atau konsistensi item dalam dataset, yang tergantung pada karakteristik penelitian (misal homogenitas).</a:t>
            </a:r>
            <a:endParaRPr sz="2267">
              <a:latin typeface="Overlock"/>
              <a:ea typeface="Overlock"/>
              <a:cs typeface="Overlock"/>
              <a:sym typeface="Overlock"/>
            </a:endParaRPr>
          </a:p>
          <a:p>
            <a:pPr marL="1219139" lvl="1" indent="-448711">
              <a:lnSpc>
                <a:spcPct val="115000"/>
              </a:lnSpc>
              <a:buSzPts val="1700"/>
              <a:buFont typeface="Overlock"/>
              <a:buChar char="○"/>
            </a:pPr>
            <a:r>
              <a:rPr lang="en-US" sz="2267">
                <a:latin typeface="Overlock"/>
                <a:ea typeface="Overlock"/>
                <a:cs typeface="Overlock"/>
                <a:sym typeface="Overlock"/>
              </a:rPr>
              <a:t>Dapat membantu dengan cepat melihat keandalan label secara keseluruhan.</a:t>
            </a:r>
            <a:endParaRPr sz="2267">
              <a:latin typeface="Overlock"/>
              <a:ea typeface="Overlock"/>
              <a:cs typeface="Overlock"/>
              <a:sym typeface="Overlock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p10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SzPct val="115226"/>
            </a:pPr>
            <a:r>
              <a:rPr lang="en-US"/>
              <a:t>Cronbach’s Alpha Test</a:t>
            </a:r>
            <a:endParaRPr/>
          </a:p>
        </p:txBody>
      </p:sp>
      <p:sp>
        <p:nvSpPr>
          <p:cNvPr id="1430" name="Google Shape;1430;p107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 fontScale="77500" lnSpcReduction="20000"/>
          </a:bodyPr>
          <a:lstStyle/>
          <a:p>
            <a:pPr marL="609570" indent="-457177">
              <a:lnSpc>
                <a:spcPct val="115000"/>
              </a:lnSpc>
              <a:buSzPct val="100840"/>
              <a:buChar char="●"/>
            </a:pPr>
            <a:r>
              <a:rPr lang="en-US" dirty="0" err="1"/>
              <a:t>Dikenal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ukuran</a:t>
            </a:r>
            <a:r>
              <a:rPr lang="en-US" dirty="0"/>
              <a:t> </a:t>
            </a:r>
            <a:r>
              <a:rPr lang="en-US" dirty="0" err="1"/>
              <a:t>konsistensi</a:t>
            </a:r>
            <a:r>
              <a:rPr lang="en-US" dirty="0"/>
              <a:t> internal yang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konteks</a:t>
            </a:r>
            <a:r>
              <a:rPr lang="en-US" dirty="0"/>
              <a:t> </a:t>
            </a:r>
            <a:r>
              <a:rPr lang="en-US" dirty="0" err="1"/>
              <a:t>instrumen</a:t>
            </a:r>
            <a:r>
              <a:rPr lang="en-US" dirty="0"/>
              <a:t> </a:t>
            </a:r>
            <a:r>
              <a:rPr lang="en-US" dirty="0" err="1"/>
              <a:t>pengukuran</a:t>
            </a:r>
            <a:r>
              <a:rPr lang="en-US" dirty="0"/>
              <a:t> multi-item dan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yang </a:t>
            </a:r>
            <a:r>
              <a:rPr lang="en-US" dirty="0" err="1"/>
              <a:t>luas</a:t>
            </a:r>
            <a:r>
              <a:rPr lang="en-US" dirty="0"/>
              <a:t>.</a:t>
            </a:r>
            <a:endParaRPr dirty="0"/>
          </a:p>
          <a:p>
            <a:pPr marL="609570" indent="-457177">
              <a:lnSpc>
                <a:spcPct val="115000"/>
              </a:lnSpc>
              <a:buSzPct val="100840"/>
              <a:buChar char="●"/>
            </a:pPr>
            <a:r>
              <a:rPr lang="en-US" dirty="0"/>
              <a:t>Cronbach's Alpha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mengestimasi</a:t>
            </a:r>
            <a:r>
              <a:rPr lang="en-US" dirty="0"/>
              <a:t> item data </a:t>
            </a:r>
            <a:r>
              <a:rPr lang="en-US" dirty="0" err="1"/>
              <a:t>dalam</a:t>
            </a:r>
            <a:r>
              <a:rPr lang="en-US" dirty="0"/>
              <a:t> dataset </a:t>
            </a:r>
            <a:r>
              <a:rPr lang="en-US" dirty="0" err="1"/>
              <a:t>termasuk</a:t>
            </a:r>
            <a:r>
              <a:rPr lang="en-US" dirty="0"/>
              <a:t> label.</a:t>
            </a:r>
            <a:endParaRPr dirty="0"/>
          </a:p>
          <a:p>
            <a:pPr marL="0" indent="0">
              <a:lnSpc>
                <a:spcPct val="115000"/>
              </a:lnSpc>
              <a:buSzPct val="100840"/>
            </a:pPr>
            <a:endParaRPr dirty="0"/>
          </a:p>
          <a:p>
            <a:pPr marL="0" indent="0">
              <a:lnSpc>
                <a:spcPct val="115000"/>
              </a:lnSpc>
              <a:buSzPct val="100840"/>
            </a:pPr>
            <a:endParaRPr dirty="0"/>
          </a:p>
          <a:p>
            <a:pPr marL="0" indent="0">
              <a:lnSpc>
                <a:spcPct val="115000"/>
              </a:lnSpc>
              <a:buSzPct val="100840"/>
            </a:pPr>
            <a:endParaRPr dirty="0"/>
          </a:p>
          <a:p>
            <a:pPr marL="609570" indent="-457177">
              <a:lnSpc>
                <a:spcPct val="115000"/>
              </a:lnSpc>
              <a:buSzPct val="100840"/>
              <a:buChar char="●"/>
            </a:pPr>
            <a:r>
              <a:rPr lang="en-US" dirty="0"/>
              <a:t>Dimana α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koefisien</a:t>
            </a:r>
            <a:r>
              <a:rPr lang="en-US" dirty="0"/>
              <a:t> </a:t>
            </a:r>
            <a:r>
              <a:rPr lang="en-US" dirty="0" err="1"/>
              <a:t>reliabilitas</a:t>
            </a:r>
            <a:r>
              <a:rPr lang="en-US" dirty="0"/>
              <a:t>, </a:t>
            </a:r>
            <a:r>
              <a:rPr lang="en-US" i="1" dirty="0"/>
              <a:t>k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item set,     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i="1" dirty="0"/>
              <a:t>variance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item </a:t>
            </a:r>
            <a:r>
              <a:rPr lang="en-US" i="1" dirty="0" err="1"/>
              <a:t>i</a:t>
            </a:r>
            <a:r>
              <a:rPr lang="en-US" dirty="0"/>
              <a:t> </a:t>
            </a:r>
            <a:r>
              <a:rPr lang="en-US" dirty="0" err="1"/>
              <a:t>dimana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i="1" dirty="0"/>
              <a:t> = 1, 2, ..., k,</a:t>
            </a:r>
            <a:r>
              <a:rPr lang="en-US" dirty="0"/>
              <a:t> and     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i="1" dirty="0"/>
              <a:t>variance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 item. </a:t>
            </a:r>
            <a:r>
              <a:rPr lang="en-US" dirty="0" err="1"/>
              <a:t>Semakin</a:t>
            </a:r>
            <a:r>
              <a:rPr lang="en-US" dirty="0"/>
              <a:t> </a:t>
            </a:r>
            <a:r>
              <a:rPr lang="en-US" dirty="0" err="1"/>
              <a:t>tinggi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koefisien</a:t>
            </a:r>
            <a:r>
              <a:rPr lang="en-US" dirty="0"/>
              <a:t> α,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item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i="1" dirty="0"/>
              <a:t>covariance</a:t>
            </a:r>
            <a:r>
              <a:rPr lang="en-US" dirty="0"/>
              <a:t> dan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dihitung</a:t>
            </a:r>
            <a:r>
              <a:rPr lang="en-US" dirty="0"/>
              <a:t> (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kesamaan</a:t>
            </a:r>
            <a:r>
              <a:rPr lang="en-US" dirty="0"/>
              <a:t> </a:t>
            </a:r>
            <a:r>
              <a:rPr lang="en-US" dirty="0" err="1"/>
              <a:t>konsep</a:t>
            </a:r>
            <a:r>
              <a:rPr lang="en-US" dirty="0"/>
              <a:t>).</a:t>
            </a:r>
            <a:endParaRPr dirty="0"/>
          </a:p>
          <a:p>
            <a:pPr marL="609570" indent="-457177">
              <a:lnSpc>
                <a:spcPct val="115000"/>
              </a:lnSpc>
              <a:buSzPct val="100840"/>
              <a:buChar char="●"/>
            </a:pPr>
            <a:r>
              <a:rPr lang="en-US" dirty="0" err="1"/>
              <a:t>Kategori</a:t>
            </a:r>
            <a:r>
              <a:rPr lang="en-US" dirty="0"/>
              <a:t> </a:t>
            </a:r>
            <a:r>
              <a:rPr lang="en-US" dirty="0" err="1"/>
              <a:t>reliabilitas</a:t>
            </a:r>
            <a:r>
              <a:rPr lang="en-US" dirty="0"/>
              <a:t> </a:t>
            </a:r>
            <a:r>
              <a:rPr lang="en-US" dirty="0" err="1"/>
              <a:t>tinggi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α  &gt; 0.05.</a:t>
            </a:r>
            <a:endParaRPr dirty="0"/>
          </a:p>
        </p:txBody>
      </p:sp>
      <p:pic>
        <p:nvPicPr>
          <p:cNvPr id="1431" name="Google Shape;1431;p10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62767" y="2958837"/>
            <a:ext cx="3379503" cy="940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2" name="Google Shape;1432;p10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99235" y="4219310"/>
            <a:ext cx="322857" cy="3665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3" name="Google Shape;1433;p10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13285" y="4585828"/>
            <a:ext cx="333335" cy="331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p10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SzPct val="115226"/>
            </a:pPr>
            <a:r>
              <a:rPr lang="en-US" dirty="0">
                <a:ea typeface="Overlock"/>
                <a:sym typeface="Overlock"/>
              </a:rPr>
              <a:t>Cronbach’s Alpha Test</a:t>
            </a:r>
            <a:endParaRPr dirty="0">
              <a:ea typeface="Overlock"/>
              <a:sym typeface="Overlock"/>
            </a:endParaRPr>
          </a:p>
        </p:txBody>
      </p:sp>
      <p:sp>
        <p:nvSpPr>
          <p:cNvPr id="1439" name="Google Shape;1439;p108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 fontScale="85000" lnSpcReduction="10000"/>
          </a:bodyPr>
          <a:lstStyle/>
          <a:p>
            <a:pPr marL="609570" marR="50797" indent="-440245">
              <a:lnSpc>
                <a:spcPct val="128571"/>
              </a:lnSpc>
              <a:buClr>
                <a:srgbClr val="202124"/>
              </a:buClr>
              <a:buSzPts val="1600"/>
              <a:buFont typeface="Overlock"/>
              <a:buChar char="●"/>
            </a:pPr>
            <a:r>
              <a:rPr lang="en-US" sz="2133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Besarnya koefisien reliabilitas berhubungan langsung dengan skor standar deviasi yang diperoleh dari sampel data apa pun karena koefisien reliabilitas adalah koefisien korelasi.</a:t>
            </a:r>
            <a:endParaRPr sz="2133">
              <a:solidFill>
                <a:srgbClr val="202124"/>
              </a:solidFill>
              <a:highlight>
                <a:srgbClr val="F8F9FA"/>
              </a:highlight>
              <a:latin typeface="Overlock"/>
              <a:ea typeface="Overlock"/>
              <a:cs typeface="Overlock"/>
              <a:sym typeface="Overlock"/>
            </a:endParaRPr>
          </a:p>
          <a:p>
            <a:pPr marL="0" marR="50797" indent="0">
              <a:lnSpc>
                <a:spcPct val="128571"/>
              </a:lnSpc>
              <a:buSzPts val="1800"/>
            </a:pPr>
            <a:endParaRPr sz="2133">
              <a:solidFill>
                <a:srgbClr val="202124"/>
              </a:solidFill>
              <a:highlight>
                <a:srgbClr val="F8F9FA"/>
              </a:highlight>
              <a:latin typeface="Overlock"/>
              <a:ea typeface="Overlock"/>
              <a:cs typeface="Overlock"/>
              <a:sym typeface="Overlock"/>
            </a:endParaRPr>
          </a:p>
          <a:p>
            <a:pPr marL="0" marR="50797" indent="0">
              <a:lnSpc>
                <a:spcPct val="128571"/>
              </a:lnSpc>
              <a:buSzPts val="1800"/>
            </a:pPr>
            <a:endParaRPr sz="2133">
              <a:solidFill>
                <a:srgbClr val="202124"/>
              </a:solidFill>
              <a:highlight>
                <a:srgbClr val="F8F9FA"/>
              </a:highlight>
              <a:latin typeface="Overlock"/>
              <a:ea typeface="Overlock"/>
              <a:cs typeface="Overlock"/>
              <a:sym typeface="Overlock"/>
            </a:endParaRPr>
          </a:p>
          <a:p>
            <a:pPr marL="0" marR="50797" indent="0">
              <a:lnSpc>
                <a:spcPct val="128571"/>
              </a:lnSpc>
              <a:buSzPts val="1800"/>
            </a:pPr>
            <a:endParaRPr sz="2133">
              <a:solidFill>
                <a:srgbClr val="202124"/>
              </a:solidFill>
              <a:highlight>
                <a:srgbClr val="F8F9FA"/>
              </a:highlight>
              <a:latin typeface="Overlock"/>
              <a:ea typeface="Overlock"/>
              <a:cs typeface="Overlock"/>
              <a:sym typeface="Overlock"/>
            </a:endParaRPr>
          </a:p>
          <a:p>
            <a:pPr marL="0" marR="50797" indent="0">
              <a:lnSpc>
                <a:spcPct val="128571"/>
              </a:lnSpc>
              <a:buSzPts val="1800"/>
            </a:pPr>
            <a:endParaRPr sz="2133">
              <a:solidFill>
                <a:srgbClr val="202124"/>
              </a:solidFill>
              <a:highlight>
                <a:srgbClr val="F8F9FA"/>
              </a:highlight>
              <a:latin typeface="Overlock"/>
              <a:ea typeface="Overlock"/>
              <a:cs typeface="Overlock"/>
              <a:sym typeface="Overlock"/>
            </a:endParaRPr>
          </a:p>
          <a:p>
            <a:pPr marL="0" marR="50797" indent="0">
              <a:lnSpc>
                <a:spcPct val="128571"/>
              </a:lnSpc>
              <a:buSzPts val="1800"/>
            </a:pPr>
            <a:endParaRPr sz="2133">
              <a:solidFill>
                <a:srgbClr val="202124"/>
              </a:solidFill>
              <a:highlight>
                <a:srgbClr val="F8F9FA"/>
              </a:highlight>
              <a:latin typeface="Overlock"/>
              <a:ea typeface="Overlock"/>
              <a:cs typeface="Overlock"/>
              <a:sym typeface="Overlock"/>
            </a:endParaRPr>
          </a:p>
          <a:p>
            <a:pPr marL="609570" marR="50797" indent="0">
              <a:lnSpc>
                <a:spcPct val="128571"/>
              </a:lnSpc>
              <a:buSzPts val="1800"/>
            </a:pPr>
            <a:endParaRPr sz="2133">
              <a:solidFill>
                <a:srgbClr val="202124"/>
              </a:solidFill>
              <a:highlight>
                <a:srgbClr val="F8F9FA"/>
              </a:highlight>
              <a:latin typeface="Overlock"/>
              <a:ea typeface="Overlock"/>
              <a:cs typeface="Overlock"/>
              <a:sym typeface="Overlock"/>
            </a:endParaRPr>
          </a:p>
          <a:p>
            <a:pPr marL="609570" marR="50797" indent="0">
              <a:lnSpc>
                <a:spcPct val="128571"/>
              </a:lnSpc>
              <a:buSzPts val="1800"/>
            </a:pPr>
            <a:endParaRPr sz="2133">
              <a:solidFill>
                <a:srgbClr val="202124"/>
              </a:solidFill>
              <a:highlight>
                <a:srgbClr val="F8F9FA"/>
              </a:highlight>
              <a:latin typeface="Overlock"/>
              <a:ea typeface="Overlock"/>
              <a:cs typeface="Overlock"/>
              <a:sym typeface="Overlock"/>
            </a:endParaRPr>
          </a:p>
          <a:p>
            <a:pPr marL="609570" marR="50797" indent="-440245">
              <a:lnSpc>
                <a:spcPct val="128571"/>
              </a:lnSpc>
              <a:buClr>
                <a:srgbClr val="202124"/>
              </a:buClr>
              <a:buSzPts val="1600"/>
              <a:buFont typeface="Overlock"/>
              <a:buChar char="●"/>
            </a:pPr>
            <a:r>
              <a:rPr lang="en-US" sz="2133">
                <a:solidFill>
                  <a:srgbClr val="202124"/>
                </a:solidFill>
                <a:highlight>
                  <a:srgbClr val="F8F9FA"/>
                </a:highlight>
                <a:latin typeface="Overlock"/>
                <a:ea typeface="Overlock"/>
                <a:cs typeface="Overlock"/>
                <a:sym typeface="Overlock"/>
              </a:rPr>
              <a:t>Dapat dilihat bahwa semakin tinggi nilai Range dan Variance membuat nilai reliabilitas juga naik.</a:t>
            </a:r>
            <a:endParaRPr sz="2133">
              <a:latin typeface="Overlock"/>
              <a:ea typeface="Overlock"/>
              <a:cs typeface="Overlock"/>
              <a:sym typeface="Overlock"/>
            </a:endParaRPr>
          </a:p>
        </p:txBody>
      </p:sp>
      <p:pic>
        <p:nvPicPr>
          <p:cNvPr id="1440" name="Google Shape;1440;p10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93234" y="2690134"/>
            <a:ext cx="6647801" cy="2554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p10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SzPct val="115226"/>
            </a:pPr>
            <a:r>
              <a:rPr lang="en-US" dirty="0" err="1"/>
              <a:t>Keamanan</a:t>
            </a:r>
            <a:r>
              <a:rPr lang="en-US" dirty="0"/>
              <a:t> </a:t>
            </a:r>
            <a:r>
              <a:rPr lang="en-US" dirty="0" err="1"/>
              <a:t>Pelabelan</a:t>
            </a:r>
            <a:r>
              <a:rPr lang="en-US" dirty="0"/>
              <a:t> Data</a:t>
            </a:r>
            <a:endParaRPr dirty="0"/>
          </a:p>
        </p:txBody>
      </p:sp>
      <p:sp>
        <p:nvSpPr>
          <p:cNvPr id="1446" name="Google Shape;1446;p109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609570" indent="-434317">
              <a:lnSpc>
                <a:spcPct val="115000"/>
              </a:lnSpc>
              <a:buSzPct val="100000"/>
              <a:buChar char="●"/>
            </a:pPr>
            <a:r>
              <a:rPr lang="en-US" sz="2100" dirty="0"/>
              <a:t>What are the security risks of outsourcing data labeling?</a:t>
            </a:r>
            <a:endParaRPr sz="2100" dirty="0"/>
          </a:p>
          <a:p>
            <a:pPr marL="1219139" lvl="1" indent="-412730">
              <a:lnSpc>
                <a:spcPct val="115000"/>
              </a:lnSpc>
              <a:buSzPct val="100000"/>
              <a:buChar char="○"/>
            </a:pPr>
            <a:r>
              <a:rPr lang="en-US" sz="2100" dirty="0" err="1"/>
              <a:t>Mengakses</a:t>
            </a:r>
            <a:r>
              <a:rPr lang="en-US" sz="2100" dirty="0"/>
              <a:t> data </a:t>
            </a:r>
            <a:r>
              <a:rPr lang="en-US" sz="2100" dirty="0" err="1"/>
              <a:t>dari</a:t>
            </a:r>
            <a:r>
              <a:rPr lang="en-US" sz="2100" dirty="0"/>
              <a:t> </a:t>
            </a:r>
            <a:r>
              <a:rPr lang="en-US" sz="2100" dirty="0" err="1"/>
              <a:t>jaringan</a:t>
            </a:r>
            <a:r>
              <a:rPr lang="en-US" sz="2100" dirty="0"/>
              <a:t> yang </a:t>
            </a:r>
            <a:r>
              <a:rPr lang="en-US" sz="2100" dirty="0" err="1"/>
              <a:t>tidak</a:t>
            </a:r>
            <a:r>
              <a:rPr lang="en-US" sz="2100" dirty="0"/>
              <a:t> </a:t>
            </a:r>
            <a:r>
              <a:rPr lang="en-US" sz="2100" dirty="0" err="1"/>
              <a:t>aman</a:t>
            </a:r>
            <a:r>
              <a:rPr lang="en-US" sz="2100" dirty="0"/>
              <a:t> </a:t>
            </a:r>
            <a:r>
              <a:rPr lang="en-US" sz="2100" dirty="0" err="1"/>
              <a:t>atau</a:t>
            </a:r>
            <a:r>
              <a:rPr lang="en-US" sz="2100" dirty="0"/>
              <a:t> </a:t>
            </a:r>
            <a:r>
              <a:rPr lang="en-US" sz="2100" dirty="0" err="1"/>
              <a:t>menggunakan</a:t>
            </a:r>
            <a:r>
              <a:rPr lang="en-US" sz="2100" dirty="0"/>
              <a:t> </a:t>
            </a:r>
            <a:r>
              <a:rPr lang="en-US" sz="2100" dirty="0" err="1"/>
              <a:t>perangkat</a:t>
            </a:r>
            <a:r>
              <a:rPr lang="en-US" sz="2100" dirty="0"/>
              <a:t> </a:t>
            </a:r>
            <a:r>
              <a:rPr lang="en-US" sz="2100" dirty="0" err="1"/>
              <a:t>tanpa</a:t>
            </a:r>
            <a:r>
              <a:rPr lang="en-US" sz="2100" dirty="0"/>
              <a:t> </a:t>
            </a:r>
            <a:r>
              <a:rPr lang="en-US" sz="2100" dirty="0" err="1"/>
              <a:t>perlindungan</a:t>
            </a:r>
            <a:r>
              <a:rPr lang="en-US" sz="2100" dirty="0"/>
              <a:t> malware</a:t>
            </a:r>
            <a:endParaRPr sz="2100" dirty="0"/>
          </a:p>
          <a:p>
            <a:pPr marL="1219139" lvl="1" indent="-412730">
              <a:lnSpc>
                <a:spcPct val="115000"/>
              </a:lnSpc>
              <a:buSzPct val="100000"/>
              <a:buChar char="○"/>
            </a:pPr>
            <a:r>
              <a:rPr lang="en-US" sz="2100" dirty="0" err="1"/>
              <a:t>Mengunduh</a:t>
            </a:r>
            <a:r>
              <a:rPr lang="en-US" sz="2100" dirty="0"/>
              <a:t> </a:t>
            </a:r>
            <a:r>
              <a:rPr lang="en-US" sz="2100" dirty="0" err="1"/>
              <a:t>atau</a:t>
            </a:r>
            <a:r>
              <a:rPr lang="en-US" sz="2100" dirty="0"/>
              <a:t> </a:t>
            </a:r>
            <a:r>
              <a:rPr lang="en-US" sz="2100" dirty="0" err="1"/>
              <a:t>simpan</a:t>
            </a:r>
            <a:r>
              <a:rPr lang="en-US" sz="2100" dirty="0"/>
              <a:t> </a:t>
            </a:r>
            <a:r>
              <a:rPr lang="en-US" sz="2100" dirty="0" err="1"/>
              <a:t>sebagian</a:t>
            </a:r>
            <a:r>
              <a:rPr lang="en-US" sz="2100" dirty="0"/>
              <a:t> data (mis., screen capture, flash drive)</a:t>
            </a:r>
            <a:endParaRPr sz="2100" dirty="0"/>
          </a:p>
          <a:p>
            <a:pPr marL="1219139" lvl="1" indent="-412730">
              <a:lnSpc>
                <a:spcPct val="115000"/>
              </a:lnSpc>
              <a:buSzPct val="100000"/>
              <a:buChar char="○"/>
            </a:pPr>
            <a:r>
              <a:rPr lang="en-US" sz="2100" dirty="0" err="1"/>
              <a:t>Memberi</a:t>
            </a:r>
            <a:r>
              <a:rPr lang="en-US" sz="2100" dirty="0"/>
              <a:t> label data </a:t>
            </a:r>
            <a:r>
              <a:rPr lang="en-US" sz="2100" dirty="0" err="1"/>
              <a:t>saat</a:t>
            </a:r>
            <a:r>
              <a:rPr lang="en-US" sz="2100" dirty="0"/>
              <a:t> </a:t>
            </a:r>
            <a:r>
              <a:rPr lang="en-US" sz="2100" dirty="0" err="1"/>
              <a:t>berada</a:t>
            </a:r>
            <a:r>
              <a:rPr lang="en-US" sz="2100" dirty="0"/>
              <a:t> di </a:t>
            </a:r>
            <a:r>
              <a:rPr lang="en-US" sz="2100" dirty="0" err="1"/>
              <a:t>tempat</a:t>
            </a:r>
            <a:r>
              <a:rPr lang="en-US" sz="2100" dirty="0"/>
              <a:t> </a:t>
            </a:r>
            <a:r>
              <a:rPr lang="en-US" sz="2100" dirty="0" err="1"/>
              <a:t>umum</a:t>
            </a:r>
            <a:endParaRPr sz="2100" dirty="0"/>
          </a:p>
          <a:p>
            <a:pPr marL="1219139" lvl="1" indent="-412730">
              <a:lnSpc>
                <a:spcPct val="115000"/>
              </a:lnSpc>
              <a:buSzPct val="100000"/>
              <a:buChar char="○"/>
            </a:pPr>
            <a:r>
              <a:rPr lang="en-US" sz="2100" dirty="0"/>
              <a:t>Tidak </a:t>
            </a:r>
            <a:r>
              <a:rPr lang="en-US" sz="2100" dirty="0" err="1"/>
              <a:t>memiliki</a:t>
            </a:r>
            <a:r>
              <a:rPr lang="en-US" sz="2100" dirty="0"/>
              <a:t> </a:t>
            </a:r>
            <a:r>
              <a:rPr lang="en-US" sz="2100" dirty="0" err="1"/>
              <a:t>pelatihan</a:t>
            </a:r>
            <a:r>
              <a:rPr lang="en-US" sz="2100" dirty="0"/>
              <a:t>, </a:t>
            </a:r>
            <a:r>
              <a:rPr lang="en-US" sz="2100" dirty="0" err="1"/>
              <a:t>konteks</a:t>
            </a:r>
            <a:r>
              <a:rPr lang="en-US" sz="2100" dirty="0"/>
              <a:t>, </a:t>
            </a:r>
            <a:r>
              <a:rPr lang="en-US" sz="2100" dirty="0" err="1"/>
              <a:t>atau</a:t>
            </a:r>
            <a:r>
              <a:rPr lang="en-US" sz="2100" dirty="0"/>
              <a:t> </a:t>
            </a:r>
            <a:r>
              <a:rPr lang="en-US" sz="2100" dirty="0" err="1"/>
              <a:t>akuntabilitas</a:t>
            </a:r>
            <a:r>
              <a:rPr lang="en-US" sz="2100" dirty="0"/>
              <a:t> </a:t>
            </a:r>
            <a:r>
              <a:rPr lang="en-US" sz="2100" dirty="0" err="1"/>
              <a:t>terkait</a:t>
            </a:r>
            <a:r>
              <a:rPr lang="en-US" sz="2100" dirty="0"/>
              <a:t> </a:t>
            </a:r>
            <a:r>
              <a:rPr lang="en-US" sz="2100" dirty="0" err="1"/>
              <a:t>dengan</a:t>
            </a:r>
            <a:r>
              <a:rPr lang="en-US" sz="2100" dirty="0"/>
              <a:t> </a:t>
            </a:r>
            <a:r>
              <a:rPr lang="en-US" sz="2100" dirty="0" err="1"/>
              <a:t>aturan</a:t>
            </a:r>
            <a:r>
              <a:rPr lang="en-US" sz="2100" dirty="0"/>
              <a:t> </a:t>
            </a:r>
            <a:r>
              <a:rPr lang="en-US" sz="2100" dirty="0" err="1"/>
              <a:t>keamanan</a:t>
            </a:r>
            <a:r>
              <a:rPr lang="en-US" sz="2100" dirty="0"/>
              <a:t> </a:t>
            </a:r>
            <a:r>
              <a:rPr lang="en-US" sz="2100" dirty="0" err="1"/>
              <a:t>untuk</a:t>
            </a:r>
            <a:r>
              <a:rPr lang="en-US" sz="2100" dirty="0"/>
              <a:t> </a:t>
            </a:r>
            <a:r>
              <a:rPr lang="en-US" sz="2100" dirty="0" err="1"/>
              <a:t>pekerjaan</a:t>
            </a:r>
            <a:r>
              <a:rPr lang="en-US" sz="2100" dirty="0"/>
              <a:t> labeling</a:t>
            </a:r>
            <a:endParaRPr sz="2100" dirty="0"/>
          </a:p>
          <a:p>
            <a:pPr marL="1219139" lvl="1" indent="-412730">
              <a:lnSpc>
                <a:spcPct val="115000"/>
              </a:lnSpc>
              <a:buSzPct val="100000"/>
              <a:buChar char="○"/>
            </a:pPr>
            <a:r>
              <a:rPr lang="en-US" sz="2100" dirty="0" err="1"/>
              <a:t>Bekerja</a:t>
            </a:r>
            <a:r>
              <a:rPr lang="en-US" sz="2100" dirty="0"/>
              <a:t> di </a:t>
            </a:r>
            <a:r>
              <a:rPr lang="en-US" sz="2100" dirty="0" err="1"/>
              <a:t>lingkungan</a:t>
            </a:r>
            <a:r>
              <a:rPr lang="en-US" sz="2100" dirty="0"/>
              <a:t> </a:t>
            </a:r>
            <a:r>
              <a:rPr lang="en-US" sz="2100" dirty="0" err="1"/>
              <a:t>fisik</a:t>
            </a:r>
            <a:r>
              <a:rPr lang="en-US" sz="2100" dirty="0"/>
              <a:t> </a:t>
            </a:r>
            <a:r>
              <a:rPr lang="en-US" sz="2100" dirty="0" err="1"/>
              <a:t>atau</a:t>
            </a:r>
            <a:r>
              <a:rPr lang="en-US" sz="2100" dirty="0"/>
              <a:t> digital yang </a:t>
            </a:r>
            <a:r>
              <a:rPr lang="en-US" sz="2100" dirty="0" err="1"/>
              <a:t>tidak</a:t>
            </a:r>
            <a:r>
              <a:rPr lang="en-US" sz="2100" dirty="0"/>
              <a:t> </a:t>
            </a:r>
            <a:r>
              <a:rPr lang="en-US" sz="2100" dirty="0" err="1"/>
              <a:t>disertifikasi</a:t>
            </a:r>
            <a:r>
              <a:rPr lang="en-US" sz="2100" dirty="0"/>
              <a:t> </a:t>
            </a:r>
            <a:r>
              <a:rPr lang="en-US" sz="2100" dirty="0" err="1"/>
              <a:t>untuk</a:t>
            </a:r>
            <a:r>
              <a:rPr lang="en-US" sz="2100" dirty="0"/>
              <a:t> </a:t>
            </a:r>
            <a:r>
              <a:rPr lang="en-US" sz="2100" dirty="0" err="1"/>
              <a:t>mematuhi</a:t>
            </a:r>
            <a:r>
              <a:rPr lang="en-US" sz="2100" dirty="0"/>
              <a:t> </a:t>
            </a:r>
            <a:r>
              <a:rPr lang="en-US" sz="2100" dirty="0" err="1"/>
              <a:t>peraturan</a:t>
            </a:r>
            <a:r>
              <a:rPr lang="en-US" sz="2100" dirty="0"/>
              <a:t> data (mis., HIPAA, SOC 2).</a:t>
            </a:r>
            <a:endParaRPr sz="21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4">
          <a:extLst>
            <a:ext uri="{FF2B5EF4-FFF2-40B4-BE49-F238E27FC236}">
              <a16:creationId xmlns:a16="http://schemas.microsoft.com/office/drawing/2014/main" id="{DC777EFD-C3D1-AC0C-FE5F-90E0F3093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p109">
            <a:extLst>
              <a:ext uri="{FF2B5EF4-FFF2-40B4-BE49-F238E27FC236}">
                <a16:creationId xmlns:a16="http://schemas.microsoft.com/office/drawing/2014/main" id="{C4785CAD-CDA0-A137-8CA3-B57D2672D3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SzPct val="115226"/>
            </a:pPr>
            <a:r>
              <a:rPr lang="en-US" dirty="0" err="1"/>
              <a:t>Keamanan</a:t>
            </a:r>
            <a:r>
              <a:rPr lang="en-US" dirty="0"/>
              <a:t> </a:t>
            </a:r>
            <a:r>
              <a:rPr lang="en-US" dirty="0" err="1"/>
              <a:t>Pelabelan</a:t>
            </a:r>
            <a:r>
              <a:rPr lang="en-US" dirty="0"/>
              <a:t> Data</a:t>
            </a:r>
            <a:endParaRPr dirty="0"/>
          </a:p>
        </p:txBody>
      </p:sp>
      <p:sp>
        <p:nvSpPr>
          <p:cNvPr id="1446" name="Google Shape;1446;p109">
            <a:extLst>
              <a:ext uri="{FF2B5EF4-FFF2-40B4-BE49-F238E27FC236}">
                <a16:creationId xmlns:a16="http://schemas.microsoft.com/office/drawing/2014/main" id="{4FBADD67-25B7-D3A3-F409-6D58E2C8A3F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609570" indent="-434317">
              <a:lnSpc>
                <a:spcPct val="115000"/>
              </a:lnSpc>
              <a:buSzPct val="100000"/>
              <a:buChar char="●"/>
            </a:pPr>
            <a:r>
              <a:rPr lang="en-US" sz="2100" dirty="0"/>
              <a:t>Tiga area yang </a:t>
            </a:r>
            <a:r>
              <a:rPr lang="en-US" sz="2100" dirty="0" err="1"/>
              <a:t>perlu</a:t>
            </a:r>
            <a:r>
              <a:rPr lang="en-US" sz="2100" dirty="0"/>
              <a:t> </a:t>
            </a:r>
            <a:r>
              <a:rPr lang="en-US" sz="2100" dirty="0" err="1"/>
              <a:t>menjadi</a:t>
            </a:r>
            <a:r>
              <a:rPr lang="en-US" sz="2100" dirty="0"/>
              <a:t> </a:t>
            </a:r>
            <a:r>
              <a:rPr lang="en-US" sz="2100" dirty="0" err="1"/>
              <a:t>perhatian</a:t>
            </a:r>
            <a:r>
              <a:rPr lang="en-US" sz="2100" dirty="0"/>
              <a:t> </a:t>
            </a:r>
            <a:r>
              <a:rPr lang="en-US" sz="2100" dirty="0" err="1"/>
              <a:t>untuk</a:t>
            </a:r>
            <a:r>
              <a:rPr lang="en-US" sz="2100" dirty="0"/>
              <a:t> </a:t>
            </a:r>
            <a:r>
              <a:rPr lang="en-US" sz="2100" dirty="0" err="1"/>
              <a:t>menjaga</a:t>
            </a:r>
            <a:r>
              <a:rPr lang="en-US" sz="2100" dirty="0"/>
              <a:t> </a:t>
            </a:r>
            <a:r>
              <a:rPr lang="en-US" sz="2100" dirty="0" err="1"/>
              <a:t>keamanan</a:t>
            </a:r>
            <a:r>
              <a:rPr lang="en-US" sz="2100" dirty="0"/>
              <a:t> </a:t>
            </a:r>
            <a:r>
              <a:rPr lang="en-US" sz="2100" dirty="0" err="1"/>
              <a:t>dokumen</a:t>
            </a:r>
            <a:endParaRPr sz="2100" dirty="0"/>
          </a:p>
          <a:p>
            <a:pPr marL="1219139" lvl="1" indent="-412730">
              <a:lnSpc>
                <a:spcPct val="115000"/>
              </a:lnSpc>
              <a:buSzPct val="100000"/>
              <a:buChar char="○"/>
            </a:pPr>
            <a:r>
              <a:rPr lang="en-US" sz="2100" b="1" dirty="0"/>
              <a:t>Orang dan Tenaga </a:t>
            </a:r>
            <a:r>
              <a:rPr lang="en-US" sz="2100" b="1" dirty="0" err="1"/>
              <a:t>Kerja</a:t>
            </a:r>
            <a:r>
              <a:rPr lang="en-US" sz="2100" b="1" dirty="0"/>
              <a:t>:</a:t>
            </a:r>
            <a:r>
              <a:rPr lang="en-US" sz="2100" dirty="0"/>
              <a:t> Ini </a:t>
            </a:r>
            <a:r>
              <a:rPr lang="en-US" sz="2100" dirty="0" err="1"/>
              <a:t>dapat</a:t>
            </a:r>
            <a:r>
              <a:rPr lang="en-US" sz="2100" dirty="0"/>
              <a:t> </a:t>
            </a:r>
            <a:r>
              <a:rPr lang="en-US" sz="2100" dirty="0" err="1"/>
              <a:t>mencakup</a:t>
            </a:r>
            <a:r>
              <a:rPr lang="en-US" sz="2100" dirty="0"/>
              <a:t> </a:t>
            </a:r>
            <a:r>
              <a:rPr lang="en-US" sz="2100" dirty="0" err="1"/>
              <a:t>pemeriksaan</a:t>
            </a:r>
            <a:r>
              <a:rPr lang="en-US" sz="2100" dirty="0"/>
              <a:t> </a:t>
            </a:r>
            <a:r>
              <a:rPr lang="en-US" sz="2100" dirty="0" err="1"/>
              <a:t>latar</a:t>
            </a:r>
            <a:r>
              <a:rPr lang="en-US" sz="2100" dirty="0"/>
              <a:t> </a:t>
            </a:r>
            <a:r>
              <a:rPr lang="en-US" sz="2100" dirty="0" err="1"/>
              <a:t>belakang</a:t>
            </a:r>
            <a:r>
              <a:rPr lang="en-US" sz="2100" dirty="0"/>
              <a:t> </a:t>
            </a:r>
            <a:r>
              <a:rPr lang="en-US" sz="2100" dirty="0" err="1"/>
              <a:t>untuk</a:t>
            </a:r>
            <a:r>
              <a:rPr lang="en-US" sz="2100" dirty="0"/>
              <a:t> </a:t>
            </a:r>
            <a:r>
              <a:rPr lang="en-US" sz="2100" dirty="0" err="1"/>
              <a:t>pekerja</a:t>
            </a:r>
            <a:r>
              <a:rPr lang="en-US" sz="2100" dirty="0"/>
              <a:t> dan </a:t>
            </a:r>
            <a:r>
              <a:rPr lang="en-US" sz="2100" dirty="0" err="1"/>
              <a:t>mungkin</a:t>
            </a:r>
            <a:r>
              <a:rPr lang="en-US" sz="2100" dirty="0"/>
              <a:t> </a:t>
            </a:r>
            <a:r>
              <a:rPr lang="en-US" sz="2100" dirty="0" err="1"/>
              <a:t>mengharuskan</a:t>
            </a:r>
            <a:r>
              <a:rPr lang="en-US" sz="2100" dirty="0"/>
              <a:t> </a:t>
            </a:r>
            <a:r>
              <a:rPr lang="en-US" sz="2100" dirty="0" err="1"/>
              <a:t>pemberi</a:t>
            </a:r>
            <a:r>
              <a:rPr lang="en-US" sz="2100" dirty="0"/>
              <a:t> label </a:t>
            </a:r>
            <a:r>
              <a:rPr lang="en-US" sz="2100" dirty="0" err="1"/>
              <a:t>untuk</a:t>
            </a:r>
            <a:r>
              <a:rPr lang="en-US" sz="2100" dirty="0"/>
              <a:t> </a:t>
            </a:r>
            <a:r>
              <a:rPr lang="en-US" sz="2100" dirty="0" err="1"/>
              <a:t>menandatangani</a:t>
            </a:r>
            <a:r>
              <a:rPr lang="en-US" sz="2100" dirty="0"/>
              <a:t> </a:t>
            </a:r>
            <a:r>
              <a:rPr lang="en-US" sz="2100" dirty="0" err="1"/>
              <a:t>perjanjian</a:t>
            </a:r>
            <a:r>
              <a:rPr lang="en-US" sz="2100" dirty="0"/>
              <a:t> </a:t>
            </a:r>
            <a:r>
              <a:rPr lang="en-US" sz="2100" dirty="0" err="1"/>
              <a:t>kerahasiaan</a:t>
            </a:r>
            <a:r>
              <a:rPr lang="en-US" sz="2100" dirty="0"/>
              <a:t> (NDA) </a:t>
            </a:r>
            <a:r>
              <a:rPr lang="en-US" sz="2100" dirty="0" err="1"/>
              <a:t>atau</a:t>
            </a:r>
            <a:r>
              <a:rPr lang="en-US" sz="2100" dirty="0"/>
              <a:t> </a:t>
            </a:r>
            <a:r>
              <a:rPr lang="en-US" sz="2100" dirty="0" err="1"/>
              <a:t>dokumen</a:t>
            </a:r>
            <a:r>
              <a:rPr lang="en-US" sz="2100" dirty="0"/>
              <a:t> </a:t>
            </a:r>
            <a:r>
              <a:rPr lang="en-US" sz="2100" dirty="0" err="1"/>
              <a:t>serupa</a:t>
            </a:r>
            <a:r>
              <a:rPr lang="en-US" sz="2100" dirty="0"/>
              <a:t> yang </a:t>
            </a:r>
            <a:r>
              <a:rPr lang="en-US" sz="2100" dirty="0" err="1"/>
              <a:t>menguraikan</a:t>
            </a:r>
            <a:r>
              <a:rPr lang="en-US" sz="2100" dirty="0"/>
              <a:t> </a:t>
            </a:r>
            <a:r>
              <a:rPr lang="en-US" sz="2100" dirty="0" err="1"/>
              <a:t>persyaratan</a:t>
            </a:r>
            <a:r>
              <a:rPr lang="en-US" sz="2100" dirty="0"/>
              <a:t> </a:t>
            </a:r>
            <a:r>
              <a:rPr lang="en-US" sz="2100" dirty="0" err="1"/>
              <a:t>keamanan</a:t>
            </a:r>
            <a:r>
              <a:rPr lang="en-US" sz="2100" dirty="0"/>
              <a:t> data.</a:t>
            </a:r>
            <a:endParaRPr sz="2100" dirty="0"/>
          </a:p>
          <a:p>
            <a:pPr marL="1219139" lvl="1" indent="-412730">
              <a:lnSpc>
                <a:spcPct val="115000"/>
              </a:lnSpc>
              <a:buSzPct val="100000"/>
              <a:buChar char="○"/>
            </a:pPr>
            <a:r>
              <a:rPr lang="en-US" sz="2100" b="1" dirty="0" err="1"/>
              <a:t>Teknologi</a:t>
            </a:r>
            <a:r>
              <a:rPr lang="en-US" sz="2100" b="1" dirty="0"/>
              <a:t> dan </a:t>
            </a:r>
            <a:r>
              <a:rPr lang="en-US" sz="2100" b="1" dirty="0" err="1"/>
              <a:t>Jaringan</a:t>
            </a:r>
            <a:r>
              <a:rPr lang="en-US" sz="2100" b="1" dirty="0"/>
              <a:t>:</a:t>
            </a:r>
            <a:r>
              <a:rPr lang="en-US" sz="2100" dirty="0"/>
              <a:t> </a:t>
            </a:r>
            <a:r>
              <a:rPr lang="en-US" sz="2100" dirty="0" err="1"/>
              <a:t>Pekerja</a:t>
            </a:r>
            <a:r>
              <a:rPr lang="en-US" sz="2100" dirty="0"/>
              <a:t> </a:t>
            </a:r>
            <a:r>
              <a:rPr lang="en-US" sz="2100" dirty="0" err="1"/>
              <a:t>mungkin</a:t>
            </a:r>
            <a:r>
              <a:rPr lang="en-US" sz="2100" dirty="0"/>
              <a:t> </a:t>
            </a:r>
            <a:r>
              <a:rPr lang="en-US" sz="2100" dirty="0" err="1"/>
              <a:t>diminta</a:t>
            </a:r>
            <a:r>
              <a:rPr lang="en-US" sz="2100" dirty="0"/>
              <a:t> </a:t>
            </a:r>
            <a:r>
              <a:rPr lang="en-US" sz="2100" dirty="0" err="1"/>
              <a:t>untuk</a:t>
            </a:r>
            <a:r>
              <a:rPr lang="en-US" sz="2100" dirty="0"/>
              <a:t> </a:t>
            </a:r>
            <a:r>
              <a:rPr lang="en-US" sz="2100" dirty="0" err="1"/>
              <a:t>menyerahkan</a:t>
            </a:r>
            <a:r>
              <a:rPr lang="en-US" sz="2100" dirty="0"/>
              <a:t> </a:t>
            </a:r>
            <a:r>
              <a:rPr lang="en-US" sz="2100" dirty="0" err="1"/>
              <a:t>perangkat</a:t>
            </a:r>
            <a:r>
              <a:rPr lang="en-US" sz="2100" dirty="0"/>
              <a:t> yang </a:t>
            </a:r>
            <a:r>
              <a:rPr lang="en-US" sz="2100" dirty="0" err="1"/>
              <a:t>mereka</a:t>
            </a:r>
            <a:r>
              <a:rPr lang="en-US" sz="2100" dirty="0"/>
              <a:t> </a:t>
            </a:r>
            <a:r>
              <a:rPr lang="en-US" sz="2100" dirty="0" err="1"/>
              <a:t>bawa</a:t>
            </a:r>
            <a:r>
              <a:rPr lang="en-US" sz="2100" dirty="0"/>
              <a:t> </a:t>
            </a:r>
            <a:r>
              <a:rPr lang="en-US" sz="2100" dirty="0" err="1"/>
              <a:t>ke</a:t>
            </a:r>
            <a:r>
              <a:rPr lang="en-US" sz="2100" dirty="0"/>
              <a:t> </a:t>
            </a:r>
            <a:r>
              <a:rPr lang="en-US" sz="2100" dirty="0" err="1"/>
              <a:t>tempat</a:t>
            </a:r>
            <a:r>
              <a:rPr lang="en-US" sz="2100" dirty="0"/>
              <a:t> </a:t>
            </a:r>
            <a:r>
              <a:rPr lang="en-US" sz="2100" dirty="0" err="1"/>
              <a:t>kerja</a:t>
            </a:r>
            <a:r>
              <a:rPr lang="en-US" sz="2100" dirty="0"/>
              <a:t>, </a:t>
            </a:r>
            <a:r>
              <a:rPr lang="en-US" sz="2100" dirty="0" err="1"/>
              <a:t>seperti</a:t>
            </a:r>
            <a:r>
              <a:rPr lang="en-US" sz="2100" dirty="0"/>
              <a:t> </a:t>
            </a:r>
            <a:r>
              <a:rPr lang="en-US" sz="2100" dirty="0" err="1"/>
              <a:t>ponsel</a:t>
            </a:r>
            <a:r>
              <a:rPr lang="en-US" sz="2100" dirty="0"/>
              <a:t> </a:t>
            </a:r>
            <a:r>
              <a:rPr lang="en-US" sz="2100" dirty="0" err="1"/>
              <a:t>atau</a:t>
            </a:r>
            <a:r>
              <a:rPr lang="en-US" sz="2100" dirty="0"/>
              <a:t> tablet.</a:t>
            </a:r>
            <a:endParaRPr sz="2100" dirty="0"/>
          </a:p>
          <a:p>
            <a:pPr marL="1219139" lvl="1" indent="-412730">
              <a:lnSpc>
                <a:spcPct val="115000"/>
              </a:lnSpc>
              <a:buSzPct val="100000"/>
              <a:buChar char="○"/>
            </a:pPr>
            <a:r>
              <a:rPr lang="en-US" sz="2100" b="1" dirty="0" err="1"/>
              <a:t>Fasilitas</a:t>
            </a:r>
            <a:r>
              <a:rPr lang="en-US" sz="2100" b="1" dirty="0"/>
              <a:t> dan Ruang </a:t>
            </a:r>
            <a:r>
              <a:rPr lang="en-US" sz="2100" b="1" dirty="0" err="1"/>
              <a:t>Kerja</a:t>
            </a:r>
            <a:r>
              <a:rPr lang="en-US" sz="2100" b="1" dirty="0"/>
              <a:t>:</a:t>
            </a:r>
            <a:r>
              <a:rPr lang="en-US" sz="2100" dirty="0"/>
              <a:t> </a:t>
            </a:r>
            <a:r>
              <a:rPr lang="en-US" sz="2100" dirty="0" err="1"/>
              <a:t>Pekerja</a:t>
            </a:r>
            <a:r>
              <a:rPr lang="en-US" sz="2100" dirty="0"/>
              <a:t> </a:t>
            </a:r>
            <a:r>
              <a:rPr lang="en-US" sz="2100" dirty="0" err="1"/>
              <a:t>dapat</a:t>
            </a:r>
            <a:r>
              <a:rPr lang="en-US" sz="2100" dirty="0"/>
              <a:t> duduk di </a:t>
            </a:r>
            <a:r>
              <a:rPr lang="en-US" sz="2100" dirty="0" err="1"/>
              <a:t>tempat</a:t>
            </a:r>
            <a:r>
              <a:rPr lang="en-US" sz="2100" dirty="0"/>
              <a:t> yang </a:t>
            </a:r>
            <a:r>
              <a:rPr lang="en-US" sz="2100" dirty="0" err="1"/>
              <a:t>menghalangi</a:t>
            </a:r>
            <a:r>
              <a:rPr lang="en-US" sz="2100" dirty="0"/>
              <a:t> orang lain </a:t>
            </a:r>
            <a:r>
              <a:rPr lang="en-US" sz="2100" dirty="0" err="1"/>
              <a:t>untuk</a:t>
            </a:r>
            <a:r>
              <a:rPr lang="en-US" sz="2100" dirty="0"/>
              <a:t> </a:t>
            </a:r>
            <a:r>
              <a:rPr lang="en-US" sz="2100" dirty="0" err="1"/>
              <a:t>melihat</a:t>
            </a:r>
            <a:r>
              <a:rPr lang="en-US" sz="2100" dirty="0"/>
              <a:t> </a:t>
            </a:r>
            <a:r>
              <a:rPr lang="en-US" sz="2100" dirty="0" err="1"/>
              <a:t>pekerjaan</a:t>
            </a:r>
            <a:r>
              <a:rPr lang="en-US" sz="2100" dirty="0"/>
              <a:t> </a:t>
            </a:r>
            <a:r>
              <a:rPr lang="en-US" sz="2100" dirty="0" err="1"/>
              <a:t>mereka</a:t>
            </a:r>
            <a:r>
              <a:rPr lang="en-US" sz="2100" dirty="0"/>
              <a:t>.</a:t>
            </a:r>
            <a:endParaRPr sz="2100" dirty="0"/>
          </a:p>
        </p:txBody>
      </p:sp>
    </p:spTree>
    <p:extLst>
      <p:ext uri="{BB962C8B-B14F-4D97-AF65-F5344CB8AC3E}">
        <p14:creationId xmlns:p14="http://schemas.microsoft.com/office/powerpoint/2010/main" val="282804529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p1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rgbClr val="0F3570"/>
              </a:buClr>
              <a:buSzPct val="111111"/>
            </a:pPr>
            <a:r>
              <a:rPr lang="en-US" sz="3733" b="1" dirty="0">
                <a:solidFill>
                  <a:srgbClr val="0F3570"/>
                </a:solidFill>
                <a:ea typeface="Overlock"/>
                <a:sym typeface="Overlock"/>
              </a:rPr>
              <a:t>Summary</a:t>
            </a:r>
            <a:endParaRPr dirty="0"/>
          </a:p>
        </p:txBody>
      </p:sp>
      <p:sp>
        <p:nvSpPr>
          <p:cNvPr id="1452" name="Google Shape;1452;p110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 fontScale="70000" lnSpcReduction="20000"/>
          </a:bodyPr>
          <a:lstStyle/>
          <a:p>
            <a:pPr marL="609570" indent="-457177">
              <a:lnSpc>
                <a:spcPct val="115000"/>
              </a:lnSpc>
              <a:buSzPct val="110599"/>
              <a:buChar char="●"/>
            </a:pPr>
            <a:r>
              <a:rPr lang="en-US" dirty="0" err="1"/>
              <a:t>Transformasi</a:t>
            </a:r>
            <a:r>
              <a:rPr lang="en-US" dirty="0"/>
              <a:t> Data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Data Preparation</a:t>
            </a:r>
            <a:endParaRPr dirty="0"/>
          </a:p>
          <a:p>
            <a:pPr marL="609570" indent="-457177">
              <a:lnSpc>
                <a:spcPct val="115000"/>
              </a:lnSpc>
              <a:buSzPct val="110599"/>
              <a:buChar char="●"/>
            </a:pPr>
            <a:r>
              <a:rPr lang="en-US" dirty="0" err="1"/>
              <a:t>Membutuhkan</a:t>
            </a:r>
            <a:r>
              <a:rPr lang="en-US" dirty="0"/>
              <a:t> </a:t>
            </a:r>
            <a:r>
              <a:rPr lang="en-US" dirty="0" err="1"/>
              <a:t>pengetahuan</a:t>
            </a:r>
            <a:r>
              <a:rPr lang="en-US" dirty="0"/>
              <a:t> </a:t>
            </a:r>
            <a:r>
              <a:rPr lang="en-US" dirty="0" err="1"/>
              <a:t>dasar</a:t>
            </a:r>
            <a:r>
              <a:rPr lang="en-US" dirty="0"/>
              <a:t> dan detail </a:t>
            </a:r>
            <a:r>
              <a:rPr lang="en-US" dirty="0" err="1"/>
              <a:t>serta</a:t>
            </a:r>
            <a:r>
              <a:rPr lang="en-US" dirty="0"/>
              <a:t> </a:t>
            </a:r>
            <a:r>
              <a:rPr lang="en-US" dirty="0" err="1"/>
              <a:t>waktu</a:t>
            </a:r>
            <a:r>
              <a:rPr lang="en-US" dirty="0"/>
              <a:t> yang </a:t>
            </a:r>
            <a:r>
              <a:rPr lang="en-US" dirty="0" err="1"/>
              <a:t>mayoritas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menjamin</a:t>
            </a:r>
            <a:r>
              <a:rPr lang="en-US" dirty="0"/>
              <a:t> data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dianalisis</a:t>
            </a:r>
            <a:r>
              <a:rPr lang="en-US" dirty="0"/>
              <a:t> </a:t>
            </a:r>
            <a:r>
              <a:rPr lang="en-US" dirty="0" err="1"/>
              <a:t>sebersih</a:t>
            </a:r>
            <a:r>
              <a:rPr lang="en-US" dirty="0"/>
              <a:t> </a:t>
            </a:r>
            <a:r>
              <a:rPr lang="en-US" dirty="0" err="1"/>
              <a:t>mungkin</a:t>
            </a:r>
            <a:endParaRPr dirty="0"/>
          </a:p>
          <a:p>
            <a:pPr marL="609570" indent="-457177">
              <a:lnSpc>
                <a:spcPct val="115000"/>
              </a:lnSpc>
              <a:buSzPct val="110599"/>
              <a:buChar char="●"/>
            </a:pPr>
            <a:r>
              <a:rPr lang="en-US" dirty="0" err="1"/>
              <a:t>Transformasi</a:t>
            </a:r>
            <a:r>
              <a:rPr lang="en-US" dirty="0"/>
              <a:t> data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/>
              <a:t>teknik</a:t>
            </a:r>
            <a:r>
              <a:rPr lang="en-US" dirty="0"/>
              <a:t> </a:t>
            </a:r>
            <a:r>
              <a:rPr lang="en-US" dirty="0" err="1"/>
              <a:t>rekayasa</a:t>
            </a:r>
            <a:r>
              <a:rPr lang="en-US" dirty="0"/>
              <a:t> </a:t>
            </a:r>
            <a:r>
              <a:rPr lang="en-US" dirty="0" err="1"/>
              <a:t>fitur</a:t>
            </a:r>
            <a:r>
              <a:rPr lang="en-US" dirty="0"/>
              <a:t> (feature engineering)</a:t>
            </a:r>
            <a:endParaRPr dirty="0"/>
          </a:p>
          <a:p>
            <a:pPr marL="609570" indent="-457177">
              <a:lnSpc>
                <a:spcPct val="115000"/>
              </a:lnSpc>
              <a:buSzPct val="110599"/>
              <a:buChar char="●"/>
            </a:pPr>
            <a:r>
              <a:rPr lang="en-US" dirty="0" err="1"/>
              <a:t>Normalisasi</a:t>
            </a:r>
            <a:r>
              <a:rPr lang="en-US" dirty="0"/>
              <a:t>, </a:t>
            </a:r>
            <a:r>
              <a:rPr lang="en-US" dirty="0" err="1"/>
              <a:t>Standardisasi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proses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tahapan</a:t>
            </a:r>
            <a:r>
              <a:rPr lang="en-US" dirty="0"/>
              <a:t> yang </a:t>
            </a:r>
            <a:r>
              <a:rPr lang="en-US" dirty="0" err="1"/>
              <a:t>diperlukan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mentransformasi</a:t>
            </a:r>
            <a:r>
              <a:rPr lang="en-US" dirty="0"/>
              <a:t> data</a:t>
            </a:r>
            <a:endParaRPr dirty="0"/>
          </a:p>
          <a:p>
            <a:pPr marL="609570" indent="-457177">
              <a:lnSpc>
                <a:spcPct val="115000"/>
              </a:lnSpc>
              <a:buSzPct val="110599"/>
              <a:buChar char="●"/>
            </a:pPr>
            <a:r>
              <a:rPr lang="en-US" dirty="0"/>
              <a:t>Selain data </a:t>
            </a:r>
            <a:r>
              <a:rPr lang="en-US" dirty="0" err="1"/>
              <a:t>terstruktur</a:t>
            </a:r>
            <a:r>
              <a:rPr lang="en-US" dirty="0"/>
              <a:t>, </a:t>
            </a:r>
            <a:r>
              <a:rPr lang="en-US" dirty="0" err="1"/>
              <a:t>transformasi</a:t>
            </a:r>
            <a:r>
              <a:rPr lang="en-US" dirty="0"/>
              <a:t> data juga </a:t>
            </a:r>
            <a:r>
              <a:rPr lang="en-US" dirty="0" err="1"/>
              <a:t>krusial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data yang semi </a:t>
            </a:r>
            <a:r>
              <a:rPr lang="en-US" dirty="0" err="1"/>
              <a:t>terstruktur</a:t>
            </a:r>
            <a:r>
              <a:rPr lang="en-US" dirty="0"/>
              <a:t> dan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terstruktur</a:t>
            </a:r>
            <a:r>
              <a:rPr lang="en-US" dirty="0"/>
              <a:t> (unstructured)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teks</a:t>
            </a:r>
            <a:r>
              <a:rPr lang="en-US" dirty="0"/>
              <a:t>, image, audio dan video</a:t>
            </a:r>
            <a:endParaRPr dirty="0"/>
          </a:p>
          <a:p>
            <a:pPr marL="609570" indent="-457177">
              <a:lnSpc>
                <a:spcPct val="115000"/>
              </a:lnSpc>
              <a:buSzPct val="110599"/>
              <a:buChar char="●"/>
            </a:pPr>
            <a:r>
              <a:rPr lang="en-US" dirty="0" err="1"/>
              <a:t>Dokumentasi</a:t>
            </a:r>
            <a:r>
              <a:rPr lang="en-US" dirty="0"/>
              <a:t> juga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proses </a:t>
            </a:r>
            <a:r>
              <a:rPr lang="en-US" dirty="0" err="1"/>
              <a:t>transformasi</a:t>
            </a:r>
            <a:r>
              <a:rPr lang="en-US" dirty="0"/>
              <a:t> data, </a:t>
            </a:r>
            <a:r>
              <a:rPr lang="en-US" dirty="0" err="1"/>
              <a:t>seleksi</a:t>
            </a:r>
            <a:r>
              <a:rPr lang="en-US" dirty="0"/>
              <a:t> </a:t>
            </a:r>
            <a:r>
              <a:rPr lang="en-US" dirty="0" err="1"/>
              <a:t>fitur</a:t>
            </a:r>
            <a:r>
              <a:rPr lang="en-US" dirty="0"/>
              <a:t> </a:t>
            </a:r>
            <a:r>
              <a:rPr lang="en-US" dirty="0" err="1"/>
              <a:t>maupun</a:t>
            </a:r>
            <a:r>
              <a:rPr lang="en-US" dirty="0"/>
              <a:t> </a:t>
            </a:r>
            <a:r>
              <a:rPr lang="en-US" dirty="0" err="1"/>
              <a:t>pelabelan</a:t>
            </a:r>
            <a:r>
              <a:rPr lang="en-US" dirty="0"/>
              <a:t> data</a:t>
            </a:r>
            <a:endParaRPr dirty="0"/>
          </a:p>
          <a:p>
            <a:pPr marL="609570" indent="-457177">
              <a:lnSpc>
                <a:spcPct val="115000"/>
              </a:lnSpc>
              <a:buSzPct val="110599"/>
              <a:buChar char="●"/>
            </a:pPr>
            <a:r>
              <a:rPr lang="en-US" dirty="0" err="1"/>
              <a:t>Pelabelan</a:t>
            </a:r>
            <a:r>
              <a:rPr lang="en-US" dirty="0"/>
              <a:t> </a:t>
            </a:r>
            <a:r>
              <a:rPr lang="en-US" dirty="0" err="1"/>
              <a:t>bergantung</a:t>
            </a:r>
            <a:r>
              <a:rPr lang="en-US" dirty="0"/>
              <a:t> pada </a:t>
            </a:r>
            <a:r>
              <a:rPr lang="en-US" dirty="0" err="1"/>
              <a:t>pernyataan</a:t>
            </a:r>
            <a:r>
              <a:rPr lang="en-US" dirty="0"/>
              <a:t> </a:t>
            </a:r>
            <a:r>
              <a:rPr lang="en-US" dirty="0" err="1"/>
              <a:t>masalah</a:t>
            </a:r>
            <a:r>
              <a:rPr lang="en-US" dirty="0"/>
              <a:t>, </a:t>
            </a:r>
            <a:r>
              <a:rPr lang="en-US" dirty="0" err="1"/>
              <a:t>kerangka</a:t>
            </a:r>
            <a:r>
              <a:rPr lang="en-US" dirty="0"/>
              <a:t> </a:t>
            </a:r>
            <a:r>
              <a:rPr lang="en-US" dirty="0" err="1"/>
              <a:t>waktu</a:t>
            </a:r>
            <a:r>
              <a:rPr lang="en-US" dirty="0"/>
              <a:t> </a:t>
            </a:r>
            <a:r>
              <a:rPr lang="en-US" dirty="0" err="1"/>
              <a:t>proyek</a:t>
            </a:r>
            <a:r>
              <a:rPr lang="en-US" dirty="0"/>
              <a:t>, dan </a:t>
            </a:r>
            <a:r>
              <a:rPr lang="en-US" dirty="0" err="1"/>
              <a:t>jumlah</a:t>
            </a:r>
            <a:r>
              <a:rPr lang="en-US" dirty="0"/>
              <a:t> orang yang </a:t>
            </a:r>
            <a:r>
              <a:rPr lang="en-US" dirty="0" err="1"/>
              <a:t>terkait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pekerjaan</a:t>
            </a:r>
            <a:endParaRPr dirty="0"/>
          </a:p>
        </p:txBody>
      </p:sp>
      <p:sp>
        <p:nvSpPr>
          <p:cNvPr id="1453" name="Google Shape;1453;p110"/>
          <p:cNvSpPr txBox="1">
            <a:spLocks noGrp="1"/>
          </p:cNvSpPr>
          <p:nvPr>
            <p:ph type="sldNum" idx="4294967295"/>
          </p:nvPr>
        </p:nvSpPr>
        <p:spPr>
          <a:xfrm>
            <a:off x="11461750" y="6215063"/>
            <a:ext cx="730250" cy="52228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pPr>
              <a:buClr>
                <a:srgbClr val="000000"/>
              </a:buClr>
              <a:buSzPts val="1000"/>
            </a:pPr>
            <a:fld id="{00000000-1234-1234-1234-123412341234}" type="slidenum">
              <a:rPr lang="en-US"/>
              <a:pPr>
                <a:buClr>
                  <a:srgbClr val="000000"/>
                </a:buClr>
                <a:buSzPts val="1000"/>
              </a:pPr>
              <a:t>90</a:t>
            </a:fld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42"/>
          <p:cNvSpPr txBox="1"/>
          <p:nvPr/>
        </p:nvSpPr>
        <p:spPr>
          <a:xfrm>
            <a:off x="416620" y="1152150"/>
            <a:ext cx="11356500" cy="45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50" tIns="121850" rIns="121850" bIns="121850" anchor="t" anchorCtr="0">
            <a:noAutofit/>
          </a:bodyPr>
          <a:lstStyle/>
          <a:p>
            <a:pPr marL="378760" marR="0" lvl="0" indent="-37241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00"/>
              <a:buFont typeface="Arial"/>
              <a:buChar char="•"/>
            </a:pPr>
            <a:r>
              <a:rPr lang="en-US" sz="2299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Krensky P. Data </a:t>
            </a:r>
            <a:r>
              <a:rPr lang="en-US" sz="2299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PreTools</a:t>
            </a:r>
            <a:r>
              <a:rPr lang="en-US" sz="2299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: Goals, Benefits, and The Advantage of Hadoop. Aberdeen Group Report. July 2015</a:t>
            </a:r>
            <a:endParaRPr sz="2299" b="0" i="0" u="none" strike="noStrike" cap="none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378760" marR="0" lvl="0" indent="-37241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00"/>
              <a:buFont typeface="Arial"/>
              <a:buChar char="•"/>
            </a:pPr>
            <a:r>
              <a:rPr lang="en-US" sz="2299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SAS. Data Preparation Challenges Facing Every Enterprise. </a:t>
            </a:r>
            <a:r>
              <a:rPr lang="en-US" sz="2299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ebook</a:t>
            </a:r>
            <a:r>
              <a:rPr lang="en-US" sz="2299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. December 2017</a:t>
            </a:r>
            <a:endParaRPr sz="2299" b="0" i="0" u="none" strike="noStrike" cap="none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378760" marR="0" lvl="0" indent="-37241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00"/>
              <a:buFont typeface="Arial"/>
              <a:buChar char="•"/>
            </a:pPr>
            <a:r>
              <a:rPr lang="en-US" sz="2299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https://www.forbes.com/sites/gilpress/2016/03/23/data-preparation-most-time-consuming-least-enjoyable-data-science-task-survey-says/?sh=6e9aa0e36f63</a:t>
            </a:r>
            <a:endParaRPr sz="2299" b="0" i="0" u="none" strike="noStrike" cap="none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378760" marR="0" lvl="0" indent="-37241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00"/>
              <a:buFont typeface="Arial"/>
              <a:buChar char="•"/>
            </a:pPr>
            <a:r>
              <a:rPr lang="en-US" sz="2299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https://improvado.io/blog/what-is-data-preparation</a:t>
            </a:r>
            <a:endParaRPr sz="2299" b="0" i="0" u="none" strike="noStrike" cap="none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378760" marR="0" lvl="0" indent="-37241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00"/>
              <a:buFont typeface="Arial"/>
              <a:buChar char="•"/>
            </a:pPr>
            <a:r>
              <a:rPr lang="en-US" sz="2299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https://searchenterpriseai.techtarget.com/feature/Data-preparation-for-machine-learning-still-requires-humans?</a:t>
            </a:r>
            <a:endParaRPr sz="2299" b="0" i="0" u="none" strike="noStrike" cap="none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378760" marR="0" lvl="0" indent="-37241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00"/>
              <a:buFont typeface="Arial"/>
              <a:buChar char="•"/>
            </a:pPr>
            <a:r>
              <a:rPr lang="en-US" sz="2299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https://towardsdatascience.com/feature-selection-techniques-in-machine-learning-with-python-f24e7da3f36e</a:t>
            </a:r>
            <a:endParaRPr sz="2299" b="0" i="0" u="none" strike="noStrike" cap="none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378760" marR="0" lvl="0" indent="-37241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00"/>
              <a:buFont typeface="Arial"/>
              <a:buChar char="•"/>
            </a:pPr>
            <a:r>
              <a:rPr lang="en-US" sz="2299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CRISP-DM</a:t>
            </a:r>
            <a:endParaRPr sz="2299" b="0" i="0" u="none" strike="noStrike" cap="none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45" name="Google Shape;545;p42"/>
          <p:cNvSpPr txBox="1"/>
          <p:nvPr/>
        </p:nvSpPr>
        <p:spPr>
          <a:xfrm>
            <a:off x="416620" y="592484"/>
            <a:ext cx="11356500" cy="7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50" tIns="121850" rIns="121850" bIns="1218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32"/>
              <a:buFont typeface="Arial"/>
              <a:buNone/>
            </a:pPr>
            <a:endParaRPr sz="2399" b="0" i="0" u="none" strike="noStrike" cap="none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D6798FA-0682-A769-82D6-0A975F183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Referensi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GM WIDE-v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69FC18F-DE1D-4FA9-9A8E-2042E34987F2}" vid="{0C8266A3-84C3-4ADA-825E-2EF4B6E2360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2521</TotalTime>
  <Words>7192</Words>
  <Application>Microsoft Office PowerPoint</Application>
  <PresentationFormat>Widescreen</PresentationFormat>
  <Paragraphs>715</Paragraphs>
  <Slides>91</Slides>
  <Notes>89</Notes>
  <HiddenSlides>0</HiddenSlides>
  <MMClips>0</MMClips>
  <ScaleCrop>false</ScaleCrop>
  <HeadingPairs>
    <vt:vector size="6" baseType="variant">
      <vt:variant>
        <vt:lpstr>Fonts Used</vt:lpstr>
      </vt:variant>
      <vt:variant>
        <vt:i4>18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91</vt:i4>
      </vt:variant>
    </vt:vector>
  </HeadingPairs>
  <TitlesOfParts>
    <vt:vector size="110" baseType="lpstr">
      <vt:lpstr>Arial</vt:lpstr>
      <vt:lpstr>Inter Medium</vt:lpstr>
      <vt:lpstr>Plus Jakarta Sans</vt:lpstr>
      <vt:lpstr>Inter ExtraBold</vt:lpstr>
      <vt:lpstr>Overlock</vt:lpstr>
      <vt:lpstr>Inter</vt:lpstr>
      <vt:lpstr>Poppins</vt:lpstr>
      <vt:lpstr>Courier New</vt:lpstr>
      <vt:lpstr>Segoe UI Light</vt:lpstr>
      <vt:lpstr>Garamond</vt:lpstr>
      <vt:lpstr>Calibri</vt:lpstr>
      <vt:lpstr>Calibri Light</vt:lpstr>
      <vt:lpstr>Nirmala UI</vt:lpstr>
      <vt:lpstr>Corbel</vt:lpstr>
      <vt:lpstr>Segui</vt:lpstr>
      <vt:lpstr>Roboto</vt:lpstr>
      <vt:lpstr>Times New Roman</vt:lpstr>
      <vt:lpstr>Lato</vt:lpstr>
      <vt:lpstr>UGM WIDE-v2</vt:lpstr>
      <vt:lpstr>Data Preparation 2: Transformasi data</vt:lpstr>
      <vt:lpstr>Data Preparation dalam CRISP-DM</vt:lpstr>
      <vt:lpstr>Cermati : Verifikasi Data </vt:lpstr>
      <vt:lpstr>Data Transformation</vt:lpstr>
      <vt:lpstr>Rekayasa Fitur</vt:lpstr>
      <vt:lpstr>Imputasi</vt:lpstr>
      <vt:lpstr>Missing Completely At Random (MCAR)</vt:lpstr>
      <vt:lpstr>Missing At Random (MAR)</vt:lpstr>
      <vt:lpstr>Missing Not At Random (MNAR) </vt:lpstr>
      <vt:lpstr>Tahapan dan Teknik Imputasi</vt:lpstr>
      <vt:lpstr>Imputasi Mean atau Median</vt:lpstr>
      <vt:lpstr>Imputasi Nilai Suka-suka </vt:lpstr>
      <vt:lpstr>Imputasi End of Tail</vt:lpstr>
      <vt:lpstr>Skewness  (kecenderungan/kemiringan/kemencengan)</vt:lpstr>
      <vt:lpstr>Skewness  (kecenderungan/kemiringan/kemencengan)</vt:lpstr>
      <vt:lpstr>Imputasi Frequent Category/Modus</vt:lpstr>
      <vt:lpstr>Imputasi Random Sample</vt:lpstr>
      <vt:lpstr>Imputasi Nilai Nol/Konstanta</vt:lpstr>
      <vt:lpstr>Imputasi dengan K-NN </vt:lpstr>
      <vt:lpstr>Imputasi Regresi: Deterministik</vt:lpstr>
      <vt:lpstr>Imputasi Regresi: Stokastik</vt:lpstr>
      <vt:lpstr>Kesimpulan Teknik Imputasi</vt:lpstr>
      <vt:lpstr>Mengatasi (Handling) Outlier (HO)</vt:lpstr>
      <vt:lpstr>Mengatasi (Handling) Outlier (HO)</vt:lpstr>
      <vt:lpstr>Deteksi Outlier</vt:lpstr>
      <vt:lpstr>Teknik HO:  Trimming (Pangkas) vs Winsorizing </vt:lpstr>
      <vt:lpstr>Trimming vs Winsorizing</vt:lpstr>
      <vt:lpstr>Discretization</vt:lpstr>
      <vt:lpstr>Discretization</vt:lpstr>
      <vt:lpstr>Binning</vt:lpstr>
      <vt:lpstr>Scaling (Penskalaan)</vt:lpstr>
      <vt:lpstr>Scaling: Jenis</vt:lpstr>
      <vt:lpstr>Scaling: Normalisasi</vt:lpstr>
      <vt:lpstr>Scaling: Standardisasi</vt:lpstr>
      <vt:lpstr>Contoh Kasus Scaling</vt:lpstr>
      <vt:lpstr>Contoh Kasus Scaling</vt:lpstr>
      <vt:lpstr>Contoh Kasus Scaling</vt:lpstr>
      <vt:lpstr>Dokumentasi Fitur</vt:lpstr>
      <vt:lpstr>Perlunya Dokumentasi Data/Fitur</vt:lpstr>
      <vt:lpstr>Parameter/Daftar Isi  Dokumentasi Data Transformation</vt:lpstr>
      <vt:lpstr>Pelabelan Data</vt:lpstr>
      <vt:lpstr>Pelabelan Data - Intro</vt:lpstr>
      <vt:lpstr>Pelabelan Data - Intro</vt:lpstr>
      <vt:lpstr>Pelabelan Data - Intro</vt:lpstr>
      <vt:lpstr>Pelabelan Data - Data Training</vt:lpstr>
      <vt:lpstr>Pelabelan Data –  Mengapa Proses Pelabelan Diperlukan ?</vt:lpstr>
      <vt:lpstr>Pelabelan Data - Unlabelled vs Labelled</vt:lpstr>
      <vt:lpstr>Pelabelan Data - Supervised Learning</vt:lpstr>
      <vt:lpstr>Pelabelan Data - Unsupervised Learning</vt:lpstr>
      <vt:lpstr>Pelabelan Data –  Supervised vs Unsupervised</vt:lpstr>
      <vt:lpstr>Pelabelan Data - Semi-supervised Learning</vt:lpstr>
      <vt:lpstr>Pelabelan Data - Semi-supervised Learning </vt:lpstr>
      <vt:lpstr>Pelabelan Data - Semi-supervised Learning  </vt:lpstr>
      <vt:lpstr>Pelabelan Data - Peran data tanpa label</vt:lpstr>
      <vt:lpstr>Pelabelan Data - Peran data tanpa label</vt:lpstr>
      <vt:lpstr>Pelabelan Data - Peran data tanpa label</vt:lpstr>
      <vt:lpstr>Pseudo Labelling </vt:lpstr>
      <vt:lpstr>Human in The Loop (HITL)</vt:lpstr>
      <vt:lpstr>Pendekatan Pelabelan Data</vt:lpstr>
      <vt:lpstr>In-house Labelling</vt:lpstr>
      <vt:lpstr>Crowdsourcing</vt:lpstr>
      <vt:lpstr>Outsourcing</vt:lpstr>
      <vt:lpstr>Machine-based Annotation</vt:lpstr>
      <vt:lpstr>Kelebihan dan Kekurangan  Masing-masing Metode</vt:lpstr>
      <vt:lpstr>Pelabelan data : Pengolahan Citra</vt:lpstr>
      <vt:lpstr>Pelabelan data : Pengolahan Citra </vt:lpstr>
      <vt:lpstr>Jenis Anotasi Pengolahan Citra </vt:lpstr>
      <vt:lpstr>Jenis Anotasi Pengolahan Citra </vt:lpstr>
      <vt:lpstr>Jenis Anotasi Pengolahan Citra</vt:lpstr>
      <vt:lpstr>Jenis Anotasi Pengolahan Citra</vt:lpstr>
      <vt:lpstr>Pelabelan data : Natural Language Processing (NLP)</vt:lpstr>
      <vt:lpstr>Pelabelan data : Natural Language Processing (NLP)</vt:lpstr>
      <vt:lpstr>Pelabelan data : Natural Language Processing (NLP)</vt:lpstr>
      <vt:lpstr>Pelabelan data : Natural Language Processing (NLP)</vt:lpstr>
      <vt:lpstr>Pelabelan data : Natural Language Processing (NLP)</vt:lpstr>
      <vt:lpstr>Pelabelan data : Natural Language Processing (NLP)</vt:lpstr>
      <vt:lpstr>Pelabelan Data : Best Practice</vt:lpstr>
      <vt:lpstr>Pelabelan Data : Best Practice</vt:lpstr>
      <vt:lpstr>Pelabelan Data : Best Practise</vt:lpstr>
      <vt:lpstr>Kualitas dan Akurasi Data</vt:lpstr>
      <vt:lpstr>Menganalisis Akurasi Pelabelan Data</vt:lpstr>
      <vt:lpstr>Menganalisis Akurasi Pelabelan Data</vt:lpstr>
      <vt:lpstr>Apa yang mempengaruhi kualitas data dalam pelabelan?</vt:lpstr>
      <vt:lpstr>Metode QA untuk Mengukur Kualitas Data</vt:lpstr>
      <vt:lpstr>Metode QA untuk Mengukur Kualitas Data</vt:lpstr>
      <vt:lpstr>Cronbach’s Alpha Test</vt:lpstr>
      <vt:lpstr>Cronbach’s Alpha Test</vt:lpstr>
      <vt:lpstr>Keamanan Pelabelan Data</vt:lpstr>
      <vt:lpstr>Keamanan Pelabelan Data</vt:lpstr>
      <vt:lpstr>Summary</vt:lpstr>
      <vt:lpstr>Referensi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Preparation 1: Menentukan Objek atau Memilih Data</dc:title>
  <dc:creator>Detty depe</dc:creator>
  <cp:lastModifiedBy>Muhammad Fakhrurrifqi</cp:lastModifiedBy>
  <cp:revision>12</cp:revision>
  <dcterms:created xsi:type="dcterms:W3CDTF">2021-10-23T05:57:57Z</dcterms:created>
  <dcterms:modified xsi:type="dcterms:W3CDTF">2026-09-29T13:26:37Z</dcterms:modified>
</cp:coreProperties>
</file>