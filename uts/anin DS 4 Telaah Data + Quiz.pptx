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5"/>
  </p:notesMasterIdLst>
  <p:sldIdLst>
    <p:sldId id="504" r:id="rId2"/>
    <p:sldId id="506" r:id="rId3"/>
    <p:sldId id="257" r:id="rId4"/>
    <p:sldId id="687" r:id="rId5"/>
    <p:sldId id="688" r:id="rId6"/>
    <p:sldId id="259" r:id="rId7"/>
    <p:sldId id="286" r:id="rId8"/>
    <p:sldId id="287" r:id="rId9"/>
    <p:sldId id="288" r:id="rId10"/>
    <p:sldId id="689" r:id="rId11"/>
    <p:sldId id="699" r:id="rId12"/>
    <p:sldId id="700" r:id="rId13"/>
    <p:sldId id="703" r:id="rId14"/>
    <p:sldId id="701" r:id="rId15"/>
    <p:sldId id="702" r:id="rId16"/>
    <p:sldId id="269" r:id="rId17"/>
    <p:sldId id="683" r:id="rId18"/>
    <p:sldId id="681" r:id="rId19"/>
    <p:sldId id="682" r:id="rId20"/>
    <p:sldId id="684" r:id="rId21"/>
    <p:sldId id="270" r:id="rId22"/>
    <p:sldId id="261" r:id="rId23"/>
    <p:sldId id="262" r:id="rId24"/>
    <p:sldId id="686" r:id="rId25"/>
    <p:sldId id="272" r:id="rId26"/>
    <p:sldId id="273" r:id="rId27"/>
    <p:sldId id="274" r:id="rId28"/>
    <p:sldId id="275" r:id="rId29"/>
    <p:sldId id="276" r:id="rId30"/>
    <p:sldId id="277" r:id="rId31"/>
    <p:sldId id="263" r:id="rId32"/>
    <p:sldId id="264" r:id="rId33"/>
    <p:sldId id="507" r:id="rId34"/>
    <p:sldId id="508" r:id="rId35"/>
    <p:sldId id="509" r:id="rId36"/>
    <p:sldId id="510" r:id="rId37"/>
    <p:sldId id="511" r:id="rId38"/>
    <p:sldId id="512" r:id="rId39"/>
    <p:sldId id="513" r:id="rId40"/>
    <p:sldId id="514" r:id="rId41"/>
    <p:sldId id="515" r:id="rId42"/>
    <p:sldId id="517" r:id="rId43"/>
    <p:sldId id="516" r:id="rId44"/>
    <p:sldId id="518" r:id="rId45"/>
    <p:sldId id="519" r:id="rId46"/>
    <p:sldId id="521" r:id="rId47"/>
    <p:sldId id="522" r:id="rId48"/>
    <p:sldId id="523" r:id="rId49"/>
    <p:sldId id="524" r:id="rId50"/>
    <p:sldId id="525" r:id="rId51"/>
    <p:sldId id="526" r:id="rId52"/>
    <p:sldId id="527" r:id="rId53"/>
    <p:sldId id="528" r:id="rId54"/>
    <p:sldId id="529" r:id="rId55"/>
    <p:sldId id="530" r:id="rId56"/>
    <p:sldId id="531" r:id="rId57"/>
    <p:sldId id="532" r:id="rId58"/>
    <p:sldId id="533" r:id="rId59"/>
    <p:sldId id="534" r:id="rId60"/>
    <p:sldId id="535" r:id="rId61"/>
    <p:sldId id="536" r:id="rId62"/>
    <p:sldId id="537" r:id="rId63"/>
    <p:sldId id="538" r:id="rId64"/>
    <p:sldId id="539" r:id="rId65"/>
    <p:sldId id="540" r:id="rId66"/>
    <p:sldId id="541" r:id="rId67"/>
    <p:sldId id="542" r:id="rId68"/>
    <p:sldId id="543" r:id="rId69"/>
    <p:sldId id="544" r:id="rId70"/>
    <p:sldId id="545" r:id="rId71"/>
    <p:sldId id="546" r:id="rId72"/>
    <p:sldId id="547" r:id="rId73"/>
    <p:sldId id="548" r:id="rId74"/>
    <p:sldId id="549" r:id="rId75"/>
    <p:sldId id="550" r:id="rId76"/>
    <p:sldId id="551" r:id="rId77"/>
    <p:sldId id="552" r:id="rId78"/>
    <p:sldId id="553" r:id="rId79"/>
    <p:sldId id="554" r:id="rId80"/>
    <p:sldId id="555" r:id="rId81"/>
    <p:sldId id="556" r:id="rId82"/>
    <p:sldId id="557" r:id="rId83"/>
    <p:sldId id="558" r:id="rId8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5033" autoAdjust="0"/>
  </p:normalViewPr>
  <p:slideViewPr>
    <p:cSldViewPr snapToGrid="0">
      <p:cViewPr varScale="1">
        <p:scale>
          <a:sx n="78" d="100"/>
          <a:sy n="78" d="100"/>
        </p:scale>
        <p:origin x="878" y="72"/>
      </p:cViewPr>
      <p:guideLst/>
    </p:cSldViewPr>
  </p:slideViewPr>
  <p:notesTextViewPr>
    <p:cViewPr>
      <p:scale>
        <a:sx n="66" d="100"/>
        <a:sy n="66"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iagrams/colors1.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53428E6-8718-4B10-A7DC-5A17064C7688}" type="doc">
      <dgm:prSet loTypeId="urn:microsoft.com/office/officeart/2005/8/layout/hierarchy1" loCatId="hierarchy" qsTypeId="urn:microsoft.com/office/officeart/2005/8/quickstyle/simple2#2" qsCatId="simple" csTypeId="urn:microsoft.com/office/officeart/2005/8/colors/accent1_2#2" csCatId="accent1" phldr="1"/>
      <dgm:spPr/>
      <dgm:t>
        <a:bodyPr/>
        <a:lstStyle/>
        <a:p>
          <a:endParaRPr lang="en-US"/>
        </a:p>
      </dgm:t>
    </dgm:pt>
    <dgm:pt modelId="{FFACE09F-96E6-4A77-92E4-C0CAE3D68418}">
      <dgm:prSet/>
      <dgm:spPr/>
      <dgm:t>
        <a:bodyPr/>
        <a:lstStyle/>
        <a:p>
          <a:r>
            <a:rPr lang="id-ID"/>
            <a:t>Representasi grafis dari data</a:t>
          </a:r>
          <a:endParaRPr lang="en-US"/>
        </a:p>
      </dgm:t>
    </dgm:pt>
    <dgm:pt modelId="{15F72D28-F652-46D8-BA81-085EFA1ADAD7}" type="parTrans" cxnId="{31CF4FCE-509C-4F60-9648-F40BA04EAB3F}">
      <dgm:prSet/>
      <dgm:spPr/>
      <dgm:t>
        <a:bodyPr/>
        <a:lstStyle/>
        <a:p>
          <a:endParaRPr lang="en-US"/>
        </a:p>
      </dgm:t>
    </dgm:pt>
    <dgm:pt modelId="{17810EDC-1175-469B-9B86-8214E277BE56}" type="sibTrans" cxnId="{31CF4FCE-509C-4F60-9648-F40BA04EAB3F}">
      <dgm:prSet/>
      <dgm:spPr/>
      <dgm:t>
        <a:bodyPr/>
        <a:lstStyle/>
        <a:p>
          <a:endParaRPr lang="en-US"/>
        </a:p>
      </dgm:t>
    </dgm:pt>
    <dgm:pt modelId="{AE12D033-5376-47FE-ACFC-8CBF6EDF17E2}">
      <dgm:prSet/>
      <dgm:spPr/>
      <dgm:t>
        <a:bodyPr/>
        <a:lstStyle/>
        <a:p>
          <a:r>
            <a:rPr lang="id-ID" dirty="0"/>
            <a:t>Grafis tersebut dapat “menceritakan” hubungan antar data</a:t>
          </a:r>
          <a:endParaRPr lang="en-US" dirty="0"/>
        </a:p>
      </dgm:t>
    </dgm:pt>
    <dgm:pt modelId="{1C5D9725-A243-431B-BAF4-55D428598AFB}" type="parTrans" cxnId="{DEA4E4D6-6CDA-40F6-AB5C-31F5C4477E09}">
      <dgm:prSet/>
      <dgm:spPr/>
      <dgm:t>
        <a:bodyPr/>
        <a:lstStyle/>
        <a:p>
          <a:endParaRPr lang="en-US"/>
        </a:p>
      </dgm:t>
    </dgm:pt>
    <dgm:pt modelId="{044A82B0-27F0-46B3-8854-DF6466BD913C}" type="sibTrans" cxnId="{DEA4E4D6-6CDA-40F6-AB5C-31F5C4477E09}">
      <dgm:prSet/>
      <dgm:spPr/>
      <dgm:t>
        <a:bodyPr/>
        <a:lstStyle/>
        <a:p>
          <a:endParaRPr lang="en-US"/>
        </a:p>
      </dgm:t>
    </dgm:pt>
    <dgm:pt modelId="{4F14D461-CA27-4C7A-BDFF-7A32C3534A51}">
      <dgm:prSet/>
      <dgm:spPr/>
      <dgm:t>
        <a:bodyPr/>
        <a:lstStyle/>
        <a:p>
          <a:r>
            <a:rPr lang="id-ID" dirty="0"/>
            <a:t>Bertujuan untuk mendapatkan informasi secara cepat</a:t>
          </a:r>
          <a:endParaRPr lang="en-US" dirty="0"/>
        </a:p>
      </dgm:t>
    </dgm:pt>
    <dgm:pt modelId="{85771023-E9F9-4038-B123-43E3A24713FB}" type="parTrans" cxnId="{0F3D0CAD-0959-461E-8AEE-2E4D76A52F33}">
      <dgm:prSet/>
      <dgm:spPr/>
      <dgm:t>
        <a:bodyPr/>
        <a:lstStyle/>
        <a:p>
          <a:endParaRPr lang="en-GB"/>
        </a:p>
      </dgm:t>
    </dgm:pt>
    <dgm:pt modelId="{A5B54956-0067-447D-9C19-93F34AA50E56}" type="sibTrans" cxnId="{0F3D0CAD-0959-461E-8AEE-2E4D76A52F33}">
      <dgm:prSet/>
      <dgm:spPr/>
      <dgm:t>
        <a:bodyPr/>
        <a:lstStyle/>
        <a:p>
          <a:endParaRPr lang="en-GB"/>
        </a:p>
      </dgm:t>
    </dgm:pt>
    <dgm:pt modelId="{4C93202A-457C-4E6B-8504-9923F67319A3}" type="pres">
      <dgm:prSet presAssocID="{753428E6-8718-4B10-A7DC-5A17064C7688}" presName="hierChild1" presStyleCnt="0">
        <dgm:presLayoutVars>
          <dgm:chPref val="1"/>
          <dgm:dir/>
          <dgm:animOne val="branch"/>
          <dgm:animLvl val="lvl"/>
          <dgm:resizeHandles/>
        </dgm:presLayoutVars>
      </dgm:prSet>
      <dgm:spPr/>
    </dgm:pt>
    <dgm:pt modelId="{A4FFF5AA-CD51-45C1-A0A2-5F9CD622FEDE}" type="pres">
      <dgm:prSet presAssocID="{FFACE09F-96E6-4A77-92E4-C0CAE3D68418}" presName="hierRoot1" presStyleCnt="0"/>
      <dgm:spPr/>
    </dgm:pt>
    <dgm:pt modelId="{1A7C07B5-E87F-4AA2-BDDE-07255BF9D550}" type="pres">
      <dgm:prSet presAssocID="{FFACE09F-96E6-4A77-92E4-C0CAE3D68418}" presName="composite" presStyleCnt="0"/>
      <dgm:spPr/>
    </dgm:pt>
    <dgm:pt modelId="{0DD8F4E6-75E3-463B-8812-5215178FD86A}" type="pres">
      <dgm:prSet presAssocID="{FFACE09F-96E6-4A77-92E4-C0CAE3D68418}" presName="background" presStyleLbl="node0" presStyleIdx="0" presStyleCnt="3"/>
      <dgm:spPr/>
    </dgm:pt>
    <dgm:pt modelId="{C0B9EC11-1FBA-47E0-921F-C496CC04AEF3}" type="pres">
      <dgm:prSet presAssocID="{FFACE09F-96E6-4A77-92E4-C0CAE3D68418}" presName="text" presStyleLbl="fgAcc0" presStyleIdx="0" presStyleCnt="3">
        <dgm:presLayoutVars>
          <dgm:chPref val="3"/>
        </dgm:presLayoutVars>
      </dgm:prSet>
      <dgm:spPr/>
    </dgm:pt>
    <dgm:pt modelId="{F1CE83EB-B287-45CB-9390-B3E2DDF319FC}" type="pres">
      <dgm:prSet presAssocID="{FFACE09F-96E6-4A77-92E4-C0CAE3D68418}" presName="hierChild2" presStyleCnt="0"/>
      <dgm:spPr/>
    </dgm:pt>
    <dgm:pt modelId="{574DE553-732A-426B-87C6-D5C551CBE3CE}" type="pres">
      <dgm:prSet presAssocID="{AE12D033-5376-47FE-ACFC-8CBF6EDF17E2}" presName="hierRoot1" presStyleCnt="0"/>
      <dgm:spPr/>
    </dgm:pt>
    <dgm:pt modelId="{38B33069-5BDE-4622-B633-580ABD8A73C5}" type="pres">
      <dgm:prSet presAssocID="{AE12D033-5376-47FE-ACFC-8CBF6EDF17E2}" presName="composite" presStyleCnt="0"/>
      <dgm:spPr/>
    </dgm:pt>
    <dgm:pt modelId="{B9852939-2694-4B47-A1CB-455073FD9A58}" type="pres">
      <dgm:prSet presAssocID="{AE12D033-5376-47FE-ACFC-8CBF6EDF17E2}" presName="background" presStyleLbl="node0" presStyleIdx="1" presStyleCnt="3"/>
      <dgm:spPr/>
    </dgm:pt>
    <dgm:pt modelId="{936DAD2A-A290-491E-BEA3-3EC0E252FABF}" type="pres">
      <dgm:prSet presAssocID="{AE12D033-5376-47FE-ACFC-8CBF6EDF17E2}" presName="text" presStyleLbl="fgAcc0" presStyleIdx="1" presStyleCnt="3">
        <dgm:presLayoutVars>
          <dgm:chPref val="3"/>
        </dgm:presLayoutVars>
      </dgm:prSet>
      <dgm:spPr/>
    </dgm:pt>
    <dgm:pt modelId="{18370BE5-FF82-43D2-ACE8-963754DBCC43}" type="pres">
      <dgm:prSet presAssocID="{AE12D033-5376-47FE-ACFC-8CBF6EDF17E2}" presName="hierChild2" presStyleCnt="0"/>
      <dgm:spPr/>
    </dgm:pt>
    <dgm:pt modelId="{07A6DBF2-4DE6-4666-8FC5-90DE5975AE33}" type="pres">
      <dgm:prSet presAssocID="{4F14D461-CA27-4C7A-BDFF-7A32C3534A51}" presName="hierRoot1" presStyleCnt="0"/>
      <dgm:spPr/>
    </dgm:pt>
    <dgm:pt modelId="{A7F8D5C3-6C57-4F8E-8081-7FE30AB7E701}" type="pres">
      <dgm:prSet presAssocID="{4F14D461-CA27-4C7A-BDFF-7A32C3534A51}" presName="composite" presStyleCnt="0"/>
      <dgm:spPr/>
    </dgm:pt>
    <dgm:pt modelId="{7713A02B-2497-4E38-BF4D-977EC1446E94}" type="pres">
      <dgm:prSet presAssocID="{4F14D461-CA27-4C7A-BDFF-7A32C3534A51}" presName="background" presStyleLbl="node0" presStyleIdx="2" presStyleCnt="3"/>
      <dgm:spPr/>
    </dgm:pt>
    <dgm:pt modelId="{4FDFAE4F-D601-4FE5-B9AD-61EB4A992F71}" type="pres">
      <dgm:prSet presAssocID="{4F14D461-CA27-4C7A-BDFF-7A32C3534A51}" presName="text" presStyleLbl="fgAcc0" presStyleIdx="2" presStyleCnt="3">
        <dgm:presLayoutVars>
          <dgm:chPref val="3"/>
        </dgm:presLayoutVars>
      </dgm:prSet>
      <dgm:spPr/>
    </dgm:pt>
    <dgm:pt modelId="{5B90DC71-B6BA-4A67-949A-AEDBC827A451}" type="pres">
      <dgm:prSet presAssocID="{4F14D461-CA27-4C7A-BDFF-7A32C3534A51}" presName="hierChild2" presStyleCnt="0"/>
      <dgm:spPr/>
    </dgm:pt>
  </dgm:ptLst>
  <dgm:cxnLst>
    <dgm:cxn modelId="{9DE20612-B750-4D1E-998E-678F1E70B124}" type="presOf" srcId="{753428E6-8718-4B10-A7DC-5A17064C7688}" destId="{4C93202A-457C-4E6B-8504-9923F67319A3}" srcOrd="0" destOrd="0" presId="urn:microsoft.com/office/officeart/2005/8/layout/hierarchy1"/>
    <dgm:cxn modelId="{7F9FE41F-A4CA-473D-986A-30995D3BB871}" type="presOf" srcId="{AE12D033-5376-47FE-ACFC-8CBF6EDF17E2}" destId="{936DAD2A-A290-491E-BEA3-3EC0E252FABF}" srcOrd="0" destOrd="0" presId="urn:microsoft.com/office/officeart/2005/8/layout/hierarchy1"/>
    <dgm:cxn modelId="{19A57691-C4AE-4D18-8BA9-56594DB864A8}" type="presOf" srcId="{4F14D461-CA27-4C7A-BDFF-7A32C3534A51}" destId="{4FDFAE4F-D601-4FE5-B9AD-61EB4A992F71}" srcOrd="0" destOrd="0" presId="urn:microsoft.com/office/officeart/2005/8/layout/hierarchy1"/>
    <dgm:cxn modelId="{0F3D0CAD-0959-461E-8AEE-2E4D76A52F33}" srcId="{753428E6-8718-4B10-A7DC-5A17064C7688}" destId="{4F14D461-CA27-4C7A-BDFF-7A32C3534A51}" srcOrd="2" destOrd="0" parTransId="{85771023-E9F9-4038-B123-43E3A24713FB}" sibTransId="{A5B54956-0067-447D-9C19-93F34AA50E56}"/>
    <dgm:cxn modelId="{EC70C4B6-1348-4804-A82D-174AAA7BC9BB}" type="presOf" srcId="{FFACE09F-96E6-4A77-92E4-C0CAE3D68418}" destId="{C0B9EC11-1FBA-47E0-921F-C496CC04AEF3}" srcOrd="0" destOrd="0" presId="urn:microsoft.com/office/officeart/2005/8/layout/hierarchy1"/>
    <dgm:cxn modelId="{31CF4FCE-509C-4F60-9648-F40BA04EAB3F}" srcId="{753428E6-8718-4B10-A7DC-5A17064C7688}" destId="{FFACE09F-96E6-4A77-92E4-C0CAE3D68418}" srcOrd="0" destOrd="0" parTransId="{15F72D28-F652-46D8-BA81-085EFA1ADAD7}" sibTransId="{17810EDC-1175-469B-9B86-8214E277BE56}"/>
    <dgm:cxn modelId="{DEA4E4D6-6CDA-40F6-AB5C-31F5C4477E09}" srcId="{753428E6-8718-4B10-A7DC-5A17064C7688}" destId="{AE12D033-5376-47FE-ACFC-8CBF6EDF17E2}" srcOrd="1" destOrd="0" parTransId="{1C5D9725-A243-431B-BAF4-55D428598AFB}" sibTransId="{044A82B0-27F0-46B3-8854-DF6466BD913C}"/>
    <dgm:cxn modelId="{CE452D4C-6013-41CB-9A5B-2E8085DA3A20}" type="presParOf" srcId="{4C93202A-457C-4E6B-8504-9923F67319A3}" destId="{A4FFF5AA-CD51-45C1-A0A2-5F9CD622FEDE}" srcOrd="0" destOrd="0" presId="urn:microsoft.com/office/officeart/2005/8/layout/hierarchy1"/>
    <dgm:cxn modelId="{4E3CC39A-ADB2-4B7F-A402-83EEB0E25437}" type="presParOf" srcId="{A4FFF5AA-CD51-45C1-A0A2-5F9CD622FEDE}" destId="{1A7C07B5-E87F-4AA2-BDDE-07255BF9D550}" srcOrd="0" destOrd="0" presId="urn:microsoft.com/office/officeart/2005/8/layout/hierarchy1"/>
    <dgm:cxn modelId="{97495A48-1C31-44C8-BA34-DB70EA88C01D}" type="presParOf" srcId="{1A7C07B5-E87F-4AA2-BDDE-07255BF9D550}" destId="{0DD8F4E6-75E3-463B-8812-5215178FD86A}" srcOrd="0" destOrd="0" presId="urn:microsoft.com/office/officeart/2005/8/layout/hierarchy1"/>
    <dgm:cxn modelId="{5112D1BF-72E9-4C27-B7CF-07FCB0EB0429}" type="presParOf" srcId="{1A7C07B5-E87F-4AA2-BDDE-07255BF9D550}" destId="{C0B9EC11-1FBA-47E0-921F-C496CC04AEF3}" srcOrd="1" destOrd="0" presId="urn:microsoft.com/office/officeart/2005/8/layout/hierarchy1"/>
    <dgm:cxn modelId="{A2B1AB20-6B66-4E62-A12E-F20874DE4783}" type="presParOf" srcId="{A4FFF5AA-CD51-45C1-A0A2-5F9CD622FEDE}" destId="{F1CE83EB-B287-45CB-9390-B3E2DDF319FC}" srcOrd="1" destOrd="0" presId="urn:microsoft.com/office/officeart/2005/8/layout/hierarchy1"/>
    <dgm:cxn modelId="{A76C1219-99B3-4012-A565-2919ABB9262D}" type="presParOf" srcId="{4C93202A-457C-4E6B-8504-9923F67319A3}" destId="{574DE553-732A-426B-87C6-D5C551CBE3CE}" srcOrd="1" destOrd="0" presId="urn:microsoft.com/office/officeart/2005/8/layout/hierarchy1"/>
    <dgm:cxn modelId="{453E19D2-189F-42F1-9415-AEC46162560B}" type="presParOf" srcId="{574DE553-732A-426B-87C6-D5C551CBE3CE}" destId="{38B33069-5BDE-4622-B633-580ABD8A73C5}" srcOrd="0" destOrd="0" presId="urn:microsoft.com/office/officeart/2005/8/layout/hierarchy1"/>
    <dgm:cxn modelId="{C0D97976-D940-4262-9B91-A090D05A62A6}" type="presParOf" srcId="{38B33069-5BDE-4622-B633-580ABD8A73C5}" destId="{B9852939-2694-4B47-A1CB-455073FD9A58}" srcOrd="0" destOrd="0" presId="urn:microsoft.com/office/officeart/2005/8/layout/hierarchy1"/>
    <dgm:cxn modelId="{DA1D81DC-95DB-4D84-A880-7275270A2C6A}" type="presParOf" srcId="{38B33069-5BDE-4622-B633-580ABD8A73C5}" destId="{936DAD2A-A290-491E-BEA3-3EC0E252FABF}" srcOrd="1" destOrd="0" presId="urn:microsoft.com/office/officeart/2005/8/layout/hierarchy1"/>
    <dgm:cxn modelId="{2D338A5C-7E71-4F6D-9C3E-7AD060A27B63}" type="presParOf" srcId="{574DE553-732A-426B-87C6-D5C551CBE3CE}" destId="{18370BE5-FF82-43D2-ACE8-963754DBCC43}" srcOrd="1" destOrd="0" presId="urn:microsoft.com/office/officeart/2005/8/layout/hierarchy1"/>
    <dgm:cxn modelId="{0E3D608A-D6C8-4985-9FB1-4F167A2C3FD9}" type="presParOf" srcId="{4C93202A-457C-4E6B-8504-9923F67319A3}" destId="{07A6DBF2-4DE6-4666-8FC5-90DE5975AE33}" srcOrd="2" destOrd="0" presId="urn:microsoft.com/office/officeart/2005/8/layout/hierarchy1"/>
    <dgm:cxn modelId="{5550A8B4-7F06-4E06-8475-327B038BF35C}" type="presParOf" srcId="{07A6DBF2-4DE6-4666-8FC5-90DE5975AE33}" destId="{A7F8D5C3-6C57-4F8E-8081-7FE30AB7E701}" srcOrd="0" destOrd="0" presId="urn:microsoft.com/office/officeart/2005/8/layout/hierarchy1"/>
    <dgm:cxn modelId="{2506F9D4-42E0-4B10-8CF8-FF26FEE02AFC}" type="presParOf" srcId="{A7F8D5C3-6C57-4F8E-8081-7FE30AB7E701}" destId="{7713A02B-2497-4E38-BF4D-977EC1446E94}" srcOrd="0" destOrd="0" presId="urn:microsoft.com/office/officeart/2005/8/layout/hierarchy1"/>
    <dgm:cxn modelId="{A0B154A8-3EC9-4E94-BAB3-A6601D6B1EDC}" type="presParOf" srcId="{A7F8D5C3-6C57-4F8E-8081-7FE30AB7E701}" destId="{4FDFAE4F-D601-4FE5-B9AD-61EB4A992F71}" srcOrd="1" destOrd="0" presId="urn:microsoft.com/office/officeart/2005/8/layout/hierarchy1"/>
    <dgm:cxn modelId="{0B1762CB-319A-498C-A9D5-BF6A369F079B}" type="presParOf" srcId="{07A6DBF2-4DE6-4666-8FC5-90DE5975AE33}" destId="{5B90DC71-B6BA-4A67-949A-AEDBC827A451}"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D8F4E6-75E3-463B-8812-5215178FD86A}">
      <dsp:nvSpPr>
        <dsp:cNvPr id="0" name=""/>
        <dsp:cNvSpPr/>
      </dsp:nvSpPr>
      <dsp:spPr>
        <a:xfrm>
          <a:off x="0" y="1405114"/>
          <a:ext cx="2957512" cy="187802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C0B9EC11-1FBA-47E0-921F-C496CC04AEF3}">
      <dsp:nvSpPr>
        <dsp:cNvPr id="0" name=""/>
        <dsp:cNvSpPr/>
      </dsp:nvSpPr>
      <dsp:spPr>
        <a:xfrm>
          <a:off x="328612" y="1717296"/>
          <a:ext cx="2957512" cy="187802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id-ID" sz="2400" kern="1200"/>
            <a:t>Representasi grafis dari data</a:t>
          </a:r>
          <a:endParaRPr lang="en-US" sz="2400" kern="1200"/>
        </a:p>
      </dsp:txBody>
      <dsp:txXfrm>
        <a:off x="383617" y="1772301"/>
        <a:ext cx="2847502" cy="1768010"/>
      </dsp:txXfrm>
    </dsp:sp>
    <dsp:sp modelId="{B9852939-2694-4B47-A1CB-455073FD9A58}">
      <dsp:nvSpPr>
        <dsp:cNvPr id="0" name=""/>
        <dsp:cNvSpPr/>
      </dsp:nvSpPr>
      <dsp:spPr>
        <a:xfrm>
          <a:off x="3614737" y="1405114"/>
          <a:ext cx="2957512" cy="187802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936DAD2A-A290-491E-BEA3-3EC0E252FABF}">
      <dsp:nvSpPr>
        <dsp:cNvPr id="0" name=""/>
        <dsp:cNvSpPr/>
      </dsp:nvSpPr>
      <dsp:spPr>
        <a:xfrm>
          <a:off x="3943350" y="1717296"/>
          <a:ext cx="2957512" cy="187802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id-ID" sz="2400" kern="1200" dirty="0"/>
            <a:t>Grafis tersebut dapat “menceritakan” hubungan antar data</a:t>
          </a:r>
          <a:endParaRPr lang="en-US" sz="2400" kern="1200" dirty="0"/>
        </a:p>
      </dsp:txBody>
      <dsp:txXfrm>
        <a:off x="3998355" y="1772301"/>
        <a:ext cx="2847502" cy="1768010"/>
      </dsp:txXfrm>
    </dsp:sp>
    <dsp:sp modelId="{7713A02B-2497-4E38-BF4D-977EC1446E94}">
      <dsp:nvSpPr>
        <dsp:cNvPr id="0" name=""/>
        <dsp:cNvSpPr/>
      </dsp:nvSpPr>
      <dsp:spPr>
        <a:xfrm>
          <a:off x="7229475" y="1405114"/>
          <a:ext cx="2957512" cy="187802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4FDFAE4F-D601-4FE5-B9AD-61EB4A992F71}">
      <dsp:nvSpPr>
        <dsp:cNvPr id="0" name=""/>
        <dsp:cNvSpPr/>
      </dsp:nvSpPr>
      <dsp:spPr>
        <a:xfrm>
          <a:off x="7558087" y="1717296"/>
          <a:ext cx="2957512" cy="187802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id-ID" sz="2400" kern="1200" dirty="0"/>
            <a:t>Bertujuan untuk mendapatkan informasi secara cepat</a:t>
          </a:r>
          <a:endParaRPr lang="en-US" sz="2400" kern="1200" dirty="0"/>
        </a:p>
      </dsp:txBody>
      <dsp:txXfrm>
        <a:off x="7613092" y="1772301"/>
        <a:ext cx="2847502" cy="176801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AD5B8C-23F7-4E91-B259-614B167A5F09}" type="datetimeFigureOut">
              <a:rPr lang="en-US" smtClean="0"/>
              <a:t>9/16/2026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5030B7-44DA-4342-8AD0-73CA5C2F33F6}" type="slidenum">
              <a:rPr lang="en-US" smtClean="0"/>
              <a:t>‹#›</a:t>
            </a:fld>
            <a:endParaRPr lang="en-US"/>
          </a:p>
        </p:txBody>
      </p:sp>
    </p:spTree>
    <p:extLst>
      <p:ext uri="{BB962C8B-B14F-4D97-AF65-F5344CB8AC3E}">
        <p14:creationId xmlns:p14="http://schemas.microsoft.com/office/powerpoint/2010/main" val="3101787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Apa itu Visualisasi Data? Visualisasi data adalah representasi grafis dari data, yang ditujukan untuk memberikan informasi atau cerita dari kumpulan data, yang terkadang kumpulan data tersebut kalau kita baca langsung dari tabel, ataupun bentuk teks lainnya itu sulit untuk dipahami ataupun didapatkan pola yang menarik. Secara natural, manusia lebih cepat mendapatkan dan mengingat informasi ketika disajikan dalam warna dan pola yang menarik. Contohnya saja petunjuk jalan raya, gambaran persebaran penyakit </a:t>
            </a:r>
            <a:r>
              <a:rPr lang="id-ID" dirty="0" err="1"/>
              <a:t>covid</a:t>
            </a:r>
            <a:r>
              <a:rPr lang="id-ID" dirty="0"/>
              <a:t>, dan lain sebagainya.</a:t>
            </a:r>
            <a:endParaRPr lang="en-US" dirty="0"/>
          </a:p>
        </p:txBody>
      </p:sp>
      <p:sp>
        <p:nvSpPr>
          <p:cNvPr id="4" name="Slide Number Placeholder 3"/>
          <p:cNvSpPr>
            <a:spLocks noGrp="1"/>
          </p:cNvSpPr>
          <p:nvPr>
            <p:ph type="sldNum" sz="quarter" idx="5"/>
          </p:nvPr>
        </p:nvSpPr>
        <p:spPr/>
        <p:txBody>
          <a:bodyPr/>
          <a:lstStyle/>
          <a:p>
            <a:fld id="{D3E18EDD-70F2-4A31-ADC7-B06373641216}" type="slidenum">
              <a:rPr lang="en-US" smtClean="0"/>
              <a:t>17</a:t>
            </a:fld>
            <a:endParaRPr lang="en-US"/>
          </a:p>
        </p:txBody>
      </p:sp>
    </p:spTree>
    <p:extLst>
      <p:ext uri="{BB962C8B-B14F-4D97-AF65-F5344CB8AC3E}">
        <p14:creationId xmlns:p14="http://schemas.microsoft.com/office/powerpoint/2010/main" val="740137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err="1">
                <a:latin typeface="Arial"/>
                <a:ea typeface="Arial"/>
                <a:cs typeface="Arial"/>
                <a:sym typeface="Arial"/>
              </a:rPr>
              <a:t>Visualisasi</a:t>
            </a:r>
            <a:r>
              <a:rPr lang="en-US" b="1" dirty="0">
                <a:latin typeface="Arial"/>
                <a:ea typeface="Arial"/>
                <a:cs typeface="Arial"/>
                <a:sym typeface="Arial"/>
              </a:rPr>
              <a:t> </a:t>
            </a:r>
            <a:r>
              <a:rPr lang="en-US" dirty="0" err="1">
                <a:latin typeface="Arial"/>
                <a:ea typeface="Arial"/>
                <a:cs typeface="Arial"/>
                <a:sym typeface="Arial"/>
              </a:rPr>
              <a:t>berperan</a:t>
            </a:r>
            <a:r>
              <a:rPr lang="en-US" dirty="0">
                <a:latin typeface="Arial"/>
                <a:ea typeface="Arial"/>
                <a:cs typeface="Arial"/>
                <a:sym typeface="Arial"/>
              </a:rPr>
              <a:t> </a:t>
            </a:r>
            <a:r>
              <a:rPr lang="en-US" dirty="0" err="1">
                <a:latin typeface="Arial"/>
                <a:ea typeface="Arial"/>
                <a:cs typeface="Arial"/>
                <a:sym typeface="Arial"/>
              </a:rPr>
              <a:t>peran</a:t>
            </a:r>
            <a:r>
              <a:rPr lang="en-US" dirty="0">
                <a:latin typeface="Arial"/>
                <a:ea typeface="Arial"/>
                <a:cs typeface="Arial"/>
                <a:sym typeface="Arial"/>
              </a:rPr>
              <a:t> </a:t>
            </a:r>
            <a:r>
              <a:rPr lang="en-US" dirty="0" err="1">
                <a:latin typeface="Arial"/>
                <a:ea typeface="Arial"/>
                <a:cs typeface="Arial"/>
                <a:sym typeface="Arial"/>
              </a:rPr>
              <a:t>penting</a:t>
            </a:r>
            <a:r>
              <a:rPr lang="en-US" dirty="0">
                <a:latin typeface="Arial"/>
                <a:ea typeface="Arial"/>
                <a:cs typeface="Arial"/>
                <a:sym typeface="Arial"/>
              </a:rPr>
              <a:t> </a:t>
            </a:r>
            <a:r>
              <a:rPr lang="en-US" dirty="0" err="1">
                <a:latin typeface="Arial"/>
                <a:ea typeface="Arial"/>
                <a:cs typeface="Arial"/>
                <a:sym typeface="Arial"/>
              </a:rPr>
              <a:t>dalam</a:t>
            </a:r>
            <a:r>
              <a:rPr lang="en-US" dirty="0">
                <a:latin typeface="Arial"/>
                <a:ea typeface="Arial"/>
                <a:cs typeface="Arial"/>
                <a:sym typeface="Arial"/>
              </a:rPr>
              <a:t> </a:t>
            </a:r>
            <a:r>
              <a:rPr lang="en-US" dirty="0" err="1">
                <a:latin typeface="Arial"/>
                <a:ea typeface="Arial"/>
                <a:cs typeface="Arial"/>
                <a:sym typeface="Arial"/>
              </a:rPr>
              <a:t>bidang</a:t>
            </a:r>
            <a:r>
              <a:rPr lang="en-US" dirty="0">
                <a:latin typeface="Arial"/>
                <a:ea typeface="Arial"/>
                <a:cs typeface="Arial"/>
                <a:sym typeface="Arial"/>
              </a:rPr>
              <a:t> machine learning  dan data science. </a:t>
            </a:r>
            <a:r>
              <a:rPr lang="en-US" dirty="0" err="1">
                <a:latin typeface="Arial"/>
                <a:ea typeface="Arial"/>
                <a:cs typeface="Arial"/>
                <a:sym typeface="Arial"/>
              </a:rPr>
              <a:t>Seringkali</a:t>
            </a:r>
            <a:r>
              <a:rPr lang="en-US" dirty="0">
                <a:latin typeface="Arial"/>
                <a:ea typeface="Arial"/>
                <a:cs typeface="Arial"/>
                <a:sym typeface="Arial"/>
              </a:rPr>
              <a:t> </a:t>
            </a:r>
            <a:r>
              <a:rPr lang="en-US" dirty="0" err="1">
                <a:latin typeface="Arial"/>
                <a:ea typeface="Arial"/>
                <a:cs typeface="Arial"/>
                <a:sym typeface="Arial"/>
              </a:rPr>
              <a:t>kita</a:t>
            </a:r>
            <a:r>
              <a:rPr lang="en-US" dirty="0">
                <a:latin typeface="Arial"/>
                <a:ea typeface="Arial"/>
                <a:cs typeface="Arial"/>
                <a:sym typeface="Arial"/>
              </a:rPr>
              <a:t> </a:t>
            </a:r>
            <a:r>
              <a:rPr lang="en-US" dirty="0" err="1">
                <a:latin typeface="Arial"/>
                <a:ea typeface="Arial"/>
                <a:cs typeface="Arial"/>
                <a:sym typeface="Arial"/>
              </a:rPr>
              <a:t>perlu</a:t>
            </a:r>
            <a:r>
              <a:rPr lang="en-US" dirty="0">
                <a:latin typeface="Arial"/>
                <a:ea typeface="Arial"/>
                <a:cs typeface="Arial"/>
                <a:sym typeface="Arial"/>
              </a:rPr>
              <a:t> </a:t>
            </a:r>
            <a:r>
              <a:rPr lang="en-US" dirty="0" err="1">
                <a:latin typeface="Arial"/>
                <a:ea typeface="Arial"/>
                <a:cs typeface="Arial"/>
                <a:sym typeface="Arial"/>
              </a:rPr>
              <a:t>menyaring</a:t>
            </a:r>
            <a:r>
              <a:rPr lang="en-US" dirty="0">
                <a:latin typeface="Arial"/>
                <a:ea typeface="Arial"/>
                <a:cs typeface="Arial"/>
                <a:sym typeface="Arial"/>
              </a:rPr>
              <a:t> </a:t>
            </a:r>
            <a:r>
              <a:rPr lang="en-US" dirty="0" err="1">
                <a:latin typeface="Arial"/>
                <a:ea typeface="Arial"/>
                <a:cs typeface="Arial"/>
                <a:sym typeface="Arial"/>
              </a:rPr>
              <a:t>informasi</a:t>
            </a:r>
            <a:r>
              <a:rPr lang="en-US" dirty="0">
                <a:latin typeface="Arial"/>
                <a:ea typeface="Arial"/>
                <a:cs typeface="Arial"/>
                <a:sym typeface="Arial"/>
              </a:rPr>
              <a:t> </a:t>
            </a:r>
            <a:r>
              <a:rPr lang="en-US" dirty="0" err="1">
                <a:latin typeface="Arial"/>
                <a:ea typeface="Arial"/>
                <a:cs typeface="Arial"/>
                <a:sym typeface="Arial"/>
              </a:rPr>
              <a:t>kunci</a:t>
            </a:r>
            <a:r>
              <a:rPr lang="en-US" dirty="0">
                <a:latin typeface="Arial"/>
                <a:ea typeface="Arial"/>
                <a:cs typeface="Arial"/>
                <a:sym typeface="Arial"/>
              </a:rPr>
              <a:t> yang </a:t>
            </a:r>
            <a:r>
              <a:rPr lang="en-US" dirty="0" err="1">
                <a:latin typeface="Arial"/>
                <a:ea typeface="Arial"/>
                <a:cs typeface="Arial"/>
                <a:sym typeface="Arial"/>
              </a:rPr>
              <a:t>ditemukan</a:t>
            </a:r>
            <a:r>
              <a:rPr lang="en-US" dirty="0">
                <a:latin typeface="Arial"/>
                <a:ea typeface="Arial"/>
                <a:cs typeface="Arial"/>
                <a:sym typeface="Arial"/>
              </a:rPr>
              <a:t> </a:t>
            </a:r>
            <a:r>
              <a:rPr lang="en-US" dirty="0" err="1">
                <a:latin typeface="Arial"/>
                <a:ea typeface="Arial"/>
                <a:cs typeface="Arial"/>
                <a:sym typeface="Arial"/>
              </a:rPr>
              <a:t>dalam</a:t>
            </a:r>
            <a:r>
              <a:rPr lang="en-US" dirty="0">
                <a:latin typeface="Arial"/>
                <a:ea typeface="Arial"/>
                <a:cs typeface="Arial"/>
                <a:sym typeface="Arial"/>
              </a:rPr>
              <a:t> </a:t>
            </a:r>
            <a:r>
              <a:rPr lang="en-US" dirty="0" err="1">
                <a:latin typeface="Arial"/>
                <a:ea typeface="Arial"/>
                <a:cs typeface="Arial"/>
                <a:sym typeface="Arial"/>
              </a:rPr>
              <a:t>sejumlah</a:t>
            </a:r>
            <a:r>
              <a:rPr lang="en-US" dirty="0">
                <a:latin typeface="Arial"/>
                <a:ea typeface="Arial"/>
                <a:cs typeface="Arial"/>
                <a:sym typeface="Arial"/>
              </a:rPr>
              <a:t> data </a:t>
            </a:r>
            <a:r>
              <a:rPr lang="en-US" dirty="0" err="1">
                <a:latin typeface="Arial"/>
                <a:ea typeface="Arial"/>
                <a:cs typeface="Arial"/>
                <a:sym typeface="Arial"/>
              </a:rPr>
              <a:t>data</a:t>
            </a:r>
            <a:r>
              <a:rPr lang="en-US" dirty="0">
                <a:latin typeface="Arial"/>
                <a:ea typeface="Arial"/>
                <a:cs typeface="Arial"/>
                <a:sym typeface="Arial"/>
              </a:rPr>
              <a:t> </a:t>
            </a:r>
            <a:r>
              <a:rPr lang="en-US" dirty="0" err="1">
                <a:latin typeface="Arial"/>
                <a:ea typeface="Arial"/>
                <a:cs typeface="Arial"/>
                <a:sym typeface="Arial"/>
              </a:rPr>
              <a:t>menjadi</a:t>
            </a:r>
            <a:r>
              <a:rPr lang="en-US" dirty="0">
                <a:latin typeface="Arial"/>
                <a:ea typeface="Arial"/>
                <a:cs typeface="Arial"/>
                <a:sym typeface="Arial"/>
              </a:rPr>
              <a:t> </a:t>
            </a:r>
            <a:r>
              <a:rPr lang="en-US" dirty="0" err="1">
                <a:latin typeface="Arial"/>
                <a:ea typeface="Arial"/>
                <a:cs typeface="Arial"/>
                <a:sym typeface="Arial"/>
              </a:rPr>
              <a:t>bentuk</a:t>
            </a:r>
            <a:r>
              <a:rPr lang="en-US" dirty="0">
                <a:latin typeface="Arial"/>
                <a:ea typeface="Arial"/>
                <a:cs typeface="Arial"/>
                <a:sym typeface="Arial"/>
              </a:rPr>
              <a:t> yang </a:t>
            </a:r>
            <a:r>
              <a:rPr lang="en-US" dirty="0" err="1">
                <a:latin typeface="Arial"/>
                <a:ea typeface="Arial"/>
                <a:cs typeface="Arial"/>
                <a:sym typeface="Arial"/>
              </a:rPr>
              <a:t>bermakna</a:t>
            </a:r>
            <a:r>
              <a:rPr lang="en-US" dirty="0">
                <a:latin typeface="Arial"/>
                <a:ea typeface="Arial"/>
                <a:cs typeface="Arial"/>
                <a:sym typeface="Arial"/>
              </a:rPr>
              <a:t> dan </a:t>
            </a:r>
            <a:r>
              <a:rPr lang="en-US" dirty="0" err="1">
                <a:latin typeface="Arial"/>
                <a:ea typeface="Arial"/>
                <a:cs typeface="Arial"/>
                <a:sym typeface="Arial"/>
              </a:rPr>
              <a:t>mudah</a:t>
            </a:r>
            <a:r>
              <a:rPr lang="en-US" dirty="0">
                <a:latin typeface="Arial"/>
                <a:ea typeface="Arial"/>
                <a:cs typeface="Arial"/>
                <a:sym typeface="Arial"/>
              </a:rPr>
              <a:t> </a:t>
            </a:r>
            <a:r>
              <a:rPr lang="en-US" dirty="0" err="1">
                <a:latin typeface="Arial"/>
                <a:ea typeface="Arial"/>
                <a:cs typeface="Arial"/>
                <a:sym typeface="Arial"/>
              </a:rPr>
              <a:t>dicerna</a:t>
            </a:r>
            <a:r>
              <a:rPr lang="en-US" dirty="0">
                <a:latin typeface="Arial"/>
                <a:ea typeface="Arial"/>
                <a:cs typeface="Arial"/>
                <a:sym typeface="Arial"/>
              </a:rPr>
              <a:t>. </a:t>
            </a:r>
          </a:p>
          <a:p>
            <a:endParaRPr lang="en-US" dirty="0"/>
          </a:p>
        </p:txBody>
      </p:sp>
      <p:sp>
        <p:nvSpPr>
          <p:cNvPr id="4" name="Slide Number Placeholder 3"/>
          <p:cNvSpPr>
            <a:spLocks noGrp="1"/>
          </p:cNvSpPr>
          <p:nvPr>
            <p:ph type="sldNum" sz="quarter" idx="5"/>
          </p:nvPr>
        </p:nvSpPr>
        <p:spPr/>
        <p:txBody>
          <a:bodyPr/>
          <a:lstStyle/>
          <a:p>
            <a:fld id="{A8C079F6-E359-4800-AC41-F8DD44B4FD4C}" type="slidenum">
              <a:rPr lang="en-US" smtClean="0"/>
              <a:t>18</a:t>
            </a:fld>
            <a:endParaRPr lang="en-US"/>
          </a:p>
        </p:txBody>
      </p:sp>
    </p:spTree>
    <p:extLst>
      <p:ext uri="{BB962C8B-B14F-4D97-AF65-F5344CB8AC3E}">
        <p14:creationId xmlns:p14="http://schemas.microsoft.com/office/powerpoint/2010/main" val="25493970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C079F6-E359-4800-AC41-F8DD44B4FD4C}" type="slidenum">
              <a:rPr lang="en-US" smtClean="0"/>
              <a:t>22</a:t>
            </a:fld>
            <a:endParaRPr lang="en-US"/>
          </a:p>
        </p:txBody>
      </p:sp>
    </p:spTree>
    <p:extLst>
      <p:ext uri="{BB962C8B-B14F-4D97-AF65-F5344CB8AC3E}">
        <p14:creationId xmlns:p14="http://schemas.microsoft.com/office/powerpoint/2010/main" val="3027851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C079F6-E359-4800-AC41-F8DD44B4FD4C}" type="slidenum">
              <a:rPr lang="en-US" smtClean="0"/>
              <a:t>23</a:t>
            </a:fld>
            <a:endParaRPr lang="en-US"/>
          </a:p>
        </p:txBody>
      </p:sp>
    </p:spTree>
    <p:extLst>
      <p:ext uri="{BB962C8B-B14F-4D97-AF65-F5344CB8AC3E}">
        <p14:creationId xmlns:p14="http://schemas.microsoft.com/office/powerpoint/2010/main" val="22084973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F0FCC-B2DE-7426-CB00-62C55F8FDF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6F64B2-379A-0719-717B-94D97CB2DB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3C996B-540B-E2FB-8A41-CA8DE20CB665}"/>
              </a:ext>
            </a:extLst>
          </p:cNvPr>
          <p:cNvSpPr>
            <a:spLocks noGrp="1"/>
          </p:cNvSpPr>
          <p:nvPr>
            <p:ph type="body" idx="1"/>
          </p:nvPr>
        </p:nvSpPr>
        <p:spPr/>
        <p:txBody>
          <a:bodyPr/>
          <a:lstStyle/>
          <a:p>
            <a:r>
              <a:rPr lang="en-US" dirty="0" err="1"/>
              <a:t>Contoh</a:t>
            </a:r>
            <a:r>
              <a:rPr lang="en-US" dirty="0"/>
              <a:t> </a:t>
            </a:r>
            <a:r>
              <a:rPr lang="en-US" dirty="0" err="1"/>
              <a:t>dari</a:t>
            </a:r>
            <a:r>
              <a:rPr lang="en-US" dirty="0"/>
              <a:t> </a:t>
            </a:r>
            <a:r>
              <a:rPr lang="en-US" sz="1200" kern="1200" dirty="0">
                <a:solidFill>
                  <a:schemeClr val="tx1"/>
                </a:solidFill>
                <a:latin typeface="+mn-lt"/>
                <a:ea typeface="+mn-ea"/>
                <a:cs typeface="+mn-cs"/>
              </a:rPr>
              <a:t>goals</a:t>
            </a:r>
            <a:r>
              <a:rPr lang="en-US" dirty="0"/>
              <a:t>:</a:t>
            </a:r>
          </a:p>
          <a:p>
            <a:pPr lvl="0"/>
            <a:r>
              <a:rPr lang="en-US" sz="1200" kern="1200" dirty="0">
                <a:solidFill>
                  <a:schemeClr val="tx1"/>
                </a:solidFill>
                <a:latin typeface="+mn-lt"/>
                <a:ea typeface="+mn-ea"/>
                <a:cs typeface="+mn-cs"/>
              </a:rPr>
              <a:t>mean</a:t>
            </a:r>
            <a:r>
              <a:rPr lang="en-US" dirty="0"/>
              <a:t> ≈ 1,86 </a:t>
            </a:r>
          </a:p>
          <a:p>
            <a:pPr lvl="0"/>
            <a:r>
              <a:rPr lang="en-US" sz="1200" kern="1200" dirty="0">
                <a:solidFill>
                  <a:schemeClr val="tx1"/>
                </a:solidFill>
                <a:latin typeface="+mn-lt"/>
                <a:ea typeface="+mn-ea"/>
                <a:cs typeface="+mn-cs"/>
              </a:rPr>
              <a:t>min</a:t>
            </a:r>
            <a:r>
              <a:rPr lang="en-US" dirty="0"/>
              <a:t> = 0 </a:t>
            </a:r>
          </a:p>
          <a:p>
            <a:pPr lvl="0"/>
            <a:r>
              <a:rPr lang="en-US" sz="1200" kern="1200" dirty="0">
                <a:solidFill>
                  <a:schemeClr val="tx1"/>
                </a:solidFill>
                <a:latin typeface="+mn-lt"/>
                <a:ea typeface="+mn-ea"/>
                <a:cs typeface="+mn-cs"/>
              </a:rPr>
              <a:t>median</a:t>
            </a:r>
            <a:r>
              <a:rPr lang="en-US" dirty="0"/>
              <a:t> = 1 </a:t>
            </a:r>
          </a:p>
          <a:p>
            <a:pPr lvl="0"/>
            <a:r>
              <a:rPr lang="en-US" sz="1200" kern="1200" dirty="0">
                <a:solidFill>
                  <a:schemeClr val="tx1"/>
                </a:solidFill>
                <a:latin typeface="+mn-lt"/>
                <a:ea typeface="+mn-ea"/>
                <a:cs typeface="+mn-cs"/>
              </a:rPr>
              <a:t>max</a:t>
            </a:r>
            <a:r>
              <a:rPr lang="en-US" dirty="0"/>
              <a:t> = 23 </a:t>
            </a:r>
          </a:p>
          <a:p>
            <a:r>
              <a:rPr lang="en-US" dirty="0"/>
              <a:t>Artinya </a:t>
            </a:r>
            <a:r>
              <a:rPr lang="en-US" dirty="0" err="1"/>
              <a:t>secara</a:t>
            </a:r>
            <a:r>
              <a:rPr lang="en-US" dirty="0"/>
              <a:t> </a:t>
            </a:r>
            <a:r>
              <a:rPr lang="en-US" dirty="0" err="1"/>
              <a:t>sederhana</a:t>
            </a:r>
            <a:r>
              <a:rPr lang="en-US" dirty="0"/>
              <a:t>:</a:t>
            </a:r>
          </a:p>
          <a:p>
            <a:r>
              <a:rPr lang="en-US" dirty="0"/>
              <a:t>Rata-rata </a:t>
            </a:r>
            <a:r>
              <a:rPr lang="en-US" dirty="0" err="1"/>
              <a:t>pemain</a:t>
            </a:r>
            <a:r>
              <a:rPr lang="en-US" dirty="0"/>
              <a:t> </a:t>
            </a:r>
            <a:r>
              <a:rPr lang="en-US" dirty="0" err="1"/>
              <a:t>mencetak</a:t>
            </a:r>
            <a:r>
              <a:rPr lang="en-US" dirty="0"/>
              <a:t> </a:t>
            </a:r>
            <a:r>
              <a:rPr lang="en-US" dirty="0" err="1"/>
              <a:t>sekitar</a:t>
            </a:r>
            <a:r>
              <a:rPr lang="en-US" dirty="0"/>
              <a:t> </a:t>
            </a:r>
            <a:r>
              <a:rPr lang="en-US" b="1" dirty="0"/>
              <a:t>1,86 </a:t>
            </a:r>
            <a:r>
              <a:rPr lang="en-US" b="1" dirty="0" err="1"/>
              <a:t>gol</a:t>
            </a:r>
            <a:r>
              <a:rPr lang="en-US" dirty="0"/>
              <a:t>, </a:t>
            </a:r>
            <a:r>
              <a:rPr lang="en-US" dirty="0" err="1"/>
              <a:t>tetapi</a:t>
            </a:r>
            <a:r>
              <a:rPr lang="en-US" dirty="0"/>
              <a:t> </a:t>
            </a:r>
            <a:r>
              <a:rPr lang="en-US" dirty="0" err="1"/>
              <a:t>ada</a:t>
            </a:r>
            <a:r>
              <a:rPr lang="en-US" dirty="0"/>
              <a:t> </a:t>
            </a:r>
            <a:r>
              <a:rPr lang="en-US" dirty="0" err="1"/>
              <a:t>pemain</a:t>
            </a:r>
            <a:r>
              <a:rPr lang="en-US" dirty="0"/>
              <a:t> yang </a:t>
            </a:r>
            <a:r>
              <a:rPr lang="en-US" dirty="0" err="1"/>
              <a:t>mencetak</a:t>
            </a:r>
            <a:r>
              <a:rPr lang="en-US" dirty="0"/>
              <a:t> </a:t>
            </a:r>
            <a:r>
              <a:rPr lang="en-US" dirty="0" err="1"/>
              <a:t>hingga</a:t>
            </a:r>
            <a:r>
              <a:rPr lang="en-US" dirty="0"/>
              <a:t> </a:t>
            </a:r>
            <a:r>
              <a:rPr lang="en-US" b="1" dirty="0"/>
              <a:t>23 </a:t>
            </a:r>
            <a:r>
              <a:rPr lang="en-US" b="1" dirty="0" err="1"/>
              <a:t>gol</a:t>
            </a:r>
            <a:r>
              <a:rPr lang="en-US" dirty="0"/>
              <a:t>.</a:t>
            </a:r>
          </a:p>
          <a:p>
            <a:endParaRPr lang="en-US" dirty="0"/>
          </a:p>
          <a:p>
            <a:r>
              <a:rPr lang="en-US" dirty="0" err="1"/>
              <a:t>Mengapa</a:t>
            </a:r>
            <a:r>
              <a:rPr lang="en-US" dirty="0"/>
              <a:t> </a:t>
            </a:r>
            <a:r>
              <a:rPr lang="en-US" dirty="0" err="1"/>
              <a:t>nilai</a:t>
            </a:r>
            <a:r>
              <a:rPr lang="en-US" dirty="0"/>
              <a:t> </a:t>
            </a:r>
            <a:r>
              <a:rPr lang="en-US" dirty="0" err="1"/>
              <a:t>maksimum</a:t>
            </a:r>
            <a:r>
              <a:rPr lang="en-US" dirty="0"/>
              <a:t> </a:t>
            </a:r>
            <a:r>
              <a:rPr lang="en-US" dirty="0" err="1"/>
              <a:t>jauh</a:t>
            </a:r>
            <a:r>
              <a:rPr lang="en-US" dirty="0"/>
              <a:t> </a:t>
            </a:r>
            <a:r>
              <a:rPr lang="en-US" dirty="0" err="1"/>
              <a:t>lebih</a:t>
            </a:r>
            <a:r>
              <a:rPr lang="en-US" dirty="0"/>
              <a:t> </a:t>
            </a:r>
            <a:r>
              <a:rPr lang="en-US" dirty="0" err="1"/>
              <a:t>besar</a:t>
            </a:r>
            <a:r>
              <a:rPr lang="en-US" dirty="0"/>
              <a:t> </a:t>
            </a:r>
            <a:r>
              <a:rPr lang="en-US" dirty="0" err="1"/>
              <a:t>daripada</a:t>
            </a:r>
            <a:r>
              <a:rPr lang="en-US" dirty="0"/>
              <a:t> </a:t>
            </a:r>
            <a:r>
              <a:rPr lang="en-US" dirty="0" err="1"/>
              <a:t>sebagian</a:t>
            </a:r>
            <a:r>
              <a:rPr lang="en-US" dirty="0"/>
              <a:t> </a:t>
            </a:r>
            <a:r>
              <a:rPr lang="en-US" dirty="0" err="1"/>
              <a:t>besar</a:t>
            </a:r>
            <a:r>
              <a:rPr lang="en-US" dirty="0"/>
              <a:t> data?</a:t>
            </a:r>
          </a:p>
          <a:p>
            <a:r>
              <a:rPr lang="en-US" dirty="0" err="1"/>
              <a:t>Mungkin</a:t>
            </a:r>
            <a:r>
              <a:rPr lang="en-US" dirty="0"/>
              <a:t>:</a:t>
            </a:r>
          </a:p>
          <a:p>
            <a:pPr lvl="0"/>
            <a:r>
              <a:rPr lang="en-US" dirty="0"/>
              <a:t>- </a:t>
            </a:r>
            <a:r>
              <a:rPr lang="en-US" dirty="0" err="1"/>
              <a:t>memang</a:t>
            </a:r>
            <a:r>
              <a:rPr lang="en-US" dirty="0"/>
              <a:t> </a:t>
            </a:r>
            <a:r>
              <a:rPr lang="en-US" dirty="0" err="1"/>
              <a:t>ada</a:t>
            </a:r>
            <a:r>
              <a:rPr lang="en-US" dirty="0"/>
              <a:t> </a:t>
            </a:r>
            <a:r>
              <a:rPr lang="en-US" dirty="0" err="1"/>
              <a:t>pemain</a:t>
            </a:r>
            <a:r>
              <a:rPr lang="en-US" dirty="0"/>
              <a:t> yang sangat </a:t>
            </a:r>
            <a:r>
              <a:rPr lang="en-US" dirty="0" err="1"/>
              <a:t>produktif</a:t>
            </a:r>
            <a:r>
              <a:rPr lang="en-US" dirty="0"/>
              <a:t>; </a:t>
            </a:r>
          </a:p>
          <a:p>
            <a:pPr lvl="0"/>
            <a:r>
              <a:rPr lang="en-US" dirty="0"/>
              <a:t>- </a:t>
            </a:r>
            <a:r>
              <a:rPr lang="en-US" dirty="0" err="1"/>
              <a:t>terdapat</a:t>
            </a:r>
            <a:r>
              <a:rPr lang="en-US" dirty="0"/>
              <a:t> outlier; </a:t>
            </a:r>
          </a:p>
          <a:p>
            <a:pPr lvl="0"/>
            <a:r>
              <a:rPr lang="en-US" dirty="0"/>
              <a:t>- </a:t>
            </a:r>
            <a:r>
              <a:rPr lang="en-US" dirty="0" err="1"/>
              <a:t>atau</a:t>
            </a:r>
            <a:r>
              <a:rPr lang="en-US" dirty="0"/>
              <a:t> </a:t>
            </a:r>
            <a:r>
              <a:rPr lang="en-US" dirty="0" err="1"/>
              <a:t>ada</a:t>
            </a:r>
            <a:r>
              <a:rPr lang="en-US" dirty="0"/>
              <a:t> </a:t>
            </a:r>
            <a:r>
              <a:rPr lang="en-US" dirty="0" err="1"/>
              <a:t>kesalahan</a:t>
            </a:r>
            <a:r>
              <a:rPr lang="en-US" dirty="0"/>
              <a:t> </a:t>
            </a:r>
            <a:r>
              <a:rPr lang="en-US" dirty="0" err="1"/>
              <a:t>pencatatan</a:t>
            </a:r>
            <a:r>
              <a:rPr lang="en-US" dirty="0"/>
              <a:t>.</a:t>
            </a:r>
          </a:p>
          <a:p>
            <a:endParaRPr lang="en-US" dirty="0"/>
          </a:p>
          <a:p>
            <a:endParaRPr lang="en-US" dirty="0"/>
          </a:p>
        </p:txBody>
      </p:sp>
      <p:sp>
        <p:nvSpPr>
          <p:cNvPr id="4" name="Slide Number Placeholder 3">
            <a:extLst>
              <a:ext uri="{FF2B5EF4-FFF2-40B4-BE49-F238E27FC236}">
                <a16:creationId xmlns:a16="http://schemas.microsoft.com/office/drawing/2014/main" id="{675F3522-E881-BB35-6C31-186C49504E8C}"/>
              </a:ext>
            </a:extLst>
          </p:cNvPr>
          <p:cNvSpPr>
            <a:spLocks noGrp="1"/>
          </p:cNvSpPr>
          <p:nvPr>
            <p:ph type="sldNum" sz="quarter" idx="5"/>
          </p:nvPr>
        </p:nvSpPr>
        <p:spPr/>
        <p:txBody>
          <a:bodyPr/>
          <a:lstStyle/>
          <a:p>
            <a:fld id="{A8C079F6-E359-4800-AC41-F8DD44B4FD4C}" type="slidenum">
              <a:rPr lang="en-US" smtClean="0"/>
              <a:t>24</a:t>
            </a:fld>
            <a:endParaRPr lang="en-US"/>
          </a:p>
        </p:txBody>
      </p:sp>
    </p:spTree>
    <p:extLst>
      <p:ext uri="{BB962C8B-B14F-4D97-AF65-F5344CB8AC3E}">
        <p14:creationId xmlns:p14="http://schemas.microsoft.com/office/powerpoint/2010/main" val="24431928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dirty="0">
                <a:solidFill>
                  <a:srgbClr val="0F172A"/>
                </a:solidFill>
                <a:latin typeface="Poppins"/>
              </a:rPr>
              <a:t>Near Miss = </a:t>
            </a:r>
            <a:r>
              <a:rPr lang="en-US" sz="1200" b="1" i="0" u="none" dirty="0" err="1">
                <a:solidFill>
                  <a:srgbClr val="0F172A"/>
                </a:solidFill>
                <a:latin typeface="Poppins"/>
              </a:rPr>
              <a:t>nyaris</a:t>
            </a:r>
            <a:r>
              <a:rPr lang="en-US" sz="1200" b="1" i="0" u="none" dirty="0">
                <a:solidFill>
                  <a:srgbClr val="0F172A"/>
                </a:solidFill>
                <a:latin typeface="Poppins"/>
              </a:rPr>
              <a:t> </a:t>
            </a:r>
            <a:r>
              <a:rPr lang="en-US" sz="1200" b="1" i="0" u="none" dirty="0" err="1">
                <a:solidFill>
                  <a:srgbClr val="0F172A"/>
                </a:solidFill>
                <a:latin typeface="Poppins"/>
              </a:rPr>
              <a:t>celaka</a:t>
            </a:r>
            <a:endParaRPr lang="en-US" dirty="0"/>
          </a:p>
          <a:p>
            <a:endParaRPr lang="en-US" dirty="0"/>
          </a:p>
        </p:txBody>
      </p:sp>
      <p:sp>
        <p:nvSpPr>
          <p:cNvPr id="4" name="Slide Number Placeholder 3"/>
          <p:cNvSpPr>
            <a:spLocks noGrp="1"/>
          </p:cNvSpPr>
          <p:nvPr>
            <p:ph type="sldNum" sz="quarter" idx="5"/>
          </p:nvPr>
        </p:nvSpPr>
        <p:spPr/>
        <p:txBody>
          <a:bodyPr/>
          <a:lstStyle/>
          <a:p>
            <a:fld id="{A8C079F6-E359-4800-AC41-F8DD44B4FD4C}" type="slidenum">
              <a:rPr lang="en-US" smtClean="0"/>
              <a:t>31</a:t>
            </a:fld>
            <a:endParaRPr lang="en-US"/>
          </a:p>
        </p:txBody>
      </p:sp>
    </p:spTree>
    <p:extLst>
      <p:ext uri="{BB962C8B-B14F-4D97-AF65-F5344CB8AC3E}">
        <p14:creationId xmlns:p14="http://schemas.microsoft.com/office/powerpoint/2010/main" val="42437363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7374" cy="6858000"/>
          </a:xfrm>
          <a:prstGeom prst="rect">
            <a:avLst/>
          </a:prstGeom>
        </p:spPr>
      </p:pic>
      <p:sp>
        <p:nvSpPr>
          <p:cNvPr id="2" name="Title 1"/>
          <p:cNvSpPr>
            <a:spLocks noGrp="1"/>
          </p:cNvSpPr>
          <p:nvPr>
            <p:ph type="ctrTitle" hasCustomPrompt="1"/>
          </p:nvPr>
        </p:nvSpPr>
        <p:spPr>
          <a:xfrm>
            <a:off x="4592548" y="1787703"/>
            <a:ext cx="6996700" cy="1722260"/>
          </a:xfrm>
        </p:spPr>
        <p:txBody>
          <a:bodyPr anchor="b">
            <a:normAutofit/>
          </a:bodyPr>
          <a:lstStyle>
            <a:lvl1pPr algn="ctr">
              <a:defRPr sz="4000" baseline="0">
                <a:solidFill>
                  <a:schemeClr val="accent1">
                    <a:lumMod val="50000"/>
                  </a:schemeClr>
                </a:solidFill>
              </a:defRPr>
            </a:lvl1pPr>
          </a:lstStyle>
          <a:p>
            <a:r>
              <a:rPr lang="en-US" dirty="0"/>
              <a:t>Click to add title</a:t>
            </a:r>
          </a:p>
        </p:txBody>
      </p:sp>
      <p:sp>
        <p:nvSpPr>
          <p:cNvPr id="3" name="Subtitle 2"/>
          <p:cNvSpPr>
            <a:spLocks noGrp="1"/>
          </p:cNvSpPr>
          <p:nvPr>
            <p:ph type="subTitle" idx="1" hasCustomPrompt="1"/>
          </p:nvPr>
        </p:nvSpPr>
        <p:spPr>
          <a:xfrm>
            <a:off x="4592548" y="3602038"/>
            <a:ext cx="6996700" cy="1655762"/>
          </a:xfrm>
        </p:spPr>
        <p:txBody>
          <a:bodyPr>
            <a:normAutofit/>
          </a:bodyPr>
          <a:lstStyle>
            <a:lvl1pPr marL="0" indent="0" algn="r">
              <a:buNone/>
              <a:defRPr sz="20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746631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6860419"/>
          </a:xfrm>
          <a:prstGeom prst="rect">
            <a:avLst/>
          </a:prstGeom>
        </p:spPr>
      </p:pic>
      <p:sp>
        <p:nvSpPr>
          <p:cNvPr id="2" name="Title 1"/>
          <p:cNvSpPr>
            <a:spLocks noGrp="1"/>
          </p:cNvSpPr>
          <p:nvPr>
            <p:ph type="title" hasCustomPrompt="1"/>
          </p:nvPr>
        </p:nvSpPr>
        <p:spPr/>
        <p:txBody>
          <a:bodyPr>
            <a:normAutofit/>
          </a:bodyPr>
          <a:lstStyle>
            <a:lvl1pPr>
              <a:defRPr sz="4000">
                <a:solidFill>
                  <a:schemeClr val="accent1">
                    <a:lumMod val="50000"/>
                  </a:schemeClr>
                </a:solidFill>
              </a:defRPr>
            </a:lvl1pPr>
          </a:lstStyle>
          <a:p>
            <a:r>
              <a:rPr lang="en-US" dirty="0"/>
              <a:t>Click to add title</a:t>
            </a:r>
          </a:p>
        </p:txBody>
      </p:sp>
      <p:sp>
        <p:nvSpPr>
          <p:cNvPr id="3" name="Content Placeholder 2"/>
          <p:cNvSpPr>
            <a:spLocks noGrp="1"/>
          </p:cNvSpPr>
          <p:nvPr>
            <p:ph idx="1" hasCustomPrompt="1"/>
          </p:nvPr>
        </p:nvSpPr>
        <p:spPr/>
        <p:txBody>
          <a:bodyPr/>
          <a:lstStyle>
            <a:lvl1pPr>
              <a:defRPr baseline="0"/>
            </a:lvl1pPr>
          </a:lstStyle>
          <a:p>
            <a:pPr lvl="0"/>
            <a:r>
              <a:rPr lang="en-US" dirty="0"/>
              <a:t>Click to add text </a:t>
            </a:r>
          </a:p>
        </p:txBody>
      </p:sp>
    </p:spTree>
    <p:extLst>
      <p:ext uri="{BB962C8B-B14F-4D97-AF65-F5344CB8AC3E}">
        <p14:creationId xmlns:p14="http://schemas.microsoft.com/office/powerpoint/2010/main" val="3487907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6860419"/>
          </a:xfrm>
          <a:prstGeom prst="rect">
            <a:avLst/>
          </a:prstGeom>
        </p:spPr>
      </p:pic>
      <p:sp>
        <p:nvSpPr>
          <p:cNvPr id="2" name="Title 1"/>
          <p:cNvSpPr>
            <a:spLocks noGrp="1"/>
          </p:cNvSpPr>
          <p:nvPr>
            <p:ph type="title" hasCustomPrompt="1"/>
          </p:nvPr>
        </p:nvSpPr>
        <p:spPr>
          <a:xfrm>
            <a:off x="4798030" y="2414427"/>
            <a:ext cx="6549419" cy="2148048"/>
          </a:xfrm>
        </p:spPr>
        <p:txBody>
          <a:bodyPr anchor="b">
            <a:normAutofit/>
          </a:bodyPr>
          <a:lstStyle>
            <a:lvl1pPr>
              <a:defRPr sz="4000" baseline="0">
                <a:solidFill>
                  <a:schemeClr val="accent1">
                    <a:lumMod val="50000"/>
                  </a:schemeClr>
                </a:solidFill>
              </a:defRPr>
            </a:lvl1pPr>
          </a:lstStyle>
          <a:p>
            <a:r>
              <a:rPr lang="en-US" dirty="0"/>
              <a:t>Click to add text</a:t>
            </a:r>
          </a:p>
        </p:txBody>
      </p:sp>
    </p:spTree>
    <p:extLst>
      <p:ext uri="{BB962C8B-B14F-4D97-AF65-F5344CB8AC3E}">
        <p14:creationId xmlns:p14="http://schemas.microsoft.com/office/powerpoint/2010/main" val="14694796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6860419"/>
          </a:xfrm>
          <a:prstGeom prst="rect">
            <a:avLst/>
          </a:prstGeom>
        </p:spPr>
      </p:pic>
      <p:sp>
        <p:nvSpPr>
          <p:cNvPr id="2" name="Title 1"/>
          <p:cNvSpPr>
            <a:spLocks noGrp="1"/>
          </p:cNvSpPr>
          <p:nvPr>
            <p:ph type="title" hasCustomPrompt="1"/>
          </p:nvPr>
        </p:nvSpPr>
        <p:spPr/>
        <p:txBody>
          <a:bodyPr>
            <a:normAutofit/>
          </a:bodyPr>
          <a:lstStyle>
            <a:lvl1pPr>
              <a:defRPr sz="4000" baseline="0">
                <a:solidFill>
                  <a:schemeClr val="accent1">
                    <a:lumMod val="50000"/>
                  </a:schemeClr>
                </a:solidFill>
              </a:defRPr>
            </a:lvl1pPr>
          </a:lstStyle>
          <a:p>
            <a:r>
              <a:rPr lang="en-US" dirty="0"/>
              <a:t>Click to add text</a:t>
            </a:r>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a:t>
            </a:r>
          </a:p>
        </p:txBody>
      </p:sp>
      <p:sp>
        <p:nvSpPr>
          <p:cNvPr id="4" name="Content Placeholder 3"/>
          <p:cNvSpPr>
            <a:spLocks noGrp="1"/>
          </p:cNvSpPr>
          <p:nvPr>
            <p:ph sz="half" idx="2"/>
          </p:nvPr>
        </p:nvSpPr>
        <p:spPr>
          <a:xfrm>
            <a:off x="6172200" y="1825625"/>
            <a:ext cx="5181600" cy="4351338"/>
          </a:xfrm>
        </p:spPr>
        <p:txBody>
          <a:bodyPr/>
          <a:lstStyle/>
          <a:p>
            <a:pPr lvl="0"/>
            <a:r>
              <a:rPr lang="en-US" dirty="0"/>
              <a:t>Click to edit</a:t>
            </a:r>
          </a:p>
        </p:txBody>
      </p:sp>
      <p:sp>
        <p:nvSpPr>
          <p:cNvPr id="5" name="Date Placeholder 4"/>
          <p:cNvSpPr>
            <a:spLocks noGrp="1"/>
          </p:cNvSpPr>
          <p:nvPr>
            <p:ph type="dt" sz="half" idx="10"/>
          </p:nvPr>
        </p:nvSpPr>
        <p:spPr/>
        <p:txBody>
          <a:bodyPr/>
          <a:lstStyle/>
          <a:p>
            <a:fld id="{5574C207-7A81-4737-8BB1-F773A1644F8F}"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69561D-2BA4-460C-B7B9-A3AAE34D46B8}" type="slidenum">
              <a:rPr lang="en-US" smtClean="0"/>
              <a:t>‹#›</a:t>
            </a:fld>
            <a:endParaRPr lang="en-US"/>
          </a:p>
        </p:txBody>
      </p:sp>
    </p:spTree>
    <p:extLst>
      <p:ext uri="{BB962C8B-B14F-4D97-AF65-F5344CB8AC3E}">
        <p14:creationId xmlns:p14="http://schemas.microsoft.com/office/powerpoint/2010/main" val="14075633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6860419"/>
          </a:xfrm>
          <a:prstGeom prst="rect">
            <a:avLst/>
          </a:prstGeom>
        </p:spPr>
      </p:pic>
      <p:sp>
        <p:nvSpPr>
          <p:cNvPr id="2" name="Title 1"/>
          <p:cNvSpPr>
            <a:spLocks noGrp="1"/>
          </p:cNvSpPr>
          <p:nvPr>
            <p:ph type="title" hasCustomPrompt="1"/>
          </p:nvPr>
        </p:nvSpPr>
        <p:spPr>
          <a:xfrm>
            <a:off x="839788" y="365125"/>
            <a:ext cx="10515600" cy="1325563"/>
          </a:xfrm>
        </p:spPr>
        <p:txBody>
          <a:bodyPr>
            <a:normAutofit/>
          </a:bodyPr>
          <a:lstStyle>
            <a:lvl1pPr>
              <a:defRPr sz="4000">
                <a:solidFill>
                  <a:schemeClr val="accent1">
                    <a:lumMod val="50000"/>
                  </a:schemeClr>
                </a:solidFill>
              </a:defRPr>
            </a:lvl1pPr>
          </a:lstStyle>
          <a:p>
            <a:r>
              <a:rPr lang="en-US" dirty="0"/>
              <a:t>Click to add text</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4" name="Content Placeholder 3"/>
          <p:cNvSpPr>
            <a:spLocks noGrp="1"/>
          </p:cNvSpPr>
          <p:nvPr>
            <p:ph sz="half" idx="2"/>
          </p:nvPr>
        </p:nvSpPr>
        <p:spPr>
          <a:xfrm>
            <a:off x="839788" y="2505075"/>
            <a:ext cx="5157787" cy="3684588"/>
          </a:xfrm>
        </p:spPr>
        <p:txBody>
          <a:bodyPr/>
          <a:lstStyle>
            <a:lvl3pPr marL="1257300" indent="-342900">
              <a:buFont typeface="Arial" panose="020B0604020202020204" pitchFamily="34" charset="0"/>
              <a:buChar char="•"/>
              <a:defRPr/>
            </a:lvl3pPr>
          </a:lstStyle>
          <a:p>
            <a:pPr lvl="0"/>
            <a:r>
              <a:rPr lang="en-US" dirty="0"/>
              <a:t>Click to edit</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6" name="Content Placeholder 5"/>
          <p:cNvSpPr>
            <a:spLocks noGrp="1"/>
          </p:cNvSpPr>
          <p:nvPr>
            <p:ph sz="quarter" idx="4"/>
          </p:nvPr>
        </p:nvSpPr>
        <p:spPr>
          <a:xfrm>
            <a:off x="6172200" y="2505075"/>
            <a:ext cx="5183188" cy="3684588"/>
          </a:xfrm>
        </p:spPr>
        <p:txBody>
          <a:bodyPr/>
          <a:lstStyle/>
          <a:p>
            <a:pPr lvl="0"/>
            <a:r>
              <a:rPr lang="en-US" dirty="0"/>
              <a:t>Click to edit</a:t>
            </a:r>
          </a:p>
        </p:txBody>
      </p:sp>
      <p:sp>
        <p:nvSpPr>
          <p:cNvPr id="7" name="Date Placeholder 6"/>
          <p:cNvSpPr>
            <a:spLocks noGrp="1"/>
          </p:cNvSpPr>
          <p:nvPr>
            <p:ph type="dt" sz="half" idx="10"/>
          </p:nvPr>
        </p:nvSpPr>
        <p:spPr/>
        <p:txBody>
          <a:bodyPr/>
          <a:lstStyle/>
          <a:p>
            <a:fld id="{5574C207-7A81-4737-8BB1-F773A1644F8F}" type="datetimeFigureOut">
              <a:rPr lang="en-US" smtClean="0"/>
              <a:t>9/16/2026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269561D-2BA4-460C-B7B9-A3AAE34D46B8}" type="slidenum">
              <a:rPr lang="en-US" smtClean="0"/>
              <a:t>‹#›</a:t>
            </a:fld>
            <a:endParaRPr lang="en-US"/>
          </a:p>
        </p:txBody>
      </p:sp>
    </p:spTree>
    <p:extLst>
      <p:ext uri="{BB962C8B-B14F-4D97-AF65-F5344CB8AC3E}">
        <p14:creationId xmlns:p14="http://schemas.microsoft.com/office/powerpoint/2010/main" val="7593136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6860419"/>
          </a:xfrm>
          <a:prstGeom prst="rect">
            <a:avLst/>
          </a:prstGeom>
        </p:spPr>
      </p:pic>
      <p:sp>
        <p:nvSpPr>
          <p:cNvPr id="2" name="Title 1"/>
          <p:cNvSpPr>
            <a:spLocks noGrp="1"/>
          </p:cNvSpPr>
          <p:nvPr>
            <p:ph type="title" hasCustomPrompt="1"/>
          </p:nvPr>
        </p:nvSpPr>
        <p:spPr/>
        <p:txBody>
          <a:bodyPr>
            <a:normAutofit/>
          </a:bodyPr>
          <a:lstStyle>
            <a:lvl1pPr>
              <a:defRPr sz="4000">
                <a:solidFill>
                  <a:schemeClr val="accent1">
                    <a:lumMod val="50000"/>
                  </a:schemeClr>
                </a:solidFill>
              </a:defRPr>
            </a:lvl1pPr>
          </a:lstStyle>
          <a:p>
            <a:r>
              <a:rPr lang="en-US" dirty="0"/>
              <a:t>Click to add text</a:t>
            </a:r>
          </a:p>
        </p:txBody>
      </p:sp>
      <p:sp>
        <p:nvSpPr>
          <p:cNvPr id="3" name="Date Placeholder 2"/>
          <p:cNvSpPr>
            <a:spLocks noGrp="1"/>
          </p:cNvSpPr>
          <p:nvPr>
            <p:ph type="dt" sz="half" idx="10"/>
          </p:nvPr>
        </p:nvSpPr>
        <p:spPr/>
        <p:txBody>
          <a:bodyPr/>
          <a:lstStyle/>
          <a:p>
            <a:fld id="{5574C207-7A81-4737-8BB1-F773A1644F8F}" type="datetimeFigureOut">
              <a:rPr lang="en-US" smtClean="0"/>
              <a:t>9/16/2026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269561D-2BA4-460C-B7B9-A3AAE34D46B8}" type="slidenum">
              <a:rPr lang="en-US" smtClean="0"/>
              <a:t>‹#›</a:t>
            </a:fld>
            <a:endParaRPr lang="en-US"/>
          </a:p>
        </p:txBody>
      </p:sp>
    </p:spTree>
    <p:extLst>
      <p:ext uri="{BB962C8B-B14F-4D97-AF65-F5344CB8AC3E}">
        <p14:creationId xmlns:p14="http://schemas.microsoft.com/office/powerpoint/2010/main" val="2976461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74C207-7A81-4737-8BB1-F773A1644F8F}" type="datetimeFigureOut">
              <a:rPr lang="en-US" smtClean="0"/>
              <a:t>9/16/2026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269561D-2BA4-460C-B7B9-A3AAE34D46B8}" type="slidenum">
              <a:rPr lang="en-US" smtClean="0"/>
              <a:t>‹#›</a:t>
            </a:fld>
            <a:endParaRPr lang="en-US"/>
          </a:p>
        </p:txBody>
      </p:sp>
    </p:spTree>
    <p:extLst>
      <p:ext uri="{BB962C8B-B14F-4D97-AF65-F5344CB8AC3E}">
        <p14:creationId xmlns:p14="http://schemas.microsoft.com/office/powerpoint/2010/main" val="47626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a:t>
            </a:r>
          </a:p>
        </p:txBody>
      </p:sp>
      <p:sp>
        <p:nvSpPr>
          <p:cNvPr id="5" name="Date Placeholder 4"/>
          <p:cNvSpPr>
            <a:spLocks noGrp="1"/>
          </p:cNvSpPr>
          <p:nvPr>
            <p:ph type="dt" sz="half" idx="10"/>
          </p:nvPr>
        </p:nvSpPr>
        <p:spPr/>
        <p:txBody>
          <a:bodyPr/>
          <a:lstStyle/>
          <a:p>
            <a:fld id="{5574C207-7A81-4737-8BB1-F773A1644F8F}"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69561D-2BA4-460C-B7B9-A3AAE34D46B8}" type="slidenum">
              <a:rPr lang="en-US" smtClean="0"/>
              <a:t>‹#›</a:t>
            </a:fld>
            <a:endParaRPr lang="en-US"/>
          </a:p>
        </p:txBody>
      </p:sp>
    </p:spTree>
    <p:extLst>
      <p:ext uri="{BB962C8B-B14F-4D97-AF65-F5344CB8AC3E}">
        <p14:creationId xmlns:p14="http://schemas.microsoft.com/office/powerpoint/2010/main" val="400630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accent1">
                    <a:lumMod val="50000"/>
                  </a:schemeClr>
                </a:solidFill>
              </a:defRPr>
            </a:lvl1pPr>
          </a:lstStyle>
          <a:p>
            <a:r>
              <a:rPr lang="en-US" dirty="0"/>
              <a:t>Click to add text</a:t>
            </a:r>
          </a:p>
        </p:txBody>
      </p:sp>
      <p:sp>
        <p:nvSpPr>
          <p:cNvPr id="3" name="Vertical Text Placeholder 2"/>
          <p:cNvSpPr>
            <a:spLocks noGrp="1"/>
          </p:cNvSpPr>
          <p:nvPr>
            <p:ph type="body" orient="vert" idx="1" hasCustomPrompt="1"/>
          </p:nvPr>
        </p:nvSpPr>
        <p:spPr/>
        <p:txBody>
          <a:bodyPr vert="eaVert"/>
          <a:lstStyle/>
          <a:p>
            <a:pPr lvl="0"/>
            <a:r>
              <a:rPr lang="en-US" dirty="0"/>
              <a:t>Click to edit 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574C207-7A81-4737-8BB1-F773A1644F8F}"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69561D-2BA4-460C-B7B9-A3AAE34D46B8}" type="slidenum">
              <a:rPr lang="en-US" smtClean="0"/>
              <a:t>‹#›</a:t>
            </a:fld>
            <a:endParaRPr lang="en-US"/>
          </a:p>
        </p:txBody>
      </p:sp>
    </p:spTree>
    <p:extLst>
      <p:ext uri="{BB962C8B-B14F-4D97-AF65-F5344CB8AC3E}">
        <p14:creationId xmlns:p14="http://schemas.microsoft.com/office/powerpoint/2010/main" val="34185697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8724900" y="365125"/>
            <a:ext cx="2628900" cy="5811838"/>
          </a:xfrm>
        </p:spPr>
        <p:txBody>
          <a:bodyPr vert="eaVert"/>
          <a:lstStyle>
            <a:lvl1pPr>
              <a:defRPr baseline="0"/>
            </a:lvl1pPr>
          </a:lstStyle>
          <a:p>
            <a:r>
              <a:rPr lang="en-US" dirty="0"/>
              <a:t>Click to edit title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574C207-7A81-4737-8BB1-F773A1644F8F}"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69561D-2BA4-460C-B7B9-A3AAE34D46B8}" type="slidenum">
              <a:rPr lang="en-US" smtClean="0"/>
              <a:t>‹#›</a:t>
            </a:fld>
            <a:endParaRPr lang="en-US"/>
          </a:p>
        </p:txBody>
      </p:sp>
    </p:spTree>
    <p:extLst>
      <p:ext uri="{BB962C8B-B14F-4D97-AF65-F5344CB8AC3E}">
        <p14:creationId xmlns:p14="http://schemas.microsoft.com/office/powerpoint/2010/main" val="28343842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74C207-7A81-4737-8BB1-F773A1644F8F}" type="datetimeFigureOut">
              <a:rPr lang="en-US" smtClean="0"/>
              <a:t>9/16/2026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69561D-2BA4-460C-B7B9-A3AAE34D46B8}" type="slidenum">
              <a:rPr lang="en-US" smtClean="0"/>
              <a:t>‹#›</a:t>
            </a:fld>
            <a:endParaRPr lang="en-US"/>
          </a:p>
        </p:txBody>
      </p:sp>
    </p:spTree>
    <p:extLst>
      <p:ext uri="{BB962C8B-B14F-4D97-AF65-F5344CB8AC3E}">
        <p14:creationId xmlns:p14="http://schemas.microsoft.com/office/powerpoint/2010/main" val="3314903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7" r:id="rId8"/>
    <p:sldLayoutId id="2147483658" r:id="rId9"/>
    <p:sldLayoutId id="2147483659"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18" Type="http://schemas.openxmlformats.org/officeDocument/2006/relationships/image" Target="../media/image32.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17" Type="http://schemas.openxmlformats.org/officeDocument/2006/relationships/image" Target="../media/image31.png"/><Relationship Id="rId2" Type="http://schemas.openxmlformats.org/officeDocument/2006/relationships/image" Target="../media/image11.png"/><Relationship Id="rId16"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29.png"/><Relationship Id="rId10" Type="http://schemas.openxmlformats.org/officeDocument/2006/relationships/image" Target="../media/image25.png"/><Relationship Id="rId19" Type="http://schemas.openxmlformats.org/officeDocument/2006/relationships/image" Target="../media/image33.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43.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7.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14.png"/><Relationship Id="rId4" Type="http://schemas.openxmlformats.org/officeDocument/2006/relationships/image" Target="../media/image45.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13.xml.rels><?xml version="1.0" encoding="UTF-8" standalone="yes"?>
<Relationships xmlns="http://schemas.openxmlformats.org/package/2006/relationships"><Relationship Id="rId8" Type="http://schemas.openxmlformats.org/officeDocument/2006/relationships/image" Target="../media/image54.png"/><Relationship Id="rId13" Type="http://schemas.openxmlformats.org/officeDocument/2006/relationships/image" Target="../media/image59.png"/><Relationship Id="rId3" Type="http://schemas.openxmlformats.org/officeDocument/2006/relationships/image" Target="../media/image49.png"/><Relationship Id="rId7" Type="http://schemas.openxmlformats.org/officeDocument/2006/relationships/image" Target="../media/image53.png"/><Relationship Id="rId12" Type="http://schemas.openxmlformats.org/officeDocument/2006/relationships/image" Target="../media/image58.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52.png"/><Relationship Id="rId11" Type="http://schemas.openxmlformats.org/officeDocument/2006/relationships/image" Target="../media/image57.png"/><Relationship Id="rId5" Type="http://schemas.openxmlformats.org/officeDocument/2006/relationships/image" Target="../media/image51.png"/><Relationship Id="rId15" Type="http://schemas.openxmlformats.org/officeDocument/2006/relationships/image" Target="../media/image60.png"/><Relationship Id="rId10" Type="http://schemas.openxmlformats.org/officeDocument/2006/relationships/image" Target="../media/image56.png"/><Relationship Id="rId4" Type="http://schemas.openxmlformats.org/officeDocument/2006/relationships/image" Target="../media/image50.png"/><Relationship Id="rId9" Type="http://schemas.openxmlformats.org/officeDocument/2006/relationships/image" Target="../media/image55.png"/><Relationship Id="rId1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61.png"/><Relationship Id="rId7" Type="http://schemas.openxmlformats.org/officeDocument/2006/relationships/image" Target="../media/image17.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4.png"/><Relationship Id="rId7" Type="http://schemas.openxmlformats.org/officeDocument/2006/relationships/image" Target="../media/image67.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66.png"/><Relationship Id="rId5" Type="http://schemas.openxmlformats.org/officeDocument/2006/relationships/image" Target="../media/image14.png"/><Relationship Id="rId4" Type="http://schemas.openxmlformats.org/officeDocument/2006/relationships/image" Target="../media/image65.png"/><Relationship Id="rId9" Type="http://schemas.openxmlformats.org/officeDocument/2006/relationships/image" Target="../media/image17.png"/></Relationships>
</file>

<file path=ppt/slides/_rels/slide16.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69.png"/><Relationship Id="rId7" Type="http://schemas.openxmlformats.org/officeDocument/2006/relationships/image" Target="../media/image72.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71.png"/><Relationship Id="rId10" Type="http://schemas.openxmlformats.org/officeDocument/2006/relationships/image" Target="../media/image75.png"/><Relationship Id="rId4" Type="http://schemas.openxmlformats.org/officeDocument/2006/relationships/image" Target="../media/image70.png"/><Relationship Id="rId9" Type="http://schemas.openxmlformats.org/officeDocument/2006/relationships/image" Target="../media/image74.png"/></Relationships>
</file>

<file path=ppt/slides/_rels/slide17.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79.png"/><Relationship Id="rId4" Type="http://schemas.openxmlformats.org/officeDocument/2006/relationships/image" Target="../media/image78.png"/></Relationships>
</file>

<file path=ppt/slides/_rels/slide1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4.png"/><Relationship Id="rId7" Type="http://schemas.openxmlformats.org/officeDocument/2006/relationships/image" Target="../media/image89.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png"/></Relationships>
</file>

<file path=ppt/slides/_rels/slide2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91.png"/><Relationship Id="rId7" Type="http://schemas.openxmlformats.org/officeDocument/2006/relationships/image" Target="../media/image95.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image" Target="../media/image92.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96.png"/></Relationships>
</file>

<file path=ppt/slides/_rels/slide25.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99.png"/><Relationship Id="rId5" Type="http://schemas.openxmlformats.org/officeDocument/2006/relationships/image" Target="../media/image98.png"/><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01.png"/><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04.png"/><Relationship Id="rId5" Type="http://schemas.openxmlformats.org/officeDocument/2006/relationships/image" Target="../media/image14.png"/><Relationship Id="rId4" Type="http://schemas.openxmlformats.org/officeDocument/2006/relationships/image" Target="../media/image103.png"/></Relationships>
</file>

<file path=ppt/slides/_rels/slide28.xml.rels><?xml version="1.0" encoding="UTF-8" standalone="yes"?>
<Relationships xmlns="http://schemas.openxmlformats.org/package/2006/relationships"><Relationship Id="rId8" Type="http://schemas.openxmlformats.org/officeDocument/2006/relationships/image" Target="../media/image110.png"/><Relationship Id="rId3" Type="http://schemas.openxmlformats.org/officeDocument/2006/relationships/image" Target="../media/image105.png"/><Relationship Id="rId7" Type="http://schemas.openxmlformats.org/officeDocument/2006/relationships/image" Target="../media/image109.png"/><Relationship Id="rId12" Type="http://schemas.openxmlformats.org/officeDocument/2006/relationships/image" Target="../media/image113.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08.png"/><Relationship Id="rId11" Type="http://schemas.openxmlformats.org/officeDocument/2006/relationships/image" Target="../media/image112.png"/><Relationship Id="rId5" Type="http://schemas.openxmlformats.org/officeDocument/2006/relationships/image" Target="../media/image107.png"/><Relationship Id="rId10" Type="http://schemas.openxmlformats.org/officeDocument/2006/relationships/image" Target="../media/image111.png"/><Relationship Id="rId4" Type="http://schemas.openxmlformats.org/officeDocument/2006/relationships/image" Target="../media/image106.png"/><Relationship Id="rId9" Type="http://schemas.openxmlformats.org/officeDocument/2006/relationships/image" Target="../media/image14.png"/></Relationships>
</file>

<file path=ppt/slides/_rels/slide29.xml.rels><?xml version="1.0" encoding="UTF-8" standalone="yes"?>
<Relationships xmlns="http://schemas.openxmlformats.org/package/2006/relationships"><Relationship Id="rId3" Type="http://schemas.openxmlformats.org/officeDocument/2006/relationships/image" Target="../media/image114.png"/><Relationship Id="rId7" Type="http://schemas.openxmlformats.org/officeDocument/2006/relationships/image" Target="../media/image117.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16.png"/><Relationship Id="rId4" Type="http://schemas.openxmlformats.org/officeDocument/2006/relationships/image" Target="../media/image115.png"/></Relationships>
</file>

<file path=ppt/slides/_rels/slide30.xml.rels><?xml version="1.0" encoding="UTF-8" standalone="yes"?>
<Relationships xmlns="http://schemas.openxmlformats.org/package/2006/relationships"><Relationship Id="rId8" Type="http://schemas.openxmlformats.org/officeDocument/2006/relationships/image" Target="../media/image123.png"/><Relationship Id="rId3" Type="http://schemas.openxmlformats.org/officeDocument/2006/relationships/image" Target="../media/image118.png"/><Relationship Id="rId7" Type="http://schemas.openxmlformats.org/officeDocument/2006/relationships/image" Target="../media/image122.png"/><Relationship Id="rId12" Type="http://schemas.openxmlformats.org/officeDocument/2006/relationships/image" Target="../media/image126.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21.png"/><Relationship Id="rId11" Type="http://schemas.openxmlformats.org/officeDocument/2006/relationships/image" Target="../media/image125.png"/><Relationship Id="rId5" Type="http://schemas.openxmlformats.org/officeDocument/2006/relationships/image" Target="../media/image120.png"/><Relationship Id="rId10" Type="http://schemas.openxmlformats.org/officeDocument/2006/relationships/image" Target="../media/image124.png"/><Relationship Id="rId4" Type="http://schemas.openxmlformats.org/officeDocument/2006/relationships/image" Target="../media/image119.png"/><Relationship Id="rId9" Type="http://schemas.openxmlformats.org/officeDocument/2006/relationships/image" Target="../media/image14.png"/></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29.png"/><Relationship Id="rId5" Type="http://schemas.openxmlformats.org/officeDocument/2006/relationships/image" Target="../media/image128.png"/><Relationship Id="rId4" Type="http://schemas.openxmlformats.org/officeDocument/2006/relationships/image" Target="../media/image127.png"/></Relationships>
</file>

<file path=ppt/slides/_rels/slide32.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33.png"/><Relationship Id="rId5" Type="http://schemas.openxmlformats.org/officeDocument/2006/relationships/image" Target="../media/image132.png"/><Relationship Id="rId4" Type="http://schemas.openxmlformats.org/officeDocument/2006/relationships/image" Target="../media/image13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34.png"/><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36.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78.png"/><Relationship Id="rId1" Type="http://schemas.openxmlformats.org/officeDocument/2006/relationships/slideLayout" Target="../slideLayouts/slideLayout2.xml"/><Relationship Id="rId4" Type="http://schemas.openxmlformats.org/officeDocument/2006/relationships/image" Target="../media/image136.png"/></Relationships>
</file>

<file path=ppt/slides/_rels/slide3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image" Target="../media/image134.png"/><Relationship Id="rId1" Type="http://schemas.openxmlformats.org/officeDocument/2006/relationships/slideLayout" Target="../slideLayouts/slideLayout2.xml"/><Relationship Id="rId4" Type="http://schemas.openxmlformats.org/officeDocument/2006/relationships/image" Target="../media/image79.png"/></Relationships>
</file>

<file path=ppt/slides/_rels/slide43.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7.png"/><Relationship Id="rId1" Type="http://schemas.openxmlformats.org/officeDocument/2006/relationships/slideLayout" Target="../slideLayouts/slideLayout2.xml"/><Relationship Id="rId4" Type="http://schemas.openxmlformats.org/officeDocument/2006/relationships/image" Target="../media/image139.png"/></Relationships>
</file>

<file path=ppt/slides/_rels/slide44.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40.png"/><Relationship Id="rId1" Type="http://schemas.openxmlformats.org/officeDocument/2006/relationships/slideLayout" Target="../slideLayouts/slideLayout2.xml"/><Relationship Id="rId4" Type="http://schemas.openxmlformats.org/officeDocument/2006/relationships/image" Target="../media/image141.png"/></Relationships>
</file>

<file path=ppt/slides/_rels/slide46.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42.png"/><Relationship Id="rId1" Type="http://schemas.openxmlformats.org/officeDocument/2006/relationships/slideLayout" Target="../slideLayouts/slideLayout2.xml"/><Relationship Id="rId4" Type="http://schemas.openxmlformats.org/officeDocument/2006/relationships/image" Target="../media/image143.png"/></Relationships>
</file>

<file path=ppt/slides/_rels/slide4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4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4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4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image" Target="../media/image134.png"/><Relationship Id="rId1" Type="http://schemas.openxmlformats.org/officeDocument/2006/relationships/slideLayout" Target="../slideLayouts/slideLayout2.xml"/><Relationship Id="rId4" Type="http://schemas.openxmlformats.org/officeDocument/2006/relationships/image" Target="../media/image148.png"/></Relationships>
</file>

<file path=ppt/slides/_rels/slide55.xml.rels><?xml version="1.0" encoding="UTF-8" standalone="yes"?>
<Relationships xmlns="http://schemas.openxmlformats.org/package/2006/relationships"><Relationship Id="rId2" Type="http://schemas.openxmlformats.org/officeDocument/2006/relationships/image" Target="../media/image14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image" Target="../media/image15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image" Target="../media/image15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image" Target="../media/image15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image" Target="../media/image15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6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image" Target="../media/image16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image" Target="../media/image16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65.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6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67.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image" Target="../media/image16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169.png"/><Relationship Id="rId1" Type="http://schemas.openxmlformats.org/officeDocument/2006/relationships/slideLayout" Target="../slideLayouts/slideLayout2.xml"/><Relationship Id="rId4" Type="http://schemas.openxmlformats.org/officeDocument/2006/relationships/image" Target="../media/image171.png"/></Relationships>
</file>

<file path=ppt/slides/_rels/slide72.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image" Target="../media/image17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image" Target="../media/image174.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66.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image" Target="../media/image176.png"/><Relationship Id="rId1" Type="http://schemas.openxmlformats.org/officeDocument/2006/relationships/slideLayout" Target="../slideLayouts/slideLayout2.xml"/><Relationship Id="rId5" Type="http://schemas.openxmlformats.org/officeDocument/2006/relationships/image" Target="../media/image179.png"/><Relationship Id="rId4" Type="http://schemas.openxmlformats.org/officeDocument/2006/relationships/image" Target="../media/image178.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40772" y="1553787"/>
            <a:ext cx="6996700" cy="2123658"/>
          </a:xfrm>
        </p:spPr>
        <p:txBody>
          <a:bodyPr>
            <a:normAutofit/>
          </a:bodyPr>
          <a:lstStyle/>
          <a:p>
            <a:pPr algn="r"/>
            <a:r>
              <a:rPr lang="en-US" sz="3200" kern="50" dirty="0">
                <a:latin typeface="Times New Roman" panose="02020603050405020304" pitchFamily="18" charset="0"/>
                <a:ea typeface="Lucida Sans Unicode" panose="020B0602030504020204" pitchFamily="34" charset="0"/>
              </a:rPr>
              <a:t>Applied Data Science – Week 4</a:t>
            </a:r>
            <a:br>
              <a:rPr lang="en-US" sz="3200" kern="50" dirty="0">
                <a:latin typeface="Times New Roman" panose="02020603050405020304" pitchFamily="18" charset="0"/>
                <a:ea typeface="Lucida Sans Unicode" panose="020B0602030504020204" pitchFamily="34" charset="0"/>
              </a:rPr>
            </a:br>
            <a:r>
              <a:rPr lang="en-US" sz="3600" kern="50" dirty="0" err="1">
                <a:latin typeface="Times New Roman" panose="02020603050405020304" pitchFamily="18" charset="0"/>
                <a:ea typeface="Lucida Sans Unicode" panose="020B0602030504020204" pitchFamily="34" charset="0"/>
              </a:rPr>
              <a:t>Telaah</a:t>
            </a:r>
            <a:r>
              <a:rPr lang="en-US" sz="3600" kern="50" dirty="0">
                <a:latin typeface="Times New Roman" panose="02020603050405020304" pitchFamily="18" charset="0"/>
                <a:ea typeface="Lucida Sans Unicode" panose="020B0602030504020204" pitchFamily="34" charset="0"/>
              </a:rPr>
              <a:t> Data</a:t>
            </a:r>
            <a:endParaRPr lang="en-US" dirty="0">
              <a:solidFill>
                <a:srgbClr val="00B050"/>
              </a:solidFill>
            </a:endParaRPr>
          </a:p>
        </p:txBody>
      </p:sp>
      <p:sp>
        <p:nvSpPr>
          <p:cNvPr id="5" name="TextBox 4">
            <a:extLst>
              <a:ext uri="{FF2B5EF4-FFF2-40B4-BE49-F238E27FC236}">
                <a16:creationId xmlns:a16="http://schemas.microsoft.com/office/drawing/2014/main" id="{0E019929-5D50-4E5F-EB5C-5C6FAB814C4B}"/>
              </a:ext>
            </a:extLst>
          </p:cNvPr>
          <p:cNvSpPr txBox="1"/>
          <p:nvPr/>
        </p:nvSpPr>
        <p:spPr>
          <a:xfrm>
            <a:off x="6266893" y="4663222"/>
            <a:ext cx="4870579" cy="830997"/>
          </a:xfrm>
          <a:prstGeom prst="rect">
            <a:avLst/>
          </a:prstGeom>
          <a:noFill/>
        </p:spPr>
        <p:txBody>
          <a:bodyPr wrap="square">
            <a:spAutoFit/>
          </a:bodyPr>
          <a:lstStyle/>
          <a:p>
            <a:pPr algn="r"/>
            <a:r>
              <a:rPr lang="en-US" sz="2400" dirty="0">
                <a:solidFill>
                  <a:srgbClr val="0070C0"/>
                </a:solidFill>
              </a:rPr>
              <a:t>Dr. Muhammad </a:t>
            </a:r>
            <a:r>
              <a:rPr lang="en-US" sz="2400" dirty="0" err="1">
                <a:solidFill>
                  <a:srgbClr val="0070C0"/>
                </a:solidFill>
              </a:rPr>
              <a:t>Fakhrurrifqi</a:t>
            </a:r>
            <a:endParaRPr lang="en-US" sz="2400" dirty="0">
              <a:solidFill>
                <a:srgbClr val="0070C0"/>
              </a:solidFill>
            </a:endParaRPr>
          </a:p>
          <a:p>
            <a:pPr algn="r"/>
            <a:r>
              <a:rPr lang="en-US" sz="2400" dirty="0">
                <a:solidFill>
                  <a:srgbClr val="0070C0"/>
                </a:solidFill>
              </a:rPr>
              <a:t>Anindita </a:t>
            </a:r>
            <a:r>
              <a:rPr lang="en-US" sz="2400" dirty="0" err="1">
                <a:solidFill>
                  <a:srgbClr val="0070C0"/>
                </a:solidFill>
              </a:rPr>
              <a:t>Suryarasmi</a:t>
            </a:r>
            <a:r>
              <a:rPr lang="en-US" sz="2400">
                <a:solidFill>
                  <a:srgbClr val="0070C0"/>
                </a:solidFill>
              </a:rPr>
              <a:t>, Ph</a:t>
            </a:r>
            <a:r>
              <a:rPr lang="en-US" sz="2400" dirty="0">
                <a:solidFill>
                  <a:srgbClr val="0070C0"/>
                </a:solidFill>
              </a:rPr>
              <a:t>.D.</a:t>
            </a:r>
            <a:endParaRPr lang="en-US" sz="2400" dirty="0"/>
          </a:p>
        </p:txBody>
      </p:sp>
    </p:spTree>
    <p:extLst>
      <p:ext uri="{BB962C8B-B14F-4D97-AF65-F5344CB8AC3E}">
        <p14:creationId xmlns:p14="http://schemas.microsoft.com/office/powerpoint/2010/main" val="1948991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E997C-95D4-6AA1-D22F-465E7F4D7D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D92268-1306-0609-258C-E8F27735F8C2}"/>
              </a:ext>
            </a:extLst>
          </p:cNvPr>
          <p:cNvSpPr>
            <a:spLocks noGrp="1"/>
          </p:cNvSpPr>
          <p:nvPr>
            <p:ph type="title"/>
          </p:nvPr>
        </p:nvSpPr>
        <p:spPr>
          <a:xfrm>
            <a:off x="838200" y="365125"/>
            <a:ext cx="10515600" cy="915035"/>
          </a:xfrm>
        </p:spPr>
        <p:txBody>
          <a:bodyPr/>
          <a:lstStyle/>
          <a:p>
            <a:r>
              <a:rPr lang="en-US" dirty="0"/>
              <a:t>Outline</a:t>
            </a:r>
          </a:p>
        </p:txBody>
      </p:sp>
      <p:sp>
        <p:nvSpPr>
          <p:cNvPr id="3" name="Content Placeholder 2">
            <a:extLst>
              <a:ext uri="{FF2B5EF4-FFF2-40B4-BE49-F238E27FC236}">
                <a16:creationId xmlns:a16="http://schemas.microsoft.com/office/drawing/2014/main" id="{EE26EFEE-2255-DDDD-8F6B-CA4ACA6C0971}"/>
              </a:ext>
            </a:extLst>
          </p:cNvPr>
          <p:cNvSpPr>
            <a:spLocks noGrp="1"/>
          </p:cNvSpPr>
          <p:nvPr>
            <p:ph idx="1"/>
          </p:nvPr>
        </p:nvSpPr>
        <p:spPr>
          <a:xfrm>
            <a:off x="838200" y="1455174"/>
            <a:ext cx="10515600" cy="4721789"/>
          </a:xfrm>
        </p:spPr>
        <p:txBody>
          <a:bodyPr>
            <a:normAutofit/>
          </a:bodyPr>
          <a:lstStyle/>
          <a:p>
            <a:r>
              <a:rPr lang="en-US" b="1" dirty="0">
                <a:solidFill>
                  <a:srgbClr val="0F172A"/>
                </a:solidFill>
                <a:latin typeface="Plus Jakarta Sans"/>
              </a:rPr>
              <a:t>Studi </a:t>
            </a:r>
            <a:r>
              <a:rPr lang="en-US" b="1" dirty="0" err="1">
                <a:solidFill>
                  <a:srgbClr val="0F172A"/>
                </a:solidFill>
                <a:latin typeface="Plus Jakarta Sans"/>
              </a:rPr>
              <a:t>Kasus</a:t>
            </a:r>
            <a:r>
              <a:rPr lang="en-US" b="1" dirty="0">
                <a:solidFill>
                  <a:srgbClr val="0F172A"/>
                </a:solidFill>
                <a:latin typeface="Plus Jakarta Sans"/>
              </a:rPr>
              <a:t> EDA</a:t>
            </a:r>
          </a:p>
          <a:p>
            <a:r>
              <a:rPr lang="en-US" b="1" dirty="0">
                <a:solidFill>
                  <a:srgbClr val="0F172A"/>
                </a:solidFill>
                <a:latin typeface="Plus Jakarta Sans"/>
              </a:rPr>
              <a:t>Variable Visualization</a:t>
            </a:r>
          </a:p>
          <a:p>
            <a:pPr marL="628650" lvl="2" indent="-171450">
              <a:spcBef>
                <a:spcPts val="0"/>
              </a:spcBef>
              <a:buClr>
                <a:srgbClr val="000000"/>
              </a:buClr>
              <a:buSzPts val="1800"/>
              <a:buFont typeface="Arial"/>
              <a:buChar char="○"/>
            </a:pPr>
            <a:r>
              <a:rPr lang="en-US" dirty="0">
                <a:solidFill>
                  <a:srgbClr val="000000"/>
                </a:solidFill>
                <a:latin typeface="Arial"/>
                <a:ea typeface="Arial"/>
                <a:cs typeface="Arial"/>
                <a:sym typeface="Arial"/>
              </a:rPr>
              <a:t>Pie Chart</a:t>
            </a:r>
            <a:endParaRPr lang="en-US" sz="1400" dirty="0">
              <a:solidFill>
                <a:srgbClr val="000000"/>
              </a:solidFill>
              <a:latin typeface="Arial"/>
              <a:ea typeface="Arial"/>
              <a:cs typeface="Arial"/>
              <a:sym typeface="Arial"/>
            </a:endParaRPr>
          </a:p>
          <a:p>
            <a:pPr marL="628650" lvl="2" indent="-171450">
              <a:spcBef>
                <a:spcPts val="360"/>
              </a:spcBef>
              <a:buClr>
                <a:srgbClr val="000000"/>
              </a:buClr>
              <a:buSzPts val="1800"/>
              <a:buFont typeface="Arial"/>
              <a:buChar char="○"/>
            </a:pPr>
            <a:r>
              <a:rPr lang="en-US" dirty="0">
                <a:solidFill>
                  <a:srgbClr val="000000"/>
                </a:solidFill>
                <a:latin typeface="Arial"/>
                <a:ea typeface="Arial"/>
                <a:cs typeface="Arial"/>
                <a:sym typeface="Arial"/>
              </a:rPr>
              <a:t>Bar Chart</a:t>
            </a:r>
            <a:endParaRPr lang="en-US" sz="1400" dirty="0">
              <a:solidFill>
                <a:srgbClr val="000000"/>
              </a:solidFill>
              <a:latin typeface="Arial"/>
              <a:ea typeface="Arial"/>
              <a:cs typeface="Arial"/>
              <a:sym typeface="Arial"/>
            </a:endParaRPr>
          </a:p>
          <a:p>
            <a:pPr marL="628650" lvl="2" indent="-171450">
              <a:spcBef>
                <a:spcPts val="360"/>
              </a:spcBef>
              <a:buClr>
                <a:srgbClr val="000000"/>
              </a:buClr>
              <a:buSzPts val="1800"/>
              <a:buFont typeface="Arial"/>
              <a:buChar char="○"/>
            </a:pPr>
            <a:r>
              <a:rPr lang="en-US" dirty="0">
                <a:solidFill>
                  <a:srgbClr val="000000"/>
                </a:solidFill>
                <a:latin typeface="Arial"/>
                <a:ea typeface="Arial"/>
                <a:cs typeface="Arial"/>
                <a:sym typeface="Arial"/>
              </a:rPr>
              <a:t>Line Graphs</a:t>
            </a:r>
            <a:endParaRPr lang="en-US" sz="1400" dirty="0">
              <a:solidFill>
                <a:srgbClr val="000000"/>
              </a:solidFill>
              <a:latin typeface="Arial"/>
              <a:ea typeface="Arial"/>
              <a:cs typeface="Arial"/>
              <a:sym typeface="Arial"/>
            </a:endParaRPr>
          </a:p>
          <a:p>
            <a:pPr marL="628650" lvl="2" indent="-171450">
              <a:spcBef>
                <a:spcPts val="360"/>
              </a:spcBef>
              <a:buClr>
                <a:srgbClr val="000000"/>
              </a:buClr>
              <a:buSzPts val="1800"/>
              <a:buFont typeface="Arial"/>
              <a:buChar char="○"/>
            </a:pPr>
            <a:r>
              <a:rPr lang="en-US" dirty="0">
                <a:solidFill>
                  <a:srgbClr val="000000"/>
                </a:solidFill>
                <a:latin typeface="Arial"/>
                <a:ea typeface="Arial"/>
                <a:cs typeface="Arial"/>
                <a:sym typeface="Arial"/>
              </a:rPr>
              <a:t>Scatter Plot</a:t>
            </a:r>
            <a:endParaRPr lang="en-US" sz="1400" dirty="0">
              <a:solidFill>
                <a:srgbClr val="000000"/>
              </a:solidFill>
              <a:latin typeface="Arial"/>
              <a:ea typeface="Arial"/>
              <a:cs typeface="Arial"/>
              <a:sym typeface="Arial"/>
            </a:endParaRPr>
          </a:p>
          <a:p>
            <a:pPr marL="628650" lvl="2" indent="-171450">
              <a:spcBef>
                <a:spcPts val="360"/>
              </a:spcBef>
              <a:buClr>
                <a:srgbClr val="000000"/>
              </a:buClr>
              <a:buSzPts val="1800"/>
              <a:buFont typeface="Arial"/>
              <a:buChar char="○"/>
            </a:pPr>
            <a:r>
              <a:rPr lang="en-US" dirty="0">
                <a:solidFill>
                  <a:srgbClr val="000000"/>
                </a:solidFill>
                <a:latin typeface="Arial"/>
                <a:ea typeface="Arial"/>
                <a:cs typeface="Arial"/>
                <a:sym typeface="Arial"/>
              </a:rPr>
              <a:t>Heatmap</a:t>
            </a:r>
            <a:endParaRPr lang="en-US" dirty="0">
              <a:solidFill>
                <a:srgbClr val="0F172A"/>
              </a:solidFill>
              <a:latin typeface="Plus Jakarta Sans"/>
            </a:endParaRPr>
          </a:p>
          <a:p>
            <a:r>
              <a:rPr lang="en-US" b="1" dirty="0">
                <a:solidFill>
                  <a:srgbClr val="0F172A"/>
                </a:solidFill>
                <a:latin typeface="Plus Jakarta Sans"/>
              </a:rPr>
              <a:t>Statistical Visualization</a:t>
            </a:r>
          </a:p>
          <a:p>
            <a:pPr marL="628650" lvl="2" indent="-171450">
              <a:spcBef>
                <a:spcPts val="360"/>
              </a:spcBef>
              <a:buClr>
                <a:srgbClr val="000000"/>
              </a:buClr>
              <a:buSzPts val="1800"/>
              <a:buFont typeface="Arial"/>
              <a:buChar char="○"/>
            </a:pPr>
            <a:r>
              <a:rPr lang="en-US" dirty="0">
                <a:solidFill>
                  <a:srgbClr val="000000"/>
                </a:solidFill>
                <a:latin typeface="Arial"/>
                <a:ea typeface="Arial"/>
                <a:cs typeface="Arial"/>
                <a:sym typeface="Arial"/>
              </a:rPr>
              <a:t>Histogram</a:t>
            </a:r>
          </a:p>
          <a:p>
            <a:pPr marL="628650" lvl="2" indent="-171450">
              <a:spcBef>
                <a:spcPts val="360"/>
              </a:spcBef>
              <a:buClr>
                <a:srgbClr val="000000"/>
              </a:buClr>
              <a:buSzPts val="1800"/>
              <a:buFont typeface="Arial"/>
              <a:buChar char="○"/>
            </a:pPr>
            <a:r>
              <a:rPr lang="en-US" dirty="0">
                <a:solidFill>
                  <a:srgbClr val="000000"/>
                </a:solidFill>
                <a:latin typeface="Arial"/>
                <a:ea typeface="Arial"/>
                <a:cs typeface="Arial"/>
                <a:sym typeface="Arial"/>
              </a:rPr>
              <a:t>Correlation</a:t>
            </a:r>
          </a:p>
          <a:p>
            <a:pPr marL="628650" lvl="2" indent="-171450">
              <a:spcBef>
                <a:spcPts val="360"/>
              </a:spcBef>
              <a:buClr>
                <a:srgbClr val="000000"/>
              </a:buClr>
              <a:buSzPts val="1800"/>
              <a:buFont typeface="Arial"/>
              <a:buChar char="○"/>
            </a:pPr>
            <a:r>
              <a:rPr lang="en-US" dirty="0">
                <a:solidFill>
                  <a:srgbClr val="000000"/>
                </a:solidFill>
                <a:latin typeface="Arial"/>
                <a:ea typeface="Arial"/>
                <a:cs typeface="Arial"/>
                <a:sym typeface="Arial"/>
              </a:rPr>
              <a:t>Descriptive </a:t>
            </a:r>
            <a:r>
              <a:rPr lang="en-US" dirty="0" err="1">
                <a:solidFill>
                  <a:srgbClr val="000000"/>
                </a:solidFill>
                <a:latin typeface="Arial"/>
                <a:ea typeface="Arial"/>
                <a:cs typeface="Arial"/>
                <a:sym typeface="Arial"/>
              </a:rPr>
              <a:t>Statistik</a:t>
            </a:r>
            <a:endParaRPr lang="en-US" dirty="0">
              <a:solidFill>
                <a:srgbClr val="000000"/>
              </a:solidFill>
              <a:latin typeface="Arial"/>
              <a:ea typeface="Arial"/>
              <a:cs typeface="Arial"/>
              <a:sym typeface="Arial"/>
            </a:endParaRPr>
          </a:p>
          <a:p>
            <a:pPr marL="628650" lvl="2" indent="-171450">
              <a:spcBef>
                <a:spcPts val="360"/>
              </a:spcBef>
              <a:buClr>
                <a:srgbClr val="000000"/>
              </a:buClr>
              <a:buSzPts val="1800"/>
              <a:buFont typeface="Arial"/>
              <a:buChar char="○"/>
            </a:pPr>
            <a:r>
              <a:rPr lang="en-US" dirty="0">
                <a:solidFill>
                  <a:srgbClr val="000000"/>
                </a:solidFill>
                <a:latin typeface="Arial"/>
                <a:ea typeface="Arial"/>
                <a:cs typeface="Arial"/>
                <a:sym typeface="Arial"/>
              </a:rPr>
              <a:t>Grouping (Pivot)</a:t>
            </a:r>
          </a:p>
          <a:p>
            <a:pPr marL="628650" lvl="2" indent="-171450">
              <a:spcBef>
                <a:spcPts val="360"/>
              </a:spcBef>
              <a:buClr>
                <a:srgbClr val="000000"/>
              </a:buClr>
              <a:buSzPts val="1800"/>
              <a:buFont typeface="Arial"/>
              <a:buChar char="○"/>
            </a:pPr>
            <a:r>
              <a:rPr lang="en-US" dirty="0">
                <a:solidFill>
                  <a:srgbClr val="000000"/>
                </a:solidFill>
                <a:latin typeface="Arial"/>
                <a:ea typeface="Arial"/>
                <a:cs typeface="Arial"/>
                <a:sym typeface="Arial"/>
              </a:rPr>
              <a:t>ANOVA</a:t>
            </a:r>
            <a:endParaRPr lang="en-US" sz="1400" dirty="0">
              <a:solidFill>
                <a:srgbClr val="000000"/>
              </a:solidFill>
              <a:latin typeface="Arial"/>
              <a:ea typeface="Arial"/>
              <a:cs typeface="Arial"/>
              <a:sym typeface="Arial"/>
            </a:endParaRPr>
          </a:p>
          <a:p>
            <a:pPr lvl="1"/>
            <a:endParaRPr lang="en-US" dirty="0">
              <a:solidFill>
                <a:srgbClr val="0F172A"/>
              </a:solidFill>
              <a:latin typeface="Plus Jakarta Sans"/>
            </a:endParaRPr>
          </a:p>
          <a:p>
            <a:endParaRPr lang="en-US" dirty="0"/>
          </a:p>
        </p:txBody>
      </p:sp>
    </p:spTree>
    <p:extLst>
      <p:ext uri="{BB962C8B-B14F-4D97-AF65-F5344CB8AC3E}">
        <p14:creationId xmlns:p14="http://schemas.microsoft.com/office/powerpoint/2010/main" val="34055319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76250" y="4631977"/>
            <a:ext cx="5143500" cy="923925"/>
          </a:xfrm>
          <a:prstGeom prst="rect">
            <a:avLst/>
          </a:prstGeom>
        </p:spPr>
      </p:pic>
      <p:pic>
        <p:nvPicPr>
          <p:cNvPr id="4" name="Picture 3" descr="image.png"/>
          <p:cNvPicPr>
            <a:picLocks noChangeAspect="1"/>
          </p:cNvPicPr>
          <p:nvPr/>
        </p:nvPicPr>
        <p:blipFill>
          <a:blip r:embed="rId4"/>
          <a:stretch>
            <a:fillRect/>
          </a:stretch>
        </p:blipFill>
        <p:spPr>
          <a:xfrm>
            <a:off x="476250" y="2965102"/>
            <a:ext cx="2500312" cy="642937"/>
          </a:xfrm>
          <a:prstGeom prst="rect">
            <a:avLst/>
          </a:prstGeom>
        </p:spPr>
      </p:pic>
      <p:pic>
        <p:nvPicPr>
          <p:cNvPr id="5" name="Picture 4" descr="image.png"/>
          <p:cNvPicPr>
            <a:picLocks noChangeAspect="1"/>
          </p:cNvPicPr>
          <p:nvPr/>
        </p:nvPicPr>
        <p:blipFill>
          <a:blip r:embed="rId5"/>
          <a:stretch>
            <a:fillRect/>
          </a:stretch>
        </p:blipFill>
        <p:spPr>
          <a:xfrm>
            <a:off x="3119437" y="2965102"/>
            <a:ext cx="2500312" cy="642937"/>
          </a:xfrm>
          <a:prstGeom prst="rect">
            <a:avLst/>
          </a:prstGeom>
        </p:spPr>
      </p:pic>
      <p:pic>
        <p:nvPicPr>
          <p:cNvPr id="6" name="Picture 5" descr="image.png"/>
          <p:cNvPicPr>
            <a:picLocks noChangeAspect="1"/>
          </p:cNvPicPr>
          <p:nvPr/>
        </p:nvPicPr>
        <p:blipFill>
          <a:blip r:embed="rId6"/>
          <a:stretch>
            <a:fillRect/>
          </a:stretch>
        </p:blipFill>
        <p:spPr>
          <a:xfrm>
            <a:off x="476250" y="3750915"/>
            <a:ext cx="2500312" cy="642937"/>
          </a:xfrm>
          <a:prstGeom prst="rect">
            <a:avLst/>
          </a:prstGeom>
        </p:spPr>
      </p:pic>
      <p:pic>
        <p:nvPicPr>
          <p:cNvPr id="7" name="Picture 6" descr="image.png"/>
          <p:cNvPicPr>
            <a:picLocks noChangeAspect="1"/>
          </p:cNvPicPr>
          <p:nvPr/>
        </p:nvPicPr>
        <p:blipFill>
          <a:blip r:embed="rId7"/>
          <a:stretch>
            <a:fillRect/>
          </a:stretch>
        </p:blipFill>
        <p:spPr>
          <a:xfrm>
            <a:off x="3119437" y="3750915"/>
            <a:ext cx="2500312" cy="642937"/>
          </a:xfrm>
          <a:prstGeom prst="rect">
            <a:avLst/>
          </a:prstGeom>
        </p:spPr>
      </p:pic>
      <p:sp>
        <p:nvSpPr>
          <p:cNvPr id="8" name="TextBox 7"/>
          <p:cNvSpPr txBox="1"/>
          <p:nvPr/>
        </p:nvSpPr>
        <p:spPr>
          <a:xfrm>
            <a:off x="619125" y="476250"/>
            <a:ext cx="5250656" cy="787267"/>
          </a:xfrm>
          <a:prstGeom prst="rect">
            <a:avLst/>
          </a:prstGeom>
          <a:noFill/>
        </p:spPr>
        <p:txBody>
          <a:bodyPr wrap="square" lIns="0" tIns="0" rIns="0" bIns="0" anchor="t">
            <a:spAutoFit/>
          </a:bodyPr>
          <a:lstStyle/>
          <a:p>
            <a:pPr algn="l">
              <a:lnSpc>
                <a:spcPts val="3060"/>
              </a:lnSpc>
            </a:pPr>
            <a:r>
              <a:rPr sz="2550" b="1" i="0" u="none" dirty="0" err="1">
                <a:solidFill>
                  <a:srgbClr val="0F172A"/>
                </a:solidFill>
                <a:latin typeface="Poppins"/>
              </a:rPr>
              <a:t>Mengapa</a:t>
            </a:r>
            <a:r>
              <a:rPr sz="2550" b="1" i="0" u="none" dirty="0">
                <a:solidFill>
                  <a:srgbClr val="0F172A"/>
                </a:solidFill>
                <a:latin typeface="Poppins"/>
              </a:rPr>
              <a:t> </a:t>
            </a:r>
            <a:endParaRPr lang="en-US" sz="2550" b="1" i="0" u="none" dirty="0">
              <a:solidFill>
                <a:srgbClr val="0F172A"/>
              </a:solidFill>
              <a:latin typeface="Poppins"/>
            </a:endParaRPr>
          </a:p>
          <a:p>
            <a:pPr algn="l">
              <a:lnSpc>
                <a:spcPts val="3060"/>
              </a:lnSpc>
            </a:pPr>
            <a:r>
              <a:rPr sz="2550" b="1" i="0" u="none" dirty="0" err="1">
                <a:solidFill>
                  <a:srgbClr val="0F172A"/>
                </a:solidFill>
                <a:latin typeface="Poppins"/>
              </a:rPr>
              <a:t>Membutuhkan</a:t>
            </a:r>
            <a:r>
              <a:rPr sz="2550" b="1" i="0" u="none" dirty="0">
                <a:solidFill>
                  <a:srgbClr val="0F172A"/>
                </a:solidFill>
                <a:latin typeface="Poppins"/>
              </a:rPr>
              <a:t> EDA?</a:t>
            </a:r>
          </a:p>
        </p:txBody>
      </p:sp>
      <p:sp>
        <p:nvSpPr>
          <p:cNvPr id="9" name="Rectangle 8"/>
          <p:cNvSpPr/>
          <p:nvPr/>
        </p:nvSpPr>
        <p:spPr>
          <a:xfrm>
            <a:off x="476250" y="476250"/>
            <a:ext cx="47625" cy="77718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image.png"/>
          <p:cNvPicPr>
            <a:picLocks noChangeAspect="1"/>
          </p:cNvPicPr>
          <p:nvPr/>
        </p:nvPicPr>
        <p:blipFill>
          <a:blip r:embed="rId8"/>
          <a:stretch>
            <a:fillRect/>
          </a:stretch>
        </p:blipFill>
        <p:spPr>
          <a:xfrm>
            <a:off x="6096000" y="0"/>
            <a:ext cx="6096000" cy="6858000"/>
          </a:xfrm>
          <a:prstGeom prst="rect">
            <a:avLst/>
          </a:prstGeom>
        </p:spPr>
      </p:pic>
      <p:sp>
        <p:nvSpPr>
          <p:cNvPr id="11" name="TextBox 10"/>
          <p:cNvSpPr txBox="1"/>
          <p:nvPr/>
        </p:nvSpPr>
        <p:spPr>
          <a:xfrm>
            <a:off x="476250" y="2317402"/>
            <a:ext cx="5143500" cy="457200"/>
          </a:xfrm>
          <a:prstGeom prst="rect">
            <a:avLst/>
          </a:prstGeom>
          <a:noFill/>
        </p:spPr>
        <p:txBody>
          <a:bodyPr wrap="square" lIns="0" tIns="0" rIns="0" bIns="0" anchor="t">
            <a:spAutoFit/>
          </a:bodyPr>
          <a:lstStyle/>
          <a:p>
            <a:pPr algn="l">
              <a:lnSpc>
                <a:spcPts val="1800"/>
              </a:lnSpc>
            </a:pPr>
            <a:r>
              <a:rPr sz="1200" b="0" i="0" u="none">
                <a:solidFill>
                  <a:srgbClr val="475569"/>
                </a:solidFill>
                <a:latin typeface="Inter"/>
              </a:rPr>
              <a:t>Bayangkan perusahaan memiliki akumulasi ribuan catatan keselamatan kerja:</a:t>
            </a:r>
          </a:p>
        </p:txBody>
      </p:sp>
      <p:sp>
        <p:nvSpPr>
          <p:cNvPr id="12" name="TextBox 11"/>
          <p:cNvSpPr txBox="1"/>
          <p:nvPr/>
        </p:nvSpPr>
        <p:spPr>
          <a:xfrm>
            <a:off x="657225" y="4784377"/>
            <a:ext cx="3895725" cy="180975"/>
          </a:xfrm>
          <a:prstGeom prst="rect">
            <a:avLst/>
          </a:prstGeom>
          <a:noFill/>
        </p:spPr>
        <p:txBody>
          <a:bodyPr wrap="square" lIns="0" tIns="0" rIns="0" bIns="0" anchor="t">
            <a:spAutoFit/>
          </a:bodyPr>
          <a:lstStyle/>
          <a:p>
            <a:pPr algn="l"/>
            <a:r>
              <a:rPr sz="1125" b="1" i="0" u="none">
                <a:solidFill>
                  <a:srgbClr val="1E40AF"/>
                </a:solidFill>
                <a:latin typeface="Inter"/>
              </a:rPr>
              <a:t>Apakah data ini otomatis menunjuk siapa yang berisiko?</a:t>
            </a:r>
          </a:p>
        </p:txBody>
      </p:sp>
      <p:sp>
        <p:nvSpPr>
          <p:cNvPr id="13" name="TextBox 12"/>
          <p:cNvSpPr txBox="1"/>
          <p:nvPr/>
        </p:nvSpPr>
        <p:spPr>
          <a:xfrm>
            <a:off x="657225" y="5012977"/>
            <a:ext cx="4819650" cy="400050"/>
          </a:xfrm>
          <a:prstGeom prst="rect">
            <a:avLst/>
          </a:prstGeom>
          <a:noFill/>
        </p:spPr>
        <p:txBody>
          <a:bodyPr wrap="square" lIns="0" tIns="0" rIns="0" bIns="0" anchor="t">
            <a:spAutoFit/>
          </a:bodyPr>
          <a:lstStyle/>
          <a:p>
            <a:pPr algn="l">
              <a:lnSpc>
                <a:spcPts val="1575"/>
              </a:lnSpc>
            </a:pPr>
            <a:r>
              <a:rPr sz="1050" b="0" i="0" u="none">
                <a:solidFill>
                  <a:srgbClr val="1E3A8A"/>
                </a:solidFill>
                <a:latin typeface="Inter"/>
              </a:rPr>
              <a:t>Belum tentu. Data mentah tidak dapat langsung berbicara tanpa eksplorasi awal. EDA adalah fondasi wajib sebelum pembuatan model prediksi.</a:t>
            </a:r>
          </a:p>
        </p:txBody>
      </p:sp>
      <p:sp>
        <p:nvSpPr>
          <p:cNvPr id="14" name="TextBox 13"/>
          <p:cNvSpPr txBox="1"/>
          <p:nvPr/>
        </p:nvSpPr>
        <p:spPr>
          <a:xfrm>
            <a:off x="628650" y="3079402"/>
            <a:ext cx="361950" cy="228600"/>
          </a:xfrm>
          <a:prstGeom prst="rect">
            <a:avLst/>
          </a:prstGeom>
          <a:noFill/>
        </p:spPr>
        <p:txBody>
          <a:bodyPr wrap="square" lIns="0" tIns="0" rIns="0" bIns="0" anchor="t">
            <a:spAutoFit/>
          </a:bodyPr>
          <a:lstStyle/>
          <a:p>
            <a:pPr algn="l"/>
            <a:r>
              <a:rPr sz="1500" b="1" i="0" u="none">
                <a:solidFill>
                  <a:srgbClr val="0284C7"/>
                </a:solidFill>
                <a:latin typeface="Inter"/>
              </a:rPr>
              <a:t>500</a:t>
            </a:r>
          </a:p>
        </p:txBody>
      </p:sp>
      <p:sp>
        <p:nvSpPr>
          <p:cNvPr id="15" name="TextBox 14"/>
          <p:cNvSpPr txBox="1"/>
          <p:nvPr/>
        </p:nvSpPr>
        <p:spPr>
          <a:xfrm>
            <a:off x="628650" y="3308002"/>
            <a:ext cx="2195512" cy="185737"/>
          </a:xfrm>
          <a:prstGeom prst="rect">
            <a:avLst/>
          </a:prstGeom>
          <a:noFill/>
        </p:spPr>
        <p:txBody>
          <a:bodyPr wrap="square" lIns="0" tIns="0" rIns="0" bIns="0" anchor="t">
            <a:spAutoFit/>
          </a:bodyPr>
          <a:lstStyle/>
          <a:p>
            <a:pPr algn="l">
              <a:lnSpc>
                <a:spcPts val="1462"/>
              </a:lnSpc>
            </a:pPr>
            <a:r>
              <a:rPr sz="975" b="0" i="0" u="none">
                <a:solidFill>
                  <a:srgbClr val="64748B"/>
                </a:solidFill>
                <a:latin typeface="Inter"/>
              </a:rPr>
              <a:t>Pekerja Aktif</a:t>
            </a:r>
          </a:p>
        </p:txBody>
      </p:sp>
      <p:sp>
        <p:nvSpPr>
          <p:cNvPr id="16" name="TextBox 15"/>
          <p:cNvSpPr txBox="1"/>
          <p:nvPr/>
        </p:nvSpPr>
        <p:spPr>
          <a:xfrm>
            <a:off x="3271837" y="3079402"/>
            <a:ext cx="533400" cy="228600"/>
          </a:xfrm>
          <a:prstGeom prst="rect">
            <a:avLst/>
          </a:prstGeom>
          <a:noFill/>
        </p:spPr>
        <p:txBody>
          <a:bodyPr wrap="square" lIns="0" tIns="0" rIns="0" bIns="0" anchor="t">
            <a:spAutoFit/>
          </a:bodyPr>
          <a:lstStyle/>
          <a:p>
            <a:pPr algn="l"/>
            <a:r>
              <a:rPr sz="1500" b="1" i="0" u="none">
                <a:solidFill>
                  <a:srgbClr val="0284C7"/>
                </a:solidFill>
                <a:latin typeface="Inter"/>
              </a:rPr>
              <a:t>2.000</a:t>
            </a:r>
          </a:p>
        </p:txBody>
      </p:sp>
      <p:sp>
        <p:nvSpPr>
          <p:cNvPr id="17" name="TextBox 16"/>
          <p:cNvSpPr txBox="1"/>
          <p:nvPr/>
        </p:nvSpPr>
        <p:spPr>
          <a:xfrm>
            <a:off x="3271837" y="3308002"/>
            <a:ext cx="2195512" cy="185737"/>
          </a:xfrm>
          <a:prstGeom prst="rect">
            <a:avLst/>
          </a:prstGeom>
          <a:noFill/>
        </p:spPr>
        <p:txBody>
          <a:bodyPr wrap="square" lIns="0" tIns="0" rIns="0" bIns="0" anchor="t">
            <a:spAutoFit/>
          </a:bodyPr>
          <a:lstStyle/>
          <a:p>
            <a:pPr algn="l">
              <a:lnSpc>
                <a:spcPts val="1462"/>
              </a:lnSpc>
            </a:pPr>
            <a:r>
              <a:rPr sz="975" b="0" i="0" u="none">
                <a:solidFill>
                  <a:srgbClr val="64748B"/>
                </a:solidFill>
                <a:latin typeface="Inter"/>
              </a:rPr>
              <a:t>Laporan Aktivitas</a:t>
            </a:r>
          </a:p>
        </p:txBody>
      </p:sp>
      <p:sp>
        <p:nvSpPr>
          <p:cNvPr id="18" name="TextBox 17"/>
          <p:cNvSpPr txBox="1"/>
          <p:nvPr/>
        </p:nvSpPr>
        <p:spPr>
          <a:xfrm>
            <a:off x="628650" y="3865215"/>
            <a:ext cx="371475" cy="228600"/>
          </a:xfrm>
          <a:prstGeom prst="rect">
            <a:avLst/>
          </a:prstGeom>
          <a:noFill/>
        </p:spPr>
        <p:txBody>
          <a:bodyPr wrap="square" lIns="0" tIns="0" rIns="0" bIns="0" anchor="t">
            <a:spAutoFit/>
          </a:bodyPr>
          <a:lstStyle/>
          <a:p>
            <a:pPr algn="l"/>
            <a:r>
              <a:rPr sz="1500" b="1" i="0" u="none">
                <a:solidFill>
                  <a:srgbClr val="EAB308"/>
                </a:solidFill>
                <a:latin typeface="Inter"/>
              </a:rPr>
              <a:t>300</a:t>
            </a:r>
          </a:p>
        </p:txBody>
      </p:sp>
      <p:sp>
        <p:nvSpPr>
          <p:cNvPr id="19" name="TextBox 18"/>
          <p:cNvSpPr txBox="1"/>
          <p:nvPr/>
        </p:nvSpPr>
        <p:spPr>
          <a:xfrm>
            <a:off x="628650" y="4093815"/>
            <a:ext cx="2195512" cy="185737"/>
          </a:xfrm>
          <a:prstGeom prst="rect">
            <a:avLst/>
          </a:prstGeom>
          <a:noFill/>
        </p:spPr>
        <p:txBody>
          <a:bodyPr wrap="square" lIns="0" tIns="0" rIns="0" bIns="0" anchor="t">
            <a:spAutoFit/>
          </a:bodyPr>
          <a:lstStyle/>
          <a:p>
            <a:pPr algn="l">
              <a:lnSpc>
                <a:spcPts val="1462"/>
              </a:lnSpc>
            </a:pPr>
            <a:r>
              <a:rPr sz="975" b="0" i="0" u="none">
                <a:solidFill>
                  <a:srgbClr val="64748B"/>
                </a:solidFill>
                <a:latin typeface="Inter"/>
              </a:rPr>
              <a:t>Kejadian Near Miss</a:t>
            </a:r>
          </a:p>
        </p:txBody>
      </p:sp>
      <p:sp>
        <p:nvSpPr>
          <p:cNvPr id="20" name="TextBox 19"/>
          <p:cNvSpPr txBox="1"/>
          <p:nvPr/>
        </p:nvSpPr>
        <p:spPr>
          <a:xfrm>
            <a:off x="3271837" y="3865215"/>
            <a:ext cx="247650" cy="228600"/>
          </a:xfrm>
          <a:prstGeom prst="rect">
            <a:avLst/>
          </a:prstGeom>
          <a:noFill/>
        </p:spPr>
        <p:txBody>
          <a:bodyPr wrap="square" lIns="0" tIns="0" rIns="0" bIns="0" anchor="t">
            <a:spAutoFit/>
          </a:bodyPr>
          <a:lstStyle/>
          <a:p>
            <a:pPr algn="l"/>
            <a:r>
              <a:rPr sz="1500" b="1" i="0" u="none">
                <a:solidFill>
                  <a:srgbClr val="EF4444"/>
                </a:solidFill>
                <a:latin typeface="Inter"/>
              </a:rPr>
              <a:t>80</a:t>
            </a:r>
          </a:p>
        </p:txBody>
      </p:sp>
      <p:sp>
        <p:nvSpPr>
          <p:cNvPr id="21" name="TextBox 20"/>
          <p:cNvSpPr txBox="1"/>
          <p:nvPr/>
        </p:nvSpPr>
        <p:spPr>
          <a:xfrm>
            <a:off x="3271837" y="4093815"/>
            <a:ext cx="2195512" cy="185737"/>
          </a:xfrm>
          <a:prstGeom prst="rect">
            <a:avLst/>
          </a:prstGeom>
          <a:noFill/>
        </p:spPr>
        <p:txBody>
          <a:bodyPr wrap="square" lIns="0" tIns="0" rIns="0" bIns="0" anchor="t">
            <a:spAutoFit/>
          </a:bodyPr>
          <a:lstStyle/>
          <a:p>
            <a:pPr algn="l">
              <a:lnSpc>
                <a:spcPts val="1462"/>
              </a:lnSpc>
            </a:pPr>
            <a:r>
              <a:rPr sz="975" b="0" i="0" u="none">
                <a:solidFill>
                  <a:srgbClr val="64748B"/>
                </a:solidFill>
                <a:latin typeface="Inter"/>
              </a:rPr>
              <a:t>Kecelakaan Kerja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76250" y="2308770"/>
            <a:ext cx="5476875" cy="2857500"/>
          </a:xfrm>
          <a:prstGeom prst="rect">
            <a:avLst/>
          </a:prstGeom>
        </p:spPr>
      </p:pic>
      <p:pic>
        <p:nvPicPr>
          <p:cNvPr id="4" name="Picture 3" descr="image.png"/>
          <p:cNvPicPr>
            <a:picLocks noChangeAspect="1"/>
          </p:cNvPicPr>
          <p:nvPr/>
        </p:nvPicPr>
        <p:blipFill>
          <a:blip r:embed="rId4"/>
          <a:stretch>
            <a:fillRect/>
          </a:stretch>
        </p:blipFill>
        <p:spPr>
          <a:xfrm>
            <a:off x="6238875" y="2308770"/>
            <a:ext cx="5476875" cy="2857500"/>
          </a:xfrm>
          <a:prstGeom prst="rect">
            <a:avLst/>
          </a:prstGeom>
        </p:spPr>
      </p:pic>
      <p:pic>
        <p:nvPicPr>
          <p:cNvPr id="5" name="Picture 4" descr="image.png"/>
          <p:cNvPicPr>
            <a:picLocks noChangeAspect="1"/>
          </p:cNvPicPr>
          <p:nvPr/>
        </p:nvPicPr>
        <p:blipFill>
          <a:blip r:embed="rId5"/>
          <a:stretch>
            <a:fillRect/>
          </a:stretch>
        </p:blipFill>
        <p:spPr>
          <a:xfrm>
            <a:off x="476250" y="6410325"/>
            <a:ext cx="11239500" cy="257175"/>
          </a:xfrm>
          <a:prstGeom prst="rect">
            <a:avLst/>
          </a:prstGeom>
        </p:spPr>
      </p:pic>
      <p:pic>
        <p:nvPicPr>
          <p:cNvPr id="6" name="Picture 5" descr="image.png"/>
          <p:cNvPicPr>
            <a:picLocks noChangeAspect="1"/>
          </p:cNvPicPr>
          <p:nvPr/>
        </p:nvPicPr>
        <p:blipFill>
          <a:blip r:embed="rId6"/>
          <a:stretch>
            <a:fillRect/>
          </a:stretch>
        </p:blipFill>
        <p:spPr>
          <a:xfrm>
            <a:off x="476250" y="479970"/>
            <a:ext cx="261937" cy="266700"/>
          </a:xfrm>
          <a:prstGeom prst="rect">
            <a:avLst/>
          </a:prstGeom>
        </p:spPr>
      </p:pic>
      <p:sp>
        <p:nvSpPr>
          <p:cNvPr id="7" name="TextBox 6"/>
          <p:cNvSpPr txBox="1"/>
          <p:nvPr/>
        </p:nvSpPr>
        <p:spPr>
          <a:xfrm>
            <a:off x="476250" y="6515100"/>
            <a:ext cx="1752600" cy="152400"/>
          </a:xfrm>
          <a:prstGeom prst="rect">
            <a:avLst/>
          </a:prstGeom>
          <a:noFill/>
        </p:spPr>
        <p:txBody>
          <a:bodyPr wrap="square" lIns="0" tIns="0" rIns="0" bIns="0" anchor="t">
            <a:spAutoFit/>
          </a:bodyPr>
          <a:lstStyle/>
          <a:p>
            <a:pPr algn="l"/>
            <a:r>
              <a:rPr sz="975" b="0" i="0" u="none" dirty="0">
                <a:solidFill>
                  <a:srgbClr val="64748B"/>
                </a:solidFill>
                <a:latin typeface="Inter"/>
              </a:rPr>
              <a:t>Materi Data Mining — EDA </a:t>
            </a:r>
          </a:p>
        </p:txBody>
      </p:sp>
      <p:sp>
        <p:nvSpPr>
          <p:cNvPr id="8" name="TextBox 7"/>
          <p:cNvSpPr txBox="1"/>
          <p:nvPr/>
        </p:nvSpPr>
        <p:spPr>
          <a:xfrm>
            <a:off x="11039475" y="6515100"/>
            <a:ext cx="676275" cy="152400"/>
          </a:xfrm>
          <a:prstGeom prst="rect">
            <a:avLst/>
          </a:prstGeom>
          <a:noFill/>
        </p:spPr>
        <p:txBody>
          <a:bodyPr wrap="square" lIns="0" tIns="0" rIns="0" bIns="0" anchor="t">
            <a:spAutoFit/>
          </a:bodyPr>
          <a:lstStyle/>
          <a:p>
            <a:pPr algn="l"/>
            <a:r>
              <a:rPr sz="975" b="0" i="0" u="none">
                <a:solidFill>
                  <a:srgbClr val="64748B"/>
                </a:solidFill>
                <a:latin typeface="Inter"/>
              </a:rPr>
              <a:t>Slide 3 / 38</a:t>
            </a:r>
          </a:p>
        </p:txBody>
      </p:sp>
      <p:sp>
        <p:nvSpPr>
          <p:cNvPr id="9" name="TextBox 8"/>
          <p:cNvSpPr txBox="1"/>
          <p:nvPr/>
        </p:nvSpPr>
        <p:spPr>
          <a:xfrm>
            <a:off x="752475" y="2546895"/>
            <a:ext cx="5210651" cy="238125"/>
          </a:xfrm>
          <a:prstGeom prst="rect">
            <a:avLst/>
          </a:prstGeom>
          <a:noFill/>
        </p:spPr>
        <p:txBody>
          <a:bodyPr wrap="square" lIns="0" tIns="0" rIns="0" bIns="0" anchor="t">
            <a:spAutoFit/>
          </a:bodyPr>
          <a:lstStyle/>
          <a:p>
            <a:pPr algn="l"/>
            <a:r>
              <a:rPr sz="1500" b="1" i="0" u="none">
                <a:solidFill>
                  <a:srgbClr val="0F172A"/>
                </a:solidFill>
                <a:latin typeface="Plus Jakarta Sans"/>
              </a:rPr>
              <a:t>Definisi Eksplorasi</a:t>
            </a:r>
          </a:p>
        </p:txBody>
      </p:sp>
      <p:sp>
        <p:nvSpPr>
          <p:cNvPr id="10" name="TextBox 9"/>
          <p:cNvSpPr txBox="1"/>
          <p:nvPr/>
        </p:nvSpPr>
        <p:spPr>
          <a:xfrm>
            <a:off x="752475" y="2880270"/>
            <a:ext cx="4962525" cy="485775"/>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Exploratory Data Analysis (EDA) adalah proses mengeksplorasi dan memahami data untuk menemukan:</a:t>
            </a:r>
          </a:p>
        </p:txBody>
      </p:sp>
      <p:pic>
        <p:nvPicPr>
          <p:cNvPr id="11" name="Picture 10" descr="image.png"/>
          <p:cNvPicPr>
            <a:picLocks noChangeAspect="1"/>
          </p:cNvPicPr>
          <p:nvPr/>
        </p:nvPicPr>
        <p:blipFill>
          <a:blip r:embed="rId7"/>
          <a:stretch>
            <a:fillRect/>
          </a:stretch>
        </p:blipFill>
        <p:spPr>
          <a:xfrm>
            <a:off x="8815387" y="2756445"/>
            <a:ext cx="361950" cy="476250"/>
          </a:xfrm>
          <a:prstGeom prst="rect">
            <a:avLst/>
          </a:prstGeom>
        </p:spPr>
      </p:pic>
      <p:sp>
        <p:nvSpPr>
          <p:cNvPr id="12" name="TextBox 11"/>
          <p:cNvSpPr txBox="1"/>
          <p:nvPr/>
        </p:nvSpPr>
        <p:spPr>
          <a:xfrm>
            <a:off x="8086248" y="3385095"/>
            <a:ext cx="1820227" cy="285750"/>
          </a:xfrm>
          <a:prstGeom prst="rect">
            <a:avLst/>
          </a:prstGeom>
          <a:noFill/>
        </p:spPr>
        <p:txBody>
          <a:bodyPr wrap="square" lIns="0" tIns="0" rIns="0" bIns="0" anchor="t">
            <a:spAutoFit/>
          </a:bodyPr>
          <a:lstStyle/>
          <a:p>
            <a:pPr algn="ctr"/>
            <a:r>
              <a:rPr sz="1800" b="1" i="0" u="none">
                <a:solidFill>
                  <a:srgbClr val="6366F1"/>
                </a:solidFill>
                <a:latin typeface="Plus Jakarta Sans"/>
              </a:rPr>
              <a:t>Inti Konsep EDA</a:t>
            </a:r>
          </a:p>
        </p:txBody>
      </p:sp>
      <p:sp>
        <p:nvSpPr>
          <p:cNvPr id="13" name="TextBox 12"/>
          <p:cNvSpPr txBox="1"/>
          <p:nvPr/>
        </p:nvSpPr>
        <p:spPr>
          <a:xfrm>
            <a:off x="6515100" y="3861345"/>
            <a:ext cx="4962525" cy="857250"/>
          </a:xfrm>
          <a:prstGeom prst="rect">
            <a:avLst/>
          </a:prstGeom>
          <a:noFill/>
        </p:spPr>
        <p:txBody>
          <a:bodyPr wrap="square" lIns="0" tIns="0" rIns="0" bIns="0" anchor="t">
            <a:spAutoFit/>
          </a:bodyPr>
          <a:lstStyle/>
          <a:p>
            <a:pPr algn="ctr">
              <a:lnSpc>
                <a:spcPts val="2250"/>
              </a:lnSpc>
            </a:pPr>
            <a:r>
              <a:rPr sz="1500" b="0" i="0" u="none">
                <a:solidFill>
                  <a:srgbClr val="3B0764"/>
                </a:solidFill>
                <a:latin typeface="Inter SemiBold"/>
              </a:rPr>
              <a:t>"EDA adalah proses 'mengenal data' sebelum kita meminta data tersebut menjawab pertanyaan kompleks."</a:t>
            </a:r>
          </a:p>
        </p:txBody>
      </p:sp>
      <p:sp>
        <p:nvSpPr>
          <p:cNvPr id="14" name="TextBox 13"/>
          <p:cNvSpPr txBox="1"/>
          <p:nvPr/>
        </p:nvSpPr>
        <p:spPr>
          <a:xfrm>
            <a:off x="1019175" y="3499395"/>
            <a:ext cx="4695825" cy="242887"/>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Karakteristik &amp; pola tersembunyi</a:t>
            </a:r>
          </a:p>
        </p:txBody>
      </p:sp>
      <p:sp>
        <p:nvSpPr>
          <p:cNvPr id="15" name="TextBox 14"/>
          <p:cNvSpPr txBox="1"/>
          <p:nvPr/>
        </p:nvSpPr>
        <p:spPr>
          <a:xfrm>
            <a:off x="1019175" y="3856583"/>
            <a:ext cx="4695825" cy="225896"/>
          </a:xfrm>
          <a:prstGeom prst="rect">
            <a:avLst/>
          </a:prstGeom>
          <a:noFill/>
        </p:spPr>
        <p:txBody>
          <a:bodyPr wrap="square" lIns="0" tIns="0" rIns="0" bIns="0" anchor="t">
            <a:spAutoFit/>
          </a:bodyPr>
          <a:lstStyle/>
          <a:p>
            <a:pPr algn="l">
              <a:lnSpc>
                <a:spcPts val="1912"/>
              </a:lnSpc>
            </a:pPr>
            <a:r>
              <a:rPr sz="1275" b="0" i="0" u="none" dirty="0" err="1">
                <a:solidFill>
                  <a:srgbClr val="334155"/>
                </a:solidFill>
                <a:latin typeface="Inter"/>
              </a:rPr>
              <a:t>Hubungan</a:t>
            </a:r>
            <a:r>
              <a:rPr sz="1275" b="0" i="0" u="none" dirty="0">
                <a:solidFill>
                  <a:srgbClr val="334155"/>
                </a:solidFill>
                <a:latin typeface="Inter"/>
              </a:rPr>
              <a:t> </a:t>
            </a:r>
            <a:r>
              <a:rPr sz="1275" b="0" i="0" u="none" dirty="0" err="1">
                <a:solidFill>
                  <a:srgbClr val="334155"/>
                </a:solidFill>
                <a:latin typeface="Inter"/>
              </a:rPr>
              <a:t>antarvariabel</a:t>
            </a:r>
            <a:endParaRPr sz="1275" b="0" i="0" u="none" dirty="0">
              <a:solidFill>
                <a:srgbClr val="334155"/>
              </a:solidFill>
              <a:latin typeface="Inter"/>
            </a:endParaRPr>
          </a:p>
        </p:txBody>
      </p:sp>
      <p:sp>
        <p:nvSpPr>
          <p:cNvPr id="16" name="TextBox 15"/>
          <p:cNvSpPr txBox="1"/>
          <p:nvPr/>
        </p:nvSpPr>
        <p:spPr>
          <a:xfrm>
            <a:off x="1019175" y="4213770"/>
            <a:ext cx="4695825" cy="242887"/>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Anomali &amp; data tidak konsisten</a:t>
            </a:r>
          </a:p>
        </p:txBody>
      </p:sp>
      <p:sp>
        <p:nvSpPr>
          <p:cNvPr id="17" name="TextBox 16"/>
          <p:cNvSpPr txBox="1"/>
          <p:nvPr/>
        </p:nvSpPr>
        <p:spPr>
          <a:xfrm>
            <a:off x="1019175" y="4570958"/>
            <a:ext cx="4695825" cy="242887"/>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Informasi berharga untuk analisis lanjutan</a:t>
            </a:r>
          </a:p>
        </p:txBody>
      </p:sp>
      <p:sp>
        <p:nvSpPr>
          <p:cNvPr id="18" name="TextBox 17"/>
          <p:cNvSpPr txBox="1"/>
          <p:nvPr/>
        </p:nvSpPr>
        <p:spPr>
          <a:xfrm>
            <a:off x="852487" y="419100"/>
            <a:ext cx="11339512" cy="388590"/>
          </a:xfrm>
          <a:prstGeom prst="rect">
            <a:avLst/>
          </a:prstGeom>
          <a:noFill/>
        </p:spPr>
        <p:txBody>
          <a:bodyPr wrap="square" lIns="0" tIns="0" rIns="0" bIns="0" anchor="ctr">
            <a:spAutoFit/>
          </a:bodyPr>
          <a:lstStyle/>
          <a:p>
            <a:pPr algn="l">
              <a:lnSpc>
                <a:spcPts val="3060"/>
              </a:lnSpc>
            </a:pPr>
            <a:r>
              <a:rPr sz="2550" b="1" i="0" u="none">
                <a:solidFill>
                  <a:srgbClr val="0F172A"/>
                </a:solidFill>
                <a:latin typeface="Plus Jakarta Sans"/>
              </a:rPr>
              <a:t>Apa Itu EDA?</a:t>
            </a:r>
          </a:p>
        </p:txBody>
      </p:sp>
      <p:pic>
        <p:nvPicPr>
          <p:cNvPr id="19" name="Picture 18" descr="image.png"/>
          <p:cNvPicPr>
            <a:picLocks noChangeAspect="1"/>
          </p:cNvPicPr>
          <p:nvPr/>
        </p:nvPicPr>
        <p:blipFill>
          <a:blip r:embed="rId8"/>
          <a:stretch>
            <a:fillRect/>
          </a:stretch>
        </p:blipFill>
        <p:spPr>
          <a:xfrm>
            <a:off x="752475" y="3518445"/>
            <a:ext cx="171450" cy="180975"/>
          </a:xfrm>
          <a:prstGeom prst="rect">
            <a:avLst/>
          </a:prstGeom>
        </p:spPr>
      </p:pic>
      <p:pic>
        <p:nvPicPr>
          <p:cNvPr id="20" name="Picture 19" descr="image.png"/>
          <p:cNvPicPr>
            <a:picLocks noChangeAspect="1"/>
          </p:cNvPicPr>
          <p:nvPr/>
        </p:nvPicPr>
        <p:blipFill>
          <a:blip r:embed="rId8"/>
          <a:stretch>
            <a:fillRect/>
          </a:stretch>
        </p:blipFill>
        <p:spPr>
          <a:xfrm>
            <a:off x="752475" y="3875633"/>
            <a:ext cx="171450" cy="180975"/>
          </a:xfrm>
          <a:prstGeom prst="rect">
            <a:avLst/>
          </a:prstGeom>
        </p:spPr>
      </p:pic>
      <p:pic>
        <p:nvPicPr>
          <p:cNvPr id="21" name="Picture 20" descr="image.png"/>
          <p:cNvPicPr>
            <a:picLocks noChangeAspect="1"/>
          </p:cNvPicPr>
          <p:nvPr/>
        </p:nvPicPr>
        <p:blipFill>
          <a:blip r:embed="rId8"/>
          <a:stretch>
            <a:fillRect/>
          </a:stretch>
        </p:blipFill>
        <p:spPr>
          <a:xfrm>
            <a:off x="752475" y="4232820"/>
            <a:ext cx="171450" cy="180975"/>
          </a:xfrm>
          <a:prstGeom prst="rect">
            <a:avLst/>
          </a:prstGeom>
        </p:spPr>
      </p:pic>
      <p:pic>
        <p:nvPicPr>
          <p:cNvPr id="22" name="Picture 21" descr="image.png"/>
          <p:cNvPicPr>
            <a:picLocks noChangeAspect="1"/>
          </p:cNvPicPr>
          <p:nvPr/>
        </p:nvPicPr>
        <p:blipFill>
          <a:blip r:embed="rId8"/>
          <a:stretch>
            <a:fillRect/>
          </a:stretch>
        </p:blipFill>
        <p:spPr>
          <a:xfrm>
            <a:off x="752475" y="4590008"/>
            <a:ext cx="171450" cy="1809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76250" y="3813720"/>
            <a:ext cx="11239500" cy="1614487"/>
          </a:xfrm>
          <a:prstGeom prst="rect">
            <a:avLst/>
          </a:prstGeom>
        </p:spPr>
      </p:pic>
      <p:pic>
        <p:nvPicPr>
          <p:cNvPr id="4" name="Picture 3" descr="image.png"/>
          <p:cNvPicPr>
            <a:picLocks noChangeAspect="1"/>
          </p:cNvPicPr>
          <p:nvPr/>
        </p:nvPicPr>
        <p:blipFill>
          <a:blip r:embed="rId4"/>
          <a:stretch>
            <a:fillRect/>
          </a:stretch>
        </p:blipFill>
        <p:spPr>
          <a:xfrm>
            <a:off x="476250" y="2046833"/>
            <a:ext cx="5476875" cy="1538287"/>
          </a:xfrm>
          <a:prstGeom prst="rect">
            <a:avLst/>
          </a:prstGeom>
        </p:spPr>
      </p:pic>
      <p:pic>
        <p:nvPicPr>
          <p:cNvPr id="5" name="Picture 4" descr="image.png"/>
          <p:cNvPicPr>
            <a:picLocks noChangeAspect="1"/>
          </p:cNvPicPr>
          <p:nvPr/>
        </p:nvPicPr>
        <p:blipFill>
          <a:blip r:embed="rId5"/>
          <a:stretch>
            <a:fillRect/>
          </a:stretch>
        </p:blipFill>
        <p:spPr>
          <a:xfrm>
            <a:off x="6238875" y="2046833"/>
            <a:ext cx="5476875" cy="1538287"/>
          </a:xfrm>
          <a:prstGeom prst="rect">
            <a:avLst/>
          </a:prstGeom>
        </p:spPr>
      </p:pic>
      <p:pic>
        <p:nvPicPr>
          <p:cNvPr id="6" name="Picture 5" descr="image.png"/>
          <p:cNvPicPr>
            <a:picLocks noChangeAspect="1"/>
          </p:cNvPicPr>
          <p:nvPr/>
        </p:nvPicPr>
        <p:blipFill>
          <a:blip r:embed="rId6"/>
          <a:stretch>
            <a:fillRect/>
          </a:stretch>
        </p:blipFill>
        <p:spPr>
          <a:xfrm>
            <a:off x="676275" y="4370933"/>
            <a:ext cx="2438400" cy="857250"/>
          </a:xfrm>
          <a:prstGeom prst="rect">
            <a:avLst/>
          </a:prstGeom>
        </p:spPr>
      </p:pic>
      <p:pic>
        <p:nvPicPr>
          <p:cNvPr id="7" name="Picture 6" descr="image.png"/>
          <p:cNvPicPr>
            <a:picLocks noChangeAspect="1"/>
          </p:cNvPicPr>
          <p:nvPr/>
        </p:nvPicPr>
        <p:blipFill>
          <a:blip r:embed="rId7"/>
          <a:stretch>
            <a:fillRect/>
          </a:stretch>
        </p:blipFill>
        <p:spPr>
          <a:xfrm>
            <a:off x="3476625" y="4370933"/>
            <a:ext cx="2438400" cy="857250"/>
          </a:xfrm>
          <a:prstGeom prst="rect">
            <a:avLst/>
          </a:prstGeom>
        </p:spPr>
      </p:pic>
      <p:pic>
        <p:nvPicPr>
          <p:cNvPr id="8" name="Picture 7" descr="image.png"/>
          <p:cNvPicPr>
            <a:picLocks noChangeAspect="1"/>
          </p:cNvPicPr>
          <p:nvPr/>
        </p:nvPicPr>
        <p:blipFill>
          <a:blip r:embed="rId8"/>
          <a:stretch>
            <a:fillRect/>
          </a:stretch>
        </p:blipFill>
        <p:spPr>
          <a:xfrm>
            <a:off x="6276975" y="4370933"/>
            <a:ext cx="2438400" cy="857250"/>
          </a:xfrm>
          <a:prstGeom prst="rect">
            <a:avLst/>
          </a:prstGeom>
        </p:spPr>
      </p:pic>
      <p:pic>
        <p:nvPicPr>
          <p:cNvPr id="9" name="Picture 8" descr="image.png"/>
          <p:cNvPicPr>
            <a:picLocks noChangeAspect="1"/>
          </p:cNvPicPr>
          <p:nvPr/>
        </p:nvPicPr>
        <p:blipFill>
          <a:blip r:embed="rId9"/>
          <a:stretch>
            <a:fillRect/>
          </a:stretch>
        </p:blipFill>
        <p:spPr>
          <a:xfrm>
            <a:off x="9077325" y="4370933"/>
            <a:ext cx="2438400" cy="857250"/>
          </a:xfrm>
          <a:prstGeom prst="rect">
            <a:avLst/>
          </a:prstGeom>
        </p:spPr>
      </p:pic>
      <p:pic>
        <p:nvPicPr>
          <p:cNvPr id="10" name="Picture 9" descr="image.png"/>
          <p:cNvPicPr>
            <a:picLocks noChangeAspect="1"/>
          </p:cNvPicPr>
          <p:nvPr/>
        </p:nvPicPr>
        <p:blipFill>
          <a:blip r:embed="rId10"/>
          <a:stretch>
            <a:fillRect/>
          </a:stretch>
        </p:blipFill>
        <p:spPr>
          <a:xfrm>
            <a:off x="1762125" y="4532858"/>
            <a:ext cx="266700" cy="266700"/>
          </a:xfrm>
          <a:prstGeom prst="rect">
            <a:avLst/>
          </a:prstGeom>
        </p:spPr>
      </p:pic>
      <p:pic>
        <p:nvPicPr>
          <p:cNvPr id="11" name="Picture 10" descr="image.png"/>
          <p:cNvPicPr>
            <a:picLocks noChangeAspect="1"/>
          </p:cNvPicPr>
          <p:nvPr/>
        </p:nvPicPr>
        <p:blipFill>
          <a:blip r:embed="rId11"/>
          <a:stretch>
            <a:fillRect/>
          </a:stretch>
        </p:blipFill>
        <p:spPr>
          <a:xfrm>
            <a:off x="4562475" y="4532858"/>
            <a:ext cx="266700" cy="266700"/>
          </a:xfrm>
          <a:prstGeom prst="rect">
            <a:avLst/>
          </a:prstGeom>
        </p:spPr>
      </p:pic>
      <p:pic>
        <p:nvPicPr>
          <p:cNvPr id="12" name="Picture 11" descr="image.png"/>
          <p:cNvPicPr>
            <a:picLocks noChangeAspect="1"/>
          </p:cNvPicPr>
          <p:nvPr/>
        </p:nvPicPr>
        <p:blipFill>
          <a:blip r:embed="rId12"/>
          <a:stretch>
            <a:fillRect/>
          </a:stretch>
        </p:blipFill>
        <p:spPr>
          <a:xfrm>
            <a:off x="7362825" y="4532858"/>
            <a:ext cx="266700" cy="266700"/>
          </a:xfrm>
          <a:prstGeom prst="rect">
            <a:avLst/>
          </a:prstGeom>
        </p:spPr>
      </p:pic>
      <p:pic>
        <p:nvPicPr>
          <p:cNvPr id="13" name="Picture 12" descr="image.png"/>
          <p:cNvPicPr>
            <a:picLocks noChangeAspect="1"/>
          </p:cNvPicPr>
          <p:nvPr/>
        </p:nvPicPr>
        <p:blipFill>
          <a:blip r:embed="rId13"/>
          <a:stretch>
            <a:fillRect/>
          </a:stretch>
        </p:blipFill>
        <p:spPr>
          <a:xfrm>
            <a:off x="10163175" y="4532858"/>
            <a:ext cx="266700" cy="266700"/>
          </a:xfrm>
          <a:prstGeom prst="rect">
            <a:avLst/>
          </a:prstGeom>
        </p:spPr>
      </p:pic>
      <p:pic>
        <p:nvPicPr>
          <p:cNvPr id="14" name="Picture 13" descr="image.png"/>
          <p:cNvPicPr>
            <a:picLocks noChangeAspect="1"/>
          </p:cNvPicPr>
          <p:nvPr/>
        </p:nvPicPr>
        <p:blipFill>
          <a:blip r:embed="rId14"/>
          <a:stretch>
            <a:fillRect/>
          </a:stretch>
        </p:blipFill>
        <p:spPr>
          <a:xfrm>
            <a:off x="476250" y="6410325"/>
            <a:ext cx="11239500" cy="257175"/>
          </a:xfrm>
          <a:prstGeom prst="rect">
            <a:avLst/>
          </a:prstGeom>
        </p:spPr>
      </p:pic>
      <p:pic>
        <p:nvPicPr>
          <p:cNvPr id="15" name="Picture 14" descr="image.png"/>
          <p:cNvPicPr>
            <a:picLocks noChangeAspect="1"/>
          </p:cNvPicPr>
          <p:nvPr/>
        </p:nvPicPr>
        <p:blipFill>
          <a:blip r:embed="rId15"/>
          <a:stretch>
            <a:fillRect/>
          </a:stretch>
        </p:blipFill>
        <p:spPr>
          <a:xfrm>
            <a:off x="476250" y="479970"/>
            <a:ext cx="233362" cy="266700"/>
          </a:xfrm>
          <a:prstGeom prst="rect">
            <a:avLst/>
          </a:prstGeom>
        </p:spPr>
      </p:pic>
      <p:sp>
        <p:nvSpPr>
          <p:cNvPr id="16" name="TextBox 15"/>
          <p:cNvSpPr txBox="1"/>
          <p:nvPr/>
        </p:nvSpPr>
        <p:spPr>
          <a:xfrm>
            <a:off x="476250" y="6515100"/>
            <a:ext cx="1752600" cy="152400"/>
          </a:xfrm>
          <a:prstGeom prst="rect">
            <a:avLst/>
          </a:prstGeom>
          <a:noFill/>
        </p:spPr>
        <p:txBody>
          <a:bodyPr wrap="square" lIns="0" tIns="0" rIns="0" bIns="0" anchor="t">
            <a:spAutoFit/>
          </a:bodyPr>
          <a:lstStyle/>
          <a:p>
            <a:pPr algn="l"/>
            <a:r>
              <a:rPr sz="975" b="0" i="0" u="none" dirty="0">
                <a:solidFill>
                  <a:srgbClr val="64748B"/>
                </a:solidFill>
                <a:latin typeface="Inter"/>
              </a:rPr>
              <a:t>Materi Data Mining — EDA </a:t>
            </a:r>
          </a:p>
        </p:txBody>
      </p:sp>
      <p:sp>
        <p:nvSpPr>
          <p:cNvPr id="17" name="TextBox 16"/>
          <p:cNvSpPr txBox="1"/>
          <p:nvPr/>
        </p:nvSpPr>
        <p:spPr>
          <a:xfrm>
            <a:off x="11039475" y="6515100"/>
            <a:ext cx="676275" cy="152400"/>
          </a:xfrm>
          <a:prstGeom prst="rect">
            <a:avLst/>
          </a:prstGeom>
          <a:noFill/>
        </p:spPr>
        <p:txBody>
          <a:bodyPr wrap="square" lIns="0" tIns="0" rIns="0" bIns="0" anchor="t">
            <a:spAutoFit/>
          </a:bodyPr>
          <a:lstStyle/>
          <a:p>
            <a:pPr algn="l"/>
            <a:r>
              <a:rPr sz="975" b="0" i="0" u="none">
                <a:solidFill>
                  <a:srgbClr val="64748B"/>
                </a:solidFill>
                <a:latin typeface="Inter"/>
              </a:rPr>
              <a:t>Slide 4 / 38</a:t>
            </a:r>
          </a:p>
        </p:txBody>
      </p:sp>
      <p:sp>
        <p:nvSpPr>
          <p:cNvPr id="18" name="TextBox 17"/>
          <p:cNvSpPr txBox="1"/>
          <p:nvPr/>
        </p:nvSpPr>
        <p:spPr>
          <a:xfrm>
            <a:off x="676275" y="4013745"/>
            <a:ext cx="10839450" cy="242887"/>
          </a:xfrm>
          <a:prstGeom prst="rect">
            <a:avLst/>
          </a:prstGeom>
          <a:noFill/>
        </p:spPr>
        <p:txBody>
          <a:bodyPr wrap="square" lIns="0" tIns="0" rIns="0" bIns="0" anchor="t">
            <a:spAutoFit/>
          </a:bodyPr>
          <a:lstStyle/>
          <a:p>
            <a:pPr algn="ctr">
              <a:lnSpc>
                <a:spcPts val="1912"/>
              </a:lnSpc>
            </a:pPr>
            <a:r>
              <a:rPr sz="1275" b="1" i="0" u="none">
                <a:solidFill>
                  <a:srgbClr val="0F172A"/>
                </a:solidFill>
                <a:latin typeface="Inter"/>
              </a:rPr>
              <a:t>Alur Kerja Data Mining yang Benar:</a:t>
            </a:r>
          </a:p>
        </p:txBody>
      </p:sp>
      <p:sp>
        <p:nvSpPr>
          <p:cNvPr id="19" name="TextBox 18"/>
          <p:cNvSpPr txBox="1"/>
          <p:nvPr/>
        </p:nvSpPr>
        <p:spPr>
          <a:xfrm>
            <a:off x="714375" y="2284958"/>
            <a:ext cx="5250656" cy="238125"/>
          </a:xfrm>
          <a:prstGeom prst="rect">
            <a:avLst/>
          </a:prstGeom>
          <a:noFill/>
        </p:spPr>
        <p:txBody>
          <a:bodyPr wrap="square" lIns="295275" tIns="0" rIns="0" bIns="0" anchor="t">
            <a:spAutoFit/>
          </a:bodyPr>
          <a:lstStyle/>
          <a:p>
            <a:pPr algn="l"/>
            <a:r>
              <a:rPr sz="1500" b="1" i="0" u="none">
                <a:solidFill>
                  <a:srgbClr val="0F172A"/>
                </a:solidFill>
                <a:latin typeface="Plus Jakarta Sans"/>
              </a:rPr>
              <a:t>Dokter &amp; Pasien</a:t>
            </a:r>
          </a:p>
        </p:txBody>
      </p:sp>
      <p:sp>
        <p:nvSpPr>
          <p:cNvPr id="20" name="TextBox 19"/>
          <p:cNvSpPr txBox="1"/>
          <p:nvPr/>
        </p:nvSpPr>
        <p:spPr>
          <a:xfrm>
            <a:off x="714375" y="2618333"/>
            <a:ext cx="5000625" cy="728662"/>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Dokter tidak langsung memberikan diagnosis berat hanya dari satu angka tekanan darah. Dokter akan mengecek usia, riwayat, gejala, gaya hidup, dan tes lab tambahan.</a:t>
            </a:r>
          </a:p>
        </p:txBody>
      </p:sp>
      <p:sp>
        <p:nvSpPr>
          <p:cNvPr id="21" name="TextBox 20"/>
          <p:cNvSpPr txBox="1"/>
          <p:nvPr/>
        </p:nvSpPr>
        <p:spPr>
          <a:xfrm>
            <a:off x="6477000" y="2284958"/>
            <a:ext cx="5250656" cy="238125"/>
          </a:xfrm>
          <a:prstGeom prst="rect">
            <a:avLst/>
          </a:prstGeom>
          <a:noFill/>
        </p:spPr>
        <p:txBody>
          <a:bodyPr wrap="square" lIns="266700" tIns="0" rIns="0" bIns="0" anchor="t">
            <a:spAutoFit/>
          </a:bodyPr>
          <a:lstStyle/>
          <a:p>
            <a:pPr algn="l"/>
            <a:r>
              <a:rPr sz="1500" b="1" i="0" u="none" dirty="0">
                <a:solidFill>
                  <a:srgbClr val="0F172A"/>
                </a:solidFill>
                <a:latin typeface="Plus Jakarta Sans"/>
              </a:rPr>
              <a:t>Analis &amp; Data </a:t>
            </a:r>
          </a:p>
        </p:txBody>
      </p:sp>
      <p:sp>
        <p:nvSpPr>
          <p:cNvPr id="22" name="TextBox 21"/>
          <p:cNvSpPr txBox="1"/>
          <p:nvPr/>
        </p:nvSpPr>
        <p:spPr>
          <a:xfrm>
            <a:off x="6477000" y="2618333"/>
            <a:ext cx="5000625" cy="728662"/>
          </a:xfrm>
          <a:prstGeom prst="rect">
            <a:avLst/>
          </a:prstGeom>
          <a:noFill/>
        </p:spPr>
        <p:txBody>
          <a:bodyPr wrap="square" lIns="0" tIns="0" rIns="0" bIns="0" anchor="t">
            <a:spAutoFit/>
          </a:bodyPr>
          <a:lstStyle/>
          <a:p>
            <a:pPr algn="l">
              <a:lnSpc>
                <a:spcPts val="1912"/>
              </a:lnSpc>
            </a:pPr>
            <a:r>
              <a:rPr sz="1275" b="0" i="0" u="none" dirty="0">
                <a:solidFill>
                  <a:srgbClr val="334155"/>
                </a:solidFill>
                <a:latin typeface="Inter"/>
              </a:rPr>
              <a:t>Analis  </a:t>
            </a:r>
            <a:r>
              <a:rPr sz="1275" b="0" i="0" u="none" dirty="0" err="1">
                <a:solidFill>
                  <a:srgbClr val="334155"/>
                </a:solidFill>
                <a:latin typeface="Inter"/>
              </a:rPr>
              <a:t>tidak</a:t>
            </a:r>
            <a:r>
              <a:rPr sz="1275" b="0" i="0" u="none" dirty="0">
                <a:solidFill>
                  <a:srgbClr val="334155"/>
                </a:solidFill>
                <a:latin typeface="Inter"/>
              </a:rPr>
              <a:t> </a:t>
            </a:r>
            <a:r>
              <a:rPr sz="1275" b="0" i="0" u="none" dirty="0" err="1">
                <a:solidFill>
                  <a:srgbClr val="334155"/>
                </a:solidFill>
                <a:latin typeface="Inter"/>
              </a:rPr>
              <a:t>langsung</a:t>
            </a:r>
            <a:r>
              <a:rPr sz="1275" b="0" i="0" u="none" dirty="0">
                <a:solidFill>
                  <a:srgbClr val="334155"/>
                </a:solidFill>
                <a:latin typeface="Inter"/>
              </a:rPr>
              <a:t> </a:t>
            </a:r>
            <a:r>
              <a:rPr sz="1275" b="0" i="0" u="none" dirty="0" err="1">
                <a:solidFill>
                  <a:srgbClr val="334155"/>
                </a:solidFill>
                <a:latin typeface="Inter"/>
              </a:rPr>
              <a:t>membuat</a:t>
            </a:r>
            <a:r>
              <a:rPr sz="1275" b="0" i="0" u="none" dirty="0">
                <a:solidFill>
                  <a:srgbClr val="334155"/>
                </a:solidFill>
                <a:latin typeface="Inter"/>
              </a:rPr>
              <a:t> model </a:t>
            </a:r>
            <a:r>
              <a:rPr sz="1275" b="0" i="0" u="none" dirty="0" err="1">
                <a:solidFill>
                  <a:srgbClr val="334155"/>
                </a:solidFill>
                <a:latin typeface="Inter"/>
              </a:rPr>
              <a:t>prediksi</a:t>
            </a:r>
            <a:r>
              <a:rPr sz="1275" b="0" i="0" u="none" dirty="0">
                <a:solidFill>
                  <a:srgbClr val="334155"/>
                </a:solidFill>
                <a:latin typeface="Inter"/>
              </a:rPr>
              <a:t> </a:t>
            </a:r>
            <a:r>
              <a:rPr sz="1275" b="0" i="0" u="none" dirty="0" err="1">
                <a:solidFill>
                  <a:srgbClr val="334155"/>
                </a:solidFill>
                <a:latin typeface="Inter"/>
              </a:rPr>
              <a:t>kecelakaan</a:t>
            </a:r>
            <a:r>
              <a:rPr sz="1275" b="0" i="0" u="none" dirty="0">
                <a:solidFill>
                  <a:srgbClr val="334155"/>
                </a:solidFill>
                <a:latin typeface="Inter"/>
              </a:rPr>
              <a:t>. Analis </a:t>
            </a:r>
            <a:r>
              <a:rPr sz="1275" b="0" i="0" u="none" dirty="0" err="1">
                <a:solidFill>
                  <a:srgbClr val="334155"/>
                </a:solidFill>
                <a:latin typeface="Inter"/>
              </a:rPr>
              <a:t>harus</a:t>
            </a:r>
            <a:r>
              <a:rPr sz="1275" b="0" i="0" u="none" dirty="0">
                <a:solidFill>
                  <a:srgbClr val="334155"/>
                </a:solidFill>
                <a:latin typeface="Inter"/>
              </a:rPr>
              <a:t> </a:t>
            </a:r>
            <a:r>
              <a:rPr sz="1275" b="0" i="0" u="none" dirty="0" err="1">
                <a:solidFill>
                  <a:srgbClr val="334155"/>
                </a:solidFill>
                <a:latin typeface="Inter"/>
              </a:rPr>
              <a:t>memeriksa</a:t>
            </a:r>
            <a:r>
              <a:rPr sz="1275" b="0" i="0" u="none" dirty="0">
                <a:solidFill>
                  <a:srgbClr val="334155"/>
                </a:solidFill>
                <a:latin typeface="Inter"/>
              </a:rPr>
              <a:t> jam </a:t>
            </a:r>
            <a:r>
              <a:rPr sz="1275" b="0" i="0" u="none" dirty="0" err="1">
                <a:solidFill>
                  <a:srgbClr val="334155"/>
                </a:solidFill>
                <a:latin typeface="Inter"/>
              </a:rPr>
              <a:t>kerja</a:t>
            </a:r>
            <a:r>
              <a:rPr sz="1275" b="0" i="0" u="none" dirty="0">
                <a:solidFill>
                  <a:srgbClr val="334155"/>
                </a:solidFill>
                <a:latin typeface="Inter"/>
              </a:rPr>
              <a:t>, </a:t>
            </a:r>
            <a:r>
              <a:rPr sz="1275" b="0" i="0" u="none" dirty="0" err="1">
                <a:solidFill>
                  <a:srgbClr val="334155"/>
                </a:solidFill>
                <a:latin typeface="Inter"/>
              </a:rPr>
              <a:t>tingkat</a:t>
            </a:r>
            <a:r>
              <a:rPr sz="1275" b="0" i="0" u="none" dirty="0">
                <a:solidFill>
                  <a:srgbClr val="334155"/>
                </a:solidFill>
                <a:latin typeface="Inter"/>
              </a:rPr>
              <a:t> </a:t>
            </a:r>
            <a:r>
              <a:rPr sz="1275" b="0" i="0" u="none" dirty="0" err="1">
                <a:solidFill>
                  <a:srgbClr val="334155"/>
                </a:solidFill>
                <a:latin typeface="Inter"/>
              </a:rPr>
              <a:t>stres</a:t>
            </a:r>
            <a:r>
              <a:rPr sz="1275" b="0" i="0" u="none" dirty="0">
                <a:solidFill>
                  <a:srgbClr val="334155"/>
                </a:solidFill>
                <a:latin typeface="Inter"/>
              </a:rPr>
              <a:t>, shift, </a:t>
            </a:r>
            <a:r>
              <a:rPr sz="1275" b="0" i="0" u="none" dirty="0" err="1">
                <a:solidFill>
                  <a:srgbClr val="334155"/>
                </a:solidFill>
                <a:latin typeface="Inter"/>
              </a:rPr>
              <a:t>kepatuhan</a:t>
            </a:r>
            <a:r>
              <a:rPr sz="1275" b="0" i="0" u="none" dirty="0">
                <a:solidFill>
                  <a:srgbClr val="334155"/>
                </a:solidFill>
                <a:latin typeface="Inter"/>
              </a:rPr>
              <a:t> APD, dan </a:t>
            </a:r>
            <a:r>
              <a:rPr sz="1275" b="0" i="0" u="none" dirty="0" err="1">
                <a:solidFill>
                  <a:srgbClr val="334155"/>
                </a:solidFill>
                <a:latin typeface="Inter"/>
              </a:rPr>
              <a:t>riwayat</a:t>
            </a:r>
            <a:r>
              <a:rPr sz="1275" b="0" i="0" u="none" dirty="0">
                <a:solidFill>
                  <a:srgbClr val="334155"/>
                </a:solidFill>
                <a:latin typeface="Inter"/>
              </a:rPr>
              <a:t> </a:t>
            </a:r>
            <a:r>
              <a:rPr sz="1275" b="0" i="0" u="none" dirty="0" err="1">
                <a:solidFill>
                  <a:srgbClr val="334155"/>
                </a:solidFill>
                <a:latin typeface="Inter"/>
              </a:rPr>
              <a:t>kesehatan</a:t>
            </a:r>
            <a:r>
              <a:rPr sz="1275" b="0" i="0" u="none" dirty="0">
                <a:solidFill>
                  <a:srgbClr val="334155"/>
                </a:solidFill>
                <a:latin typeface="Inter"/>
              </a:rPr>
              <a:t> </a:t>
            </a:r>
            <a:r>
              <a:rPr sz="1275" b="0" i="0" u="none" dirty="0" err="1">
                <a:solidFill>
                  <a:srgbClr val="334155"/>
                </a:solidFill>
                <a:latin typeface="Inter"/>
              </a:rPr>
              <a:t>pekerja</a:t>
            </a:r>
            <a:r>
              <a:rPr sz="1275" b="0" i="0" u="none" dirty="0">
                <a:solidFill>
                  <a:srgbClr val="334155"/>
                </a:solidFill>
                <a:latin typeface="Inter"/>
              </a:rPr>
              <a:t>.</a:t>
            </a:r>
          </a:p>
        </p:txBody>
      </p:sp>
      <p:pic>
        <p:nvPicPr>
          <p:cNvPr id="23" name="Picture 22" descr="image.png"/>
          <p:cNvPicPr>
            <a:picLocks noChangeAspect="1"/>
          </p:cNvPicPr>
          <p:nvPr/>
        </p:nvPicPr>
        <p:blipFill>
          <a:blip r:embed="rId16"/>
          <a:stretch>
            <a:fillRect/>
          </a:stretch>
        </p:blipFill>
        <p:spPr>
          <a:xfrm>
            <a:off x="714375" y="2323058"/>
            <a:ext cx="219075" cy="190500"/>
          </a:xfrm>
          <a:prstGeom prst="rect">
            <a:avLst/>
          </a:prstGeom>
        </p:spPr>
      </p:pic>
      <p:pic>
        <p:nvPicPr>
          <p:cNvPr id="24" name="Picture 23" descr="image.png"/>
          <p:cNvPicPr>
            <a:picLocks noChangeAspect="1"/>
          </p:cNvPicPr>
          <p:nvPr/>
        </p:nvPicPr>
        <p:blipFill>
          <a:blip r:embed="rId17"/>
          <a:stretch>
            <a:fillRect/>
          </a:stretch>
        </p:blipFill>
        <p:spPr>
          <a:xfrm>
            <a:off x="6477000" y="2323058"/>
            <a:ext cx="190500" cy="190500"/>
          </a:xfrm>
          <a:prstGeom prst="rect">
            <a:avLst/>
          </a:prstGeom>
        </p:spPr>
      </p:pic>
      <p:sp>
        <p:nvSpPr>
          <p:cNvPr id="25" name="TextBox 24"/>
          <p:cNvSpPr txBox="1"/>
          <p:nvPr/>
        </p:nvSpPr>
        <p:spPr>
          <a:xfrm>
            <a:off x="1419225" y="4875758"/>
            <a:ext cx="952500" cy="190500"/>
          </a:xfrm>
          <a:prstGeom prst="rect">
            <a:avLst/>
          </a:prstGeom>
          <a:noFill/>
        </p:spPr>
        <p:txBody>
          <a:bodyPr wrap="square" lIns="0" tIns="0" rIns="0" bIns="0" anchor="t">
            <a:spAutoFit/>
          </a:bodyPr>
          <a:lstStyle/>
          <a:p>
            <a:pPr algn="ctr"/>
            <a:r>
              <a:rPr sz="1200" b="1" i="0" u="none">
                <a:solidFill>
                  <a:srgbClr val="334155"/>
                </a:solidFill>
                <a:latin typeface="Inter"/>
              </a:rPr>
              <a:t>Data Mentah</a:t>
            </a:r>
          </a:p>
        </p:txBody>
      </p:sp>
      <p:pic>
        <p:nvPicPr>
          <p:cNvPr id="26" name="Picture 25" descr="image.png"/>
          <p:cNvPicPr>
            <a:picLocks noChangeAspect="1"/>
          </p:cNvPicPr>
          <p:nvPr/>
        </p:nvPicPr>
        <p:blipFill>
          <a:blip r:embed="rId18"/>
          <a:stretch>
            <a:fillRect/>
          </a:stretch>
        </p:blipFill>
        <p:spPr>
          <a:xfrm>
            <a:off x="3209925" y="4704308"/>
            <a:ext cx="171450" cy="190500"/>
          </a:xfrm>
          <a:prstGeom prst="rect">
            <a:avLst/>
          </a:prstGeom>
        </p:spPr>
      </p:pic>
      <p:sp>
        <p:nvSpPr>
          <p:cNvPr id="27" name="TextBox 26"/>
          <p:cNvSpPr txBox="1"/>
          <p:nvPr/>
        </p:nvSpPr>
        <p:spPr>
          <a:xfrm>
            <a:off x="4000500" y="4875758"/>
            <a:ext cx="1390650" cy="190500"/>
          </a:xfrm>
          <a:prstGeom prst="rect">
            <a:avLst/>
          </a:prstGeom>
          <a:noFill/>
        </p:spPr>
        <p:txBody>
          <a:bodyPr wrap="square" lIns="0" tIns="0" rIns="0" bIns="0" anchor="t">
            <a:spAutoFit/>
          </a:bodyPr>
          <a:lstStyle/>
          <a:p>
            <a:pPr algn="ctr"/>
            <a:r>
              <a:rPr sz="1200" b="1" i="0" u="none">
                <a:solidFill>
                  <a:srgbClr val="334155"/>
                </a:solidFill>
                <a:latin typeface="Inter"/>
              </a:rPr>
              <a:t>EDA (Pemahaman)</a:t>
            </a:r>
          </a:p>
        </p:txBody>
      </p:sp>
      <p:pic>
        <p:nvPicPr>
          <p:cNvPr id="28" name="Picture 27" descr="image.png"/>
          <p:cNvPicPr>
            <a:picLocks noChangeAspect="1"/>
          </p:cNvPicPr>
          <p:nvPr/>
        </p:nvPicPr>
        <p:blipFill>
          <a:blip r:embed="rId19"/>
          <a:stretch>
            <a:fillRect/>
          </a:stretch>
        </p:blipFill>
        <p:spPr>
          <a:xfrm>
            <a:off x="6010275" y="4704308"/>
            <a:ext cx="171450" cy="190500"/>
          </a:xfrm>
          <a:prstGeom prst="rect">
            <a:avLst/>
          </a:prstGeom>
        </p:spPr>
      </p:pic>
      <p:sp>
        <p:nvSpPr>
          <p:cNvPr id="29" name="TextBox 28"/>
          <p:cNvSpPr txBox="1"/>
          <p:nvPr/>
        </p:nvSpPr>
        <p:spPr>
          <a:xfrm>
            <a:off x="7148512" y="4875758"/>
            <a:ext cx="695325" cy="190500"/>
          </a:xfrm>
          <a:prstGeom prst="rect">
            <a:avLst/>
          </a:prstGeom>
          <a:noFill/>
        </p:spPr>
        <p:txBody>
          <a:bodyPr wrap="square" lIns="0" tIns="0" rIns="0" bIns="0" anchor="t">
            <a:spAutoFit/>
          </a:bodyPr>
          <a:lstStyle/>
          <a:p>
            <a:pPr algn="ctr"/>
            <a:r>
              <a:rPr sz="1200" b="1" i="0" u="none">
                <a:solidFill>
                  <a:srgbClr val="334155"/>
                </a:solidFill>
                <a:latin typeface="Inter"/>
              </a:rPr>
              <a:t>Modeling</a:t>
            </a:r>
          </a:p>
        </p:txBody>
      </p:sp>
      <p:pic>
        <p:nvPicPr>
          <p:cNvPr id="30" name="Picture 29" descr="image.png"/>
          <p:cNvPicPr>
            <a:picLocks noChangeAspect="1"/>
          </p:cNvPicPr>
          <p:nvPr/>
        </p:nvPicPr>
        <p:blipFill>
          <a:blip r:embed="rId18"/>
          <a:stretch>
            <a:fillRect/>
          </a:stretch>
        </p:blipFill>
        <p:spPr>
          <a:xfrm>
            <a:off x="8810625" y="4704308"/>
            <a:ext cx="171450" cy="190500"/>
          </a:xfrm>
          <a:prstGeom prst="rect">
            <a:avLst/>
          </a:prstGeom>
        </p:spPr>
      </p:pic>
      <p:sp>
        <p:nvSpPr>
          <p:cNvPr id="31" name="TextBox 30"/>
          <p:cNvSpPr txBox="1"/>
          <p:nvPr/>
        </p:nvSpPr>
        <p:spPr>
          <a:xfrm>
            <a:off x="9672637" y="4875758"/>
            <a:ext cx="1247775" cy="190500"/>
          </a:xfrm>
          <a:prstGeom prst="rect">
            <a:avLst/>
          </a:prstGeom>
          <a:noFill/>
        </p:spPr>
        <p:txBody>
          <a:bodyPr wrap="square" lIns="0" tIns="0" rIns="0" bIns="0" anchor="t">
            <a:spAutoFit/>
          </a:bodyPr>
          <a:lstStyle/>
          <a:p>
            <a:pPr algn="ctr"/>
            <a:r>
              <a:rPr sz="1200" b="1" i="0" u="none">
                <a:solidFill>
                  <a:srgbClr val="334155"/>
                </a:solidFill>
                <a:latin typeface="Inter"/>
              </a:rPr>
              <a:t>Insight / Prediksi</a:t>
            </a:r>
          </a:p>
        </p:txBody>
      </p:sp>
      <p:sp>
        <p:nvSpPr>
          <p:cNvPr id="32" name="TextBox 31"/>
          <p:cNvSpPr txBox="1"/>
          <p:nvPr/>
        </p:nvSpPr>
        <p:spPr>
          <a:xfrm>
            <a:off x="823912" y="419100"/>
            <a:ext cx="11368087" cy="388590"/>
          </a:xfrm>
          <a:prstGeom prst="rect">
            <a:avLst/>
          </a:prstGeom>
          <a:noFill/>
        </p:spPr>
        <p:txBody>
          <a:bodyPr wrap="square" lIns="0" tIns="0" rIns="0" bIns="0" anchor="ctr">
            <a:spAutoFit/>
          </a:bodyPr>
          <a:lstStyle/>
          <a:p>
            <a:pPr algn="l">
              <a:lnSpc>
                <a:spcPts val="3060"/>
              </a:lnSpc>
            </a:pPr>
            <a:r>
              <a:rPr sz="2550" b="1" i="0" u="none">
                <a:solidFill>
                  <a:srgbClr val="0F172A"/>
                </a:solidFill>
                <a:latin typeface="Plus Jakarta Sans"/>
              </a:rPr>
              <a:t>Analogi Sederhana EDA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556420"/>
            <a:ext cx="5334000" cy="2790825"/>
          </a:xfrm>
          <a:prstGeom prst="rect">
            <a:avLst/>
          </a:prstGeom>
        </p:spPr>
      </p:pic>
      <p:pic>
        <p:nvPicPr>
          <p:cNvPr id="4" name="Picture 3" descr="image.png"/>
          <p:cNvPicPr>
            <a:picLocks noChangeAspect="1"/>
          </p:cNvPicPr>
          <p:nvPr/>
        </p:nvPicPr>
        <p:blipFill>
          <a:blip r:embed="rId4"/>
          <a:stretch>
            <a:fillRect/>
          </a:stretch>
        </p:blipFill>
        <p:spPr>
          <a:xfrm>
            <a:off x="6286500" y="2556420"/>
            <a:ext cx="5334000" cy="2790825"/>
          </a:xfrm>
          <a:prstGeom prst="rect">
            <a:avLst/>
          </a:prstGeom>
        </p:spPr>
      </p:pic>
      <p:sp>
        <p:nvSpPr>
          <p:cNvPr id="5" name="TextBox 4"/>
          <p:cNvSpPr txBox="1"/>
          <p:nvPr/>
        </p:nvSpPr>
        <p:spPr>
          <a:xfrm>
            <a:off x="571500" y="2137320"/>
            <a:ext cx="11049000" cy="228600"/>
          </a:xfrm>
          <a:prstGeom prst="rect">
            <a:avLst/>
          </a:prstGeom>
          <a:noFill/>
        </p:spPr>
        <p:txBody>
          <a:bodyPr wrap="square" lIns="0" tIns="0" rIns="0" bIns="0" anchor="t">
            <a:spAutoFit/>
          </a:bodyPr>
          <a:lstStyle/>
          <a:p>
            <a:pPr algn="l">
              <a:lnSpc>
                <a:spcPts val="1800"/>
              </a:lnSpc>
            </a:pPr>
            <a:r>
              <a:rPr sz="1400" b="0" i="0" u="none" dirty="0" err="1">
                <a:solidFill>
                  <a:srgbClr val="475569"/>
                </a:solidFill>
                <a:latin typeface="Inter"/>
              </a:rPr>
              <a:t>Dalam</a:t>
            </a:r>
            <a:r>
              <a:rPr sz="1400" b="0" i="0" u="none" dirty="0">
                <a:solidFill>
                  <a:srgbClr val="475569"/>
                </a:solidFill>
                <a:latin typeface="Inter"/>
              </a:rPr>
              <a:t> </a:t>
            </a:r>
            <a:r>
              <a:rPr sz="1400" b="0" i="0" u="none" dirty="0" err="1">
                <a:solidFill>
                  <a:srgbClr val="475569"/>
                </a:solidFill>
                <a:latin typeface="Inter"/>
              </a:rPr>
              <a:t>analisis</a:t>
            </a:r>
            <a:r>
              <a:rPr sz="1400" b="0" i="0" u="none" dirty="0">
                <a:solidFill>
                  <a:srgbClr val="475569"/>
                </a:solidFill>
                <a:latin typeface="Inter"/>
              </a:rPr>
              <a:t>  modern, </a:t>
            </a:r>
            <a:r>
              <a:rPr sz="1400" b="0" i="0" u="none" dirty="0" err="1">
                <a:solidFill>
                  <a:srgbClr val="475569"/>
                </a:solidFill>
                <a:latin typeface="Inter"/>
              </a:rPr>
              <a:t>fokus</a:t>
            </a:r>
            <a:r>
              <a:rPr sz="1400" b="0" i="0" u="none" dirty="0">
                <a:solidFill>
                  <a:srgbClr val="475569"/>
                </a:solidFill>
                <a:latin typeface="Inter"/>
              </a:rPr>
              <a:t> </a:t>
            </a:r>
            <a:r>
              <a:rPr sz="1400" b="0" i="0" u="none" dirty="0" err="1">
                <a:solidFill>
                  <a:srgbClr val="475569"/>
                </a:solidFill>
                <a:latin typeface="Inter"/>
              </a:rPr>
              <a:t>tidak</a:t>
            </a:r>
            <a:r>
              <a:rPr sz="1400" b="0" i="0" u="none" dirty="0">
                <a:solidFill>
                  <a:srgbClr val="475569"/>
                </a:solidFill>
                <a:latin typeface="Inter"/>
              </a:rPr>
              <a:t> </a:t>
            </a:r>
            <a:r>
              <a:rPr sz="1400" b="0" i="0" u="none" dirty="0" err="1">
                <a:solidFill>
                  <a:srgbClr val="475569"/>
                </a:solidFill>
                <a:latin typeface="Inter"/>
              </a:rPr>
              <a:t>hanya</a:t>
            </a:r>
            <a:r>
              <a:rPr sz="1400" b="0" i="0" u="none" dirty="0">
                <a:solidFill>
                  <a:srgbClr val="475569"/>
                </a:solidFill>
                <a:latin typeface="Inter"/>
              </a:rPr>
              <a:t> </a:t>
            </a:r>
            <a:r>
              <a:rPr sz="1400" b="0" i="0" u="none" dirty="0" err="1">
                <a:solidFill>
                  <a:srgbClr val="475569"/>
                </a:solidFill>
                <a:latin typeface="Inter"/>
              </a:rPr>
              <a:t>bertumpu</a:t>
            </a:r>
            <a:r>
              <a:rPr sz="1400" b="0" i="0" u="none" dirty="0">
                <a:solidFill>
                  <a:srgbClr val="475569"/>
                </a:solidFill>
                <a:latin typeface="Inter"/>
              </a:rPr>
              <a:t> pada </a:t>
            </a:r>
            <a:r>
              <a:rPr sz="1400" b="0" i="0" u="none" dirty="0" err="1">
                <a:solidFill>
                  <a:srgbClr val="475569"/>
                </a:solidFill>
                <a:latin typeface="Inter"/>
              </a:rPr>
              <a:t>kegagalan</a:t>
            </a:r>
            <a:r>
              <a:rPr sz="1400" b="0" i="0" u="none" dirty="0">
                <a:solidFill>
                  <a:srgbClr val="475569"/>
                </a:solidFill>
                <a:latin typeface="Inter"/>
              </a:rPr>
              <a:t> </a:t>
            </a:r>
            <a:r>
              <a:rPr sz="1400" b="0" i="0" u="none" dirty="0" err="1">
                <a:solidFill>
                  <a:srgbClr val="475569"/>
                </a:solidFill>
                <a:latin typeface="Inter"/>
              </a:rPr>
              <a:t>mekanis</a:t>
            </a:r>
            <a:r>
              <a:rPr sz="1400" b="0" i="0" u="none" dirty="0">
                <a:solidFill>
                  <a:srgbClr val="475569"/>
                </a:solidFill>
                <a:latin typeface="Inter"/>
              </a:rPr>
              <a:t> </a:t>
            </a:r>
            <a:r>
              <a:rPr sz="1400" b="0" i="0" u="none" dirty="0" err="1">
                <a:solidFill>
                  <a:srgbClr val="475569"/>
                </a:solidFill>
                <a:latin typeface="Inter"/>
              </a:rPr>
              <a:t>mesin</a:t>
            </a:r>
            <a:r>
              <a:rPr sz="1400" b="0" i="0" u="none" dirty="0">
                <a:solidFill>
                  <a:srgbClr val="475569"/>
                </a:solidFill>
                <a:latin typeface="Inter"/>
              </a:rPr>
              <a:t>, </a:t>
            </a:r>
            <a:r>
              <a:rPr sz="1400" b="0" i="0" u="none" dirty="0" err="1">
                <a:solidFill>
                  <a:srgbClr val="475569"/>
                </a:solidFill>
                <a:latin typeface="Inter"/>
              </a:rPr>
              <a:t>tetapi</a:t>
            </a:r>
            <a:r>
              <a:rPr sz="1400" b="0" i="0" u="none" dirty="0">
                <a:solidFill>
                  <a:srgbClr val="475569"/>
                </a:solidFill>
                <a:latin typeface="Inter"/>
              </a:rPr>
              <a:t> pada </a:t>
            </a:r>
            <a:r>
              <a:rPr sz="1400" b="0" i="0" u="none" dirty="0" err="1">
                <a:solidFill>
                  <a:srgbClr val="475569"/>
                </a:solidFill>
                <a:latin typeface="Inter"/>
              </a:rPr>
              <a:t>interaksi</a:t>
            </a:r>
            <a:r>
              <a:rPr sz="1400" b="0" i="0" u="none" dirty="0">
                <a:solidFill>
                  <a:srgbClr val="475569"/>
                </a:solidFill>
                <a:latin typeface="Inter"/>
              </a:rPr>
              <a:t> </a:t>
            </a:r>
            <a:r>
              <a:rPr sz="1400" b="0" i="0" u="none" dirty="0" err="1">
                <a:solidFill>
                  <a:srgbClr val="475569"/>
                </a:solidFill>
                <a:latin typeface="Inter"/>
              </a:rPr>
              <a:t>faktor</a:t>
            </a:r>
            <a:r>
              <a:rPr sz="1400" b="0" i="0" u="none" dirty="0">
                <a:solidFill>
                  <a:srgbClr val="475569"/>
                </a:solidFill>
                <a:latin typeface="Inter"/>
              </a:rPr>
              <a:t> </a:t>
            </a:r>
            <a:r>
              <a:rPr sz="1400" b="0" i="0" u="none" dirty="0" err="1">
                <a:solidFill>
                  <a:srgbClr val="475569"/>
                </a:solidFill>
                <a:latin typeface="Inter"/>
              </a:rPr>
              <a:t>manusia</a:t>
            </a:r>
            <a:r>
              <a:rPr sz="1400" b="0" i="0" u="none" dirty="0">
                <a:solidFill>
                  <a:srgbClr val="475569"/>
                </a:solidFill>
                <a:latin typeface="Inter"/>
              </a:rPr>
              <a:t> </a:t>
            </a:r>
            <a:r>
              <a:rPr sz="1400" b="0" i="0" u="none" dirty="0" err="1">
                <a:solidFill>
                  <a:srgbClr val="475569"/>
                </a:solidFill>
                <a:latin typeface="Inter"/>
              </a:rPr>
              <a:t>terhadap</a:t>
            </a:r>
            <a:r>
              <a:rPr sz="1400" b="0" i="0" u="none" dirty="0">
                <a:solidFill>
                  <a:srgbClr val="475569"/>
                </a:solidFill>
                <a:latin typeface="Inter"/>
              </a:rPr>
              <a:t> </a:t>
            </a:r>
            <a:r>
              <a:rPr sz="1400" b="0" i="0" u="none" dirty="0" err="1">
                <a:solidFill>
                  <a:srgbClr val="475569"/>
                </a:solidFill>
                <a:latin typeface="Inter"/>
              </a:rPr>
              <a:t>lingkungan</a:t>
            </a:r>
            <a:r>
              <a:rPr sz="1400" b="0" i="0" u="none" dirty="0">
                <a:solidFill>
                  <a:srgbClr val="475569"/>
                </a:solidFill>
                <a:latin typeface="Inter"/>
              </a:rPr>
              <a:t> </a:t>
            </a:r>
            <a:r>
              <a:rPr sz="1400" b="0" i="0" u="none" dirty="0" err="1">
                <a:solidFill>
                  <a:srgbClr val="475569"/>
                </a:solidFill>
                <a:latin typeface="Inter"/>
              </a:rPr>
              <a:t>kerja</a:t>
            </a:r>
            <a:r>
              <a:rPr sz="1400" b="0" i="0" u="none" dirty="0">
                <a:solidFill>
                  <a:srgbClr val="475569"/>
                </a:solidFill>
                <a:latin typeface="Inter"/>
              </a:rPr>
              <a:t>.</a:t>
            </a:r>
          </a:p>
        </p:txBody>
      </p:sp>
      <p:sp>
        <p:nvSpPr>
          <p:cNvPr id="6" name="TextBox 5"/>
          <p:cNvSpPr txBox="1"/>
          <p:nvPr/>
        </p:nvSpPr>
        <p:spPr>
          <a:xfrm>
            <a:off x="866775" y="2851695"/>
            <a:ext cx="4980622" cy="246221"/>
          </a:xfrm>
          <a:prstGeom prst="rect">
            <a:avLst/>
          </a:prstGeom>
          <a:noFill/>
        </p:spPr>
        <p:txBody>
          <a:bodyPr wrap="square" lIns="314325" tIns="0" rIns="0" bIns="0" anchor="t">
            <a:spAutoFit/>
          </a:bodyPr>
          <a:lstStyle/>
          <a:p>
            <a:pPr algn="l"/>
            <a:r>
              <a:rPr sz="1600" b="1" i="0" u="none">
                <a:solidFill>
                  <a:srgbClr val="0284C7"/>
                </a:solidFill>
                <a:latin typeface="Poppins"/>
              </a:rPr>
              <a:t>Faktor Individu &amp; Psikologis</a:t>
            </a:r>
          </a:p>
        </p:txBody>
      </p:sp>
      <p:sp>
        <p:nvSpPr>
          <p:cNvPr id="7" name="TextBox 6"/>
          <p:cNvSpPr txBox="1"/>
          <p:nvPr/>
        </p:nvSpPr>
        <p:spPr>
          <a:xfrm>
            <a:off x="6581775" y="2851695"/>
            <a:ext cx="4980622" cy="246221"/>
          </a:xfrm>
          <a:prstGeom prst="rect">
            <a:avLst/>
          </a:prstGeom>
          <a:noFill/>
        </p:spPr>
        <p:txBody>
          <a:bodyPr wrap="square" lIns="266700" tIns="0" rIns="0" bIns="0" anchor="t">
            <a:spAutoFit/>
          </a:bodyPr>
          <a:lstStyle/>
          <a:p>
            <a:pPr algn="l"/>
            <a:r>
              <a:rPr sz="1600" b="1" i="0" u="none">
                <a:solidFill>
                  <a:srgbClr val="0F172A"/>
                </a:solidFill>
                <a:latin typeface="Poppins"/>
              </a:rPr>
              <a:t>Faktor Pekerjaan &amp; Lingkungan</a:t>
            </a:r>
          </a:p>
        </p:txBody>
      </p:sp>
      <p:pic>
        <p:nvPicPr>
          <p:cNvPr id="8" name="Picture 7" descr="image.png"/>
          <p:cNvPicPr>
            <a:picLocks noChangeAspect="1"/>
          </p:cNvPicPr>
          <p:nvPr/>
        </p:nvPicPr>
        <p:blipFill>
          <a:blip r:embed="rId5"/>
          <a:stretch>
            <a:fillRect/>
          </a:stretch>
        </p:blipFill>
        <p:spPr>
          <a:xfrm>
            <a:off x="866775" y="2899320"/>
            <a:ext cx="238125" cy="190500"/>
          </a:xfrm>
          <a:prstGeom prst="rect">
            <a:avLst/>
          </a:prstGeom>
        </p:spPr>
      </p:pic>
      <p:sp>
        <p:nvSpPr>
          <p:cNvPr id="9" name="TextBox 8"/>
          <p:cNvSpPr txBox="1"/>
          <p:nvPr/>
        </p:nvSpPr>
        <p:spPr>
          <a:xfrm>
            <a:off x="1152525" y="3280320"/>
            <a:ext cx="4457700" cy="457200"/>
          </a:xfrm>
          <a:prstGeom prst="rect">
            <a:avLst/>
          </a:prstGeom>
          <a:noFill/>
        </p:spPr>
        <p:txBody>
          <a:bodyPr wrap="square" lIns="0" tIns="0" rIns="0" bIns="0" anchor="t">
            <a:spAutoFit/>
          </a:bodyPr>
          <a:lstStyle/>
          <a:p>
            <a:pPr algn="l">
              <a:lnSpc>
                <a:spcPts val="1800"/>
              </a:lnSpc>
            </a:pPr>
            <a:r>
              <a:rPr sz="1400" b="1" i="0" u="none">
                <a:solidFill>
                  <a:srgbClr val="475569"/>
                </a:solidFill>
                <a:latin typeface="Inter"/>
              </a:rPr>
              <a:t>Kondisi Fisik:</a:t>
            </a:r>
            <a:r>
              <a:rPr sz="1400" b="0" i="0" u="none">
                <a:solidFill>
                  <a:srgbClr val="475569"/>
                </a:solidFill>
                <a:latin typeface="Inter"/>
              </a:rPr>
              <a:t> Usia, masa kerja, durasi tidur, tingkat kelelahan fisik.</a:t>
            </a:r>
          </a:p>
        </p:txBody>
      </p:sp>
      <p:sp>
        <p:nvSpPr>
          <p:cNvPr id="10" name="TextBox 9"/>
          <p:cNvSpPr txBox="1"/>
          <p:nvPr/>
        </p:nvSpPr>
        <p:spPr>
          <a:xfrm>
            <a:off x="1152525" y="3870870"/>
            <a:ext cx="4457700" cy="457200"/>
          </a:xfrm>
          <a:prstGeom prst="rect">
            <a:avLst/>
          </a:prstGeom>
          <a:noFill/>
        </p:spPr>
        <p:txBody>
          <a:bodyPr wrap="square" lIns="0" tIns="0" rIns="0" bIns="0" anchor="t">
            <a:spAutoFit/>
          </a:bodyPr>
          <a:lstStyle/>
          <a:p>
            <a:pPr algn="l">
              <a:lnSpc>
                <a:spcPts val="1800"/>
              </a:lnSpc>
            </a:pPr>
            <a:r>
              <a:rPr sz="1400" b="1" i="0" u="none">
                <a:solidFill>
                  <a:srgbClr val="475569"/>
                </a:solidFill>
                <a:latin typeface="Inter"/>
              </a:rPr>
              <a:t>Psikologis &amp; Stres:</a:t>
            </a:r>
            <a:r>
              <a:rPr sz="1400" b="0" i="0" u="none">
                <a:solidFill>
                  <a:srgbClr val="475569"/>
                </a:solidFill>
                <a:latin typeface="Inter"/>
              </a:rPr>
              <a:t> Beban mental, tingkat stres kerja, serta penurunan fokus.</a:t>
            </a:r>
          </a:p>
        </p:txBody>
      </p:sp>
      <p:sp>
        <p:nvSpPr>
          <p:cNvPr id="11" name="TextBox 10"/>
          <p:cNvSpPr txBox="1"/>
          <p:nvPr/>
        </p:nvSpPr>
        <p:spPr>
          <a:xfrm>
            <a:off x="1152525" y="4461420"/>
            <a:ext cx="4457700" cy="457200"/>
          </a:xfrm>
          <a:prstGeom prst="rect">
            <a:avLst/>
          </a:prstGeom>
          <a:noFill/>
        </p:spPr>
        <p:txBody>
          <a:bodyPr wrap="square" lIns="0" tIns="0" rIns="0" bIns="0" anchor="t">
            <a:spAutoFit/>
          </a:bodyPr>
          <a:lstStyle/>
          <a:p>
            <a:pPr algn="l">
              <a:lnSpc>
                <a:spcPts val="1800"/>
              </a:lnSpc>
            </a:pPr>
            <a:r>
              <a:rPr sz="1400" b="1" i="0" u="none">
                <a:solidFill>
                  <a:srgbClr val="475569"/>
                </a:solidFill>
                <a:latin typeface="Inter"/>
              </a:rPr>
              <a:t>Perilaku:</a:t>
            </a:r>
            <a:r>
              <a:rPr sz="1400" b="0" i="0" u="none">
                <a:solidFill>
                  <a:srgbClr val="475569"/>
                </a:solidFill>
                <a:latin typeface="Inter"/>
              </a:rPr>
              <a:t> Kepatuhan APD, tingkat kesadaran SOP, dan transparansi laporan near miss.</a:t>
            </a:r>
          </a:p>
        </p:txBody>
      </p:sp>
      <p:pic>
        <p:nvPicPr>
          <p:cNvPr id="12" name="Picture 11" descr="image.png"/>
          <p:cNvPicPr>
            <a:picLocks noChangeAspect="1"/>
          </p:cNvPicPr>
          <p:nvPr/>
        </p:nvPicPr>
        <p:blipFill>
          <a:blip r:embed="rId6"/>
          <a:stretch>
            <a:fillRect/>
          </a:stretch>
        </p:blipFill>
        <p:spPr>
          <a:xfrm>
            <a:off x="6581775" y="2899320"/>
            <a:ext cx="190500" cy="190500"/>
          </a:xfrm>
          <a:prstGeom prst="rect">
            <a:avLst/>
          </a:prstGeom>
        </p:spPr>
      </p:pic>
      <p:sp>
        <p:nvSpPr>
          <p:cNvPr id="13" name="TextBox 12"/>
          <p:cNvSpPr txBox="1"/>
          <p:nvPr/>
        </p:nvSpPr>
        <p:spPr>
          <a:xfrm>
            <a:off x="6867525" y="3280320"/>
            <a:ext cx="4457700" cy="457200"/>
          </a:xfrm>
          <a:prstGeom prst="rect">
            <a:avLst/>
          </a:prstGeom>
          <a:noFill/>
        </p:spPr>
        <p:txBody>
          <a:bodyPr wrap="square" lIns="0" tIns="0" rIns="0" bIns="0" anchor="t">
            <a:spAutoFit/>
          </a:bodyPr>
          <a:lstStyle/>
          <a:p>
            <a:pPr algn="l">
              <a:lnSpc>
                <a:spcPts val="1800"/>
              </a:lnSpc>
            </a:pPr>
            <a:r>
              <a:rPr sz="1400" b="1" i="0" u="none">
                <a:solidFill>
                  <a:srgbClr val="475569"/>
                </a:solidFill>
                <a:latin typeface="Inter"/>
              </a:rPr>
              <a:t>Jadwal Kerja:</a:t>
            </a:r>
            <a:r>
              <a:rPr sz="1400" b="0" i="0" u="none">
                <a:solidFill>
                  <a:srgbClr val="475569"/>
                </a:solidFill>
                <a:latin typeface="Inter"/>
              </a:rPr>
              <a:t> Total jam kerja per hari, lembur ekstrem, serta rotasi shift malam.</a:t>
            </a:r>
          </a:p>
        </p:txBody>
      </p:sp>
      <p:sp>
        <p:nvSpPr>
          <p:cNvPr id="14" name="TextBox 13"/>
          <p:cNvSpPr txBox="1"/>
          <p:nvPr/>
        </p:nvSpPr>
        <p:spPr>
          <a:xfrm>
            <a:off x="6867525" y="3870870"/>
            <a:ext cx="4457700" cy="457200"/>
          </a:xfrm>
          <a:prstGeom prst="rect">
            <a:avLst/>
          </a:prstGeom>
          <a:noFill/>
        </p:spPr>
        <p:txBody>
          <a:bodyPr wrap="square" lIns="0" tIns="0" rIns="0" bIns="0" anchor="t">
            <a:spAutoFit/>
          </a:bodyPr>
          <a:lstStyle/>
          <a:p>
            <a:pPr algn="l">
              <a:lnSpc>
                <a:spcPts val="1800"/>
              </a:lnSpc>
            </a:pPr>
            <a:r>
              <a:rPr sz="1400" b="1" i="0" u="none">
                <a:solidFill>
                  <a:srgbClr val="475569"/>
                </a:solidFill>
                <a:latin typeface="Inter"/>
              </a:rPr>
              <a:t>Lingkungan Fisik:</a:t>
            </a:r>
            <a:r>
              <a:rPr sz="1400" b="0" i="0" u="none">
                <a:solidFill>
                  <a:srgbClr val="475569"/>
                </a:solidFill>
                <a:latin typeface="Inter"/>
              </a:rPr>
              <a:t> Kebisingan area, suhu temperatur ekstrem, dan kualitas pencahayaan.</a:t>
            </a:r>
          </a:p>
        </p:txBody>
      </p:sp>
      <p:sp>
        <p:nvSpPr>
          <p:cNvPr id="15" name="TextBox 14"/>
          <p:cNvSpPr txBox="1"/>
          <p:nvPr/>
        </p:nvSpPr>
        <p:spPr>
          <a:xfrm>
            <a:off x="6867525" y="4461420"/>
            <a:ext cx="4457700" cy="457200"/>
          </a:xfrm>
          <a:prstGeom prst="rect">
            <a:avLst/>
          </a:prstGeom>
          <a:noFill/>
        </p:spPr>
        <p:txBody>
          <a:bodyPr wrap="square" lIns="0" tIns="0" rIns="0" bIns="0" anchor="t">
            <a:spAutoFit/>
          </a:bodyPr>
          <a:lstStyle/>
          <a:p>
            <a:pPr algn="l">
              <a:lnSpc>
                <a:spcPts val="1800"/>
              </a:lnSpc>
            </a:pPr>
            <a:r>
              <a:rPr sz="1400" b="1" i="0" u="none">
                <a:solidFill>
                  <a:srgbClr val="475569"/>
                </a:solidFill>
                <a:latin typeface="Inter"/>
              </a:rPr>
              <a:t>Desain Tugas:</a:t>
            </a:r>
            <a:r>
              <a:rPr sz="1400" b="0" i="0" u="none">
                <a:solidFill>
                  <a:srgbClr val="475569"/>
                </a:solidFill>
                <a:latin typeface="Inter"/>
              </a:rPr>
              <a:t> Pekerjaan berulang (repetitif) dan tekanan target waktu.</a:t>
            </a:r>
          </a:p>
        </p:txBody>
      </p:sp>
      <p:pic>
        <p:nvPicPr>
          <p:cNvPr id="16" name="Picture 15" descr="image.png"/>
          <p:cNvPicPr>
            <a:picLocks noChangeAspect="1"/>
          </p:cNvPicPr>
          <p:nvPr/>
        </p:nvPicPr>
        <p:blipFill>
          <a:blip r:embed="rId7"/>
          <a:stretch>
            <a:fillRect/>
          </a:stretch>
        </p:blipFill>
        <p:spPr>
          <a:xfrm>
            <a:off x="866775" y="3308895"/>
            <a:ext cx="152400" cy="152400"/>
          </a:xfrm>
          <a:prstGeom prst="rect">
            <a:avLst/>
          </a:prstGeom>
        </p:spPr>
      </p:pic>
      <p:pic>
        <p:nvPicPr>
          <p:cNvPr id="17" name="Picture 16" descr="image.png"/>
          <p:cNvPicPr>
            <a:picLocks noChangeAspect="1"/>
          </p:cNvPicPr>
          <p:nvPr/>
        </p:nvPicPr>
        <p:blipFill>
          <a:blip r:embed="rId7"/>
          <a:stretch>
            <a:fillRect/>
          </a:stretch>
        </p:blipFill>
        <p:spPr>
          <a:xfrm>
            <a:off x="866775" y="3899445"/>
            <a:ext cx="152400" cy="152400"/>
          </a:xfrm>
          <a:prstGeom prst="rect">
            <a:avLst/>
          </a:prstGeom>
        </p:spPr>
      </p:pic>
      <p:pic>
        <p:nvPicPr>
          <p:cNvPr id="18" name="Picture 17" descr="image.png"/>
          <p:cNvPicPr>
            <a:picLocks noChangeAspect="1"/>
          </p:cNvPicPr>
          <p:nvPr/>
        </p:nvPicPr>
        <p:blipFill>
          <a:blip r:embed="rId7"/>
          <a:stretch>
            <a:fillRect/>
          </a:stretch>
        </p:blipFill>
        <p:spPr>
          <a:xfrm>
            <a:off x="866775" y="4489995"/>
            <a:ext cx="152400" cy="152400"/>
          </a:xfrm>
          <a:prstGeom prst="rect">
            <a:avLst/>
          </a:prstGeom>
        </p:spPr>
      </p:pic>
      <p:pic>
        <p:nvPicPr>
          <p:cNvPr id="19" name="Picture 18" descr="image.png"/>
          <p:cNvPicPr>
            <a:picLocks noChangeAspect="1"/>
          </p:cNvPicPr>
          <p:nvPr/>
        </p:nvPicPr>
        <p:blipFill>
          <a:blip r:embed="rId7"/>
          <a:stretch>
            <a:fillRect/>
          </a:stretch>
        </p:blipFill>
        <p:spPr>
          <a:xfrm>
            <a:off x="6581775" y="3308895"/>
            <a:ext cx="152400" cy="152400"/>
          </a:xfrm>
          <a:prstGeom prst="rect">
            <a:avLst/>
          </a:prstGeom>
        </p:spPr>
      </p:pic>
      <p:pic>
        <p:nvPicPr>
          <p:cNvPr id="20" name="Picture 19" descr="image.png"/>
          <p:cNvPicPr>
            <a:picLocks noChangeAspect="1"/>
          </p:cNvPicPr>
          <p:nvPr/>
        </p:nvPicPr>
        <p:blipFill>
          <a:blip r:embed="rId7"/>
          <a:stretch>
            <a:fillRect/>
          </a:stretch>
        </p:blipFill>
        <p:spPr>
          <a:xfrm>
            <a:off x="6581775" y="3899445"/>
            <a:ext cx="152400" cy="152400"/>
          </a:xfrm>
          <a:prstGeom prst="rect">
            <a:avLst/>
          </a:prstGeom>
        </p:spPr>
      </p:pic>
      <p:pic>
        <p:nvPicPr>
          <p:cNvPr id="21" name="Picture 20" descr="image.png"/>
          <p:cNvPicPr>
            <a:picLocks noChangeAspect="1"/>
          </p:cNvPicPr>
          <p:nvPr/>
        </p:nvPicPr>
        <p:blipFill>
          <a:blip r:embed="rId7"/>
          <a:stretch>
            <a:fillRect/>
          </a:stretch>
        </p:blipFill>
        <p:spPr>
          <a:xfrm>
            <a:off x="6581775" y="4489995"/>
            <a:ext cx="152400" cy="152400"/>
          </a:xfrm>
          <a:prstGeom prst="rect">
            <a:avLst/>
          </a:prstGeom>
        </p:spPr>
      </p:pic>
      <p:sp>
        <p:nvSpPr>
          <p:cNvPr id="22" name="TextBox 21"/>
          <p:cNvSpPr txBox="1"/>
          <p:nvPr/>
        </p:nvSpPr>
        <p:spPr>
          <a:xfrm>
            <a:off x="714375" y="476250"/>
            <a:ext cx="11451431" cy="388590"/>
          </a:xfrm>
          <a:prstGeom prst="rect">
            <a:avLst/>
          </a:prstGeom>
          <a:noFill/>
        </p:spPr>
        <p:txBody>
          <a:bodyPr wrap="square" lIns="0" tIns="0" rIns="0" bIns="0" anchor="t">
            <a:spAutoFit/>
          </a:bodyPr>
          <a:lstStyle/>
          <a:p>
            <a:pPr algn="l">
              <a:lnSpc>
                <a:spcPts val="3060"/>
              </a:lnSpc>
            </a:pPr>
            <a:r>
              <a:rPr sz="2550" b="1" i="0" u="none" dirty="0" err="1">
                <a:solidFill>
                  <a:srgbClr val="0F172A"/>
                </a:solidFill>
                <a:latin typeface="Poppins"/>
              </a:rPr>
              <a:t>Perspektif</a:t>
            </a:r>
            <a:r>
              <a:rPr sz="2550" b="1" i="0" u="none" dirty="0">
                <a:solidFill>
                  <a:srgbClr val="0F172A"/>
                </a:solidFill>
                <a:latin typeface="Poppins"/>
              </a:rPr>
              <a:t> </a:t>
            </a:r>
            <a:r>
              <a:rPr sz="2550" b="1" i="0" u="none" dirty="0" err="1">
                <a:solidFill>
                  <a:srgbClr val="0F172A"/>
                </a:solidFill>
                <a:latin typeface="Poppins"/>
              </a:rPr>
              <a:t>Manusia</a:t>
            </a:r>
            <a:endParaRPr sz="2550" b="1" i="0" u="none" dirty="0">
              <a:solidFill>
                <a:srgbClr val="0F172A"/>
              </a:solidFill>
              <a:latin typeface="Poppins"/>
            </a:endParaRPr>
          </a:p>
        </p:txBody>
      </p:sp>
      <p:sp>
        <p:nvSpPr>
          <p:cNvPr id="23" name="Rectangle 22"/>
          <p:cNvSpPr/>
          <p:nvPr/>
        </p:nvSpPr>
        <p:spPr>
          <a:xfrm>
            <a:off x="571500" y="476250"/>
            <a:ext cx="47625" cy="38859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FF707A-345A-5961-9CBA-A0A484D77C6B}"/>
              </a:ext>
            </a:extLst>
          </p:cNvPr>
          <p:cNvPicPr>
            <a:picLocks noChangeAspect="1"/>
          </p:cNvPicPr>
          <p:nvPr/>
        </p:nvPicPr>
        <p:blipFill>
          <a:blip r:embed="rId2"/>
          <a:stretch>
            <a:fillRect/>
          </a:stretch>
        </p:blipFill>
        <p:spPr>
          <a:xfrm>
            <a:off x="0" y="993"/>
            <a:ext cx="12192000" cy="6856013"/>
          </a:xfrm>
          <a:prstGeom prst="rect">
            <a:avLst/>
          </a:prstGeom>
        </p:spPr>
      </p:pic>
    </p:spTree>
    <p:extLst>
      <p:ext uri="{BB962C8B-B14F-4D97-AF65-F5344CB8AC3E}">
        <p14:creationId xmlns:p14="http://schemas.microsoft.com/office/powerpoint/2010/main" val="3122546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252F31-C5A9-65BD-2C67-ED9D61F64124}"/>
              </a:ext>
            </a:extLst>
          </p:cNvPr>
          <p:cNvPicPr>
            <a:picLocks noChangeAspect="1"/>
          </p:cNvPicPr>
          <p:nvPr/>
        </p:nvPicPr>
        <p:blipFill>
          <a:blip r:embed="rId2"/>
          <a:stretch>
            <a:fillRect/>
          </a:stretch>
        </p:blipFill>
        <p:spPr>
          <a:xfrm>
            <a:off x="0" y="497190"/>
            <a:ext cx="12192000" cy="5863620"/>
          </a:xfrm>
          <a:prstGeom prst="rect">
            <a:avLst/>
          </a:prstGeom>
        </p:spPr>
      </p:pic>
    </p:spTree>
    <p:extLst>
      <p:ext uri="{BB962C8B-B14F-4D97-AF65-F5344CB8AC3E}">
        <p14:creationId xmlns:p14="http://schemas.microsoft.com/office/powerpoint/2010/main" val="948869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D8B2371-327C-3F43-41CB-CA46B6261FB1}"/>
              </a:ext>
            </a:extLst>
          </p:cNvPr>
          <p:cNvPicPr>
            <a:picLocks noChangeAspect="1"/>
          </p:cNvPicPr>
          <p:nvPr/>
        </p:nvPicPr>
        <p:blipFill>
          <a:blip r:embed="rId2"/>
          <a:stretch>
            <a:fillRect/>
          </a:stretch>
        </p:blipFill>
        <p:spPr>
          <a:xfrm>
            <a:off x="134470" y="0"/>
            <a:ext cx="11923059" cy="6858000"/>
          </a:xfrm>
          <a:prstGeom prst="rect">
            <a:avLst/>
          </a:prstGeom>
        </p:spPr>
      </p:pic>
    </p:spTree>
    <p:extLst>
      <p:ext uri="{BB962C8B-B14F-4D97-AF65-F5344CB8AC3E}">
        <p14:creationId xmlns:p14="http://schemas.microsoft.com/office/powerpoint/2010/main" val="10574760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76250" y="2287339"/>
            <a:ext cx="11239500" cy="942975"/>
          </a:xfrm>
          <a:prstGeom prst="rect">
            <a:avLst/>
          </a:prstGeom>
        </p:spPr>
      </p:pic>
      <p:pic>
        <p:nvPicPr>
          <p:cNvPr id="4" name="Picture 3" descr="image.png"/>
          <p:cNvPicPr>
            <a:picLocks noChangeAspect="1"/>
          </p:cNvPicPr>
          <p:nvPr/>
        </p:nvPicPr>
        <p:blipFill>
          <a:blip r:embed="rId4"/>
          <a:stretch>
            <a:fillRect/>
          </a:stretch>
        </p:blipFill>
        <p:spPr>
          <a:xfrm>
            <a:off x="476250" y="6410325"/>
            <a:ext cx="11239500" cy="257175"/>
          </a:xfrm>
          <a:prstGeom prst="rect">
            <a:avLst/>
          </a:prstGeom>
        </p:spPr>
      </p:pic>
      <p:pic>
        <p:nvPicPr>
          <p:cNvPr id="5" name="Picture 4" descr="image.png"/>
          <p:cNvPicPr>
            <a:picLocks noChangeAspect="1"/>
          </p:cNvPicPr>
          <p:nvPr/>
        </p:nvPicPr>
        <p:blipFill>
          <a:blip r:embed="rId5"/>
          <a:stretch>
            <a:fillRect/>
          </a:stretch>
        </p:blipFill>
        <p:spPr>
          <a:xfrm>
            <a:off x="476250" y="479970"/>
            <a:ext cx="261937" cy="266700"/>
          </a:xfrm>
          <a:prstGeom prst="rect">
            <a:avLst/>
          </a:prstGeom>
        </p:spPr>
      </p:pic>
      <p:sp>
        <p:nvSpPr>
          <p:cNvPr id="6" name="TextBox 5"/>
          <p:cNvSpPr txBox="1"/>
          <p:nvPr/>
        </p:nvSpPr>
        <p:spPr>
          <a:xfrm>
            <a:off x="476250" y="3420814"/>
            <a:ext cx="11239500" cy="242887"/>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SemiBold"/>
              </a:rPr>
              <a:t>Sampel Dataset (500 Pekerja):</a:t>
            </a:r>
          </a:p>
        </p:txBody>
      </p:sp>
      <p:sp>
        <p:nvSpPr>
          <p:cNvPr id="7" name="Rounded Rectangle 6"/>
          <p:cNvSpPr/>
          <p:nvPr/>
        </p:nvSpPr>
        <p:spPr>
          <a:xfrm>
            <a:off x="476250" y="3778001"/>
            <a:ext cx="11239500" cy="1409700"/>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476250" y="3778001"/>
          <a:ext cx="11229970" cy="1409700"/>
        </p:xfrm>
        <a:graphic>
          <a:graphicData uri="http://schemas.openxmlformats.org/drawingml/2006/table">
            <a:tbl>
              <a:tblPr firstRow="1" bandRow="1">
                <a:tableStyleId>{5C22544A-7EE6-4342-B048-85BDC9FD1C3A}</a:tableStyleId>
              </a:tblPr>
              <a:tblGrid>
                <a:gridCol w="1145083">
                  <a:extLst>
                    <a:ext uri="{9D8B030D-6E8A-4147-A177-3AD203B41FA5}">
                      <a16:colId xmlns:a16="http://schemas.microsoft.com/office/drawing/2014/main" val="20000"/>
                    </a:ext>
                  </a:extLst>
                </a:gridCol>
                <a:gridCol w="1665684">
                  <a:extLst>
                    <a:ext uri="{9D8B030D-6E8A-4147-A177-3AD203B41FA5}">
                      <a16:colId xmlns:a16="http://schemas.microsoft.com/office/drawing/2014/main" val="20001"/>
                    </a:ext>
                  </a:extLst>
                </a:gridCol>
                <a:gridCol w="2040433">
                  <a:extLst>
                    <a:ext uri="{9D8B030D-6E8A-4147-A177-3AD203B41FA5}">
                      <a16:colId xmlns:a16="http://schemas.microsoft.com/office/drawing/2014/main" val="20002"/>
                    </a:ext>
                  </a:extLst>
                </a:gridCol>
                <a:gridCol w="1152078">
                  <a:extLst>
                    <a:ext uri="{9D8B030D-6E8A-4147-A177-3AD203B41FA5}">
                      <a16:colId xmlns:a16="http://schemas.microsoft.com/office/drawing/2014/main" val="20003"/>
                    </a:ext>
                  </a:extLst>
                </a:gridCol>
                <a:gridCol w="1068734">
                  <a:extLst>
                    <a:ext uri="{9D8B030D-6E8A-4147-A177-3AD203B41FA5}">
                      <a16:colId xmlns:a16="http://schemas.microsoft.com/office/drawing/2014/main" val="20004"/>
                    </a:ext>
                  </a:extLst>
                </a:gridCol>
                <a:gridCol w="1526827">
                  <a:extLst>
                    <a:ext uri="{9D8B030D-6E8A-4147-A177-3AD203B41FA5}">
                      <a16:colId xmlns:a16="http://schemas.microsoft.com/office/drawing/2014/main" val="20005"/>
                    </a:ext>
                  </a:extLst>
                </a:gridCol>
                <a:gridCol w="1054893">
                  <a:extLst>
                    <a:ext uri="{9D8B030D-6E8A-4147-A177-3AD203B41FA5}">
                      <a16:colId xmlns:a16="http://schemas.microsoft.com/office/drawing/2014/main" val="20006"/>
                    </a:ext>
                  </a:extLst>
                </a:gridCol>
                <a:gridCol w="1576238">
                  <a:extLst>
                    <a:ext uri="{9D8B030D-6E8A-4147-A177-3AD203B41FA5}">
                      <a16:colId xmlns:a16="http://schemas.microsoft.com/office/drawing/2014/main" val="20007"/>
                    </a:ext>
                  </a:extLst>
                </a:gridCol>
              </a:tblGrid>
              <a:tr h="469900">
                <a:tc>
                  <a:txBody>
                    <a:bodyPr/>
                    <a:lstStyle/>
                    <a:p>
                      <a:pPr algn="l"/>
                      <a:r>
                        <a:rPr sz="1200" b="0" i="0" u="none">
                          <a:solidFill>
                            <a:srgbClr val="FFFFFF"/>
                          </a:solidFill>
                          <a:latin typeface="Inter SemiBold"/>
                        </a:rPr>
                        <a:t>Usia</a:t>
                      </a:r>
                    </a:p>
                  </a:txBody>
                  <a:tcPr marL="63500" marR="63500" marT="25400" marB="25400" anchor="ctr">
                    <a:lnL>
                      <a:noFill/>
                    </a:lnL>
                    <a:lnR>
                      <a:noFill/>
                    </a:lnR>
                    <a:lnT>
                      <a:noFill/>
                    </a:lnT>
                    <a:lnB>
                      <a:noFill/>
                    </a:lnB>
                    <a:solidFill>
                      <a:srgbClr val="1E3A8A"/>
                    </a:solidFill>
                  </a:tcPr>
                </a:tc>
                <a:tc>
                  <a:txBody>
                    <a:bodyPr/>
                    <a:lstStyle/>
                    <a:p>
                      <a:pPr algn="l"/>
                      <a:r>
                        <a:rPr sz="1200" b="0" i="0" u="none">
                          <a:solidFill>
                            <a:srgbClr val="FFFFFF"/>
                          </a:solidFill>
                          <a:latin typeface="Inter SemiBold"/>
                        </a:rPr>
                        <a:t>Masa Kerja</a:t>
                      </a:r>
                    </a:p>
                  </a:txBody>
                  <a:tcPr marL="63500" marR="63500" marT="25400" marB="25400" anchor="ctr">
                    <a:lnL>
                      <a:noFill/>
                    </a:lnL>
                    <a:lnR>
                      <a:noFill/>
                    </a:lnR>
                    <a:lnT>
                      <a:noFill/>
                    </a:lnT>
                    <a:lnB>
                      <a:noFill/>
                    </a:lnB>
                    <a:solidFill>
                      <a:srgbClr val="1E3A8A"/>
                    </a:solidFill>
                  </a:tcPr>
                </a:tc>
                <a:tc>
                  <a:txBody>
                    <a:bodyPr/>
                    <a:lstStyle/>
                    <a:p>
                      <a:pPr algn="l"/>
                      <a:r>
                        <a:rPr sz="1200" b="0" i="0" u="none">
                          <a:solidFill>
                            <a:srgbClr val="FFFFFF"/>
                          </a:solidFill>
                          <a:latin typeface="Inter SemiBold"/>
                        </a:rPr>
                        <a:t>Jam Kerja/Hari</a:t>
                      </a:r>
                    </a:p>
                  </a:txBody>
                  <a:tcPr marL="63500" marR="63500" marT="25400" marB="25400" anchor="ctr">
                    <a:lnL>
                      <a:noFill/>
                    </a:lnL>
                    <a:lnR>
                      <a:noFill/>
                    </a:lnR>
                    <a:lnT>
                      <a:noFill/>
                    </a:lnT>
                    <a:lnB>
                      <a:noFill/>
                    </a:lnB>
                    <a:solidFill>
                      <a:srgbClr val="1E3A8A"/>
                    </a:solidFill>
                  </a:tcPr>
                </a:tc>
                <a:tc>
                  <a:txBody>
                    <a:bodyPr/>
                    <a:lstStyle/>
                    <a:p>
                      <a:pPr algn="l"/>
                      <a:r>
                        <a:rPr sz="1200" b="0" i="0" u="none">
                          <a:solidFill>
                            <a:srgbClr val="FFFFFF"/>
                          </a:solidFill>
                          <a:latin typeface="Inter SemiBold"/>
                        </a:rPr>
                        <a:t>Shift</a:t>
                      </a:r>
                    </a:p>
                  </a:txBody>
                  <a:tcPr marL="63500" marR="63500" marT="25400" marB="25400" anchor="ctr">
                    <a:lnL>
                      <a:noFill/>
                    </a:lnL>
                    <a:lnR>
                      <a:noFill/>
                    </a:lnR>
                    <a:lnT>
                      <a:noFill/>
                    </a:lnT>
                    <a:lnB>
                      <a:noFill/>
                    </a:lnB>
                    <a:solidFill>
                      <a:srgbClr val="1E3A8A"/>
                    </a:solidFill>
                  </a:tcPr>
                </a:tc>
                <a:tc>
                  <a:txBody>
                    <a:bodyPr/>
                    <a:lstStyle/>
                    <a:p>
                      <a:pPr algn="l"/>
                      <a:r>
                        <a:rPr sz="1200" b="0" i="0" u="none">
                          <a:solidFill>
                            <a:srgbClr val="FFFFFF"/>
                          </a:solidFill>
                          <a:latin typeface="Inter SemiBold"/>
                        </a:rPr>
                        <a:t>Tidur</a:t>
                      </a:r>
                    </a:p>
                  </a:txBody>
                  <a:tcPr marL="63500" marR="63500" marT="25400" marB="25400" anchor="ctr">
                    <a:lnL>
                      <a:noFill/>
                    </a:lnL>
                    <a:lnR>
                      <a:noFill/>
                    </a:lnR>
                    <a:lnT>
                      <a:noFill/>
                    </a:lnT>
                    <a:lnB>
                      <a:noFill/>
                    </a:lnB>
                    <a:solidFill>
                      <a:srgbClr val="1E3A8A"/>
                    </a:solidFill>
                  </a:tcPr>
                </a:tc>
                <a:tc>
                  <a:txBody>
                    <a:bodyPr/>
                    <a:lstStyle/>
                    <a:p>
                      <a:pPr algn="l"/>
                      <a:r>
                        <a:rPr sz="1200" b="0" i="0" u="none">
                          <a:solidFill>
                            <a:srgbClr val="FFFFFF"/>
                          </a:solidFill>
                          <a:latin typeface="Inter SemiBold"/>
                        </a:rPr>
                        <a:t>Kelelahan</a:t>
                      </a:r>
                    </a:p>
                  </a:txBody>
                  <a:tcPr marL="63500" marR="63500" marT="25400" marB="25400" anchor="ctr">
                    <a:lnL>
                      <a:noFill/>
                    </a:lnL>
                    <a:lnR>
                      <a:noFill/>
                    </a:lnR>
                    <a:lnT>
                      <a:noFill/>
                    </a:lnT>
                    <a:lnB>
                      <a:noFill/>
                    </a:lnB>
                    <a:solidFill>
                      <a:srgbClr val="1E3A8A"/>
                    </a:solidFill>
                  </a:tcPr>
                </a:tc>
                <a:tc>
                  <a:txBody>
                    <a:bodyPr/>
                    <a:lstStyle/>
                    <a:p>
                      <a:pPr algn="l"/>
                      <a:r>
                        <a:rPr sz="1200" b="0" i="0" u="none">
                          <a:solidFill>
                            <a:srgbClr val="FFFFFF"/>
                          </a:solidFill>
                          <a:latin typeface="Inter SemiBold"/>
                        </a:rPr>
                        <a:t>Stres</a:t>
                      </a:r>
                    </a:p>
                  </a:txBody>
                  <a:tcPr marL="63500" marR="63500" marT="25400" marB="25400" anchor="ctr">
                    <a:lnL>
                      <a:noFill/>
                    </a:lnL>
                    <a:lnR>
                      <a:noFill/>
                    </a:lnR>
                    <a:lnT>
                      <a:noFill/>
                    </a:lnT>
                    <a:lnB>
                      <a:noFill/>
                    </a:lnB>
                    <a:solidFill>
                      <a:srgbClr val="1E3A8A"/>
                    </a:solidFill>
                  </a:tcPr>
                </a:tc>
                <a:tc>
                  <a:txBody>
                    <a:bodyPr/>
                    <a:lstStyle/>
                    <a:p>
                      <a:pPr algn="l"/>
                      <a:r>
                        <a:rPr sz="1200" b="0" i="0" u="none">
                          <a:solidFill>
                            <a:srgbClr val="FFFFFF"/>
                          </a:solidFill>
                          <a:latin typeface="Inter SemiBold"/>
                        </a:rPr>
                        <a:t>Near Miss</a:t>
                      </a:r>
                    </a:p>
                  </a:txBody>
                  <a:tcPr marL="63500" marR="63500" marT="25400" marB="25400" anchor="ctr">
                    <a:lnL>
                      <a:noFill/>
                    </a:lnL>
                    <a:lnR>
                      <a:noFill/>
                    </a:lnR>
                    <a:lnT>
                      <a:noFill/>
                    </a:lnT>
                    <a:lnB>
                      <a:noFill/>
                    </a:lnB>
                    <a:solidFill>
                      <a:srgbClr val="1E3A8A"/>
                    </a:solidFill>
                  </a:tcPr>
                </a:tc>
                <a:extLst>
                  <a:ext uri="{0D108BD9-81ED-4DB2-BD59-A6C34878D82A}">
                    <a16:rowId xmlns:a16="http://schemas.microsoft.com/office/drawing/2014/main" val="10000"/>
                  </a:ext>
                </a:extLst>
              </a:tr>
              <a:tr h="469900">
                <a:tc>
                  <a:txBody>
                    <a:bodyPr/>
                    <a:lstStyle/>
                    <a:p>
                      <a:pPr algn="l"/>
                      <a:r>
                        <a:rPr sz="1125" b="0" i="0" u="none">
                          <a:solidFill>
                            <a:srgbClr val="334155"/>
                          </a:solidFill>
                          <a:latin typeface="Inter"/>
                        </a:rPr>
                        <a:t>24 thn</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2.5 thn</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10 jam</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Malam</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5 jam</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8 / 10</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7 / 10</a:t>
                      </a:r>
                    </a:p>
                  </a:txBody>
                  <a:tcPr marL="63500" marR="63500" marT="25400" marB="25400" anchor="ctr">
                    <a:lnL>
                      <a:noFill/>
                    </a:lnL>
                    <a:lnR>
                      <a:noFill/>
                    </a:lnR>
                    <a:lnT>
                      <a:noFill/>
                    </a:lnT>
                    <a:lnB>
                      <a:noFill/>
                    </a:lnB>
                    <a:noFill/>
                  </a:tcPr>
                </a:tc>
                <a:tc>
                  <a:txBody>
                    <a:bodyPr/>
                    <a:lstStyle/>
                    <a:p>
                      <a:pPr algn="l"/>
                      <a:r>
                        <a:rPr sz="1125" b="1" i="0" u="none">
                          <a:latin typeface="Inter"/>
                        </a:rPr>
                        <a:t>Ya</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1"/>
                  </a:ext>
                </a:extLst>
              </a:tr>
              <a:tr h="469900">
                <a:tc>
                  <a:txBody>
                    <a:bodyPr/>
                    <a:lstStyle/>
                    <a:p>
                      <a:pPr algn="l"/>
                      <a:r>
                        <a:rPr sz="1125" b="0" i="0" u="none">
                          <a:solidFill>
                            <a:srgbClr val="334155"/>
                          </a:solidFill>
                          <a:latin typeface="Inter"/>
                        </a:rPr>
                        <a:t>42 thn</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8.0 thn</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8 jam</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Pagi</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7 jam</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3 / 10</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4 / 10</a:t>
                      </a:r>
                    </a:p>
                  </a:txBody>
                  <a:tcPr marL="63500" marR="63500" marT="25400" marB="25400" anchor="ctr">
                    <a:lnL>
                      <a:noFill/>
                    </a:lnL>
                    <a:lnR>
                      <a:noFill/>
                    </a:lnR>
                    <a:lnT>
                      <a:noFill/>
                    </a:lnT>
                    <a:lnB>
                      <a:noFill/>
                    </a:lnB>
                    <a:solidFill>
                      <a:srgbClr val="F8FAFC"/>
                    </a:solidFill>
                  </a:tcPr>
                </a:tc>
                <a:tc>
                  <a:txBody>
                    <a:bodyPr/>
                    <a:lstStyle/>
                    <a:p>
                      <a:pPr algn="l"/>
                      <a:r>
                        <a:rPr sz="1125" b="1" i="0" u="none">
                          <a:latin typeface="Inter"/>
                        </a:rPr>
                        <a:t>Tidak</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2"/>
                  </a:ext>
                </a:extLst>
              </a:tr>
            </a:tbl>
          </a:graphicData>
        </a:graphic>
      </p:graphicFrame>
      <p:sp>
        <p:nvSpPr>
          <p:cNvPr id="9" name="TextBox 8"/>
          <p:cNvSpPr txBox="1"/>
          <p:nvPr/>
        </p:nvSpPr>
        <p:spPr>
          <a:xfrm>
            <a:off x="476250" y="6515100"/>
            <a:ext cx="1752600" cy="152400"/>
          </a:xfrm>
          <a:prstGeom prst="rect">
            <a:avLst/>
          </a:prstGeom>
          <a:noFill/>
        </p:spPr>
        <p:txBody>
          <a:bodyPr wrap="square" lIns="0" tIns="0" rIns="0" bIns="0" anchor="t">
            <a:spAutoFit/>
          </a:bodyPr>
          <a:lstStyle/>
          <a:p>
            <a:pPr algn="l"/>
            <a:r>
              <a:rPr sz="975" b="0" i="0" u="none" dirty="0">
                <a:solidFill>
                  <a:srgbClr val="64748B"/>
                </a:solidFill>
                <a:latin typeface="Inter"/>
              </a:rPr>
              <a:t>Materi Data Mining — EDA </a:t>
            </a:r>
          </a:p>
        </p:txBody>
      </p:sp>
      <p:sp>
        <p:nvSpPr>
          <p:cNvPr id="10" name="TextBox 9"/>
          <p:cNvSpPr txBox="1"/>
          <p:nvPr/>
        </p:nvSpPr>
        <p:spPr>
          <a:xfrm>
            <a:off x="11039475" y="6515100"/>
            <a:ext cx="676275" cy="152400"/>
          </a:xfrm>
          <a:prstGeom prst="rect">
            <a:avLst/>
          </a:prstGeom>
          <a:noFill/>
        </p:spPr>
        <p:txBody>
          <a:bodyPr wrap="square" lIns="0" tIns="0" rIns="0" bIns="0" anchor="t">
            <a:spAutoFit/>
          </a:bodyPr>
          <a:lstStyle/>
          <a:p>
            <a:pPr algn="l"/>
            <a:r>
              <a:rPr sz="975" b="0" i="0" u="none">
                <a:solidFill>
                  <a:srgbClr val="64748B"/>
                </a:solidFill>
                <a:latin typeface="Inter"/>
              </a:rPr>
              <a:t>Slide 5 / 38</a:t>
            </a:r>
          </a:p>
        </p:txBody>
      </p:sp>
      <p:sp>
        <p:nvSpPr>
          <p:cNvPr id="11" name="TextBox 10"/>
          <p:cNvSpPr txBox="1"/>
          <p:nvPr/>
        </p:nvSpPr>
        <p:spPr>
          <a:xfrm>
            <a:off x="723900" y="2477839"/>
            <a:ext cx="11341417" cy="219075"/>
          </a:xfrm>
          <a:prstGeom prst="rect">
            <a:avLst/>
          </a:prstGeom>
          <a:noFill/>
        </p:spPr>
        <p:txBody>
          <a:bodyPr wrap="square" lIns="0" tIns="0" rIns="0" bIns="0" anchor="t">
            <a:spAutoFit/>
          </a:bodyPr>
          <a:lstStyle/>
          <a:p>
            <a:pPr algn="l"/>
            <a:r>
              <a:rPr sz="1404" b="1" i="0" u="none">
                <a:solidFill>
                  <a:srgbClr val="1E3A8A"/>
                </a:solidFill>
                <a:latin typeface="Plus Jakarta Sans"/>
              </a:rPr>
              <a:t>Pertanyaan Utama Perusahaan:</a:t>
            </a:r>
          </a:p>
        </p:txBody>
      </p:sp>
      <p:sp>
        <p:nvSpPr>
          <p:cNvPr id="12" name="TextBox 11"/>
          <p:cNvSpPr txBox="1"/>
          <p:nvPr/>
        </p:nvSpPr>
        <p:spPr>
          <a:xfrm>
            <a:off x="723900" y="2754064"/>
            <a:ext cx="10801350" cy="285750"/>
          </a:xfrm>
          <a:prstGeom prst="rect">
            <a:avLst/>
          </a:prstGeom>
          <a:noFill/>
        </p:spPr>
        <p:txBody>
          <a:bodyPr wrap="square" lIns="0" tIns="0" rIns="0" bIns="0" anchor="t">
            <a:spAutoFit/>
          </a:bodyPr>
          <a:lstStyle/>
          <a:p>
            <a:pPr algn="l">
              <a:lnSpc>
                <a:spcPts val="2250"/>
              </a:lnSpc>
            </a:pPr>
            <a:r>
              <a:rPr sz="1500" b="1" i="0" u="none">
                <a:solidFill>
                  <a:srgbClr val="1E3A8A"/>
                </a:solidFill>
                <a:latin typeface="Inter"/>
              </a:rPr>
              <a:t>“Mengapa sebagian pekerja lebih sering mengalami near miss (hampir celaka)?”</a:t>
            </a:r>
          </a:p>
        </p:txBody>
      </p:sp>
      <p:sp>
        <p:nvSpPr>
          <p:cNvPr id="13" name="Rectangle 12"/>
          <p:cNvSpPr/>
          <p:nvPr/>
        </p:nvSpPr>
        <p:spPr>
          <a:xfrm>
            <a:off x="481012" y="4720976"/>
            <a:ext cx="114508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626096" y="4720976"/>
            <a:ext cx="166568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291780" y="4720976"/>
            <a:ext cx="204043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332214" y="4720976"/>
            <a:ext cx="115207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484292" y="4720976"/>
            <a:ext cx="106873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553027" y="4720976"/>
            <a:ext cx="152682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079855" y="4720976"/>
            <a:ext cx="105489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0134748" y="4720976"/>
            <a:ext cx="157623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52487" y="419100"/>
            <a:ext cx="11339512" cy="388590"/>
          </a:xfrm>
          <a:prstGeom prst="rect">
            <a:avLst/>
          </a:prstGeom>
          <a:noFill/>
        </p:spPr>
        <p:txBody>
          <a:bodyPr wrap="square" lIns="0" tIns="0" rIns="0" bIns="0" anchor="ctr">
            <a:spAutoFit/>
          </a:bodyPr>
          <a:lstStyle/>
          <a:p>
            <a:pPr algn="l">
              <a:lnSpc>
                <a:spcPts val="3060"/>
              </a:lnSpc>
            </a:pPr>
            <a:r>
              <a:rPr sz="2550" b="1" i="0" u="none" dirty="0" err="1">
                <a:solidFill>
                  <a:srgbClr val="0F172A"/>
                </a:solidFill>
                <a:latin typeface="Plus Jakarta Sans"/>
              </a:rPr>
              <a:t>Kasus</a:t>
            </a:r>
            <a:r>
              <a:rPr sz="2550" b="1" i="0" u="none" dirty="0">
                <a:solidFill>
                  <a:srgbClr val="0F172A"/>
                </a:solidFill>
                <a:latin typeface="Plus Jakarta Sans"/>
              </a:rPr>
              <a:t> Utama Near Miss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38875" y="2580233"/>
            <a:ext cx="5476875" cy="2314575"/>
          </a:xfrm>
          <a:prstGeom prst="rect">
            <a:avLst/>
          </a:prstGeom>
        </p:spPr>
      </p:pic>
      <p:pic>
        <p:nvPicPr>
          <p:cNvPr id="4" name="Picture 3" descr="image.png"/>
          <p:cNvPicPr>
            <a:picLocks noChangeAspect="1"/>
          </p:cNvPicPr>
          <p:nvPr/>
        </p:nvPicPr>
        <p:blipFill>
          <a:blip r:embed="rId4"/>
          <a:stretch>
            <a:fillRect/>
          </a:stretch>
        </p:blipFill>
        <p:spPr>
          <a:xfrm>
            <a:off x="6515100" y="3642270"/>
            <a:ext cx="4962525" cy="881062"/>
          </a:xfrm>
          <a:prstGeom prst="rect">
            <a:avLst/>
          </a:prstGeom>
        </p:spPr>
      </p:pic>
      <p:pic>
        <p:nvPicPr>
          <p:cNvPr id="5" name="Picture 4" descr="image.png"/>
          <p:cNvPicPr>
            <a:picLocks noChangeAspect="1"/>
          </p:cNvPicPr>
          <p:nvPr/>
        </p:nvPicPr>
        <p:blipFill>
          <a:blip r:embed="rId5"/>
          <a:stretch>
            <a:fillRect/>
          </a:stretch>
        </p:blipFill>
        <p:spPr>
          <a:xfrm>
            <a:off x="476250" y="6410325"/>
            <a:ext cx="11239500" cy="257175"/>
          </a:xfrm>
          <a:prstGeom prst="rect">
            <a:avLst/>
          </a:prstGeom>
        </p:spPr>
      </p:pic>
      <p:pic>
        <p:nvPicPr>
          <p:cNvPr id="6" name="Picture 5" descr="image.png"/>
          <p:cNvPicPr>
            <a:picLocks noChangeAspect="1"/>
          </p:cNvPicPr>
          <p:nvPr/>
        </p:nvPicPr>
        <p:blipFill>
          <a:blip r:embed="rId6"/>
          <a:stretch>
            <a:fillRect/>
          </a:stretch>
        </p:blipFill>
        <p:spPr>
          <a:xfrm>
            <a:off x="476250" y="479970"/>
            <a:ext cx="261937" cy="266700"/>
          </a:xfrm>
          <a:prstGeom prst="rect">
            <a:avLst/>
          </a:prstGeom>
        </p:spPr>
      </p:pic>
      <p:sp>
        <p:nvSpPr>
          <p:cNvPr id="7" name="TextBox 6"/>
          <p:cNvSpPr txBox="1"/>
          <p:nvPr/>
        </p:nvSpPr>
        <p:spPr>
          <a:xfrm>
            <a:off x="476250" y="6515100"/>
            <a:ext cx="1752600" cy="152400"/>
          </a:xfrm>
          <a:prstGeom prst="rect">
            <a:avLst/>
          </a:prstGeom>
          <a:noFill/>
        </p:spPr>
        <p:txBody>
          <a:bodyPr wrap="square" lIns="0" tIns="0" rIns="0" bIns="0" anchor="t">
            <a:spAutoFit/>
          </a:bodyPr>
          <a:lstStyle/>
          <a:p>
            <a:pPr algn="l"/>
            <a:r>
              <a:rPr sz="975" b="0" i="0" u="none" dirty="0">
                <a:solidFill>
                  <a:srgbClr val="64748B"/>
                </a:solidFill>
                <a:latin typeface="Inter"/>
              </a:rPr>
              <a:t>Materi Data Mining — EDA </a:t>
            </a:r>
          </a:p>
        </p:txBody>
      </p:sp>
      <p:sp>
        <p:nvSpPr>
          <p:cNvPr id="8" name="TextBox 7"/>
          <p:cNvSpPr txBox="1"/>
          <p:nvPr/>
        </p:nvSpPr>
        <p:spPr>
          <a:xfrm>
            <a:off x="11039475" y="6515100"/>
            <a:ext cx="676275" cy="152400"/>
          </a:xfrm>
          <a:prstGeom prst="rect">
            <a:avLst/>
          </a:prstGeom>
          <a:noFill/>
        </p:spPr>
        <p:txBody>
          <a:bodyPr wrap="square" lIns="0" tIns="0" rIns="0" bIns="0" anchor="t">
            <a:spAutoFit/>
          </a:bodyPr>
          <a:lstStyle/>
          <a:p>
            <a:pPr algn="l"/>
            <a:r>
              <a:rPr sz="975" b="0" i="0" u="none">
                <a:solidFill>
                  <a:srgbClr val="64748B"/>
                </a:solidFill>
                <a:latin typeface="Inter"/>
              </a:rPr>
              <a:t>Slide 8 / 38</a:t>
            </a:r>
          </a:p>
        </p:txBody>
      </p:sp>
      <p:sp>
        <p:nvSpPr>
          <p:cNvPr id="9" name="Rounded Rectangle 8"/>
          <p:cNvSpPr/>
          <p:nvPr/>
        </p:nvSpPr>
        <p:spPr>
          <a:xfrm>
            <a:off x="476250" y="2580233"/>
            <a:ext cx="5476875" cy="2314575"/>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0" name="Table 9"/>
          <p:cNvGraphicFramePr>
            <a:graphicFrameLocks noGrp="1"/>
          </p:cNvGraphicFramePr>
          <p:nvPr/>
        </p:nvGraphicFramePr>
        <p:xfrm>
          <a:off x="476250" y="2580233"/>
          <a:ext cx="5467348" cy="2314575"/>
        </p:xfrm>
        <a:graphic>
          <a:graphicData uri="http://schemas.openxmlformats.org/drawingml/2006/table">
            <a:tbl>
              <a:tblPr firstRow="1" bandRow="1">
                <a:tableStyleId>{5C22544A-7EE6-4342-B048-85BDC9FD1C3A}</a:tableStyleId>
              </a:tblPr>
              <a:tblGrid>
                <a:gridCol w="1205954">
                  <a:extLst>
                    <a:ext uri="{9D8B030D-6E8A-4147-A177-3AD203B41FA5}">
                      <a16:colId xmlns:a16="http://schemas.microsoft.com/office/drawing/2014/main" val="20000"/>
                    </a:ext>
                  </a:extLst>
                </a:gridCol>
                <a:gridCol w="750391">
                  <a:extLst>
                    <a:ext uri="{9D8B030D-6E8A-4147-A177-3AD203B41FA5}">
                      <a16:colId xmlns:a16="http://schemas.microsoft.com/office/drawing/2014/main" val="20001"/>
                    </a:ext>
                  </a:extLst>
                </a:gridCol>
                <a:gridCol w="889694">
                  <a:extLst>
                    <a:ext uri="{9D8B030D-6E8A-4147-A177-3AD203B41FA5}">
                      <a16:colId xmlns:a16="http://schemas.microsoft.com/office/drawing/2014/main" val="20002"/>
                    </a:ext>
                  </a:extLst>
                </a:gridCol>
                <a:gridCol w="1404342">
                  <a:extLst>
                    <a:ext uri="{9D8B030D-6E8A-4147-A177-3AD203B41FA5}">
                      <a16:colId xmlns:a16="http://schemas.microsoft.com/office/drawing/2014/main" val="20003"/>
                    </a:ext>
                  </a:extLst>
                </a:gridCol>
                <a:gridCol w="1216967">
                  <a:extLst>
                    <a:ext uri="{9D8B030D-6E8A-4147-A177-3AD203B41FA5}">
                      <a16:colId xmlns:a16="http://schemas.microsoft.com/office/drawing/2014/main" val="20004"/>
                    </a:ext>
                  </a:extLst>
                </a:gridCol>
              </a:tblGrid>
              <a:tr h="462915">
                <a:tc>
                  <a:txBody>
                    <a:bodyPr/>
                    <a:lstStyle/>
                    <a:p>
                      <a:pPr algn="l"/>
                      <a:r>
                        <a:rPr sz="1200" b="0" i="0" u="none">
                          <a:solidFill>
                            <a:srgbClr val="FFFFFF"/>
                          </a:solidFill>
                          <a:latin typeface="Inter SemiBold"/>
                        </a:rPr>
                        <a:t>ID Pekerja</a:t>
                      </a:r>
                    </a:p>
                  </a:txBody>
                  <a:tcPr marL="63500" marR="63500" marT="25400" marB="25400" anchor="ctr">
                    <a:lnL>
                      <a:noFill/>
                    </a:lnL>
                    <a:lnR>
                      <a:noFill/>
                    </a:lnR>
                    <a:lnT>
                      <a:noFill/>
                    </a:lnT>
                    <a:lnB>
                      <a:noFill/>
                    </a:lnB>
                    <a:solidFill>
                      <a:srgbClr val="1E3A8A"/>
                    </a:solidFill>
                  </a:tcPr>
                </a:tc>
                <a:tc>
                  <a:txBody>
                    <a:bodyPr/>
                    <a:lstStyle/>
                    <a:p>
                      <a:pPr algn="l"/>
                      <a:r>
                        <a:rPr sz="1200" b="0" i="0" u="none">
                          <a:solidFill>
                            <a:srgbClr val="FFFFFF"/>
                          </a:solidFill>
                          <a:latin typeface="Inter SemiBold"/>
                        </a:rPr>
                        <a:t>Usia</a:t>
                      </a:r>
                    </a:p>
                  </a:txBody>
                  <a:tcPr marL="63500" marR="63500" marT="25400" marB="25400" anchor="ctr">
                    <a:lnL>
                      <a:noFill/>
                    </a:lnL>
                    <a:lnR>
                      <a:noFill/>
                    </a:lnR>
                    <a:lnT>
                      <a:noFill/>
                    </a:lnT>
                    <a:lnB>
                      <a:noFill/>
                    </a:lnB>
                    <a:solidFill>
                      <a:srgbClr val="1E3A8A"/>
                    </a:solidFill>
                  </a:tcPr>
                </a:tc>
                <a:tc>
                  <a:txBody>
                    <a:bodyPr/>
                    <a:lstStyle/>
                    <a:p>
                      <a:pPr algn="l"/>
                      <a:r>
                        <a:rPr sz="1200" b="0" i="0" u="none">
                          <a:solidFill>
                            <a:srgbClr val="FFFFFF"/>
                          </a:solidFill>
                          <a:latin typeface="Inter SemiBold"/>
                        </a:rPr>
                        <a:t>Shift</a:t>
                      </a:r>
                    </a:p>
                  </a:txBody>
                  <a:tcPr marL="63500" marR="63500" marT="25400" marB="25400" anchor="ctr">
                    <a:lnL>
                      <a:noFill/>
                    </a:lnL>
                    <a:lnR>
                      <a:noFill/>
                    </a:lnR>
                    <a:lnT>
                      <a:noFill/>
                    </a:lnT>
                    <a:lnB>
                      <a:noFill/>
                    </a:lnB>
                    <a:solidFill>
                      <a:srgbClr val="1E3A8A"/>
                    </a:solidFill>
                  </a:tcPr>
                </a:tc>
                <a:tc>
                  <a:txBody>
                    <a:bodyPr/>
                    <a:lstStyle/>
                    <a:p>
                      <a:pPr algn="l"/>
                      <a:r>
                        <a:rPr sz="1200" b="0" i="0" u="none">
                          <a:solidFill>
                            <a:srgbClr val="FFFFFF"/>
                          </a:solidFill>
                          <a:latin typeface="Inter SemiBold"/>
                        </a:rPr>
                        <a:t>Durasi Tidur</a:t>
                      </a:r>
                    </a:p>
                  </a:txBody>
                  <a:tcPr marL="63500" marR="63500" marT="25400" marB="25400" anchor="ctr">
                    <a:lnL>
                      <a:noFill/>
                    </a:lnL>
                    <a:lnR>
                      <a:noFill/>
                    </a:lnR>
                    <a:lnT>
                      <a:noFill/>
                    </a:lnT>
                    <a:lnB>
                      <a:noFill/>
                    </a:lnB>
                    <a:solidFill>
                      <a:srgbClr val="1E3A8A"/>
                    </a:solidFill>
                  </a:tcPr>
                </a:tc>
                <a:tc>
                  <a:txBody>
                    <a:bodyPr/>
                    <a:lstStyle/>
                    <a:p>
                      <a:pPr algn="l"/>
                      <a:r>
                        <a:rPr sz="1200" b="0" i="0" u="none">
                          <a:solidFill>
                            <a:srgbClr val="FFFFFF"/>
                          </a:solidFill>
                          <a:latin typeface="Inter SemiBold"/>
                        </a:rPr>
                        <a:t>Near Miss</a:t>
                      </a:r>
                    </a:p>
                  </a:txBody>
                  <a:tcPr marL="63500" marR="63500" marT="25400" marB="25400" anchor="ctr">
                    <a:lnL>
                      <a:noFill/>
                    </a:lnL>
                    <a:lnR>
                      <a:noFill/>
                    </a:lnR>
                    <a:lnT>
                      <a:noFill/>
                    </a:lnT>
                    <a:lnB>
                      <a:noFill/>
                    </a:lnB>
                    <a:solidFill>
                      <a:srgbClr val="1E3A8A"/>
                    </a:solidFill>
                  </a:tcPr>
                </a:tc>
                <a:extLst>
                  <a:ext uri="{0D108BD9-81ED-4DB2-BD59-A6C34878D82A}">
                    <a16:rowId xmlns:a16="http://schemas.microsoft.com/office/drawing/2014/main" val="10000"/>
                  </a:ext>
                </a:extLst>
              </a:tr>
              <a:tr h="462915">
                <a:tc>
                  <a:txBody>
                    <a:bodyPr/>
                    <a:lstStyle/>
                    <a:p>
                      <a:pPr algn="l"/>
                      <a:r>
                        <a:rPr sz="1125" b="0" i="0" u="none">
                          <a:solidFill>
                            <a:srgbClr val="334155"/>
                          </a:solidFill>
                          <a:latin typeface="Inter"/>
                        </a:rPr>
                        <a:t>P001</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24</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Pagi</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7 jam</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Tidak</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1"/>
                  </a:ext>
                </a:extLst>
              </a:tr>
              <a:tr h="462915">
                <a:tc>
                  <a:txBody>
                    <a:bodyPr/>
                    <a:lstStyle/>
                    <a:p>
                      <a:pPr algn="l"/>
                      <a:r>
                        <a:rPr sz="1125" b="0" i="0" u="none">
                          <a:solidFill>
                            <a:srgbClr val="334155"/>
                          </a:solidFill>
                          <a:latin typeface="Inter"/>
                        </a:rPr>
                        <a:t>P002</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45</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Malam</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5 jam</a:t>
                      </a:r>
                    </a:p>
                  </a:txBody>
                  <a:tcPr marL="63500" marR="63500" marT="25400" marB="25400" anchor="ctr">
                    <a:lnL>
                      <a:noFill/>
                    </a:lnL>
                    <a:lnR>
                      <a:noFill/>
                    </a:lnR>
                    <a:lnT>
                      <a:noFill/>
                    </a:lnT>
                    <a:lnB>
                      <a:noFill/>
                    </a:lnB>
                    <a:solidFill>
                      <a:srgbClr val="F8FAFC"/>
                    </a:solidFill>
                  </a:tcPr>
                </a:tc>
                <a:tc>
                  <a:txBody>
                    <a:bodyPr/>
                    <a:lstStyle/>
                    <a:p>
                      <a:pPr algn="l"/>
                      <a:r>
                        <a:rPr sz="1125" b="1" i="0" u="none">
                          <a:latin typeface="Inter"/>
                        </a:rPr>
                        <a:t>Ya</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2"/>
                  </a:ext>
                </a:extLst>
              </a:tr>
              <a:tr h="462915">
                <a:tc>
                  <a:txBody>
                    <a:bodyPr/>
                    <a:lstStyle/>
                    <a:p>
                      <a:pPr algn="l"/>
                      <a:r>
                        <a:rPr sz="1125" b="0" i="0" u="none">
                          <a:solidFill>
                            <a:srgbClr val="334155"/>
                          </a:solidFill>
                          <a:latin typeface="Inter"/>
                        </a:rPr>
                        <a:t>P003</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31</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Pagi</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6 jam</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Tidak</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3"/>
                  </a:ext>
                </a:extLst>
              </a:tr>
              <a:tr h="462915">
                <a:tc>
                  <a:txBody>
                    <a:bodyPr/>
                    <a:lstStyle/>
                    <a:p>
                      <a:pPr algn="l"/>
                      <a:r>
                        <a:rPr sz="1125" b="0" i="0" u="none">
                          <a:solidFill>
                            <a:srgbClr val="334155"/>
                          </a:solidFill>
                          <a:latin typeface="Inter"/>
                        </a:rPr>
                        <a:t>P004</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52</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Malam</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4 jam</a:t>
                      </a:r>
                    </a:p>
                  </a:txBody>
                  <a:tcPr marL="63500" marR="63500" marT="25400" marB="25400" anchor="ctr">
                    <a:lnL>
                      <a:noFill/>
                    </a:lnL>
                    <a:lnR>
                      <a:noFill/>
                    </a:lnR>
                    <a:lnT>
                      <a:noFill/>
                    </a:lnT>
                    <a:lnB>
                      <a:noFill/>
                    </a:lnB>
                    <a:solidFill>
                      <a:srgbClr val="F8FAFC"/>
                    </a:solidFill>
                  </a:tcPr>
                </a:tc>
                <a:tc>
                  <a:txBody>
                    <a:bodyPr/>
                    <a:lstStyle/>
                    <a:p>
                      <a:pPr algn="l"/>
                      <a:r>
                        <a:rPr sz="1125" b="1" i="0" u="none">
                          <a:latin typeface="Inter"/>
                        </a:rPr>
                        <a:t>Ya</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4"/>
                  </a:ext>
                </a:extLst>
              </a:tr>
            </a:tbl>
          </a:graphicData>
        </a:graphic>
      </p:graphicFrame>
      <p:sp>
        <p:nvSpPr>
          <p:cNvPr id="11" name="TextBox 10"/>
          <p:cNvSpPr txBox="1"/>
          <p:nvPr/>
        </p:nvSpPr>
        <p:spPr>
          <a:xfrm>
            <a:off x="6515100" y="2951708"/>
            <a:ext cx="5210651" cy="238125"/>
          </a:xfrm>
          <a:prstGeom prst="rect">
            <a:avLst/>
          </a:prstGeom>
          <a:noFill/>
        </p:spPr>
        <p:txBody>
          <a:bodyPr wrap="square" lIns="190500" tIns="0" rIns="0" bIns="0" anchor="t">
            <a:spAutoFit/>
          </a:bodyPr>
          <a:lstStyle/>
          <a:p>
            <a:pPr algn="l"/>
            <a:r>
              <a:rPr sz="1500" b="1" i="0" u="none">
                <a:solidFill>
                  <a:srgbClr val="0F172A"/>
                </a:solidFill>
                <a:latin typeface="Plus Jakarta Sans"/>
              </a:rPr>
              <a:t>Dimensi Dataset</a:t>
            </a:r>
          </a:p>
        </p:txBody>
      </p:sp>
      <p:sp>
        <p:nvSpPr>
          <p:cNvPr id="12" name="TextBox 11"/>
          <p:cNvSpPr txBox="1"/>
          <p:nvPr/>
        </p:nvSpPr>
        <p:spPr>
          <a:xfrm>
            <a:off x="6515100" y="3285083"/>
            <a:ext cx="4962525" cy="242887"/>
          </a:xfrm>
          <a:prstGeom prst="rect">
            <a:avLst/>
          </a:prstGeom>
          <a:noFill/>
        </p:spPr>
        <p:txBody>
          <a:bodyPr wrap="square" lIns="0" tIns="0" rIns="0" bIns="0" anchor="t">
            <a:spAutoFit/>
          </a:bodyPr>
          <a:lstStyle/>
          <a:p>
            <a:pPr algn="l">
              <a:lnSpc>
                <a:spcPts val="1912"/>
              </a:lnSpc>
            </a:pPr>
            <a:r>
              <a:rPr sz="1275" b="1" i="0" u="none">
                <a:solidFill>
                  <a:srgbClr val="334155"/>
                </a:solidFill>
                <a:latin typeface="Inter"/>
              </a:rPr>
              <a:t>500 Baris × 15 Variabel</a:t>
            </a:r>
          </a:p>
        </p:txBody>
      </p:sp>
      <p:pic>
        <p:nvPicPr>
          <p:cNvPr id="13" name="Picture 12" descr="image.png"/>
          <p:cNvPicPr>
            <a:picLocks noChangeAspect="1"/>
          </p:cNvPicPr>
          <p:nvPr/>
        </p:nvPicPr>
        <p:blipFill>
          <a:blip r:embed="rId7"/>
          <a:stretch>
            <a:fillRect/>
          </a:stretch>
        </p:blipFill>
        <p:spPr>
          <a:xfrm>
            <a:off x="6515100" y="2989808"/>
            <a:ext cx="190500" cy="190500"/>
          </a:xfrm>
          <a:prstGeom prst="rect">
            <a:avLst/>
          </a:prstGeom>
        </p:spPr>
      </p:pic>
      <p:sp>
        <p:nvSpPr>
          <p:cNvPr id="14" name="TextBox 13"/>
          <p:cNvSpPr txBox="1"/>
          <p:nvPr/>
        </p:nvSpPr>
        <p:spPr>
          <a:xfrm>
            <a:off x="6648450" y="3775620"/>
            <a:ext cx="4695825" cy="214312"/>
          </a:xfrm>
          <a:prstGeom prst="rect">
            <a:avLst/>
          </a:prstGeom>
          <a:noFill/>
        </p:spPr>
        <p:txBody>
          <a:bodyPr wrap="square" lIns="0" tIns="0" rIns="0" bIns="0" anchor="t">
            <a:spAutoFit/>
          </a:bodyPr>
          <a:lstStyle/>
          <a:p>
            <a:pPr algn="l">
              <a:lnSpc>
                <a:spcPts val="1687"/>
              </a:lnSpc>
            </a:pPr>
            <a:r>
              <a:rPr sz="1125" b="0" i="0" u="none">
                <a:solidFill>
                  <a:srgbClr val="0F172A"/>
                </a:solidFill>
                <a:latin typeface="Inter SemiBold"/>
              </a:rPr>
              <a:t>Konsep Penting:</a:t>
            </a:r>
          </a:p>
        </p:txBody>
      </p:sp>
      <p:sp>
        <p:nvSpPr>
          <p:cNvPr id="15" name="TextBox 14"/>
          <p:cNvSpPr txBox="1"/>
          <p:nvPr/>
        </p:nvSpPr>
        <p:spPr>
          <a:xfrm>
            <a:off x="6648450" y="3989933"/>
            <a:ext cx="4695825" cy="400050"/>
          </a:xfrm>
          <a:prstGeom prst="rect">
            <a:avLst/>
          </a:prstGeom>
          <a:noFill/>
        </p:spPr>
        <p:txBody>
          <a:bodyPr wrap="square" lIns="0" tIns="0" rIns="0" bIns="0" anchor="t">
            <a:spAutoFit/>
          </a:bodyPr>
          <a:lstStyle/>
          <a:p>
            <a:pPr algn="l">
              <a:lnSpc>
                <a:spcPts val="1575"/>
              </a:lnSpc>
            </a:pPr>
            <a:r>
              <a:rPr sz="1050" b="0" i="0" u="none" dirty="0">
                <a:solidFill>
                  <a:srgbClr val="64748B"/>
                </a:solidFill>
                <a:latin typeface="Inter"/>
              </a:rPr>
              <a:t>"Satu baris </a:t>
            </a:r>
            <a:r>
              <a:rPr sz="1050" b="0" i="0" u="none" dirty="0" err="1">
                <a:solidFill>
                  <a:srgbClr val="64748B"/>
                </a:solidFill>
                <a:latin typeface="Inter"/>
              </a:rPr>
              <a:t>merepresentasikan</a:t>
            </a:r>
            <a:r>
              <a:rPr sz="1050" b="0" i="0" u="none" dirty="0">
                <a:solidFill>
                  <a:srgbClr val="64748B"/>
                </a:solidFill>
                <a:latin typeface="Inter"/>
              </a:rPr>
              <a:t> unit </a:t>
            </a:r>
            <a:r>
              <a:rPr sz="1050" b="0" i="0" u="none" dirty="0" err="1">
                <a:solidFill>
                  <a:srgbClr val="64748B"/>
                </a:solidFill>
                <a:latin typeface="Inter"/>
              </a:rPr>
              <a:t>analisis</a:t>
            </a:r>
            <a:r>
              <a:rPr sz="1050" b="0" i="0" u="none" dirty="0">
                <a:solidFill>
                  <a:srgbClr val="64748B"/>
                </a:solidFill>
                <a:latin typeface="Inter"/>
              </a:rPr>
              <a:t> (</a:t>
            </a:r>
            <a:r>
              <a:rPr sz="1050" b="0" i="0" u="none" dirty="0" err="1">
                <a:solidFill>
                  <a:srgbClr val="64748B"/>
                </a:solidFill>
                <a:latin typeface="Inter"/>
              </a:rPr>
              <a:t>pekerja</a:t>
            </a:r>
            <a:r>
              <a:rPr sz="1050" b="0" i="0" u="none" dirty="0">
                <a:solidFill>
                  <a:srgbClr val="64748B"/>
                </a:solidFill>
                <a:latin typeface="Inter"/>
              </a:rPr>
              <a:t>/</a:t>
            </a:r>
            <a:r>
              <a:rPr sz="1050" b="0" i="0" u="none" dirty="0" err="1">
                <a:solidFill>
                  <a:srgbClr val="64748B"/>
                </a:solidFill>
                <a:latin typeface="Inter"/>
              </a:rPr>
              <a:t>kejadian</a:t>
            </a:r>
            <a:r>
              <a:rPr sz="1050" b="0" i="0" u="none" dirty="0">
                <a:solidFill>
                  <a:srgbClr val="64748B"/>
                </a:solidFill>
                <a:latin typeface="Inter"/>
              </a:rPr>
              <a:t>/</a:t>
            </a:r>
            <a:r>
              <a:rPr sz="1050" b="0" i="0" u="none" dirty="0" err="1">
                <a:solidFill>
                  <a:srgbClr val="64748B"/>
                </a:solidFill>
                <a:latin typeface="Inter"/>
              </a:rPr>
              <a:t>aktivitas</a:t>
            </a:r>
            <a:r>
              <a:rPr sz="1050" b="0" i="0" u="none" dirty="0">
                <a:solidFill>
                  <a:srgbClr val="64748B"/>
                </a:solidFill>
                <a:latin typeface="Inter"/>
              </a:rPr>
              <a:t>) </a:t>
            </a:r>
            <a:r>
              <a:rPr sz="1050" b="0" i="0" u="none" dirty="0" err="1">
                <a:solidFill>
                  <a:srgbClr val="64748B"/>
                </a:solidFill>
                <a:latin typeface="Inter"/>
              </a:rPr>
              <a:t>sesuai</a:t>
            </a:r>
            <a:r>
              <a:rPr sz="1050" b="0" i="0" u="none" dirty="0">
                <a:solidFill>
                  <a:srgbClr val="64748B"/>
                </a:solidFill>
                <a:latin typeface="Inter"/>
              </a:rPr>
              <a:t> </a:t>
            </a:r>
            <a:r>
              <a:rPr sz="1050" b="0" i="0" u="none" dirty="0" err="1">
                <a:solidFill>
                  <a:srgbClr val="64748B"/>
                </a:solidFill>
                <a:latin typeface="Inter"/>
              </a:rPr>
              <a:t>dengan</a:t>
            </a:r>
            <a:r>
              <a:rPr sz="1050" b="0" i="0" u="none" dirty="0">
                <a:solidFill>
                  <a:srgbClr val="64748B"/>
                </a:solidFill>
                <a:latin typeface="Inter"/>
              </a:rPr>
              <a:t> </a:t>
            </a:r>
            <a:r>
              <a:rPr sz="1050" b="0" i="0" u="none" dirty="0" err="1">
                <a:solidFill>
                  <a:srgbClr val="64748B"/>
                </a:solidFill>
                <a:latin typeface="Inter"/>
              </a:rPr>
              <a:t>konteks</a:t>
            </a:r>
            <a:r>
              <a:rPr sz="1050" b="0" i="0" u="none" dirty="0">
                <a:solidFill>
                  <a:srgbClr val="64748B"/>
                </a:solidFill>
                <a:latin typeface="Inter"/>
              </a:rPr>
              <a:t> </a:t>
            </a:r>
            <a:r>
              <a:rPr sz="1050" b="0" i="0" u="none" dirty="0" err="1">
                <a:solidFill>
                  <a:srgbClr val="64748B"/>
                </a:solidFill>
                <a:latin typeface="Inter"/>
              </a:rPr>
              <a:t>pengumpulan</a:t>
            </a:r>
            <a:r>
              <a:rPr sz="1050" b="0" i="0" u="none" dirty="0">
                <a:solidFill>
                  <a:srgbClr val="64748B"/>
                </a:solidFill>
                <a:latin typeface="Inter"/>
              </a:rPr>
              <a:t> data ."</a:t>
            </a:r>
          </a:p>
        </p:txBody>
      </p:sp>
      <p:sp>
        <p:nvSpPr>
          <p:cNvPr id="16" name="Rectangle 15"/>
          <p:cNvSpPr/>
          <p:nvPr/>
        </p:nvSpPr>
        <p:spPr>
          <a:xfrm>
            <a:off x="481012" y="3523208"/>
            <a:ext cx="120595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686966" y="3523208"/>
            <a:ext cx="75039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437358" y="3523208"/>
            <a:ext cx="88969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327052" y="3523208"/>
            <a:ext cx="140434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731394" y="3523208"/>
            <a:ext cx="121696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81012" y="3975645"/>
            <a:ext cx="120595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1686966" y="3975645"/>
            <a:ext cx="75039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2437358" y="3975645"/>
            <a:ext cx="88969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327052" y="3975645"/>
            <a:ext cx="140434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731394" y="3975645"/>
            <a:ext cx="121696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81012" y="4428083"/>
            <a:ext cx="120595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686966" y="4428083"/>
            <a:ext cx="75039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2437358" y="4428083"/>
            <a:ext cx="88969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3327052" y="4428083"/>
            <a:ext cx="140434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731394" y="4428083"/>
            <a:ext cx="121696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52487" y="419100"/>
            <a:ext cx="11339512" cy="388590"/>
          </a:xfrm>
          <a:prstGeom prst="rect">
            <a:avLst/>
          </a:prstGeom>
          <a:noFill/>
        </p:spPr>
        <p:txBody>
          <a:bodyPr wrap="square" lIns="0" tIns="0" rIns="0" bIns="0" anchor="ctr">
            <a:spAutoFit/>
          </a:bodyPr>
          <a:lstStyle/>
          <a:p>
            <a:pPr algn="l">
              <a:lnSpc>
                <a:spcPts val="3060"/>
              </a:lnSpc>
            </a:pPr>
            <a:r>
              <a:rPr sz="2550" b="1" i="0" u="none">
                <a:solidFill>
                  <a:srgbClr val="0F172A"/>
                </a:solidFill>
                <a:latin typeface="Plus Jakarta Sans"/>
              </a:rPr>
              <a:t>Step 1: Memahami Dataset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76250" y="6410325"/>
            <a:ext cx="11239500" cy="257175"/>
          </a:xfrm>
          <a:prstGeom prst="rect">
            <a:avLst/>
          </a:prstGeom>
        </p:spPr>
      </p:pic>
      <p:pic>
        <p:nvPicPr>
          <p:cNvPr id="4" name="Picture 3" descr="image.png"/>
          <p:cNvPicPr>
            <a:picLocks noChangeAspect="1"/>
          </p:cNvPicPr>
          <p:nvPr/>
        </p:nvPicPr>
        <p:blipFill>
          <a:blip r:embed="rId4"/>
          <a:stretch>
            <a:fillRect/>
          </a:stretch>
        </p:blipFill>
        <p:spPr>
          <a:xfrm>
            <a:off x="476250" y="479970"/>
            <a:ext cx="261937" cy="266700"/>
          </a:xfrm>
          <a:prstGeom prst="rect">
            <a:avLst/>
          </a:prstGeom>
        </p:spPr>
      </p:pic>
      <p:sp>
        <p:nvSpPr>
          <p:cNvPr id="5" name="Rounded Rectangle 4"/>
          <p:cNvSpPr/>
          <p:nvPr/>
        </p:nvSpPr>
        <p:spPr>
          <a:xfrm>
            <a:off x="476250" y="2580233"/>
            <a:ext cx="11239500" cy="2314575"/>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476250" y="2580233"/>
          <a:ext cx="11229972" cy="2314575"/>
        </p:xfrm>
        <a:graphic>
          <a:graphicData uri="http://schemas.openxmlformats.org/drawingml/2006/table">
            <a:tbl>
              <a:tblPr firstRow="1" bandRow="1">
                <a:tableStyleId>{5C22544A-7EE6-4342-B048-85BDC9FD1C3A}</a:tableStyleId>
              </a:tblPr>
              <a:tblGrid>
                <a:gridCol w="2247304">
                  <a:extLst>
                    <a:ext uri="{9D8B030D-6E8A-4147-A177-3AD203B41FA5}">
                      <a16:colId xmlns:a16="http://schemas.microsoft.com/office/drawing/2014/main" val="20000"/>
                    </a:ext>
                  </a:extLst>
                </a:gridCol>
                <a:gridCol w="2143571">
                  <a:extLst>
                    <a:ext uri="{9D8B030D-6E8A-4147-A177-3AD203B41FA5}">
                      <a16:colId xmlns:a16="http://schemas.microsoft.com/office/drawing/2014/main" val="20001"/>
                    </a:ext>
                  </a:extLst>
                </a:gridCol>
                <a:gridCol w="3333005">
                  <a:extLst>
                    <a:ext uri="{9D8B030D-6E8A-4147-A177-3AD203B41FA5}">
                      <a16:colId xmlns:a16="http://schemas.microsoft.com/office/drawing/2014/main" val="20002"/>
                    </a:ext>
                  </a:extLst>
                </a:gridCol>
                <a:gridCol w="3506092">
                  <a:extLst>
                    <a:ext uri="{9D8B030D-6E8A-4147-A177-3AD203B41FA5}">
                      <a16:colId xmlns:a16="http://schemas.microsoft.com/office/drawing/2014/main" val="20003"/>
                    </a:ext>
                  </a:extLst>
                </a:gridCol>
              </a:tblGrid>
              <a:tr h="462915">
                <a:tc>
                  <a:txBody>
                    <a:bodyPr/>
                    <a:lstStyle/>
                    <a:p>
                      <a:pPr algn="l"/>
                      <a:r>
                        <a:rPr sz="1200" b="0" i="0" u="none">
                          <a:solidFill>
                            <a:srgbClr val="FFFFFF"/>
                          </a:solidFill>
                          <a:latin typeface="Inter SemiBold"/>
                        </a:rPr>
                        <a:t>Nama Variabel</a:t>
                      </a:r>
                    </a:p>
                  </a:txBody>
                  <a:tcPr marL="63500" marR="63500" marT="25400" marB="25400" anchor="ctr">
                    <a:lnL>
                      <a:noFill/>
                    </a:lnL>
                    <a:lnR>
                      <a:noFill/>
                    </a:lnR>
                    <a:lnT>
                      <a:noFill/>
                    </a:lnT>
                    <a:lnB>
                      <a:noFill/>
                    </a:lnB>
                    <a:solidFill>
                      <a:srgbClr val="1E3A8A"/>
                    </a:solidFill>
                  </a:tcPr>
                </a:tc>
                <a:tc>
                  <a:txBody>
                    <a:bodyPr/>
                    <a:lstStyle/>
                    <a:p>
                      <a:pPr algn="l"/>
                      <a:r>
                        <a:rPr sz="1200" b="0" i="0" u="none">
                          <a:solidFill>
                            <a:srgbClr val="FFFFFF"/>
                          </a:solidFill>
                          <a:latin typeface="Inter SemiBold"/>
                        </a:rPr>
                        <a:t>Tipe Skala Data</a:t>
                      </a:r>
                    </a:p>
                  </a:txBody>
                  <a:tcPr marL="63500" marR="63500" marT="25400" marB="25400" anchor="ctr">
                    <a:lnL>
                      <a:noFill/>
                    </a:lnL>
                    <a:lnR>
                      <a:noFill/>
                    </a:lnR>
                    <a:lnT>
                      <a:noFill/>
                    </a:lnT>
                    <a:lnB>
                      <a:noFill/>
                    </a:lnB>
                    <a:solidFill>
                      <a:srgbClr val="1E3A8A"/>
                    </a:solidFill>
                  </a:tcPr>
                </a:tc>
                <a:tc>
                  <a:txBody>
                    <a:bodyPr/>
                    <a:lstStyle/>
                    <a:p>
                      <a:pPr algn="l"/>
                      <a:r>
                        <a:rPr sz="1200" b="0" i="0" u="none">
                          <a:solidFill>
                            <a:srgbClr val="FFFFFF"/>
                          </a:solidFill>
                          <a:latin typeface="Inter SemiBold"/>
                        </a:rPr>
                        <a:t>Contoh Nilai Data</a:t>
                      </a:r>
                    </a:p>
                  </a:txBody>
                  <a:tcPr marL="63500" marR="63500" marT="25400" marB="25400" anchor="ctr">
                    <a:lnL>
                      <a:noFill/>
                    </a:lnL>
                    <a:lnR>
                      <a:noFill/>
                    </a:lnR>
                    <a:lnT>
                      <a:noFill/>
                    </a:lnT>
                    <a:lnB>
                      <a:noFill/>
                    </a:lnB>
                    <a:solidFill>
                      <a:srgbClr val="1E3A8A"/>
                    </a:solidFill>
                  </a:tcPr>
                </a:tc>
                <a:tc>
                  <a:txBody>
                    <a:bodyPr/>
                    <a:lstStyle/>
                    <a:p>
                      <a:pPr algn="l"/>
                      <a:r>
                        <a:rPr sz="1200" b="0" i="0" u="none">
                          <a:solidFill>
                            <a:srgbClr val="FFFFFF"/>
                          </a:solidFill>
                          <a:latin typeface="Inter SemiBold"/>
                        </a:rPr>
                        <a:t>Metode Analisis EDA</a:t>
                      </a:r>
                    </a:p>
                  </a:txBody>
                  <a:tcPr marL="63500" marR="63500" marT="25400" marB="25400" anchor="ctr">
                    <a:lnL>
                      <a:noFill/>
                    </a:lnL>
                    <a:lnR>
                      <a:noFill/>
                    </a:lnR>
                    <a:lnT>
                      <a:noFill/>
                    </a:lnT>
                    <a:lnB>
                      <a:noFill/>
                    </a:lnB>
                    <a:solidFill>
                      <a:srgbClr val="1E3A8A"/>
                    </a:solidFill>
                  </a:tcPr>
                </a:tc>
                <a:extLst>
                  <a:ext uri="{0D108BD9-81ED-4DB2-BD59-A6C34878D82A}">
                    <a16:rowId xmlns:a16="http://schemas.microsoft.com/office/drawing/2014/main" val="10000"/>
                  </a:ext>
                </a:extLst>
              </a:tr>
              <a:tr h="462915">
                <a:tc>
                  <a:txBody>
                    <a:bodyPr/>
                    <a:lstStyle/>
                    <a:p>
                      <a:pPr algn="l"/>
                      <a:r>
                        <a:rPr sz="1125" b="0" i="0" u="none">
                          <a:solidFill>
                            <a:srgbClr val="334155"/>
                          </a:solidFill>
                          <a:latin typeface="Inter"/>
                        </a:rPr>
                        <a:t>ID Pekerja / Shift</a:t>
                      </a:r>
                    </a:p>
                  </a:txBody>
                  <a:tcPr marL="63500" marR="63500" marT="25400" marB="25400" anchor="ctr">
                    <a:lnL>
                      <a:noFill/>
                    </a:lnL>
                    <a:lnR>
                      <a:noFill/>
                    </a:lnR>
                    <a:lnT>
                      <a:noFill/>
                    </a:lnT>
                    <a:lnB>
                      <a:noFill/>
                    </a:lnB>
                    <a:noFill/>
                  </a:tcPr>
                </a:tc>
                <a:tc>
                  <a:txBody>
                    <a:bodyPr/>
                    <a:lstStyle/>
                    <a:p>
                      <a:pPr algn="l"/>
                      <a:r>
                        <a:rPr sz="1125" b="1" i="0" u="none">
                          <a:solidFill>
                            <a:srgbClr val="334155"/>
                          </a:solidFill>
                          <a:latin typeface="Inter"/>
                        </a:rPr>
                        <a:t>Nominal</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P001, Shift Malam</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Frekuensi, Modus, Bar Chart</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1"/>
                  </a:ext>
                </a:extLst>
              </a:tr>
              <a:tr h="462915">
                <a:tc>
                  <a:txBody>
                    <a:bodyPr/>
                    <a:lstStyle/>
                    <a:p>
                      <a:pPr algn="l"/>
                      <a:r>
                        <a:rPr sz="1125" b="0" i="0" u="none">
                          <a:solidFill>
                            <a:srgbClr val="334155"/>
                          </a:solidFill>
                          <a:latin typeface="Inter"/>
                        </a:rPr>
                        <a:t>Tingkat Kelelahan</a:t>
                      </a:r>
                    </a:p>
                  </a:txBody>
                  <a:tcPr marL="63500" marR="63500" marT="25400" marB="25400" anchor="ctr">
                    <a:lnL>
                      <a:noFill/>
                    </a:lnL>
                    <a:lnR>
                      <a:noFill/>
                    </a:lnR>
                    <a:lnT>
                      <a:noFill/>
                    </a:lnT>
                    <a:lnB>
                      <a:noFill/>
                    </a:lnB>
                    <a:solidFill>
                      <a:srgbClr val="F8FAFC"/>
                    </a:solidFill>
                  </a:tcPr>
                </a:tc>
                <a:tc>
                  <a:txBody>
                    <a:bodyPr/>
                    <a:lstStyle/>
                    <a:p>
                      <a:pPr algn="l"/>
                      <a:r>
                        <a:rPr sz="1125" b="1" i="0" u="none">
                          <a:solidFill>
                            <a:srgbClr val="334155"/>
                          </a:solidFill>
                          <a:latin typeface="Inter"/>
                        </a:rPr>
                        <a:t>Ordinal</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Skala 1 (Rendah) - 10 (Tinggi)</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Median, Persentil, Boxplot</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2"/>
                  </a:ext>
                </a:extLst>
              </a:tr>
              <a:tr h="462915">
                <a:tc>
                  <a:txBody>
                    <a:bodyPr/>
                    <a:lstStyle/>
                    <a:p>
                      <a:pPr algn="l"/>
                      <a:r>
                        <a:rPr sz="1125" b="0" i="0" u="none">
                          <a:solidFill>
                            <a:srgbClr val="334155"/>
                          </a:solidFill>
                          <a:latin typeface="Inter"/>
                        </a:rPr>
                        <a:t>Usia / Jam Kerja</a:t>
                      </a:r>
                    </a:p>
                  </a:txBody>
                  <a:tcPr marL="63500" marR="63500" marT="25400" marB="25400" anchor="ctr">
                    <a:lnL>
                      <a:noFill/>
                    </a:lnL>
                    <a:lnR>
                      <a:noFill/>
                    </a:lnR>
                    <a:lnT>
                      <a:noFill/>
                    </a:lnT>
                    <a:lnB>
                      <a:noFill/>
                    </a:lnB>
                    <a:noFill/>
                  </a:tcPr>
                </a:tc>
                <a:tc>
                  <a:txBody>
                    <a:bodyPr/>
                    <a:lstStyle/>
                    <a:p>
                      <a:pPr algn="l"/>
                      <a:r>
                        <a:rPr sz="1125" b="1" i="0" u="none">
                          <a:solidFill>
                            <a:srgbClr val="334155"/>
                          </a:solidFill>
                          <a:latin typeface="Inter"/>
                        </a:rPr>
                        <a:t>Ratio</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24 tahun, 10.5 jam/hari</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Mean, Std Dev, Histogram</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3"/>
                  </a:ext>
                </a:extLst>
              </a:tr>
              <a:tr h="462915">
                <a:tc>
                  <a:txBody>
                    <a:bodyPr/>
                    <a:lstStyle/>
                    <a:p>
                      <a:pPr algn="l"/>
                      <a:r>
                        <a:rPr sz="1125" b="0" i="0" u="none">
                          <a:solidFill>
                            <a:srgbClr val="334155"/>
                          </a:solidFill>
                          <a:latin typeface="Inter"/>
                        </a:rPr>
                        <a:t>Near Miss</a:t>
                      </a:r>
                    </a:p>
                  </a:txBody>
                  <a:tcPr marL="63500" marR="63500" marT="25400" marB="25400" anchor="ctr">
                    <a:lnL>
                      <a:noFill/>
                    </a:lnL>
                    <a:lnR>
                      <a:noFill/>
                    </a:lnR>
                    <a:lnT>
                      <a:noFill/>
                    </a:lnT>
                    <a:lnB>
                      <a:noFill/>
                    </a:lnB>
                    <a:solidFill>
                      <a:srgbClr val="F8FAFC"/>
                    </a:solidFill>
                  </a:tcPr>
                </a:tc>
                <a:tc>
                  <a:txBody>
                    <a:bodyPr/>
                    <a:lstStyle/>
                    <a:p>
                      <a:pPr algn="l"/>
                      <a:r>
                        <a:rPr sz="1125" b="1" i="0" u="none">
                          <a:solidFill>
                            <a:srgbClr val="334155"/>
                          </a:solidFill>
                          <a:latin typeface="Inter"/>
                        </a:rPr>
                        <a:t>Nominal / Biner</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0 (Tidak), 1 (Ya)</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Proporsi (%), Cross-tabulation</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476250" y="6515100"/>
            <a:ext cx="1752600" cy="152400"/>
          </a:xfrm>
          <a:prstGeom prst="rect">
            <a:avLst/>
          </a:prstGeom>
          <a:noFill/>
        </p:spPr>
        <p:txBody>
          <a:bodyPr wrap="square" lIns="0" tIns="0" rIns="0" bIns="0" anchor="t">
            <a:spAutoFit/>
          </a:bodyPr>
          <a:lstStyle/>
          <a:p>
            <a:pPr algn="l"/>
            <a:r>
              <a:rPr sz="975" b="0" i="0" u="none" dirty="0">
                <a:solidFill>
                  <a:srgbClr val="64748B"/>
                </a:solidFill>
                <a:latin typeface="Inter"/>
              </a:rPr>
              <a:t>Materi Data Mining — EDA </a:t>
            </a:r>
          </a:p>
        </p:txBody>
      </p:sp>
      <p:sp>
        <p:nvSpPr>
          <p:cNvPr id="8" name="TextBox 7"/>
          <p:cNvSpPr txBox="1"/>
          <p:nvPr/>
        </p:nvSpPr>
        <p:spPr>
          <a:xfrm>
            <a:off x="11039475" y="6515100"/>
            <a:ext cx="676275" cy="152400"/>
          </a:xfrm>
          <a:prstGeom prst="rect">
            <a:avLst/>
          </a:prstGeom>
          <a:noFill/>
        </p:spPr>
        <p:txBody>
          <a:bodyPr wrap="square" lIns="0" tIns="0" rIns="0" bIns="0" anchor="t">
            <a:spAutoFit/>
          </a:bodyPr>
          <a:lstStyle/>
          <a:p>
            <a:pPr algn="l"/>
            <a:r>
              <a:rPr sz="975" b="0" i="0" u="none">
                <a:solidFill>
                  <a:srgbClr val="64748B"/>
                </a:solidFill>
                <a:latin typeface="Inter"/>
              </a:rPr>
              <a:t>Slide 9 / 38</a:t>
            </a:r>
          </a:p>
        </p:txBody>
      </p:sp>
      <p:sp>
        <p:nvSpPr>
          <p:cNvPr id="9" name="Rectangle 8"/>
          <p:cNvSpPr/>
          <p:nvPr/>
        </p:nvSpPr>
        <p:spPr>
          <a:xfrm>
            <a:off x="481012" y="3523208"/>
            <a:ext cx="224730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28317" y="3523208"/>
            <a:ext cx="21435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871888" y="3523208"/>
            <a:ext cx="333300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204894" y="3523208"/>
            <a:ext cx="35060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81012" y="3975645"/>
            <a:ext cx="224730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728317" y="3975645"/>
            <a:ext cx="21435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871888" y="3975645"/>
            <a:ext cx="333300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204894" y="3975645"/>
            <a:ext cx="35060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81012" y="4428083"/>
            <a:ext cx="224730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728317" y="4428083"/>
            <a:ext cx="21435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871888" y="4428083"/>
            <a:ext cx="333300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204894" y="4428083"/>
            <a:ext cx="350609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52487" y="419100"/>
            <a:ext cx="11339512" cy="388590"/>
          </a:xfrm>
          <a:prstGeom prst="rect">
            <a:avLst/>
          </a:prstGeom>
          <a:noFill/>
        </p:spPr>
        <p:txBody>
          <a:bodyPr wrap="square" lIns="0" tIns="0" rIns="0" bIns="0" anchor="ctr">
            <a:spAutoFit/>
          </a:bodyPr>
          <a:lstStyle/>
          <a:p>
            <a:pPr algn="l">
              <a:lnSpc>
                <a:spcPts val="3060"/>
              </a:lnSpc>
            </a:pPr>
            <a:r>
              <a:rPr sz="2550" b="1" i="0" u="none">
                <a:solidFill>
                  <a:srgbClr val="0F172A"/>
                </a:solidFill>
                <a:latin typeface="Plus Jakarta Sans"/>
              </a:rPr>
              <a:t>Step 2: Memahami Tipe Data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76250" y="4356645"/>
            <a:ext cx="11239500" cy="714375"/>
          </a:xfrm>
          <a:prstGeom prst="rect">
            <a:avLst/>
          </a:prstGeom>
        </p:spPr>
      </p:pic>
      <p:pic>
        <p:nvPicPr>
          <p:cNvPr id="4" name="Picture 3" descr="image.png"/>
          <p:cNvPicPr>
            <a:picLocks noChangeAspect="1"/>
          </p:cNvPicPr>
          <p:nvPr/>
        </p:nvPicPr>
        <p:blipFill>
          <a:blip r:embed="rId4"/>
          <a:stretch>
            <a:fillRect/>
          </a:stretch>
        </p:blipFill>
        <p:spPr>
          <a:xfrm>
            <a:off x="476250" y="2404020"/>
            <a:ext cx="5476875" cy="1762125"/>
          </a:xfrm>
          <a:prstGeom prst="rect">
            <a:avLst/>
          </a:prstGeom>
        </p:spPr>
      </p:pic>
      <p:pic>
        <p:nvPicPr>
          <p:cNvPr id="5" name="Picture 4" descr="image.png"/>
          <p:cNvPicPr>
            <a:picLocks noChangeAspect="1"/>
          </p:cNvPicPr>
          <p:nvPr/>
        </p:nvPicPr>
        <p:blipFill>
          <a:blip r:embed="rId5"/>
          <a:stretch>
            <a:fillRect/>
          </a:stretch>
        </p:blipFill>
        <p:spPr>
          <a:xfrm>
            <a:off x="6238875" y="2404020"/>
            <a:ext cx="5476875" cy="1762125"/>
          </a:xfrm>
          <a:prstGeom prst="rect">
            <a:avLst/>
          </a:prstGeom>
        </p:spPr>
      </p:pic>
      <p:pic>
        <p:nvPicPr>
          <p:cNvPr id="6" name="Picture 5" descr="image.png"/>
          <p:cNvPicPr>
            <a:picLocks noChangeAspect="1"/>
          </p:cNvPicPr>
          <p:nvPr/>
        </p:nvPicPr>
        <p:blipFill>
          <a:blip r:embed="rId6"/>
          <a:stretch>
            <a:fillRect/>
          </a:stretch>
        </p:blipFill>
        <p:spPr>
          <a:xfrm>
            <a:off x="752475" y="3070770"/>
            <a:ext cx="2433637" cy="381000"/>
          </a:xfrm>
          <a:prstGeom prst="rect">
            <a:avLst/>
          </a:prstGeom>
        </p:spPr>
      </p:pic>
      <p:pic>
        <p:nvPicPr>
          <p:cNvPr id="7" name="Picture 6" descr="image.png"/>
          <p:cNvPicPr>
            <a:picLocks noChangeAspect="1"/>
          </p:cNvPicPr>
          <p:nvPr/>
        </p:nvPicPr>
        <p:blipFill>
          <a:blip r:embed="rId7"/>
          <a:stretch>
            <a:fillRect/>
          </a:stretch>
        </p:blipFill>
        <p:spPr>
          <a:xfrm>
            <a:off x="3281362" y="3070770"/>
            <a:ext cx="2433637" cy="381000"/>
          </a:xfrm>
          <a:prstGeom prst="rect">
            <a:avLst/>
          </a:prstGeom>
        </p:spPr>
      </p:pic>
      <p:pic>
        <p:nvPicPr>
          <p:cNvPr id="8" name="Picture 7" descr="image.png"/>
          <p:cNvPicPr>
            <a:picLocks noChangeAspect="1"/>
          </p:cNvPicPr>
          <p:nvPr/>
        </p:nvPicPr>
        <p:blipFill>
          <a:blip r:embed="rId8"/>
          <a:stretch>
            <a:fillRect/>
          </a:stretch>
        </p:blipFill>
        <p:spPr>
          <a:xfrm>
            <a:off x="752475" y="3547020"/>
            <a:ext cx="2433637" cy="381000"/>
          </a:xfrm>
          <a:prstGeom prst="rect">
            <a:avLst/>
          </a:prstGeom>
        </p:spPr>
      </p:pic>
      <p:pic>
        <p:nvPicPr>
          <p:cNvPr id="9" name="Picture 8" descr="image.png"/>
          <p:cNvPicPr>
            <a:picLocks noChangeAspect="1"/>
          </p:cNvPicPr>
          <p:nvPr/>
        </p:nvPicPr>
        <p:blipFill>
          <a:blip r:embed="rId9"/>
          <a:stretch>
            <a:fillRect/>
          </a:stretch>
        </p:blipFill>
        <p:spPr>
          <a:xfrm>
            <a:off x="3281362" y="3547020"/>
            <a:ext cx="2433637" cy="381000"/>
          </a:xfrm>
          <a:prstGeom prst="rect">
            <a:avLst/>
          </a:prstGeom>
        </p:spPr>
      </p:pic>
      <p:pic>
        <p:nvPicPr>
          <p:cNvPr id="10" name="Picture 9" descr="image.png"/>
          <p:cNvPicPr>
            <a:picLocks noChangeAspect="1"/>
          </p:cNvPicPr>
          <p:nvPr/>
        </p:nvPicPr>
        <p:blipFill>
          <a:blip r:embed="rId10"/>
          <a:stretch>
            <a:fillRect/>
          </a:stretch>
        </p:blipFill>
        <p:spPr>
          <a:xfrm>
            <a:off x="6515100" y="3070770"/>
            <a:ext cx="2433637" cy="381000"/>
          </a:xfrm>
          <a:prstGeom prst="rect">
            <a:avLst/>
          </a:prstGeom>
        </p:spPr>
      </p:pic>
      <p:pic>
        <p:nvPicPr>
          <p:cNvPr id="11" name="Picture 10" descr="image.png"/>
          <p:cNvPicPr>
            <a:picLocks noChangeAspect="1"/>
          </p:cNvPicPr>
          <p:nvPr/>
        </p:nvPicPr>
        <p:blipFill>
          <a:blip r:embed="rId11"/>
          <a:stretch>
            <a:fillRect/>
          </a:stretch>
        </p:blipFill>
        <p:spPr>
          <a:xfrm>
            <a:off x="9043987" y="3070770"/>
            <a:ext cx="2433637" cy="381000"/>
          </a:xfrm>
          <a:prstGeom prst="rect">
            <a:avLst/>
          </a:prstGeom>
        </p:spPr>
      </p:pic>
      <p:pic>
        <p:nvPicPr>
          <p:cNvPr id="12" name="Picture 11" descr="image.png"/>
          <p:cNvPicPr>
            <a:picLocks noChangeAspect="1"/>
          </p:cNvPicPr>
          <p:nvPr/>
        </p:nvPicPr>
        <p:blipFill>
          <a:blip r:embed="rId12"/>
          <a:stretch>
            <a:fillRect/>
          </a:stretch>
        </p:blipFill>
        <p:spPr>
          <a:xfrm>
            <a:off x="6515100" y="3547020"/>
            <a:ext cx="2433637" cy="381000"/>
          </a:xfrm>
          <a:prstGeom prst="rect">
            <a:avLst/>
          </a:prstGeom>
        </p:spPr>
      </p:pic>
      <p:pic>
        <p:nvPicPr>
          <p:cNvPr id="13" name="Picture 12" descr="image.png"/>
          <p:cNvPicPr>
            <a:picLocks noChangeAspect="1"/>
          </p:cNvPicPr>
          <p:nvPr/>
        </p:nvPicPr>
        <p:blipFill>
          <a:blip r:embed="rId13"/>
          <a:stretch>
            <a:fillRect/>
          </a:stretch>
        </p:blipFill>
        <p:spPr>
          <a:xfrm>
            <a:off x="9043987" y="3547020"/>
            <a:ext cx="2433637" cy="381000"/>
          </a:xfrm>
          <a:prstGeom prst="rect">
            <a:avLst/>
          </a:prstGeom>
        </p:spPr>
      </p:pic>
      <p:pic>
        <p:nvPicPr>
          <p:cNvPr id="14" name="Picture 13" descr="image.png"/>
          <p:cNvPicPr>
            <a:picLocks noChangeAspect="1"/>
          </p:cNvPicPr>
          <p:nvPr/>
        </p:nvPicPr>
        <p:blipFill>
          <a:blip r:embed="rId14"/>
          <a:stretch>
            <a:fillRect/>
          </a:stretch>
        </p:blipFill>
        <p:spPr>
          <a:xfrm>
            <a:off x="476250" y="6410325"/>
            <a:ext cx="11239500" cy="257175"/>
          </a:xfrm>
          <a:prstGeom prst="rect">
            <a:avLst/>
          </a:prstGeom>
        </p:spPr>
      </p:pic>
      <p:pic>
        <p:nvPicPr>
          <p:cNvPr id="15" name="Picture 14" descr="image.png"/>
          <p:cNvPicPr>
            <a:picLocks noChangeAspect="1"/>
          </p:cNvPicPr>
          <p:nvPr/>
        </p:nvPicPr>
        <p:blipFill>
          <a:blip r:embed="rId15"/>
          <a:stretch>
            <a:fillRect/>
          </a:stretch>
        </p:blipFill>
        <p:spPr>
          <a:xfrm>
            <a:off x="476250" y="479970"/>
            <a:ext cx="195262" cy="266700"/>
          </a:xfrm>
          <a:prstGeom prst="rect">
            <a:avLst/>
          </a:prstGeom>
        </p:spPr>
      </p:pic>
      <p:sp>
        <p:nvSpPr>
          <p:cNvPr id="16" name="TextBox 15"/>
          <p:cNvSpPr txBox="1"/>
          <p:nvPr/>
        </p:nvSpPr>
        <p:spPr>
          <a:xfrm>
            <a:off x="476250" y="6515100"/>
            <a:ext cx="1752600" cy="152400"/>
          </a:xfrm>
          <a:prstGeom prst="rect">
            <a:avLst/>
          </a:prstGeom>
          <a:noFill/>
        </p:spPr>
        <p:txBody>
          <a:bodyPr wrap="square" lIns="0" tIns="0" rIns="0" bIns="0" anchor="t">
            <a:spAutoFit/>
          </a:bodyPr>
          <a:lstStyle/>
          <a:p>
            <a:pPr algn="l"/>
            <a:r>
              <a:rPr sz="975" b="0" i="0" u="none" dirty="0">
                <a:solidFill>
                  <a:srgbClr val="64748B"/>
                </a:solidFill>
                <a:latin typeface="Inter"/>
              </a:rPr>
              <a:t>Materi Data Mining — EDA </a:t>
            </a:r>
          </a:p>
        </p:txBody>
      </p:sp>
      <p:sp>
        <p:nvSpPr>
          <p:cNvPr id="17" name="TextBox 16"/>
          <p:cNvSpPr txBox="1"/>
          <p:nvPr/>
        </p:nvSpPr>
        <p:spPr>
          <a:xfrm>
            <a:off x="10991850" y="6515100"/>
            <a:ext cx="723900" cy="152400"/>
          </a:xfrm>
          <a:prstGeom prst="rect">
            <a:avLst/>
          </a:prstGeom>
          <a:noFill/>
        </p:spPr>
        <p:txBody>
          <a:bodyPr wrap="square" lIns="0" tIns="0" rIns="0" bIns="0" anchor="t">
            <a:spAutoFit/>
          </a:bodyPr>
          <a:lstStyle/>
          <a:p>
            <a:pPr algn="l"/>
            <a:r>
              <a:rPr sz="975" b="0" i="0" u="none">
                <a:solidFill>
                  <a:srgbClr val="64748B"/>
                </a:solidFill>
                <a:latin typeface="Inter"/>
              </a:rPr>
              <a:t>Slide 12 / 38</a:t>
            </a:r>
          </a:p>
        </p:txBody>
      </p:sp>
      <p:sp>
        <p:nvSpPr>
          <p:cNvPr id="18" name="TextBox 17"/>
          <p:cNvSpPr txBox="1"/>
          <p:nvPr/>
        </p:nvSpPr>
        <p:spPr>
          <a:xfrm>
            <a:off x="619125" y="4499520"/>
            <a:ext cx="10953750" cy="201594"/>
          </a:xfrm>
          <a:prstGeom prst="rect">
            <a:avLst/>
          </a:prstGeom>
          <a:noFill/>
        </p:spPr>
        <p:txBody>
          <a:bodyPr wrap="square" lIns="0" tIns="0" rIns="0" bIns="0" anchor="t">
            <a:spAutoFit/>
          </a:bodyPr>
          <a:lstStyle/>
          <a:p>
            <a:pPr algn="l">
              <a:lnSpc>
                <a:spcPts val="1687"/>
              </a:lnSpc>
            </a:pPr>
            <a:r>
              <a:rPr sz="1125" b="1" i="0" u="none" dirty="0" err="1">
                <a:solidFill>
                  <a:srgbClr val="856404"/>
                </a:solidFill>
                <a:latin typeface="Inter"/>
              </a:rPr>
              <a:t>Catatan</a:t>
            </a:r>
            <a:r>
              <a:rPr sz="1125" b="1" i="0" u="none" dirty="0">
                <a:solidFill>
                  <a:srgbClr val="856404"/>
                </a:solidFill>
                <a:latin typeface="Inter"/>
              </a:rPr>
              <a:t> :</a:t>
            </a:r>
            <a:r>
              <a:rPr sz="1125" b="0" i="0" u="none" dirty="0">
                <a:solidFill>
                  <a:srgbClr val="856404"/>
                </a:solidFill>
                <a:latin typeface="Inter"/>
              </a:rPr>
              <a:t> Nilai rata-rata 9.2 jam </a:t>
            </a:r>
            <a:r>
              <a:rPr sz="1125" b="0" i="0" u="none" dirty="0" err="1">
                <a:solidFill>
                  <a:srgbClr val="856404"/>
                </a:solidFill>
                <a:latin typeface="Inter"/>
              </a:rPr>
              <a:t>tidak</a:t>
            </a:r>
            <a:r>
              <a:rPr sz="1125" b="0" i="0" u="none" dirty="0">
                <a:solidFill>
                  <a:srgbClr val="856404"/>
                </a:solidFill>
                <a:latin typeface="Inter"/>
              </a:rPr>
              <a:t> </a:t>
            </a:r>
            <a:r>
              <a:rPr sz="1125" b="0" i="0" u="none" dirty="0" err="1">
                <a:solidFill>
                  <a:srgbClr val="856404"/>
                </a:solidFill>
                <a:latin typeface="Inter"/>
              </a:rPr>
              <a:t>berarti</a:t>
            </a:r>
            <a:r>
              <a:rPr sz="1125" b="0" i="0" u="none" dirty="0">
                <a:solidFill>
                  <a:srgbClr val="856404"/>
                </a:solidFill>
                <a:latin typeface="Inter"/>
              </a:rPr>
              <a:t> </a:t>
            </a:r>
            <a:r>
              <a:rPr sz="1125" b="0" i="0" u="none" dirty="0" err="1">
                <a:solidFill>
                  <a:srgbClr val="856404"/>
                </a:solidFill>
                <a:latin typeface="Inter"/>
              </a:rPr>
              <a:t>seluruh</a:t>
            </a:r>
            <a:r>
              <a:rPr sz="1125" b="0" i="0" u="none" dirty="0">
                <a:solidFill>
                  <a:srgbClr val="856404"/>
                </a:solidFill>
                <a:latin typeface="Inter"/>
              </a:rPr>
              <a:t> </a:t>
            </a:r>
            <a:r>
              <a:rPr sz="1125" b="0" i="0" u="none" dirty="0" err="1">
                <a:solidFill>
                  <a:srgbClr val="856404"/>
                </a:solidFill>
                <a:latin typeface="Inter"/>
              </a:rPr>
              <a:t>pekerja</a:t>
            </a:r>
            <a:r>
              <a:rPr sz="1125" b="0" i="0" u="none" dirty="0">
                <a:solidFill>
                  <a:srgbClr val="856404"/>
                </a:solidFill>
                <a:latin typeface="Inter"/>
              </a:rPr>
              <a:t> </a:t>
            </a:r>
            <a:r>
              <a:rPr sz="1125" b="0" i="0" u="none" dirty="0" err="1">
                <a:solidFill>
                  <a:srgbClr val="856404"/>
                </a:solidFill>
                <a:latin typeface="Inter"/>
              </a:rPr>
              <a:t>aman</a:t>
            </a:r>
            <a:r>
              <a:rPr sz="1125" b="0" i="0" u="none" dirty="0">
                <a:solidFill>
                  <a:srgbClr val="856404"/>
                </a:solidFill>
                <a:latin typeface="Inter"/>
              </a:rPr>
              <a:t>. Kita </a:t>
            </a:r>
            <a:r>
              <a:rPr sz="1125" b="0" i="0" u="none" dirty="0" err="1">
                <a:solidFill>
                  <a:srgbClr val="856404"/>
                </a:solidFill>
                <a:latin typeface="Inter"/>
              </a:rPr>
              <a:t>wajib</a:t>
            </a:r>
            <a:r>
              <a:rPr sz="1125" b="0" i="0" u="none" dirty="0">
                <a:solidFill>
                  <a:srgbClr val="856404"/>
                </a:solidFill>
                <a:latin typeface="Inter"/>
              </a:rPr>
              <a:t> </a:t>
            </a:r>
            <a:r>
              <a:rPr sz="1125" b="0" i="0" u="none" dirty="0" err="1">
                <a:solidFill>
                  <a:srgbClr val="856404"/>
                </a:solidFill>
                <a:latin typeface="Inter"/>
              </a:rPr>
              <a:t>melihat</a:t>
            </a:r>
            <a:r>
              <a:rPr sz="1125" b="0" i="0" u="none" dirty="0">
                <a:solidFill>
                  <a:srgbClr val="856404"/>
                </a:solidFill>
                <a:latin typeface="Inter"/>
              </a:rPr>
              <a:t> </a:t>
            </a:r>
            <a:r>
              <a:rPr sz="1125" b="0" i="0" u="none" dirty="0" err="1">
                <a:solidFill>
                  <a:srgbClr val="856404"/>
                </a:solidFill>
                <a:latin typeface="Inter"/>
              </a:rPr>
              <a:t>penyebaran</a:t>
            </a:r>
            <a:r>
              <a:rPr sz="1125" b="0" i="0" u="none" dirty="0">
                <a:solidFill>
                  <a:srgbClr val="856404"/>
                </a:solidFill>
                <a:latin typeface="Inter"/>
              </a:rPr>
              <a:t> </a:t>
            </a:r>
            <a:r>
              <a:rPr sz="1125" b="0" i="0" u="none" dirty="0" err="1">
                <a:solidFill>
                  <a:srgbClr val="856404"/>
                </a:solidFill>
                <a:latin typeface="Inter"/>
              </a:rPr>
              <a:t>untuk</a:t>
            </a:r>
            <a:r>
              <a:rPr sz="1125" b="0" i="0" u="none" dirty="0">
                <a:solidFill>
                  <a:srgbClr val="856404"/>
                </a:solidFill>
                <a:latin typeface="Inter"/>
              </a:rPr>
              <a:t> </a:t>
            </a:r>
            <a:r>
              <a:rPr sz="1125" b="0" i="0" u="none" dirty="0" err="1">
                <a:solidFill>
                  <a:srgbClr val="856404"/>
                </a:solidFill>
                <a:latin typeface="Inter"/>
              </a:rPr>
              <a:t>menemukan</a:t>
            </a:r>
            <a:r>
              <a:rPr sz="1125" b="0" i="0" u="none" dirty="0">
                <a:solidFill>
                  <a:srgbClr val="856404"/>
                </a:solidFill>
                <a:latin typeface="Inter"/>
              </a:rPr>
              <a:t> </a:t>
            </a:r>
            <a:r>
              <a:rPr sz="1125" b="0" i="0" u="none" dirty="0" err="1">
                <a:solidFill>
                  <a:srgbClr val="856404"/>
                </a:solidFill>
                <a:latin typeface="Inter"/>
              </a:rPr>
              <a:t>kelompok</a:t>
            </a:r>
            <a:r>
              <a:rPr sz="1125" b="0" i="0" u="none" dirty="0">
                <a:solidFill>
                  <a:srgbClr val="856404"/>
                </a:solidFill>
                <a:latin typeface="Inter"/>
              </a:rPr>
              <a:t> </a:t>
            </a:r>
            <a:r>
              <a:rPr sz="1125" b="0" i="0" u="none" dirty="0" err="1">
                <a:solidFill>
                  <a:srgbClr val="856404"/>
                </a:solidFill>
                <a:latin typeface="Inter"/>
              </a:rPr>
              <a:t>pekerja</a:t>
            </a:r>
            <a:r>
              <a:rPr sz="1125" b="0" i="0" u="none" dirty="0">
                <a:solidFill>
                  <a:srgbClr val="856404"/>
                </a:solidFill>
                <a:latin typeface="Inter"/>
              </a:rPr>
              <a:t> yang </a:t>
            </a:r>
            <a:r>
              <a:rPr sz="1125" b="0" i="0" u="none" dirty="0" err="1">
                <a:solidFill>
                  <a:srgbClr val="856404"/>
                </a:solidFill>
                <a:latin typeface="Inter"/>
              </a:rPr>
              <a:t>bekerja</a:t>
            </a:r>
            <a:r>
              <a:rPr sz="1125" b="0" i="0" u="none" dirty="0">
                <a:solidFill>
                  <a:srgbClr val="856404"/>
                </a:solidFill>
                <a:latin typeface="Inter"/>
              </a:rPr>
              <a:t> </a:t>
            </a:r>
            <a:r>
              <a:rPr sz="1125" b="0" i="0" u="none" dirty="0" err="1">
                <a:solidFill>
                  <a:srgbClr val="856404"/>
                </a:solidFill>
                <a:latin typeface="Inter"/>
              </a:rPr>
              <a:t>hingga</a:t>
            </a:r>
            <a:r>
              <a:rPr sz="1125" b="0" i="0" u="none" dirty="0">
                <a:solidFill>
                  <a:srgbClr val="856404"/>
                </a:solidFill>
                <a:latin typeface="Inter"/>
              </a:rPr>
              <a:t> 15 jam per </a:t>
            </a:r>
            <a:r>
              <a:rPr sz="1125" b="0" i="0" u="none" dirty="0" err="1">
                <a:solidFill>
                  <a:srgbClr val="856404"/>
                </a:solidFill>
                <a:latin typeface="Inter"/>
              </a:rPr>
              <a:t>hari</a:t>
            </a:r>
            <a:r>
              <a:rPr sz="1125" b="0" i="0" u="none" dirty="0">
                <a:solidFill>
                  <a:srgbClr val="856404"/>
                </a:solidFill>
                <a:latin typeface="Inter"/>
              </a:rPr>
              <a:t>!</a:t>
            </a:r>
          </a:p>
        </p:txBody>
      </p:sp>
      <p:sp>
        <p:nvSpPr>
          <p:cNvPr id="19" name="TextBox 18"/>
          <p:cNvSpPr txBox="1"/>
          <p:nvPr/>
        </p:nvSpPr>
        <p:spPr>
          <a:xfrm>
            <a:off x="752475" y="2642145"/>
            <a:ext cx="5210651" cy="238125"/>
          </a:xfrm>
          <a:prstGeom prst="rect">
            <a:avLst/>
          </a:prstGeom>
          <a:noFill/>
        </p:spPr>
        <p:txBody>
          <a:bodyPr wrap="square" lIns="0" tIns="0" rIns="0" bIns="0" anchor="t">
            <a:spAutoFit/>
          </a:bodyPr>
          <a:lstStyle/>
          <a:p>
            <a:pPr algn="l"/>
            <a:r>
              <a:rPr sz="1500" b="1" i="0" u="none">
                <a:solidFill>
                  <a:srgbClr val="0F172A"/>
                </a:solidFill>
                <a:latin typeface="Plus Jakarta Sans"/>
              </a:rPr>
              <a:t>Durasi Kerja (Jam/Hari)</a:t>
            </a:r>
          </a:p>
        </p:txBody>
      </p:sp>
      <p:sp>
        <p:nvSpPr>
          <p:cNvPr id="20" name="TextBox 19"/>
          <p:cNvSpPr txBox="1"/>
          <p:nvPr/>
        </p:nvSpPr>
        <p:spPr>
          <a:xfrm>
            <a:off x="6515100" y="2642145"/>
            <a:ext cx="5210651" cy="238125"/>
          </a:xfrm>
          <a:prstGeom prst="rect">
            <a:avLst/>
          </a:prstGeom>
          <a:noFill/>
        </p:spPr>
        <p:txBody>
          <a:bodyPr wrap="square" lIns="0" tIns="0" rIns="0" bIns="0" anchor="t">
            <a:spAutoFit/>
          </a:bodyPr>
          <a:lstStyle/>
          <a:p>
            <a:pPr algn="l"/>
            <a:r>
              <a:rPr sz="1500" b="1" i="0" u="none">
                <a:solidFill>
                  <a:srgbClr val="0F172A"/>
                </a:solidFill>
                <a:latin typeface="Plus Jakarta Sans"/>
              </a:rPr>
              <a:t>Durasi Tidur (Jam/Malam)</a:t>
            </a:r>
          </a:p>
        </p:txBody>
      </p:sp>
      <p:sp>
        <p:nvSpPr>
          <p:cNvPr id="21" name="TextBox 20"/>
          <p:cNvSpPr txBox="1"/>
          <p:nvPr/>
        </p:nvSpPr>
        <p:spPr>
          <a:xfrm>
            <a:off x="785812" y="419100"/>
            <a:ext cx="11406187" cy="388590"/>
          </a:xfrm>
          <a:prstGeom prst="rect">
            <a:avLst/>
          </a:prstGeom>
          <a:noFill/>
        </p:spPr>
        <p:txBody>
          <a:bodyPr wrap="square" lIns="0" tIns="0" rIns="0" bIns="0" anchor="ctr">
            <a:spAutoFit/>
          </a:bodyPr>
          <a:lstStyle/>
          <a:p>
            <a:pPr algn="l">
              <a:lnSpc>
                <a:spcPts val="3060"/>
              </a:lnSpc>
            </a:pPr>
            <a:r>
              <a:rPr sz="2550" b="1" i="0" u="none" dirty="0" err="1">
                <a:solidFill>
                  <a:srgbClr val="0F172A"/>
                </a:solidFill>
                <a:latin typeface="Plus Jakarta Sans"/>
              </a:rPr>
              <a:t>Statistik</a:t>
            </a:r>
            <a:r>
              <a:rPr sz="2550" b="1" i="0" u="none" dirty="0">
                <a:solidFill>
                  <a:srgbClr val="0F172A"/>
                </a:solidFill>
                <a:latin typeface="Plus Jakarta Sans"/>
              </a:rPr>
              <a:t> </a:t>
            </a:r>
            <a:r>
              <a:rPr sz="2550" b="1" i="0" u="none" dirty="0" err="1">
                <a:solidFill>
                  <a:srgbClr val="0F172A"/>
                </a:solidFill>
                <a:latin typeface="Plus Jakarta Sans"/>
              </a:rPr>
              <a:t>Deskriptif</a:t>
            </a:r>
            <a:endParaRPr sz="2550" b="1" i="0" u="none" dirty="0">
              <a:solidFill>
                <a:srgbClr val="0F172A"/>
              </a:solidFill>
              <a:latin typeface="Plus Jakarta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38875" y="2563564"/>
            <a:ext cx="5476875" cy="2347912"/>
          </a:xfrm>
          <a:prstGeom prst="rect">
            <a:avLst/>
          </a:prstGeom>
        </p:spPr>
      </p:pic>
      <p:pic>
        <p:nvPicPr>
          <p:cNvPr id="4" name="Picture 3" descr="image.png"/>
          <p:cNvPicPr>
            <a:picLocks noChangeAspect="1"/>
          </p:cNvPicPr>
          <p:nvPr/>
        </p:nvPicPr>
        <p:blipFill>
          <a:blip r:embed="rId4"/>
          <a:stretch>
            <a:fillRect/>
          </a:stretch>
        </p:blipFill>
        <p:spPr>
          <a:xfrm>
            <a:off x="476250" y="6410325"/>
            <a:ext cx="11239500" cy="257175"/>
          </a:xfrm>
          <a:prstGeom prst="rect">
            <a:avLst/>
          </a:prstGeom>
        </p:spPr>
      </p:pic>
      <p:pic>
        <p:nvPicPr>
          <p:cNvPr id="5" name="Picture 4" descr="image.png"/>
          <p:cNvPicPr>
            <a:picLocks noChangeAspect="1"/>
          </p:cNvPicPr>
          <p:nvPr/>
        </p:nvPicPr>
        <p:blipFill>
          <a:blip r:embed="rId5"/>
          <a:stretch>
            <a:fillRect/>
          </a:stretch>
        </p:blipFill>
        <p:spPr>
          <a:xfrm>
            <a:off x="476250" y="479970"/>
            <a:ext cx="300037" cy="266700"/>
          </a:xfrm>
          <a:prstGeom prst="rect">
            <a:avLst/>
          </a:prstGeom>
        </p:spPr>
      </p:pic>
      <p:sp>
        <p:nvSpPr>
          <p:cNvPr id="6" name="TextBox 5"/>
          <p:cNvSpPr txBox="1"/>
          <p:nvPr/>
        </p:nvSpPr>
        <p:spPr>
          <a:xfrm>
            <a:off x="476250" y="6515100"/>
            <a:ext cx="1752600" cy="152400"/>
          </a:xfrm>
          <a:prstGeom prst="rect">
            <a:avLst/>
          </a:prstGeom>
          <a:noFill/>
        </p:spPr>
        <p:txBody>
          <a:bodyPr wrap="square" lIns="0" tIns="0" rIns="0" bIns="0" anchor="t">
            <a:spAutoFit/>
          </a:bodyPr>
          <a:lstStyle/>
          <a:p>
            <a:pPr algn="l"/>
            <a:r>
              <a:rPr sz="975" b="0" i="0" u="none" dirty="0">
                <a:solidFill>
                  <a:srgbClr val="64748B"/>
                </a:solidFill>
                <a:latin typeface="Inter"/>
              </a:rPr>
              <a:t>Materi Data Mining — EDA </a:t>
            </a:r>
          </a:p>
        </p:txBody>
      </p:sp>
      <p:sp>
        <p:nvSpPr>
          <p:cNvPr id="7" name="TextBox 6"/>
          <p:cNvSpPr txBox="1"/>
          <p:nvPr/>
        </p:nvSpPr>
        <p:spPr>
          <a:xfrm>
            <a:off x="10991850" y="6515100"/>
            <a:ext cx="723900" cy="152400"/>
          </a:xfrm>
          <a:prstGeom prst="rect">
            <a:avLst/>
          </a:prstGeom>
          <a:noFill/>
        </p:spPr>
        <p:txBody>
          <a:bodyPr wrap="square" lIns="0" tIns="0" rIns="0" bIns="0" anchor="t">
            <a:spAutoFit/>
          </a:bodyPr>
          <a:lstStyle/>
          <a:p>
            <a:pPr algn="l"/>
            <a:r>
              <a:rPr sz="975" b="0" i="0" u="none">
                <a:solidFill>
                  <a:srgbClr val="64748B"/>
                </a:solidFill>
                <a:latin typeface="Inter"/>
              </a:rPr>
              <a:t>Slide 10 / 38</a:t>
            </a:r>
          </a:p>
        </p:txBody>
      </p:sp>
      <p:sp>
        <p:nvSpPr>
          <p:cNvPr id="8" name="TextBox 7"/>
          <p:cNvSpPr txBox="1"/>
          <p:nvPr/>
        </p:nvSpPr>
        <p:spPr>
          <a:xfrm>
            <a:off x="476250" y="2563564"/>
            <a:ext cx="5750718" cy="219075"/>
          </a:xfrm>
          <a:prstGeom prst="rect">
            <a:avLst/>
          </a:prstGeom>
          <a:noFill/>
        </p:spPr>
        <p:txBody>
          <a:bodyPr wrap="square" lIns="0" tIns="0" rIns="0" bIns="0" anchor="t">
            <a:spAutoFit/>
          </a:bodyPr>
          <a:lstStyle/>
          <a:p>
            <a:pPr algn="l"/>
            <a:r>
              <a:rPr sz="1404" b="1" i="0" u="none">
                <a:solidFill>
                  <a:srgbClr val="334155"/>
                </a:solidFill>
                <a:latin typeface="Plus Jakarta Sans"/>
              </a:rPr>
              <a:t>Laporan Nilai Hilang (Missing):</a:t>
            </a:r>
          </a:p>
        </p:txBody>
      </p:sp>
      <p:sp>
        <p:nvSpPr>
          <p:cNvPr id="9" name="Rounded Rectangle 8"/>
          <p:cNvSpPr/>
          <p:nvPr/>
        </p:nvSpPr>
        <p:spPr>
          <a:xfrm>
            <a:off x="476250" y="2896939"/>
            <a:ext cx="5476875" cy="1862137"/>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0" name="Table 9"/>
          <p:cNvGraphicFramePr>
            <a:graphicFrameLocks noGrp="1"/>
          </p:cNvGraphicFramePr>
          <p:nvPr/>
        </p:nvGraphicFramePr>
        <p:xfrm>
          <a:off x="476250" y="2896939"/>
          <a:ext cx="5467348" cy="1862137"/>
        </p:xfrm>
        <a:graphic>
          <a:graphicData uri="http://schemas.openxmlformats.org/drawingml/2006/table">
            <a:tbl>
              <a:tblPr firstRow="1" bandRow="1">
                <a:tableStyleId>{5C22544A-7EE6-4342-B048-85BDC9FD1C3A}</a:tableStyleId>
              </a:tblPr>
              <a:tblGrid>
                <a:gridCol w="1705867">
                  <a:extLst>
                    <a:ext uri="{9D8B030D-6E8A-4147-A177-3AD203B41FA5}">
                      <a16:colId xmlns:a16="http://schemas.microsoft.com/office/drawing/2014/main" val="20000"/>
                    </a:ext>
                  </a:extLst>
                </a:gridCol>
                <a:gridCol w="2151310">
                  <a:extLst>
                    <a:ext uri="{9D8B030D-6E8A-4147-A177-3AD203B41FA5}">
                      <a16:colId xmlns:a16="http://schemas.microsoft.com/office/drawing/2014/main" val="20001"/>
                    </a:ext>
                  </a:extLst>
                </a:gridCol>
                <a:gridCol w="1610171">
                  <a:extLst>
                    <a:ext uri="{9D8B030D-6E8A-4147-A177-3AD203B41FA5}">
                      <a16:colId xmlns:a16="http://schemas.microsoft.com/office/drawing/2014/main" val="20002"/>
                    </a:ext>
                  </a:extLst>
                </a:gridCol>
              </a:tblGrid>
              <a:tr h="465534">
                <a:tc>
                  <a:txBody>
                    <a:bodyPr/>
                    <a:lstStyle/>
                    <a:p>
                      <a:pPr algn="l"/>
                      <a:r>
                        <a:rPr sz="1200" b="0" i="0" u="none">
                          <a:solidFill>
                            <a:srgbClr val="FFFFFF"/>
                          </a:solidFill>
                          <a:latin typeface="Inter SemiBold"/>
                        </a:rPr>
                        <a:t>Variabel</a:t>
                      </a:r>
                    </a:p>
                  </a:txBody>
                  <a:tcPr marL="63500" marR="63500" marT="25400" marB="25400" anchor="ctr">
                    <a:lnL>
                      <a:noFill/>
                    </a:lnL>
                    <a:lnR>
                      <a:noFill/>
                    </a:lnR>
                    <a:lnT>
                      <a:noFill/>
                    </a:lnT>
                    <a:lnB>
                      <a:noFill/>
                    </a:lnB>
                    <a:solidFill>
                      <a:srgbClr val="1E3A8A"/>
                    </a:solidFill>
                  </a:tcPr>
                </a:tc>
                <a:tc>
                  <a:txBody>
                    <a:bodyPr/>
                    <a:lstStyle/>
                    <a:p>
                      <a:pPr algn="l"/>
                      <a:r>
                        <a:rPr sz="1200" b="0" i="0" u="none">
                          <a:solidFill>
                            <a:srgbClr val="FFFFFF"/>
                          </a:solidFill>
                          <a:latin typeface="Inter SemiBold"/>
                        </a:rPr>
                        <a:t>Jumlah Missing</a:t>
                      </a:r>
                    </a:p>
                  </a:txBody>
                  <a:tcPr marL="63500" marR="63500" marT="25400" marB="25400" anchor="ctr">
                    <a:lnL>
                      <a:noFill/>
                    </a:lnL>
                    <a:lnR>
                      <a:noFill/>
                    </a:lnR>
                    <a:lnT>
                      <a:noFill/>
                    </a:lnT>
                    <a:lnB>
                      <a:noFill/>
                    </a:lnB>
                    <a:solidFill>
                      <a:srgbClr val="1E3A8A"/>
                    </a:solidFill>
                  </a:tcPr>
                </a:tc>
                <a:tc>
                  <a:txBody>
                    <a:bodyPr/>
                    <a:lstStyle/>
                    <a:p>
                      <a:pPr algn="l"/>
                      <a:r>
                        <a:rPr sz="1200" b="0" i="0" u="none">
                          <a:solidFill>
                            <a:srgbClr val="FFFFFF"/>
                          </a:solidFill>
                          <a:latin typeface="Inter SemiBold"/>
                        </a:rPr>
                        <a:t>% Missing</a:t>
                      </a:r>
                    </a:p>
                  </a:txBody>
                  <a:tcPr marL="63500" marR="63500" marT="25400" marB="25400" anchor="ctr">
                    <a:lnL>
                      <a:noFill/>
                    </a:lnL>
                    <a:lnR>
                      <a:noFill/>
                    </a:lnR>
                    <a:lnT>
                      <a:noFill/>
                    </a:lnT>
                    <a:lnB>
                      <a:noFill/>
                    </a:lnB>
                    <a:solidFill>
                      <a:srgbClr val="1E3A8A"/>
                    </a:solidFill>
                  </a:tcPr>
                </a:tc>
                <a:extLst>
                  <a:ext uri="{0D108BD9-81ED-4DB2-BD59-A6C34878D82A}">
                    <a16:rowId xmlns:a16="http://schemas.microsoft.com/office/drawing/2014/main" val="10000"/>
                  </a:ext>
                </a:extLst>
              </a:tr>
              <a:tr h="465534">
                <a:tc>
                  <a:txBody>
                    <a:bodyPr/>
                    <a:lstStyle/>
                    <a:p>
                      <a:pPr algn="l"/>
                      <a:r>
                        <a:rPr sz="1125" b="0" i="0" u="none">
                          <a:solidFill>
                            <a:srgbClr val="334155"/>
                          </a:solidFill>
                          <a:latin typeface="Inter"/>
                        </a:rPr>
                        <a:t>Usia</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2</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0.4%</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1"/>
                  </a:ext>
                </a:extLst>
              </a:tr>
              <a:tr h="465534">
                <a:tc>
                  <a:txBody>
                    <a:bodyPr/>
                    <a:lstStyle/>
                    <a:p>
                      <a:pPr algn="l"/>
                      <a:r>
                        <a:rPr sz="1125" b="0" i="0" u="none">
                          <a:solidFill>
                            <a:srgbClr val="334155"/>
                          </a:solidFill>
                          <a:latin typeface="Inter"/>
                        </a:rPr>
                        <a:t>Durasi Tidur</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18</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3.6%</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2"/>
                  </a:ext>
                </a:extLst>
              </a:tr>
              <a:tr h="465535">
                <a:tc>
                  <a:txBody>
                    <a:bodyPr/>
                    <a:lstStyle/>
                    <a:p>
                      <a:pPr algn="l"/>
                      <a:r>
                        <a:rPr sz="1125" b="0" i="0" u="none">
                          <a:solidFill>
                            <a:srgbClr val="334155"/>
                          </a:solidFill>
                          <a:latin typeface="Inter"/>
                        </a:rPr>
                        <a:t>Stres Kerja</a:t>
                      </a:r>
                    </a:p>
                  </a:txBody>
                  <a:tcPr marL="63500" marR="63500" marT="25400" marB="25400" anchor="ctr">
                    <a:lnL>
                      <a:noFill/>
                    </a:lnL>
                    <a:lnR>
                      <a:noFill/>
                    </a:lnR>
                    <a:lnT>
                      <a:noFill/>
                    </a:lnT>
                    <a:lnB>
                      <a:noFill/>
                    </a:lnB>
                    <a:noFill/>
                  </a:tcPr>
                </a:tc>
                <a:tc>
                  <a:txBody>
                    <a:bodyPr/>
                    <a:lstStyle/>
                    <a:p>
                      <a:pPr algn="l"/>
                      <a:r>
                        <a:rPr sz="1125" b="1" i="0" u="none">
                          <a:latin typeface="Inter"/>
                        </a:rPr>
                        <a:t>23</a:t>
                      </a:r>
                    </a:p>
                  </a:txBody>
                  <a:tcPr marL="63500" marR="63500" marT="25400" marB="25400" anchor="ctr">
                    <a:lnL>
                      <a:noFill/>
                    </a:lnL>
                    <a:lnR>
                      <a:noFill/>
                    </a:lnR>
                    <a:lnT>
                      <a:noFill/>
                    </a:lnT>
                    <a:lnB>
                      <a:noFill/>
                    </a:lnB>
                    <a:noFill/>
                  </a:tcPr>
                </a:tc>
                <a:tc>
                  <a:txBody>
                    <a:bodyPr/>
                    <a:lstStyle/>
                    <a:p>
                      <a:pPr algn="l"/>
                      <a:r>
                        <a:rPr sz="1125" b="1" i="0" u="none">
                          <a:latin typeface="Inter"/>
                        </a:rPr>
                        <a:t>4.6%</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3"/>
                  </a:ext>
                </a:extLst>
              </a:tr>
            </a:tbl>
          </a:graphicData>
        </a:graphic>
      </p:graphicFrame>
      <p:sp>
        <p:nvSpPr>
          <p:cNvPr id="11" name="TextBox 10"/>
          <p:cNvSpPr txBox="1"/>
          <p:nvPr/>
        </p:nvSpPr>
        <p:spPr>
          <a:xfrm>
            <a:off x="6515100" y="2801689"/>
            <a:ext cx="5210651" cy="238125"/>
          </a:xfrm>
          <a:prstGeom prst="rect">
            <a:avLst/>
          </a:prstGeom>
          <a:noFill/>
        </p:spPr>
        <p:txBody>
          <a:bodyPr wrap="square" lIns="238125" tIns="0" rIns="0" bIns="0" anchor="t">
            <a:spAutoFit/>
          </a:bodyPr>
          <a:lstStyle/>
          <a:p>
            <a:pPr algn="l"/>
            <a:r>
              <a:rPr sz="1500" b="1" i="0" u="none" dirty="0" err="1">
                <a:solidFill>
                  <a:srgbClr val="0F172A"/>
                </a:solidFill>
                <a:latin typeface="Plus Jakarta Sans"/>
              </a:rPr>
              <a:t>Perspektif</a:t>
            </a:r>
            <a:r>
              <a:rPr sz="1500" b="1" i="0" u="none" dirty="0">
                <a:solidFill>
                  <a:srgbClr val="0F172A"/>
                </a:solidFill>
                <a:latin typeface="Plus Jakarta Sans"/>
              </a:rPr>
              <a:t>  pada Missing Value</a:t>
            </a:r>
          </a:p>
        </p:txBody>
      </p:sp>
      <p:sp>
        <p:nvSpPr>
          <p:cNvPr id="12" name="TextBox 11"/>
          <p:cNvSpPr txBox="1"/>
          <p:nvPr/>
        </p:nvSpPr>
        <p:spPr>
          <a:xfrm>
            <a:off x="6515100" y="3135064"/>
            <a:ext cx="4962525" cy="242887"/>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Missing value bukan sekadar kesalahan teknis yang dibuang.</a:t>
            </a:r>
          </a:p>
        </p:txBody>
      </p:sp>
      <p:pic>
        <p:nvPicPr>
          <p:cNvPr id="13" name="Picture 12" descr="image.png"/>
          <p:cNvPicPr>
            <a:picLocks noChangeAspect="1"/>
          </p:cNvPicPr>
          <p:nvPr/>
        </p:nvPicPr>
        <p:blipFill>
          <a:blip r:embed="rId6"/>
          <a:stretch>
            <a:fillRect/>
          </a:stretch>
        </p:blipFill>
        <p:spPr>
          <a:xfrm>
            <a:off x="6515100" y="2839789"/>
            <a:ext cx="238125" cy="190500"/>
          </a:xfrm>
          <a:prstGeom prst="rect">
            <a:avLst/>
          </a:prstGeom>
        </p:spPr>
      </p:pic>
      <p:sp>
        <p:nvSpPr>
          <p:cNvPr id="14" name="TextBox 13"/>
          <p:cNvSpPr txBox="1"/>
          <p:nvPr/>
        </p:nvSpPr>
        <p:spPr>
          <a:xfrm>
            <a:off x="6781800" y="3473201"/>
            <a:ext cx="4695825" cy="485775"/>
          </a:xfrm>
          <a:prstGeom prst="rect">
            <a:avLst/>
          </a:prstGeom>
          <a:noFill/>
        </p:spPr>
        <p:txBody>
          <a:bodyPr wrap="square" lIns="0" tIns="0" rIns="0" bIns="0" anchor="t">
            <a:spAutoFit/>
          </a:bodyPr>
          <a:lstStyle/>
          <a:p>
            <a:pPr algn="l">
              <a:lnSpc>
                <a:spcPts val="1912"/>
              </a:lnSpc>
            </a:pPr>
            <a:r>
              <a:rPr sz="1275" b="1" i="0" u="none">
                <a:solidFill>
                  <a:srgbClr val="334155"/>
                </a:solidFill>
                <a:latin typeface="Inter"/>
              </a:rPr>
              <a:t>Stres tidak diisi:</a:t>
            </a:r>
            <a:r>
              <a:rPr sz="1275" b="0" i="0" u="none">
                <a:solidFill>
                  <a:srgbClr val="334155"/>
                </a:solidFill>
                <a:latin typeface="Inter"/>
              </a:rPr>
              <a:t> Pekerja ragu/takut dinilai negatif oleh manajemen.</a:t>
            </a:r>
          </a:p>
        </p:txBody>
      </p:sp>
      <p:sp>
        <p:nvSpPr>
          <p:cNvPr id="15" name="TextBox 14"/>
          <p:cNvSpPr txBox="1"/>
          <p:nvPr/>
        </p:nvSpPr>
        <p:spPr>
          <a:xfrm>
            <a:off x="6781800" y="4073276"/>
            <a:ext cx="4695825" cy="485775"/>
          </a:xfrm>
          <a:prstGeom prst="rect">
            <a:avLst/>
          </a:prstGeom>
          <a:noFill/>
        </p:spPr>
        <p:txBody>
          <a:bodyPr wrap="square" lIns="0" tIns="0" rIns="0" bIns="0" anchor="t">
            <a:spAutoFit/>
          </a:bodyPr>
          <a:lstStyle/>
          <a:p>
            <a:pPr algn="l">
              <a:lnSpc>
                <a:spcPts val="1912"/>
              </a:lnSpc>
            </a:pPr>
            <a:r>
              <a:rPr sz="1275" b="1" i="0" u="none">
                <a:solidFill>
                  <a:srgbClr val="334155"/>
                </a:solidFill>
                <a:latin typeface="Inter"/>
              </a:rPr>
              <a:t>Survei terburu-buru:</a:t>
            </a:r>
            <a:r>
              <a:rPr sz="1275" b="0" i="0" u="none">
                <a:solidFill>
                  <a:srgbClr val="334155"/>
                </a:solidFill>
                <a:latin typeface="Inter"/>
              </a:rPr>
              <a:t> Beban kerja terlalu tinggi sehingga survei diabaikan.</a:t>
            </a:r>
          </a:p>
        </p:txBody>
      </p:sp>
      <p:sp>
        <p:nvSpPr>
          <p:cNvPr id="16" name="Rectangle 15"/>
          <p:cNvSpPr/>
          <p:nvPr/>
        </p:nvSpPr>
        <p:spPr>
          <a:xfrm>
            <a:off x="481012" y="3839914"/>
            <a:ext cx="170586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186880" y="3839914"/>
            <a:ext cx="215131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338191" y="3839914"/>
            <a:ext cx="16101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81012" y="4292351"/>
            <a:ext cx="170586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186880" y="4292351"/>
            <a:ext cx="215131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38191" y="4292351"/>
            <a:ext cx="16101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90587" y="419100"/>
            <a:ext cx="11301412" cy="388590"/>
          </a:xfrm>
          <a:prstGeom prst="rect">
            <a:avLst/>
          </a:prstGeom>
          <a:noFill/>
        </p:spPr>
        <p:txBody>
          <a:bodyPr wrap="square" lIns="0" tIns="0" rIns="0" bIns="0" anchor="ctr">
            <a:spAutoFit/>
          </a:bodyPr>
          <a:lstStyle/>
          <a:p>
            <a:pPr algn="l">
              <a:lnSpc>
                <a:spcPts val="3060"/>
              </a:lnSpc>
            </a:pPr>
            <a:r>
              <a:rPr sz="2550" b="1" i="0" u="none" dirty="0" err="1">
                <a:solidFill>
                  <a:srgbClr val="0F172A"/>
                </a:solidFill>
                <a:latin typeface="Plus Jakarta Sans"/>
              </a:rPr>
              <a:t>Memeriksa</a:t>
            </a:r>
            <a:r>
              <a:rPr sz="2550" b="1" i="0" u="none" dirty="0">
                <a:solidFill>
                  <a:srgbClr val="0F172A"/>
                </a:solidFill>
                <a:latin typeface="Plus Jakarta Sans"/>
              </a:rPr>
              <a:t> Missing Value</a:t>
            </a:r>
          </a:p>
        </p:txBody>
      </p:sp>
      <p:pic>
        <p:nvPicPr>
          <p:cNvPr id="23" name="Picture 22" descr="image.png"/>
          <p:cNvPicPr>
            <a:picLocks noChangeAspect="1"/>
          </p:cNvPicPr>
          <p:nvPr/>
        </p:nvPicPr>
        <p:blipFill>
          <a:blip r:embed="rId7"/>
          <a:stretch>
            <a:fillRect/>
          </a:stretch>
        </p:blipFill>
        <p:spPr>
          <a:xfrm>
            <a:off x="6515100" y="3492251"/>
            <a:ext cx="171450" cy="180975"/>
          </a:xfrm>
          <a:prstGeom prst="rect">
            <a:avLst/>
          </a:prstGeom>
        </p:spPr>
      </p:pic>
      <p:pic>
        <p:nvPicPr>
          <p:cNvPr id="24" name="Picture 23" descr="image.png"/>
          <p:cNvPicPr>
            <a:picLocks noChangeAspect="1"/>
          </p:cNvPicPr>
          <p:nvPr/>
        </p:nvPicPr>
        <p:blipFill>
          <a:blip r:embed="rId7"/>
          <a:stretch>
            <a:fillRect/>
          </a:stretch>
        </p:blipFill>
        <p:spPr>
          <a:xfrm>
            <a:off x="6515100" y="4092326"/>
            <a:ext cx="171450" cy="1809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76250" y="2618333"/>
            <a:ext cx="5476875" cy="2238375"/>
          </a:xfrm>
          <a:prstGeom prst="rect">
            <a:avLst/>
          </a:prstGeom>
        </p:spPr>
      </p:pic>
      <p:pic>
        <p:nvPicPr>
          <p:cNvPr id="4" name="Picture 3" descr="image.png"/>
          <p:cNvPicPr>
            <a:picLocks noChangeAspect="1"/>
          </p:cNvPicPr>
          <p:nvPr/>
        </p:nvPicPr>
        <p:blipFill>
          <a:blip r:embed="rId4"/>
          <a:stretch>
            <a:fillRect/>
          </a:stretch>
        </p:blipFill>
        <p:spPr>
          <a:xfrm>
            <a:off x="6238875" y="2618333"/>
            <a:ext cx="5476875" cy="2238375"/>
          </a:xfrm>
          <a:prstGeom prst="rect">
            <a:avLst/>
          </a:prstGeom>
        </p:spPr>
      </p:pic>
      <p:pic>
        <p:nvPicPr>
          <p:cNvPr id="5" name="Picture 4" descr="image.png"/>
          <p:cNvPicPr>
            <a:picLocks noChangeAspect="1"/>
          </p:cNvPicPr>
          <p:nvPr/>
        </p:nvPicPr>
        <p:blipFill>
          <a:blip r:embed="rId5"/>
          <a:stretch>
            <a:fillRect/>
          </a:stretch>
        </p:blipFill>
        <p:spPr>
          <a:xfrm>
            <a:off x="476250" y="6410325"/>
            <a:ext cx="11239500" cy="257175"/>
          </a:xfrm>
          <a:prstGeom prst="rect">
            <a:avLst/>
          </a:prstGeom>
        </p:spPr>
      </p:pic>
      <p:pic>
        <p:nvPicPr>
          <p:cNvPr id="6" name="Picture 5" descr="image.png"/>
          <p:cNvPicPr>
            <a:picLocks noChangeAspect="1"/>
          </p:cNvPicPr>
          <p:nvPr/>
        </p:nvPicPr>
        <p:blipFill>
          <a:blip r:embed="rId6"/>
          <a:stretch>
            <a:fillRect/>
          </a:stretch>
        </p:blipFill>
        <p:spPr>
          <a:xfrm>
            <a:off x="476250" y="479970"/>
            <a:ext cx="261937" cy="266700"/>
          </a:xfrm>
          <a:prstGeom prst="rect">
            <a:avLst/>
          </a:prstGeom>
        </p:spPr>
      </p:pic>
      <p:sp>
        <p:nvSpPr>
          <p:cNvPr id="7" name="TextBox 6"/>
          <p:cNvSpPr txBox="1"/>
          <p:nvPr/>
        </p:nvSpPr>
        <p:spPr>
          <a:xfrm>
            <a:off x="476250" y="6515100"/>
            <a:ext cx="1752600" cy="152400"/>
          </a:xfrm>
          <a:prstGeom prst="rect">
            <a:avLst/>
          </a:prstGeom>
          <a:noFill/>
        </p:spPr>
        <p:txBody>
          <a:bodyPr wrap="square" lIns="0" tIns="0" rIns="0" bIns="0" anchor="t">
            <a:spAutoFit/>
          </a:bodyPr>
          <a:lstStyle/>
          <a:p>
            <a:pPr algn="l"/>
            <a:r>
              <a:rPr sz="975" b="0" i="0" u="none" dirty="0">
                <a:solidFill>
                  <a:srgbClr val="64748B"/>
                </a:solidFill>
                <a:latin typeface="Inter"/>
              </a:rPr>
              <a:t>Materi Data Mining — EDA </a:t>
            </a:r>
          </a:p>
        </p:txBody>
      </p:sp>
      <p:sp>
        <p:nvSpPr>
          <p:cNvPr id="8" name="TextBox 7"/>
          <p:cNvSpPr txBox="1"/>
          <p:nvPr/>
        </p:nvSpPr>
        <p:spPr>
          <a:xfrm>
            <a:off x="11020425" y="6515100"/>
            <a:ext cx="695325" cy="152400"/>
          </a:xfrm>
          <a:prstGeom prst="rect">
            <a:avLst/>
          </a:prstGeom>
          <a:noFill/>
        </p:spPr>
        <p:txBody>
          <a:bodyPr wrap="square" lIns="0" tIns="0" rIns="0" bIns="0" anchor="t">
            <a:spAutoFit/>
          </a:bodyPr>
          <a:lstStyle/>
          <a:p>
            <a:pPr algn="l"/>
            <a:r>
              <a:rPr sz="975" b="0" i="0" u="none">
                <a:solidFill>
                  <a:srgbClr val="64748B"/>
                </a:solidFill>
                <a:latin typeface="Inter"/>
              </a:rPr>
              <a:t>Slide 11 / 38</a:t>
            </a:r>
          </a:p>
        </p:txBody>
      </p:sp>
      <p:sp>
        <p:nvSpPr>
          <p:cNvPr id="9" name="TextBox 8"/>
          <p:cNvSpPr txBox="1"/>
          <p:nvPr/>
        </p:nvSpPr>
        <p:spPr>
          <a:xfrm>
            <a:off x="752475" y="2856458"/>
            <a:ext cx="5210651" cy="238125"/>
          </a:xfrm>
          <a:prstGeom prst="rect">
            <a:avLst/>
          </a:prstGeom>
          <a:noFill/>
        </p:spPr>
        <p:txBody>
          <a:bodyPr wrap="square" lIns="190500" tIns="0" rIns="0" bIns="0" anchor="t">
            <a:spAutoFit/>
          </a:bodyPr>
          <a:lstStyle/>
          <a:p>
            <a:pPr algn="l"/>
            <a:r>
              <a:rPr sz="1500" b="1" i="0" u="none">
                <a:solidFill>
                  <a:srgbClr val="EF4444"/>
                </a:solidFill>
                <a:latin typeface="Plus Jakarta Sans"/>
              </a:rPr>
              <a:t>Temuan Nilai Tidak Wajar</a:t>
            </a:r>
          </a:p>
        </p:txBody>
      </p:sp>
      <p:sp>
        <p:nvSpPr>
          <p:cNvPr id="10" name="TextBox 9"/>
          <p:cNvSpPr txBox="1"/>
          <p:nvPr/>
        </p:nvSpPr>
        <p:spPr>
          <a:xfrm>
            <a:off x="6515100" y="2856458"/>
            <a:ext cx="5210651" cy="238125"/>
          </a:xfrm>
          <a:prstGeom prst="rect">
            <a:avLst/>
          </a:prstGeom>
          <a:noFill/>
        </p:spPr>
        <p:txBody>
          <a:bodyPr wrap="square" lIns="190500" tIns="0" rIns="0" bIns="0" anchor="t">
            <a:spAutoFit/>
          </a:bodyPr>
          <a:lstStyle/>
          <a:p>
            <a:pPr algn="l"/>
            <a:r>
              <a:rPr sz="1500" b="1" i="0" u="none">
                <a:solidFill>
                  <a:srgbClr val="0F172A"/>
                </a:solidFill>
                <a:latin typeface="Plus Jakarta Sans"/>
              </a:rPr>
              <a:t>Tindakan Analis</a:t>
            </a:r>
          </a:p>
        </p:txBody>
      </p:sp>
      <p:sp>
        <p:nvSpPr>
          <p:cNvPr id="11" name="TextBox 10"/>
          <p:cNvSpPr txBox="1"/>
          <p:nvPr/>
        </p:nvSpPr>
        <p:spPr>
          <a:xfrm>
            <a:off x="6515100" y="3189833"/>
            <a:ext cx="4962525" cy="242887"/>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Data Error ≠ Kondisi Fisik Pekerja Asli.</a:t>
            </a:r>
          </a:p>
        </p:txBody>
      </p:sp>
      <p:sp>
        <p:nvSpPr>
          <p:cNvPr id="12" name="TextBox 11"/>
          <p:cNvSpPr txBox="1"/>
          <p:nvPr/>
        </p:nvSpPr>
        <p:spPr>
          <a:xfrm>
            <a:off x="6515100" y="3527970"/>
            <a:ext cx="4962525" cy="242887"/>
          </a:xfrm>
          <a:prstGeom prst="rect">
            <a:avLst/>
          </a:prstGeom>
          <a:noFill/>
        </p:spPr>
        <p:txBody>
          <a:bodyPr wrap="square" lIns="0" tIns="0" rIns="0" bIns="0" anchor="t">
            <a:spAutoFit/>
          </a:bodyPr>
          <a:lstStyle/>
          <a:p>
            <a:pPr algn="l">
              <a:lnSpc>
                <a:spcPts val="1912"/>
              </a:lnSpc>
            </a:pPr>
            <a:r>
              <a:rPr sz="1275" b="1" i="0" u="none">
                <a:solidFill>
                  <a:srgbClr val="334155"/>
                </a:solidFill>
                <a:latin typeface="Inter"/>
              </a:rPr>
              <a:t>Langkah:</a:t>
            </a:r>
          </a:p>
        </p:txBody>
      </p:sp>
      <p:pic>
        <p:nvPicPr>
          <p:cNvPr id="13" name="Picture 12" descr="image.png"/>
          <p:cNvPicPr>
            <a:picLocks noChangeAspect="1"/>
          </p:cNvPicPr>
          <p:nvPr/>
        </p:nvPicPr>
        <p:blipFill>
          <a:blip r:embed="rId7"/>
          <a:stretch>
            <a:fillRect/>
          </a:stretch>
        </p:blipFill>
        <p:spPr>
          <a:xfrm>
            <a:off x="752475" y="2894558"/>
            <a:ext cx="190500" cy="190500"/>
          </a:xfrm>
          <a:prstGeom prst="rect">
            <a:avLst/>
          </a:prstGeom>
        </p:spPr>
      </p:pic>
      <p:sp>
        <p:nvSpPr>
          <p:cNvPr id="14" name="TextBox 13"/>
          <p:cNvSpPr txBox="1"/>
          <p:nvPr/>
        </p:nvSpPr>
        <p:spPr>
          <a:xfrm>
            <a:off x="1019175" y="3189833"/>
            <a:ext cx="4695825" cy="242887"/>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Usia = 5 tahun (Tidak wajar)</a:t>
            </a:r>
          </a:p>
        </p:txBody>
      </p:sp>
      <p:sp>
        <p:nvSpPr>
          <p:cNvPr id="15" name="TextBox 14"/>
          <p:cNvSpPr txBox="1"/>
          <p:nvPr/>
        </p:nvSpPr>
        <p:spPr>
          <a:xfrm>
            <a:off x="1019175" y="3547020"/>
            <a:ext cx="4695825" cy="242887"/>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Jam Kerja = 30 jam/hari (Melewati rentang 24 jam)</a:t>
            </a:r>
          </a:p>
        </p:txBody>
      </p:sp>
      <p:sp>
        <p:nvSpPr>
          <p:cNvPr id="16" name="TextBox 15"/>
          <p:cNvSpPr txBox="1"/>
          <p:nvPr/>
        </p:nvSpPr>
        <p:spPr>
          <a:xfrm>
            <a:off x="1019175" y="3904208"/>
            <a:ext cx="4695825" cy="242887"/>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Durasi Tidur = 25 jam (Input error)</a:t>
            </a:r>
          </a:p>
        </p:txBody>
      </p:sp>
      <p:sp>
        <p:nvSpPr>
          <p:cNvPr id="17" name="TextBox 16"/>
          <p:cNvSpPr txBox="1"/>
          <p:nvPr/>
        </p:nvSpPr>
        <p:spPr>
          <a:xfrm>
            <a:off x="1019175" y="4261395"/>
            <a:ext cx="4695825" cy="242887"/>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Tingkat Kelelahan = 15 / 10 (Skala terlewati)</a:t>
            </a:r>
          </a:p>
        </p:txBody>
      </p:sp>
      <p:pic>
        <p:nvPicPr>
          <p:cNvPr id="18" name="Picture 17" descr="image.png"/>
          <p:cNvPicPr>
            <a:picLocks noChangeAspect="1"/>
          </p:cNvPicPr>
          <p:nvPr/>
        </p:nvPicPr>
        <p:blipFill>
          <a:blip r:embed="rId8"/>
          <a:stretch>
            <a:fillRect/>
          </a:stretch>
        </p:blipFill>
        <p:spPr>
          <a:xfrm>
            <a:off x="6515100" y="2894558"/>
            <a:ext cx="190500" cy="190500"/>
          </a:xfrm>
          <a:prstGeom prst="rect">
            <a:avLst/>
          </a:prstGeom>
        </p:spPr>
      </p:pic>
      <p:sp>
        <p:nvSpPr>
          <p:cNvPr id="19" name="TextBox 18"/>
          <p:cNvSpPr txBox="1"/>
          <p:nvPr/>
        </p:nvSpPr>
        <p:spPr>
          <a:xfrm>
            <a:off x="6591300" y="3768476"/>
            <a:ext cx="114300" cy="247650"/>
          </a:xfrm>
          <a:prstGeom prst="rect">
            <a:avLst/>
          </a:prstGeom>
          <a:noFill/>
        </p:spPr>
        <p:txBody>
          <a:bodyPr wrap="square" lIns="0" tIns="0" rIns="0" bIns="0" anchor="t">
            <a:spAutoFit/>
          </a:bodyPr>
          <a:lstStyle/>
          <a:p>
            <a:pPr algn="l"/>
            <a:r>
              <a:rPr sz="1275" b="0" i="0" u="none">
                <a:solidFill>
                  <a:srgbClr val="334155"/>
                </a:solidFill>
                <a:latin typeface="Inter"/>
              </a:rPr>
              <a:t>1.</a:t>
            </a:r>
          </a:p>
        </p:txBody>
      </p:sp>
      <p:sp>
        <p:nvSpPr>
          <p:cNvPr id="20" name="TextBox 19"/>
          <p:cNvSpPr txBox="1"/>
          <p:nvPr/>
        </p:nvSpPr>
        <p:spPr>
          <a:xfrm>
            <a:off x="6705600" y="3770858"/>
            <a:ext cx="4772025" cy="242887"/>
          </a:xfrm>
          <a:prstGeom prst="rect">
            <a:avLst/>
          </a:prstGeom>
          <a:noFill/>
        </p:spPr>
        <p:txBody>
          <a:bodyPr wrap="square" lIns="114300" tIns="0" rIns="0" bIns="0" anchor="t">
            <a:spAutoFit/>
          </a:bodyPr>
          <a:lstStyle/>
          <a:p>
            <a:pPr algn="l">
              <a:lnSpc>
                <a:spcPts val="1912"/>
              </a:lnSpc>
            </a:pPr>
            <a:r>
              <a:rPr sz="1275" b="0" i="0" u="none">
                <a:solidFill>
                  <a:srgbClr val="334155"/>
                </a:solidFill>
                <a:latin typeface="Inter"/>
              </a:rPr>
              <a:t>Identifikasi sumber (kesalahan entri / sensor / unit)</a:t>
            </a:r>
          </a:p>
        </p:txBody>
      </p:sp>
      <p:sp>
        <p:nvSpPr>
          <p:cNvPr id="21" name="TextBox 20"/>
          <p:cNvSpPr txBox="1"/>
          <p:nvPr/>
        </p:nvSpPr>
        <p:spPr>
          <a:xfrm>
            <a:off x="6562725" y="4011364"/>
            <a:ext cx="142875" cy="247650"/>
          </a:xfrm>
          <a:prstGeom prst="rect">
            <a:avLst/>
          </a:prstGeom>
          <a:noFill/>
        </p:spPr>
        <p:txBody>
          <a:bodyPr wrap="square" lIns="0" tIns="0" rIns="0" bIns="0" anchor="t">
            <a:spAutoFit/>
          </a:bodyPr>
          <a:lstStyle/>
          <a:p>
            <a:pPr algn="l"/>
            <a:r>
              <a:rPr sz="1275" b="0" i="0" u="none">
                <a:solidFill>
                  <a:srgbClr val="334155"/>
                </a:solidFill>
                <a:latin typeface="Inter"/>
              </a:rPr>
              <a:t>2.</a:t>
            </a:r>
          </a:p>
        </p:txBody>
      </p:sp>
      <p:sp>
        <p:nvSpPr>
          <p:cNvPr id="22" name="TextBox 21"/>
          <p:cNvSpPr txBox="1"/>
          <p:nvPr/>
        </p:nvSpPr>
        <p:spPr>
          <a:xfrm>
            <a:off x="6705600" y="4013745"/>
            <a:ext cx="4772025" cy="242887"/>
          </a:xfrm>
          <a:prstGeom prst="rect">
            <a:avLst/>
          </a:prstGeom>
          <a:noFill/>
        </p:spPr>
        <p:txBody>
          <a:bodyPr wrap="square" lIns="142875" tIns="0" rIns="0" bIns="0" anchor="t">
            <a:spAutoFit/>
          </a:bodyPr>
          <a:lstStyle/>
          <a:p>
            <a:pPr algn="l">
              <a:lnSpc>
                <a:spcPts val="1912"/>
              </a:lnSpc>
            </a:pPr>
            <a:r>
              <a:rPr sz="1275" b="0" i="0" u="none">
                <a:solidFill>
                  <a:srgbClr val="334155"/>
                </a:solidFill>
                <a:latin typeface="Inter"/>
              </a:rPr>
              <a:t>Verifikasi dengan dokumen presensi/log kerja</a:t>
            </a:r>
          </a:p>
        </p:txBody>
      </p:sp>
      <p:sp>
        <p:nvSpPr>
          <p:cNvPr id="23" name="TextBox 22"/>
          <p:cNvSpPr txBox="1"/>
          <p:nvPr/>
        </p:nvSpPr>
        <p:spPr>
          <a:xfrm>
            <a:off x="6553200" y="4254251"/>
            <a:ext cx="152400" cy="247650"/>
          </a:xfrm>
          <a:prstGeom prst="rect">
            <a:avLst/>
          </a:prstGeom>
          <a:noFill/>
        </p:spPr>
        <p:txBody>
          <a:bodyPr wrap="square" lIns="0" tIns="0" rIns="0" bIns="0" anchor="t">
            <a:spAutoFit/>
          </a:bodyPr>
          <a:lstStyle/>
          <a:p>
            <a:pPr algn="l"/>
            <a:r>
              <a:rPr sz="1275" b="0" i="0" u="none">
                <a:solidFill>
                  <a:srgbClr val="334155"/>
                </a:solidFill>
                <a:latin typeface="Inter"/>
              </a:rPr>
              <a:t>3.</a:t>
            </a:r>
          </a:p>
        </p:txBody>
      </p:sp>
      <p:sp>
        <p:nvSpPr>
          <p:cNvPr id="24" name="TextBox 23"/>
          <p:cNvSpPr txBox="1"/>
          <p:nvPr/>
        </p:nvSpPr>
        <p:spPr>
          <a:xfrm>
            <a:off x="6705600" y="4256633"/>
            <a:ext cx="4772025" cy="242887"/>
          </a:xfrm>
          <a:prstGeom prst="rect">
            <a:avLst/>
          </a:prstGeom>
          <a:noFill/>
        </p:spPr>
        <p:txBody>
          <a:bodyPr wrap="square" lIns="152400" tIns="0" rIns="0" bIns="0" anchor="t">
            <a:spAutoFit/>
          </a:bodyPr>
          <a:lstStyle/>
          <a:p>
            <a:pPr algn="l">
              <a:lnSpc>
                <a:spcPts val="1912"/>
              </a:lnSpc>
            </a:pPr>
            <a:r>
              <a:rPr sz="1275" b="0" i="0" u="none">
                <a:solidFill>
                  <a:srgbClr val="334155"/>
                </a:solidFill>
                <a:latin typeface="Inter"/>
              </a:rPr>
              <a:t>Lakukan pembersihan data secara obyektif</a:t>
            </a:r>
          </a:p>
        </p:txBody>
      </p:sp>
      <p:sp>
        <p:nvSpPr>
          <p:cNvPr id="25" name="TextBox 24"/>
          <p:cNvSpPr txBox="1"/>
          <p:nvPr/>
        </p:nvSpPr>
        <p:spPr>
          <a:xfrm>
            <a:off x="852487" y="419100"/>
            <a:ext cx="11339512" cy="388590"/>
          </a:xfrm>
          <a:prstGeom prst="rect">
            <a:avLst/>
          </a:prstGeom>
          <a:noFill/>
        </p:spPr>
        <p:txBody>
          <a:bodyPr wrap="square" lIns="0" tIns="0" rIns="0" bIns="0" anchor="ctr">
            <a:spAutoFit/>
          </a:bodyPr>
          <a:lstStyle/>
          <a:p>
            <a:pPr algn="l">
              <a:lnSpc>
                <a:spcPts val="3060"/>
              </a:lnSpc>
            </a:pPr>
            <a:r>
              <a:rPr sz="2550" b="1" i="0" u="none" dirty="0" err="1">
                <a:solidFill>
                  <a:srgbClr val="0F172A"/>
                </a:solidFill>
                <a:latin typeface="Plus Jakarta Sans"/>
              </a:rPr>
              <a:t>Memeriksa</a:t>
            </a:r>
            <a:r>
              <a:rPr sz="2550" b="1" i="0" u="none" dirty="0">
                <a:solidFill>
                  <a:srgbClr val="0F172A"/>
                </a:solidFill>
                <a:latin typeface="Plus Jakarta Sans"/>
              </a:rPr>
              <a:t> Data Anomali</a:t>
            </a:r>
          </a:p>
        </p:txBody>
      </p:sp>
      <p:pic>
        <p:nvPicPr>
          <p:cNvPr id="26" name="Picture 25" descr="image.png"/>
          <p:cNvPicPr>
            <a:picLocks noChangeAspect="1"/>
          </p:cNvPicPr>
          <p:nvPr/>
        </p:nvPicPr>
        <p:blipFill>
          <a:blip r:embed="rId9"/>
          <a:stretch>
            <a:fillRect/>
          </a:stretch>
        </p:blipFill>
        <p:spPr>
          <a:xfrm>
            <a:off x="752475" y="3208883"/>
            <a:ext cx="171450" cy="180975"/>
          </a:xfrm>
          <a:prstGeom prst="rect">
            <a:avLst/>
          </a:prstGeom>
        </p:spPr>
      </p:pic>
      <p:pic>
        <p:nvPicPr>
          <p:cNvPr id="27" name="Picture 26" descr="image.png"/>
          <p:cNvPicPr>
            <a:picLocks noChangeAspect="1"/>
          </p:cNvPicPr>
          <p:nvPr/>
        </p:nvPicPr>
        <p:blipFill>
          <a:blip r:embed="rId9"/>
          <a:stretch>
            <a:fillRect/>
          </a:stretch>
        </p:blipFill>
        <p:spPr>
          <a:xfrm>
            <a:off x="752475" y="3566070"/>
            <a:ext cx="171450" cy="180975"/>
          </a:xfrm>
          <a:prstGeom prst="rect">
            <a:avLst/>
          </a:prstGeom>
        </p:spPr>
      </p:pic>
      <p:pic>
        <p:nvPicPr>
          <p:cNvPr id="28" name="Picture 27" descr="image.png"/>
          <p:cNvPicPr>
            <a:picLocks noChangeAspect="1"/>
          </p:cNvPicPr>
          <p:nvPr/>
        </p:nvPicPr>
        <p:blipFill>
          <a:blip r:embed="rId9"/>
          <a:stretch>
            <a:fillRect/>
          </a:stretch>
        </p:blipFill>
        <p:spPr>
          <a:xfrm>
            <a:off x="752475" y="3923258"/>
            <a:ext cx="171450" cy="180975"/>
          </a:xfrm>
          <a:prstGeom prst="rect">
            <a:avLst/>
          </a:prstGeom>
        </p:spPr>
      </p:pic>
      <p:pic>
        <p:nvPicPr>
          <p:cNvPr id="29" name="Picture 28" descr="image.png"/>
          <p:cNvPicPr>
            <a:picLocks noChangeAspect="1"/>
          </p:cNvPicPr>
          <p:nvPr/>
        </p:nvPicPr>
        <p:blipFill>
          <a:blip r:embed="rId9"/>
          <a:stretch>
            <a:fillRect/>
          </a:stretch>
        </p:blipFill>
        <p:spPr>
          <a:xfrm>
            <a:off x="752475" y="4280445"/>
            <a:ext cx="171450" cy="18097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76250" y="2715964"/>
            <a:ext cx="3594050" cy="2043112"/>
          </a:xfrm>
          <a:prstGeom prst="rect">
            <a:avLst/>
          </a:prstGeom>
        </p:spPr>
      </p:pic>
      <p:pic>
        <p:nvPicPr>
          <p:cNvPr id="4" name="Picture 3" descr="image.png"/>
          <p:cNvPicPr>
            <a:picLocks noChangeAspect="1"/>
          </p:cNvPicPr>
          <p:nvPr/>
        </p:nvPicPr>
        <p:blipFill>
          <a:blip r:embed="rId4"/>
          <a:stretch>
            <a:fillRect/>
          </a:stretch>
        </p:blipFill>
        <p:spPr>
          <a:xfrm>
            <a:off x="4298900" y="2715964"/>
            <a:ext cx="3594050" cy="2043112"/>
          </a:xfrm>
          <a:prstGeom prst="rect">
            <a:avLst/>
          </a:prstGeom>
        </p:spPr>
      </p:pic>
      <p:pic>
        <p:nvPicPr>
          <p:cNvPr id="5" name="Picture 4" descr="image.png"/>
          <p:cNvPicPr>
            <a:picLocks noChangeAspect="1"/>
          </p:cNvPicPr>
          <p:nvPr/>
        </p:nvPicPr>
        <p:blipFill>
          <a:blip r:embed="rId5"/>
          <a:stretch>
            <a:fillRect/>
          </a:stretch>
        </p:blipFill>
        <p:spPr>
          <a:xfrm>
            <a:off x="8121550" y="2715964"/>
            <a:ext cx="3594199" cy="2043112"/>
          </a:xfrm>
          <a:prstGeom prst="rect">
            <a:avLst/>
          </a:prstGeom>
        </p:spPr>
      </p:pic>
      <p:pic>
        <p:nvPicPr>
          <p:cNvPr id="6" name="Picture 5" descr="image.png"/>
          <p:cNvPicPr>
            <a:picLocks noChangeAspect="1"/>
          </p:cNvPicPr>
          <p:nvPr/>
        </p:nvPicPr>
        <p:blipFill>
          <a:blip r:embed="rId6"/>
          <a:stretch>
            <a:fillRect/>
          </a:stretch>
        </p:blipFill>
        <p:spPr>
          <a:xfrm>
            <a:off x="476250" y="6410325"/>
            <a:ext cx="11239500" cy="257175"/>
          </a:xfrm>
          <a:prstGeom prst="rect">
            <a:avLst/>
          </a:prstGeom>
        </p:spPr>
      </p:pic>
      <p:pic>
        <p:nvPicPr>
          <p:cNvPr id="7" name="Picture 6" descr="image.png"/>
          <p:cNvPicPr>
            <a:picLocks noChangeAspect="1"/>
          </p:cNvPicPr>
          <p:nvPr/>
        </p:nvPicPr>
        <p:blipFill>
          <a:blip r:embed="rId7"/>
          <a:stretch>
            <a:fillRect/>
          </a:stretch>
        </p:blipFill>
        <p:spPr>
          <a:xfrm>
            <a:off x="476250" y="479970"/>
            <a:ext cx="233362" cy="266700"/>
          </a:xfrm>
          <a:prstGeom prst="rect">
            <a:avLst/>
          </a:prstGeom>
        </p:spPr>
      </p:pic>
      <p:sp>
        <p:nvSpPr>
          <p:cNvPr id="8" name="TextBox 7"/>
          <p:cNvSpPr txBox="1"/>
          <p:nvPr/>
        </p:nvSpPr>
        <p:spPr>
          <a:xfrm>
            <a:off x="476250" y="6515100"/>
            <a:ext cx="1752600" cy="152400"/>
          </a:xfrm>
          <a:prstGeom prst="rect">
            <a:avLst/>
          </a:prstGeom>
          <a:noFill/>
        </p:spPr>
        <p:txBody>
          <a:bodyPr wrap="square" lIns="0" tIns="0" rIns="0" bIns="0" anchor="t">
            <a:spAutoFit/>
          </a:bodyPr>
          <a:lstStyle/>
          <a:p>
            <a:pPr algn="l"/>
            <a:r>
              <a:rPr sz="975" b="0" i="0" u="none" dirty="0">
                <a:solidFill>
                  <a:srgbClr val="64748B"/>
                </a:solidFill>
                <a:latin typeface="Inter"/>
              </a:rPr>
              <a:t>Materi Data Mining — EDA </a:t>
            </a:r>
          </a:p>
        </p:txBody>
      </p:sp>
      <p:sp>
        <p:nvSpPr>
          <p:cNvPr id="9" name="TextBox 8"/>
          <p:cNvSpPr txBox="1"/>
          <p:nvPr/>
        </p:nvSpPr>
        <p:spPr>
          <a:xfrm>
            <a:off x="10991850" y="6515100"/>
            <a:ext cx="723900" cy="152400"/>
          </a:xfrm>
          <a:prstGeom prst="rect">
            <a:avLst/>
          </a:prstGeom>
          <a:noFill/>
        </p:spPr>
        <p:txBody>
          <a:bodyPr wrap="square" lIns="0" tIns="0" rIns="0" bIns="0" anchor="t">
            <a:spAutoFit/>
          </a:bodyPr>
          <a:lstStyle/>
          <a:p>
            <a:pPr algn="l"/>
            <a:r>
              <a:rPr sz="975" b="0" i="0" u="none">
                <a:solidFill>
                  <a:srgbClr val="64748B"/>
                </a:solidFill>
                <a:latin typeface="Inter"/>
              </a:rPr>
              <a:t>Slide 13 / 38</a:t>
            </a:r>
          </a:p>
        </p:txBody>
      </p:sp>
      <p:sp>
        <p:nvSpPr>
          <p:cNvPr id="10" name="TextBox 9"/>
          <p:cNvSpPr txBox="1"/>
          <p:nvPr/>
        </p:nvSpPr>
        <p:spPr>
          <a:xfrm>
            <a:off x="752475" y="3458914"/>
            <a:ext cx="3233685" cy="238125"/>
          </a:xfrm>
          <a:prstGeom prst="rect">
            <a:avLst/>
          </a:prstGeom>
          <a:noFill/>
        </p:spPr>
        <p:txBody>
          <a:bodyPr wrap="square" lIns="0" tIns="0" rIns="0" bIns="0" anchor="t">
            <a:spAutoFit/>
          </a:bodyPr>
          <a:lstStyle/>
          <a:p>
            <a:pPr algn="l"/>
            <a:r>
              <a:rPr sz="1500" b="1" i="0" u="none">
                <a:solidFill>
                  <a:srgbClr val="0F172A"/>
                </a:solidFill>
                <a:latin typeface="Plus Jakarta Sans"/>
              </a:rPr>
              <a:t>Histogram</a:t>
            </a:r>
          </a:p>
        </p:txBody>
      </p:sp>
      <p:sp>
        <p:nvSpPr>
          <p:cNvPr id="11" name="TextBox 10"/>
          <p:cNvSpPr txBox="1"/>
          <p:nvPr/>
        </p:nvSpPr>
        <p:spPr>
          <a:xfrm>
            <a:off x="752475" y="3792289"/>
            <a:ext cx="3079700" cy="728662"/>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Memahami sebaran nilai variabel kontinu seperti jam kerja, usia, dan durasi tidur.</a:t>
            </a:r>
          </a:p>
        </p:txBody>
      </p:sp>
      <p:sp>
        <p:nvSpPr>
          <p:cNvPr id="12" name="TextBox 11"/>
          <p:cNvSpPr txBox="1"/>
          <p:nvPr/>
        </p:nvSpPr>
        <p:spPr>
          <a:xfrm>
            <a:off x="4575125" y="3458914"/>
            <a:ext cx="3233685" cy="238125"/>
          </a:xfrm>
          <a:prstGeom prst="rect">
            <a:avLst/>
          </a:prstGeom>
          <a:noFill/>
        </p:spPr>
        <p:txBody>
          <a:bodyPr wrap="square" lIns="0" tIns="0" rIns="0" bIns="0" anchor="t">
            <a:spAutoFit/>
          </a:bodyPr>
          <a:lstStyle/>
          <a:p>
            <a:pPr algn="l"/>
            <a:r>
              <a:rPr sz="1500" b="1" i="0" u="none">
                <a:solidFill>
                  <a:srgbClr val="0F172A"/>
                </a:solidFill>
                <a:latin typeface="Plus Jakarta Sans"/>
              </a:rPr>
              <a:t>Boxplot</a:t>
            </a:r>
          </a:p>
        </p:txBody>
      </p:sp>
      <p:sp>
        <p:nvSpPr>
          <p:cNvPr id="13" name="TextBox 12"/>
          <p:cNvSpPr txBox="1"/>
          <p:nvPr/>
        </p:nvSpPr>
        <p:spPr>
          <a:xfrm>
            <a:off x="4575125" y="3792289"/>
            <a:ext cx="3079700" cy="728662"/>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Mendeteksi pencilan (outlier), nilai ekstrem, serta rentang kuartil kelelahan kerja.</a:t>
            </a:r>
          </a:p>
        </p:txBody>
      </p:sp>
      <p:sp>
        <p:nvSpPr>
          <p:cNvPr id="14" name="TextBox 13"/>
          <p:cNvSpPr txBox="1"/>
          <p:nvPr/>
        </p:nvSpPr>
        <p:spPr>
          <a:xfrm>
            <a:off x="8397775" y="3458914"/>
            <a:ext cx="3233841" cy="238125"/>
          </a:xfrm>
          <a:prstGeom prst="rect">
            <a:avLst/>
          </a:prstGeom>
          <a:noFill/>
        </p:spPr>
        <p:txBody>
          <a:bodyPr wrap="square" lIns="0" tIns="0" rIns="0" bIns="0" anchor="t">
            <a:spAutoFit/>
          </a:bodyPr>
          <a:lstStyle/>
          <a:p>
            <a:pPr algn="l"/>
            <a:r>
              <a:rPr sz="1500" b="1" i="0" u="none">
                <a:solidFill>
                  <a:srgbClr val="0F172A"/>
                </a:solidFill>
                <a:latin typeface="Plus Jakarta Sans"/>
              </a:rPr>
              <a:t>Bar Chart</a:t>
            </a:r>
          </a:p>
        </p:txBody>
      </p:sp>
      <p:sp>
        <p:nvSpPr>
          <p:cNvPr id="15" name="TextBox 14"/>
          <p:cNvSpPr txBox="1"/>
          <p:nvPr/>
        </p:nvSpPr>
        <p:spPr>
          <a:xfrm>
            <a:off x="8397775" y="3792289"/>
            <a:ext cx="3079849" cy="728662"/>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Menganalisis frekuensi kategori seperti shift kerja, jenis kelamin, dan angka near miss.</a:t>
            </a:r>
          </a:p>
        </p:txBody>
      </p:sp>
      <p:pic>
        <p:nvPicPr>
          <p:cNvPr id="16" name="Picture 15" descr="image.png"/>
          <p:cNvPicPr>
            <a:picLocks noChangeAspect="1"/>
          </p:cNvPicPr>
          <p:nvPr/>
        </p:nvPicPr>
        <p:blipFill>
          <a:blip r:embed="rId8"/>
          <a:stretch>
            <a:fillRect/>
          </a:stretch>
        </p:blipFill>
        <p:spPr>
          <a:xfrm>
            <a:off x="752475" y="2982664"/>
            <a:ext cx="304800" cy="304800"/>
          </a:xfrm>
          <a:prstGeom prst="rect">
            <a:avLst/>
          </a:prstGeom>
        </p:spPr>
      </p:pic>
      <p:pic>
        <p:nvPicPr>
          <p:cNvPr id="17" name="Picture 16" descr="image.png"/>
          <p:cNvPicPr>
            <a:picLocks noChangeAspect="1"/>
          </p:cNvPicPr>
          <p:nvPr/>
        </p:nvPicPr>
        <p:blipFill>
          <a:blip r:embed="rId9"/>
          <a:stretch>
            <a:fillRect/>
          </a:stretch>
        </p:blipFill>
        <p:spPr>
          <a:xfrm>
            <a:off x="4575125" y="2982664"/>
            <a:ext cx="304800" cy="304800"/>
          </a:xfrm>
          <a:prstGeom prst="rect">
            <a:avLst/>
          </a:prstGeom>
        </p:spPr>
      </p:pic>
      <p:pic>
        <p:nvPicPr>
          <p:cNvPr id="18" name="Picture 17" descr="image.png"/>
          <p:cNvPicPr>
            <a:picLocks noChangeAspect="1"/>
          </p:cNvPicPr>
          <p:nvPr/>
        </p:nvPicPr>
        <p:blipFill>
          <a:blip r:embed="rId10"/>
          <a:stretch>
            <a:fillRect/>
          </a:stretch>
        </p:blipFill>
        <p:spPr>
          <a:xfrm>
            <a:off x="8397775" y="2982664"/>
            <a:ext cx="304800" cy="304800"/>
          </a:xfrm>
          <a:prstGeom prst="rect">
            <a:avLst/>
          </a:prstGeom>
        </p:spPr>
      </p:pic>
      <p:sp>
        <p:nvSpPr>
          <p:cNvPr id="19" name="TextBox 18"/>
          <p:cNvSpPr txBox="1"/>
          <p:nvPr/>
        </p:nvSpPr>
        <p:spPr>
          <a:xfrm>
            <a:off x="823912" y="419100"/>
            <a:ext cx="11368087" cy="388590"/>
          </a:xfrm>
          <a:prstGeom prst="rect">
            <a:avLst/>
          </a:prstGeom>
          <a:noFill/>
        </p:spPr>
        <p:txBody>
          <a:bodyPr wrap="square" lIns="0" tIns="0" rIns="0" bIns="0" anchor="ctr">
            <a:spAutoFit/>
          </a:bodyPr>
          <a:lstStyle/>
          <a:p>
            <a:pPr algn="l">
              <a:lnSpc>
                <a:spcPts val="3060"/>
              </a:lnSpc>
            </a:pPr>
            <a:r>
              <a:rPr sz="2550" b="1" i="0" u="none">
                <a:solidFill>
                  <a:srgbClr val="0F172A"/>
                </a:solidFill>
                <a:latin typeface="Plus Jakarta Sans"/>
              </a:rPr>
              <a:t>Visualisasi Distribusi</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2E426-CF17-4864-9066-52776C24923C}"/>
              </a:ext>
            </a:extLst>
          </p:cNvPr>
          <p:cNvSpPr>
            <a:spLocks noGrp="1"/>
          </p:cNvSpPr>
          <p:nvPr>
            <p:ph type="title"/>
          </p:nvPr>
        </p:nvSpPr>
        <p:spPr>
          <a:xfrm>
            <a:off x="838200" y="681037"/>
            <a:ext cx="10515600" cy="791571"/>
          </a:xfrm>
        </p:spPr>
        <p:txBody>
          <a:bodyPr anchor="ctr">
            <a:normAutofit/>
          </a:bodyPr>
          <a:lstStyle/>
          <a:p>
            <a:r>
              <a:rPr lang="id-ID" dirty="0"/>
              <a:t>Visualisasi Data</a:t>
            </a:r>
            <a:endParaRPr lang="en-US" dirty="0"/>
          </a:p>
        </p:txBody>
      </p:sp>
      <p:graphicFrame>
        <p:nvGraphicFramePr>
          <p:cNvPr id="5" name="Content Placeholder 2">
            <a:extLst>
              <a:ext uri="{FF2B5EF4-FFF2-40B4-BE49-F238E27FC236}">
                <a16:creationId xmlns:a16="http://schemas.microsoft.com/office/drawing/2014/main" id="{22EB6173-1D57-405B-81CF-7CE271A1BFA0}"/>
              </a:ext>
            </a:extLst>
          </p:cNvPr>
          <p:cNvGraphicFramePr>
            <a:graphicFrameLocks noGrp="1"/>
          </p:cNvGraphicFramePr>
          <p:nvPr>
            <p:ph idx="1"/>
          </p:nvPr>
        </p:nvGraphicFramePr>
        <p:xfrm>
          <a:off x="838200" y="1176532"/>
          <a:ext cx="10515600" cy="50004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050" name="Picture 2">
            <a:extLst>
              <a:ext uri="{FF2B5EF4-FFF2-40B4-BE49-F238E27FC236}">
                <a16:creationId xmlns:a16="http://schemas.microsoft.com/office/drawing/2014/main" id="{9B8567D4-3357-4B1E-A74C-5BF8791B3F7C}"/>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746600" y="1281390"/>
            <a:ext cx="2698799" cy="13734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ACE3C4B-1517-8953-0CDD-F45C59AAB268}"/>
              </a:ext>
            </a:extLst>
          </p:cNvPr>
          <p:cNvSpPr txBox="1"/>
          <p:nvPr/>
        </p:nvSpPr>
        <p:spPr>
          <a:xfrm>
            <a:off x="838200" y="5275719"/>
            <a:ext cx="10655299" cy="954107"/>
          </a:xfrm>
          <a:prstGeom prst="rect">
            <a:avLst/>
          </a:prstGeom>
          <a:noFill/>
        </p:spPr>
        <p:txBody>
          <a:bodyPr wrap="square">
            <a:spAutoFit/>
          </a:bodyPr>
          <a:lstStyle/>
          <a:p>
            <a:pPr algn="ctr"/>
            <a:r>
              <a:rPr lang="en-AT" sz="2800" dirty="0"/>
              <a:t>Visualisasi data adalah salah satu teknik yang paling penting dan menarik untuk eksplorasi data</a:t>
            </a:r>
          </a:p>
        </p:txBody>
      </p:sp>
    </p:spTree>
    <p:extLst>
      <p:ext uri="{BB962C8B-B14F-4D97-AF65-F5344CB8AC3E}">
        <p14:creationId xmlns:p14="http://schemas.microsoft.com/office/powerpoint/2010/main" val="10139977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5D5E3-8A38-FF0B-C7F0-301E584D9A42}"/>
              </a:ext>
            </a:extLst>
          </p:cNvPr>
          <p:cNvSpPr>
            <a:spLocks noGrp="1"/>
          </p:cNvSpPr>
          <p:nvPr>
            <p:ph type="title"/>
          </p:nvPr>
        </p:nvSpPr>
        <p:spPr>
          <a:xfrm>
            <a:off x="457200" y="274638"/>
            <a:ext cx="8229600" cy="824648"/>
          </a:xfrm>
        </p:spPr>
        <p:txBody>
          <a:bodyPr/>
          <a:lstStyle/>
          <a:p>
            <a:r>
              <a:rPr lang="id" dirty="0"/>
              <a:t>Visualisasi</a:t>
            </a:r>
            <a:endParaRPr lang="en-US" dirty="0"/>
          </a:p>
        </p:txBody>
      </p:sp>
      <p:sp>
        <p:nvSpPr>
          <p:cNvPr id="3" name="Content Placeholder 2">
            <a:extLst>
              <a:ext uri="{FF2B5EF4-FFF2-40B4-BE49-F238E27FC236}">
                <a16:creationId xmlns:a16="http://schemas.microsoft.com/office/drawing/2014/main" id="{4E673C55-2CFA-25E5-1735-CCEECA204CD4}"/>
              </a:ext>
            </a:extLst>
          </p:cNvPr>
          <p:cNvSpPr>
            <a:spLocks noGrp="1"/>
          </p:cNvSpPr>
          <p:nvPr>
            <p:ph idx="1"/>
          </p:nvPr>
        </p:nvSpPr>
        <p:spPr>
          <a:xfrm>
            <a:off x="457200" y="4507323"/>
            <a:ext cx="3033252" cy="1785324"/>
          </a:xfrm>
        </p:spPr>
        <p:txBody>
          <a:bodyPr>
            <a:normAutofit/>
          </a:bodyPr>
          <a:lstStyle/>
          <a:p>
            <a:r>
              <a:rPr lang="en-US" sz="1600" b="1" dirty="0">
                <a:latin typeface="Arial"/>
                <a:ea typeface="Arial"/>
                <a:cs typeface="Arial"/>
                <a:sym typeface="Arial"/>
              </a:rPr>
              <a:t>Pie chart</a:t>
            </a:r>
            <a:r>
              <a:rPr lang="en-US" sz="1600" dirty="0">
                <a:latin typeface="Arial"/>
                <a:ea typeface="Arial"/>
                <a:cs typeface="Arial"/>
                <a:sym typeface="Arial"/>
              </a:rPr>
              <a:t> </a:t>
            </a:r>
            <a:r>
              <a:rPr lang="en-US" sz="1600" dirty="0" err="1">
                <a:latin typeface="Arial"/>
                <a:ea typeface="Arial"/>
                <a:cs typeface="Arial"/>
                <a:sym typeface="Arial"/>
              </a:rPr>
              <a:t>digunakan</a:t>
            </a:r>
            <a:r>
              <a:rPr lang="en-US" sz="1600" dirty="0">
                <a:latin typeface="Arial"/>
                <a:ea typeface="Arial"/>
                <a:cs typeface="Arial"/>
                <a:sym typeface="Arial"/>
              </a:rPr>
              <a:t> </a:t>
            </a:r>
            <a:r>
              <a:rPr lang="en-US" sz="1600" dirty="0" err="1">
                <a:latin typeface="Arial"/>
                <a:ea typeface="Arial"/>
                <a:cs typeface="Arial"/>
                <a:sym typeface="Arial"/>
              </a:rPr>
              <a:t>untuk</a:t>
            </a:r>
            <a:r>
              <a:rPr lang="en-US" sz="1600" dirty="0">
                <a:latin typeface="Arial"/>
                <a:ea typeface="Arial"/>
                <a:cs typeface="Arial"/>
                <a:sym typeface="Arial"/>
              </a:rPr>
              <a:t> </a:t>
            </a:r>
            <a:r>
              <a:rPr lang="en-US" sz="1600" dirty="0" err="1">
                <a:latin typeface="Arial"/>
                <a:ea typeface="Arial"/>
                <a:cs typeface="Arial"/>
                <a:sym typeface="Arial"/>
              </a:rPr>
              <a:t>menunjukkan</a:t>
            </a:r>
            <a:r>
              <a:rPr lang="en-US" sz="1600" dirty="0">
                <a:latin typeface="Arial"/>
                <a:ea typeface="Arial"/>
                <a:cs typeface="Arial"/>
                <a:sym typeface="Arial"/>
              </a:rPr>
              <a:t> </a:t>
            </a:r>
            <a:r>
              <a:rPr lang="en-US" sz="1600" dirty="0" err="1">
                <a:latin typeface="Arial"/>
                <a:ea typeface="Arial"/>
                <a:cs typeface="Arial"/>
                <a:sym typeface="Arial"/>
              </a:rPr>
              <a:t>seberapa</a:t>
            </a:r>
            <a:r>
              <a:rPr lang="en-US" sz="1600" dirty="0">
                <a:latin typeface="Arial"/>
                <a:ea typeface="Arial"/>
                <a:cs typeface="Arial"/>
                <a:sym typeface="Arial"/>
              </a:rPr>
              <a:t> </a:t>
            </a:r>
            <a:r>
              <a:rPr lang="en-US" sz="1600" dirty="0" err="1">
                <a:latin typeface="Arial"/>
                <a:ea typeface="Arial"/>
                <a:cs typeface="Arial"/>
                <a:sym typeface="Arial"/>
              </a:rPr>
              <a:t>banyak</a:t>
            </a:r>
            <a:r>
              <a:rPr lang="en-US" sz="1600" dirty="0">
                <a:latin typeface="Arial"/>
                <a:ea typeface="Arial"/>
                <a:cs typeface="Arial"/>
                <a:sym typeface="Arial"/>
              </a:rPr>
              <a:t> </a:t>
            </a:r>
            <a:r>
              <a:rPr lang="en-US" sz="1600" dirty="0" err="1">
                <a:latin typeface="Arial"/>
                <a:ea typeface="Arial"/>
                <a:cs typeface="Arial"/>
                <a:sym typeface="Arial"/>
              </a:rPr>
              <a:t>dari</a:t>
            </a:r>
            <a:r>
              <a:rPr lang="en-US" sz="1600" dirty="0">
                <a:latin typeface="Arial"/>
                <a:ea typeface="Arial"/>
                <a:cs typeface="Arial"/>
                <a:sym typeface="Arial"/>
              </a:rPr>
              <a:t> </a:t>
            </a:r>
            <a:r>
              <a:rPr lang="en-US" sz="1600" dirty="0" err="1">
                <a:latin typeface="Arial"/>
                <a:ea typeface="Arial"/>
                <a:cs typeface="Arial"/>
                <a:sym typeface="Arial"/>
              </a:rPr>
              <a:t>setiap</a:t>
            </a:r>
            <a:r>
              <a:rPr lang="en-US" sz="1600" dirty="0">
                <a:latin typeface="Arial"/>
                <a:ea typeface="Arial"/>
                <a:cs typeface="Arial"/>
                <a:sym typeface="Arial"/>
              </a:rPr>
              <a:t> </a:t>
            </a:r>
            <a:r>
              <a:rPr lang="en-US" sz="1600" dirty="0" err="1">
                <a:latin typeface="Arial"/>
                <a:ea typeface="Arial"/>
                <a:cs typeface="Arial"/>
                <a:sym typeface="Arial"/>
              </a:rPr>
              <a:t>jenis</a:t>
            </a:r>
            <a:r>
              <a:rPr lang="en-US" sz="1600" dirty="0">
                <a:latin typeface="Arial"/>
                <a:ea typeface="Arial"/>
                <a:cs typeface="Arial"/>
                <a:sym typeface="Arial"/>
              </a:rPr>
              <a:t> </a:t>
            </a:r>
            <a:r>
              <a:rPr lang="en-US" sz="1600" dirty="0" err="1">
                <a:latin typeface="Arial"/>
                <a:ea typeface="Arial"/>
                <a:cs typeface="Arial"/>
                <a:sym typeface="Arial"/>
              </a:rPr>
              <a:t>kategori</a:t>
            </a:r>
            <a:r>
              <a:rPr lang="en-US" sz="1600" dirty="0">
                <a:latin typeface="Arial"/>
                <a:ea typeface="Arial"/>
                <a:cs typeface="Arial"/>
                <a:sym typeface="Arial"/>
              </a:rPr>
              <a:t> </a:t>
            </a:r>
            <a:r>
              <a:rPr lang="en-US" sz="1600" dirty="0" err="1">
                <a:latin typeface="Arial"/>
                <a:ea typeface="Arial"/>
                <a:cs typeface="Arial"/>
                <a:sym typeface="Arial"/>
              </a:rPr>
              <a:t>dalam</a:t>
            </a:r>
            <a:r>
              <a:rPr lang="en-US" sz="1600" dirty="0">
                <a:latin typeface="Arial"/>
                <a:ea typeface="Arial"/>
                <a:cs typeface="Arial"/>
                <a:sym typeface="Arial"/>
              </a:rPr>
              <a:t> dataset </a:t>
            </a:r>
            <a:r>
              <a:rPr lang="en-US" sz="1600" dirty="0" err="1">
                <a:latin typeface="Arial"/>
                <a:ea typeface="Arial"/>
                <a:cs typeface="Arial"/>
                <a:sym typeface="Arial"/>
              </a:rPr>
              <a:t>berbanding</a:t>
            </a:r>
            <a:r>
              <a:rPr lang="en-US" sz="1600" dirty="0">
                <a:latin typeface="Arial"/>
                <a:ea typeface="Arial"/>
                <a:cs typeface="Arial"/>
                <a:sym typeface="Arial"/>
              </a:rPr>
              <a:t> </a:t>
            </a:r>
            <a:r>
              <a:rPr lang="en-US" sz="1600" dirty="0" err="1">
                <a:latin typeface="Arial"/>
                <a:ea typeface="Arial"/>
                <a:cs typeface="Arial"/>
                <a:sym typeface="Arial"/>
              </a:rPr>
              <a:t>dengan</a:t>
            </a:r>
            <a:r>
              <a:rPr lang="en-US" sz="1600" dirty="0">
                <a:latin typeface="Arial"/>
                <a:ea typeface="Arial"/>
                <a:cs typeface="Arial"/>
                <a:sym typeface="Arial"/>
              </a:rPr>
              <a:t> </a:t>
            </a:r>
            <a:r>
              <a:rPr lang="en-US" sz="1600" dirty="0" err="1">
                <a:latin typeface="Arial"/>
                <a:ea typeface="Arial"/>
                <a:cs typeface="Arial"/>
                <a:sym typeface="Arial"/>
              </a:rPr>
              <a:t>keseluruhan</a:t>
            </a:r>
            <a:r>
              <a:rPr lang="en-US" sz="1600" dirty="0">
                <a:latin typeface="Arial"/>
                <a:ea typeface="Arial"/>
                <a:cs typeface="Arial"/>
                <a:sym typeface="Arial"/>
              </a:rPr>
              <a:t>. </a:t>
            </a:r>
          </a:p>
        </p:txBody>
      </p:sp>
      <p:pic>
        <p:nvPicPr>
          <p:cNvPr id="4" name="Google Shape;218;p43">
            <a:extLst>
              <a:ext uri="{FF2B5EF4-FFF2-40B4-BE49-F238E27FC236}">
                <a16:creationId xmlns:a16="http://schemas.microsoft.com/office/drawing/2014/main" id="{B5745133-FC95-862A-598D-A6E8B75FD3C3}"/>
              </a:ext>
            </a:extLst>
          </p:cNvPr>
          <p:cNvPicPr preferRelativeResize="0"/>
          <p:nvPr/>
        </p:nvPicPr>
        <p:blipFill rotWithShape="1">
          <a:blip r:embed="rId3">
            <a:alphaModFix/>
          </a:blip>
          <a:srcRect/>
          <a:stretch/>
        </p:blipFill>
        <p:spPr>
          <a:xfrm>
            <a:off x="381000" y="1210135"/>
            <a:ext cx="3505200" cy="2943225"/>
          </a:xfrm>
          <a:prstGeom prst="rect">
            <a:avLst/>
          </a:prstGeom>
          <a:noFill/>
          <a:ln>
            <a:noFill/>
          </a:ln>
        </p:spPr>
      </p:pic>
      <p:pic>
        <p:nvPicPr>
          <p:cNvPr id="5" name="Google Shape;249;p44" descr="Chart, histogram&#10;&#10;Description automatically generated">
            <a:extLst>
              <a:ext uri="{FF2B5EF4-FFF2-40B4-BE49-F238E27FC236}">
                <a16:creationId xmlns:a16="http://schemas.microsoft.com/office/drawing/2014/main" id="{6956C856-8157-AFC2-464D-EBD03C365E66}"/>
              </a:ext>
            </a:extLst>
          </p:cNvPr>
          <p:cNvPicPr preferRelativeResize="0"/>
          <p:nvPr/>
        </p:nvPicPr>
        <p:blipFill rotWithShape="1">
          <a:blip r:embed="rId4">
            <a:alphaModFix/>
          </a:blip>
          <a:srcRect/>
          <a:stretch/>
        </p:blipFill>
        <p:spPr>
          <a:xfrm>
            <a:off x="4044938" y="1210136"/>
            <a:ext cx="3505200" cy="3297188"/>
          </a:xfrm>
          <a:prstGeom prst="rect">
            <a:avLst/>
          </a:prstGeom>
          <a:noFill/>
          <a:ln>
            <a:noFill/>
          </a:ln>
        </p:spPr>
      </p:pic>
      <p:sp>
        <p:nvSpPr>
          <p:cNvPr id="7" name="TextBox 6">
            <a:extLst>
              <a:ext uri="{FF2B5EF4-FFF2-40B4-BE49-F238E27FC236}">
                <a16:creationId xmlns:a16="http://schemas.microsoft.com/office/drawing/2014/main" id="{748A827B-8D9A-F7C7-4530-8D0056E74872}"/>
              </a:ext>
            </a:extLst>
          </p:cNvPr>
          <p:cNvSpPr txBox="1"/>
          <p:nvPr/>
        </p:nvSpPr>
        <p:spPr>
          <a:xfrm>
            <a:off x="3805083" y="4507324"/>
            <a:ext cx="3745055" cy="1200842"/>
          </a:xfrm>
          <a:prstGeom prst="rect">
            <a:avLst/>
          </a:prstGeom>
          <a:noFill/>
        </p:spPr>
        <p:txBody>
          <a:bodyPr wrap="square">
            <a:spAutoFit/>
          </a:bodyPr>
          <a:lstStyle/>
          <a:p>
            <a:pPr marL="457200" lvl="0" indent="-333661" algn="l" rtl="0">
              <a:lnSpc>
                <a:spcPct val="115000"/>
              </a:lnSpc>
              <a:spcBef>
                <a:spcPts val="0"/>
              </a:spcBef>
              <a:spcAft>
                <a:spcPts val="0"/>
              </a:spcAft>
              <a:buClr>
                <a:schemeClr val="dk1"/>
              </a:buClr>
              <a:buSzPct val="92664"/>
              <a:buChar char="●"/>
            </a:pPr>
            <a:r>
              <a:rPr lang="en-US" sz="1600" b="1" dirty="0">
                <a:latin typeface="Arial"/>
                <a:ea typeface="Arial"/>
                <a:cs typeface="Arial"/>
                <a:sym typeface="Arial"/>
              </a:rPr>
              <a:t>Bar Chart</a:t>
            </a:r>
            <a:r>
              <a:rPr lang="en-US" sz="1600" dirty="0">
                <a:latin typeface="Arial"/>
                <a:ea typeface="Arial"/>
                <a:cs typeface="Arial"/>
                <a:sym typeface="Arial"/>
              </a:rPr>
              <a:t> </a:t>
            </a:r>
            <a:r>
              <a:rPr lang="en-US" sz="1600" dirty="0" err="1">
                <a:latin typeface="Arial"/>
                <a:ea typeface="Arial"/>
                <a:cs typeface="Arial"/>
                <a:sym typeface="Arial"/>
              </a:rPr>
              <a:t>adalah</a:t>
            </a:r>
            <a:r>
              <a:rPr lang="en-US" sz="1600" dirty="0">
                <a:latin typeface="Arial"/>
                <a:ea typeface="Arial"/>
                <a:cs typeface="Arial"/>
                <a:sym typeface="Arial"/>
              </a:rPr>
              <a:t> </a:t>
            </a:r>
            <a:r>
              <a:rPr lang="en-US" sz="1600" dirty="0" err="1">
                <a:latin typeface="Arial"/>
                <a:ea typeface="Arial"/>
                <a:cs typeface="Arial"/>
                <a:sym typeface="Arial"/>
              </a:rPr>
              <a:t>merupakan</a:t>
            </a:r>
            <a:r>
              <a:rPr lang="en-US" sz="1600" dirty="0">
                <a:latin typeface="Arial"/>
                <a:ea typeface="Arial"/>
                <a:cs typeface="Arial"/>
                <a:sym typeface="Arial"/>
              </a:rPr>
              <a:t> tools </a:t>
            </a:r>
            <a:r>
              <a:rPr lang="en-US" sz="1600" dirty="0" err="1">
                <a:latin typeface="Arial"/>
                <a:ea typeface="Arial"/>
                <a:cs typeface="Arial"/>
                <a:sym typeface="Arial"/>
              </a:rPr>
              <a:t>visualisasi</a:t>
            </a:r>
            <a:r>
              <a:rPr lang="en-US" sz="1600" dirty="0">
                <a:latin typeface="Arial"/>
                <a:ea typeface="Arial"/>
                <a:cs typeface="Arial"/>
                <a:sym typeface="Arial"/>
              </a:rPr>
              <a:t> yang </a:t>
            </a:r>
            <a:r>
              <a:rPr lang="en-US" sz="1600" dirty="0" err="1">
                <a:latin typeface="Arial"/>
                <a:ea typeface="Arial"/>
                <a:cs typeface="Arial"/>
                <a:sym typeface="Arial"/>
              </a:rPr>
              <a:t>dapat</a:t>
            </a:r>
            <a:r>
              <a:rPr lang="en-US" sz="1600" dirty="0">
                <a:latin typeface="Arial"/>
                <a:ea typeface="Arial"/>
                <a:cs typeface="Arial"/>
                <a:sym typeface="Arial"/>
              </a:rPr>
              <a:t> </a:t>
            </a:r>
            <a:r>
              <a:rPr lang="en-US" sz="1600" dirty="0" err="1">
                <a:latin typeface="Arial"/>
                <a:ea typeface="Arial"/>
                <a:cs typeface="Arial"/>
                <a:sym typeface="Arial"/>
              </a:rPr>
              <a:t>digunakan</a:t>
            </a:r>
            <a:r>
              <a:rPr lang="en-US" sz="1600" dirty="0">
                <a:latin typeface="Arial"/>
                <a:ea typeface="Arial"/>
                <a:cs typeface="Arial"/>
                <a:sym typeface="Arial"/>
              </a:rPr>
              <a:t> </a:t>
            </a:r>
            <a:r>
              <a:rPr lang="en-US" sz="1600" dirty="0" err="1">
                <a:latin typeface="Arial"/>
                <a:ea typeface="Arial"/>
                <a:cs typeface="Arial"/>
                <a:sym typeface="Arial"/>
              </a:rPr>
              <a:t>untuk</a:t>
            </a:r>
            <a:r>
              <a:rPr lang="en-US" sz="1600" dirty="0">
                <a:latin typeface="Arial"/>
                <a:ea typeface="Arial"/>
                <a:cs typeface="Arial"/>
                <a:sym typeface="Arial"/>
              </a:rPr>
              <a:t> </a:t>
            </a:r>
            <a:r>
              <a:rPr lang="en-US" sz="1600" dirty="0" err="1">
                <a:latin typeface="Arial"/>
                <a:ea typeface="Arial"/>
                <a:cs typeface="Arial"/>
                <a:sym typeface="Arial"/>
              </a:rPr>
              <a:t>membandingkan</a:t>
            </a:r>
            <a:r>
              <a:rPr lang="en-US" sz="1600" dirty="0">
                <a:latin typeface="Arial"/>
                <a:ea typeface="Arial"/>
                <a:cs typeface="Arial"/>
                <a:sym typeface="Arial"/>
              </a:rPr>
              <a:t> data </a:t>
            </a:r>
            <a:r>
              <a:rPr lang="en-US" sz="1600" dirty="0" err="1">
                <a:latin typeface="Arial"/>
                <a:ea typeface="Arial"/>
                <a:cs typeface="Arial"/>
                <a:sym typeface="Arial"/>
              </a:rPr>
              <a:t>kategorikal</a:t>
            </a:r>
            <a:r>
              <a:rPr lang="en-US" sz="1600" dirty="0">
                <a:latin typeface="Arial"/>
                <a:ea typeface="Arial"/>
                <a:cs typeface="Arial"/>
                <a:sym typeface="Arial"/>
              </a:rPr>
              <a:t>. </a:t>
            </a:r>
          </a:p>
        </p:txBody>
      </p:sp>
      <p:pic>
        <p:nvPicPr>
          <p:cNvPr id="8" name="Google Shape;288;p46" descr="Chart, line chart&#10;&#10;Description automatically generated">
            <a:extLst>
              <a:ext uri="{FF2B5EF4-FFF2-40B4-BE49-F238E27FC236}">
                <a16:creationId xmlns:a16="http://schemas.microsoft.com/office/drawing/2014/main" id="{0333D3DC-A9DA-5E8F-CA27-2FBC60C5E984}"/>
              </a:ext>
            </a:extLst>
          </p:cNvPr>
          <p:cNvPicPr preferRelativeResize="0"/>
          <p:nvPr/>
        </p:nvPicPr>
        <p:blipFill rotWithShape="1">
          <a:blip r:embed="rId5">
            <a:alphaModFix/>
          </a:blip>
          <a:srcRect/>
          <a:stretch/>
        </p:blipFill>
        <p:spPr>
          <a:xfrm>
            <a:off x="7625502" y="1099286"/>
            <a:ext cx="4109298" cy="3054074"/>
          </a:xfrm>
          <a:prstGeom prst="rect">
            <a:avLst/>
          </a:prstGeom>
          <a:noFill/>
          <a:ln>
            <a:noFill/>
          </a:ln>
        </p:spPr>
      </p:pic>
      <p:sp>
        <p:nvSpPr>
          <p:cNvPr id="10" name="TextBox 9">
            <a:extLst>
              <a:ext uri="{FF2B5EF4-FFF2-40B4-BE49-F238E27FC236}">
                <a16:creationId xmlns:a16="http://schemas.microsoft.com/office/drawing/2014/main" id="{FC467985-A110-C0E3-4163-7FBB3DEAA950}"/>
              </a:ext>
            </a:extLst>
          </p:cNvPr>
          <p:cNvSpPr txBox="1"/>
          <p:nvPr/>
        </p:nvSpPr>
        <p:spPr>
          <a:xfrm>
            <a:off x="7625502" y="4486458"/>
            <a:ext cx="4394634" cy="923523"/>
          </a:xfrm>
          <a:prstGeom prst="rect">
            <a:avLst/>
          </a:prstGeom>
          <a:noFill/>
        </p:spPr>
        <p:txBody>
          <a:bodyPr wrap="square">
            <a:spAutoFit/>
          </a:bodyPr>
          <a:lstStyle/>
          <a:p>
            <a:pPr marL="457200" lvl="0" indent="-323850" algn="l" rtl="0">
              <a:lnSpc>
                <a:spcPct val="115000"/>
              </a:lnSpc>
              <a:spcBef>
                <a:spcPts val="0"/>
              </a:spcBef>
              <a:spcAft>
                <a:spcPts val="0"/>
              </a:spcAft>
              <a:buClr>
                <a:schemeClr val="dk1"/>
              </a:buClr>
              <a:buSzPts val="1500"/>
              <a:buChar char="●"/>
            </a:pPr>
            <a:r>
              <a:rPr lang="en-US" sz="1600" b="1" dirty="0">
                <a:latin typeface="Arial"/>
                <a:ea typeface="Arial"/>
                <a:cs typeface="Arial"/>
                <a:sym typeface="Arial"/>
              </a:rPr>
              <a:t>Line Graph </a:t>
            </a:r>
            <a:r>
              <a:rPr lang="en-US" sz="1600" dirty="0" err="1">
                <a:latin typeface="Arial"/>
                <a:ea typeface="Arial"/>
                <a:cs typeface="Arial"/>
                <a:sym typeface="Arial"/>
              </a:rPr>
              <a:t>berguna</a:t>
            </a:r>
            <a:r>
              <a:rPr lang="en-US" sz="1600" dirty="0">
                <a:latin typeface="Arial"/>
                <a:ea typeface="Arial"/>
                <a:cs typeface="Arial"/>
                <a:sym typeface="Arial"/>
              </a:rPr>
              <a:t> </a:t>
            </a:r>
            <a:r>
              <a:rPr lang="en-US" sz="1600" dirty="0" err="1">
                <a:latin typeface="Arial"/>
                <a:ea typeface="Arial"/>
                <a:cs typeface="Arial"/>
                <a:sym typeface="Arial"/>
              </a:rPr>
              <a:t>untuk</a:t>
            </a:r>
            <a:r>
              <a:rPr lang="en-US" sz="1600" dirty="0">
                <a:latin typeface="Arial"/>
                <a:ea typeface="Arial"/>
                <a:cs typeface="Arial"/>
                <a:sym typeface="Arial"/>
              </a:rPr>
              <a:t> </a:t>
            </a:r>
            <a:r>
              <a:rPr lang="en-US" sz="1600" dirty="0" err="1">
                <a:latin typeface="Arial"/>
                <a:ea typeface="Arial"/>
                <a:cs typeface="Arial"/>
                <a:sym typeface="Arial"/>
              </a:rPr>
              <a:t>menunjukkan</a:t>
            </a:r>
            <a:r>
              <a:rPr lang="en-US" sz="1600" dirty="0">
                <a:latin typeface="Arial"/>
                <a:ea typeface="Arial"/>
                <a:cs typeface="Arial"/>
                <a:sym typeface="Arial"/>
              </a:rPr>
              <a:t> </a:t>
            </a:r>
            <a:r>
              <a:rPr lang="en-US" sz="1600" dirty="0" err="1">
                <a:latin typeface="Arial"/>
                <a:ea typeface="Arial"/>
                <a:cs typeface="Arial"/>
                <a:sym typeface="Arial"/>
              </a:rPr>
              <a:t>bagaimana</a:t>
            </a:r>
            <a:r>
              <a:rPr lang="en-US" sz="1600" dirty="0">
                <a:latin typeface="Arial"/>
                <a:ea typeface="Arial"/>
                <a:cs typeface="Arial"/>
                <a:sym typeface="Arial"/>
              </a:rPr>
              <a:t> </a:t>
            </a:r>
            <a:r>
              <a:rPr lang="en-US" sz="1600" dirty="0" err="1">
                <a:latin typeface="Arial"/>
                <a:ea typeface="Arial"/>
                <a:cs typeface="Arial"/>
                <a:sym typeface="Arial"/>
              </a:rPr>
              <a:t>kemajuan</a:t>
            </a:r>
            <a:r>
              <a:rPr lang="en-US" sz="1600" dirty="0">
                <a:latin typeface="Arial"/>
                <a:ea typeface="Arial"/>
                <a:cs typeface="Arial"/>
                <a:sym typeface="Arial"/>
              </a:rPr>
              <a:t> data </a:t>
            </a:r>
            <a:r>
              <a:rPr lang="en-US" sz="1600" dirty="0" err="1">
                <a:latin typeface="Arial"/>
                <a:ea typeface="Arial"/>
                <a:cs typeface="Arial"/>
                <a:sym typeface="Arial"/>
              </a:rPr>
              <a:t>selama</a:t>
            </a:r>
            <a:r>
              <a:rPr lang="en-US" sz="1600" dirty="0">
                <a:latin typeface="Arial"/>
                <a:ea typeface="Arial"/>
                <a:cs typeface="Arial"/>
                <a:sym typeface="Arial"/>
              </a:rPr>
              <a:t> </a:t>
            </a:r>
            <a:r>
              <a:rPr lang="en-US" sz="1600" dirty="0" err="1">
                <a:latin typeface="Arial"/>
                <a:ea typeface="Arial"/>
                <a:cs typeface="Arial"/>
                <a:sym typeface="Arial"/>
              </a:rPr>
              <a:t>beberapa</a:t>
            </a:r>
            <a:r>
              <a:rPr lang="en-US" sz="1600" dirty="0">
                <a:latin typeface="Arial"/>
                <a:ea typeface="Arial"/>
                <a:cs typeface="Arial"/>
                <a:sym typeface="Arial"/>
              </a:rPr>
              <a:t> </a:t>
            </a:r>
            <a:r>
              <a:rPr lang="en-US" sz="1600" dirty="0" err="1">
                <a:latin typeface="Arial"/>
                <a:ea typeface="Arial"/>
                <a:cs typeface="Arial"/>
                <a:sym typeface="Arial"/>
              </a:rPr>
              <a:t>periode</a:t>
            </a:r>
            <a:r>
              <a:rPr lang="en-US" sz="1600" dirty="0">
                <a:latin typeface="Arial"/>
                <a:ea typeface="Arial"/>
                <a:cs typeface="Arial"/>
                <a:sym typeface="Arial"/>
              </a:rPr>
              <a:t>. </a:t>
            </a:r>
            <a:endParaRPr lang="en-US" sz="1600" dirty="0"/>
          </a:p>
        </p:txBody>
      </p:sp>
    </p:spTree>
    <p:extLst>
      <p:ext uri="{BB962C8B-B14F-4D97-AF65-F5344CB8AC3E}">
        <p14:creationId xmlns:p14="http://schemas.microsoft.com/office/powerpoint/2010/main" val="2028435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413;p52">
            <a:extLst>
              <a:ext uri="{FF2B5EF4-FFF2-40B4-BE49-F238E27FC236}">
                <a16:creationId xmlns:a16="http://schemas.microsoft.com/office/drawing/2014/main" id="{9598A029-36AC-DD93-D8B2-390C3CDED6DB}"/>
              </a:ext>
            </a:extLst>
          </p:cNvPr>
          <p:cNvPicPr preferRelativeResize="0"/>
          <p:nvPr/>
        </p:nvPicPr>
        <p:blipFill rotWithShape="1">
          <a:blip r:embed="rId2">
            <a:alphaModFix/>
          </a:blip>
          <a:srcRect/>
          <a:stretch/>
        </p:blipFill>
        <p:spPr>
          <a:xfrm>
            <a:off x="257964" y="248899"/>
            <a:ext cx="4675505" cy="3351530"/>
          </a:xfrm>
          <a:prstGeom prst="rect">
            <a:avLst/>
          </a:prstGeom>
          <a:noFill/>
          <a:ln>
            <a:noFill/>
          </a:ln>
        </p:spPr>
      </p:pic>
      <p:sp>
        <p:nvSpPr>
          <p:cNvPr id="4" name="TextBox 3">
            <a:extLst>
              <a:ext uri="{FF2B5EF4-FFF2-40B4-BE49-F238E27FC236}">
                <a16:creationId xmlns:a16="http://schemas.microsoft.com/office/drawing/2014/main" id="{EFADABBC-8AC8-3DEE-E717-2E461A7983E4}"/>
              </a:ext>
            </a:extLst>
          </p:cNvPr>
          <p:cNvSpPr txBox="1"/>
          <p:nvPr/>
        </p:nvSpPr>
        <p:spPr>
          <a:xfrm>
            <a:off x="412955" y="4047300"/>
            <a:ext cx="4306529" cy="1754326"/>
          </a:xfrm>
          <a:prstGeom prst="rect">
            <a:avLst/>
          </a:prstGeom>
          <a:noFill/>
        </p:spPr>
        <p:txBody>
          <a:bodyPr wrap="square">
            <a:spAutoFit/>
          </a:bodyPr>
          <a:lstStyle/>
          <a:p>
            <a:r>
              <a:rPr lang="id" b="1" dirty="0">
                <a:latin typeface="Arial"/>
                <a:ea typeface="Arial"/>
                <a:cs typeface="Arial"/>
                <a:sym typeface="Arial"/>
              </a:rPr>
              <a:t>Histogram </a:t>
            </a:r>
            <a:r>
              <a:rPr lang="id" dirty="0">
                <a:latin typeface="Arial"/>
                <a:ea typeface="Arial"/>
                <a:cs typeface="Arial"/>
                <a:sym typeface="Arial"/>
              </a:rPr>
              <a:t>adalah salah satu visualisasi yang cukup penting dalam memahami distribusi pada data kita. Pandas Histogram menyediakan method yang memudahkan kita untuk membuat histogram</a:t>
            </a:r>
            <a:endParaRPr lang="en-US" sz="1400" dirty="0"/>
          </a:p>
        </p:txBody>
      </p:sp>
      <p:pic>
        <p:nvPicPr>
          <p:cNvPr id="5" name="Google Shape;380;p50" descr="Background pattern&#10;&#10;Description automatically generated">
            <a:extLst>
              <a:ext uri="{FF2B5EF4-FFF2-40B4-BE49-F238E27FC236}">
                <a16:creationId xmlns:a16="http://schemas.microsoft.com/office/drawing/2014/main" id="{1AB19A1A-82EF-6244-8931-5F8B22C1BE63}"/>
              </a:ext>
            </a:extLst>
          </p:cNvPr>
          <p:cNvPicPr preferRelativeResize="0"/>
          <p:nvPr/>
        </p:nvPicPr>
        <p:blipFill rotWithShape="1">
          <a:blip r:embed="rId3">
            <a:alphaModFix/>
          </a:blip>
          <a:srcRect/>
          <a:stretch/>
        </p:blipFill>
        <p:spPr>
          <a:xfrm>
            <a:off x="5630965" y="400029"/>
            <a:ext cx="5000625" cy="3200400"/>
          </a:xfrm>
          <a:prstGeom prst="rect">
            <a:avLst/>
          </a:prstGeom>
          <a:noFill/>
          <a:ln>
            <a:noFill/>
          </a:ln>
        </p:spPr>
      </p:pic>
      <p:sp>
        <p:nvSpPr>
          <p:cNvPr id="7" name="TextBox 6">
            <a:extLst>
              <a:ext uri="{FF2B5EF4-FFF2-40B4-BE49-F238E27FC236}">
                <a16:creationId xmlns:a16="http://schemas.microsoft.com/office/drawing/2014/main" id="{1B668054-CF6D-79D7-5925-6801999BECF2}"/>
              </a:ext>
            </a:extLst>
          </p:cNvPr>
          <p:cNvSpPr txBox="1"/>
          <p:nvPr/>
        </p:nvSpPr>
        <p:spPr>
          <a:xfrm>
            <a:off x="5810865" y="4047300"/>
            <a:ext cx="4395019" cy="1339469"/>
          </a:xfrm>
          <a:prstGeom prst="rect">
            <a:avLst/>
          </a:prstGeom>
          <a:noFill/>
        </p:spPr>
        <p:txBody>
          <a:bodyPr wrap="square">
            <a:spAutoFit/>
          </a:bodyPr>
          <a:lstStyle/>
          <a:p>
            <a:pPr marL="457200" lvl="0" indent="-323850" algn="l" rtl="0">
              <a:lnSpc>
                <a:spcPct val="115000"/>
              </a:lnSpc>
              <a:spcBef>
                <a:spcPts val="0"/>
              </a:spcBef>
              <a:spcAft>
                <a:spcPts val="0"/>
              </a:spcAft>
              <a:buClr>
                <a:schemeClr val="dk1"/>
              </a:buClr>
              <a:buSzPts val="1500"/>
              <a:buChar char="●"/>
            </a:pPr>
            <a:r>
              <a:rPr lang="en-US" sz="1800" b="1" dirty="0">
                <a:latin typeface="Arial"/>
                <a:ea typeface="Arial"/>
                <a:cs typeface="Arial"/>
                <a:sym typeface="Arial"/>
              </a:rPr>
              <a:t>Heatmap </a:t>
            </a:r>
            <a:r>
              <a:rPr lang="en-US" sz="1800" dirty="0" err="1">
                <a:latin typeface="Arial"/>
                <a:ea typeface="Arial"/>
                <a:cs typeface="Arial"/>
                <a:sym typeface="Arial"/>
              </a:rPr>
              <a:t>adalah</a:t>
            </a:r>
            <a:r>
              <a:rPr lang="en-US" sz="1800" dirty="0">
                <a:latin typeface="Arial"/>
                <a:ea typeface="Arial"/>
                <a:cs typeface="Arial"/>
                <a:sym typeface="Arial"/>
              </a:rPr>
              <a:t> </a:t>
            </a:r>
            <a:r>
              <a:rPr lang="en-US" sz="1800" dirty="0" err="1">
                <a:latin typeface="Arial"/>
                <a:ea typeface="Arial"/>
                <a:cs typeface="Arial"/>
                <a:sym typeface="Arial"/>
              </a:rPr>
              <a:t>jenis</a:t>
            </a:r>
            <a:r>
              <a:rPr lang="en-US" sz="1800" dirty="0">
                <a:latin typeface="Arial"/>
                <a:ea typeface="Arial"/>
                <a:cs typeface="Arial"/>
                <a:sym typeface="Arial"/>
              </a:rPr>
              <a:t> </a:t>
            </a:r>
            <a:r>
              <a:rPr lang="en-US" sz="1800" dirty="0" err="1">
                <a:latin typeface="Arial"/>
                <a:ea typeface="Arial"/>
                <a:cs typeface="Arial"/>
                <a:sym typeface="Arial"/>
              </a:rPr>
              <a:t>visualisasi</a:t>
            </a:r>
            <a:r>
              <a:rPr lang="en-US" sz="1800" dirty="0">
                <a:latin typeface="Arial"/>
                <a:ea typeface="Arial"/>
                <a:cs typeface="Arial"/>
                <a:sym typeface="Arial"/>
              </a:rPr>
              <a:t> yang </a:t>
            </a:r>
            <a:r>
              <a:rPr lang="en-US" sz="1800" dirty="0" err="1">
                <a:latin typeface="Arial"/>
                <a:ea typeface="Arial"/>
                <a:cs typeface="Arial"/>
                <a:sym typeface="Arial"/>
              </a:rPr>
              <a:t>menggunakan</a:t>
            </a:r>
            <a:r>
              <a:rPr lang="en-US" sz="1800" dirty="0">
                <a:latin typeface="Arial"/>
                <a:ea typeface="Arial"/>
                <a:cs typeface="Arial"/>
                <a:sym typeface="Arial"/>
              </a:rPr>
              <a:t> </a:t>
            </a:r>
            <a:r>
              <a:rPr lang="en-US" sz="1800" dirty="0" err="1">
                <a:latin typeface="Arial"/>
                <a:ea typeface="Arial"/>
                <a:cs typeface="Arial"/>
                <a:sym typeface="Arial"/>
              </a:rPr>
              <a:t>kode</a:t>
            </a:r>
            <a:r>
              <a:rPr lang="en-US" sz="1800" dirty="0">
                <a:latin typeface="Arial"/>
                <a:ea typeface="Arial"/>
                <a:cs typeface="Arial"/>
                <a:sym typeface="Arial"/>
              </a:rPr>
              <a:t> </a:t>
            </a:r>
            <a:r>
              <a:rPr lang="en-US" sz="1800" dirty="0" err="1">
                <a:latin typeface="Arial"/>
                <a:ea typeface="Arial"/>
                <a:cs typeface="Arial"/>
                <a:sym typeface="Arial"/>
              </a:rPr>
              <a:t>warna</a:t>
            </a:r>
            <a:r>
              <a:rPr lang="en-US" sz="1800" dirty="0">
                <a:latin typeface="Arial"/>
                <a:ea typeface="Arial"/>
                <a:cs typeface="Arial"/>
                <a:sym typeface="Arial"/>
              </a:rPr>
              <a:t> </a:t>
            </a:r>
            <a:r>
              <a:rPr lang="en-US" sz="1800" dirty="0" err="1">
                <a:latin typeface="Arial"/>
                <a:ea typeface="Arial"/>
                <a:cs typeface="Arial"/>
                <a:sym typeface="Arial"/>
              </a:rPr>
              <a:t>untuk</a:t>
            </a:r>
            <a:r>
              <a:rPr lang="en-US" sz="1800" dirty="0">
                <a:latin typeface="Arial"/>
                <a:ea typeface="Arial"/>
                <a:cs typeface="Arial"/>
                <a:sym typeface="Arial"/>
              </a:rPr>
              <a:t> </a:t>
            </a:r>
            <a:r>
              <a:rPr lang="en-US" sz="1800" dirty="0" err="1">
                <a:latin typeface="Arial"/>
                <a:ea typeface="Arial"/>
                <a:cs typeface="Arial"/>
                <a:sym typeface="Arial"/>
              </a:rPr>
              <a:t>mewakili</a:t>
            </a:r>
            <a:r>
              <a:rPr lang="en-US" sz="1800" dirty="0">
                <a:latin typeface="Arial"/>
                <a:ea typeface="Arial"/>
                <a:cs typeface="Arial"/>
                <a:sym typeface="Arial"/>
              </a:rPr>
              <a:t> </a:t>
            </a:r>
            <a:r>
              <a:rPr lang="en-US" sz="1800" dirty="0" err="1">
                <a:latin typeface="Arial"/>
                <a:ea typeface="Arial"/>
                <a:cs typeface="Arial"/>
                <a:sym typeface="Arial"/>
              </a:rPr>
              <a:t>nilai</a:t>
            </a:r>
            <a:r>
              <a:rPr lang="en-US" sz="1800" dirty="0">
                <a:latin typeface="Arial"/>
                <a:ea typeface="Arial"/>
                <a:cs typeface="Arial"/>
                <a:sym typeface="Arial"/>
              </a:rPr>
              <a:t> / </a:t>
            </a:r>
            <a:r>
              <a:rPr lang="en-US" sz="1800" dirty="0" err="1">
                <a:latin typeface="Arial"/>
                <a:ea typeface="Arial"/>
                <a:cs typeface="Arial"/>
                <a:sym typeface="Arial"/>
              </a:rPr>
              <a:t>kepadatan</a:t>
            </a:r>
            <a:r>
              <a:rPr lang="en-US" sz="1800" dirty="0">
                <a:latin typeface="Arial"/>
                <a:ea typeface="Arial"/>
                <a:cs typeface="Arial"/>
                <a:sym typeface="Arial"/>
              </a:rPr>
              <a:t> </a:t>
            </a:r>
            <a:r>
              <a:rPr lang="en-US" sz="1800" dirty="0" err="1">
                <a:latin typeface="Arial"/>
                <a:ea typeface="Arial"/>
                <a:cs typeface="Arial"/>
                <a:sym typeface="Arial"/>
              </a:rPr>
              <a:t>relatif</a:t>
            </a:r>
            <a:r>
              <a:rPr lang="en-US" sz="1800" dirty="0">
                <a:latin typeface="Arial"/>
                <a:ea typeface="Arial"/>
                <a:cs typeface="Arial"/>
                <a:sym typeface="Arial"/>
              </a:rPr>
              <a:t> data di </a:t>
            </a:r>
            <a:r>
              <a:rPr lang="en-US" sz="1800" dirty="0" err="1">
                <a:latin typeface="Arial"/>
                <a:ea typeface="Arial"/>
                <a:cs typeface="Arial"/>
                <a:sym typeface="Arial"/>
              </a:rPr>
              <a:t>seluruh</a:t>
            </a:r>
            <a:r>
              <a:rPr lang="en-US" sz="1800" dirty="0">
                <a:latin typeface="Arial"/>
                <a:ea typeface="Arial"/>
                <a:cs typeface="Arial"/>
                <a:sym typeface="Arial"/>
              </a:rPr>
              <a:t> </a:t>
            </a:r>
            <a:r>
              <a:rPr lang="en-US" sz="1800" dirty="0" err="1">
                <a:latin typeface="Arial"/>
                <a:ea typeface="Arial"/>
                <a:cs typeface="Arial"/>
                <a:sym typeface="Arial"/>
              </a:rPr>
              <a:t>permukaan</a:t>
            </a:r>
            <a:r>
              <a:rPr lang="en-US" sz="1800" dirty="0">
                <a:latin typeface="Arial"/>
                <a:ea typeface="Arial"/>
                <a:cs typeface="Arial"/>
                <a:sym typeface="Arial"/>
              </a:rPr>
              <a:t>.</a:t>
            </a:r>
          </a:p>
        </p:txBody>
      </p:sp>
    </p:spTree>
    <p:extLst>
      <p:ext uri="{BB962C8B-B14F-4D97-AF65-F5344CB8AC3E}">
        <p14:creationId xmlns:p14="http://schemas.microsoft.com/office/powerpoint/2010/main" val="404418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5" descr="A screenshot of a cell phone&#10;&#10;Description automatically generated">
            <a:extLst>
              <a:ext uri="{FF2B5EF4-FFF2-40B4-BE49-F238E27FC236}">
                <a16:creationId xmlns:a16="http://schemas.microsoft.com/office/drawing/2014/main" id="{DD809677-BEF6-4888-8BBB-B612235EB477}"/>
              </a:ext>
            </a:extLst>
          </p:cNvPr>
          <p:cNvPicPr>
            <a:picLocks noGrp="1" noChangeAspect="1"/>
          </p:cNvPicPr>
          <p:nvPr/>
        </p:nvPicPr>
        <p:blipFill>
          <a:blip r:embed="rId2">
            <a:extLst>
              <a:ext uri="{28A0092B-C50C-407E-A947-70E740481C1C}">
                <a14:useLocalDpi xmlns:a14="http://schemas.microsoft.com/office/drawing/2010/main" val="0"/>
              </a:ext>
            </a:extLst>
          </a:blip>
          <a:stretch>
            <a:fillRect/>
          </a:stretch>
        </p:blipFill>
        <p:spPr>
          <a:xfrm>
            <a:off x="348358" y="287081"/>
            <a:ext cx="8338441" cy="6443342"/>
          </a:xfrm>
          <a:prstGeom prst="rect">
            <a:avLst/>
          </a:prstGeom>
        </p:spPr>
      </p:pic>
      <p:sp>
        <p:nvSpPr>
          <p:cNvPr id="4" name="TextBox 3">
            <a:extLst>
              <a:ext uri="{FF2B5EF4-FFF2-40B4-BE49-F238E27FC236}">
                <a16:creationId xmlns:a16="http://schemas.microsoft.com/office/drawing/2014/main" id="{C133976E-32CE-10E4-6E34-AFE8BD26A67A}"/>
              </a:ext>
            </a:extLst>
          </p:cNvPr>
          <p:cNvSpPr txBox="1"/>
          <p:nvPr/>
        </p:nvSpPr>
        <p:spPr>
          <a:xfrm>
            <a:off x="8686798" y="2475697"/>
            <a:ext cx="3505201" cy="1815882"/>
          </a:xfrm>
          <a:prstGeom prst="rect">
            <a:avLst/>
          </a:prstGeom>
          <a:noFill/>
        </p:spPr>
        <p:txBody>
          <a:bodyPr wrap="square">
            <a:spAutoFit/>
          </a:bodyPr>
          <a:lstStyle/>
          <a:p>
            <a:r>
              <a:rPr lang="id-ID" sz="2800" dirty="0"/>
              <a:t>Memilih bentuk visualisasi yang sesuai dengan hal yang akan diceritakan</a:t>
            </a:r>
            <a:endParaRPr lang="en-US" sz="2800" dirty="0"/>
          </a:p>
        </p:txBody>
      </p:sp>
    </p:spTree>
    <p:extLst>
      <p:ext uri="{BB962C8B-B14F-4D97-AF65-F5344CB8AC3E}">
        <p14:creationId xmlns:p14="http://schemas.microsoft.com/office/powerpoint/2010/main" val="2201746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76250" y="1036290"/>
            <a:ext cx="11239500" cy="5402609"/>
          </a:xfrm>
          <a:prstGeom prst="rect">
            <a:avLst/>
          </a:prstGeom>
        </p:spPr>
      </p:pic>
      <p:pic>
        <p:nvPicPr>
          <p:cNvPr id="4" name="Picture 3" descr="image.png"/>
          <p:cNvPicPr>
            <a:picLocks noChangeAspect="1"/>
          </p:cNvPicPr>
          <p:nvPr/>
        </p:nvPicPr>
        <p:blipFill>
          <a:blip r:embed="rId4"/>
          <a:stretch>
            <a:fillRect/>
          </a:stretch>
        </p:blipFill>
        <p:spPr>
          <a:xfrm>
            <a:off x="476250" y="6410325"/>
            <a:ext cx="11239500" cy="257175"/>
          </a:xfrm>
          <a:prstGeom prst="rect">
            <a:avLst/>
          </a:prstGeom>
        </p:spPr>
      </p:pic>
      <p:pic>
        <p:nvPicPr>
          <p:cNvPr id="5" name="Picture 4" descr="image.png"/>
          <p:cNvPicPr>
            <a:picLocks noChangeAspect="1"/>
          </p:cNvPicPr>
          <p:nvPr/>
        </p:nvPicPr>
        <p:blipFill>
          <a:blip r:embed="rId5"/>
          <a:stretch>
            <a:fillRect/>
          </a:stretch>
        </p:blipFill>
        <p:spPr>
          <a:xfrm>
            <a:off x="476250" y="479970"/>
            <a:ext cx="261937" cy="266700"/>
          </a:xfrm>
          <a:prstGeom prst="rect">
            <a:avLst/>
          </a:prstGeom>
        </p:spPr>
      </p:pic>
      <p:sp>
        <p:nvSpPr>
          <p:cNvPr id="6" name="TextBox 5"/>
          <p:cNvSpPr txBox="1"/>
          <p:nvPr/>
        </p:nvSpPr>
        <p:spPr>
          <a:xfrm>
            <a:off x="476250" y="2465933"/>
            <a:ext cx="11239500" cy="242887"/>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Histogram Visualisasi Jam Kerja Pekerja (500 Pekerja):</a:t>
            </a:r>
          </a:p>
        </p:txBody>
      </p:sp>
      <p:sp>
        <p:nvSpPr>
          <p:cNvPr id="7" name="TextBox 6"/>
          <p:cNvSpPr txBox="1"/>
          <p:nvPr/>
        </p:nvSpPr>
        <p:spPr>
          <a:xfrm>
            <a:off x="476250" y="4766220"/>
            <a:ext cx="11239500" cy="242887"/>
          </a:xfrm>
          <a:prstGeom prst="rect">
            <a:avLst/>
          </a:prstGeom>
          <a:noFill/>
        </p:spPr>
        <p:txBody>
          <a:bodyPr wrap="square" lIns="161925" tIns="0" rIns="0" bIns="0" anchor="t">
            <a:spAutoFit/>
          </a:bodyPr>
          <a:lstStyle/>
          <a:p>
            <a:pPr algn="l">
              <a:lnSpc>
                <a:spcPts val="1912"/>
              </a:lnSpc>
            </a:pPr>
            <a:r>
              <a:rPr sz="1275" b="0" i="0" u="none">
                <a:solidFill>
                  <a:srgbClr val="EF4444"/>
                </a:solidFill>
                <a:latin typeface="Inter SemiBold"/>
              </a:rPr>
              <a:t>Walaupun mayoritas bekerja 8-10 jam, ada kelompok berisiko tinggi yang bekerja 12-15 jam/hari.</a:t>
            </a:r>
          </a:p>
        </p:txBody>
      </p:sp>
      <p:sp>
        <p:nvSpPr>
          <p:cNvPr id="8" name="TextBox 7"/>
          <p:cNvSpPr txBox="1"/>
          <p:nvPr/>
        </p:nvSpPr>
        <p:spPr>
          <a:xfrm>
            <a:off x="476250" y="6515100"/>
            <a:ext cx="1752600" cy="152400"/>
          </a:xfrm>
          <a:prstGeom prst="rect">
            <a:avLst/>
          </a:prstGeom>
          <a:noFill/>
        </p:spPr>
        <p:txBody>
          <a:bodyPr wrap="square" lIns="0" tIns="0" rIns="0" bIns="0" anchor="t">
            <a:spAutoFit/>
          </a:bodyPr>
          <a:lstStyle/>
          <a:p>
            <a:pPr algn="l"/>
            <a:r>
              <a:rPr sz="975" b="0" i="0" u="none" dirty="0">
                <a:solidFill>
                  <a:srgbClr val="64748B"/>
                </a:solidFill>
                <a:latin typeface="Inter"/>
              </a:rPr>
              <a:t>Materi Data Mining — EDA </a:t>
            </a:r>
          </a:p>
        </p:txBody>
      </p:sp>
      <p:sp>
        <p:nvSpPr>
          <p:cNvPr id="9" name="TextBox 8"/>
          <p:cNvSpPr txBox="1"/>
          <p:nvPr/>
        </p:nvSpPr>
        <p:spPr>
          <a:xfrm>
            <a:off x="10991850" y="6515100"/>
            <a:ext cx="723900" cy="152400"/>
          </a:xfrm>
          <a:prstGeom prst="rect">
            <a:avLst/>
          </a:prstGeom>
          <a:noFill/>
        </p:spPr>
        <p:txBody>
          <a:bodyPr wrap="square" lIns="0" tIns="0" rIns="0" bIns="0" anchor="t">
            <a:spAutoFit/>
          </a:bodyPr>
          <a:lstStyle/>
          <a:p>
            <a:pPr algn="l"/>
            <a:r>
              <a:rPr sz="975" b="0" i="0" u="none">
                <a:solidFill>
                  <a:srgbClr val="64748B"/>
                </a:solidFill>
                <a:latin typeface="Inter"/>
              </a:rPr>
              <a:t>Slide 14 / 38</a:t>
            </a:r>
          </a:p>
        </p:txBody>
      </p:sp>
      <p:pic>
        <p:nvPicPr>
          <p:cNvPr id="10" name="Picture 9" descr="image.png"/>
          <p:cNvPicPr>
            <a:picLocks noChangeAspect="1"/>
          </p:cNvPicPr>
          <p:nvPr/>
        </p:nvPicPr>
        <p:blipFill>
          <a:blip r:embed="rId6"/>
          <a:stretch>
            <a:fillRect/>
          </a:stretch>
        </p:blipFill>
        <p:spPr>
          <a:xfrm>
            <a:off x="476250" y="4794795"/>
            <a:ext cx="161925" cy="161925"/>
          </a:xfrm>
          <a:prstGeom prst="rect">
            <a:avLst/>
          </a:prstGeom>
        </p:spPr>
      </p:pic>
      <p:sp>
        <p:nvSpPr>
          <p:cNvPr id="11" name="TextBox 10"/>
          <p:cNvSpPr txBox="1"/>
          <p:nvPr/>
        </p:nvSpPr>
        <p:spPr>
          <a:xfrm>
            <a:off x="852487" y="419100"/>
            <a:ext cx="11339512" cy="388590"/>
          </a:xfrm>
          <a:prstGeom prst="rect">
            <a:avLst/>
          </a:prstGeom>
          <a:noFill/>
        </p:spPr>
        <p:txBody>
          <a:bodyPr wrap="square" lIns="0" tIns="0" rIns="0" bIns="0" anchor="ctr">
            <a:spAutoFit/>
          </a:bodyPr>
          <a:lstStyle/>
          <a:p>
            <a:pPr algn="l">
              <a:lnSpc>
                <a:spcPts val="3060"/>
              </a:lnSpc>
            </a:pPr>
            <a:r>
              <a:rPr sz="2550" b="1" i="0" u="none">
                <a:solidFill>
                  <a:srgbClr val="0F172A"/>
                </a:solidFill>
                <a:latin typeface="Plus Jakarta Sans"/>
              </a:rPr>
              <a:t>Distribusi Jam Kerja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4"/>
          <a:stretch>
            <a:fillRect/>
          </a:stretch>
        </p:blipFill>
        <p:spPr>
          <a:xfrm>
            <a:off x="6286500" y="1942058"/>
            <a:ext cx="5334000" cy="3600450"/>
          </a:xfrm>
          <a:prstGeom prst="rect">
            <a:avLst/>
          </a:prstGeom>
        </p:spPr>
      </p:pic>
      <p:sp>
        <p:nvSpPr>
          <p:cNvPr id="4" name="TextBox 3"/>
          <p:cNvSpPr txBox="1"/>
          <p:nvPr/>
        </p:nvSpPr>
        <p:spPr>
          <a:xfrm>
            <a:off x="571500" y="1942058"/>
            <a:ext cx="5600700" cy="246221"/>
          </a:xfrm>
          <a:prstGeom prst="rect">
            <a:avLst/>
          </a:prstGeom>
          <a:noFill/>
        </p:spPr>
        <p:txBody>
          <a:bodyPr wrap="square" lIns="0" tIns="0" rIns="0" bIns="0" anchor="t">
            <a:spAutoFit/>
          </a:bodyPr>
          <a:lstStyle/>
          <a:p>
            <a:pPr algn="l"/>
            <a:r>
              <a:rPr sz="1600" b="1" i="0" u="none" dirty="0" err="1">
                <a:solidFill>
                  <a:srgbClr val="0F172A"/>
                </a:solidFill>
                <a:latin typeface="Poppins"/>
              </a:rPr>
              <a:t>Pemeriksaan</a:t>
            </a:r>
            <a:r>
              <a:rPr sz="1600" b="1" i="0" u="none" dirty="0">
                <a:solidFill>
                  <a:srgbClr val="0F172A"/>
                </a:solidFill>
                <a:latin typeface="Poppins"/>
              </a:rPr>
              <a:t> </a:t>
            </a:r>
            <a:r>
              <a:rPr sz="1600" b="1" i="0" u="none" dirty="0" err="1">
                <a:solidFill>
                  <a:srgbClr val="0F172A"/>
                </a:solidFill>
                <a:latin typeface="Poppins"/>
              </a:rPr>
              <a:t>Kualitas</a:t>
            </a:r>
            <a:r>
              <a:rPr sz="1600" b="1" i="0" u="none" dirty="0">
                <a:solidFill>
                  <a:srgbClr val="0F172A"/>
                </a:solidFill>
                <a:latin typeface="Poppins"/>
              </a:rPr>
              <a:t> Data</a:t>
            </a:r>
          </a:p>
        </p:txBody>
      </p:sp>
      <p:sp>
        <p:nvSpPr>
          <p:cNvPr id="5" name="TextBox 4"/>
          <p:cNvSpPr txBox="1"/>
          <p:nvPr/>
        </p:nvSpPr>
        <p:spPr>
          <a:xfrm>
            <a:off x="857250" y="2370683"/>
            <a:ext cx="5048250" cy="685800"/>
          </a:xfrm>
          <a:prstGeom prst="rect">
            <a:avLst/>
          </a:prstGeom>
          <a:noFill/>
        </p:spPr>
        <p:txBody>
          <a:bodyPr wrap="square" lIns="0" tIns="0" rIns="0" bIns="0" anchor="t">
            <a:spAutoFit/>
          </a:bodyPr>
          <a:lstStyle/>
          <a:p>
            <a:pPr algn="l">
              <a:lnSpc>
                <a:spcPts val="1800"/>
              </a:lnSpc>
            </a:pPr>
            <a:r>
              <a:rPr sz="1400" b="1" i="0" u="none">
                <a:solidFill>
                  <a:srgbClr val="475569"/>
                </a:solidFill>
                <a:latin typeface="Inter"/>
              </a:rPr>
              <a:t>Missing Value Berpola:</a:t>
            </a:r>
            <a:r>
              <a:rPr sz="1400" b="0" i="0" u="none">
                <a:solidFill>
                  <a:srgbClr val="475569"/>
                </a:solidFill>
                <a:latin typeface="Inter"/>
              </a:rPr>
              <a:t> Misal variabel </a:t>
            </a:r>
            <a:r>
              <a:rPr sz="1400" b="0" i="1" u="none">
                <a:solidFill>
                  <a:srgbClr val="475569"/>
                </a:solidFill>
                <a:latin typeface="Inter"/>
              </a:rPr>
              <a:t>Stres Kerja</a:t>
            </a:r>
            <a:r>
              <a:rPr sz="1400" b="0" i="0" u="none">
                <a:solidFill>
                  <a:srgbClr val="475569"/>
                </a:solidFill>
                <a:latin typeface="Inter"/>
              </a:rPr>
              <a:t> kosong 23%. Ini bukan sekadar data hilang, pekerja mungkin enggan mengisi karena takut dampaknya pada evaluasi karir.</a:t>
            </a:r>
          </a:p>
        </p:txBody>
      </p:sp>
      <p:sp>
        <p:nvSpPr>
          <p:cNvPr id="6" name="TextBox 5"/>
          <p:cNvSpPr txBox="1"/>
          <p:nvPr/>
        </p:nvSpPr>
        <p:spPr>
          <a:xfrm>
            <a:off x="857250" y="3189833"/>
            <a:ext cx="5048250" cy="457200"/>
          </a:xfrm>
          <a:prstGeom prst="rect">
            <a:avLst/>
          </a:prstGeom>
          <a:noFill/>
        </p:spPr>
        <p:txBody>
          <a:bodyPr wrap="square" lIns="0" tIns="0" rIns="0" bIns="0" anchor="t">
            <a:spAutoFit/>
          </a:bodyPr>
          <a:lstStyle/>
          <a:p>
            <a:pPr algn="l">
              <a:lnSpc>
                <a:spcPts val="1800"/>
              </a:lnSpc>
            </a:pPr>
            <a:r>
              <a:rPr sz="1400" b="1" i="0" u="none" dirty="0">
                <a:solidFill>
                  <a:srgbClr val="475569"/>
                </a:solidFill>
                <a:latin typeface="Inter"/>
              </a:rPr>
              <a:t>Nilai Tidak </a:t>
            </a:r>
            <a:r>
              <a:rPr sz="1400" b="1" i="0" u="none" dirty="0" err="1">
                <a:solidFill>
                  <a:srgbClr val="475569"/>
                </a:solidFill>
                <a:latin typeface="Inter"/>
              </a:rPr>
              <a:t>Wajar</a:t>
            </a:r>
            <a:r>
              <a:rPr sz="1400" b="1" i="0" u="none" dirty="0">
                <a:solidFill>
                  <a:srgbClr val="475569"/>
                </a:solidFill>
                <a:latin typeface="Inter"/>
              </a:rPr>
              <a:t> (Data Error):</a:t>
            </a:r>
            <a:r>
              <a:rPr sz="1400" b="0" i="0" u="none" dirty="0">
                <a:solidFill>
                  <a:srgbClr val="475569"/>
                </a:solidFill>
                <a:latin typeface="Inter"/>
              </a:rPr>
              <a:t> </a:t>
            </a:r>
            <a:r>
              <a:rPr sz="1400" b="0" i="0" u="none" dirty="0" err="1">
                <a:solidFill>
                  <a:srgbClr val="475569"/>
                </a:solidFill>
                <a:latin typeface="Inter"/>
              </a:rPr>
              <a:t>Menemukan</a:t>
            </a:r>
            <a:r>
              <a:rPr sz="1400" b="0" i="0" u="none" dirty="0">
                <a:solidFill>
                  <a:srgbClr val="475569"/>
                </a:solidFill>
                <a:latin typeface="Inter"/>
              </a:rPr>
              <a:t> input </a:t>
            </a:r>
            <a:r>
              <a:rPr sz="1400" b="0" i="0" u="none" dirty="0" err="1">
                <a:solidFill>
                  <a:srgbClr val="475569"/>
                </a:solidFill>
                <a:latin typeface="Inter"/>
              </a:rPr>
              <a:t>Usia</a:t>
            </a:r>
            <a:r>
              <a:rPr sz="1400" b="0" i="0" u="none" dirty="0">
                <a:solidFill>
                  <a:srgbClr val="475569"/>
                </a:solidFill>
                <a:latin typeface="Inter"/>
              </a:rPr>
              <a:t> = 5 </a:t>
            </a:r>
            <a:r>
              <a:rPr sz="1400" b="0" i="0" u="none" dirty="0" err="1">
                <a:solidFill>
                  <a:srgbClr val="475569"/>
                </a:solidFill>
                <a:latin typeface="Inter"/>
              </a:rPr>
              <a:t>tahun</a:t>
            </a:r>
            <a:r>
              <a:rPr sz="1400" b="0" i="0" u="none" dirty="0">
                <a:solidFill>
                  <a:srgbClr val="475569"/>
                </a:solidFill>
                <a:latin typeface="Inter"/>
              </a:rPr>
              <a:t> </a:t>
            </a:r>
            <a:r>
              <a:rPr sz="1400" b="0" i="0" u="none" dirty="0" err="1">
                <a:solidFill>
                  <a:srgbClr val="475569"/>
                </a:solidFill>
                <a:latin typeface="Inter"/>
              </a:rPr>
              <a:t>atau</a:t>
            </a:r>
            <a:r>
              <a:rPr sz="1400" b="0" i="0" u="none" dirty="0">
                <a:solidFill>
                  <a:srgbClr val="475569"/>
                </a:solidFill>
                <a:latin typeface="Inter"/>
              </a:rPr>
              <a:t> Jam </a:t>
            </a:r>
            <a:r>
              <a:rPr sz="1400" b="0" i="0" u="none" dirty="0" err="1">
                <a:solidFill>
                  <a:srgbClr val="475569"/>
                </a:solidFill>
                <a:latin typeface="Inter"/>
              </a:rPr>
              <a:t>Kerja</a:t>
            </a:r>
            <a:r>
              <a:rPr sz="1400" b="0" i="0" u="none" dirty="0">
                <a:solidFill>
                  <a:srgbClr val="475569"/>
                </a:solidFill>
                <a:latin typeface="Inter"/>
              </a:rPr>
              <a:t> = 30 jam/</a:t>
            </a:r>
            <a:r>
              <a:rPr sz="1400" b="0" i="0" u="none" dirty="0" err="1">
                <a:solidFill>
                  <a:srgbClr val="475569"/>
                </a:solidFill>
                <a:latin typeface="Inter"/>
              </a:rPr>
              <a:t>hari</a:t>
            </a:r>
            <a:r>
              <a:rPr sz="1400" b="0" i="0" u="none" dirty="0">
                <a:solidFill>
                  <a:srgbClr val="475569"/>
                </a:solidFill>
                <a:latin typeface="Inter"/>
              </a:rPr>
              <a:t>. Ini </a:t>
            </a:r>
            <a:r>
              <a:rPr sz="1400" b="0" i="0" u="none" dirty="0" err="1">
                <a:solidFill>
                  <a:srgbClr val="475569"/>
                </a:solidFill>
                <a:latin typeface="Inter"/>
              </a:rPr>
              <a:t>murni</a:t>
            </a:r>
            <a:r>
              <a:rPr sz="1400" b="0" i="0" u="none" dirty="0">
                <a:solidFill>
                  <a:srgbClr val="475569"/>
                </a:solidFill>
                <a:latin typeface="Inter"/>
              </a:rPr>
              <a:t> </a:t>
            </a:r>
            <a:r>
              <a:rPr sz="1400" b="0" i="0" u="none" dirty="0" err="1">
                <a:solidFill>
                  <a:srgbClr val="475569"/>
                </a:solidFill>
                <a:latin typeface="Inter"/>
              </a:rPr>
              <a:t>kesalahan</a:t>
            </a:r>
            <a:r>
              <a:rPr sz="1400" b="0" i="0" u="none" dirty="0">
                <a:solidFill>
                  <a:srgbClr val="475569"/>
                </a:solidFill>
                <a:latin typeface="Inter"/>
              </a:rPr>
              <a:t> input </a:t>
            </a:r>
            <a:r>
              <a:rPr sz="1400" b="0" i="0" u="none" dirty="0" err="1">
                <a:solidFill>
                  <a:srgbClr val="475569"/>
                </a:solidFill>
                <a:latin typeface="Inter"/>
              </a:rPr>
              <a:t>atau</a:t>
            </a:r>
            <a:r>
              <a:rPr sz="1400" b="0" i="0" u="none" dirty="0">
                <a:solidFill>
                  <a:srgbClr val="475569"/>
                </a:solidFill>
                <a:latin typeface="Inter"/>
              </a:rPr>
              <a:t> sensor data.</a:t>
            </a:r>
          </a:p>
        </p:txBody>
      </p:sp>
      <p:sp>
        <p:nvSpPr>
          <p:cNvPr id="7" name="TextBox 6"/>
          <p:cNvSpPr txBox="1"/>
          <p:nvPr/>
        </p:nvSpPr>
        <p:spPr>
          <a:xfrm>
            <a:off x="857250" y="3780383"/>
            <a:ext cx="5048250" cy="457200"/>
          </a:xfrm>
          <a:prstGeom prst="rect">
            <a:avLst/>
          </a:prstGeom>
          <a:noFill/>
        </p:spPr>
        <p:txBody>
          <a:bodyPr wrap="square" lIns="0" tIns="0" rIns="0" bIns="0" anchor="t">
            <a:spAutoFit/>
          </a:bodyPr>
          <a:lstStyle/>
          <a:p>
            <a:pPr algn="l">
              <a:lnSpc>
                <a:spcPts val="1800"/>
              </a:lnSpc>
            </a:pPr>
            <a:r>
              <a:rPr sz="1400" b="1" i="0" u="none" dirty="0" err="1">
                <a:solidFill>
                  <a:srgbClr val="475569"/>
                </a:solidFill>
                <a:latin typeface="Inter"/>
              </a:rPr>
              <a:t>Prinsip</a:t>
            </a:r>
            <a:r>
              <a:rPr sz="1400" b="1" i="0" u="none" dirty="0">
                <a:solidFill>
                  <a:srgbClr val="475569"/>
                </a:solidFill>
                <a:latin typeface="Inter"/>
              </a:rPr>
              <a:t> :</a:t>
            </a:r>
            <a:r>
              <a:rPr sz="1400" b="0" i="0" u="none" dirty="0">
                <a:solidFill>
                  <a:srgbClr val="475569"/>
                </a:solidFill>
                <a:latin typeface="Inter"/>
              </a:rPr>
              <a:t> </a:t>
            </a:r>
            <a:r>
              <a:rPr sz="1400" b="0" i="0" u="none" dirty="0" err="1">
                <a:solidFill>
                  <a:srgbClr val="475569"/>
                </a:solidFill>
                <a:latin typeface="Inter"/>
              </a:rPr>
              <a:t>Kebiasaan</a:t>
            </a:r>
            <a:r>
              <a:rPr sz="1400" b="0" i="0" u="none" dirty="0">
                <a:solidFill>
                  <a:srgbClr val="475569"/>
                </a:solidFill>
                <a:latin typeface="Inter"/>
              </a:rPr>
              <a:t> </a:t>
            </a:r>
            <a:r>
              <a:rPr sz="1400" b="0" i="0" u="none" dirty="0" err="1">
                <a:solidFill>
                  <a:srgbClr val="475569"/>
                </a:solidFill>
                <a:latin typeface="Inter"/>
              </a:rPr>
              <a:t>mengisi</a:t>
            </a:r>
            <a:r>
              <a:rPr sz="1400" b="0" i="0" u="none" dirty="0">
                <a:solidFill>
                  <a:srgbClr val="475569"/>
                </a:solidFill>
                <a:latin typeface="Inter"/>
              </a:rPr>
              <a:t> data </a:t>
            </a:r>
            <a:r>
              <a:rPr sz="1400" b="0" i="0" u="none" dirty="0" err="1">
                <a:solidFill>
                  <a:srgbClr val="475569"/>
                </a:solidFill>
                <a:latin typeface="Inter"/>
              </a:rPr>
              <a:t>mencerminkan</a:t>
            </a:r>
            <a:r>
              <a:rPr sz="1400" b="0" i="0" u="none" dirty="0">
                <a:solidFill>
                  <a:srgbClr val="475569"/>
                </a:solidFill>
                <a:latin typeface="Inter"/>
              </a:rPr>
              <a:t> </a:t>
            </a:r>
            <a:r>
              <a:rPr sz="1400" b="0" i="0" u="none" dirty="0" err="1">
                <a:solidFill>
                  <a:srgbClr val="475569"/>
                </a:solidFill>
                <a:latin typeface="Inter"/>
              </a:rPr>
              <a:t>perilaku</a:t>
            </a:r>
            <a:r>
              <a:rPr sz="1400" b="0" i="0" u="none" dirty="0">
                <a:solidFill>
                  <a:srgbClr val="475569"/>
                </a:solidFill>
                <a:latin typeface="Inter"/>
              </a:rPr>
              <a:t> </a:t>
            </a:r>
            <a:r>
              <a:rPr sz="1400" b="0" i="0" u="none" dirty="0" err="1">
                <a:solidFill>
                  <a:srgbClr val="475569"/>
                </a:solidFill>
                <a:latin typeface="Inter"/>
              </a:rPr>
              <a:t>manusia</a:t>
            </a:r>
            <a:r>
              <a:rPr sz="1400" b="0" i="0" u="none" dirty="0">
                <a:solidFill>
                  <a:srgbClr val="475569"/>
                </a:solidFill>
                <a:latin typeface="Inter"/>
              </a:rPr>
              <a:t> dan </a:t>
            </a:r>
            <a:r>
              <a:rPr sz="1400" b="0" i="0" u="none" dirty="0" err="1">
                <a:solidFill>
                  <a:srgbClr val="475569"/>
                </a:solidFill>
                <a:latin typeface="Inter"/>
              </a:rPr>
              <a:t>efektivitas</a:t>
            </a:r>
            <a:r>
              <a:rPr sz="1400" b="0" i="0" u="none" dirty="0">
                <a:solidFill>
                  <a:srgbClr val="475569"/>
                </a:solidFill>
                <a:latin typeface="Inter"/>
              </a:rPr>
              <a:t> </a:t>
            </a:r>
            <a:r>
              <a:rPr sz="1400" b="0" i="0" u="none" dirty="0" err="1">
                <a:solidFill>
                  <a:srgbClr val="475569"/>
                </a:solidFill>
                <a:latin typeface="Inter"/>
              </a:rPr>
              <a:t>sistem</a:t>
            </a:r>
            <a:r>
              <a:rPr sz="1400" b="0" i="0" u="none" dirty="0">
                <a:solidFill>
                  <a:srgbClr val="475569"/>
                </a:solidFill>
                <a:latin typeface="Inter"/>
              </a:rPr>
              <a:t> </a:t>
            </a:r>
            <a:r>
              <a:rPr sz="1400" b="0" i="0" u="none" dirty="0" err="1">
                <a:solidFill>
                  <a:srgbClr val="475569"/>
                </a:solidFill>
                <a:latin typeface="Inter"/>
              </a:rPr>
              <a:t>pengumpulan</a:t>
            </a:r>
            <a:r>
              <a:rPr sz="1400" b="0" i="0" u="none" dirty="0">
                <a:solidFill>
                  <a:srgbClr val="475569"/>
                </a:solidFill>
                <a:latin typeface="Inter"/>
              </a:rPr>
              <a:t> data di </a:t>
            </a:r>
            <a:r>
              <a:rPr sz="1400" b="0" i="0" u="none" dirty="0" err="1">
                <a:solidFill>
                  <a:srgbClr val="475569"/>
                </a:solidFill>
                <a:latin typeface="Inter"/>
              </a:rPr>
              <a:t>lapangan</a:t>
            </a:r>
            <a:r>
              <a:rPr sz="1400" b="0" i="0" u="none" dirty="0">
                <a:solidFill>
                  <a:srgbClr val="475569"/>
                </a:solidFill>
                <a:latin typeface="Inter"/>
              </a:rPr>
              <a:t>.</a:t>
            </a:r>
          </a:p>
        </p:txBody>
      </p:sp>
      <p:pic>
        <p:nvPicPr>
          <p:cNvPr id="8" name="Picture 7" descr="image.png"/>
          <p:cNvPicPr>
            <a:picLocks noChangeAspect="1"/>
          </p:cNvPicPr>
          <p:nvPr/>
        </p:nvPicPr>
        <p:blipFill>
          <a:blip r:embed="rId5"/>
          <a:stretch>
            <a:fillRect/>
          </a:stretch>
        </p:blipFill>
        <p:spPr>
          <a:xfrm>
            <a:off x="6296025" y="1951583"/>
            <a:ext cx="5314950" cy="3581400"/>
          </a:xfrm>
          <a:prstGeom prst="rect">
            <a:avLst/>
          </a:prstGeom>
        </p:spPr>
      </p:pic>
      <p:pic>
        <p:nvPicPr>
          <p:cNvPr id="9" name="Picture 8" descr="image.png"/>
          <p:cNvPicPr>
            <a:picLocks noChangeAspect="1"/>
          </p:cNvPicPr>
          <p:nvPr/>
        </p:nvPicPr>
        <p:blipFill>
          <a:blip r:embed="rId6"/>
          <a:stretch>
            <a:fillRect/>
          </a:stretch>
        </p:blipFill>
        <p:spPr>
          <a:xfrm>
            <a:off x="571500" y="2399258"/>
            <a:ext cx="152400" cy="152400"/>
          </a:xfrm>
          <a:prstGeom prst="rect">
            <a:avLst/>
          </a:prstGeom>
        </p:spPr>
      </p:pic>
      <p:pic>
        <p:nvPicPr>
          <p:cNvPr id="10" name="Picture 9" descr="image.png"/>
          <p:cNvPicPr>
            <a:picLocks noChangeAspect="1"/>
          </p:cNvPicPr>
          <p:nvPr/>
        </p:nvPicPr>
        <p:blipFill>
          <a:blip r:embed="rId7"/>
          <a:stretch>
            <a:fillRect/>
          </a:stretch>
        </p:blipFill>
        <p:spPr>
          <a:xfrm>
            <a:off x="571500" y="3218408"/>
            <a:ext cx="152400" cy="152400"/>
          </a:xfrm>
          <a:prstGeom prst="rect">
            <a:avLst/>
          </a:prstGeom>
        </p:spPr>
      </p:pic>
      <p:pic>
        <p:nvPicPr>
          <p:cNvPr id="11" name="Picture 10" descr="image.png"/>
          <p:cNvPicPr>
            <a:picLocks noChangeAspect="1"/>
          </p:cNvPicPr>
          <p:nvPr/>
        </p:nvPicPr>
        <p:blipFill>
          <a:blip r:embed="rId8"/>
          <a:stretch>
            <a:fillRect/>
          </a:stretch>
        </p:blipFill>
        <p:spPr>
          <a:xfrm>
            <a:off x="571500" y="3808958"/>
            <a:ext cx="152400" cy="152400"/>
          </a:xfrm>
          <a:prstGeom prst="rect">
            <a:avLst/>
          </a:prstGeom>
        </p:spPr>
      </p:pic>
      <p:sp>
        <p:nvSpPr>
          <p:cNvPr id="12" name="TextBox 11"/>
          <p:cNvSpPr txBox="1"/>
          <p:nvPr/>
        </p:nvSpPr>
        <p:spPr>
          <a:xfrm>
            <a:off x="714375" y="476250"/>
            <a:ext cx="11451431" cy="388590"/>
          </a:xfrm>
          <a:prstGeom prst="rect">
            <a:avLst/>
          </a:prstGeom>
          <a:noFill/>
        </p:spPr>
        <p:txBody>
          <a:bodyPr wrap="square" lIns="0" tIns="0" rIns="0" bIns="0" anchor="t">
            <a:spAutoFit/>
          </a:bodyPr>
          <a:lstStyle/>
          <a:p>
            <a:pPr algn="l">
              <a:lnSpc>
                <a:spcPts val="3060"/>
              </a:lnSpc>
            </a:pPr>
            <a:r>
              <a:rPr sz="2550" b="1" i="0" u="none">
                <a:solidFill>
                  <a:srgbClr val="0F172A"/>
                </a:solidFill>
                <a:latin typeface="Poppins"/>
              </a:rPr>
              <a:t>Kualitas Data: Anomali &amp; Missing</a:t>
            </a:r>
          </a:p>
        </p:txBody>
      </p:sp>
      <p:sp>
        <p:nvSpPr>
          <p:cNvPr id="13" name="Rectangle 12"/>
          <p:cNvSpPr/>
          <p:nvPr/>
        </p:nvSpPr>
        <p:spPr>
          <a:xfrm>
            <a:off x="571500" y="476250"/>
            <a:ext cx="47625" cy="38859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5681849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D74BD5DF-7941-82C2-4F76-DACC7CC351F2}"/>
              </a:ext>
            </a:extLst>
          </p:cNvPr>
          <p:cNvGrpSpPr/>
          <p:nvPr/>
        </p:nvGrpSpPr>
        <p:grpSpPr>
          <a:xfrm>
            <a:off x="571500" y="3645990"/>
            <a:ext cx="4410075" cy="2462212"/>
            <a:chOff x="476250" y="2506414"/>
            <a:chExt cx="5476875" cy="2462212"/>
          </a:xfrm>
        </p:grpSpPr>
        <p:pic>
          <p:nvPicPr>
            <p:cNvPr id="27" name="Picture 26" descr="image.png">
              <a:extLst>
                <a:ext uri="{FF2B5EF4-FFF2-40B4-BE49-F238E27FC236}">
                  <a16:creationId xmlns:a16="http://schemas.microsoft.com/office/drawing/2014/main" id="{002BD625-FDE8-E530-FDC6-D982F4D59B48}"/>
                </a:ext>
              </a:extLst>
            </p:cNvPr>
            <p:cNvPicPr>
              <a:picLocks noChangeAspect="1"/>
            </p:cNvPicPr>
            <p:nvPr/>
          </p:nvPicPr>
          <p:blipFill>
            <a:blip r:embed="rId3"/>
            <a:stretch>
              <a:fillRect/>
            </a:stretch>
          </p:blipFill>
          <p:spPr>
            <a:xfrm>
              <a:off x="476250" y="2506414"/>
              <a:ext cx="5476875" cy="2462212"/>
            </a:xfrm>
            <a:prstGeom prst="rect">
              <a:avLst/>
            </a:prstGeom>
          </p:spPr>
        </p:pic>
        <p:sp>
          <p:nvSpPr>
            <p:cNvPr id="28" name="TextBox 27">
              <a:extLst>
                <a:ext uri="{FF2B5EF4-FFF2-40B4-BE49-F238E27FC236}">
                  <a16:creationId xmlns:a16="http://schemas.microsoft.com/office/drawing/2014/main" id="{239FD03E-B339-987A-E559-B89AC4FCAB06}"/>
                </a:ext>
              </a:extLst>
            </p:cNvPr>
            <p:cNvSpPr txBox="1"/>
            <p:nvPr/>
          </p:nvSpPr>
          <p:spPr>
            <a:xfrm>
              <a:off x="628411" y="2973139"/>
              <a:ext cx="5210651" cy="266700"/>
            </a:xfrm>
            <a:prstGeom prst="rect">
              <a:avLst/>
            </a:prstGeom>
            <a:noFill/>
          </p:spPr>
          <p:txBody>
            <a:bodyPr wrap="square" lIns="0" tIns="0" rIns="0" bIns="0" anchor="t">
              <a:spAutoFit/>
            </a:bodyPr>
            <a:lstStyle/>
            <a:p>
              <a:pPr algn="ctr"/>
              <a:r>
                <a:rPr sz="1650" b="1" i="0" u="none" dirty="0">
                  <a:solidFill>
                    <a:srgbClr val="0F172A"/>
                  </a:solidFill>
                  <a:latin typeface="Plus Jakarta Sans"/>
                </a:rPr>
                <a:t>Skor </a:t>
              </a:r>
              <a:r>
                <a:rPr sz="1650" b="1" i="0" u="none" dirty="0" err="1">
                  <a:solidFill>
                    <a:srgbClr val="0F172A"/>
                  </a:solidFill>
                  <a:latin typeface="Plus Jakarta Sans"/>
                </a:rPr>
                <a:t>Kelelahan</a:t>
              </a:r>
              <a:r>
                <a:rPr sz="1650" b="1" i="0" u="none" dirty="0">
                  <a:solidFill>
                    <a:srgbClr val="0F172A"/>
                  </a:solidFill>
                  <a:latin typeface="Plus Jakarta Sans"/>
                </a:rPr>
                <a:t> </a:t>
              </a:r>
              <a:r>
                <a:rPr sz="1650" b="1" i="0" u="none" dirty="0" err="1">
                  <a:solidFill>
                    <a:srgbClr val="0F172A"/>
                  </a:solidFill>
                  <a:latin typeface="Plus Jakarta Sans"/>
                </a:rPr>
                <a:t>Ekstrem</a:t>
              </a:r>
              <a:endParaRPr sz="1650" b="1" i="0" u="none" dirty="0">
                <a:solidFill>
                  <a:srgbClr val="0F172A"/>
                </a:solidFill>
                <a:latin typeface="Plus Jakarta Sans"/>
              </a:endParaRPr>
            </a:p>
          </p:txBody>
        </p:sp>
        <p:sp>
          <p:nvSpPr>
            <p:cNvPr id="29" name="TextBox 28">
              <a:extLst>
                <a:ext uri="{FF2B5EF4-FFF2-40B4-BE49-F238E27FC236}">
                  <a16:creationId xmlns:a16="http://schemas.microsoft.com/office/drawing/2014/main" id="{E7B826AC-B05C-B6B5-1423-A12E71937977}"/>
                </a:ext>
              </a:extLst>
            </p:cNvPr>
            <p:cNvSpPr txBox="1"/>
            <p:nvPr/>
          </p:nvSpPr>
          <p:spPr>
            <a:xfrm>
              <a:off x="752475" y="3430339"/>
              <a:ext cx="4962525" cy="733425"/>
            </a:xfrm>
            <a:prstGeom prst="rect">
              <a:avLst/>
            </a:prstGeom>
            <a:noFill/>
          </p:spPr>
          <p:txBody>
            <a:bodyPr wrap="square" lIns="0" tIns="0" rIns="0" bIns="0" anchor="t">
              <a:spAutoFit/>
            </a:bodyPr>
            <a:lstStyle/>
            <a:p>
              <a:pPr algn="ctr"/>
              <a:r>
                <a:rPr sz="4800" b="0" i="0" u="none">
                  <a:solidFill>
                    <a:srgbClr val="EF4444"/>
                  </a:solidFill>
                  <a:latin typeface="Inter ExtraBold"/>
                </a:rPr>
                <a:t>10 / 10</a:t>
              </a:r>
            </a:p>
          </p:txBody>
        </p:sp>
        <p:sp>
          <p:nvSpPr>
            <p:cNvPr id="30" name="TextBox 29">
              <a:extLst>
                <a:ext uri="{FF2B5EF4-FFF2-40B4-BE49-F238E27FC236}">
                  <a16:creationId xmlns:a16="http://schemas.microsoft.com/office/drawing/2014/main" id="{D2329F6C-8299-BC7E-9E55-506771C65404}"/>
                </a:ext>
              </a:extLst>
            </p:cNvPr>
            <p:cNvSpPr txBox="1"/>
            <p:nvPr/>
          </p:nvSpPr>
          <p:spPr>
            <a:xfrm>
              <a:off x="752475" y="4259014"/>
              <a:ext cx="4962525" cy="242887"/>
            </a:xfrm>
            <a:prstGeom prst="rect">
              <a:avLst/>
            </a:prstGeom>
            <a:noFill/>
          </p:spPr>
          <p:txBody>
            <a:bodyPr wrap="square" lIns="0" tIns="0" rIns="0" bIns="0" anchor="t">
              <a:spAutoFit/>
            </a:bodyPr>
            <a:lstStyle/>
            <a:p>
              <a:pPr algn="ctr">
                <a:lnSpc>
                  <a:spcPts val="1912"/>
                </a:lnSpc>
              </a:pPr>
              <a:r>
                <a:rPr sz="1275" b="0" i="0" u="none">
                  <a:solidFill>
                    <a:srgbClr val="334155"/>
                  </a:solidFill>
                  <a:latin typeface="Inter"/>
                </a:rPr>
                <a:t>Pekerja dengan skor terisolasi di batas maksimum skala.</a:t>
              </a:r>
            </a:p>
          </p:txBody>
        </p:sp>
      </p:grpSp>
      <p:pic>
        <p:nvPicPr>
          <p:cNvPr id="4" name="Picture 3" descr="image.png"/>
          <p:cNvPicPr>
            <a:picLocks noChangeAspect="1"/>
          </p:cNvPicPr>
          <p:nvPr/>
        </p:nvPicPr>
        <p:blipFill>
          <a:blip r:embed="rId4"/>
          <a:stretch>
            <a:fillRect/>
          </a:stretch>
        </p:blipFill>
        <p:spPr>
          <a:xfrm>
            <a:off x="5219700" y="2223045"/>
            <a:ext cx="6400800" cy="1200150"/>
          </a:xfrm>
          <a:prstGeom prst="rect">
            <a:avLst/>
          </a:prstGeom>
        </p:spPr>
      </p:pic>
      <p:grpSp>
        <p:nvGrpSpPr>
          <p:cNvPr id="25" name="Group 24">
            <a:extLst>
              <a:ext uri="{FF2B5EF4-FFF2-40B4-BE49-F238E27FC236}">
                <a16:creationId xmlns:a16="http://schemas.microsoft.com/office/drawing/2014/main" id="{3AD25018-ACBD-AF9A-B653-C6657FD0EEA0}"/>
              </a:ext>
            </a:extLst>
          </p:cNvPr>
          <p:cNvGrpSpPr/>
          <p:nvPr/>
        </p:nvGrpSpPr>
        <p:grpSpPr>
          <a:xfrm>
            <a:off x="595312" y="1227683"/>
            <a:ext cx="4267200" cy="2195512"/>
            <a:chOff x="571500" y="2644526"/>
            <a:chExt cx="4267200" cy="2195512"/>
          </a:xfrm>
        </p:grpSpPr>
        <p:pic>
          <p:nvPicPr>
            <p:cNvPr id="3" name="Picture 2" descr="image.png"/>
            <p:cNvPicPr>
              <a:picLocks noChangeAspect="1"/>
            </p:cNvPicPr>
            <p:nvPr/>
          </p:nvPicPr>
          <p:blipFill>
            <a:blip r:embed="rId5"/>
            <a:stretch>
              <a:fillRect/>
            </a:stretch>
          </p:blipFill>
          <p:spPr>
            <a:xfrm>
              <a:off x="571500" y="2644526"/>
              <a:ext cx="4267200" cy="2195512"/>
            </a:xfrm>
            <a:prstGeom prst="rect">
              <a:avLst/>
            </a:prstGeom>
          </p:spPr>
        </p:pic>
        <p:sp>
          <p:nvSpPr>
            <p:cNvPr id="5" name="TextBox 4"/>
            <p:cNvSpPr txBox="1"/>
            <p:nvPr/>
          </p:nvSpPr>
          <p:spPr>
            <a:xfrm>
              <a:off x="952500" y="3025526"/>
              <a:ext cx="3505200" cy="857250"/>
            </a:xfrm>
            <a:prstGeom prst="rect">
              <a:avLst/>
            </a:prstGeom>
            <a:noFill/>
          </p:spPr>
          <p:txBody>
            <a:bodyPr wrap="square" lIns="0" tIns="0" rIns="0" bIns="0" anchor="t">
              <a:spAutoFit/>
            </a:bodyPr>
            <a:lstStyle/>
            <a:p>
              <a:pPr algn="ctr">
                <a:lnSpc>
                  <a:spcPts val="6750"/>
                </a:lnSpc>
              </a:pPr>
              <a:r>
                <a:rPr sz="6750" b="1" i="0" u="none" dirty="0">
                  <a:solidFill>
                    <a:srgbClr val="38BDF8"/>
                  </a:solidFill>
                  <a:latin typeface="Poppins"/>
                </a:rPr>
                <a:t>15 jam</a:t>
              </a:r>
            </a:p>
          </p:txBody>
        </p:sp>
        <p:sp>
          <p:nvSpPr>
            <p:cNvPr id="6" name="TextBox 5"/>
            <p:cNvSpPr txBox="1"/>
            <p:nvPr/>
          </p:nvSpPr>
          <p:spPr>
            <a:xfrm>
              <a:off x="952500" y="3978026"/>
              <a:ext cx="3505200" cy="200025"/>
            </a:xfrm>
            <a:prstGeom prst="rect">
              <a:avLst/>
            </a:prstGeom>
            <a:noFill/>
          </p:spPr>
          <p:txBody>
            <a:bodyPr wrap="square" lIns="0" tIns="0" rIns="0" bIns="0" anchor="t">
              <a:spAutoFit/>
            </a:bodyPr>
            <a:lstStyle/>
            <a:p>
              <a:pPr algn="ctr"/>
              <a:r>
                <a:rPr sz="1350" b="0" i="0" u="none">
                  <a:solidFill>
                    <a:srgbClr val="E0F2FE"/>
                  </a:solidFill>
                  <a:latin typeface="Inter Medium"/>
                </a:rPr>
                <a:t>Maksimum Jam Kerja/Hari</a:t>
              </a:r>
            </a:p>
          </p:txBody>
        </p:sp>
        <p:sp>
          <p:nvSpPr>
            <p:cNvPr id="7" name="TextBox 6"/>
            <p:cNvSpPr txBox="1"/>
            <p:nvPr/>
          </p:nvSpPr>
          <p:spPr>
            <a:xfrm>
              <a:off x="952500" y="4273301"/>
              <a:ext cx="3505200" cy="185737"/>
            </a:xfrm>
            <a:prstGeom prst="rect">
              <a:avLst/>
            </a:prstGeom>
            <a:noFill/>
          </p:spPr>
          <p:txBody>
            <a:bodyPr wrap="square" lIns="0" tIns="0" rIns="0" bIns="0" anchor="t">
              <a:spAutoFit/>
            </a:bodyPr>
            <a:lstStyle/>
            <a:p>
              <a:pPr algn="ctr">
                <a:lnSpc>
                  <a:spcPts val="1462"/>
                </a:lnSpc>
              </a:pPr>
              <a:r>
                <a:rPr sz="975" b="0" i="0" u="none">
                  <a:solidFill>
                    <a:srgbClr val="93C5FD"/>
                  </a:solidFill>
                  <a:latin typeface="Inter"/>
                </a:rPr>
                <a:t>Rata-rata: 9.2 jam | Median: 9.0 jam</a:t>
              </a:r>
            </a:p>
          </p:txBody>
        </p:sp>
      </p:grpSp>
      <p:sp>
        <p:nvSpPr>
          <p:cNvPr id="8" name="TextBox 7"/>
          <p:cNvSpPr txBox="1"/>
          <p:nvPr/>
        </p:nvSpPr>
        <p:spPr>
          <a:xfrm>
            <a:off x="5219700" y="1165770"/>
            <a:ext cx="6720840" cy="253916"/>
          </a:xfrm>
          <a:prstGeom prst="rect">
            <a:avLst/>
          </a:prstGeom>
          <a:noFill/>
        </p:spPr>
        <p:txBody>
          <a:bodyPr wrap="square" lIns="0" tIns="0" rIns="0" bIns="0" anchor="t">
            <a:spAutoFit/>
          </a:bodyPr>
          <a:lstStyle/>
          <a:p>
            <a:pPr algn="l"/>
            <a:r>
              <a:rPr sz="1650" b="1" i="0" u="none" dirty="0" err="1">
                <a:solidFill>
                  <a:srgbClr val="0F172A"/>
                </a:solidFill>
                <a:latin typeface="Poppins"/>
              </a:rPr>
              <a:t>Memahami</a:t>
            </a:r>
            <a:r>
              <a:rPr sz="1650" b="1" i="0" u="none" dirty="0">
                <a:solidFill>
                  <a:srgbClr val="0F172A"/>
                </a:solidFill>
                <a:latin typeface="Poppins"/>
              </a:rPr>
              <a:t> Outlier </a:t>
            </a:r>
            <a:r>
              <a:rPr sz="1650" b="1" i="0" u="none" dirty="0" err="1">
                <a:solidFill>
                  <a:srgbClr val="0F172A"/>
                </a:solidFill>
                <a:latin typeface="Poppins"/>
              </a:rPr>
              <a:t>dalam</a:t>
            </a:r>
            <a:r>
              <a:rPr sz="1650" b="1" i="0" u="none" dirty="0">
                <a:solidFill>
                  <a:srgbClr val="0F172A"/>
                </a:solidFill>
                <a:latin typeface="Poppins"/>
              </a:rPr>
              <a:t> </a:t>
            </a:r>
            <a:r>
              <a:rPr sz="1650" b="1" i="0" u="none" dirty="0" err="1">
                <a:solidFill>
                  <a:srgbClr val="0F172A"/>
                </a:solidFill>
                <a:latin typeface="Poppins"/>
              </a:rPr>
              <a:t>Perspektif</a:t>
            </a:r>
            <a:r>
              <a:rPr sz="1650" b="1" i="0" u="none" dirty="0">
                <a:solidFill>
                  <a:srgbClr val="0F172A"/>
                </a:solidFill>
                <a:latin typeface="Poppins"/>
              </a:rPr>
              <a:t> </a:t>
            </a:r>
          </a:p>
        </p:txBody>
      </p:sp>
      <p:sp>
        <p:nvSpPr>
          <p:cNvPr id="9" name="TextBox 8"/>
          <p:cNvSpPr txBox="1"/>
          <p:nvPr/>
        </p:nvSpPr>
        <p:spPr>
          <a:xfrm>
            <a:off x="5219700" y="1622970"/>
            <a:ext cx="6400800" cy="457200"/>
          </a:xfrm>
          <a:prstGeom prst="rect">
            <a:avLst/>
          </a:prstGeom>
          <a:noFill/>
        </p:spPr>
        <p:txBody>
          <a:bodyPr wrap="square" lIns="0" tIns="0" rIns="0" bIns="0" anchor="t">
            <a:spAutoFit/>
          </a:bodyPr>
          <a:lstStyle/>
          <a:p>
            <a:pPr algn="l">
              <a:lnSpc>
                <a:spcPts val="1800"/>
              </a:lnSpc>
            </a:pPr>
            <a:r>
              <a:rPr sz="1200" b="0" i="0" u="none">
                <a:solidFill>
                  <a:srgbClr val="475569"/>
                </a:solidFill>
                <a:latin typeface="Inter"/>
              </a:rPr>
              <a:t>Ketika Boxplot menunjukkan angka jam kerja 15 jam/hari atau kelelahan bernilai 10/10 sebagai outlier, </a:t>
            </a:r>
            <a:r>
              <a:rPr sz="1200" b="1" i="0" u="none">
                <a:solidFill>
                  <a:srgbClr val="475569"/>
                </a:solidFill>
                <a:latin typeface="Inter"/>
              </a:rPr>
              <a:t>jangan langsung menghapusnya!</a:t>
            </a:r>
          </a:p>
        </p:txBody>
      </p:sp>
      <p:sp>
        <p:nvSpPr>
          <p:cNvPr id="10" name="TextBox 9"/>
          <p:cNvSpPr txBox="1"/>
          <p:nvPr/>
        </p:nvSpPr>
        <p:spPr>
          <a:xfrm>
            <a:off x="5400675" y="2404020"/>
            <a:ext cx="2790825" cy="190500"/>
          </a:xfrm>
          <a:prstGeom prst="rect">
            <a:avLst/>
          </a:prstGeom>
          <a:noFill/>
        </p:spPr>
        <p:txBody>
          <a:bodyPr wrap="square" lIns="0" tIns="0" rIns="0" bIns="0" anchor="t">
            <a:spAutoFit/>
          </a:bodyPr>
          <a:lstStyle/>
          <a:p>
            <a:pPr algn="l"/>
            <a:r>
              <a:rPr sz="1200" b="1" i="0" u="none" dirty="0" err="1">
                <a:solidFill>
                  <a:srgbClr val="0284C7"/>
                </a:solidFill>
                <a:latin typeface="Inter"/>
              </a:rPr>
              <a:t>Mengapa</a:t>
            </a:r>
            <a:r>
              <a:rPr sz="1200" b="1" i="0" u="none" dirty="0">
                <a:solidFill>
                  <a:srgbClr val="0284C7"/>
                </a:solidFill>
                <a:latin typeface="Inter"/>
              </a:rPr>
              <a:t> Outlier  Sangat </a:t>
            </a:r>
            <a:r>
              <a:rPr sz="1200" b="1" i="0" u="none" dirty="0" err="1">
                <a:solidFill>
                  <a:srgbClr val="0284C7"/>
                </a:solidFill>
                <a:latin typeface="Inter"/>
              </a:rPr>
              <a:t>Berharga</a:t>
            </a:r>
            <a:r>
              <a:rPr sz="1200" b="1" i="0" u="none" dirty="0">
                <a:solidFill>
                  <a:srgbClr val="0284C7"/>
                </a:solidFill>
                <a:latin typeface="Inter"/>
              </a:rPr>
              <a:t>?</a:t>
            </a:r>
          </a:p>
        </p:txBody>
      </p:sp>
      <p:sp>
        <p:nvSpPr>
          <p:cNvPr id="11" name="TextBox 10"/>
          <p:cNvSpPr txBox="1"/>
          <p:nvPr/>
        </p:nvSpPr>
        <p:spPr>
          <a:xfrm>
            <a:off x="5400675" y="2642145"/>
            <a:ext cx="6038850" cy="600075"/>
          </a:xfrm>
          <a:prstGeom prst="rect">
            <a:avLst/>
          </a:prstGeom>
          <a:noFill/>
        </p:spPr>
        <p:txBody>
          <a:bodyPr wrap="square" lIns="0" tIns="0" rIns="0" bIns="0" anchor="t">
            <a:spAutoFit/>
          </a:bodyPr>
          <a:lstStyle/>
          <a:p>
            <a:pPr algn="l">
              <a:lnSpc>
                <a:spcPts val="1575"/>
              </a:lnSpc>
            </a:pPr>
            <a:r>
              <a:rPr sz="1050" b="0" i="0" u="none">
                <a:solidFill>
                  <a:srgbClr val="475569"/>
                </a:solidFill>
                <a:latin typeface="Inter"/>
              </a:rPr>
              <a:t>Outlier dapat mengindikasikan kondisi darurat lapangan, penumpukan lembur yang tidak terdaftar, atau pekerja yang mengalami kelelahan kronis mendesak yang butuh penanganan segera.</a:t>
            </a:r>
          </a:p>
        </p:txBody>
      </p:sp>
      <p:sp>
        <p:nvSpPr>
          <p:cNvPr id="12" name="TextBox 11"/>
          <p:cNvSpPr txBox="1"/>
          <p:nvPr/>
        </p:nvSpPr>
        <p:spPr>
          <a:xfrm>
            <a:off x="714375" y="476250"/>
            <a:ext cx="11451431" cy="388590"/>
          </a:xfrm>
          <a:prstGeom prst="rect">
            <a:avLst/>
          </a:prstGeom>
          <a:noFill/>
        </p:spPr>
        <p:txBody>
          <a:bodyPr wrap="square" lIns="0" tIns="0" rIns="0" bIns="0" anchor="t">
            <a:spAutoFit/>
          </a:bodyPr>
          <a:lstStyle/>
          <a:p>
            <a:pPr algn="l">
              <a:lnSpc>
                <a:spcPts val="3060"/>
              </a:lnSpc>
            </a:pPr>
            <a:r>
              <a:rPr sz="2550" b="1" i="0" u="none">
                <a:solidFill>
                  <a:srgbClr val="0F172A"/>
                </a:solidFill>
                <a:latin typeface="Poppins"/>
              </a:rPr>
              <a:t>Statistik Deskriptif &amp; Outlier</a:t>
            </a:r>
          </a:p>
        </p:txBody>
      </p:sp>
      <p:sp>
        <p:nvSpPr>
          <p:cNvPr id="13" name="Rectangle 12"/>
          <p:cNvSpPr/>
          <p:nvPr/>
        </p:nvSpPr>
        <p:spPr>
          <a:xfrm>
            <a:off x="571500" y="476250"/>
            <a:ext cx="47625" cy="38859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4" name="Group 13">
            <a:extLst>
              <a:ext uri="{FF2B5EF4-FFF2-40B4-BE49-F238E27FC236}">
                <a16:creationId xmlns:a16="http://schemas.microsoft.com/office/drawing/2014/main" id="{4F9EB767-C684-5478-FF1A-159E5E8DE83F}"/>
              </a:ext>
            </a:extLst>
          </p:cNvPr>
          <p:cNvGrpSpPr/>
          <p:nvPr/>
        </p:nvGrpSpPr>
        <p:grpSpPr>
          <a:xfrm>
            <a:off x="5219700" y="3661320"/>
            <a:ext cx="5486876" cy="2462212"/>
            <a:chOff x="6238875" y="2506414"/>
            <a:chExt cx="5486876" cy="2462212"/>
          </a:xfrm>
        </p:grpSpPr>
        <p:pic>
          <p:nvPicPr>
            <p:cNvPr id="15" name="Picture 14" descr="image.png">
              <a:extLst>
                <a:ext uri="{FF2B5EF4-FFF2-40B4-BE49-F238E27FC236}">
                  <a16:creationId xmlns:a16="http://schemas.microsoft.com/office/drawing/2014/main" id="{B7C2A4CE-C1AD-357A-F787-F57E20B6AEEA}"/>
                </a:ext>
              </a:extLst>
            </p:cNvPr>
            <p:cNvPicPr>
              <a:picLocks noChangeAspect="1"/>
            </p:cNvPicPr>
            <p:nvPr/>
          </p:nvPicPr>
          <p:blipFill>
            <a:blip r:embed="rId6"/>
            <a:stretch>
              <a:fillRect/>
            </a:stretch>
          </p:blipFill>
          <p:spPr>
            <a:xfrm>
              <a:off x="6238875" y="2506414"/>
              <a:ext cx="5476875" cy="2462212"/>
            </a:xfrm>
            <a:prstGeom prst="rect">
              <a:avLst/>
            </a:prstGeom>
          </p:spPr>
        </p:pic>
        <p:sp>
          <p:nvSpPr>
            <p:cNvPr id="16" name="TextBox 15">
              <a:extLst>
                <a:ext uri="{FF2B5EF4-FFF2-40B4-BE49-F238E27FC236}">
                  <a16:creationId xmlns:a16="http://schemas.microsoft.com/office/drawing/2014/main" id="{6511A14D-38D4-9336-9A8E-98A760D7B4DB}"/>
                </a:ext>
              </a:extLst>
            </p:cNvPr>
            <p:cNvSpPr txBox="1"/>
            <p:nvPr/>
          </p:nvSpPr>
          <p:spPr>
            <a:xfrm>
              <a:off x="6515100" y="2744539"/>
              <a:ext cx="5210651" cy="238125"/>
            </a:xfrm>
            <a:prstGeom prst="rect">
              <a:avLst/>
            </a:prstGeom>
            <a:noFill/>
          </p:spPr>
          <p:txBody>
            <a:bodyPr wrap="square" lIns="190500" tIns="0" rIns="0" bIns="0" anchor="t">
              <a:spAutoFit/>
            </a:bodyPr>
            <a:lstStyle/>
            <a:p>
              <a:pPr algn="l"/>
              <a:r>
                <a:rPr sz="1500" b="1" i="0" u="none">
                  <a:solidFill>
                    <a:srgbClr val="0F172A"/>
                  </a:solidFill>
                  <a:latin typeface="Plus Jakarta Sans"/>
                </a:rPr>
                <a:t>Jangan Langsung Hapus Outlier!</a:t>
              </a:r>
            </a:p>
          </p:txBody>
        </p:sp>
        <p:sp>
          <p:nvSpPr>
            <p:cNvPr id="17" name="TextBox 16">
              <a:extLst>
                <a:ext uri="{FF2B5EF4-FFF2-40B4-BE49-F238E27FC236}">
                  <a16:creationId xmlns:a16="http://schemas.microsoft.com/office/drawing/2014/main" id="{A4B34853-31CE-1DDD-F603-1EA7F2A7AD2B}"/>
                </a:ext>
              </a:extLst>
            </p:cNvPr>
            <p:cNvSpPr txBox="1"/>
            <p:nvPr/>
          </p:nvSpPr>
          <p:spPr>
            <a:xfrm>
              <a:off x="6515100" y="3077914"/>
              <a:ext cx="4962525" cy="485775"/>
            </a:xfrm>
            <a:prstGeom prst="rect">
              <a:avLst/>
            </a:prstGeom>
            <a:noFill/>
          </p:spPr>
          <p:txBody>
            <a:bodyPr wrap="square" lIns="0" tIns="0" rIns="0" bIns="0" anchor="t">
              <a:spAutoFit/>
            </a:bodyPr>
            <a:lstStyle/>
            <a:p>
              <a:pPr algn="l">
                <a:lnSpc>
                  <a:spcPts val="1912"/>
                </a:lnSpc>
              </a:pPr>
              <a:r>
                <a:rPr sz="1275" b="0" i="0" u="none" dirty="0" err="1">
                  <a:solidFill>
                    <a:srgbClr val="334155"/>
                  </a:solidFill>
                  <a:latin typeface="Inter"/>
                </a:rPr>
                <a:t>Dalam</a:t>
              </a:r>
              <a:r>
                <a:rPr sz="1275" b="0" i="0" u="none" dirty="0">
                  <a:solidFill>
                    <a:srgbClr val="334155"/>
                  </a:solidFill>
                  <a:latin typeface="Inter"/>
                </a:rPr>
                <a:t> , outlier </a:t>
              </a:r>
              <a:r>
                <a:rPr sz="1275" b="0" i="0" u="none" dirty="0" err="1">
                  <a:solidFill>
                    <a:srgbClr val="334155"/>
                  </a:solidFill>
                  <a:latin typeface="Inter"/>
                </a:rPr>
                <a:t>bukan</a:t>
              </a:r>
              <a:r>
                <a:rPr sz="1275" b="0" i="0" u="none" dirty="0">
                  <a:solidFill>
                    <a:srgbClr val="334155"/>
                  </a:solidFill>
                  <a:latin typeface="Inter"/>
                </a:rPr>
                <a:t> </a:t>
              </a:r>
              <a:r>
                <a:rPr sz="1275" b="0" i="0" u="none" dirty="0" err="1">
                  <a:solidFill>
                    <a:srgbClr val="334155"/>
                  </a:solidFill>
                  <a:latin typeface="Inter"/>
                </a:rPr>
                <a:t>selalu</a:t>
              </a:r>
              <a:r>
                <a:rPr sz="1275" b="0" i="0" u="none" dirty="0">
                  <a:solidFill>
                    <a:srgbClr val="334155"/>
                  </a:solidFill>
                  <a:latin typeface="Inter"/>
                </a:rPr>
                <a:t> data yang salah. Outlier </a:t>
              </a:r>
              <a:r>
                <a:rPr sz="1275" b="0" i="0" u="none" dirty="0" err="1">
                  <a:solidFill>
                    <a:srgbClr val="334155"/>
                  </a:solidFill>
                  <a:latin typeface="Inter"/>
                </a:rPr>
                <a:t>bisa</a:t>
              </a:r>
              <a:r>
                <a:rPr sz="1275" b="0" i="0" u="none" dirty="0">
                  <a:solidFill>
                    <a:srgbClr val="334155"/>
                  </a:solidFill>
                  <a:latin typeface="Inter"/>
                </a:rPr>
                <a:t> </a:t>
              </a:r>
              <a:r>
                <a:rPr sz="1275" b="0" i="0" u="none" dirty="0" err="1">
                  <a:solidFill>
                    <a:srgbClr val="334155"/>
                  </a:solidFill>
                  <a:latin typeface="Inter"/>
                </a:rPr>
                <a:t>jadi</a:t>
              </a:r>
              <a:r>
                <a:rPr sz="1275" b="0" i="0" u="none" dirty="0">
                  <a:solidFill>
                    <a:srgbClr val="334155"/>
                  </a:solidFill>
                  <a:latin typeface="Inter"/>
                </a:rPr>
                <a:t> alarm </a:t>
              </a:r>
              <a:r>
                <a:rPr sz="1275" b="0" i="0" u="none" dirty="0" err="1">
                  <a:solidFill>
                    <a:srgbClr val="334155"/>
                  </a:solidFill>
                  <a:latin typeface="Inter"/>
                </a:rPr>
                <a:t>kondisi</a:t>
              </a:r>
              <a:r>
                <a:rPr sz="1275" b="0" i="0" u="none" dirty="0">
                  <a:solidFill>
                    <a:srgbClr val="334155"/>
                  </a:solidFill>
                  <a:latin typeface="Inter"/>
                </a:rPr>
                <a:t> </a:t>
              </a:r>
              <a:r>
                <a:rPr sz="1275" b="0" i="0" u="none" dirty="0" err="1">
                  <a:solidFill>
                    <a:srgbClr val="334155"/>
                  </a:solidFill>
                  <a:latin typeface="Inter"/>
                </a:rPr>
                <a:t>nyata</a:t>
              </a:r>
              <a:r>
                <a:rPr sz="1275" b="0" i="0" u="none" dirty="0">
                  <a:solidFill>
                    <a:srgbClr val="334155"/>
                  </a:solidFill>
                  <a:latin typeface="Inter"/>
                </a:rPr>
                <a:t>:</a:t>
              </a:r>
            </a:p>
          </p:txBody>
        </p:sp>
        <p:pic>
          <p:nvPicPr>
            <p:cNvPr id="18" name="Picture 17" descr="image.png">
              <a:extLst>
                <a:ext uri="{FF2B5EF4-FFF2-40B4-BE49-F238E27FC236}">
                  <a16:creationId xmlns:a16="http://schemas.microsoft.com/office/drawing/2014/main" id="{689FBAD7-829B-4901-96C1-60F99256F498}"/>
                </a:ext>
              </a:extLst>
            </p:cNvPr>
            <p:cNvPicPr>
              <a:picLocks noChangeAspect="1"/>
            </p:cNvPicPr>
            <p:nvPr/>
          </p:nvPicPr>
          <p:blipFill>
            <a:blip r:embed="rId7"/>
            <a:stretch>
              <a:fillRect/>
            </a:stretch>
          </p:blipFill>
          <p:spPr>
            <a:xfrm>
              <a:off x="6515100" y="2782639"/>
              <a:ext cx="190500" cy="190500"/>
            </a:xfrm>
            <a:prstGeom prst="rect">
              <a:avLst/>
            </a:prstGeom>
          </p:spPr>
        </p:pic>
        <p:sp>
          <p:nvSpPr>
            <p:cNvPr id="19" name="TextBox 18">
              <a:extLst>
                <a:ext uri="{FF2B5EF4-FFF2-40B4-BE49-F238E27FC236}">
                  <a16:creationId xmlns:a16="http://schemas.microsoft.com/office/drawing/2014/main" id="{7407E0F9-4AB7-64F7-98C7-6947386E85BB}"/>
                </a:ext>
              </a:extLst>
            </p:cNvPr>
            <p:cNvSpPr txBox="1"/>
            <p:nvPr/>
          </p:nvSpPr>
          <p:spPr>
            <a:xfrm>
              <a:off x="6781800" y="3658939"/>
              <a:ext cx="4695825" cy="242887"/>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Lembur berturut-turut tanpa jeda</a:t>
              </a:r>
            </a:p>
          </p:txBody>
        </p:sp>
        <p:sp>
          <p:nvSpPr>
            <p:cNvPr id="20" name="TextBox 19">
              <a:extLst>
                <a:ext uri="{FF2B5EF4-FFF2-40B4-BE49-F238E27FC236}">
                  <a16:creationId xmlns:a16="http://schemas.microsoft.com/office/drawing/2014/main" id="{C6C5BFA9-1353-966E-DBC6-815FEB0DBC42}"/>
                </a:ext>
              </a:extLst>
            </p:cNvPr>
            <p:cNvSpPr txBox="1"/>
            <p:nvPr/>
          </p:nvSpPr>
          <p:spPr>
            <a:xfrm>
              <a:off x="6781800" y="4016126"/>
              <a:ext cx="4695825" cy="242887"/>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Beban fisik ekstrem pada shift malam</a:t>
              </a:r>
            </a:p>
          </p:txBody>
        </p:sp>
        <p:sp>
          <p:nvSpPr>
            <p:cNvPr id="21" name="TextBox 20">
              <a:extLst>
                <a:ext uri="{FF2B5EF4-FFF2-40B4-BE49-F238E27FC236}">
                  <a16:creationId xmlns:a16="http://schemas.microsoft.com/office/drawing/2014/main" id="{DFA54C2D-88E0-949D-9C4F-BAFC44DF18F9}"/>
                </a:ext>
              </a:extLst>
            </p:cNvPr>
            <p:cNvSpPr txBox="1"/>
            <p:nvPr/>
          </p:nvSpPr>
          <p:spPr>
            <a:xfrm>
              <a:off x="6781800" y="4373314"/>
              <a:ext cx="4695825" cy="242887"/>
            </a:xfrm>
            <a:prstGeom prst="rect">
              <a:avLst/>
            </a:prstGeom>
            <a:noFill/>
          </p:spPr>
          <p:txBody>
            <a:bodyPr wrap="square" lIns="0" tIns="0" rIns="0" bIns="0" anchor="t">
              <a:spAutoFit/>
            </a:bodyPr>
            <a:lstStyle/>
            <a:p>
              <a:pPr algn="l">
                <a:lnSpc>
                  <a:spcPts val="1912"/>
                </a:lnSpc>
              </a:pPr>
              <a:r>
                <a:rPr sz="1275" b="0" i="0" u="none" dirty="0" err="1">
                  <a:solidFill>
                    <a:srgbClr val="334155"/>
                  </a:solidFill>
                  <a:latin typeface="Inter"/>
                </a:rPr>
                <a:t>Masalah</a:t>
              </a:r>
              <a:r>
                <a:rPr sz="1275" b="0" i="0" u="none" dirty="0">
                  <a:solidFill>
                    <a:srgbClr val="334155"/>
                  </a:solidFill>
                  <a:latin typeface="Inter"/>
                </a:rPr>
                <a:t> personal / insomnia </a:t>
              </a:r>
              <a:r>
                <a:rPr sz="1275" b="0" i="0" u="none" dirty="0" err="1">
                  <a:solidFill>
                    <a:srgbClr val="334155"/>
                  </a:solidFill>
                  <a:latin typeface="Inter"/>
                </a:rPr>
                <a:t>berat</a:t>
              </a:r>
              <a:endParaRPr sz="1275" b="0" i="0" u="none" dirty="0">
                <a:solidFill>
                  <a:srgbClr val="334155"/>
                </a:solidFill>
                <a:latin typeface="Inter"/>
              </a:endParaRPr>
            </a:p>
          </p:txBody>
        </p:sp>
        <p:pic>
          <p:nvPicPr>
            <p:cNvPr id="22" name="Picture 21" descr="image.png">
              <a:extLst>
                <a:ext uri="{FF2B5EF4-FFF2-40B4-BE49-F238E27FC236}">
                  <a16:creationId xmlns:a16="http://schemas.microsoft.com/office/drawing/2014/main" id="{AC7A97B3-5546-1794-CF96-CA304AB3A896}"/>
                </a:ext>
              </a:extLst>
            </p:cNvPr>
            <p:cNvPicPr>
              <a:picLocks noChangeAspect="1"/>
            </p:cNvPicPr>
            <p:nvPr/>
          </p:nvPicPr>
          <p:blipFill>
            <a:blip r:embed="rId8"/>
            <a:stretch>
              <a:fillRect/>
            </a:stretch>
          </p:blipFill>
          <p:spPr>
            <a:xfrm>
              <a:off x="6515100" y="3677989"/>
              <a:ext cx="171450" cy="180975"/>
            </a:xfrm>
            <a:prstGeom prst="rect">
              <a:avLst/>
            </a:prstGeom>
          </p:spPr>
        </p:pic>
        <p:pic>
          <p:nvPicPr>
            <p:cNvPr id="23" name="Picture 22" descr="image.png">
              <a:extLst>
                <a:ext uri="{FF2B5EF4-FFF2-40B4-BE49-F238E27FC236}">
                  <a16:creationId xmlns:a16="http://schemas.microsoft.com/office/drawing/2014/main" id="{F965EB9D-B586-6B5E-79BC-7F229FE01DE1}"/>
                </a:ext>
              </a:extLst>
            </p:cNvPr>
            <p:cNvPicPr>
              <a:picLocks noChangeAspect="1"/>
            </p:cNvPicPr>
            <p:nvPr/>
          </p:nvPicPr>
          <p:blipFill>
            <a:blip r:embed="rId8"/>
            <a:stretch>
              <a:fillRect/>
            </a:stretch>
          </p:blipFill>
          <p:spPr>
            <a:xfrm>
              <a:off x="6515100" y="4035176"/>
              <a:ext cx="171450" cy="180975"/>
            </a:xfrm>
            <a:prstGeom prst="rect">
              <a:avLst/>
            </a:prstGeom>
          </p:spPr>
        </p:pic>
        <p:pic>
          <p:nvPicPr>
            <p:cNvPr id="24" name="Picture 23" descr="image.png">
              <a:extLst>
                <a:ext uri="{FF2B5EF4-FFF2-40B4-BE49-F238E27FC236}">
                  <a16:creationId xmlns:a16="http://schemas.microsoft.com/office/drawing/2014/main" id="{00DCD007-ADE7-551F-E42F-79FDFB2AB4E7}"/>
                </a:ext>
              </a:extLst>
            </p:cNvPr>
            <p:cNvPicPr>
              <a:picLocks noChangeAspect="1"/>
            </p:cNvPicPr>
            <p:nvPr/>
          </p:nvPicPr>
          <p:blipFill>
            <a:blip r:embed="rId8"/>
            <a:stretch>
              <a:fillRect/>
            </a:stretch>
          </p:blipFill>
          <p:spPr>
            <a:xfrm>
              <a:off x="6515100" y="4392364"/>
              <a:ext cx="171450" cy="180975"/>
            </a:xfrm>
            <a:prstGeom prst="rect">
              <a:avLst/>
            </a:prstGeom>
          </p:spPr>
        </p:pic>
      </p:grpSp>
    </p:spTree>
    <p:extLst>
      <p:ext uri="{BB962C8B-B14F-4D97-AF65-F5344CB8AC3E}">
        <p14:creationId xmlns:p14="http://schemas.microsoft.com/office/powerpoint/2010/main" val="18621542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E852A-BCBB-29E2-672E-5D438650FF6C}"/>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4BCFD45D-5BD4-41BA-1A2F-06F3040034C4}"/>
              </a:ext>
            </a:extLst>
          </p:cNvPr>
          <p:cNvPicPr>
            <a:picLocks noChangeAspect="1"/>
          </p:cNvPicPr>
          <p:nvPr/>
        </p:nvPicPr>
        <p:blipFill>
          <a:blip r:embed="rId3"/>
          <a:stretch>
            <a:fillRect/>
          </a:stretch>
        </p:blipFill>
        <p:spPr>
          <a:xfrm>
            <a:off x="0" y="0"/>
            <a:ext cx="12192000" cy="6858000"/>
          </a:xfrm>
          <a:prstGeom prst="rect">
            <a:avLst/>
          </a:prstGeom>
        </p:spPr>
      </p:pic>
      <p:sp>
        <p:nvSpPr>
          <p:cNvPr id="12" name="TextBox 11">
            <a:extLst>
              <a:ext uri="{FF2B5EF4-FFF2-40B4-BE49-F238E27FC236}">
                <a16:creationId xmlns:a16="http://schemas.microsoft.com/office/drawing/2014/main" id="{9499D290-0D20-1507-0B5E-2C1AE1D55214}"/>
              </a:ext>
            </a:extLst>
          </p:cNvPr>
          <p:cNvSpPr txBox="1"/>
          <p:nvPr/>
        </p:nvSpPr>
        <p:spPr>
          <a:xfrm>
            <a:off x="714375" y="476250"/>
            <a:ext cx="11451431" cy="388590"/>
          </a:xfrm>
          <a:prstGeom prst="rect">
            <a:avLst/>
          </a:prstGeom>
          <a:noFill/>
        </p:spPr>
        <p:txBody>
          <a:bodyPr wrap="square" lIns="0" tIns="0" rIns="0" bIns="0" anchor="t">
            <a:spAutoFit/>
          </a:bodyPr>
          <a:lstStyle/>
          <a:p>
            <a:pPr algn="l">
              <a:lnSpc>
                <a:spcPts val="3060"/>
              </a:lnSpc>
            </a:pPr>
            <a:r>
              <a:rPr sz="2550" b="1" i="0" u="none">
                <a:solidFill>
                  <a:srgbClr val="0F172A"/>
                </a:solidFill>
                <a:latin typeface="Poppins"/>
              </a:rPr>
              <a:t>Statistik Deskriptif &amp; Outlier</a:t>
            </a:r>
          </a:p>
        </p:txBody>
      </p:sp>
      <p:sp>
        <p:nvSpPr>
          <p:cNvPr id="13" name="Rectangle 12">
            <a:extLst>
              <a:ext uri="{FF2B5EF4-FFF2-40B4-BE49-F238E27FC236}">
                <a16:creationId xmlns:a16="http://schemas.microsoft.com/office/drawing/2014/main" id="{86C32E9F-ABFF-D884-8DCA-D8B0A44D317C}"/>
              </a:ext>
            </a:extLst>
          </p:cNvPr>
          <p:cNvSpPr/>
          <p:nvPr/>
        </p:nvSpPr>
        <p:spPr>
          <a:xfrm>
            <a:off x="571500" y="476250"/>
            <a:ext cx="47625" cy="38859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Google Shape;724;p92">
            <a:extLst>
              <a:ext uri="{FF2B5EF4-FFF2-40B4-BE49-F238E27FC236}">
                <a16:creationId xmlns:a16="http://schemas.microsoft.com/office/drawing/2014/main" id="{0A6C3BCE-8338-DC13-4B6D-1EE3841C9DFC}"/>
              </a:ext>
            </a:extLst>
          </p:cNvPr>
          <p:cNvPicPr preferRelativeResize="0"/>
          <p:nvPr/>
        </p:nvPicPr>
        <p:blipFill rotWithShape="1">
          <a:blip r:embed="rId4">
            <a:alphaModFix/>
          </a:blip>
          <a:srcRect r="5962"/>
          <a:stretch/>
        </p:blipFill>
        <p:spPr>
          <a:xfrm>
            <a:off x="714374" y="1590016"/>
            <a:ext cx="10563225" cy="4226584"/>
          </a:xfrm>
          <a:prstGeom prst="rect">
            <a:avLst/>
          </a:prstGeom>
          <a:noFill/>
          <a:ln>
            <a:noFill/>
          </a:ln>
        </p:spPr>
      </p:pic>
      <p:sp>
        <p:nvSpPr>
          <p:cNvPr id="16" name="Rectangle: Rounded Corners 15">
            <a:extLst>
              <a:ext uri="{FF2B5EF4-FFF2-40B4-BE49-F238E27FC236}">
                <a16:creationId xmlns:a16="http://schemas.microsoft.com/office/drawing/2014/main" id="{67085223-B6D3-7AFF-3B1A-7187CF34421A}"/>
              </a:ext>
            </a:extLst>
          </p:cNvPr>
          <p:cNvSpPr/>
          <p:nvPr/>
        </p:nvSpPr>
        <p:spPr>
          <a:xfrm>
            <a:off x="3086100" y="2209800"/>
            <a:ext cx="965200" cy="3505200"/>
          </a:xfrm>
          <a:prstGeom prst="roundRect">
            <a:avLst/>
          </a:prstGeom>
          <a:noFill/>
          <a:ln w="57150"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spTree>
    <p:extLst>
      <p:ext uri="{BB962C8B-B14F-4D97-AF65-F5344CB8AC3E}">
        <p14:creationId xmlns:p14="http://schemas.microsoft.com/office/powerpoint/2010/main" val="491860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circle(in)">
                                      <p:cBhvr>
                                        <p:cTn id="7" dur="2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38875" y="2639764"/>
            <a:ext cx="5476875" cy="2195512"/>
          </a:xfrm>
          <a:prstGeom prst="rect">
            <a:avLst/>
          </a:prstGeom>
        </p:spPr>
      </p:pic>
      <p:pic>
        <p:nvPicPr>
          <p:cNvPr id="4" name="Picture 3" descr="image.png"/>
          <p:cNvPicPr>
            <a:picLocks noChangeAspect="1"/>
          </p:cNvPicPr>
          <p:nvPr/>
        </p:nvPicPr>
        <p:blipFill>
          <a:blip r:embed="rId4"/>
          <a:stretch>
            <a:fillRect/>
          </a:stretch>
        </p:blipFill>
        <p:spPr>
          <a:xfrm>
            <a:off x="476250" y="6410325"/>
            <a:ext cx="11239500" cy="257175"/>
          </a:xfrm>
          <a:prstGeom prst="rect">
            <a:avLst/>
          </a:prstGeom>
        </p:spPr>
      </p:pic>
      <p:pic>
        <p:nvPicPr>
          <p:cNvPr id="5" name="Picture 4" descr="image.png"/>
          <p:cNvPicPr>
            <a:picLocks noChangeAspect="1"/>
          </p:cNvPicPr>
          <p:nvPr/>
        </p:nvPicPr>
        <p:blipFill>
          <a:blip r:embed="rId5"/>
          <a:stretch>
            <a:fillRect/>
          </a:stretch>
        </p:blipFill>
        <p:spPr>
          <a:xfrm>
            <a:off x="476250" y="479970"/>
            <a:ext cx="300037" cy="266700"/>
          </a:xfrm>
          <a:prstGeom prst="rect">
            <a:avLst/>
          </a:prstGeom>
        </p:spPr>
      </p:pic>
      <p:sp>
        <p:nvSpPr>
          <p:cNvPr id="6" name="TextBox 5"/>
          <p:cNvSpPr txBox="1"/>
          <p:nvPr/>
        </p:nvSpPr>
        <p:spPr>
          <a:xfrm>
            <a:off x="476250" y="6515100"/>
            <a:ext cx="1752600" cy="152400"/>
          </a:xfrm>
          <a:prstGeom prst="rect">
            <a:avLst/>
          </a:prstGeom>
          <a:noFill/>
        </p:spPr>
        <p:txBody>
          <a:bodyPr wrap="square" lIns="0" tIns="0" rIns="0" bIns="0" anchor="t">
            <a:spAutoFit/>
          </a:bodyPr>
          <a:lstStyle/>
          <a:p>
            <a:pPr algn="l"/>
            <a:r>
              <a:rPr sz="975" b="0" i="0" u="none" dirty="0">
                <a:solidFill>
                  <a:srgbClr val="64748B"/>
                </a:solidFill>
                <a:latin typeface="Inter"/>
              </a:rPr>
              <a:t>Materi Data Mining — EDA </a:t>
            </a:r>
          </a:p>
        </p:txBody>
      </p:sp>
      <p:sp>
        <p:nvSpPr>
          <p:cNvPr id="7" name="TextBox 6"/>
          <p:cNvSpPr txBox="1"/>
          <p:nvPr/>
        </p:nvSpPr>
        <p:spPr>
          <a:xfrm>
            <a:off x="10991850" y="6515100"/>
            <a:ext cx="723900" cy="152400"/>
          </a:xfrm>
          <a:prstGeom prst="rect">
            <a:avLst/>
          </a:prstGeom>
          <a:noFill/>
        </p:spPr>
        <p:txBody>
          <a:bodyPr wrap="square" lIns="0" tIns="0" rIns="0" bIns="0" anchor="t">
            <a:spAutoFit/>
          </a:bodyPr>
          <a:lstStyle/>
          <a:p>
            <a:pPr algn="l"/>
            <a:r>
              <a:rPr sz="975" b="0" i="0" u="none">
                <a:solidFill>
                  <a:srgbClr val="64748B"/>
                </a:solidFill>
                <a:latin typeface="Inter"/>
              </a:rPr>
              <a:t>Slide 16 / 38</a:t>
            </a:r>
          </a:p>
        </p:txBody>
      </p:sp>
      <p:sp>
        <p:nvSpPr>
          <p:cNvPr id="8" name="TextBox 7"/>
          <p:cNvSpPr txBox="1"/>
          <p:nvPr/>
        </p:nvSpPr>
        <p:spPr>
          <a:xfrm>
            <a:off x="476250" y="2639764"/>
            <a:ext cx="5750718" cy="219075"/>
          </a:xfrm>
          <a:prstGeom prst="rect">
            <a:avLst/>
          </a:prstGeom>
          <a:noFill/>
        </p:spPr>
        <p:txBody>
          <a:bodyPr wrap="square" lIns="0" tIns="0" rIns="0" bIns="0" anchor="t">
            <a:spAutoFit/>
          </a:bodyPr>
          <a:lstStyle/>
          <a:p>
            <a:pPr algn="l"/>
            <a:r>
              <a:rPr sz="1404" b="1" i="0" u="none">
                <a:solidFill>
                  <a:srgbClr val="334155"/>
                </a:solidFill>
                <a:latin typeface="Plus Jakarta Sans"/>
              </a:rPr>
              <a:t>Jumlah Kejadian Near Miss per Shift:</a:t>
            </a:r>
          </a:p>
        </p:txBody>
      </p:sp>
      <p:sp>
        <p:nvSpPr>
          <p:cNvPr id="9" name="Rounded Rectangle 8"/>
          <p:cNvSpPr/>
          <p:nvPr/>
        </p:nvSpPr>
        <p:spPr>
          <a:xfrm>
            <a:off x="476250" y="2973139"/>
            <a:ext cx="5476875" cy="1862137"/>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0" name="Table 9"/>
          <p:cNvGraphicFramePr>
            <a:graphicFrameLocks noGrp="1"/>
          </p:cNvGraphicFramePr>
          <p:nvPr/>
        </p:nvGraphicFramePr>
        <p:xfrm>
          <a:off x="476250" y="2973139"/>
          <a:ext cx="5467349" cy="1862137"/>
        </p:xfrm>
        <a:graphic>
          <a:graphicData uri="http://schemas.openxmlformats.org/drawingml/2006/table">
            <a:tbl>
              <a:tblPr firstRow="1" bandRow="1">
                <a:tableStyleId>{5C22544A-7EE6-4342-B048-85BDC9FD1C3A}</a:tableStyleId>
              </a:tblPr>
              <a:tblGrid>
                <a:gridCol w="1776263">
                  <a:extLst>
                    <a:ext uri="{9D8B030D-6E8A-4147-A177-3AD203B41FA5}">
                      <a16:colId xmlns:a16="http://schemas.microsoft.com/office/drawing/2014/main" val="20000"/>
                    </a:ext>
                  </a:extLst>
                </a:gridCol>
                <a:gridCol w="3691086">
                  <a:extLst>
                    <a:ext uri="{9D8B030D-6E8A-4147-A177-3AD203B41FA5}">
                      <a16:colId xmlns:a16="http://schemas.microsoft.com/office/drawing/2014/main" val="20001"/>
                    </a:ext>
                  </a:extLst>
                </a:gridCol>
              </a:tblGrid>
              <a:tr h="465534">
                <a:tc>
                  <a:txBody>
                    <a:bodyPr/>
                    <a:lstStyle/>
                    <a:p>
                      <a:pPr algn="l"/>
                      <a:r>
                        <a:rPr sz="1200" b="0" i="0" u="none">
                          <a:solidFill>
                            <a:srgbClr val="FFFFFF"/>
                          </a:solidFill>
                          <a:latin typeface="Inter SemiBold"/>
                        </a:rPr>
                        <a:t>Shift</a:t>
                      </a:r>
                    </a:p>
                  </a:txBody>
                  <a:tcPr marL="63500" marR="63500" marT="25400" marB="25400" anchor="ctr">
                    <a:lnL>
                      <a:noFill/>
                    </a:lnL>
                    <a:lnR>
                      <a:noFill/>
                    </a:lnR>
                    <a:lnT>
                      <a:noFill/>
                    </a:lnT>
                    <a:lnB>
                      <a:noFill/>
                    </a:lnB>
                    <a:solidFill>
                      <a:srgbClr val="1E3A8A"/>
                    </a:solidFill>
                  </a:tcPr>
                </a:tc>
                <a:tc>
                  <a:txBody>
                    <a:bodyPr/>
                    <a:lstStyle/>
                    <a:p>
                      <a:pPr algn="l"/>
                      <a:r>
                        <a:rPr sz="1200" b="0" i="0" u="none">
                          <a:solidFill>
                            <a:srgbClr val="FFFFFF"/>
                          </a:solidFill>
                          <a:latin typeface="Inter SemiBold"/>
                        </a:rPr>
                        <a:t>Jumlah Near Miss</a:t>
                      </a:r>
                    </a:p>
                  </a:txBody>
                  <a:tcPr marL="63500" marR="63500" marT="25400" marB="25400" anchor="ctr">
                    <a:lnL>
                      <a:noFill/>
                    </a:lnL>
                    <a:lnR>
                      <a:noFill/>
                    </a:lnR>
                    <a:lnT>
                      <a:noFill/>
                    </a:lnT>
                    <a:lnB>
                      <a:noFill/>
                    </a:lnB>
                    <a:solidFill>
                      <a:srgbClr val="1E3A8A"/>
                    </a:solidFill>
                  </a:tcPr>
                </a:tc>
                <a:extLst>
                  <a:ext uri="{0D108BD9-81ED-4DB2-BD59-A6C34878D82A}">
                    <a16:rowId xmlns:a16="http://schemas.microsoft.com/office/drawing/2014/main" val="10000"/>
                  </a:ext>
                </a:extLst>
              </a:tr>
              <a:tr h="465534">
                <a:tc>
                  <a:txBody>
                    <a:bodyPr/>
                    <a:lstStyle/>
                    <a:p>
                      <a:pPr algn="l"/>
                      <a:r>
                        <a:rPr sz="1125" b="0" i="0" u="none">
                          <a:solidFill>
                            <a:srgbClr val="334155"/>
                          </a:solidFill>
                          <a:latin typeface="Inter"/>
                        </a:rPr>
                        <a:t>Pagi</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12 Kejadian</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1"/>
                  </a:ext>
                </a:extLst>
              </a:tr>
              <a:tr h="465534">
                <a:tc>
                  <a:txBody>
                    <a:bodyPr/>
                    <a:lstStyle/>
                    <a:p>
                      <a:pPr algn="l"/>
                      <a:r>
                        <a:rPr sz="1125" b="0" i="0" u="none">
                          <a:solidFill>
                            <a:srgbClr val="334155"/>
                          </a:solidFill>
                          <a:latin typeface="Inter"/>
                        </a:rPr>
                        <a:t>Siang</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18 Kejadian</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2"/>
                  </a:ext>
                </a:extLst>
              </a:tr>
              <a:tr h="465535">
                <a:tc>
                  <a:txBody>
                    <a:bodyPr/>
                    <a:lstStyle/>
                    <a:p>
                      <a:pPr algn="l"/>
                      <a:r>
                        <a:rPr sz="1125" b="0" i="0" u="none">
                          <a:solidFill>
                            <a:srgbClr val="334155"/>
                          </a:solidFill>
                          <a:latin typeface="Inter"/>
                        </a:rPr>
                        <a:t>Malam</a:t>
                      </a:r>
                    </a:p>
                  </a:txBody>
                  <a:tcPr marL="63500" marR="63500" marT="25400" marB="25400" anchor="ctr">
                    <a:lnL>
                      <a:noFill/>
                    </a:lnL>
                    <a:lnR>
                      <a:noFill/>
                    </a:lnR>
                    <a:lnT>
                      <a:noFill/>
                    </a:lnT>
                    <a:lnB>
                      <a:noFill/>
                    </a:lnB>
                    <a:noFill/>
                  </a:tcPr>
                </a:tc>
                <a:tc>
                  <a:txBody>
                    <a:bodyPr/>
                    <a:lstStyle/>
                    <a:p>
                      <a:pPr algn="l"/>
                      <a:r>
                        <a:rPr sz="1125" b="1" i="0" u="none">
                          <a:latin typeface="Inter"/>
                        </a:rPr>
                        <a:t>37 Kejadian</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3"/>
                  </a:ext>
                </a:extLst>
              </a:tr>
            </a:tbl>
          </a:graphicData>
        </a:graphic>
      </p:graphicFrame>
      <p:sp>
        <p:nvSpPr>
          <p:cNvPr id="11" name="TextBox 10"/>
          <p:cNvSpPr txBox="1"/>
          <p:nvPr/>
        </p:nvSpPr>
        <p:spPr>
          <a:xfrm>
            <a:off x="6515100" y="3158876"/>
            <a:ext cx="5210651" cy="238125"/>
          </a:xfrm>
          <a:prstGeom prst="rect">
            <a:avLst/>
          </a:prstGeom>
          <a:noFill/>
        </p:spPr>
        <p:txBody>
          <a:bodyPr wrap="square" lIns="190500" tIns="0" rIns="0" bIns="0" anchor="t">
            <a:spAutoFit/>
          </a:bodyPr>
          <a:lstStyle/>
          <a:p>
            <a:pPr algn="l"/>
            <a:r>
              <a:rPr sz="1500" b="1" i="0" u="none">
                <a:solidFill>
                  <a:srgbClr val="0F172A"/>
                </a:solidFill>
                <a:latin typeface="Plus Jakarta Sans"/>
              </a:rPr>
              <a:t>Temuan Awal</a:t>
            </a:r>
          </a:p>
        </p:txBody>
      </p:sp>
      <p:sp>
        <p:nvSpPr>
          <p:cNvPr id="12" name="TextBox 11"/>
          <p:cNvSpPr txBox="1"/>
          <p:nvPr/>
        </p:nvSpPr>
        <p:spPr>
          <a:xfrm>
            <a:off x="6515100" y="3492251"/>
            <a:ext cx="4962525" cy="485775"/>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Shift malam memiliki jumlah insiden near miss absolut paling banyak (37 kejadian).</a:t>
            </a:r>
          </a:p>
        </p:txBody>
      </p:sp>
      <p:sp>
        <p:nvSpPr>
          <p:cNvPr id="13" name="TextBox 12"/>
          <p:cNvSpPr txBox="1"/>
          <p:nvPr/>
        </p:nvSpPr>
        <p:spPr>
          <a:xfrm>
            <a:off x="6515100" y="4073276"/>
            <a:ext cx="4962525" cy="242887"/>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SemiBold"/>
              </a:rPr>
              <a:t>Apakah analisis cukup sampai di sini? </a:t>
            </a:r>
            <a:r>
              <a:rPr sz="1275" b="0" i="0" u="none">
                <a:solidFill>
                  <a:srgbClr val="334155"/>
                </a:solidFill>
                <a:latin typeface="Inter Black"/>
              </a:rPr>
              <a:t>Belum!</a:t>
            </a:r>
          </a:p>
        </p:txBody>
      </p:sp>
      <p:pic>
        <p:nvPicPr>
          <p:cNvPr id="14" name="Picture 13" descr="image.png"/>
          <p:cNvPicPr>
            <a:picLocks noChangeAspect="1"/>
          </p:cNvPicPr>
          <p:nvPr/>
        </p:nvPicPr>
        <p:blipFill>
          <a:blip r:embed="rId6"/>
          <a:stretch>
            <a:fillRect/>
          </a:stretch>
        </p:blipFill>
        <p:spPr>
          <a:xfrm>
            <a:off x="6515100" y="3196976"/>
            <a:ext cx="190500" cy="190500"/>
          </a:xfrm>
          <a:prstGeom prst="rect">
            <a:avLst/>
          </a:prstGeom>
        </p:spPr>
      </p:pic>
      <p:sp>
        <p:nvSpPr>
          <p:cNvPr id="15" name="Rectangle 14"/>
          <p:cNvSpPr/>
          <p:nvPr/>
        </p:nvSpPr>
        <p:spPr>
          <a:xfrm>
            <a:off x="481012" y="3916114"/>
            <a:ext cx="177626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257276" y="3916114"/>
            <a:ext cx="369108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81012" y="4368551"/>
            <a:ext cx="177626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257276" y="4368551"/>
            <a:ext cx="369108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90587" y="419100"/>
            <a:ext cx="11301412" cy="388590"/>
          </a:xfrm>
          <a:prstGeom prst="rect">
            <a:avLst/>
          </a:prstGeom>
          <a:noFill/>
        </p:spPr>
        <p:txBody>
          <a:bodyPr wrap="square" lIns="0" tIns="0" rIns="0" bIns="0" anchor="ctr">
            <a:spAutoFit/>
          </a:bodyPr>
          <a:lstStyle/>
          <a:p>
            <a:pPr algn="l">
              <a:lnSpc>
                <a:spcPts val="3060"/>
              </a:lnSpc>
            </a:pPr>
            <a:r>
              <a:rPr sz="2550" b="1" i="0" u="none">
                <a:solidFill>
                  <a:srgbClr val="0F172A"/>
                </a:solidFill>
                <a:latin typeface="Plus Jakarta Sans"/>
              </a:rPr>
              <a:t>Analisis Data Kategori</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76250" y="4247108"/>
            <a:ext cx="11239500" cy="1033462"/>
          </a:xfrm>
          <a:prstGeom prst="rect">
            <a:avLst/>
          </a:prstGeom>
        </p:spPr>
      </p:pic>
      <p:pic>
        <p:nvPicPr>
          <p:cNvPr id="4" name="Picture 3" descr="image.png"/>
          <p:cNvPicPr>
            <a:picLocks noChangeAspect="1"/>
          </p:cNvPicPr>
          <p:nvPr/>
        </p:nvPicPr>
        <p:blipFill>
          <a:blip r:embed="rId4"/>
          <a:stretch>
            <a:fillRect/>
          </a:stretch>
        </p:blipFill>
        <p:spPr>
          <a:xfrm>
            <a:off x="476250" y="6410325"/>
            <a:ext cx="11239500" cy="257175"/>
          </a:xfrm>
          <a:prstGeom prst="rect">
            <a:avLst/>
          </a:prstGeom>
        </p:spPr>
      </p:pic>
      <p:pic>
        <p:nvPicPr>
          <p:cNvPr id="5" name="Picture 4" descr="image.png"/>
          <p:cNvPicPr>
            <a:picLocks noChangeAspect="1"/>
          </p:cNvPicPr>
          <p:nvPr/>
        </p:nvPicPr>
        <p:blipFill>
          <a:blip r:embed="rId5"/>
          <a:stretch>
            <a:fillRect/>
          </a:stretch>
        </p:blipFill>
        <p:spPr>
          <a:xfrm>
            <a:off x="476250" y="479970"/>
            <a:ext cx="195262" cy="266700"/>
          </a:xfrm>
          <a:prstGeom prst="rect">
            <a:avLst/>
          </a:prstGeom>
        </p:spPr>
      </p:pic>
      <p:sp>
        <p:nvSpPr>
          <p:cNvPr id="6" name="Rounded Rectangle 5"/>
          <p:cNvSpPr/>
          <p:nvPr/>
        </p:nvSpPr>
        <p:spPr>
          <a:xfrm>
            <a:off x="476250" y="2194470"/>
            <a:ext cx="11239500" cy="1862137"/>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nvGraphicFramePr>
        <p:xfrm>
          <a:off x="476250" y="2194470"/>
          <a:ext cx="11229973" cy="1862137"/>
        </p:xfrm>
        <a:graphic>
          <a:graphicData uri="http://schemas.openxmlformats.org/drawingml/2006/table">
            <a:tbl>
              <a:tblPr firstRow="1" bandRow="1">
                <a:tableStyleId>{5C22544A-7EE6-4342-B048-85BDC9FD1C3A}</a:tableStyleId>
              </a:tblPr>
              <a:tblGrid>
                <a:gridCol w="1857970">
                  <a:extLst>
                    <a:ext uri="{9D8B030D-6E8A-4147-A177-3AD203B41FA5}">
                      <a16:colId xmlns:a16="http://schemas.microsoft.com/office/drawing/2014/main" val="20000"/>
                    </a:ext>
                  </a:extLst>
                </a:gridCol>
                <a:gridCol w="3192065">
                  <a:extLst>
                    <a:ext uri="{9D8B030D-6E8A-4147-A177-3AD203B41FA5}">
                      <a16:colId xmlns:a16="http://schemas.microsoft.com/office/drawing/2014/main" val="20001"/>
                    </a:ext>
                  </a:extLst>
                </a:gridCol>
                <a:gridCol w="2831901">
                  <a:extLst>
                    <a:ext uri="{9D8B030D-6E8A-4147-A177-3AD203B41FA5}">
                      <a16:colId xmlns:a16="http://schemas.microsoft.com/office/drawing/2014/main" val="20002"/>
                    </a:ext>
                  </a:extLst>
                </a:gridCol>
                <a:gridCol w="3348037">
                  <a:extLst>
                    <a:ext uri="{9D8B030D-6E8A-4147-A177-3AD203B41FA5}">
                      <a16:colId xmlns:a16="http://schemas.microsoft.com/office/drawing/2014/main" val="20003"/>
                    </a:ext>
                  </a:extLst>
                </a:gridCol>
              </a:tblGrid>
              <a:tr h="465534">
                <a:tc>
                  <a:txBody>
                    <a:bodyPr/>
                    <a:lstStyle/>
                    <a:p>
                      <a:pPr algn="l"/>
                      <a:r>
                        <a:rPr sz="1200" b="0" i="0" u="none">
                          <a:solidFill>
                            <a:srgbClr val="FFFFFF"/>
                          </a:solidFill>
                          <a:latin typeface="Inter SemiBold"/>
                        </a:rPr>
                        <a:t>Shift Kerja</a:t>
                      </a:r>
                    </a:p>
                  </a:txBody>
                  <a:tcPr marL="63500" marR="63500" marT="25400" marB="25400" anchor="ctr">
                    <a:lnL>
                      <a:noFill/>
                    </a:lnL>
                    <a:lnR>
                      <a:noFill/>
                    </a:lnR>
                    <a:lnT>
                      <a:noFill/>
                    </a:lnT>
                    <a:lnB>
                      <a:noFill/>
                    </a:lnB>
                    <a:solidFill>
                      <a:srgbClr val="1E3A8A"/>
                    </a:solidFill>
                  </a:tcPr>
                </a:tc>
                <a:tc>
                  <a:txBody>
                    <a:bodyPr/>
                    <a:lstStyle/>
                    <a:p>
                      <a:pPr algn="l"/>
                      <a:r>
                        <a:rPr sz="1200" b="0" i="0" u="none">
                          <a:solidFill>
                            <a:srgbClr val="FFFFFF"/>
                          </a:solidFill>
                          <a:latin typeface="Inter SemiBold"/>
                        </a:rPr>
                        <a:t>Jumlah Total Pekerja</a:t>
                      </a:r>
                    </a:p>
                  </a:txBody>
                  <a:tcPr marL="63500" marR="63500" marT="25400" marB="25400" anchor="ctr">
                    <a:lnL>
                      <a:noFill/>
                    </a:lnL>
                    <a:lnR>
                      <a:noFill/>
                    </a:lnR>
                    <a:lnT>
                      <a:noFill/>
                    </a:lnT>
                    <a:lnB>
                      <a:noFill/>
                    </a:lnB>
                    <a:solidFill>
                      <a:srgbClr val="1E3A8A"/>
                    </a:solidFill>
                  </a:tcPr>
                </a:tc>
                <a:tc>
                  <a:txBody>
                    <a:bodyPr/>
                    <a:lstStyle/>
                    <a:p>
                      <a:pPr algn="l"/>
                      <a:r>
                        <a:rPr sz="1200" b="0" i="0" u="none">
                          <a:solidFill>
                            <a:srgbClr val="FFFFFF"/>
                          </a:solidFill>
                          <a:latin typeface="Inter SemiBold"/>
                        </a:rPr>
                        <a:t>Jumlah Near Miss</a:t>
                      </a:r>
                    </a:p>
                  </a:txBody>
                  <a:tcPr marL="63500" marR="63500" marT="25400" marB="25400" anchor="ctr">
                    <a:lnL>
                      <a:noFill/>
                    </a:lnL>
                    <a:lnR>
                      <a:noFill/>
                    </a:lnR>
                    <a:lnT>
                      <a:noFill/>
                    </a:lnT>
                    <a:lnB>
                      <a:noFill/>
                    </a:lnB>
                    <a:solidFill>
                      <a:srgbClr val="1E3A8A"/>
                    </a:solidFill>
                  </a:tcPr>
                </a:tc>
                <a:tc>
                  <a:txBody>
                    <a:bodyPr/>
                    <a:lstStyle/>
                    <a:p>
                      <a:pPr algn="l"/>
                      <a:r>
                        <a:rPr sz="1200" b="0" i="0" u="none">
                          <a:solidFill>
                            <a:srgbClr val="FFFFFF"/>
                          </a:solidFill>
                          <a:latin typeface="Inter SemiBold"/>
                        </a:rPr>
                        <a:t>Persentase Risiko (%)</a:t>
                      </a:r>
                    </a:p>
                  </a:txBody>
                  <a:tcPr marL="63500" marR="63500" marT="25400" marB="25400" anchor="ctr">
                    <a:lnL>
                      <a:noFill/>
                    </a:lnL>
                    <a:lnR>
                      <a:noFill/>
                    </a:lnR>
                    <a:lnT>
                      <a:noFill/>
                    </a:lnT>
                    <a:lnB>
                      <a:noFill/>
                    </a:lnB>
                    <a:solidFill>
                      <a:srgbClr val="1E3A8A"/>
                    </a:solidFill>
                  </a:tcPr>
                </a:tc>
                <a:extLst>
                  <a:ext uri="{0D108BD9-81ED-4DB2-BD59-A6C34878D82A}">
                    <a16:rowId xmlns:a16="http://schemas.microsoft.com/office/drawing/2014/main" val="10000"/>
                  </a:ext>
                </a:extLst>
              </a:tr>
              <a:tr h="465534">
                <a:tc>
                  <a:txBody>
                    <a:bodyPr/>
                    <a:lstStyle/>
                    <a:p>
                      <a:pPr algn="l"/>
                      <a:r>
                        <a:rPr sz="1125" b="0" i="0" u="none">
                          <a:solidFill>
                            <a:srgbClr val="334155"/>
                          </a:solidFill>
                          <a:latin typeface="Inter"/>
                        </a:rPr>
                        <a:t>Pagi</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200 Pekerja</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20</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10.0%</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1"/>
                  </a:ext>
                </a:extLst>
              </a:tr>
              <a:tr h="465534">
                <a:tc>
                  <a:txBody>
                    <a:bodyPr/>
                    <a:lstStyle/>
                    <a:p>
                      <a:pPr algn="l"/>
                      <a:r>
                        <a:rPr sz="1125" b="0" i="0" u="none">
                          <a:solidFill>
                            <a:srgbClr val="334155"/>
                          </a:solidFill>
                          <a:latin typeface="Inter"/>
                        </a:rPr>
                        <a:t>Siang</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200 Pekerja</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30</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15.0%</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2"/>
                  </a:ext>
                </a:extLst>
              </a:tr>
              <a:tr h="465535">
                <a:tc>
                  <a:txBody>
                    <a:bodyPr/>
                    <a:lstStyle/>
                    <a:p>
                      <a:pPr algn="l"/>
                      <a:r>
                        <a:rPr sz="1125" b="0" i="0" u="none">
                          <a:solidFill>
                            <a:srgbClr val="334155"/>
                          </a:solidFill>
                          <a:latin typeface="Inter"/>
                        </a:rPr>
                        <a:t>Malam</a:t>
                      </a:r>
                    </a:p>
                  </a:txBody>
                  <a:tcPr marL="63500" marR="63500" marT="25400" marB="25400" anchor="ctr">
                    <a:lnL>
                      <a:noFill/>
                    </a:lnL>
                    <a:lnR>
                      <a:noFill/>
                    </a:lnR>
                    <a:lnT>
                      <a:noFill/>
                    </a:lnT>
                    <a:lnB>
                      <a:noFill/>
                    </a:lnB>
                    <a:noFill/>
                  </a:tcPr>
                </a:tc>
                <a:tc>
                  <a:txBody>
                    <a:bodyPr/>
                    <a:lstStyle/>
                    <a:p>
                      <a:pPr algn="l"/>
                      <a:r>
                        <a:rPr sz="1125" b="1" i="0" u="none">
                          <a:solidFill>
                            <a:srgbClr val="334155"/>
                          </a:solidFill>
                          <a:latin typeface="Inter"/>
                        </a:rPr>
                        <a:t>100 Pekerja</a:t>
                      </a:r>
                    </a:p>
                  </a:txBody>
                  <a:tcPr marL="63500" marR="63500" marT="25400" marB="25400" anchor="ctr">
                    <a:lnL>
                      <a:noFill/>
                    </a:lnL>
                    <a:lnR>
                      <a:noFill/>
                    </a:lnR>
                    <a:lnT>
                      <a:noFill/>
                    </a:lnT>
                    <a:lnB>
                      <a:noFill/>
                    </a:lnB>
                    <a:noFill/>
                  </a:tcPr>
                </a:tc>
                <a:tc>
                  <a:txBody>
                    <a:bodyPr/>
                    <a:lstStyle/>
                    <a:p>
                      <a:pPr algn="l"/>
                      <a:r>
                        <a:rPr sz="1125" b="0" i="0" u="none">
                          <a:solidFill>
                            <a:srgbClr val="334155"/>
                          </a:solidFill>
                          <a:latin typeface="Inter"/>
                        </a:rPr>
                        <a:t>25</a:t>
                      </a:r>
                    </a:p>
                  </a:txBody>
                  <a:tcPr marL="63500" marR="63500" marT="25400" marB="25400" anchor="ctr">
                    <a:lnL>
                      <a:noFill/>
                    </a:lnL>
                    <a:lnR>
                      <a:noFill/>
                    </a:lnR>
                    <a:lnT>
                      <a:noFill/>
                    </a:lnT>
                    <a:lnB>
                      <a:noFill/>
                    </a:lnB>
                    <a:noFill/>
                  </a:tcPr>
                </a:tc>
                <a:tc>
                  <a:txBody>
                    <a:bodyPr/>
                    <a:lstStyle/>
                    <a:p>
                      <a:pPr algn="l"/>
                      <a:r>
                        <a:rPr sz="1125" b="1" i="0" u="none">
                          <a:latin typeface="Inter"/>
                        </a:rPr>
                        <a:t>25.0%</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3"/>
                  </a:ext>
                </a:extLst>
              </a:tr>
            </a:tbl>
          </a:graphicData>
        </a:graphic>
      </p:graphicFrame>
      <p:sp>
        <p:nvSpPr>
          <p:cNvPr id="8" name="TextBox 7"/>
          <p:cNvSpPr txBox="1"/>
          <p:nvPr/>
        </p:nvSpPr>
        <p:spPr>
          <a:xfrm>
            <a:off x="476250" y="6515100"/>
            <a:ext cx="1752600" cy="152400"/>
          </a:xfrm>
          <a:prstGeom prst="rect">
            <a:avLst/>
          </a:prstGeom>
          <a:noFill/>
        </p:spPr>
        <p:txBody>
          <a:bodyPr wrap="square" lIns="0" tIns="0" rIns="0" bIns="0" anchor="t">
            <a:spAutoFit/>
          </a:bodyPr>
          <a:lstStyle/>
          <a:p>
            <a:pPr algn="l"/>
            <a:r>
              <a:rPr sz="975" b="0" i="0" u="none" dirty="0">
                <a:solidFill>
                  <a:srgbClr val="64748B"/>
                </a:solidFill>
                <a:latin typeface="Inter"/>
              </a:rPr>
              <a:t>Materi Data Mining — EDA </a:t>
            </a:r>
          </a:p>
        </p:txBody>
      </p:sp>
      <p:sp>
        <p:nvSpPr>
          <p:cNvPr id="9" name="TextBox 8"/>
          <p:cNvSpPr txBox="1"/>
          <p:nvPr/>
        </p:nvSpPr>
        <p:spPr>
          <a:xfrm>
            <a:off x="11001375" y="6515100"/>
            <a:ext cx="714375" cy="152400"/>
          </a:xfrm>
          <a:prstGeom prst="rect">
            <a:avLst/>
          </a:prstGeom>
          <a:noFill/>
        </p:spPr>
        <p:txBody>
          <a:bodyPr wrap="square" lIns="0" tIns="0" rIns="0" bIns="0" anchor="t">
            <a:spAutoFit/>
          </a:bodyPr>
          <a:lstStyle/>
          <a:p>
            <a:pPr algn="l"/>
            <a:r>
              <a:rPr sz="975" b="0" i="0" u="none">
                <a:solidFill>
                  <a:srgbClr val="64748B"/>
                </a:solidFill>
                <a:latin typeface="Inter"/>
              </a:rPr>
              <a:t>Slide 17 / 38</a:t>
            </a:r>
          </a:p>
        </p:txBody>
      </p:sp>
      <p:sp>
        <p:nvSpPr>
          <p:cNvPr id="10" name="TextBox 9"/>
          <p:cNvSpPr txBox="1"/>
          <p:nvPr/>
        </p:nvSpPr>
        <p:spPr>
          <a:xfrm>
            <a:off x="676275" y="4399508"/>
            <a:ext cx="10887075" cy="225896"/>
          </a:xfrm>
          <a:prstGeom prst="rect">
            <a:avLst/>
          </a:prstGeom>
          <a:noFill/>
        </p:spPr>
        <p:txBody>
          <a:bodyPr wrap="square" lIns="0" tIns="0" rIns="0" bIns="0" anchor="t">
            <a:spAutoFit/>
          </a:bodyPr>
          <a:lstStyle/>
          <a:p>
            <a:pPr algn="l">
              <a:lnSpc>
                <a:spcPts val="1912"/>
              </a:lnSpc>
            </a:pPr>
            <a:r>
              <a:rPr sz="1275" b="1" i="0" u="none" dirty="0" err="1">
                <a:solidFill>
                  <a:srgbClr val="1E3A8A"/>
                </a:solidFill>
                <a:latin typeface="Inter"/>
              </a:rPr>
              <a:t>Prinsip</a:t>
            </a:r>
            <a:r>
              <a:rPr sz="1275" b="1" i="0" u="none" dirty="0">
                <a:solidFill>
                  <a:srgbClr val="1E3A8A"/>
                </a:solidFill>
                <a:latin typeface="Inter"/>
              </a:rPr>
              <a:t> Utama EDA :</a:t>
            </a:r>
          </a:p>
        </p:txBody>
      </p:sp>
      <p:sp>
        <p:nvSpPr>
          <p:cNvPr id="11" name="TextBox 10"/>
          <p:cNvSpPr txBox="1"/>
          <p:nvPr/>
        </p:nvSpPr>
        <p:spPr>
          <a:xfrm>
            <a:off x="676275" y="4642395"/>
            <a:ext cx="10887075" cy="485775"/>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Meskipun jumlah absolut insiden siang lebih besar dari malam (30 vs 25), proporsi risiko pekerja shift malam jauh lebih tinggi (25% vs 15%). Selalu kaji rasio dan persentase populasi!</a:t>
            </a:r>
          </a:p>
        </p:txBody>
      </p:sp>
      <p:sp>
        <p:nvSpPr>
          <p:cNvPr id="12" name="Rectangle 11"/>
          <p:cNvSpPr/>
          <p:nvPr/>
        </p:nvSpPr>
        <p:spPr>
          <a:xfrm>
            <a:off x="481012" y="3137445"/>
            <a:ext cx="185797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338982" y="3137445"/>
            <a:ext cx="319206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531048" y="3137445"/>
            <a:ext cx="283190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362950" y="3137445"/>
            <a:ext cx="334803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81012" y="3589883"/>
            <a:ext cx="185797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338982" y="3589883"/>
            <a:ext cx="319206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531048" y="3589883"/>
            <a:ext cx="283190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362950" y="3589883"/>
            <a:ext cx="334803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85812" y="419100"/>
            <a:ext cx="11406187" cy="388590"/>
          </a:xfrm>
          <a:prstGeom prst="rect">
            <a:avLst/>
          </a:prstGeom>
          <a:noFill/>
        </p:spPr>
        <p:txBody>
          <a:bodyPr wrap="square" lIns="0" tIns="0" rIns="0" bIns="0" anchor="ctr">
            <a:spAutoFit/>
          </a:bodyPr>
          <a:lstStyle/>
          <a:p>
            <a:pPr algn="l">
              <a:lnSpc>
                <a:spcPts val="3060"/>
              </a:lnSpc>
            </a:pPr>
            <a:r>
              <a:rPr sz="2550" b="1" i="0" u="none">
                <a:solidFill>
                  <a:srgbClr val="0F172A"/>
                </a:solidFill>
                <a:latin typeface="Plus Jakarta Sans"/>
              </a:rPr>
              <a:t>Pentingnya Persentase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76250" y="4294733"/>
            <a:ext cx="11239500" cy="690562"/>
          </a:xfrm>
          <a:prstGeom prst="rect">
            <a:avLst/>
          </a:prstGeom>
        </p:spPr>
      </p:pic>
      <p:pic>
        <p:nvPicPr>
          <p:cNvPr id="4" name="Picture 3" descr="image.png"/>
          <p:cNvPicPr>
            <a:picLocks noChangeAspect="1"/>
          </p:cNvPicPr>
          <p:nvPr/>
        </p:nvPicPr>
        <p:blipFill>
          <a:blip r:embed="rId4"/>
          <a:stretch>
            <a:fillRect/>
          </a:stretch>
        </p:blipFill>
        <p:spPr>
          <a:xfrm>
            <a:off x="476250" y="1036290"/>
            <a:ext cx="11239500" cy="5402609"/>
          </a:xfrm>
          <a:prstGeom prst="rect">
            <a:avLst/>
          </a:prstGeom>
        </p:spPr>
      </p:pic>
      <p:pic>
        <p:nvPicPr>
          <p:cNvPr id="5" name="Picture 4" descr="image.png"/>
          <p:cNvPicPr>
            <a:picLocks noChangeAspect="1"/>
          </p:cNvPicPr>
          <p:nvPr/>
        </p:nvPicPr>
        <p:blipFill>
          <a:blip r:embed="rId5"/>
          <a:stretch>
            <a:fillRect/>
          </a:stretch>
        </p:blipFill>
        <p:spPr>
          <a:xfrm>
            <a:off x="476250" y="6410325"/>
            <a:ext cx="11239500" cy="257175"/>
          </a:xfrm>
          <a:prstGeom prst="rect">
            <a:avLst/>
          </a:prstGeom>
        </p:spPr>
      </p:pic>
      <p:pic>
        <p:nvPicPr>
          <p:cNvPr id="6" name="Picture 5" descr="image.png"/>
          <p:cNvPicPr>
            <a:picLocks noChangeAspect="1"/>
          </p:cNvPicPr>
          <p:nvPr/>
        </p:nvPicPr>
        <p:blipFill>
          <a:blip r:embed="rId6"/>
          <a:stretch>
            <a:fillRect/>
          </a:stretch>
        </p:blipFill>
        <p:spPr>
          <a:xfrm>
            <a:off x="476250" y="479970"/>
            <a:ext cx="300037" cy="266700"/>
          </a:xfrm>
          <a:prstGeom prst="rect">
            <a:avLst/>
          </a:prstGeom>
        </p:spPr>
      </p:pic>
      <p:sp>
        <p:nvSpPr>
          <p:cNvPr id="7" name="TextBox 6"/>
          <p:cNvSpPr txBox="1"/>
          <p:nvPr/>
        </p:nvSpPr>
        <p:spPr>
          <a:xfrm>
            <a:off x="476250" y="2489745"/>
            <a:ext cx="11239500" cy="242887"/>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Hubungan Tingkat Kelelahan dengan Proporsi Near Miss:</a:t>
            </a:r>
          </a:p>
        </p:txBody>
      </p:sp>
      <p:sp>
        <p:nvSpPr>
          <p:cNvPr id="8" name="TextBox 7"/>
          <p:cNvSpPr txBox="1"/>
          <p:nvPr/>
        </p:nvSpPr>
        <p:spPr>
          <a:xfrm>
            <a:off x="476250" y="6515100"/>
            <a:ext cx="1752600" cy="152400"/>
          </a:xfrm>
          <a:prstGeom prst="rect">
            <a:avLst/>
          </a:prstGeom>
          <a:noFill/>
        </p:spPr>
        <p:txBody>
          <a:bodyPr wrap="square" lIns="0" tIns="0" rIns="0" bIns="0" anchor="t">
            <a:spAutoFit/>
          </a:bodyPr>
          <a:lstStyle/>
          <a:p>
            <a:pPr algn="l"/>
            <a:r>
              <a:rPr sz="975" b="0" i="0" u="none" dirty="0">
                <a:solidFill>
                  <a:srgbClr val="64748B"/>
                </a:solidFill>
                <a:latin typeface="Inter"/>
              </a:rPr>
              <a:t>Materi Data Mining — EDA </a:t>
            </a:r>
          </a:p>
        </p:txBody>
      </p:sp>
      <p:sp>
        <p:nvSpPr>
          <p:cNvPr id="9" name="TextBox 8"/>
          <p:cNvSpPr txBox="1"/>
          <p:nvPr/>
        </p:nvSpPr>
        <p:spPr>
          <a:xfrm>
            <a:off x="10991850" y="6515100"/>
            <a:ext cx="723900" cy="152400"/>
          </a:xfrm>
          <a:prstGeom prst="rect">
            <a:avLst/>
          </a:prstGeom>
          <a:noFill/>
        </p:spPr>
        <p:txBody>
          <a:bodyPr wrap="square" lIns="0" tIns="0" rIns="0" bIns="0" anchor="t">
            <a:spAutoFit/>
          </a:bodyPr>
          <a:lstStyle/>
          <a:p>
            <a:pPr algn="l"/>
            <a:r>
              <a:rPr sz="975" b="0" i="0" u="none">
                <a:solidFill>
                  <a:srgbClr val="64748B"/>
                </a:solidFill>
                <a:latin typeface="Inter"/>
              </a:rPr>
              <a:t>Slide 18 / 38</a:t>
            </a:r>
          </a:p>
        </p:txBody>
      </p:sp>
      <p:sp>
        <p:nvSpPr>
          <p:cNvPr id="10" name="TextBox 9"/>
          <p:cNvSpPr txBox="1"/>
          <p:nvPr/>
        </p:nvSpPr>
        <p:spPr>
          <a:xfrm>
            <a:off x="752475" y="4532858"/>
            <a:ext cx="10725150" cy="214312"/>
          </a:xfrm>
          <a:prstGeom prst="rect">
            <a:avLst/>
          </a:prstGeom>
          <a:noFill/>
        </p:spPr>
        <p:txBody>
          <a:bodyPr wrap="square" lIns="0" tIns="0" rIns="0" bIns="0" anchor="t">
            <a:spAutoFit/>
          </a:bodyPr>
          <a:lstStyle/>
          <a:p>
            <a:pPr algn="l">
              <a:lnSpc>
                <a:spcPts val="1687"/>
              </a:lnSpc>
            </a:pPr>
            <a:r>
              <a:rPr sz="1125" b="1" i="0" u="none">
                <a:solidFill>
                  <a:srgbClr val="856404"/>
                </a:solidFill>
                <a:latin typeface="Inter"/>
              </a:rPr>
              <a:t>Pola Terbukti:</a:t>
            </a:r>
            <a:r>
              <a:rPr sz="1125" b="0" i="0" u="none">
                <a:solidFill>
                  <a:srgbClr val="856404"/>
                </a:solidFill>
                <a:latin typeface="Inter"/>
              </a:rPr>
              <a:t> Semakin tinggi tingkat kelelahan, proporsi kejadian near miss meningkat drastis hingga 28%.</a:t>
            </a:r>
          </a:p>
        </p:txBody>
      </p:sp>
      <p:sp>
        <p:nvSpPr>
          <p:cNvPr id="11" name="TextBox 10"/>
          <p:cNvSpPr txBox="1"/>
          <p:nvPr/>
        </p:nvSpPr>
        <p:spPr>
          <a:xfrm>
            <a:off x="890587" y="419100"/>
            <a:ext cx="11301412" cy="388590"/>
          </a:xfrm>
          <a:prstGeom prst="rect">
            <a:avLst/>
          </a:prstGeom>
          <a:noFill/>
        </p:spPr>
        <p:txBody>
          <a:bodyPr wrap="square" lIns="0" tIns="0" rIns="0" bIns="0" anchor="ctr">
            <a:spAutoFit/>
          </a:bodyPr>
          <a:lstStyle/>
          <a:p>
            <a:pPr algn="l">
              <a:lnSpc>
                <a:spcPts val="3060"/>
              </a:lnSpc>
            </a:pPr>
            <a:r>
              <a:rPr sz="2550" b="1" i="0" u="none">
                <a:solidFill>
                  <a:srgbClr val="0F172A"/>
                </a:solidFill>
                <a:latin typeface="Plus Jakarta Sans"/>
              </a:rPr>
              <a:t>Kelelahan vs Near Miss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76250" y="2508795"/>
            <a:ext cx="11239500" cy="809625"/>
          </a:xfrm>
          <a:prstGeom prst="rect">
            <a:avLst/>
          </a:prstGeom>
        </p:spPr>
      </p:pic>
      <p:pic>
        <p:nvPicPr>
          <p:cNvPr id="4" name="Picture 3" descr="image.png"/>
          <p:cNvPicPr>
            <a:picLocks noChangeAspect="1"/>
          </p:cNvPicPr>
          <p:nvPr/>
        </p:nvPicPr>
        <p:blipFill>
          <a:blip r:embed="rId4"/>
          <a:stretch>
            <a:fillRect/>
          </a:stretch>
        </p:blipFill>
        <p:spPr>
          <a:xfrm>
            <a:off x="476250" y="3508920"/>
            <a:ext cx="11239500" cy="1457325"/>
          </a:xfrm>
          <a:prstGeom prst="rect">
            <a:avLst/>
          </a:prstGeom>
        </p:spPr>
      </p:pic>
      <p:pic>
        <p:nvPicPr>
          <p:cNvPr id="5" name="Picture 4" descr="image.png"/>
          <p:cNvPicPr>
            <a:picLocks noChangeAspect="1"/>
          </p:cNvPicPr>
          <p:nvPr/>
        </p:nvPicPr>
        <p:blipFill>
          <a:blip r:embed="rId5"/>
          <a:stretch>
            <a:fillRect/>
          </a:stretch>
        </p:blipFill>
        <p:spPr>
          <a:xfrm>
            <a:off x="752475" y="4213770"/>
            <a:ext cx="2409825" cy="514350"/>
          </a:xfrm>
          <a:prstGeom prst="rect">
            <a:avLst/>
          </a:prstGeom>
        </p:spPr>
      </p:pic>
      <p:pic>
        <p:nvPicPr>
          <p:cNvPr id="6" name="Picture 5" descr="image.png"/>
          <p:cNvPicPr>
            <a:picLocks noChangeAspect="1"/>
          </p:cNvPicPr>
          <p:nvPr/>
        </p:nvPicPr>
        <p:blipFill>
          <a:blip r:embed="rId6"/>
          <a:stretch>
            <a:fillRect/>
          </a:stretch>
        </p:blipFill>
        <p:spPr>
          <a:xfrm>
            <a:off x="3524250" y="4213770"/>
            <a:ext cx="2409825" cy="514350"/>
          </a:xfrm>
          <a:prstGeom prst="rect">
            <a:avLst/>
          </a:prstGeom>
        </p:spPr>
      </p:pic>
      <p:pic>
        <p:nvPicPr>
          <p:cNvPr id="7" name="Picture 6" descr="image.png"/>
          <p:cNvPicPr>
            <a:picLocks noChangeAspect="1"/>
          </p:cNvPicPr>
          <p:nvPr/>
        </p:nvPicPr>
        <p:blipFill>
          <a:blip r:embed="rId7"/>
          <a:stretch>
            <a:fillRect/>
          </a:stretch>
        </p:blipFill>
        <p:spPr>
          <a:xfrm>
            <a:off x="6296025" y="4213770"/>
            <a:ext cx="2409825" cy="514350"/>
          </a:xfrm>
          <a:prstGeom prst="rect">
            <a:avLst/>
          </a:prstGeom>
        </p:spPr>
      </p:pic>
      <p:pic>
        <p:nvPicPr>
          <p:cNvPr id="8" name="Picture 7" descr="image.png"/>
          <p:cNvPicPr>
            <a:picLocks noChangeAspect="1"/>
          </p:cNvPicPr>
          <p:nvPr/>
        </p:nvPicPr>
        <p:blipFill>
          <a:blip r:embed="rId8"/>
          <a:stretch>
            <a:fillRect/>
          </a:stretch>
        </p:blipFill>
        <p:spPr>
          <a:xfrm>
            <a:off x="9067800" y="4213770"/>
            <a:ext cx="2409825" cy="514350"/>
          </a:xfrm>
          <a:prstGeom prst="rect">
            <a:avLst/>
          </a:prstGeom>
        </p:spPr>
      </p:pic>
      <p:pic>
        <p:nvPicPr>
          <p:cNvPr id="9" name="Picture 8" descr="image.png"/>
          <p:cNvPicPr>
            <a:picLocks noChangeAspect="1"/>
          </p:cNvPicPr>
          <p:nvPr/>
        </p:nvPicPr>
        <p:blipFill>
          <a:blip r:embed="rId9"/>
          <a:stretch>
            <a:fillRect/>
          </a:stretch>
        </p:blipFill>
        <p:spPr>
          <a:xfrm>
            <a:off x="476250" y="6410325"/>
            <a:ext cx="11239500" cy="257175"/>
          </a:xfrm>
          <a:prstGeom prst="rect">
            <a:avLst/>
          </a:prstGeom>
        </p:spPr>
      </p:pic>
      <p:pic>
        <p:nvPicPr>
          <p:cNvPr id="10" name="Picture 9" descr="image.png"/>
          <p:cNvPicPr>
            <a:picLocks noChangeAspect="1"/>
          </p:cNvPicPr>
          <p:nvPr/>
        </p:nvPicPr>
        <p:blipFill>
          <a:blip r:embed="rId10"/>
          <a:stretch>
            <a:fillRect/>
          </a:stretch>
        </p:blipFill>
        <p:spPr>
          <a:xfrm>
            <a:off x="476250" y="479970"/>
            <a:ext cx="233362" cy="266700"/>
          </a:xfrm>
          <a:prstGeom prst="rect">
            <a:avLst/>
          </a:prstGeom>
        </p:spPr>
      </p:pic>
      <p:sp>
        <p:nvSpPr>
          <p:cNvPr id="11" name="TextBox 10"/>
          <p:cNvSpPr txBox="1"/>
          <p:nvPr/>
        </p:nvSpPr>
        <p:spPr>
          <a:xfrm>
            <a:off x="476250" y="6515100"/>
            <a:ext cx="1752600" cy="152400"/>
          </a:xfrm>
          <a:prstGeom prst="rect">
            <a:avLst/>
          </a:prstGeom>
          <a:noFill/>
        </p:spPr>
        <p:txBody>
          <a:bodyPr wrap="square" lIns="0" tIns="0" rIns="0" bIns="0" anchor="t">
            <a:spAutoFit/>
          </a:bodyPr>
          <a:lstStyle/>
          <a:p>
            <a:pPr algn="l"/>
            <a:r>
              <a:rPr sz="975" b="0" i="0" u="none" dirty="0">
                <a:solidFill>
                  <a:srgbClr val="64748B"/>
                </a:solidFill>
                <a:latin typeface="Inter"/>
              </a:rPr>
              <a:t>Materi Data Mining — EDA </a:t>
            </a:r>
          </a:p>
        </p:txBody>
      </p:sp>
      <p:sp>
        <p:nvSpPr>
          <p:cNvPr id="12" name="TextBox 11"/>
          <p:cNvSpPr txBox="1"/>
          <p:nvPr/>
        </p:nvSpPr>
        <p:spPr>
          <a:xfrm>
            <a:off x="10991850" y="6515100"/>
            <a:ext cx="723900" cy="152400"/>
          </a:xfrm>
          <a:prstGeom prst="rect">
            <a:avLst/>
          </a:prstGeom>
          <a:noFill/>
        </p:spPr>
        <p:txBody>
          <a:bodyPr wrap="square" lIns="0" tIns="0" rIns="0" bIns="0" anchor="t">
            <a:spAutoFit/>
          </a:bodyPr>
          <a:lstStyle/>
          <a:p>
            <a:pPr algn="l"/>
            <a:r>
              <a:rPr sz="975" b="0" i="0" u="none">
                <a:solidFill>
                  <a:srgbClr val="64748B"/>
                </a:solidFill>
                <a:latin typeface="Inter"/>
              </a:rPr>
              <a:t>Slide 19 / 38</a:t>
            </a:r>
          </a:p>
        </p:txBody>
      </p:sp>
      <p:sp>
        <p:nvSpPr>
          <p:cNvPr id="13" name="TextBox 12"/>
          <p:cNvSpPr txBox="1"/>
          <p:nvPr/>
        </p:nvSpPr>
        <p:spPr>
          <a:xfrm>
            <a:off x="638175" y="2670720"/>
            <a:ext cx="10915650" cy="224613"/>
          </a:xfrm>
          <a:prstGeom prst="rect">
            <a:avLst/>
          </a:prstGeom>
          <a:noFill/>
        </p:spPr>
        <p:txBody>
          <a:bodyPr wrap="square" lIns="0" tIns="0" rIns="0" bIns="0" anchor="t">
            <a:spAutoFit/>
          </a:bodyPr>
          <a:lstStyle/>
          <a:p>
            <a:pPr algn="l">
              <a:lnSpc>
                <a:spcPts val="1912"/>
              </a:lnSpc>
            </a:pPr>
            <a:r>
              <a:rPr sz="1275" b="1" i="0" u="none" dirty="0">
                <a:solidFill>
                  <a:srgbClr val="991B1B"/>
                </a:solidFill>
                <a:latin typeface="Inter"/>
              </a:rPr>
              <a:t>⚠️ </a:t>
            </a:r>
            <a:r>
              <a:rPr sz="1275" b="1" i="0" u="none" dirty="0" err="1">
                <a:solidFill>
                  <a:srgbClr val="991B1B"/>
                </a:solidFill>
                <a:latin typeface="Inter"/>
              </a:rPr>
              <a:t>Peringatan</a:t>
            </a:r>
            <a:r>
              <a:rPr sz="1275" b="1" i="0" u="none" dirty="0">
                <a:solidFill>
                  <a:srgbClr val="991B1B"/>
                </a:solidFill>
                <a:latin typeface="Inter"/>
              </a:rPr>
              <a:t> </a:t>
            </a:r>
            <a:r>
              <a:rPr sz="1275" b="1" i="0" u="none" dirty="0" err="1">
                <a:solidFill>
                  <a:srgbClr val="991B1B"/>
                </a:solidFill>
                <a:latin typeface="Inter"/>
              </a:rPr>
              <a:t>Penting</a:t>
            </a:r>
            <a:r>
              <a:rPr sz="1275" b="1" i="0" u="none" dirty="0">
                <a:solidFill>
                  <a:srgbClr val="991B1B"/>
                </a:solidFill>
                <a:latin typeface="Inter"/>
              </a:rPr>
              <a:t> </a:t>
            </a:r>
            <a:r>
              <a:rPr sz="1275" b="1" i="0" u="none" dirty="0" err="1">
                <a:solidFill>
                  <a:srgbClr val="991B1B"/>
                </a:solidFill>
                <a:latin typeface="Inter"/>
              </a:rPr>
              <a:t>Analisis</a:t>
            </a:r>
            <a:r>
              <a:rPr sz="1275" b="1" i="0" u="none" dirty="0">
                <a:solidFill>
                  <a:srgbClr val="991B1B"/>
                </a:solidFill>
                <a:latin typeface="Inter"/>
              </a:rPr>
              <a:t> :</a:t>
            </a:r>
          </a:p>
        </p:txBody>
      </p:sp>
      <p:sp>
        <p:nvSpPr>
          <p:cNvPr id="14" name="TextBox 13"/>
          <p:cNvSpPr txBox="1"/>
          <p:nvPr/>
        </p:nvSpPr>
        <p:spPr>
          <a:xfrm>
            <a:off x="638175" y="2913608"/>
            <a:ext cx="10915650" cy="242887"/>
          </a:xfrm>
          <a:prstGeom prst="rect">
            <a:avLst/>
          </a:prstGeom>
          <a:noFill/>
        </p:spPr>
        <p:txBody>
          <a:bodyPr wrap="square" lIns="0" tIns="0" rIns="0" bIns="0" anchor="t">
            <a:spAutoFit/>
          </a:bodyPr>
          <a:lstStyle/>
          <a:p>
            <a:pPr algn="l">
              <a:lnSpc>
                <a:spcPts val="1912"/>
              </a:lnSpc>
            </a:pPr>
            <a:r>
              <a:rPr sz="1275" b="0" i="0" u="none">
                <a:solidFill>
                  <a:srgbClr val="991B1B"/>
                </a:solidFill>
                <a:latin typeface="Inter"/>
              </a:rPr>
              <a:t>Kelelahan bertambah bersamaan dengan Near Miss BUKAN BERARTI kelelahan langsung menyebabkan insiden tanpa variabel perantara.</a:t>
            </a:r>
          </a:p>
        </p:txBody>
      </p:sp>
      <p:sp>
        <p:nvSpPr>
          <p:cNvPr id="15" name="TextBox 14"/>
          <p:cNvSpPr txBox="1"/>
          <p:nvPr/>
        </p:nvSpPr>
        <p:spPr>
          <a:xfrm>
            <a:off x="752475" y="3747045"/>
            <a:ext cx="11261407" cy="238125"/>
          </a:xfrm>
          <a:prstGeom prst="rect">
            <a:avLst/>
          </a:prstGeom>
          <a:noFill/>
        </p:spPr>
        <p:txBody>
          <a:bodyPr wrap="square" lIns="0" tIns="0" rIns="0" bIns="0" anchor="t">
            <a:spAutoFit/>
          </a:bodyPr>
          <a:lstStyle/>
          <a:p>
            <a:pPr algn="l"/>
            <a:r>
              <a:rPr sz="1500" b="1" i="0" u="none">
                <a:solidFill>
                  <a:srgbClr val="0F172A"/>
                </a:solidFill>
                <a:latin typeface="Plus Jakarta Sans"/>
              </a:rPr>
              <a:t>Pola Rantai Jalur Risiko Sebenarnya:</a:t>
            </a:r>
          </a:p>
        </p:txBody>
      </p:sp>
      <p:pic>
        <p:nvPicPr>
          <p:cNvPr id="16" name="Picture 15" descr="image.png"/>
          <p:cNvPicPr>
            <a:picLocks noChangeAspect="1"/>
          </p:cNvPicPr>
          <p:nvPr/>
        </p:nvPicPr>
        <p:blipFill>
          <a:blip r:embed="rId11"/>
          <a:stretch>
            <a:fillRect/>
          </a:stretch>
        </p:blipFill>
        <p:spPr>
          <a:xfrm>
            <a:off x="3257550" y="4375695"/>
            <a:ext cx="171450" cy="190500"/>
          </a:xfrm>
          <a:prstGeom prst="rect">
            <a:avLst/>
          </a:prstGeom>
        </p:spPr>
      </p:pic>
      <p:pic>
        <p:nvPicPr>
          <p:cNvPr id="17" name="Picture 16" descr="image.png"/>
          <p:cNvPicPr>
            <a:picLocks noChangeAspect="1"/>
          </p:cNvPicPr>
          <p:nvPr/>
        </p:nvPicPr>
        <p:blipFill>
          <a:blip r:embed="rId12"/>
          <a:stretch>
            <a:fillRect/>
          </a:stretch>
        </p:blipFill>
        <p:spPr>
          <a:xfrm>
            <a:off x="6029325" y="4375695"/>
            <a:ext cx="171450" cy="190500"/>
          </a:xfrm>
          <a:prstGeom prst="rect">
            <a:avLst/>
          </a:prstGeom>
        </p:spPr>
      </p:pic>
      <p:pic>
        <p:nvPicPr>
          <p:cNvPr id="18" name="Picture 17" descr="image.png"/>
          <p:cNvPicPr>
            <a:picLocks noChangeAspect="1"/>
          </p:cNvPicPr>
          <p:nvPr/>
        </p:nvPicPr>
        <p:blipFill>
          <a:blip r:embed="rId11"/>
          <a:stretch>
            <a:fillRect/>
          </a:stretch>
        </p:blipFill>
        <p:spPr>
          <a:xfrm>
            <a:off x="8801100" y="4375695"/>
            <a:ext cx="171450" cy="190500"/>
          </a:xfrm>
          <a:prstGeom prst="rect">
            <a:avLst/>
          </a:prstGeom>
        </p:spPr>
      </p:pic>
      <p:sp>
        <p:nvSpPr>
          <p:cNvPr id="19" name="TextBox 18"/>
          <p:cNvSpPr txBox="1"/>
          <p:nvPr/>
        </p:nvSpPr>
        <p:spPr>
          <a:xfrm>
            <a:off x="823912" y="419100"/>
            <a:ext cx="11368087" cy="388590"/>
          </a:xfrm>
          <a:prstGeom prst="rect">
            <a:avLst/>
          </a:prstGeom>
          <a:noFill/>
        </p:spPr>
        <p:txBody>
          <a:bodyPr wrap="square" lIns="0" tIns="0" rIns="0" bIns="0" anchor="ctr">
            <a:spAutoFit/>
          </a:bodyPr>
          <a:lstStyle/>
          <a:p>
            <a:pPr algn="l">
              <a:lnSpc>
                <a:spcPts val="3060"/>
              </a:lnSpc>
            </a:pPr>
            <a:r>
              <a:rPr sz="2550" b="1" i="0" u="none">
                <a:solidFill>
                  <a:srgbClr val="0F172A"/>
                </a:solidFill>
                <a:latin typeface="Plus Jakarta Sans"/>
              </a:rPr>
              <a:t>Korelasi Bukan Kausalitas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76250" y="2968376"/>
            <a:ext cx="3594050" cy="1538287"/>
          </a:xfrm>
          <a:prstGeom prst="rect">
            <a:avLst/>
          </a:prstGeom>
        </p:spPr>
      </p:pic>
      <p:pic>
        <p:nvPicPr>
          <p:cNvPr id="4" name="Picture 3" descr="image.png"/>
          <p:cNvPicPr>
            <a:picLocks noChangeAspect="1"/>
          </p:cNvPicPr>
          <p:nvPr/>
        </p:nvPicPr>
        <p:blipFill>
          <a:blip r:embed="rId4"/>
          <a:stretch>
            <a:fillRect/>
          </a:stretch>
        </p:blipFill>
        <p:spPr>
          <a:xfrm>
            <a:off x="4298900" y="2968376"/>
            <a:ext cx="3594050" cy="1538287"/>
          </a:xfrm>
          <a:prstGeom prst="rect">
            <a:avLst/>
          </a:prstGeom>
        </p:spPr>
      </p:pic>
      <p:pic>
        <p:nvPicPr>
          <p:cNvPr id="5" name="Picture 4" descr="image.png"/>
          <p:cNvPicPr>
            <a:picLocks noChangeAspect="1"/>
          </p:cNvPicPr>
          <p:nvPr/>
        </p:nvPicPr>
        <p:blipFill>
          <a:blip r:embed="rId5"/>
          <a:stretch>
            <a:fillRect/>
          </a:stretch>
        </p:blipFill>
        <p:spPr>
          <a:xfrm>
            <a:off x="8121550" y="2968376"/>
            <a:ext cx="3594199" cy="1538287"/>
          </a:xfrm>
          <a:prstGeom prst="rect">
            <a:avLst/>
          </a:prstGeom>
        </p:spPr>
      </p:pic>
      <p:pic>
        <p:nvPicPr>
          <p:cNvPr id="6" name="Picture 5" descr="image.png"/>
          <p:cNvPicPr>
            <a:picLocks noChangeAspect="1"/>
          </p:cNvPicPr>
          <p:nvPr/>
        </p:nvPicPr>
        <p:blipFill>
          <a:blip r:embed="rId6"/>
          <a:stretch>
            <a:fillRect/>
          </a:stretch>
        </p:blipFill>
        <p:spPr>
          <a:xfrm>
            <a:off x="476250" y="6410325"/>
            <a:ext cx="11239500" cy="257175"/>
          </a:xfrm>
          <a:prstGeom prst="rect">
            <a:avLst/>
          </a:prstGeom>
        </p:spPr>
      </p:pic>
      <p:pic>
        <p:nvPicPr>
          <p:cNvPr id="7" name="Picture 6" descr="image.png"/>
          <p:cNvPicPr>
            <a:picLocks noChangeAspect="1"/>
          </p:cNvPicPr>
          <p:nvPr/>
        </p:nvPicPr>
        <p:blipFill>
          <a:blip r:embed="rId7"/>
          <a:stretch>
            <a:fillRect/>
          </a:stretch>
        </p:blipFill>
        <p:spPr>
          <a:xfrm>
            <a:off x="476250" y="479970"/>
            <a:ext cx="300037" cy="266700"/>
          </a:xfrm>
          <a:prstGeom prst="rect">
            <a:avLst/>
          </a:prstGeom>
        </p:spPr>
      </p:pic>
      <p:sp>
        <p:nvSpPr>
          <p:cNvPr id="8" name="TextBox 7"/>
          <p:cNvSpPr txBox="1"/>
          <p:nvPr/>
        </p:nvSpPr>
        <p:spPr>
          <a:xfrm>
            <a:off x="476250" y="6515100"/>
            <a:ext cx="1752600" cy="152400"/>
          </a:xfrm>
          <a:prstGeom prst="rect">
            <a:avLst/>
          </a:prstGeom>
          <a:noFill/>
        </p:spPr>
        <p:txBody>
          <a:bodyPr wrap="square" lIns="0" tIns="0" rIns="0" bIns="0" anchor="t">
            <a:spAutoFit/>
          </a:bodyPr>
          <a:lstStyle/>
          <a:p>
            <a:pPr algn="l"/>
            <a:r>
              <a:rPr sz="975" b="0" i="0" u="none" dirty="0">
                <a:solidFill>
                  <a:srgbClr val="64748B"/>
                </a:solidFill>
                <a:latin typeface="Inter"/>
              </a:rPr>
              <a:t>Materi Data Mining — EDA </a:t>
            </a:r>
          </a:p>
        </p:txBody>
      </p:sp>
      <p:sp>
        <p:nvSpPr>
          <p:cNvPr id="9" name="TextBox 8"/>
          <p:cNvSpPr txBox="1"/>
          <p:nvPr/>
        </p:nvSpPr>
        <p:spPr>
          <a:xfrm>
            <a:off x="10963275" y="6515100"/>
            <a:ext cx="752475" cy="152400"/>
          </a:xfrm>
          <a:prstGeom prst="rect">
            <a:avLst/>
          </a:prstGeom>
          <a:noFill/>
        </p:spPr>
        <p:txBody>
          <a:bodyPr wrap="square" lIns="0" tIns="0" rIns="0" bIns="0" anchor="t">
            <a:spAutoFit/>
          </a:bodyPr>
          <a:lstStyle/>
          <a:p>
            <a:pPr algn="l"/>
            <a:r>
              <a:rPr sz="975" b="0" i="0" u="none">
                <a:solidFill>
                  <a:srgbClr val="64748B"/>
                </a:solidFill>
                <a:latin typeface="Inter"/>
              </a:rPr>
              <a:t>Slide 20 / 38</a:t>
            </a:r>
          </a:p>
        </p:txBody>
      </p:sp>
      <p:sp>
        <p:nvSpPr>
          <p:cNvPr id="10" name="TextBox 9"/>
          <p:cNvSpPr txBox="1"/>
          <p:nvPr/>
        </p:nvSpPr>
        <p:spPr>
          <a:xfrm>
            <a:off x="752475" y="3206501"/>
            <a:ext cx="3233685" cy="238125"/>
          </a:xfrm>
          <a:prstGeom prst="rect">
            <a:avLst/>
          </a:prstGeom>
          <a:noFill/>
        </p:spPr>
        <p:txBody>
          <a:bodyPr wrap="square" lIns="0" tIns="0" rIns="0" bIns="0" anchor="t">
            <a:spAutoFit/>
          </a:bodyPr>
          <a:lstStyle/>
          <a:p>
            <a:pPr algn="l"/>
            <a:r>
              <a:rPr sz="1500" b="1" i="0" u="none">
                <a:solidFill>
                  <a:srgbClr val="0F172A"/>
                </a:solidFill>
                <a:latin typeface="Plus Jakarta Sans"/>
              </a:rPr>
              <a:t>Usia vs Kecelakaan</a:t>
            </a:r>
          </a:p>
        </p:txBody>
      </p:sp>
      <p:sp>
        <p:nvSpPr>
          <p:cNvPr id="11" name="TextBox 10"/>
          <p:cNvSpPr txBox="1"/>
          <p:nvPr/>
        </p:nvSpPr>
        <p:spPr>
          <a:xfrm>
            <a:off x="752475" y="3539876"/>
            <a:ext cx="3079700" cy="728662"/>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Apakah pekerja lebih tua memiliki refleks lebih lambat atau pengalaman lebih matang?</a:t>
            </a:r>
          </a:p>
        </p:txBody>
      </p:sp>
      <p:sp>
        <p:nvSpPr>
          <p:cNvPr id="12" name="TextBox 11"/>
          <p:cNvSpPr txBox="1"/>
          <p:nvPr/>
        </p:nvSpPr>
        <p:spPr>
          <a:xfrm>
            <a:off x="4575125" y="3206501"/>
            <a:ext cx="3233685" cy="238125"/>
          </a:xfrm>
          <a:prstGeom prst="rect">
            <a:avLst/>
          </a:prstGeom>
          <a:noFill/>
        </p:spPr>
        <p:txBody>
          <a:bodyPr wrap="square" lIns="0" tIns="0" rIns="0" bIns="0" anchor="t">
            <a:spAutoFit/>
          </a:bodyPr>
          <a:lstStyle/>
          <a:p>
            <a:pPr algn="l"/>
            <a:r>
              <a:rPr sz="1500" b="1" i="0" u="none">
                <a:solidFill>
                  <a:srgbClr val="0F172A"/>
                </a:solidFill>
                <a:latin typeface="Plus Jakarta Sans"/>
              </a:rPr>
              <a:t>Masa Kerja vs Insiden</a:t>
            </a:r>
          </a:p>
        </p:txBody>
      </p:sp>
      <p:sp>
        <p:nvSpPr>
          <p:cNvPr id="13" name="TextBox 12"/>
          <p:cNvSpPr txBox="1"/>
          <p:nvPr/>
        </p:nvSpPr>
        <p:spPr>
          <a:xfrm>
            <a:off x="4575125" y="3539876"/>
            <a:ext cx="3079700" cy="728662"/>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Apakah pekerja baru (&lt;1 thn) lebih berisiko karena belum menguasai medan kerja?</a:t>
            </a:r>
          </a:p>
        </p:txBody>
      </p:sp>
      <p:sp>
        <p:nvSpPr>
          <p:cNvPr id="14" name="TextBox 13"/>
          <p:cNvSpPr txBox="1"/>
          <p:nvPr/>
        </p:nvSpPr>
        <p:spPr>
          <a:xfrm>
            <a:off x="8397775" y="3206501"/>
            <a:ext cx="3233841" cy="238125"/>
          </a:xfrm>
          <a:prstGeom prst="rect">
            <a:avLst/>
          </a:prstGeom>
          <a:noFill/>
        </p:spPr>
        <p:txBody>
          <a:bodyPr wrap="square" lIns="0" tIns="0" rIns="0" bIns="0" anchor="t">
            <a:spAutoFit/>
          </a:bodyPr>
          <a:lstStyle/>
          <a:p>
            <a:pPr algn="l"/>
            <a:r>
              <a:rPr sz="1500" b="1" i="0" u="none">
                <a:solidFill>
                  <a:srgbClr val="0F172A"/>
                </a:solidFill>
                <a:latin typeface="Plus Jakarta Sans"/>
              </a:rPr>
              <a:t>Durasi Tidur vs Error</a:t>
            </a:r>
          </a:p>
        </p:txBody>
      </p:sp>
      <p:sp>
        <p:nvSpPr>
          <p:cNvPr id="15" name="TextBox 14"/>
          <p:cNvSpPr txBox="1"/>
          <p:nvPr/>
        </p:nvSpPr>
        <p:spPr>
          <a:xfrm>
            <a:off x="8397775" y="3539876"/>
            <a:ext cx="3079849" cy="728662"/>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Apakah kurang tidur (&lt;5 jam) berkorelasi langsung dengan kelalaian penggunaan APD?</a:t>
            </a:r>
          </a:p>
        </p:txBody>
      </p:sp>
      <p:sp>
        <p:nvSpPr>
          <p:cNvPr id="16" name="TextBox 15"/>
          <p:cNvSpPr txBox="1"/>
          <p:nvPr/>
        </p:nvSpPr>
        <p:spPr>
          <a:xfrm>
            <a:off x="890587" y="419100"/>
            <a:ext cx="11301412" cy="388590"/>
          </a:xfrm>
          <a:prstGeom prst="rect">
            <a:avLst/>
          </a:prstGeom>
          <a:noFill/>
        </p:spPr>
        <p:txBody>
          <a:bodyPr wrap="square" lIns="0" tIns="0" rIns="0" bIns="0" anchor="ctr">
            <a:spAutoFit/>
          </a:bodyPr>
          <a:lstStyle/>
          <a:p>
            <a:pPr algn="l">
              <a:lnSpc>
                <a:spcPts val="3060"/>
              </a:lnSpc>
            </a:pPr>
            <a:r>
              <a:rPr sz="2550" b="1" i="0" u="none" dirty="0" err="1">
                <a:solidFill>
                  <a:srgbClr val="0F172A"/>
                </a:solidFill>
                <a:latin typeface="Plus Jakarta Sans"/>
              </a:rPr>
              <a:t>Analisis</a:t>
            </a:r>
            <a:r>
              <a:rPr sz="2550" b="1" i="0" u="none" dirty="0">
                <a:solidFill>
                  <a:srgbClr val="0F172A"/>
                </a:solidFill>
                <a:latin typeface="Plus Jakarta Sans"/>
              </a:rPr>
              <a:t> </a:t>
            </a:r>
            <a:r>
              <a:rPr sz="2550" b="1" i="0" u="none" dirty="0" err="1">
                <a:solidFill>
                  <a:srgbClr val="0F172A"/>
                </a:solidFill>
                <a:latin typeface="Plus Jakarta Sans"/>
              </a:rPr>
              <a:t>Bivariat</a:t>
            </a:r>
            <a:r>
              <a:rPr sz="2550" b="1" i="0" u="none" dirty="0">
                <a:solidFill>
                  <a:srgbClr val="0F172A"/>
                </a:solidFill>
                <a:latin typeface="Plus Jakarta Sans"/>
              </a:rPr>
              <a:t>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76250" y="3344614"/>
            <a:ext cx="11239500" cy="1181100"/>
          </a:xfrm>
          <a:prstGeom prst="rect">
            <a:avLst/>
          </a:prstGeom>
        </p:spPr>
      </p:pic>
      <p:pic>
        <p:nvPicPr>
          <p:cNvPr id="4" name="Picture 3" descr="image.png"/>
          <p:cNvPicPr>
            <a:picLocks noChangeAspect="1"/>
          </p:cNvPicPr>
          <p:nvPr/>
        </p:nvPicPr>
        <p:blipFill>
          <a:blip r:embed="rId4"/>
          <a:stretch>
            <a:fillRect/>
          </a:stretch>
        </p:blipFill>
        <p:spPr>
          <a:xfrm>
            <a:off x="714375" y="3677989"/>
            <a:ext cx="1908869" cy="514350"/>
          </a:xfrm>
          <a:prstGeom prst="rect">
            <a:avLst/>
          </a:prstGeom>
        </p:spPr>
      </p:pic>
      <p:pic>
        <p:nvPicPr>
          <p:cNvPr id="5" name="Picture 4" descr="image.png"/>
          <p:cNvPicPr>
            <a:picLocks noChangeAspect="1"/>
          </p:cNvPicPr>
          <p:nvPr/>
        </p:nvPicPr>
        <p:blipFill>
          <a:blip r:embed="rId5"/>
          <a:stretch>
            <a:fillRect/>
          </a:stretch>
        </p:blipFill>
        <p:spPr>
          <a:xfrm>
            <a:off x="2928044" y="3582739"/>
            <a:ext cx="1908869" cy="704850"/>
          </a:xfrm>
          <a:prstGeom prst="rect">
            <a:avLst/>
          </a:prstGeom>
        </p:spPr>
      </p:pic>
      <p:pic>
        <p:nvPicPr>
          <p:cNvPr id="6" name="Picture 5" descr="image.png"/>
          <p:cNvPicPr>
            <a:picLocks noChangeAspect="1"/>
          </p:cNvPicPr>
          <p:nvPr/>
        </p:nvPicPr>
        <p:blipFill>
          <a:blip r:embed="rId6"/>
          <a:stretch>
            <a:fillRect/>
          </a:stretch>
        </p:blipFill>
        <p:spPr>
          <a:xfrm>
            <a:off x="5141714" y="3677989"/>
            <a:ext cx="1908869" cy="514350"/>
          </a:xfrm>
          <a:prstGeom prst="rect">
            <a:avLst/>
          </a:prstGeom>
        </p:spPr>
      </p:pic>
      <p:pic>
        <p:nvPicPr>
          <p:cNvPr id="7" name="Picture 6" descr="image.png"/>
          <p:cNvPicPr>
            <a:picLocks noChangeAspect="1"/>
          </p:cNvPicPr>
          <p:nvPr/>
        </p:nvPicPr>
        <p:blipFill>
          <a:blip r:embed="rId7"/>
          <a:stretch>
            <a:fillRect/>
          </a:stretch>
        </p:blipFill>
        <p:spPr>
          <a:xfrm>
            <a:off x="7355383" y="3582739"/>
            <a:ext cx="1908869" cy="704850"/>
          </a:xfrm>
          <a:prstGeom prst="rect">
            <a:avLst/>
          </a:prstGeom>
        </p:spPr>
      </p:pic>
      <p:pic>
        <p:nvPicPr>
          <p:cNvPr id="8" name="Picture 7" descr="image.png"/>
          <p:cNvPicPr>
            <a:picLocks noChangeAspect="1"/>
          </p:cNvPicPr>
          <p:nvPr/>
        </p:nvPicPr>
        <p:blipFill>
          <a:blip r:embed="rId8"/>
          <a:stretch>
            <a:fillRect/>
          </a:stretch>
        </p:blipFill>
        <p:spPr>
          <a:xfrm>
            <a:off x="9569053" y="3582739"/>
            <a:ext cx="1908869" cy="704850"/>
          </a:xfrm>
          <a:prstGeom prst="rect">
            <a:avLst/>
          </a:prstGeom>
        </p:spPr>
      </p:pic>
      <p:pic>
        <p:nvPicPr>
          <p:cNvPr id="9" name="Picture 8" descr="image.png"/>
          <p:cNvPicPr>
            <a:picLocks noChangeAspect="1"/>
          </p:cNvPicPr>
          <p:nvPr/>
        </p:nvPicPr>
        <p:blipFill>
          <a:blip r:embed="rId9"/>
          <a:stretch>
            <a:fillRect/>
          </a:stretch>
        </p:blipFill>
        <p:spPr>
          <a:xfrm>
            <a:off x="476250" y="6410325"/>
            <a:ext cx="11239500" cy="257175"/>
          </a:xfrm>
          <a:prstGeom prst="rect">
            <a:avLst/>
          </a:prstGeom>
        </p:spPr>
      </p:pic>
      <p:pic>
        <p:nvPicPr>
          <p:cNvPr id="10" name="Picture 9" descr="image.png"/>
          <p:cNvPicPr>
            <a:picLocks noChangeAspect="1"/>
          </p:cNvPicPr>
          <p:nvPr/>
        </p:nvPicPr>
        <p:blipFill>
          <a:blip r:embed="rId10"/>
          <a:stretch>
            <a:fillRect/>
          </a:stretch>
        </p:blipFill>
        <p:spPr>
          <a:xfrm>
            <a:off x="476250" y="479970"/>
            <a:ext cx="261937" cy="266700"/>
          </a:xfrm>
          <a:prstGeom prst="rect">
            <a:avLst/>
          </a:prstGeom>
        </p:spPr>
      </p:pic>
      <p:sp>
        <p:nvSpPr>
          <p:cNvPr id="11" name="TextBox 10"/>
          <p:cNvSpPr txBox="1"/>
          <p:nvPr/>
        </p:nvSpPr>
        <p:spPr>
          <a:xfrm>
            <a:off x="476250" y="2949326"/>
            <a:ext cx="11239500" cy="242887"/>
          </a:xfrm>
          <a:prstGeom prst="rect">
            <a:avLst/>
          </a:prstGeom>
          <a:noFill/>
        </p:spPr>
        <p:txBody>
          <a:bodyPr wrap="square" lIns="0" tIns="0" rIns="0" bIns="0" anchor="t">
            <a:spAutoFit/>
          </a:bodyPr>
          <a:lstStyle/>
          <a:p>
            <a:pPr algn="l">
              <a:lnSpc>
                <a:spcPts val="1912"/>
              </a:lnSpc>
            </a:pPr>
            <a:r>
              <a:rPr sz="1275" b="0" i="0" u="none">
                <a:solidFill>
                  <a:srgbClr val="334155"/>
                </a:solidFill>
                <a:latin typeface="Inter"/>
              </a:rPr>
              <a:t>Ubah pertanyaan mendasar dari sekadar kondisi teknis menjadi perjalanan fisik pekerja:</a:t>
            </a:r>
          </a:p>
        </p:txBody>
      </p:sp>
      <p:sp>
        <p:nvSpPr>
          <p:cNvPr id="12" name="TextBox 11"/>
          <p:cNvSpPr txBox="1"/>
          <p:nvPr/>
        </p:nvSpPr>
        <p:spPr>
          <a:xfrm>
            <a:off x="476250" y="6515100"/>
            <a:ext cx="1752600" cy="152400"/>
          </a:xfrm>
          <a:prstGeom prst="rect">
            <a:avLst/>
          </a:prstGeom>
          <a:noFill/>
        </p:spPr>
        <p:txBody>
          <a:bodyPr wrap="square" lIns="0" tIns="0" rIns="0" bIns="0" anchor="t">
            <a:spAutoFit/>
          </a:bodyPr>
          <a:lstStyle/>
          <a:p>
            <a:pPr algn="l"/>
            <a:r>
              <a:rPr sz="975" b="0" i="0" u="none" dirty="0">
                <a:solidFill>
                  <a:srgbClr val="64748B"/>
                </a:solidFill>
                <a:latin typeface="Inter"/>
              </a:rPr>
              <a:t>Materi Data Mining — EDA </a:t>
            </a:r>
          </a:p>
        </p:txBody>
      </p:sp>
      <p:sp>
        <p:nvSpPr>
          <p:cNvPr id="13" name="TextBox 12"/>
          <p:cNvSpPr txBox="1"/>
          <p:nvPr/>
        </p:nvSpPr>
        <p:spPr>
          <a:xfrm>
            <a:off x="10991850" y="6515100"/>
            <a:ext cx="723900" cy="152400"/>
          </a:xfrm>
          <a:prstGeom prst="rect">
            <a:avLst/>
          </a:prstGeom>
          <a:noFill/>
        </p:spPr>
        <p:txBody>
          <a:bodyPr wrap="square" lIns="0" tIns="0" rIns="0" bIns="0" anchor="t">
            <a:spAutoFit/>
          </a:bodyPr>
          <a:lstStyle/>
          <a:p>
            <a:pPr algn="l"/>
            <a:r>
              <a:rPr sz="975" b="0" i="0" u="none">
                <a:solidFill>
                  <a:srgbClr val="64748B"/>
                </a:solidFill>
                <a:latin typeface="Inter"/>
              </a:rPr>
              <a:t>Slide 21 / 38</a:t>
            </a:r>
          </a:p>
        </p:txBody>
      </p:sp>
      <p:sp>
        <p:nvSpPr>
          <p:cNvPr id="14" name="TextBox 13"/>
          <p:cNvSpPr txBox="1"/>
          <p:nvPr/>
        </p:nvSpPr>
        <p:spPr>
          <a:xfrm>
            <a:off x="1235422" y="3839914"/>
            <a:ext cx="866775" cy="190500"/>
          </a:xfrm>
          <a:prstGeom prst="rect">
            <a:avLst/>
          </a:prstGeom>
          <a:noFill/>
        </p:spPr>
        <p:txBody>
          <a:bodyPr wrap="square" lIns="0" tIns="0" rIns="0" bIns="0" anchor="t">
            <a:spAutoFit/>
          </a:bodyPr>
          <a:lstStyle/>
          <a:p>
            <a:pPr algn="ctr"/>
            <a:r>
              <a:rPr sz="1200" b="1" i="0" u="none">
                <a:solidFill>
                  <a:srgbClr val="334155"/>
                </a:solidFill>
                <a:latin typeface="Inter"/>
              </a:rPr>
              <a:t>Shift Malam</a:t>
            </a:r>
          </a:p>
        </p:txBody>
      </p:sp>
      <p:pic>
        <p:nvPicPr>
          <p:cNvPr id="15" name="Picture 14" descr="image.png"/>
          <p:cNvPicPr>
            <a:picLocks noChangeAspect="1"/>
          </p:cNvPicPr>
          <p:nvPr/>
        </p:nvPicPr>
        <p:blipFill>
          <a:blip r:embed="rId11"/>
          <a:stretch>
            <a:fillRect/>
          </a:stretch>
        </p:blipFill>
        <p:spPr>
          <a:xfrm>
            <a:off x="2718494" y="3839914"/>
            <a:ext cx="114300" cy="190500"/>
          </a:xfrm>
          <a:prstGeom prst="rect">
            <a:avLst/>
          </a:prstGeom>
        </p:spPr>
      </p:pic>
      <p:sp>
        <p:nvSpPr>
          <p:cNvPr id="16" name="TextBox 15"/>
          <p:cNvSpPr txBox="1"/>
          <p:nvPr/>
        </p:nvSpPr>
        <p:spPr>
          <a:xfrm>
            <a:off x="3368129" y="3744664"/>
            <a:ext cx="1028700" cy="381000"/>
          </a:xfrm>
          <a:prstGeom prst="rect">
            <a:avLst/>
          </a:prstGeom>
          <a:noFill/>
        </p:spPr>
        <p:txBody>
          <a:bodyPr wrap="square" lIns="0" tIns="0" rIns="0" bIns="0" anchor="t">
            <a:spAutoFit/>
          </a:bodyPr>
          <a:lstStyle/>
          <a:p>
            <a:pPr algn="ctr"/>
            <a:r>
              <a:rPr sz="1200" b="1" i="0" u="none">
                <a:solidFill>
                  <a:srgbClr val="334155"/>
                </a:solidFill>
                <a:latin typeface="Inter"/>
              </a:rPr>
              <a:t>Tidur Kualitas Rendah</a:t>
            </a:r>
          </a:p>
        </p:txBody>
      </p:sp>
      <p:pic>
        <p:nvPicPr>
          <p:cNvPr id="17" name="Picture 16" descr="image.png"/>
          <p:cNvPicPr>
            <a:picLocks noChangeAspect="1"/>
          </p:cNvPicPr>
          <p:nvPr/>
        </p:nvPicPr>
        <p:blipFill>
          <a:blip r:embed="rId11"/>
          <a:stretch>
            <a:fillRect/>
          </a:stretch>
        </p:blipFill>
        <p:spPr>
          <a:xfrm>
            <a:off x="4932164" y="3839914"/>
            <a:ext cx="114300" cy="190500"/>
          </a:xfrm>
          <a:prstGeom prst="rect">
            <a:avLst/>
          </a:prstGeom>
        </p:spPr>
      </p:pic>
      <p:sp>
        <p:nvSpPr>
          <p:cNvPr id="18" name="TextBox 17"/>
          <p:cNvSpPr txBox="1"/>
          <p:nvPr/>
        </p:nvSpPr>
        <p:spPr>
          <a:xfrm>
            <a:off x="5305573" y="3839914"/>
            <a:ext cx="1581150" cy="190500"/>
          </a:xfrm>
          <a:prstGeom prst="rect">
            <a:avLst/>
          </a:prstGeom>
          <a:noFill/>
        </p:spPr>
        <p:txBody>
          <a:bodyPr wrap="square" lIns="0" tIns="0" rIns="0" bIns="0" anchor="t">
            <a:spAutoFit/>
          </a:bodyPr>
          <a:lstStyle/>
          <a:p>
            <a:pPr algn="ctr"/>
            <a:r>
              <a:rPr sz="1200" b="1" i="0" u="none">
                <a:solidFill>
                  <a:srgbClr val="334155"/>
                </a:solidFill>
                <a:latin typeface="Inter"/>
              </a:rPr>
              <a:t>Kelelahan Akumulatif</a:t>
            </a:r>
          </a:p>
        </p:txBody>
      </p:sp>
      <p:pic>
        <p:nvPicPr>
          <p:cNvPr id="19" name="Picture 18" descr="image.png"/>
          <p:cNvPicPr>
            <a:picLocks noChangeAspect="1"/>
          </p:cNvPicPr>
          <p:nvPr/>
        </p:nvPicPr>
        <p:blipFill>
          <a:blip r:embed="rId12"/>
          <a:stretch>
            <a:fillRect/>
          </a:stretch>
        </p:blipFill>
        <p:spPr>
          <a:xfrm>
            <a:off x="7145833" y="3839914"/>
            <a:ext cx="114300" cy="190500"/>
          </a:xfrm>
          <a:prstGeom prst="rect">
            <a:avLst/>
          </a:prstGeom>
        </p:spPr>
      </p:pic>
      <p:sp>
        <p:nvSpPr>
          <p:cNvPr id="20" name="TextBox 19"/>
          <p:cNvSpPr txBox="1"/>
          <p:nvPr/>
        </p:nvSpPr>
        <p:spPr>
          <a:xfrm>
            <a:off x="7857380" y="3744664"/>
            <a:ext cx="904875" cy="381000"/>
          </a:xfrm>
          <a:prstGeom prst="rect">
            <a:avLst/>
          </a:prstGeom>
          <a:noFill/>
        </p:spPr>
        <p:txBody>
          <a:bodyPr wrap="square" lIns="0" tIns="0" rIns="0" bIns="0" anchor="t">
            <a:spAutoFit/>
          </a:bodyPr>
          <a:lstStyle/>
          <a:p>
            <a:pPr algn="ctr"/>
            <a:r>
              <a:rPr sz="1200" b="1" i="0" u="none">
                <a:solidFill>
                  <a:srgbClr val="334155"/>
                </a:solidFill>
                <a:latin typeface="Inter"/>
              </a:rPr>
              <a:t>Konsentrasi Menurun</a:t>
            </a:r>
          </a:p>
        </p:txBody>
      </p:sp>
      <p:pic>
        <p:nvPicPr>
          <p:cNvPr id="21" name="Picture 20" descr="image.png"/>
          <p:cNvPicPr>
            <a:picLocks noChangeAspect="1"/>
          </p:cNvPicPr>
          <p:nvPr/>
        </p:nvPicPr>
        <p:blipFill>
          <a:blip r:embed="rId12"/>
          <a:stretch>
            <a:fillRect/>
          </a:stretch>
        </p:blipFill>
        <p:spPr>
          <a:xfrm>
            <a:off x="9359503" y="3839914"/>
            <a:ext cx="114300" cy="190500"/>
          </a:xfrm>
          <a:prstGeom prst="rect">
            <a:avLst/>
          </a:prstGeom>
        </p:spPr>
      </p:pic>
      <p:sp>
        <p:nvSpPr>
          <p:cNvPr id="22" name="TextBox 21"/>
          <p:cNvSpPr txBox="1"/>
          <p:nvPr/>
        </p:nvSpPr>
        <p:spPr>
          <a:xfrm>
            <a:off x="9794825" y="3744664"/>
            <a:ext cx="1457325" cy="381000"/>
          </a:xfrm>
          <a:prstGeom prst="rect">
            <a:avLst/>
          </a:prstGeom>
          <a:noFill/>
        </p:spPr>
        <p:txBody>
          <a:bodyPr wrap="square" lIns="0" tIns="0" rIns="0" bIns="0" anchor="t">
            <a:spAutoFit/>
          </a:bodyPr>
          <a:lstStyle/>
          <a:p>
            <a:pPr algn="ctr"/>
            <a:r>
              <a:rPr sz="1200" b="1" i="0" u="none">
                <a:solidFill>
                  <a:srgbClr val="EF4444"/>
                </a:solidFill>
                <a:latin typeface="Inter"/>
              </a:rPr>
              <a:t>Human Error / Near Miss</a:t>
            </a:r>
          </a:p>
        </p:txBody>
      </p:sp>
      <p:sp>
        <p:nvSpPr>
          <p:cNvPr id="23" name="TextBox 22"/>
          <p:cNvSpPr txBox="1"/>
          <p:nvPr/>
        </p:nvSpPr>
        <p:spPr>
          <a:xfrm>
            <a:off x="852487" y="419100"/>
            <a:ext cx="11339512" cy="388590"/>
          </a:xfrm>
          <a:prstGeom prst="rect">
            <a:avLst/>
          </a:prstGeom>
          <a:noFill/>
        </p:spPr>
        <p:txBody>
          <a:bodyPr wrap="square" lIns="0" tIns="0" rIns="0" bIns="0" anchor="ctr">
            <a:spAutoFit/>
          </a:bodyPr>
          <a:lstStyle/>
          <a:p>
            <a:pPr algn="l">
              <a:lnSpc>
                <a:spcPts val="3060"/>
              </a:lnSpc>
            </a:pPr>
            <a:r>
              <a:rPr sz="2550" b="1" i="0" u="none">
                <a:solidFill>
                  <a:srgbClr val="0F172A"/>
                </a:solidFill>
                <a:latin typeface="Plus Jakarta Sans"/>
              </a:rPr>
              <a:t>Analisis Perspektif Manusia</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4"/>
          <a:stretch>
            <a:fillRect/>
          </a:stretch>
        </p:blipFill>
        <p:spPr>
          <a:xfrm>
            <a:off x="571500" y="1102965"/>
            <a:ext cx="11049000" cy="5278784"/>
          </a:xfrm>
          <a:prstGeom prst="rect">
            <a:avLst/>
          </a:prstGeom>
        </p:spPr>
      </p:pic>
      <p:sp>
        <p:nvSpPr>
          <p:cNvPr id="4" name="TextBox 3"/>
          <p:cNvSpPr txBox="1"/>
          <p:nvPr/>
        </p:nvSpPr>
        <p:spPr>
          <a:xfrm>
            <a:off x="571500" y="2213520"/>
            <a:ext cx="11049000" cy="228600"/>
          </a:xfrm>
          <a:prstGeom prst="rect">
            <a:avLst/>
          </a:prstGeom>
          <a:noFill/>
        </p:spPr>
        <p:txBody>
          <a:bodyPr wrap="square" lIns="0" tIns="0" rIns="0" bIns="0" anchor="t">
            <a:spAutoFit/>
          </a:bodyPr>
          <a:lstStyle/>
          <a:p>
            <a:pPr algn="l">
              <a:lnSpc>
                <a:spcPts val="1800"/>
              </a:lnSpc>
            </a:pPr>
            <a:r>
              <a:rPr sz="1200" b="0" i="0" u="none">
                <a:solidFill>
                  <a:srgbClr val="475569"/>
                </a:solidFill>
                <a:latin typeface="Inter"/>
              </a:rPr>
              <a:t>Perbandingan Angka Absolut vs Persentase Proporsi Near Miss berdasarkan Shift Kerja:</a:t>
            </a:r>
          </a:p>
        </p:txBody>
      </p:sp>
      <p:pic>
        <p:nvPicPr>
          <p:cNvPr id="5" name="Picture 4" descr="image.png"/>
          <p:cNvPicPr>
            <a:picLocks noChangeAspect="1"/>
          </p:cNvPicPr>
          <p:nvPr/>
        </p:nvPicPr>
        <p:blipFill>
          <a:blip r:embed="rId5"/>
          <a:stretch>
            <a:fillRect/>
          </a:stretch>
        </p:blipFill>
        <p:spPr>
          <a:xfrm>
            <a:off x="571500" y="4585245"/>
            <a:ext cx="11049000" cy="861826"/>
          </a:xfrm>
          <a:prstGeom prst="rect">
            <a:avLst/>
          </a:prstGeom>
        </p:spPr>
      </p:pic>
      <p:sp>
        <p:nvSpPr>
          <p:cNvPr id="6" name="TextBox 5"/>
          <p:cNvSpPr txBox="1"/>
          <p:nvPr/>
        </p:nvSpPr>
        <p:spPr>
          <a:xfrm>
            <a:off x="723900" y="4747170"/>
            <a:ext cx="1590675" cy="180975"/>
          </a:xfrm>
          <a:prstGeom prst="rect">
            <a:avLst/>
          </a:prstGeom>
          <a:noFill/>
        </p:spPr>
        <p:txBody>
          <a:bodyPr wrap="square" lIns="161925" tIns="0" rIns="0" bIns="0" anchor="t">
            <a:spAutoFit/>
          </a:bodyPr>
          <a:lstStyle/>
          <a:p>
            <a:pPr algn="l"/>
            <a:r>
              <a:rPr sz="1125" b="1" i="0" u="none">
                <a:solidFill>
                  <a:srgbClr val="9F1239"/>
                </a:solidFill>
                <a:latin typeface="Inter"/>
              </a:rPr>
              <a:t>Insight Penting EDA:</a:t>
            </a:r>
          </a:p>
        </p:txBody>
      </p:sp>
      <p:sp>
        <p:nvSpPr>
          <p:cNvPr id="7" name="TextBox 6"/>
          <p:cNvSpPr txBox="1"/>
          <p:nvPr/>
        </p:nvSpPr>
        <p:spPr>
          <a:xfrm>
            <a:off x="723900" y="5006068"/>
            <a:ext cx="10544175" cy="352425"/>
          </a:xfrm>
          <a:prstGeom prst="rect">
            <a:avLst/>
          </a:prstGeom>
          <a:noFill/>
        </p:spPr>
        <p:txBody>
          <a:bodyPr wrap="square" lIns="0" tIns="0" rIns="0" bIns="0" anchor="t">
            <a:spAutoFit/>
          </a:bodyPr>
          <a:lstStyle/>
          <a:p>
            <a:pPr algn="l"/>
            <a:r>
              <a:rPr sz="1050" b="0" i="0" u="none" dirty="0" err="1">
                <a:solidFill>
                  <a:srgbClr val="881337"/>
                </a:solidFill>
                <a:latin typeface="Inter"/>
              </a:rPr>
              <a:t>Walaupun</a:t>
            </a:r>
            <a:r>
              <a:rPr sz="1050" b="0" i="0" u="none" dirty="0">
                <a:solidFill>
                  <a:srgbClr val="881337"/>
                </a:solidFill>
                <a:latin typeface="Inter"/>
              </a:rPr>
              <a:t> </a:t>
            </a:r>
            <a:r>
              <a:rPr sz="1050" b="0" i="0" u="none" dirty="0" err="1">
                <a:solidFill>
                  <a:srgbClr val="881337"/>
                </a:solidFill>
                <a:latin typeface="Inter"/>
              </a:rPr>
              <a:t>jumlah</a:t>
            </a:r>
            <a:r>
              <a:rPr sz="1050" b="0" i="0" u="none" dirty="0">
                <a:solidFill>
                  <a:srgbClr val="881337"/>
                </a:solidFill>
                <a:latin typeface="Inter"/>
              </a:rPr>
              <a:t> </a:t>
            </a:r>
            <a:r>
              <a:rPr sz="1050" b="0" i="0" u="none" dirty="0" err="1">
                <a:solidFill>
                  <a:srgbClr val="881337"/>
                </a:solidFill>
                <a:latin typeface="Inter"/>
              </a:rPr>
              <a:t>absolut</a:t>
            </a:r>
            <a:r>
              <a:rPr sz="1050" b="0" i="0" u="none" dirty="0">
                <a:solidFill>
                  <a:srgbClr val="881337"/>
                </a:solidFill>
                <a:latin typeface="Inter"/>
              </a:rPr>
              <a:t> </a:t>
            </a:r>
            <a:r>
              <a:rPr sz="1050" b="0" i="0" u="none" dirty="0" err="1">
                <a:solidFill>
                  <a:srgbClr val="881337"/>
                </a:solidFill>
                <a:latin typeface="Inter"/>
              </a:rPr>
              <a:t>kejadian</a:t>
            </a:r>
            <a:r>
              <a:rPr sz="1050" b="0" i="0" u="none" dirty="0">
                <a:solidFill>
                  <a:srgbClr val="881337"/>
                </a:solidFill>
                <a:latin typeface="Inter"/>
              </a:rPr>
              <a:t> di shift </a:t>
            </a:r>
            <a:r>
              <a:rPr sz="1050" b="0" i="0" u="none" dirty="0" err="1">
                <a:solidFill>
                  <a:srgbClr val="881337"/>
                </a:solidFill>
                <a:latin typeface="Inter"/>
              </a:rPr>
              <a:t>malam</a:t>
            </a:r>
            <a:r>
              <a:rPr sz="1050" b="0" i="0" u="none" dirty="0">
                <a:solidFill>
                  <a:srgbClr val="881337"/>
                </a:solidFill>
                <a:latin typeface="Inter"/>
              </a:rPr>
              <a:t> </a:t>
            </a:r>
            <a:r>
              <a:rPr sz="1050" b="0" i="0" u="none" dirty="0" err="1">
                <a:solidFill>
                  <a:srgbClr val="881337"/>
                </a:solidFill>
                <a:latin typeface="Inter"/>
              </a:rPr>
              <a:t>tampak</a:t>
            </a:r>
            <a:r>
              <a:rPr sz="1050" b="0" i="0" u="none" dirty="0">
                <a:solidFill>
                  <a:srgbClr val="881337"/>
                </a:solidFill>
                <a:latin typeface="Inter"/>
              </a:rPr>
              <a:t> </a:t>
            </a:r>
            <a:r>
              <a:rPr sz="1050" b="0" i="0" u="none" dirty="0" err="1">
                <a:solidFill>
                  <a:srgbClr val="881337"/>
                </a:solidFill>
                <a:latin typeface="Inter"/>
              </a:rPr>
              <a:t>lebih</a:t>
            </a:r>
            <a:r>
              <a:rPr sz="1050" b="0" i="0" u="none" dirty="0">
                <a:solidFill>
                  <a:srgbClr val="881337"/>
                </a:solidFill>
                <a:latin typeface="Inter"/>
              </a:rPr>
              <a:t> </a:t>
            </a:r>
            <a:r>
              <a:rPr sz="1050" b="0" i="0" u="none" dirty="0" err="1">
                <a:solidFill>
                  <a:srgbClr val="881337"/>
                </a:solidFill>
                <a:latin typeface="Inter"/>
              </a:rPr>
              <a:t>sedikit</a:t>
            </a:r>
            <a:r>
              <a:rPr sz="1050" b="0" i="0" u="none" dirty="0">
                <a:solidFill>
                  <a:srgbClr val="881337"/>
                </a:solidFill>
                <a:latin typeface="Inter"/>
              </a:rPr>
              <a:t> (25 </a:t>
            </a:r>
            <a:r>
              <a:rPr sz="1050" b="0" i="0" u="none" dirty="0" err="1">
                <a:solidFill>
                  <a:srgbClr val="881337"/>
                </a:solidFill>
                <a:latin typeface="Inter"/>
              </a:rPr>
              <a:t>kasus</a:t>
            </a:r>
            <a:r>
              <a:rPr sz="1050" b="0" i="0" u="none" dirty="0">
                <a:solidFill>
                  <a:srgbClr val="881337"/>
                </a:solidFill>
                <a:latin typeface="Inter"/>
              </a:rPr>
              <a:t> vs 30 </a:t>
            </a:r>
            <a:r>
              <a:rPr sz="1050" b="0" i="0" u="none" dirty="0" err="1">
                <a:solidFill>
                  <a:srgbClr val="881337"/>
                </a:solidFill>
                <a:latin typeface="Inter"/>
              </a:rPr>
              <a:t>kasus</a:t>
            </a:r>
            <a:r>
              <a:rPr sz="1050" b="0" i="0" u="none" dirty="0">
                <a:solidFill>
                  <a:srgbClr val="881337"/>
                </a:solidFill>
                <a:latin typeface="Inter"/>
              </a:rPr>
              <a:t> di </a:t>
            </a:r>
            <a:r>
              <a:rPr sz="1050" b="0" i="0" u="none" dirty="0" err="1">
                <a:solidFill>
                  <a:srgbClr val="881337"/>
                </a:solidFill>
                <a:latin typeface="Inter"/>
              </a:rPr>
              <a:t>siang</a:t>
            </a:r>
            <a:r>
              <a:rPr sz="1050" b="0" i="0" u="none" dirty="0">
                <a:solidFill>
                  <a:srgbClr val="881337"/>
                </a:solidFill>
                <a:latin typeface="Inter"/>
              </a:rPr>
              <a:t>), </a:t>
            </a:r>
            <a:r>
              <a:rPr sz="1050" b="0" i="0" u="none" dirty="0" err="1">
                <a:solidFill>
                  <a:srgbClr val="881337"/>
                </a:solidFill>
                <a:latin typeface="Inter"/>
              </a:rPr>
              <a:t>secara</a:t>
            </a:r>
            <a:r>
              <a:rPr sz="1050" b="0" i="0" u="none" dirty="0">
                <a:solidFill>
                  <a:srgbClr val="881337"/>
                </a:solidFill>
                <a:latin typeface="Inter"/>
              </a:rPr>
              <a:t> </a:t>
            </a:r>
            <a:r>
              <a:rPr sz="1050" b="1" i="0" u="none" dirty="0" err="1">
                <a:solidFill>
                  <a:srgbClr val="881337"/>
                </a:solidFill>
                <a:latin typeface="Inter"/>
              </a:rPr>
              <a:t>proporsional</a:t>
            </a:r>
            <a:r>
              <a:rPr sz="1050" b="1" i="0" u="none" dirty="0">
                <a:solidFill>
                  <a:srgbClr val="881337"/>
                </a:solidFill>
                <a:latin typeface="Inter"/>
              </a:rPr>
              <a:t> 25% </a:t>
            </a:r>
            <a:r>
              <a:rPr sz="1050" b="1" i="0" u="none" dirty="0" err="1">
                <a:solidFill>
                  <a:srgbClr val="881337"/>
                </a:solidFill>
                <a:latin typeface="Inter"/>
              </a:rPr>
              <a:t>pekerja</a:t>
            </a:r>
            <a:r>
              <a:rPr sz="1050" b="1" i="0" u="none" dirty="0">
                <a:solidFill>
                  <a:srgbClr val="881337"/>
                </a:solidFill>
                <a:latin typeface="Inter"/>
              </a:rPr>
              <a:t> shift </a:t>
            </a:r>
            <a:r>
              <a:rPr sz="1050" b="1" i="0" u="none" dirty="0" err="1">
                <a:solidFill>
                  <a:srgbClr val="881337"/>
                </a:solidFill>
                <a:latin typeface="Inter"/>
              </a:rPr>
              <a:t>malam</a:t>
            </a:r>
            <a:r>
              <a:rPr sz="1050" b="1" i="0" u="none" dirty="0">
                <a:solidFill>
                  <a:srgbClr val="881337"/>
                </a:solidFill>
                <a:latin typeface="Inter"/>
              </a:rPr>
              <a:t> </a:t>
            </a:r>
            <a:r>
              <a:rPr sz="1050" b="1" i="0" u="none" dirty="0" err="1">
                <a:solidFill>
                  <a:srgbClr val="881337"/>
                </a:solidFill>
                <a:latin typeface="Inter"/>
              </a:rPr>
              <a:t>mengalami</a:t>
            </a:r>
            <a:r>
              <a:rPr sz="1050" b="1" i="0" u="none" dirty="0">
                <a:solidFill>
                  <a:srgbClr val="881337"/>
                </a:solidFill>
                <a:latin typeface="Inter"/>
              </a:rPr>
              <a:t> near miss</a:t>
            </a:r>
            <a:r>
              <a:rPr sz="1050" b="0" i="0" u="none" dirty="0">
                <a:solidFill>
                  <a:srgbClr val="881337"/>
                </a:solidFill>
                <a:latin typeface="Inter"/>
              </a:rPr>
              <a:t>. Rasio </a:t>
            </a:r>
            <a:r>
              <a:rPr sz="1050" b="0" i="0" u="none" dirty="0" err="1">
                <a:solidFill>
                  <a:srgbClr val="881337"/>
                </a:solidFill>
                <a:latin typeface="Inter"/>
              </a:rPr>
              <a:t>risiko</a:t>
            </a:r>
            <a:r>
              <a:rPr sz="1050" b="0" i="0" u="none" dirty="0">
                <a:solidFill>
                  <a:srgbClr val="881337"/>
                </a:solidFill>
                <a:latin typeface="Inter"/>
              </a:rPr>
              <a:t> </a:t>
            </a:r>
            <a:r>
              <a:rPr sz="1050" b="0" i="0" u="none" dirty="0" err="1">
                <a:solidFill>
                  <a:srgbClr val="881337"/>
                </a:solidFill>
                <a:latin typeface="Inter"/>
              </a:rPr>
              <a:t>jauh</a:t>
            </a:r>
            <a:r>
              <a:rPr sz="1050" b="0" i="0" u="none" dirty="0">
                <a:solidFill>
                  <a:srgbClr val="881337"/>
                </a:solidFill>
                <a:latin typeface="Inter"/>
              </a:rPr>
              <a:t> </a:t>
            </a:r>
            <a:r>
              <a:rPr sz="1050" b="0" i="0" u="none" dirty="0" err="1">
                <a:solidFill>
                  <a:srgbClr val="881337"/>
                </a:solidFill>
                <a:latin typeface="Inter"/>
              </a:rPr>
              <a:t>lebih</a:t>
            </a:r>
            <a:r>
              <a:rPr sz="1050" b="0" i="0" u="none" dirty="0">
                <a:solidFill>
                  <a:srgbClr val="881337"/>
                </a:solidFill>
                <a:latin typeface="Inter"/>
              </a:rPr>
              <a:t> </a:t>
            </a:r>
            <a:r>
              <a:rPr sz="1050" b="0" i="0" u="none" dirty="0" err="1">
                <a:solidFill>
                  <a:srgbClr val="881337"/>
                </a:solidFill>
                <a:latin typeface="Inter"/>
              </a:rPr>
              <a:t>tinggi</a:t>
            </a:r>
            <a:r>
              <a:rPr sz="1050" b="0" i="0" u="none" dirty="0">
                <a:solidFill>
                  <a:srgbClr val="881337"/>
                </a:solidFill>
                <a:latin typeface="Inter"/>
              </a:rPr>
              <a:t>!</a:t>
            </a:r>
          </a:p>
        </p:txBody>
      </p:sp>
      <p:pic>
        <p:nvPicPr>
          <p:cNvPr id="8" name="Picture 7" descr="image.png"/>
          <p:cNvPicPr>
            <a:picLocks noChangeAspect="1"/>
          </p:cNvPicPr>
          <p:nvPr/>
        </p:nvPicPr>
        <p:blipFill>
          <a:blip r:embed="rId6"/>
          <a:stretch>
            <a:fillRect/>
          </a:stretch>
        </p:blipFill>
        <p:spPr>
          <a:xfrm>
            <a:off x="723900" y="4766220"/>
            <a:ext cx="104775" cy="142875"/>
          </a:xfrm>
          <a:prstGeom prst="rect">
            <a:avLst/>
          </a:prstGeom>
        </p:spPr>
      </p:pic>
      <p:sp>
        <p:nvSpPr>
          <p:cNvPr id="9" name="TextBox 8"/>
          <p:cNvSpPr txBox="1"/>
          <p:nvPr/>
        </p:nvSpPr>
        <p:spPr>
          <a:xfrm>
            <a:off x="714375" y="476250"/>
            <a:ext cx="11451431" cy="388590"/>
          </a:xfrm>
          <a:prstGeom prst="rect">
            <a:avLst/>
          </a:prstGeom>
          <a:noFill/>
        </p:spPr>
        <p:txBody>
          <a:bodyPr wrap="square" lIns="0" tIns="0" rIns="0" bIns="0" anchor="t">
            <a:spAutoFit/>
          </a:bodyPr>
          <a:lstStyle/>
          <a:p>
            <a:pPr algn="l">
              <a:lnSpc>
                <a:spcPts val="3060"/>
              </a:lnSpc>
            </a:pPr>
            <a:r>
              <a:rPr sz="2550" b="1" i="0" u="none" dirty="0" err="1">
                <a:solidFill>
                  <a:srgbClr val="0F172A"/>
                </a:solidFill>
                <a:latin typeface="Poppins"/>
              </a:rPr>
              <a:t>Distribusi</a:t>
            </a:r>
            <a:r>
              <a:rPr sz="2550" b="1" i="0" u="none" dirty="0">
                <a:solidFill>
                  <a:srgbClr val="0F172A"/>
                </a:solidFill>
                <a:latin typeface="Poppins"/>
              </a:rPr>
              <a:t> Near Miss Per Shift</a:t>
            </a:r>
          </a:p>
        </p:txBody>
      </p:sp>
      <p:sp>
        <p:nvSpPr>
          <p:cNvPr id="10" name="Rectangle 9"/>
          <p:cNvSpPr/>
          <p:nvPr/>
        </p:nvSpPr>
        <p:spPr>
          <a:xfrm>
            <a:off x="571500" y="476250"/>
            <a:ext cx="47625" cy="38859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284958"/>
            <a:ext cx="5334000" cy="2914650"/>
          </a:xfrm>
          <a:prstGeom prst="rect">
            <a:avLst/>
          </a:prstGeom>
        </p:spPr>
      </p:pic>
      <p:pic>
        <p:nvPicPr>
          <p:cNvPr id="4" name="Picture 3" descr="image.png"/>
          <p:cNvPicPr>
            <a:picLocks noChangeAspect="1"/>
          </p:cNvPicPr>
          <p:nvPr/>
        </p:nvPicPr>
        <p:blipFill>
          <a:blip r:embed="rId4"/>
          <a:stretch>
            <a:fillRect/>
          </a:stretch>
        </p:blipFill>
        <p:spPr>
          <a:xfrm>
            <a:off x="6286500" y="2818358"/>
            <a:ext cx="5334000" cy="1847850"/>
          </a:xfrm>
          <a:prstGeom prst="rect">
            <a:avLst/>
          </a:prstGeom>
        </p:spPr>
      </p:pic>
      <p:sp>
        <p:nvSpPr>
          <p:cNvPr id="5" name="TextBox 4"/>
          <p:cNvSpPr txBox="1"/>
          <p:nvPr/>
        </p:nvSpPr>
        <p:spPr>
          <a:xfrm>
            <a:off x="571500" y="2284958"/>
            <a:ext cx="5600700" cy="285750"/>
          </a:xfrm>
          <a:prstGeom prst="rect">
            <a:avLst/>
          </a:prstGeom>
          <a:noFill/>
        </p:spPr>
        <p:txBody>
          <a:bodyPr wrap="square" lIns="0" tIns="0" rIns="0" bIns="0" anchor="t">
            <a:spAutoFit/>
          </a:bodyPr>
          <a:lstStyle/>
          <a:p>
            <a:pPr algn="l"/>
            <a:r>
              <a:rPr sz="1500" b="1" i="0" u="none">
                <a:solidFill>
                  <a:srgbClr val="0F172A"/>
                </a:solidFill>
                <a:latin typeface="Poppins"/>
              </a:rPr>
              <a:t>Proporsi Near Miss Menurut Kelelahan</a:t>
            </a:r>
          </a:p>
        </p:txBody>
      </p:sp>
      <p:sp>
        <p:nvSpPr>
          <p:cNvPr id="6" name="TextBox 5"/>
          <p:cNvSpPr txBox="1"/>
          <p:nvPr/>
        </p:nvSpPr>
        <p:spPr>
          <a:xfrm>
            <a:off x="6505575" y="3037433"/>
            <a:ext cx="5140642" cy="238125"/>
          </a:xfrm>
          <a:prstGeom prst="rect">
            <a:avLst/>
          </a:prstGeom>
          <a:noFill/>
        </p:spPr>
        <p:txBody>
          <a:bodyPr wrap="square" lIns="228600" tIns="0" rIns="0" bIns="0" anchor="t">
            <a:spAutoFit/>
          </a:bodyPr>
          <a:lstStyle/>
          <a:p>
            <a:pPr algn="l"/>
            <a:r>
              <a:rPr sz="1200" b="1" i="0" u="none">
                <a:solidFill>
                  <a:srgbClr val="0F172A"/>
                </a:solidFill>
                <a:latin typeface="Poppins"/>
              </a:rPr>
              <a:t>Korelasi Bukan Kausalitas!</a:t>
            </a:r>
          </a:p>
        </p:txBody>
      </p:sp>
      <p:sp>
        <p:nvSpPr>
          <p:cNvPr id="7" name="TextBox 6"/>
          <p:cNvSpPr txBox="1"/>
          <p:nvPr/>
        </p:nvSpPr>
        <p:spPr>
          <a:xfrm>
            <a:off x="6505575" y="3370808"/>
            <a:ext cx="4895850" cy="400050"/>
          </a:xfrm>
          <a:prstGeom prst="rect">
            <a:avLst/>
          </a:prstGeom>
          <a:noFill/>
        </p:spPr>
        <p:txBody>
          <a:bodyPr wrap="square" lIns="0" tIns="0" rIns="0" bIns="0" anchor="t">
            <a:spAutoFit/>
          </a:bodyPr>
          <a:lstStyle/>
          <a:p>
            <a:pPr algn="l">
              <a:lnSpc>
                <a:spcPts val="1575"/>
              </a:lnSpc>
            </a:pPr>
            <a:r>
              <a:rPr sz="1050" b="0" i="0" u="none">
                <a:solidFill>
                  <a:srgbClr val="475569"/>
                </a:solidFill>
                <a:latin typeface="Inter"/>
              </a:rPr>
              <a:t>Meskipun kelelahan tinggi berbanding lurus dengan kecelakaan, terdapat variabel perantara lain:</a:t>
            </a:r>
          </a:p>
        </p:txBody>
      </p:sp>
      <p:pic>
        <p:nvPicPr>
          <p:cNvPr id="8" name="Picture 7" descr="image.png"/>
          <p:cNvPicPr>
            <a:picLocks noChangeAspect="1"/>
          </p:cNvPicPr>
          <p:nvPr/>
        </p:nvPicPr>
        <p:blipFill>
          <a:blip r:embed="rId5"/>
          <a:stretch>
            <a:fillRect/>
          </a:stretch>
        </p:blipFill>
        <p:spPr>
          <a:xfrm>
            <a:off x="6505575" y="3885158"/>
            <a:ext cx="4895850" cy="561975"/>
          </a:xfrm>
          <a:prstGeom prst="rect">
            <a:avLst/>
          </a:prstGeom>
        </p:spPr>
      </p:pic>
      <p:pic>
        <p:nvPicPr>
          <p:cNvPr id="9" name="Picture 8" descr="image.png"/>
          <p:cNvPicPr>
            <a:picLocks noChangeAspect="1"/>
          </p:cNvPicPr>
          <p:nvPr/>
        </p:nvPicPr>
        <p:blipFill>
          <a:blip r:embed="rId6"/>
          <a:stretch>
            <a:fillRect/>
          </a:stretch>
        </p:blipFill>
        <p:spPr>
          <a:xfrm>
            <a:off x="6505575" y="3075533"/>
            <a:ext cx="152400" cy="152400"/>
          </a:xfrm>
          <a:prstGeom prst="rect">
            <a:avLst/>
          </a:prstGeom>
        </p:spPr>
      </p:pic>
      <p:sp>
        <p:nvSpPr>
          <p:cNvPr id="10" name="TextBox 9"/>
          <p:cNvSpPr txBox="1"/>
          <p:nvPr/>
        </p:nvSpPr>
        <p:spPr>
          <a:xfrm>
            <a:off x="714375" y="476250"/>
            <a:ext cx="11451431" cy="388590"/>
          </a:xfrm>
          <a:prstGeom prst="rect">
            <a:avLst/>
          </a:prstGeom>
          <a:noFill/>
        </p:spPr>
        <p:txBody>
          <a:bodyPr wrap="square" lIns="0" tIns="0" rIns="0" bIns="0" anchor="t">
            <a:spAutoFit/>
          </a:bodyPr>
          <a:lstStyle/>
          <a:p>
            <a:pPr algn="l">
              <a:lnSpc>
                <a:spcPts val="3060"/>
              </a:lnSpc>
            </a:pPr>
            <a:r>
              <a:rPr sz="2550" b="1" i="0" u="none">
                <a:solidFill>
                  <a:srgbClr val="0F172A"/>
                </a:solidFill>
                <a:latin typeface="Poppins"/>
              </a:rPr>
              <a:t>Hubungan Kelelahan &amp; Near Miss</a:t>
            </a:r>
          </a:p>
        </p:txBody>
      </p:sp>
      <p:sp>
        <p:nvSpPr>
          <p:cNvPr id="11" name="Rectangle 10"/>
          <p:cNvSpPr/>
          <p:nvPr/>
        </p:nvSpPr>
        <p:spPr>
          <a:xfrm>
            <a:off x="571500" y="476250"/>
            <a:ext cx="47625" cy="38859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BFDAF-5FB3-F572-B4D1-F7B3E55EC5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F0B00B-5F73-A23D-A751-5B01FD563B3A}"/>
              </a:ext>
            </a:extLst>
          </p:cNvPr>
          <p:cNvSpPr>
            <a:spLocks noGrp="1"/>
          </p:cNvSpPr>
          <p:nvPr>
            <p:ph type="title"/>
          </p:nvPr>
        </p:nvSpPr>
        <p:spPr>
          <a:xfrm>
            <a:off x="838200" y="365125"/>
            <a:ext cx="10515600" cy="915035"/>
          </a:xfrm>
        </p:spPr>
        <p:txBody>
          <a:bodyPr>
            <a:normAutofit/>
          </a:bodyPr>
          <a:lstStyle/>
          <a:p>
            <a:r>
              <a:rPr lang="en-US" b="1" dirty="0"/>
              <a:t>Data Visualization Overview</a:t>
            </a:r>
            <a:endParaRPr lang="en-US" dirty="0"/>
          </a:p>
        </p:txBody>
      </p:sp>
      <p:sp>
        <p:nvSpPr>
          <p:cNvPr id="3" name="Content Placeholder 2">
            <a:extLst>
              <a:ext uri="{FF2B5EF4-FFF2-40B4-BE49-F238E27FC236}">
                <a16:creationId xmlns:a16="http://schemas.microsoft.com/office/drawing/2014/main" id="{DD59D861-A531-6D87-B223-06EB111FE632}"/>
              </a:ext>
            </a:extLst>
          </p:cNvPr>
          <p:cNvSpPr>
            <a:spLocks noGrp="1"/>
          </p:cNvSpPr>
          <p:nvPr>
            <p:ph idx="1"/>
          </p:nvPr>
        </p:nvSpPr>
        <p:spPr/>
        <p:txBody>
          <a:bodyPr>
            <a:normAutofit/>
          </a:bodyPr>
          <a:lstStyle/>
          <a:p>
            <a:pPr marL="457200" lvl="0" indent="-332878">
              <a:lnSpc>
                <a:spcPct val="115000"/>
              </a:lnSpc>
              <a:spcBef>
                <a:spcPts val="0"/>
              </a:spcBef>
              <a:buClr>
                <a:schemeClr val="dk1"/>
              </a:buClr>
              <a:buSzPct val="100840"/>
              <a:buChar char="●"/>
            </a:pPr>
            <a:r>
              <a:rPr lang="en-US" b="1" dirty="0" err="1">
                <a:latin typeface="Arial"/>
                <a:ea typeface="Arial"/>
                <a:cs typeface="Arial"/>
                <a:sym typeface="Arial"/>
              </a:rPr>
              <a:t>Visualisasi</a:t>
            </a:r>
            <a:r>
              <a:rPr lang="en-US" b="1" dirty="0">
                <a:latin typeface="Arial"/>
                <a:ea typeface="Arial"/>
                <a:cs typeface="Arial"/>
                <a:sym typeface="Arial"/>
              </a:rPr>
              <a:t> </a:t>
            </a:r>
            <a:r>
              <a:rPr lang="en-US" dirty="0" err="1">
                <a:latin typeface="Arial"/>
                <a:ea typeface="Arial"/>
                <a:cs typeface="Arial"/>
                <a:sym typeface="Arial"/>
              </a:rPr>
              <a:t>berperan</a:t>
            </a:r>
            <a:r>
              <a:rPr lang="en-US" dirty="0">
                <a:latin typeface="Arial"/>
                <a:ea typeface="Arial"/>
                <a:cs typeface="Arial"/>
                <a:sym typeface="Arial"/>
              </a:rPr>
              <a:t> </a:t>
            </a:r>
            <a:r>
              <a:rPr lang="en-US" dirty="0" err="1">
                <a:latin typeface="Arial"/>
                <a:ea typeface="Arial"/>
                <a:cs typeface="Arial"/>
                <a:sym typeface="Arial"/>
              </a:rPr>
              <a:t>peran</a:t>
            </a:r>
            <a:r>
              <a:rPr lang="en-US" dirty="0">
                <a:latin typeface="Arial"/>
                <a:ea typeface="Arial"/>
                <a:cs typeface="Arial"/>
                <a:sym typeface="Arial"/>
              </a:rPr>
              <a:t> </a:t>
            </a:r>
            <a:r>
              <a:rPr lang="en-US" dirty="0" err="1">
                <a:latin typeface="Arial"/>
                <a:ea typeface="Arial"/>
                <a:cs typeface="Arial"/>
                <a:sym typeface="Arial"/>
              </a:rPr>
              <a:t>penting</a:t>
            </a:r>
            <a:r>
              <a:rPr lang="en-US" dirty="0">
                <a:latin typeface="Arial"/>
                <a:ea typeface="Arial"/>
                <a:cs typeface="Arial"/>
                <a:sym typeface="Arial"/>
              </a:rPr>
              <a:t> </a:t>
            </a:r>
            <a:r>
              <a:rPr lang="en-US" dirty="0" err="1">
                <a:latin typeface="Arial"/>
                <a:ea typeface="Arial"/>
                <a:cs typeface="Arial"/>
                <a:sym typeface="Arial"/>
              </a:rPr>
              <a:t>dalam</a:t>
            </a:r>
            <a:r>
              <a:rPr lang="en-US" dirty="0">
                <a:latin typeface="Arial"/>
                <a:ea typeface="Arial"/>
                <a:cs typeface="Arial"/>
                <a:sym typeface="Arial"/>
              </a:rPr>
              <a:t> </a:t>
            </a:r>
            <a:r>
              <a:rPr lang="en-US" dirty="0" err="1">
                <a:latin typeface="Arial"/>
                <a:ea typeface="Arial"/>
                <a:cs typeface="Arial"/>
                <a:sym typeface="Arial"/>
              </a:rPr>
              <a:t>bidang</a:t>
            </a:r>
            <a:r>
              <a:rPr lang="en-US" dirty="0">
                <a:latin typeface="Arial"/>
                <a:ea typeface="Arial"/>
                <a:cs typeface="Arial"/>
                <a:sym typeface="Arial"/>
              </a:rPr>
              <a:t> machine learning  dan data science. </a:t>
            </a:r>
            <a:r>
              <a:rPr lang="en-US" dirty="0" err="1">
                <a:latin typeface="Arial"/>
                <a:ea typeface="Arial"/>
                <a:cs typeface="Arial"/>
                <a:sym typeface="Arial"/>
              </a:rPr>
              <a:t>Seringkali</a:t>
            </a:r>
            <a:r>
              <a:rPr lang="en-US" dirty="0">
                <a:latin typeface="Arial"/>
                <a:ea typeface="Arial"/>
                <a:cs typeface="Arial"/>
                <a:sym typeface="Arial"/>
              </a:rPr>
              <a:t> </a:t>
            </a:r>
            <a:r>
              <a:rPr lang="en-US" dirty="0" err="1">
                <a:latin typeface="Arial"/>
                <a:ea typeface="Arial"/>
                <a:cs typeface="Arial"/>
                <a:sym typeface="Arial"/>
              </a:rPr>
              <a:t>kita</a:t>
            </a:r>
            <a:r>
              <a:rPr lang="en-US" dirty="0">
                <a:latin typeface="Arial"/>
                <a:ea typeface="Arial"/>
                <a:cs typeface="Arial"/>
                <a:sym typeface="Arial"/>
              </a:rPr>
              <a:t> </a:t>
            </a:r>
            <a:r>
              <a:rPr lang="en-US" dirty="0" err="1">
                <a:latin typeface="Arial"/>
                <a:ea typeface="Arial"/>
                <a:cs typeface="Arial"/>
                <a:sym typeface="Arial"/>
              </a:rPr>
              <a:t>perlu</a:t>
            </a:r>
            <a:r>
              <a:rPr lang="en-US" dirty="0">
                <a:latin typeface="Arial"/>
                <a:ea typeface="Arial"/>
                <a:cs typeface="Arial"/>
                <a:sym typeface="Arial"/>
              </a:rPr>
              <a:t> </a:t>
            </a:r>
            <a:r>
              <a:rPr lang="en-US" dirty="0" err="1">
                <a:latin typeface="Arial"/>
                <a:ea typeface="Arial"/>
                <a:cs typeface="Arial"/>
                <a:sym typeface="Arial"/>
              </a:rPr>
              <a:t>menyaring</a:t>
            </a:r>
            <a:r>
              <a:rPr lang="en-US" dirty="0">
                <a:latin typeface="Arial"/>
                <a:ea typeface="Arial"/>
                <a:cs typeface="Arial"/>
                <a:sym typeface="Arial"/>
              </a:rPr>
              <a:t> </a:t>
            </a:r>
            <a:r>
              <a:rPr lang="en-US" dirty="0" err="1">
                <a:latin typeface="Arial"/>
                <a:ea typeface="Arial"/>
                <a:cs typeface="Arial"/>
                <a:sym typeface="Arial"/>
              </a:rPr>
              <a:t>informasi</a:t>
            </a:r>
            <a:r>
              <a:rPr lang="en-US" dirty="0">
                <a:latin typeface="Arial"/>
                <a:ea typeface="Arial"/>
                <a:cs typeface="Arial"/>
                <a:sym typeface="Arial"/>
              </a:rPr>
              <a:t> </a:t>
            </a:r>
            <a:r>
              <a:rPr lang="en-US" dirty="0" err="1">
                <a:latin typeface="Arial"/>
                <a:ea typeface="Arial"/>
                <a:cs typeface="Arial"/>
                <a:sym typeface="Arial"/>
              </a:rPr>
              <a:t>kunci</a:t>
            </a:r>
            <a:r>
              <a:rPr lang="en-US" dirty="0">
                <a:latin typeface="Arial"/>
                <a:ea typeface="Arial"/>
                <a:cs typeface="Arial"/>
                <a:sym typeface="Arial"/>
              </a:rPr>
              <a:t> yang </a:t>
            </a:r>
            <a:r>
              <a:rPr lang="en-US" dirty="0" err="1">
                <a:latin typeface="Arial"/>
                <a:ea typeface="Arial"/>
                <a:cs typeface="Arial"/>
                <a:sym typeface="Arial"/>
              </a:rPr>
              <a:t>ditemukan</a:t>
            </a:r>
            <a:r>
              <a:rPr lang="en-US" dirty="0">
                <a:latin typeface="Arial"/>
                <a:ea typeface="Arial"/>
                <a:cs typeface="Arial"/>
                <a:sym typeface="Arial"/>
              </a:rPr>
              <a:t> </a:t>
            </a:r>
            <a:r>
              <a:rPr lang="en-US" dirty="0" err="1">
                <a:latin typeface="Arial"/>
                <a:ea typeface="Arial"/>
                <a:cs typeface="Arial"/>
                <a:sym typeface="Arial"/>
              </a:rPr>
              <a:t>dalam</a:t>
            </a:r>
            <a:r>
              <a:rPr lang="en-US" dirty="0">
                <a:latin typeface="Arial"/>
                <a:ea typeface="Arial"/>
                <a:cs typeface="Arial"/>
                <a:sym typeface="Arial"/>
              </a:rPr>
              <a:t> </a:t>
            </a:r>
            <a:r>
              <a:rPr lang="en-US" dirty="0" err="1">
                <a:latin typeface="Arial"/>
                <a:ea typeface="Arial"/>
                <a:cs typeface="Arial"/>
                <a:sym typeface="Arial"/>
              </a:rPr>
              <a:t>sejumlah</a:t>
            </a:r>
            <a:r>
              <a:rPr lang="en-US" dirty="0">
                <a:latin typeface="Arial"/>
                <a:ea typeface="Arial"/>
                <a:cs typeface="Arial"/>
                <a:sym typeface="Arial"/>
              </a:rPr>
              <a:t> data </a:t>
            </a:r>
            <a:r>
              <a:rPr lang="en-US" dirty="0" err="1">
                <a:latin typeface="Arial"/>
                <a:ea typeface="Arial"/>
                <a:cs typeface="Arial"/>
                <a:sym typeface="Arial"/>
              </a:rPr>
              <a:t>data</a:t>
            </a:r>
            <a:r>
              <a:rPr lang="en-US" dirty="0">
                <a:latin typeface="Arial"/>
                <a:ea typeface="Arial"/>
                <a:cs typeface="Arial"/>
                <a:sym typeface="Arial"/>
              </a:rPr>
              <a:t> </a:t>
            </a:r>
            <a:r>
              <a:rPr lang="en-US" dirty="0" err="1">
                <a:latin typeface="Arial"/>
                <a:ea typeface="Arial"/>
                <a:cs typeface="Arial"/>
                <a:sym typeface="Arial"/>
              </a:rPr>
              <a:t>menjadi</a:t>
            </a:r>
            <a:r>
              <a:rPr lang="en-US" dirty="0">
                <a:latin typeface="Arial"/>
                <a:ea typeface="Arial"/>
                <a:cs typeface="Arial"/>
                <a:sym typeface="Arial"/>
              </a:rPr>
              <a:t> </a:t>
            </a:r>
            <a:r>
              <a:rPr lang="en-US" dirty="0" err="1">
                <a:latin typeface="Arial"/>
                <a:ea typeface="Arial"/>
                <a:cs typeface="Arial"/>
                <a:sym typeface="Arial"/>
              </a:rPr>
              <a:t>bentuk</a:t>
            </a:r>
            <a:r>
              <a:rPr lang="en-US" dirty="0">
                <a:latin typeface="Arial"/>
                <a:ea typeface="Arial"/>
                <a:cs typeface="Arial"/>
                <a:sym typeface="Arial"/>
              </a:rPr>
              <a:t> yang </a:t>
            </a:r>
            <a:r>
              <a:rPr lang="en-US" dirty="0" err="1">
                <a:latin typeface="Arial"/>
                <a:ea typeface="Arial"/>
                <a:cs typeface="Arial"/>
                <a:sym typeface="Arial"/>
              </a:rPr>
              <a:t>bermakna</a:t>
            </a:r>
            <a:r>
              <a:rPr lang="en-US" dirty="0">
                <a:latin typeface="Arial"/>
                <a:ea typeface="Arial"/>
                <a:cs typeface="Arial"/>
                <a:sym typeface="Arial"/>
              </a:rPr>
              <a:t> dan </a:t>
            </a:r>
            <a:r>
              <a:rPr lang="en-US" dirty="0" err="1">
                <a:latin typeface="Arial"/>
                <a:ea typeface="Arial"/>
                <a:cs typeface="Arial"/>
                <a:sym typeface="Arial"/>
              </a:rPr>
              <a:t>mudah</a:t>
            </a:r>
            <a:r>
              <a:rPr lang="en-US" dirty="0">
                <a:latin typeface="Arial"/>
                <a:ea typeface="Arial"/>
                <a:cs typeface="Arial"/>
                <a:sym typeface="Arial"/>
              </a:rPr>
              <a:t> </a:t>
            </a:r>
            <a:r>
              <a:rPr lang="en-US" dirty="0" err="1">
                <a:latin typeface="Arial"/>
                <a:ea typeface="Arial"/>
                <a:cs typeface="Arial"/>
                <a:sym typeface="Arial"/>
              </a:rPr>
              <a:t>dicerna</a:t>
            </a:r>
            <a:r>
              <a:rPr lang="en-US" dirty="0">
                <a:latin typeface="Arial"/>
                <a:ea typeface="Arial"/>
                <a:cs typeface="Arial"/>
                <a:sym typeface="Arial"/>
              </a:rPr>
              <a:t>. </a:t>
            </a:r>
          </a:p>
          <a:p>
            <a:pPr marL="457200" lvl="0" indent="-332878">
              <a:lnSpc>
                <a:spcPct val="115000"/>
              </a:lnSpc>
              <a:spcBef>
                <a:spcPts val="0"/>
              </a:spcBef>
              <a:buClr>
                <a:schemeClr val="dk1"/>
              </a:buClr>
              <a:buSzPct val="100840"/>
              <a:buChar char="●"/>
            </a:pPr>
            <a:endParaRPr lang="en-US" dirty="0">
              <a:latin typeface="Arial"/>
              <a:ea typeface="Arial"/>
              <a:cs typeface="Arial"/>
              <a:sym typeface="Arial"/>
            </a:endParaRPr>
          </a:p>
          <a:p>
            <a:pPr marL="457200" lvl="0" indent="-332878">
              <a:lnSpc>
                <a:spcPct val="115000"/>
              </a:lnSpc>
              <a:spcBef>
                <a:spcPts val="0"/>
              </a:spcBef>
              <a:buClr>
                <a:schemeClr val="dk1"/>
              </a:buClr>
              <a:buSzPct val="100840"/>
              <a:buChar char="●"/>
            </a:pPr>
            <a:r>
              <a:rPr lang="en-US" b="1" dirty="0" err="1">
                <a:latin typeface="Arial"/>
                <a:ea typeface="Arial"/>
                <a:cs typeface="Arial"/>
                <a:sym typeface="Arial"/>
              </a:rPr>
              <a:t>Visualisasi</a:t>
            </a:r>
            <a:r>
              <a:rPr lang="en-US" b="1" dirty="0">
                <a:latin typeface="Arial"/>
                <a:ea typeface="Arial"/>
                <a:cs typeface="Arial"/>
                <a:sym typeface="Arial"/>
              </a:rPr>
              <a:t> </a:t>
            </a:r>
            <a:r>
              <a:rPr lang="en-US" dirty="0">
                <a:latin typeface="Arial"/>
                <a:ea typeface="Arial"/>
                <a:cs typeface="Arial"/>
                <a:sym typeface="Arial"/>
              </a:rPr>
              <a:t>yang </a:t>
            </a:r>
            <a:r>
              <a:rPr lang="en-US" dirty="0" err="1">
                <a:latin typeface="Arial"/>
                <a:ea typeface="Arial"/>
                <a:cs typeface="Arial"/>
                <a:sym typeface="Arial"/>
              </a:rPr>
              <a:t>baik</a:t>
            </a:r>
            <a:r>
              <a:rPr lang="en-US" dirty="0">
                <a:latin typeface="Arial"/>
                <a:ea typeface="Arial"/>
                <a:cs typeface="Arial"/>
                <a:sym typeface="Arial"/>
              </a:rPr>
              <a:t> </a:t>
            </a:r>
            <a:r>
              <a:rPr lang="en-US" dirty="0" err="1">
                <a:latin typeface="Arial"/>
                <a:ea typeface="Arial"/>
                <a:cs typeface="Arial"/>
                <a:sym typeface="Arial"/>
              </a:rPr>
              <a:t>dapat</a:t>
            </a:r>
            <a:r>
              <a:rPr lang="en-US" dirty="0">
                <a:latin typeface="Arial"/>
                <a:ea typeface="Arial"/>
                <a:cs typeface="Arial"/>
                <a:sym typeface="Arial"/>
              </a:rPr>
              <a:t> </a:t>
            </a:r>
            <a:r>
              <a:rPr lang="en-US" dirty="0" err="1">
                <a:latin typeface="Arial"/>
                <a:ea typeface="Arial"/>
                <a:cs typeface="Arial"/>
                <a:sym typeface="Arial"/>
              </a:rPr>
              <a:t>menceritakan</a:t>
            </a:r>
            <a:r>
              <a:rPr lang="en-US" dirty="0">
                <a:latin typeface="Arial"/>
                <a:ea typeface="Arial"/>
                <a:cs typeface="Arial"/>
                <a:sym typeface="Arial"/>
              </a:rPr>
              <a:t> </a:t>
            </a:r>
            <a:r>
              <a:rPr lang="en-US" dirty="0" err="1">
                <a:latin typeface="Arial"/>
                <a:ea typeface="Arial"/>
                <a:cs typeface="Arial"/>
                <a:sym typeface="Arial"/>
              </a:rPr>
              <a:t>sebuah</a:t>
            </a:r>
            <a:r>
              <a:rPr lang="en-US" dirty="0">
                <a:latin typeface="Arial"/>
                <a:ea typeface="Arial"/>
                <a:cs typeface="Arial"/>
                <a:sym typeface="Arial"/>
              </a:rPr>
              <a:t> </a:t>
            </a:r>
            <a:r>
              <a:rPr lang="en-US" dirty="0" err="1">
                <a:latin typeface="Arial"/>
                <a:ea typeface="Arial"/>
                <a:cs typeface="Arial"/>
                <a:sym typeface="Arial"/>
              </a:rPr>
              <a:t>cerita</a:t>
            </a:r>
            <a:r>
              <a:rPr lang="en-US" dirty="0">
                <a:latin typeface="Arial"/>
                <a:ea typeface="Arial"/>
                <a:cs typeface="Arial"/>
                <a:sym typeface="Arial"/>
              </a:rPr>
              <a:t> </a:t>
            </a:r>
            <a:r>
              <a:rPr lang="en-US" dirty="0" err="1">
                <a:latin typeface="Arial"/>
                <a:ea typeface="Arial"/>
                <a:cs typeface="Arial"/>
                <a:sym typeface="Arial"/>
              </a:rPr>
              <a:t>tentang</a:t>
            </a:r>
            <a:r>
              <a:rPr lang="en-US" dirty="0">
                <a:latin typeface="Arial"/>
                <a:ea typeface="Arial"/>
                <a:cs typeface="Arial"/>
                <a:sym typeface="Arial"/>
              </a:rPr>
              <a:t> data Anda </a:t>
            </a:r>
            <a:r>
              <a:rPr lang="en-US" dirty="0" err="1">
                <a:latin typeface="Arial"/>
                <a:ea typeface="Arial"/>
                <a:cs typeface="Arial"/>
                <a:sym typeface="Arial"/>
              </a:rPr>
              <a:t>dengan</a:t>
            </a:r>
            <a:r>
              <a:rPr lang="en-US" dirty="0">
                <a:latin typeface="Arial"/>
                <a:ea typeface="Arial"/>
                <a:cs typeface="Arial"/>
                <a:sym typeface="Arial"/>
              </a:rPr>
              <a:t> </a:t>
            </a:r>
            <a:r>
              <a:rPr lang="en-US" dirty="0" err="1">
                <a:latin typeface="Arial"/>
                <a:ea typeface="Arial"/>
                <a:cs typeface="Arial"/>
                <a:sym typeface="Arial"/>
              </a:rPr>
              <a:t>cara</a:t>
            </a:r>
            <a:r>
              <a:rPr lang="en-US" dirty="0">
                <a:latin typeface="Arial"/>
                <a:ea typeface="Arial"/>
                <a:cs typeface="Arial"/>
                <a:sym typeface="Arial"/>
              </a:rPr>
              <a:t> yang </a:t>
            </a:r>
            <a:r>
              <a:rPr lang="en-US" dirty="0" err="1">
                <a:latin typeface="Arial"/>
                <a:ea typeface="Arial"/>
                <a:cs typeface="Arial"/>
                <a:sym typeface="Arial"/>
              </a:rPr>
              <a:t>tidak</a:t>
            </a:r>
            <a:r>
              <a:rPr lang="en-US" dirty="0">
                <a:latin typeface="Arial"/>
                <a:ea typeface="Arial"/>
                <a:cs typeface="Arial"/>
                <a:sym typeface="Arial"/>
              </a:rPr>
              <a:t> </a:t>
            </a:r>
            <a:r>
              <a:rPr lang="en-US" dirty="0" err="1">
                <a:latin typeface="Arial"/>
                <a:ea typeface="Arial"/>
                <a:cs typeface="Arial"/>
                <a:sym typeface="Arial"/>
              </a:rPr>
              <a:t>dapat</a:t>
            </a:r>
            <a:r>
              <a:rPr lang="en-US" dirty="0">
                <a:latin typeface="Arial"/>
                <a:ea typeface="Arial"/>
                <a:cs typeface="Arial"/>
                <a:sym typeface="Arial"/>
              </a:rPr>
              <a:t> </a:t>
            </a:r>
            <a:r>
              <a:rPr lang="en-US" dirty="0" err="1">
                <a:latin typeface="Arial"/>
                <a:ea typeface="Arial"/>
                <a:cs typeface="Arial"/>
                <a:sym typeface="Arial"/>
              </a:rPr>
              <a:t>dilakukan</a:t>
            </a:r>
            <a:r>
              <a:rPr lang="en-US" dirty="0">
                <a:latin typeface="Arial"/>
                <a:ea typeface="Arial"/>
                <a:cs typeface="Arial"/>
                <a:sym typeface="Arial"/>
              </a:rPr>
              <a:t> oleh </a:t>
            </a:r>
            <a:r>
              <a:rPr lang="en-US" dirty="0" err="1">
                <a:latin typeface="Arial"/>
                <a:ea typeface="Arial"/>
                <a:cs typeface="Arial"/>
                <a:sym typeface="Arial"/>
              </a:rPr>
              <a:t>sebuah</a:t>
            </a:r>
            <a:r>
              <a:rPr lang="en-US" dirty="0">
                <a:latin typeface="Arial"/>
                <a:ea typeface="Arial"/>
                <a:cs typeface="Arial"/>
                <a:sym typeface="Arial"/>
              </a:rPr>
              <a:t> </a:t>
            </a:r>
            <a:r>
              <a:rPr lang="en-US" dirty="0" err="1">
                <a:latin typeface="Arial"/>
                <a:ea typeface="Arial"/>
                <a:cs typeface="Arial"/>
                <a:sym typeface="Arial"/>
              </a:rPr>
              <a:t>kalimat</a:t>
            </a:r>
            <a:r>
              <a:rPr lang="en-US" dirty="0">
                <a:latin typeface="Arial"/>
                <a:ea typeface="Arial"/>
                <a:cs typeface="Arial"/>
                <a:sym typeface="Arial"/>
              </a:rPr>
              <a:t>. </a:t>
            </a:r>
          </a:p>
        </p:txBody>
      </p:sp>
    </p:spTree>
    <p:extLst>
      <p:ext uri="{BB962C8B-B14F-4D97-AF65-F5344CB8AC3E}">
        <p14:creationId xmlns:p14="http://schemas.microsoft.com/office/powerpoint/2010/main" val="985614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91CE5-9CA6-1424-BDC5-9AB0A8D512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4BA364-1E12-4CE9-1D0C-7F0FBD2C9B8C}"/>
              </a:ext>
            </a:extLst>
          </p:cNvPr>
          <p:cNvSpPr>
            <a:spLocks noGrp="1"/>
          </p:cNvSpPr>
          <p:nvPr>
            <p:ph type="title"/>
          </p:nvPr>
        </p:nvSpPr>
        <p:spPr>
          <a:xfrm>
            <a:off x="838200" y="365125"/>
            <a:ext cx="10515600" cy="915035"/>
          </a:xfrm>
        </p:spPr>
        <p:txBody>
          <a:bodyPr>
            <a:normAutofit/>
          </a:bodyPr>
          <a:lstStyle/>
          <a:p>
            <a:r>
              <a:rPr lang="en-US" b="1" dirty="0"/>
              <a:t>Pie Chart</a:t>
            </a:r>
            <a:endParaRPr lang="en-US" dirty="0"/>
          </a:p>
        </p:txBody>
      </p:sp>
      <p:sp>
        <p:nvSpPr>
          <p:cNvPr id="3" name="Content Placeholder 2">
            <a:extLst>
              <a:ext uri="{FF2B5EF4-FFF2-40B4-BE49-F238E27FC236}">
                <a16:creationId xmlns:a16="http://schemas.microsoft.com/office/drawing/2014/main" id="{6EDF7434-A360-5AE9-2A07-25B3AD137F49}"/>
              </a:ext>
            </a:extLst>
          </p:cNvPr>
          <p:cNvSpPr>
            <a:spLocks noGrp="1"/>
          </p:cNvSpPr>
          <p:nvPr>
            <p:ph idx="1"/>
          </p:nvPr>
        </p:nvSpPr>
        <p:spPr>
          <a:xfrm>
            <a:off x="838200" y="1825625"/>
            <a:ext cx="7618180" cy="4351338"/>
          </a:xfrm>
        </p:spPr>
        <p:txBody>
          <a:bodyP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Pie chart </a:t>
            </a:r>
            <a:r>
              <a:rPr lang="en-US" dirty="0" err="1">
                <a:latin typeface="Calibri" panose="020F0502020204030204" pitchFamily="34" charset="0"/>
                <a:ea typeface="Calibri" panose="020F0502020204030204" pitchFamily="34" charset="0"/>
                <a:cs typeface="Calibri" panose="020F0502020204030204" pitchFamily="34" charset="0"/>
              </a:rPr>
              <a:t>digunakan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untuk</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menunjukkan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seberapa</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banyak</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dari</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setiap</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jenis</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kategori</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dalam</a:t>
            </a:r>
            <a:r>
              <a:rPr lang="en-US" dirty="0">
                <a:latin typeface="Calibri" panose="020F0502020204030204" pitchFamily="34" charset="0"/>
                <a:ea typeface="Calibri" panose="020F0502020204030204" pitchFamily="34" charset="0"/>
                <a:cs typeface="Calibri" panose="020F0502020204030204" pitchFamily="34" charset="0"/>
              </a:rPr>
              <a:t> dataset </a:t>
            </a:r>
            <a:r>
              <a:rPr lang="en-US" dirty="0" err="1">
                <a:latin typeface="Calibri" panose="020F0502020204030204" pitchFamily="34" charset="0"/>
                <a:ea typeface="Calibri" panose="020F0502020204030204" pitchFamily="34" charset="0"/>
                <a:cs typeface="Calibri" panose="020F0502020204030204" pitchFamily="34" charset="0"/>
              </a:rPr>
              <a:t>berbanding</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dengan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keseluruhan</a:t>
            </a:r>
            <a:r>
              <a:rPr lang="en-US" dirty="0">
                <a:latin typeface="Calibri" panose="020F0502020204030204" pitchFamily="34" charset="0"/>
                <a:ea typeface="Calibri" panose="020F0502020204030204" pitchFamily="34" charset="0"/>
                <a:cs typeface="Calibri" panose="020F0502020204030204" pitchFamily="34" charset="0"/>
              </a:rPr>
              <a:t>. </a:t>
            </a:r>
          </a:p>
          <a:p>
            <a:pPr lvl="1"/>
            <a:r>
              <a:rPr lang="en-US" dirty="0" err="1">
                <a:latin typeface="Calibri" panose="020F0502020204030204" pitchFamily="34" charset="0"/>
                <a:ea typeface="Calibri" panose="020F0502020204030204" pitchFamily="34" charset="0"/>
                <a:cs typeface="Calibri" panose="020F0502020204030204" pitchFamily="34" charset="0"/>
              </a:rPr>
              <a:t>Variabel</a:t>
            </a:r>
            <a:r>
              <a:rPr lang="en-US" dirty="0">
                <a:latin typeface="Calibri" panose="020F0502020204030204" pitchFamily="34" charset="0"/>
                <a:ea typeface="Calibri" panose="020F0502020204030204" pitchFamily="34" charset="0"/>
                <a:cs typeface="Calibri" panose="020F0502020204030204" pitchFamily="34" charset="0"/>
              </a:rPr>
              <a:t> label </a:t>
            </a:r>
            <a:r>
              <a:rPr lang="en-US" dirty="0" err="1">
                <a:latin typeface="Calibri" panose="020F0502020204030204" pitchFamily="34" charset="0"/>
                <a:ea typeface="Calibri" panose="020F0502020204030204" pitchFamily="34" charset="0"/>
                <a:cs typeface="Calibri" panose="020F0502020204030204" pitchFamily="34" charset="0"/>
              </a:rPr>
              <a:t>berisi</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tupel</a:t>
            </a:r>
            <a:r>
              <a:rPr lang="en-US" dirty="0">
                <a:latin typeface="Calibri" panose="020F0502020204030204" pitchFamily="34" charset="0"/>
                <a:ea typeface="Calibri" panose="020F0502020204030204" pitchFamily="34" charset="0"/>
                <a:cs typeface="Calibri" panose="020F0502020204030204" pitchFamily="34" charset="0"/>
              </a:rPr>
              <a:t> rasa es </a:t>
            </a:r>
            <a:r>
              <a:rPr lang="en-US" dirty="0" err="1">
                <a:latin typeface="Calibri" panose="020F0502020204030204" pitchFamily="34" charset="0"/>
                <a:ea typeface="Calibri" panose="020F0502020204030204" pitchFamily="34" charset="0"/>
                <a:cs typeface="Calibri" panose="020F0502020204030204" pitchFamily="34" charset="0"/>
              </a:rPr>
              <a:t>krim</a:t>
            </a:r>
            <a:r>
              <a:rPr lang="en-US" dirty="0">
                <a:latin typeface="Calibri" panose="020F0502020204030204" pitchFamily="34" charset="0"/>
                <a:ea typeface="Calibri" panose="020F0502020204030204" pitchFamily="34" charset="0"/>
                <a:cs typeface="Calibri" panose="020F0502020204030204" pitchFamily="34" charset="0"/>
              </a:rPr>
              <a:t> </a:t>
            </a:r>
          </a:p>
          <a:p>
            <a:pPr lvl="1"/>
            <a:r>
              <a:rPr lang="en-US" dirty="0" err="1">
                <a:latin typeface="Calibri" panose="020F0502020204030204" pitchFamily="34" charset="0"/>
                <a:ea typeface="Calibri" panose="020F0502020204030204" pitchFamily="34" charset="0"/>
                <a:cs typeface="Calibri" panose="020F0502020204030204" pitchFamily="34" charset="0"/>
              </a:rPr>
              <a:t>Variabel</a:t>
            </a:r>
            <a:r>
              <a:rPr lang="en-US" dirty="0">
                <a:latin typeface="Calibri" panose="020F0502020204030204" pitchFamily="34" charset="0"/>
                <a:ea typeface="Calibri" panose="020F0502020204030204" pitchFamily="34" charset="0"/>
                <a:cs typeface="Calibri" panose="020F0502020204030204" pitchFamily="34" charset="0"/>
              </a:rPr>
              <a:t> voting </a:t>
            </a:r>
            <a:r>
              <a:rPr lang="en-US" dirty="0" err="1">
                <a:latin typeface="Calibri" panose="020F0502020204030204" pitchFamily="34" charset="0"/>
                <a:ea typeface="Calibri" panose="020F0502020204030204" pitchFamily="34" charset="0"/>
                <a:cs typeface="Calibri" panose="020F0502020204030204" pitchFamily="34" charset="0"/>
              </a:rPr>
              <a:t>berisi</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tupel</a:t>
            </a:r>
            <a:r>
              <a:rPr lang="en-US" dirty="0">
                <a:latin typeface="Calibri" panose="020F0502020204030204" pitchFamily="34" charset="0"/>
                <a:ea typeface="Calibri" panose="020F0502020204030204" pitchFamily="34" charset="0"/>
                <a:cs typeface="Calibri" panose="020F0502020204030204" pitchFamily="34" charset="0"/>
              </a:rPr>
              <a:t> voting</a:t>
            </a:r>
          </a:p>
          <a:p>
            <a:pPr lvl="1"/>
            <a:r>
              <a:rPr lang="en-US" dirty="0">
                <a:latin typeface="Calibri" panose="020F0502020204030204" pitchFamily="34" charset="0"/>
                <a:ea typeface="Calibri" panose="020F0502020204030204" pitchFamily="34" charset="0"/>
                <a:cs typeface="Calibri" panose="020F0502020204030204" pitchFamily="34" charset="0"/>
              </a:rPr>
              <a:t>Data </a:t>
            </a:r>
            <a:r>
              <a:rPr lang="en-US" dirty="0" err="1">
                <a:latin typeface="Calibri" panose="020F0502020204030204" pitchFamily="34" charset="0"/>
                <a:ea typeface="Calibri" panose="020F0502020204030204" pitchFamily="34" charset="0"/>
                <a:cs typeface="Calibri" panose="020F0502020204030204" pitchFamily="34" charset="0"/>
              </a:rPr>
              <a:t>tersebut</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mewakili</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jumlah</a:t>
            </a:r>
            <a:r>
              <a:rPr lang="en-US" dirty="0">
                <a:latin typeface="Calibri" panose="020F0502020204030204" pitchFamily="34" charset="0"/>
                <a:ea typeface="Calibri" panose="020F0502020204030204" pitchFamily="34" charset="0"/>
                <a:cs typeface="Calibri" panose="020F0502020204030204" pitchFamily="34" charset="0"/>
              </a:rPr>
              <a:t> voting rasa es </a:t>
            </a:r>
            <a:r>
              <a:rPr lang="en-US" dirty="0" err="1">
                <a:latin typeface="Calibri" panose="020F0502020204030204" pitchFamily="34" charset="0"/>
                <a:ea typeface="Calibri" panose="020F0502020204030204" pitchFamily="34" charset="0"/>
                <a:cs typeface="Calibri" panose="020F0502020204030204" pitchFamily="34" charset="0"/>
              </a:rPr>
              <a:t>krim</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favorit</a:t>
            </a:r>
            <a:endParaRPr lang="en-US" dirty="0">
              <a:latin typeface="Calibri" panose="020F0502020204030204" pitchFamily="34" charset="0"/>
              <a:ea typeface="Calibri" panose="020F0502020204030204" pitchFamily="34" charset="0"/>
              <a:cs typeface="Calibri" panose="020F0502020204030204" pitchFamily="34" charset="0"/>
            </a:endParaRPr>
          </a:p>
        </p:txBody>
      </p:sp>
      <p:pic>
        <p:nvPicPr>
          <p:cNvPr id="5" name="Google Shape;218;p43">
            <a:extLst>
              <a:ext uri="{FF2B5EF4-FFF2-40B4-BE49-F238E27FC236}">
                <a16:creationId xmlns:a16="http://schemas.microsoft.com/office/drawing/2014/main" id="{89C28A12-A98D-7EB9-9614-A0AE1CD1F58F}"/>
              </a:ext>
            </a:extLst>
          </p:cNvPr>
          <p:cNvPicPr preferRelativeResize="0"/>
          <p:nvPr/>
        </p:nvPicPr>
        <p:blipFill rotWithShape="1">
          <a:blip r:embed="rId2">
            <a:alphaModFix/>
          </a:blip>
          <a:srcRect/>
          <a:stretch/>
        </p:blipFill>
        <p:spPr>
          <a:xfrm>
            <a:off x="8456380" y="1957387"/>
            <a:ext cx="3505200" cy="2943225"/>
          </a:xfrm>
          <a:prstGeom prst="rect">
            <a:avLst/>
          </a:prstGeom>
          <a:noFill/>
          <a:ln>
            <a:noFill/>
          </a:ln>
        </p:spPr>
      </p:pic>
    </p:spTree>
    <p:extLst>
      <p:ext uri="{BB962C8B-B14F-4D97-AF65-F5344CB8AC3E}">
        <p14:creationId xmlns:p14="http://schemas.microsoft.com/office/powerpoint/2010/main" val="29886012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1F8BB-2B6B-8B3E-5935-4C6F5DCB06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3E31FE-2BDD-E735-C11B-7BDC10020465}"/>
              </a:ext>
            </a:extLst>
          </p:cNvPr>
          <p:cNvSpPr>
            <a:spLocks noGrp="1"/>
          </p:cNvSpPr>
          <p:nvPr>
            <p:ph type="title"/>
          </p:nvPr>
        </p:nvSpPr>
        <p:spPr>
          <a:xfrm>
            <a:off x="838200" y="365125"/>
            <a:ext cx="10515600" cy="915035"/>
          </a:xfrm>
        </p:spPr>
        <p:txBody>
          <a:bodyPr>
            <a:normAutofit/>
          </a:bodyPr>
          <a:lstStyle/>
          <a:p>
            <a:r>
              <a:rPr lang="en-US" b="1" dirty="0"/>
              <a:t>Pie Chart</a:t>
            </a:r>
            <a:endParaRPr lang="en-US" dirty="0"/>
          </a:p>
        </p:txBody>
      </p:sp>
      <p:pic>
        <p:nvPicPr>
          <p:cNvPr id="8" name="Google Shape;226;g10054a4cacb_1_0">
            <a:extLst>
              <a:ext uri="{FF2B5EF4-FFF2-40B4-BE49-F238E27FC236}">
                <a16:creationId xmlns:a16="http://schemas.microsoft.com/office/drawing/2014/main" id="{18A1F934-BAB5-77F9-B380-F7C536E42701}"/>
              </a:ext>
            </a:extLst>
          </p:cNvPr>
          <p:cNvPicPr preferRelativeResize="0"/>
          <p:nvPr/>
        </p:nvPicPr>
        <p:blipFill>
          <a:blip r:embed="rId2">
            <a:alphaModFix/>
          </a:blip>
          <a:stretch>
            <a:fillRect/>
          </a:stretch>
        </p:blipFill>
        <p:spPr>
          <a:xfrm>
            <a:off x="345139" y="1360330"/>
            <a:ext cx="3068661" cy="1194113"/>
          </a:xfrm>
          <a:prstGeom prst="rect">
            <a:avLst/>
          </a:prstGeom>
          <a:noFill/>
          <a:ln>
            <a:noFill/>
          </a:ln>
        </p:spPr>
      </p:pic>
      <p:pic>
        <p:nvPicPr>
          <p:cNvPr id="9" name="Google Shape;227;g10054a4cacb_1_0">
            <a:extLst>
              <a:ext uri="{FF2B5EF4-FFF2-40B4-BE49-F238E27FC236}">
                <a16:creationId xmlns:a16="http://schemas.microsoft.com/office/drawing/2014/main" id="{1C21C0A0-3A1C-6409-75DD-313DF1CC3AFE}"/>
              </a:ext>
            </a:extLst>
          </p:cNvPr>
          <p:cNvPicPr preferRelativeResize="0"/>
          <p:nvPr/>
        </p:nvPicPr>
        <p:blipFill>
          <a:blip r:embed="rId3">
            <a:alphaModFix/>
          </a:blip>
          <a:stretch>
            <a:fillRect/>
          </a:stretch>
        </p:blipFill>
        <p:spPr>
          <a:xfrm>
            <a:off x="345139" y="2706506"/>
            <a:ext cx="7213900" cy="3407335"/>
          </a:xfrm>
          <a:prstGeom prst="rect">
            <a:avLst/>
          </a:prstGeom>
          <a:noFill/>
          <a:ln>
            <a:noFill/>
          </a:ln>
        </p:spPr>
      </p:pic>
      <p:sp>
        <p:nvSpPr>
          <p:cNvPr id="10" name="Google Shape;228;g10054a4cacb_1_0">
            <a:extLst>
              <a:ext uri="{FF2B5EF4-FFF2-40B4-BE49-F238E27FC236}">
                <a16:creationId xmlns:a16="http://schemas.microsoft.com/office/drawing/2014/main" id="{7008C17D-EE31-4715-292D-04D1426EEFED}"/>
              </a:ext>
            </a:extLst>
          </p:cNvPr>
          <p:cNvSpPr/>
          <p:nvPr/>
        </p:nvSpPr>
        <p:spPr>
          <a:xfrm>
            <a:off x="3553338" y="1547154"/>
            <a:ext cx="1557632" cy="479701"/>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id"/>
              <a:t>Import library</a:t>
            </a:r>
            <a:endParaRPr/>
          </a:p>
        </p:txBody>
      </p:sp>
      <p:cxnSp>
        <p:nvCxnSpPr>
          <p:cNvPr id="11" name="Google Shape;229;g10054a4cacb_1_0">
            <a:extLst>
              <a:ext uri="{FF2B5EF4-FFF2-40B4-BE49-F238E27FC236}">
                <a16:creationId xmlns:a16="http://schemas.microsoft.com/office/drawing/2014/main" id="{2EC2E2F6-997B-F645-1737-F3EDD2A3570C}"/>
              </a:ext>
            </a:extLst>
          </p:cNvPr>
          <p:cNvCxnSpPr>
            <a:cxnSpLocks/>
          </p:cNvCxnSpPr>
          <p:nvPr/>
        </p:nvCxnSpPr>
        <p:spPr>
          <a:xfrm>
            <a:off x="7513530" y="2984262"/>
            <a:ext cx="754056" cy="0"/>
          </a:xfrm>
          <a:prstGeom prst="straightConnector1">
            <a:avLst/>
          </a:prstGeom>
          <a:noFill/>
          <a:ln w="19050" cap="flat" cmpd="sng">
            <a:solidFill>
              <a:srgbClr val="1EA4B2"/>
            </a:solidFill>
            <a:prstDash val="solid"/>
            <a:round/>
            <a:headEnd type="none" w="med" len="med"/>
            <a:tailEnd type="triangle" w="med" len="med"/>
          </a:ln>
        </p:spPr>
      </p:cxnSp>
      <p:sp>
        <p:nvSpPr>
          <p:cNvPr id="12" name="Google Shape;230;g10054a4cacb_1_0">
            <a:extLst>
              <a:ext uri="{FF2B5EF4-FFF2-40B4-BE49-F238E27FC236}">
                <a16:creationId xmlns:a16="http://schemas.microsoft.com/office/drawing/2014/main" id="{B51D9B65-1206-6891-EEAA-437D1AA5D012}"/>
              </a:ext>
            </a:extLst>
          </p:cNvPr>
          <p:cNvSpPr/>
          <p:nvPr/>
        </p:nvSpPr>
        <p:spPr>
          <a:xfrm>
            <a:off x="8289953" y="2587311"/>
            <a:ext cx="918057" cy="479701"/>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id"/>
              <a:t>Data</a:t>
            </a:r>
            <a:endParaRPr/>
          </a:p>
        </p:txBody>
      </p:sp>
      <p:cxnSp>
        <p:nvCxnSpPr>
          <p:cNvPr id="13" name="Google Shape;231;g10054a4cacb_1_0">
            <a:extLst>
              <a:ext uri="{FF2B5EF4-FFF2-40B4-BE49-F238E27FC236}">
                <a16:creationId xmlns:a16="http://schemas.microsoft.com/office/drawing/2014/main" id="{1C181792-3C4A-42AB-3688-7B197456FAB9}"/>
              </a:ext>
            </a:extLst>
          </p:cNvPr>
          <p:cNvCxnSpPr>
            <a:cxnSpLocks/>
          </p:cNvCxnSpPr>
          <p:nvPr/>
        </p:nvCxnSpPr>
        <p:spPr>
          <a:xfrm>
            <a:off x="7513530" y="2827162"/>
            <a:ext cx="0" cy="435389"/>
          </a:xfrm>
          <a:prstGeom prst="straightConnector1">
            <a:avLst/>
          </a:prstGeom>
          <a:noFill/>
          <a:ln w="19050" cap="flat" cmpd="sng">
            <a:solidFill>
              <a:srgbClr val="1EA4B2"/>
            </a:solidFill>
            <a:prstDash val="solid"/>
            <a:round/>
            <a:headEnd type="none" w="med" len="med"/>
            <a:tailEnd type="none" w="med" len="med"/>
          </a:ln>
        </p:spPr>
      </p:cxnSp>
      <p:sp>
        <p:nvSpPr>
          <p:cNvPr id="14" name="Google Shape;232;g10054a4cacb_1_0">
            <a:extLst>
              <a:ext uri="{FF2B5EF4-FFF2-40B4-BE49-F238E27FC236}">
                <a16:creationId xmlns:a16="http://schemas.microsoft.com/office/drawing/2014/main" id="{4B629AD9-6118-5317-D83E-92DAF63705DA}"/>
              </a:ext>
            </a:extLst>
          </p:cNvPr>
          <p:cNvSpPr/>
          <p:nvPr/>
        </p:nvSpPr>
        <p:spPr>
          <a:xfrm>
            <a:off x="8288593" y="3093821"/>
            <a:ext cx="1557632" cy="479701"/>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id" dirty="0"/>
              <a:t>Warna chart</a:t>
            </a:r>
            <a:endParaRPr dirty="0"/>
          </a:p>
        </p:txBody>
      </p:sp>
      <p:sp>
        <p:nvSpPr>
          <p:cNvPr id="15" name="Google Shape;233;g10054a4cacb_1_0">
            <a:extLst>
              <a:ext uri="{FF2B5EF4-FFF2-40B4-BE49-F238E27FC236}">
                <a16:creationId xmlns:a16="http://schemas.microsoft.com/office/drawing/2014/main" id="{CF4A284C-FFA8-E782-DF07-F6504CA441B0}"/>
              </a:ext>
            </a:extLst>
          </p:cNvPr>
          <p:cNvSpPr/>
          <p:nvPr/>
        </p:nvSpPr>
        <p:spPr>
          <a:xfrm>
            <a:off x="8288593" y="3542527"/>
            <a:ext cx="2459863" cy="479701"/>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id"/>
              <a:t>Highlight data “mango”</a:t>
            </a:r>
            <a:endParaRPr/>
          </a:p>
        </p:txBody>
      </p:sp>
      <p:sp>
        <p:nvSpPr>
          <p:cNvPr id="16" name="Google Shape;234;g10054a4cacb_1_0">
            <a:extLst>
              <a:ext uri="{FF2B5EF4-FFF2-40B4-BE49-F238E27FC236}">
                <a16:creationId xmlns:a16="http://schemas.microsoft.com/office/drawing/2014/main" id="{0482247A-F069-8B41-E23C-4AEC1012D479}"/>
              </a:ext>
            </a:extLst>
          </p:cNvPr>
          <p:cNvSpPr/>
          <p:nvPr/>
        </p:nvSpPr>
        <p:spPr>
          <a:xfrm>
            <a:off x="5265297" y="3775869"/>
            <a:ext cx="1715423" cy="479701"/>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id" dirty="0"/>
              <a:t>Judul pie chart</a:t>
            </a:r>
            <a:endParaRPr dirty="0"/>
          </a:p>
        </p:txBody>
      </p:sp>
      <p:sp>
        <p:nvSpPr>
          <p:cNvPr id="17" name="Google Shape;235;g10054a4cacb_1_0">
            <a:extLst>
              <a:ext uri="{FF2B5EF4-FFF2-40B4-BE49-F238E27FC236}">
                <a16:creationId xmlns:a16="http://schemas.microsoft.com/office/drawing/2014/main" id="{C67DE019-B3E2-5E9B-34A6-CA7FC213F796}"/>
              </a:ext>
            </a:extLst>
          </p:cNvPr>
          <p:cNvSpPr/>
          <p:nvPr/>
        </p:nvSpPr>
        <p:spPr>
          <a:xfrm>
            <a:off x="3503914" y="4502576"/>
            <a:ext cx="2124000" cy="479701"/>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id"/>
              <a:t>Visualisasi pie chart</a:t>
            </a:r>
            <a:endParaRPr/>
          </a:p>
        </p:txBody>
      </p:sp>
      <p:cxnSp>
        <p:nvCxnSpPr>
          <p:cNvPr id="18" name="Google Shape;236;g10054a4cacb_1_0">
            <a:extLst>
              <a:ext uri="{FF2B5EF4-FFF2-40B4-BE49-F238E27FC236}">
                <a16:creationId xmlns:a16="http://schemas.microsoft.com/office/drawing/2014/main" id="{DCB1C0C2-F87C-EC21-7D1A-2CA85F0CC36D}"/>
              </a:ext>
            </a:extLst>
          </p:cNvPr>
          <p:cNvCxnSpPr>
            <a:cxnSpLocks/>
          </p:cNvCxnSpPr>
          <p:nvPr/>
        </p:nvCxnSpPr>
        <p:spPr>
          <a:xfrm>
            <a:off x="7091680" y="3334032"/>
            <a:ext cx="1175906" cy="0"/>
          </a:xfrm>
          <a:prstGeom prst="straightConnector1">
            <a:avLst/>
          </a:prstGeom>
          <a:noFill/>
          <a:ln w="19050" cap="flat" cmpd="sng">
            <a:solidFill>
              <a:srgbClr val="1EA4B2"/>
            </a:solidFill>
            <a:prstDash val="solid"/>
            <a:round/>
            <a:headEnd type="none" w="med" len="med"/>
            <a:tailEnd type="triangle" w="med" len="med"/>
          </a:ln>
        </p:spPr>
      </p:cxnSp>
      <p:cxnSp>
        <p:nvCxnSpPr>
          <p:cNvPr id="19" name="Google Shape;237;g10054a4cacb_1_0">
            <a:extLst>
              <a:ext uri="{FF2B5EF4-FFF2-40B4-BE49-F238E27FC236}">
                <a16:creationId xmlns:a16="http://schemas.microsoft.com/office/drawing/2014/main" id="{A042A914-6A28-74F7-0BB1-B769F3AAE7CE}"/>
              </a:ext>
            </a:extLst>
          </p:cNvPr>
          <p:cNvCxnSpPr>
            <a:cxnSpLocks/>
            <a:endCxn id="15" idx="1"/>
          </p:cNvCxnSpPr>
          <p:nvPr/>
        </p:nvCxnSpPr>
        <p:spPr>
          <a:xfrm>
            <a:off x="4332154" y="3542527"/>
            <a:ext cx="3956439" cy="239851"/>
          </a:xfrm>
          <a:prstGeom prst="straightConnector1">
            <a:avLst/>
          </a:prstGeom>
          <a:noFill/>
          <a:ln w="19050" cap="flat" cmpd="sng">
            <a:solidFill>
              <a:srgbClr val="1EA4B2"/>
            </a:solidFill>
            <a:prstDash val="solid"/>
            <a:round/>
            <a:headEnd type="none" w="med" len="med"/>
            <a:tailEnd type="triangle" w="med" len="med"/>
          </a:ln>
        </p:spPr>
      </p:cxnSp>
      <p:cxnSp>
        <p:nvCxnSpPr>
          <p:cNvPr id="20" name="Google Shape;238;g10054a4cacb_1_0">
            <a:extLst>
              <a:ext uri="{FF2B5EF4-FFF2-40B4-BE49-F238E27FC236}">
                <a16:creationId xmlns:a16="http://schemas.microsoft.com/office/drawing/2014/main" id="{7C5C35A6-FD6C-2B33-0C75-22FB314F5006}"/>
              </a:ext>
            </a:extLst>
          </p:cNvPr>
          <p:cNvCxnSpPr>
            <a:cxnSpLocks/>
          </p:cNvCxnSpPr>
          <p:nvPr/>
        </p:nvCxnSpPr>
        <p:spPr>
          <a:xfrm>
            <a:off x="4488875" y="4015720"/>
            <a:ext cx="754056" cy="0"/>
          </a:xfrm>
          <a:prstGeom prst="straightConnector1">
            <a:avLst/>
          </a:prstGeom>
          <a:noFill/>
          <a:ln w="19050" cap="flat" cmpd="sng">
            <a:solidFill>
              <a:srgbClr val="1EA4B2"/>
            </a:solidFill>
            <a:prstDash val="solid"/>
            <a:round/>
            <a:headEnd type="none" w="med" len="med"/>
            <a:tailEnd type="triangle" w="med" len="med"/>
          </a:ln>
        </p:spPr>
      </p:cxnSp>
      <p:cxnSp>
        <p:nvCxnSpPr>
          <p:cNvPr id="21" name="Google Shape;239;g10054a4cacb_1_0">
            <a:extLst>
              <a:ext uri="{FF2B5EF4-FFF2-40B4-BE49-F238E27FC236}">
                <a16:creationId xmlns:a16="http://schemas.microsoft.com/office/drawing/2014/main" id="{E4441EC6-5C33-F7DC-7EBD-D50EF68FDCE2}"/>
              </a:ext>
            </a:extLst>
          </p:cNvPr>
          <p:cNvCxnSpPr>
            <a:cxnSpLocks/>
          </p:cNvCxnSpPr>
          <p:nvPr/>
        </p:nvCxnSpPr>
        <p:spPr>
          <a:xfrm>
            <a:off x="2791640" y="1781505"/>
            <a:ext cx="754056" cy="0"/>
          </a:xfrm>
          <a:prstGeom prst="straightConnector1">
            <a:avLst/>
          </a:prstGeom>
          <a:noFill/>
          <a:ln w="19050" cap="flat" cmpd="sng">
            <a:solidFill>
              <a:srgbClr val="1EA4B2"/>
            </a:solidFill>
            <a:prstDash val="solid"/>
            <a:round/>
            <a:headEnd type="none" w="med" len="med"/>
            <a:tailEnd type="triangle" w="med" len="med"/>
          </a:ln>
        </p:spPr>
      </p:cxnSp>
      <p:cxnSp>
        <p:nvCxnSpPr>
          <p:cNvPr id="22" name="Google Shape;240;g10054a4cacb_1_0">
            <a:extLst>
              <a:ext uri="{FF2B5EF4-FFF2-40B4-BE49-F238E27FC236}">
                <a16:creationId xmlns:a16="http://schemas.microsoft.com/office/drawing/2014/main" id="{55DEF62E-4D1B-73ED-4178-B4C1BB399B6E}"/>
              </a:ext>
            </a:extLst>
          </p:cNvPr>
          <p:cNvCxnSpPr>
            <a:cxnSpLocks/>
          </p:cNvCxnSpPr>
          <p:nvPr/>
        </p:nvCxnSpPr>
        <p:spPr>
          <a:xfrm>
            <a:off x="2727491" y="4742427"/>
            <a:ext cx="754056" cy="0"/>
          </a:xfrm>
          <a:prstGeom prst="straightConnector1">
            <a:avLst/>
          </a:prstGeom>
          <a:noFill/>
          <a:ln w="19050" cap="flat" cmpd="sng">
            <a:solidFill>
              <a:srgbClr val="1EA4B2"/>
            </a:solidFill>
            <a:prstDash val="solid"/>
            <a:round/>
            <a:headEnd type="none" w="med" len="med"/>
            <a:tailEnd type="triangle" w="med" len="med"/>
          </a:ln>
        </p:spPr>
      </p:cxnSp>
      <p:cxnSp>
        <p:nvCxnSpPr>
          <p:cNvPr id="23" name="Google Shape;241;g10054a4cacb_1_0">
            <a:extLst>
              <a:ext uri="{FF2B5EF4-FFF2-40B4-BE49-F238E27FC236}">
                <a16:creationId xmlns:a16="http://schemas.microsoft.com/office/drawing/2014/main" id="{02A37063-10C4-80B5-C9EC-8CA684F9A882}"/>
              </a:ext>
            </a:extLst>
          </p:cNvPr>
          <p:cNvCxnSpPr>
            <a:cxnSpLocks/>
          </p:cNvCxnSpPr>
          <p:nvPr/>
        </p:nvCxnSpPr>
        <p:spPr>
          <a:xfrm>
            <a:off x="2727491" y="4168077"/>
            <a:ext cx="0" cy="1632707"/>
          </a:xfrm>
          <a:prstGeom prst="straightConnector1">
            <a:avLst/>
          </a:prstGeom>
          <a:noFill/>
          <a:ln w="19050" cap="flat" cmpd="sng">
            <a:solidFill>
              <a:srgbClr val="1EA4B2"/>
            </a:solidFill>
            <a:prstDash val="solid"/>
            <a:round/>
            <a:headEnd type="none" w="med" len="med"/>
            <a:tailEnd type="none" w="med" len="med"/>
          </a:ln>
        </p:spPr>
      </p:cxnSp>
      <p:grpSp>
        <p:nvGrpSpPr>
          <p:cNvPr id="44" name="Group 43">
            <a:extLst>
              <a:ext uri="{FF2B5EF4-FFF2-40B4-BE49-F238E27FC236}">
                <a16:creationId xmlns:a16="http://schemas.microsoft.com/office/drawing/2014/main" id="{666E3F30-E044-19C4-7C41-45E9F592ECD5}"/>
              </a:ext>
            </a:extLst>
          </p:cNvPr>
          <p:cNvGrpSpPr/>
          <p:nvPr/>
        </p:nvGrpSpPr>
        <p:grpSpPr>
          <a:xfrm>
            <a:off x="8145742" y="-213358"/>
            <a:ext cx="3440276" cy="2918971"/>
            <a:chOff x="7728371" y="273635"/>
            <a:chExt cx="2858349" cy="2431977"/>
          </a:xfrm>
        </p:grpSpPr>
        <p:sp>
          <p:nvSpPr>
            <p:cNvPr id="43" name="Rectangle 42">
              <a:extLst>
                <a:ext uri="{FF2B5EF4-FFF2-40B4-BE49-F238E27FC236}">
                  <a16:creationId xmlns:a16="http://schemas.microsoft.com/office/drawing/2014/main" id="{24501C57-FF24-98EF-BBFE-4B5C47C3328D}"/>
                </a:ext>
              </a:extLst>
            </p:cNvPr>
            <p:cNvSpPr/>
            <p:nvPr/>
          </p:nvSpPr>
          <p:spPr>
            <a:xfrm>
              <a:off x="7728371" y="457199"/>
              <a:ext cx="2858349" cy="224841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Google Shape;218;p43">
              <a:extLst>
                <a:ext uri="{FF2B5EF4-FFF2-40B4-BE49-F238E27FC236}">
                  <a16:creationId xmlns:a16="http://schemas.microsoft.com/office/drawing/2014/main" id="{3CBC51C1-22AC-427A-D50A-99C7AA4EF3FA}"/>
                </a:ext>
              </a:extLst>
            </p:cNvPr>
            <p:cNvPicPr preferRelativeResize="0"/>
            <p:nvPr/>
          </p:nvPicPr>
          <p:blipFill rotWithShape="1">
            <a:blip r:embed="rId4">
              <a:alphaModFix/>
            </a:blip>
            <a:srcRect/>
            <a:stretch/>
          </p:blipFill>
          <p:spPr>
            <a:xfrm>
              <a:off x="7746955" y="273635"/>
              <a:ext cx="2821181" cy="2416728"/>
            </a:xfrm>
            <a:prstGeom prst="rect">
              <a:avLst/>
            </a:prstGeom>
            <a:noFill/>
            <a:ln>
              <a:noFill/>
            </a:ln>
          </p:spPr>
        </p:pic>
      </p:grpSp>
    </p:spTree>
    <p:extLst>
      <p:ext uri="{BB962C8B-B14F-4D97-AF65-F5344CB8AC3E}">
        <p14:creationId xmlns:p14="http://schemas.microsoft.com/office/powerpoint/2010/main" val="36321503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10982-A051-BD0C-37E4-FDD2018013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351240-AF0E-1044-F090-26D476F1A7CC}"/>
              </a:ext>
            </a:extLst>
          </p:cNvPr>
          <p:cNvSpPr>
            <a:spLocks noGrp="1"/>
          </p:cNvSpPr>
          <p:nvPr>
            <p:ph type="title"/>
          </p:nvPr>
        </p:nvSpPr>
        <p:spPr>
          <a:xfrm>
            <a:off x="838200" y="365125"/>
            <a:ext cx="10515600" cy="915035"/>
          </a:xfrm>
        </p:spPr>
        <p:txBody>
          <a:bodyPr>
            <a:normAutofit/>
          </a:bodyPr>
          <a:lstStyle/>
          <a:p>
            <a:r>
              <a:rPr lang="en-US" b="1" dirty="0"/>
              <a:t>Bar Chart</a:t>
            </a:r>
            <a:endParaRPr lang="en-US" dirty="0"/>
          </a:p>
        </p:txBody>
      </p:sp>
      <p:sp>
        <p:nvSpPr>
          <p:cNvPr id="3" name="Content Placeholder 2">
            <a:extLst>
              <a:ext uri="{FF2B5EF4-FFF2-40B4-BE49-F238E27FC236}">
                <a16:creationId xmlns:a16="http://schemas.microsoft.com/office/drawing/2014/main" id="{5E96373A-DAC9-602B-FD14-5F2D49ECB839}"/>
              </a:ext>
            </a:extLst>
          </p:cNvPr>
          <p:cNvSpPr>
            <a:spLocks noGrp="1"/>
          </p:cNvSpPr>
          <p:nvPr>
            <p:ph idx="1"/>
          </p:nvPr>
        </p:nvSpPr>
        <p:spPr>
          <a:xfrm>
            <a:off x="838200" y="1825625"/>
            <a:ext cx="6446520" cy="4351338"/>
          </a:xfrm>
        </p:spPr>
        <p:txBody>
          <a:bodyPr>
            <a:normAutofit fontScale="92500" lnSpcReduction="10000"/>
          </a:bodyPr>
          <a:lstStyle/>
          <a:p>
            <a:pPr marL="457200" lvl="0" indent="-333661">
              <a:lnSpc>
                <a:spcPct val="115000"/>
              </a:lnSpc>
              <a:spcBef>
                <a:spcPts val="0"/>
              </a:spcBef>
              <a:buClr>
                <a:schemeClr val="dk1"/>
              </a:buClr>
              <a:buSzPct val="92664"/>
              <a:buChar char="●"/>
            </a:pPr>
            <a:r>
              <a:rPr lang="en-US" b="1" dirty="0">
                <a:latin typeface="Arial"/>
                <a:ea typeface="Arial"/>
                <a:cs typeface="Arial"/>
                <a:sym typeface="Arial"/>
              </a:rPr>
              <a:t>Bar Chart</a:t>
            </a:r>
            <a:r>
              <a:rPr lang="en-US" dirty="0">
                <a:latin typeface="Arial"/>
                <a:ea typeface="Arial"/>
                <a:cs typeface="Arial"/>
                <a:sym typeface="Arial"/>
              </a:rPr>
              <a:t> </a:t>
            </a:r>
            <a:r>
              <a:rPr lang="en-US" dirty="0" err="1">
                <a:latin typeface="Arial"/>
                <a:ea typeface="Arial"/>
                <a:cs typeface="Arial"/>
                <a:sym typeface="Arial"/>
              </a:rPr>
              <a:t>adalah</a:t>
            </a:r>
            <a:r>
              <a:rPr lang="en-US" dirty="0">
                <a:latin typeface="Arial"/>
                <a:ea typeface="Arial"/>
                <a:cs typeface="Arial"/>
                <a:sym typeface="Arial"/>
              </a:rPr>
              <a:t> </a:t>
            </a:r>
            <a:r>
              <a:rPr lang="en-US" dirty="0" err="1">
                <a:latin typeface="Arial"/>
                <a:ea typeface="Arial"/>
                <a:cs typeface="Arial"/>
                <a:sym typeface="Arial"/>
              </a:rPr>
              <a:t>merupakan</a:t>
            </a:r>
            <a:r>
              <a:rPr lang="en-US" dirty="0">
                <a:latin typeface="Arial"/>
                <a:ea typeface="Arial"/>
                <a:cs typeface="Arial"/>
                <a:sym typeface="Arial"/>
              </a:rPr>
              <a:t> tools </a:t>
            </a:r>
            <a:r>
              <a:rPr lang="en-US" dirty="0" err="1">
                <a:latin typeface="Arial"/>
                <a:ea typeface="Arial"/>
                <a:cs typeface="Arial"/>
                <a:sym typeface="Arial"/>
              </a:rPr>
              <a:t>visualisasi</a:t>
            </a:r>
            <a:r>
              <a:rPr lang="en-US" dirty="0">
                <a:latin typeface="Arial"/>
                <a:ea typeface="Arial"/>
                <a:cs typeface="Arial"/>
                <a:sym typeface="Arial"/>
              </a:rPr>
              <a:t> yang </a:t>
            </a:r>
            <a:r>
              <a:rPr lang="en-US" dirty="0" err="1">
                <a:latin typeface="Arial"/>
                <a:ea typeface="Arial"/>
                <a:cs typeface="Arial"/>
                <a:sym typeface="Arial"/>
              </a:rPr>
              <a:t>dapat</a:t>
            </a:r>
            <a:r>
              <a:rPr lang="en-US" dirty="0">
                <a:latin typeface="Arial"/>
                <a:ea typeface="Arial"/>
                <a:cs typeface="Arial"/>
                <a:sym typeface="Arial"/>
              </a:rPr>
              <a:t> </a:t>
            </a:r>
            <a:r>
              <a:rPr lang="en-US" dirty="0" err="1">
                <a:latin typeface="Arial"/>
                <a:ea typeface="Arial"/>
                <a:cs typeface="Arial"/>
                <a:sym typeface="Arial"/>
              </a:rPr>
              <a:t>digunakan</a:t>
            </a:r>
            <a:r>
              <a:rPr lang="en-US" dirty="0">
                <a:latin typeface="Arial"/>
                <a:ea typeface="Arial"/>
                <a:cs typeface="Arial"/>
                <a:sym typeface="Arial"/>
              </a:rPr>
              <a:t> </a:t>
            </a:r>
            <a:r>
              <a:rPr lang="en-US" dirty="0" err="1">
                <a:latin typeface="Arial"/>
                <a:ea typeface="Arial"/>
                <a:cs typeface="Arial"/>
                <a:sym typeface="Arial"/>
              </a:rPr>
              <a:t>untuk</a:t>
            </a:r>
            <a:r>
              <a:rPr lang="en-US" dirty="0">
                <a:latin typeface="Arial"/>
                <a:ea typeface="Arial"/>
                <a:cs typeface="Arial"/>
                <a:sym typeface="Arial"/>
              </a:rPr>
              <a:t> </a:t>
            </a:r>
            <a:r>
              <a:rPr lang="en-US" dirty="0" err="1">
                <a:latin typeface="Arial"/>
                <a:ea typeface="Arial"/>
                <a:cs typeface="Arial"/>
                <a:sym typeface="Arial"/>
              </a:rPr>
              <a:t>membandingkan</a:t>
            </a:r>
            <a:r>
              <a:rPr lang="en-US" dirty="0">
                <a:latin typeface="Arial"/>
                <a:ea typeface="Arial"/>
                <a:cs typeface="Arial"/>
                <a:sym typeface="Arial"/>
              </a:rPr>
              <a:t> data </a:t>
            </a:r>
            <a:r>
              <a:rPr lang="en-US" dirty="0" err="1">
                <a:latin typeface="Arial"/>
                <a:ea typeface="Arial"/>
                <a:cs typeface="Arial"/>
                <a:sym typeface="Arial"/>
              </a:rPr>
              <a:t>kategorikal</a:t>
            </a:r>
            <a:r>
              <a:rPr lang="en-US" dirty="0">
                <a:latin typeface="Arial"/>
                <a:ea typeface="Arial"/>
                <a:cs typeface="Arial"/>
                <a:sym typeface="Arial"/>
              </a:rPr>
              <a:t>. </a:t>
            </a:r>
          </a:p>
          <a:p>
            <a:pPr marL="457200" lvl="0" indent="-333661">
              <a:lnSpc>
                <a:spcPct val="115000"/>
              </a:lnSpc>
              <a:spcBef>
                <a:spcPts val="0"/>
              </a:spcBef>
              <a:buClr>
                <a:schemeClr val="dk1"/>
              </a:buClr>
              <a:buSzPct val="92664"/>
              <a:buChar char="●"/>
            </a:pPr>
            <a:r>
              <a:rPr lang="en-US" dirty="0" err="1">
                <a:latin typeface="Arial"/>
                <a:ea typeface="Arial"/>
                <a:cs typeface="Arial"/>
                <a:sym typeface="Arial"/>
              </a:rPr>
              <a:t>Mirip</a:t>
            </a:r>
            <a:r>
              <a:rPr lang="en-US" dirty="0">
                <a:latin typeface="Arial"/>
                <a:ea typeface="Arial"/>
                <a:cs typeface="Arial"/>
                <a:sym typeface="Arial"/>
              </a:rPr>
              <a:t> </a:t>
            </a:r>
            <a:r>
              <a:rPr lang="en-US" dirty="0" err="1">
                <a:latin typeface="Arial"/>
                <a:ea typeface="Arial"/>
                <a:cs typeface="Arial"/>
                <a:sym typeface="Arial"/>
              </a:rPr>
              <a:t>dengan</a:t>
            </a:r>
            <a:r>
              <a:rPr lang="en-US" dirty="0">
                <a:latin typeface="Arial"/>
                <a:ea typeface="Arial"/>
                <a:cs typeface="Arial"/>
                <a:sym typeface="Arial"/>
              </a:rPr>
              <a:t> diagram </a:t>
            </a:r>
            <a:r>
              <a:rPr lang="en-US" dirty="0" err="1">
                <a:latin typeface="Arial"/>
                <a:ea typeface="Arial"/>
                <a:cs typeface="Arial"/>
                <a:sym typeface="Arial"/>
              </a:rPr>
              <a:t>lingkaran</a:t>
            </a:r>
            <a:r>
              <a:rPr lang="en-US" dirty="0">
                <a:latin typeface="Arial"/>
                <a:ea typeface="Arial"/>
                <a:cs typeface="Arial"/>
                <a:sym typeface="Arial"/>
              </a:rPr>
              <a:t>, diagram </a:t>
            </a:r>
            <a:r>
              <a:rPr lang="en-US" dirty="0" err="1">
                <a:latin typeface="Arial"/>
                <a:ea typeface="Arial"/>
                <a:cs typeface="Arial"/>
                <a:sym typeface="Arial"/>
              </a:rPr>
              <a:t>ini</a:t>
            </a:r>
            <a:r>
              <a:rPr lang="en-US" dirty="0">
                <a:latin typeface="Arial"/>
                <a:ea typeface="Arial"/>
                <a:cs typeface="Arial"/>
                <a:sym typeface="Arial"/>
              </a:rPr>
              <a:t> </a:t>
            </a:r>
            <a:r>
              <a:rPr lang="en-US" dirty="0" err="1">
                <a:latin typeface="Arial"/>
                <a:ea typeface="Arial"/>
                <a:cs typeface="Arial"/>
                <a:sym typeface="Arial"/>
              </a:rPr>
              <a:t>dapat</a:t>
            </a:r>
            <a:r>
              <a:rPr lang="en-US" dirty="0">
                <a:latin typeface="Arial"/>
                <a:ea typeface="Arial"/>
                <a:cs typeface="Arial"/>
                <a:sym typeface="Arial"/>
              </a:rPr>
              <a:t> </a:t>
            </a:r>
            <a:r>
              <a:rPr lang="en-US" dirty="0" err="1">
                <a:latin typeface="Arial"/>
                <a:ea typeface="Arial"/>
                <a:cs typeface="Arial"/>
                <a:sym typeface="Arial"/>
              </a:rPr>
              <a:t>digunakan</a:t>
            </a:r>
            <a:r>
              <a:rPr lang="en-US" dirty="0">
                <a:latin typeface="Arial"/>
                <a:ea typeface="Arial"/>
                <a:cs typeface="Arial"/>
                <a:sym typeface="Arial"/>
              </a:rPr>
              <a:t> </a:t>
            </a:r>
            <a:r>
              <a:rPr lang="en-US" dirty="0" err="1">
                <a:latin typeface="Arial"/>
                <a:ea typeface="Arial"/>
                <a:cs typeface="Arial"/>
                <a:sym typeface="Arial"/>
              </a:rPr>
              <a:t>untuk</a:t>
            </a:r>
            <a:r>
              <a:rPr lang="en-US" dirty="0">
                <a:latin typeface="Arial"/>
                <a:ea typeface="Arial"/>
                <a:cs typeface="Arial"/>
                <a:sym typeface="Arial"/>
              </a:rPr>
              <a:t> </a:t>
            </a:r>
            <a:r>
              <a:rPr lang="en-US" dirty="0" err="1">
                <a:latin typeface="Arial"/>
                <a:ea typeface="Arial"/>
                <a:cs typeface="Arial"/>
                <a:sym typeface="Arial"/>
              </a:rPr>
              <a:t>membandingkan</a:t>
            </a:r>
            <a:r>
              <a:rPr lang="en-US" dirty="0">
                <a:latin typeface="Arial"/>
                <a:ea typeface="Arial"/>
                <a:cs typeface="Arial"/>
                <a:sym typeface="Arial"/>
              </a:rPr>
              <a:t> </a:t>
            </a:r>
            <a:r>
              <a:rPr lang="en-US" dirty="0" err="1">
                <a:latin typeface="Arial"/>
                <a:ea typeface="Arial"/>
                <a:cs typeface="Arial"/>
                <a:sym typeface="Arial"/>
              </a:rPr>
              <a:t>kategori</a:t>
            </a:r>
            <a:r>
              <a:rPr lang="en-US" dirty="0">
                <a:latin typeface="Arial"/>
                <a:ea typeface="Arial"/>
                <a:cs typeface="Arial"/>
                <a:sym typeface="Arial"/>
              </a:rPr>
              <a:t> data </a:t>
            </a:r>
            <a:r>
              <a:rPr lang="en-US" dirty="0" err="1">
                <a:latin typeface="Arial"/>
                <a:ea typeface="Arial"/>
                <a:cs typeface="Arial"/>
                <a:sym typeface="Arial"/>
              </a:rPr>
              <a:t>satu</a:t>
            </a:r>
            <a:r>
              <a:rPr lang="en-US" dirty="0">
                <a:latin typeface="Arial"/>
                <a:ea typeface="Arial"/>
                <a:cs typeface="Arial"/>
                <a:sym typeface="Arial"/>
              </a:rPr>
              <a:t> </a:t>
            </a:r>
            <a:r>
              <a:rPr lang="en-US" dirty="0" err="1">
                <a:latin typeface="Arial"/>
                <a:ea typeface="Arial"/>
                <a:cs typeface="Arial"/>
                <a:sym typeface="Arial"/>
              </a:rPr>
              <a:t>sama</a:t>
            </a:r>
            <a:r>
              <a:rPr lang="en-US" dirty="0">
                <a:latin typeface="Arial"/>
                <a:ea typeface="Arial"/>
                <a:cs typeface="Arial"/>
                <a:sym typeface="Arial"/>
              </a:rPr>
              <a:t> lain. </a:t>
            </a:r>
          </a:p>
          <a:p>
            <a:pPr marL="457200" lvl="0" indent="-333661">
              <a:lnSpc>
                <a:spcPct val="115000"/>
              </a:lnSpc>
              <a:spcBef>
                <a:spcPts val="0"/>
              </a:spcBef>
              <a:buClr>
                <a:schemeClr val="dk1"/>
              </a:buClr>
              <a:buSzPct val="92664"/>
              <a:buChar char="●"/>
            </a:pPr>
            <a:r>
              <a:rPr lang="en-US" dirty="0">
                <a:latin typeface="Arial"/>
                <a:ea typeface="Arial"/>
                <a:cs typeface="Arial"/>
                <a:sym typeface="Arial"/>
              </a:rPr>
              <a:t>Diagram </a:t>
            </a:r>
            <a:r>
              <a:rPr lang="en-US" dirty="0" err="1">
                <a:latin typeface="Arial"/>
                <a:ea typeface="Arial"/>
                <a:cs typeface="Arial"/>
                <a:sym typeface="Arial"/>
              </a:rPr>
              <a:t>batang</a:t>
            </a:r>
            <a:r>
              <a:rPr lang="en-US" dirty="0">
                <a:latin typeface="Arial"/>
                <a:ea typeface="Arial"/>
                <a:cs typeface="Arial"/>
                <a:sym typeface="Arial"/>
              </a:rPr>
              <a:t> </a:t>
            </a:r>
            <a:r>
              <a:rPr lang="en-US" dirty="0" err="1">
                <a:latin typeface="Arial"/>
                <a:ea typeface="Arial"/>
                <a:cs typeface="Arial"/>
                <a:sym typeface="Arial"/>
              </a:rPr>
              <a:t>dapat</a:t>
            </a:r>
            <a:r>
              <a:rPr lang="en-US" dirty="0">
                <a:latin typeface="Arial"/>
                <a:ea typeface="Arial"/>
                <a:cs typeface="Arial"/>
                <a:sym typeface="Arial"/>
              </a:rPr>
              <a:t> </a:t>
            </a:r>
            <a:r>
              <a:rPr lang="en-US" dirty="0" err="1">
                <a:latin typeface="Arial"/>
                <a:ea typeface="Arial"/>
                <a:cs typeface="Arial"/>
                <a:sym typeface="Arial"/>
              </a:rPr>
              <a:t>menampilkan</a:t>
            </a:r>
            <a:r>
              <a:rPr lang="en-US" dirty="0">
                <a:latin typeface="Arial"/>
                <a:ea typeface="Arial"/>
                <a:cs typeface="Arial"/>
                <a:sym typeface="Arial"/>
              </a:rPr>
              <a:t> </a:t>
            </a:r>
            <a:r>
              <a:rPr lang="en-US" dirty="0" err="1">
                <a:latin typeface="Arial"/>
                <a:ea typeface="Arial"/>
                <a:cs typeface="Arial"/>
                <a:sym typeface="Arial"/>
              </a:rPr>
              <a:t>lebih</a:t>
            </a:r>
            <a:r>
              <a:rPr lang="en-US" dirty="0">
                <a:latin typeface="Arial"/>
                <a:ea typeface="Arial"/>
                <a:cs typeface="Arial"/>
                <a:sym typeface="Arial"/>
              </a:rPr>
              <a:t> </a:t>
            </a:r>
            <a:r>
              <a:rPr lang="en-US" dirty="0" err="1">
                <a:latin typeface="Arial"/>
                <a:ea typeface="Arial"/>
                <a:cs typeface="Arial"/>
                <a:sym typeface="Arial"/>
              </a:rPr>
              <a:t>banyak</a:t>
            </a:r>
            <a:r>
              <a:rPr lang="en-US" dirty="0">
                <a:latin typeface="Arial"/>
                <a:ea typeface="Arial"/>
                <a:cs typeface="Arial"/>
                <a:sym typeface="Arial"/>
              </a:rPr>
              <a:t> </a:t>
            </a:r>
            <a:r>
              <a:rPr lang="en-US" dirty="0" err="1">
                <a:latin typeface="Arial"/>
                <a:ea typeface="Arial"/>
                <a:cs typeface="Arial"/>
                <a:sym typeface="Arial"/>
              </a:rPr>
              <a:t>kategori</a:t>
            </a:r>
            <a:r>
              <a:rPr lang="en-US" dirty="0">
                <a:latin typeface="Arial"/>
                <a:ea typeface="Arial"/>
                <a:cs typeface="Arial"/>
                <a:sym typeface="Arial"/>
              </a:rPr>
              <a:t> data </a:t>
            </a:r>
            <a:r>
              <a:rPr lang="en-US" dirty="0" err="1">
                <a:latin typeface="Arial"/>
                <a:ea typeface="Arial"/>
                <a:cs typeface="Arial"/>
                <a:sym typeface="Arial"/>
              </a:rPr>
              <a:t>daripada</a:t>
            </a:r>
            <a:r>
              <a:rPr lang="en-US" dirty="0">
                <a:latin typeface="Arial"/>
                <a:ea typeface="Arial"/>
                <a:cs typeface="Arial"/>
                <a:sym typeface="Arial"/>
              </a:rPr>
              <a:t> diagram </a:t>
            </a:r>
            <a:r>
              <a:rPr lang="en-US" dirty="0" err="1">
                <a:latin typeface="Arial"/>
                <a:ea typeface="Arial"/>
                <a:cs typeface="Arial"/>
                <a:sym typeface="Arial"/>
              </a:rPr>
              <a:t>lingkaran</a:t>
            </a:r>
            <a:r>
              <a:rPr lang="en-US" dirty="0">
                <a:latin typeface="Arial"/>
                <a:ea typeface="Arial"/>
                <a:cs typeface="Arial"/>
                <a:sym typeface="Arial"/>
              </a:rPr>
              <a:t>. </a:t>
            </a:r>
          </a:p>
        </p:txBody>
      </p:sp>
      <p:pic>
        <p:nvPicPr>
          <p:cNvPr id="8" name="Google Shape;249;p44" descr="Chart, histogram&#10;&#10;Description automatically generated">
            <a:extLst>
              <a:ext uri="{FF2B5EF4-FFF2-40B4-BE49-F238E27FC236}">
                <a16:creationId xmlns:a16="http://schemas.microsoft.com/office/drawing/2014/main" id="{8C1B6E13-9FF2-43D2-8DF7-889871328A9B}"/>
              </a:ext>
            </a:extLst>
          </p:cNvPr>
          <p:cNvPicPr preferRelativeResize="0"/>
          <p:nvPr/>
        </p:nvPicPr>
        <p:blipFill rotWithShape="1">
          <a:blip r:embed="rId2">
            <a:alphaModFix/>
          </a:blip>
          <a:srcRect/>
          <a:stretch/>
        </p:blipFill>
        <p:spPr>
          <a:xfrm>
            <a:off x="7573115" y="2079362"/>
            <a:ext cx="4260864" cy="3843863"/>
          </a:xfrm>
          <a:prstGeom prst="rect">
            <a:avLst/>
          </a:prstGeom>
          <a:noFill/>
          <a:ln>
            <a:noFill/>
          </a:ln>
        </p:spPr>
      </p:pic>
    </p:spTree>
    <p:extLst>
      <p:ext uri="{BB962C8B-B14F-4D97-AF65-F5344CB8AC3E}">
        <p14:creationId xmlns:p14="http://schemas.microsoft.com/office/powerpoint/2010/main" val="25025918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FFAB4-BE15-1603-79F2-79F0835F53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6C1FE6-B0B7-6E43-9EAC-8A7A1E9FE21C}"/>
              </a:ext>
            </a:extLst>
          </p:cNvPr>
          <p:cNvSpPr>
            <a:spLocks noGrp="1"/>
          </p:cNvSpPr>
          <p:nvPr>
            <p:ph type="title"/>
          </p:nvPr>
        </p:nvSpPr>
        <p:spPr>
          <a:xfrm>
            <a:off x="838200" y="365125"/>
            <a:ext cx="10515600" cy="915035"/>
          </a:xfrm>
        </p:spPr>
        <p:txBody>
          <a:bodyPr>
            <a:normAutofit/>
          </a:bodyPr>
          <a:lstStyle/>
          <a:p>
            <a:r>
              <a:rPr lang="en-US" b="1" dirty="0"/>
              <a:t>Bar Chart</a:t>
            </a:r>
            <a:endParaRPr lang="en-US" dirty="0"/>
          </a:p>
        </p:txBody>
      </p:sp>
      <p:sp>
        <p:nvSpPr>
          <p:cNvPr id="3" name="Content Placeholder 2">
            <a:extLst>
              <a:ext uri="{FF2B5EF4-FFF2-40B4-BE49-F238E27FC236}">
                <a16:creationId xmlns:a16="http://schemas.microsoft.com/office/drawing/2014/main" id="{64F89768-199F-FB60-4D03-A76D81F4F013}"/>
              </a:ext>
            </a:extLst>
          </p:cNvPr>
          <p:cNvSpPr>
            <a:spLocks noGrp="1"/>
          </p:cNvSpPr>
          <p:nvPr>
            <p:ph idx="1"/>
          </p:nvPr>
        </p:nvSpPr>
        <p:spPr>
          <a:xfrm>
            <a:off x="838200" y="1825625"/>
            <a:ext cx="6446520" cy="4351338"/>
          </a:xfrm>
        </p:spPr>
        <p:txBody>
          <a:bodyPr>
            <a:normAutofit lnSpcReduction="10000"/>
          </a:bodyPr>
          <a:lstStyle/>
          <a:p>
            <a:pPr marL="457200" lvl="0" indent="-336579">
              <a:lnSpc>
                <a:spcPct val="105000"/>
              </a:lnSpc>
              <a:spcBef>
                <a:spcPts val="0"/>
              </a:spcBef>
              <a:buClr>
                <a:schemeClr val="dk1"/>
              </a:buClr>
              <a:buSzPts val="1700"/>
              <a:buChar char="●"/>
            </a:pPr>
            <a:r>
              <a:rPr lang="en-US" dirty="0">
                <a:latin typeface="Arial"/>
                <a:ea typeface="Arial"/>
                <a:cs typeface="Arial"/>
                <a:sym typeface="Arial"/>
              </a:rPr>
              <a:t>Mari </a:t>
            </a:r>
            <a:r>
              <a:rPr lang="en-US" dirty="0" err="1">
                <a:latin typeface="Arial"/>
                <a:ea typeface="Arial"/>
                <a:cs typeface="Arial"/>
                <a:sym typeface="Arial"/>
              </a:rPr>
              <a:t>kita</a:t>
            </a:r>
            <a:r>
              <a:rPr lang="en-US" dirty="0">
                <a:latin typeface="Arial"/>
                <a:ea typeface="Arial"/>
                <a:cs typeface="Arial"/>
                <a:sym typeface="Arial"/>
              </a:rPr>
              <a:t> </a:t>
            </a:r>
            <a:r>
              <a:rPr lang="en-US" dirty="0" err="1">
                <a:latin typeface="Arial"/>
                <a:ea typeface="Arial"/>
                <a:cs typeface="Arial"/>
                <a:sym typeface="Arial"/>
              </a:rPr>
              <a:t>mulai</a:t>
            </a:r>
            <a:r>
              <a:rPr lang="en-US" dirty="0">
                <a:latin typeface="Arial"/>
                <a:ea typeface="Arial"/>
                <a:cs typeface="Arial"/>
                <a:sym typeface="Arial"/>
              </a:rPr>
              <a:t> </a:t>
            </a:r>
            <a:r>
              <a:rPr lang="en-US" dirty="0" err="1">
                <a:latin typeface="Arial"/>
                <a:ea typeface="Arial"/>
                <a:cs typeface="Arial"/>
                <a:sym typeface="Arial"/>
              </a:rPr>
              <a:t>dengan</a:t>
            </a:r>
            <a:r>
              <a:rPr lang="en-US" dirty="0">
                <a:latin typeface="Arial"/>
                <a:ea typeface="Arial"/>
                <a:cs typeface="Arial"/>
                <a:sym typeface="Arial"/>
              </a:rPr>
              <a:t> </a:t>
            </a:r>
            <a:r>
              <a:rPr lang="en-US" dirty="0" err="1">
                <a:latin typeface="Arial"/>
                <a:ea typeface="Arial"/>
                <a:cs typeface="Arial"/>
                <a:sym typeface="Arial"/>
              </a:rPr>
              <a:t>melihat</a:t>
            </a:r>
            <a:r>
              <a:rPr lang="en-US" dirty="0">
                <a:latin typeface="Arial"/>
                <a:ea typeface="Arial"/>
                <a:cs typeface="Arial"/>
                <a:sym typeface="Arial"/>
              </a:rPr>
              <a:t> diagram </a:t>
            </a:r>
            <a:r>
              <a:rPr lang="en-US" dirty="0" err="1">
                <a:latin typeface="Arial"/>
                <a:ea typeface="Arial"/>
                <a:cs typeface="Arial"/>
                <a:sym typeface="Arial"/>
              </a:rPr>
              <a:t>batang</a:t>
            </a:r>
            <a:r>
              <a:rPr lang="en-US" dirty="0">
                <a:latin typeface="Arial"/>
                <a:ea typeface="Arial"/>
                <a:cs typeface="Arial"/>
                <a:sym typeface="Arial"/>
              </a:rPr>
              <a:t> yang </a:t>
            </a:r>
            <a:r>
              <a:rPr lang="en-US" dirty="0" err="1">
                <a:latin typeface="Arial"/>
                <a:ea typeface="Arial"/>
                <a:cs typeface="Arial"/>
                <a:sym typeface="Arial"/>
              </a:rPr>
              <a:t>menunjukkan</a:t>
            </a:r>
            <a:r>
              <a:rPr lang="en-US" dirty="0">
                <a:latin typeface="Arial"/>
                <a:ea typeface="Arial"/>
                <a:cs typeface="Arial"/>
                <a:sym typeface="Arial"/>
              </a:rPr>
              <a:t> </a:t>
            </a:r>
            <a:r>
              <a:rPr lang="en-US" dirty="0" err="1">
                <a:latin typeface="Arial"/>
                <a:ea typeface="Arial"/>
                <a:cs typeface="Arial"/>
                <a:sym typeface="Arial"/>
              </a:rPr>
              <a:t>populasi</a:t>
            </a:r>
            <a:r>
              <a:rPr lang="en-US" dirty="0">
                <a:latin typeface="Arial"/>
                <a:ea typeface="Arial"/>
                <a:cs typeface="Arial"/>
                <a:sym typeface="Arial"/>
              </a:rPr>
              <a:t> </a:t>
            </a:r>
            <a:r>
              <a:rPr lang="en-US" dirty="0" err="1">
                <a:latin typeface="Arial"/>
                <a:ea typeface="Arial"/>
                <a:cs typeface="Arial"/>
                <a:sym typeface="Arial"/>
              </a:rPr>
              <a:t>setiap</a:t>
            </a:r>
            <a:r>
              <a:rPr lang="en-US" dirty="0">
                <a:latin typeface="Arial"/>
                <a:ea typeface="Arial"/>
                <a:cs typeface="Arial"/>
                <a:sym typeface="Arial"/>
              </a:rPr>
              <a:t> negara di Amerika Selatan. </a:t>
            </a:r>
          </a:p>
          <a:p>
            <a:pPr marL="457200" lvl="0" indent="-336579">
              <a:lnSpc>
                <a:spcPct val="105000"/>
              </a:lnSpc>
              <a:spcBef>
                <a:spcPts val="0"/>
              </a:spcBef>
              <a:buClr>
                <a:schemeClr val="dk1"/>
              </a:buClr>
              <a:buSzPts val="1700"/>
              <a:buChar char="●"/>
            </a:pPr>
            <a:r>
              <a:rPr lang="en-US" dirty="0" err="1">
                <a:latin typeface="Arial"/>
                <a:ea typeface="Arial"/>
                <a:cs typeface="Arial"/>
                <a:sym typeface="Arial"/>
              </a:rPr>
              <a:t>Visualisasi</a:t>
            </a:r>
            <a:r>
              <a:rPr lang="en-US" dirty="0">
                <a:latin typeface="Arial"/>
                <a:ea typeface="Arial"/>
                <a:cs typeface="Arial"/>
                <a:sym typeface="Arial"/>
              </a:rPr>
              <a:t> </a:t>
            </a:r>
            <a:r>
              <a:rPr lang="en-US" dirty="0" err="1">
                <a:latin typeface="Arial"/>
                <a:ea typeface="Arial"/>
                <a:cs typeface="Arial"/>
                <a:sym typeface="Arial"/>
              </a:rPr>
              <a:t>ditunjukkan</a:t>
            </a:r>
            <a:r>
              <a:rPr lang="en-US" dirty="0">
                <a:latin typeface="Arial"/>
                <a:ea typeface="Arial"/>
                <a:cs typeface="Arial"/>
                <a:sym typeface="Arial"/>
              </a:rPr>
              <a:t> </a:t>
            </a:r>
            <a:r>
              <a:rPr lang="en-US" dirty="0" err="1">
                <a:latin typeface="Arial"/>
                <a:ea typeface="Arial"/>
                <a:cs typeface="Arial"/>
                <a:sym typeface="Arial"/>
              </a:rPr>
              <a:t>dengan</a:t>
            </a:r>
            <a:r>
              <a:rPr lang="en-US" dirty="0">
                <a:latin typeface="Arial"/>
                <a:ea typeface="Arial"/>
                <a:cs typeface="Arial"/>
                <a:sym typeface="Arial"/>
              </a:rPr>
              <a:t> </a:t>
            </a:r>
            <a:r>
              <a:rPr lang="en-US" dirty="0" err="1">
                <a:latin typeface="Arial"/>
                <a:ea typeface="Arial"/>
                <a:cs typeface="Arial"/>
                <a:sym typeface="Arial"/>
              </a:rPr>
              <a:t>cara</a:t>
            </a:r>
            <a:r>
              <a:rPr lang="en-US" dirty="0">
                <a:latin typeface="Arial"/>
                <a:ea typeface="Arial"/>
                <a:cs typeface="Arial"/>
                <a:sym typeface="Arial"/>
              </a:rPr>
              <a:t> </a:t>
            </a:r>
            <a:r>
              <a:rPr lang="en-US" dirty="0" err="1">
                <a:latin typeface="Arial"/>
                <a:ea typeface="Arial"/>
                <a:cs typeface="Arial"/>
                <a:sym typeface="Arial"/>
              </a:rPr>
              <a:t>mengurutkan</a:t>
            </a:r>
            <a:r>
              <a:rPr lang="en-US" dirty="0">
                <a:latin typeface="Arial"/>
                <a:ea typeface="Arial"/>
                <a:cs typeface="Arial"/>
                <a:sym typeface="Arial"/>
              </a:rPr>
              <a:t> </a:t>
            </a:r>
            <a:r>
              <a:rPr lang="en-US" dirty="0" err="1">
                <a:latin typeface="Arial"/>
                <a:ea typeface="Arial"/>
                <a:cs typeface="Arial"/>
                <a:sym typeface="Arial"/>
              </a:rPr>
              <a:t>dari</a:t>
            </a:r>
            <a:r>
              <a:rPr lang="en-US" dirty="0">
                <a:latin typeface="Arial"/>
                <a:ea typeface="Arial"/>
                <a:cs typeface="Arial"/>
                <a:sym typeface="Arial"/>
              </a:rPr>
              <a:t> negara yang </a:t>
            </a:r>
            <a:r>
              <a:rPr lang="en-US" dirty="0" err="1">
                <a:latin typeface="Arial"/>
                <a:ea typeface="Arial"/>
                <a:cs typeface="Arial"/>
                <a:sym typeface="Arial"/>
              </a:rPr>
              <a:t>memiliki</a:t>
            </a:r>
            <a:r>
              <a:rPr lang="en-US" dirty="0">
                <a:latin typeface="Arial"/>
                <a:ea typeface="Arial"/>
                <a:cs typeface="Arial"/>
                <a:sym typeface="Arial"/>
              </a:rPr>
              <a:t> </a:t>
            </a:r>
            <a:r>
              <a:rPr lang="en-US" dirty="0" err="1">
                <a:latin typeface="Arial"/>
                <a:ea typeface="Arial"/>
                <a:cs typeface="Arial"/>
                <a:sym typeface="Arial"/>
              </a:rPr>
              <a:t>populasi</a:t>
            </a:r>
            <a:r>
              <a:rPr lang="en-US" dirty="0">
                <a:latin typeface="Arial"/>
                <a:ea typeface="Arial"/>
                <a:cs typeface="Arial"/>
                <a:sym typeface="Arial"/>
              </a:rPr>
              <a:t> </a:t>
            </a:r>
            <a:r>
              <a:rPr lang="en-US" dirty="0" err="1">
                <a:latin typeface="Arial"/>
                <a:ea typeface="Arial"/>
                <a:cs typeface="Arial"/>
                <a:sym typeface="Arial"/>
              </a:rPr>
              <a:t>terbesar</a:t>
            </a:r>
            <a:r>
              <a:rPr lang="en-US" dirty="0">
                <a:latin typeface="Arial"/>
                <a:ea typeface="Arial"/>
                <a:cs typeface="Arial"/>
                <a:sym typeface="Arial"/>
              </a:rPr>
              <a:t> </a:t>
            </a:r>
            <a:r>
              <a:rPr lang="en-US" dirty="0" err="1">
                <a:latin typeface="Arial"/>
                <a:ea typeface="Arial"/>
                <a:cs typeface="Arial"/>
                <a:sym typeface="Arial"/>
              </a:rPr>
              <a:t>ke</a:t>
            </a:r>
            <a:r>
              <a:rPr lang="en-US" dirty="0">
                <a:latin typeface="Arial"/>
                <a:ea typeface="Arial"/>
                <a:cs typeface="Arial"/>
                <a:sym typeface="Arial"/>
              </a:rPr>
              <a:t> </a:t>
            </a:r>
            <a:r>
              <a:rPr lang="en-US" dirty="0" err="1">
                <a:latin typeface="Arial"/>
                <a:ea typeface="Arial"/>
                <a:cs typeface="Arial"/>
                <a:sym typeface="Arial"/>
              </a:rPr>
              <a:t>populasi</a:t>
            </a:r>
            <a:r>
              <a:rPr lang="en-US" dirty="0">
                <a:latin typeface="Arial"/>
                <a:ea typeface="Arial"/>
                <a:cs typeface="Arial"/>
                <a:sym typeface="Arial"/>
              </a:rPr>
              <a:t> </a:t>
            </a:r>
            <a:r>
              <a:rPr lang="en-US" dirty="0" err="1">
                <a:latin typeface="Arial"/>
                <a:ea typeface="Arial"/>
                <a:cs typeface="Arial"/>
                <a:sym typeface="Arial"/>
              </a:rPr>
              <a:t>terendah</a:t>
            </a:r>
            <a:r>
              <a:rPr lang="en-US" dirty="0">
                <a:latin typeface="Arial"/>
                <a:ea typeface="Arial"/>
                <a:cs typeface="Arial"/>
                <a:sym typeface="Arial"/>
              </a:rPr>
              <a:t>.</a:t>
            </a:r>
          </a:p>
          <a:p>
            <a:pPr marL="457200" lvl="0" indent="-336579">
              <a:lnSpc>
                <a:spcPct val="105000"/>
              </a:lnSpc>
              <a:spcBef>
                <a:spcPts val="0"/>
              </a:spcBef>
              <a:buClr>
                <a:schemeClr val="dk1"/>
              </a:buClr>
              <a:buSzPts val="1700"/>
              <a:buChar char="●"/>
            </a:pPr>
            <a:r>
              <a:rPr lang="en-US" dirty="0">
                <a:latin typeface="Arial"/>
                <a:ea typeface="Arial"/>
                <a:cs typeface="Arial"/>
                <a:sym typeface="Arial"/>
              </a:rPr>
              <a:t>Highlight </a:t>
            </a:r>
            <a:r>
              <a:rPr lang="en-US" dirty="0" err="1">
                <a:latin typeface="Arial"/>
                <a:ea typeface="Arial"/>
                <a:cs typeface="Arial"/>
                <a:sym typeface="Arial"/>
              </a:rPr>
              <a:t>ditunjukkan</a:t>
            </a:r>
            <a:r>
              <a:rPr lang="en-US" dirty="0">
                <a:latin typeface="Arial"/>
                <a:ea typeface="Arial"/>
                <a:cs typeface="Arial"/>
                <a:sym typeface="Arial"/>
              </a:rPr>
              <a:t> </a:t>
            </a:r>
            <a:r>
              <a:rPr lang="en-US" dirty="0" err="1">
                <a:latin typeface="Arial"/>
                <a:ea typeface="Arial"/>
                <a:cs typeface="Arial"/>
                <a:sym typeface="Arial"/>
              </a:rPr>
              <a:t>untuk</a:t>
            </a:r>
            <a:r>
              <a:rPr lang="en-US" dirty="0">
                <a:latin typeface="Arial"/>
                <a:ea typeface="Arial"/>
                <a:cs typeface="Arial"/>
                <a:sym typeface="Arial"/>
              </a:rPr>
              <a:t> negara Colombia</a:t>
            </a:r>
          </a:p>
        </p:txBody>
      </p:sp>
      <p:pic>
        <p:nvPicPr>
          <p:cNvPr id="8" name="Google Shape;249;p44" descr="Chart, histogram&#10;&#10;Description automatically generated">
            <a:extLst>
              <a:ext uri="{FF2B5EF4-FFF2-40B4-BE49-F238E27FC236}">
                <a16:creationId xmlns:a16="http://schemas.microsoft.com/office/drawing/2014/main" id="{69F7B746-023D-20B6-B476-DEFE452EF024}"/>
              </a:ext>
            </a:extLst>
          </p:cNvPr>
          <p:cNvPicPr preferRelativeResize="0"/>
          <p:nvPr/>
        </p:nvPicPr>
        <p:blipFill rotWithShape="1">
          <a:blip r:embed="rId2">
            <a:alphaModFix/>
          </a:blip>
          <a:srcRect/>
          <a:stretch/>
        </p:blipFill>
        <p:spPr>
          <a:xfrm>
            <a:off x="7573115" y="2079362"/>
            <a:ext cx="4260864" cy="3843863"/>
          </a:xfrm>
          <a:prstGeom prst="rect">
            <a:avLst/>
          </a:prstGeom>
          <a:noFill/>
          <a:ln>
            <a:noFill/>
          </a:ln>
        </p:spPr>
      </p:pic>
    </p:spTree>
    <p:extLst>
      <p:ext uri="{BB962C8B-B14F-4D97-AF65-F5344CB8AC3E}">
        <p14:creationId xmlns:p14="http://schemas.microsoft.com/office/powerpoint/2010/main" val="25750956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EE533-01E3-1D74-9310-B81642A8D4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929340-136B-FD6D-8356-E790123ABBD9}"/>
              </a:ext>
            </a:extLst>
          </p:cNvPr>
          <p:cNvSpPr>
            <a:spLocks noGrp="1"/>
          </p:cNvSpPr>
          <p:nvPr>
            <p:ph type="title"/>
          </p:nvPr>
        </p:nvSpPr>
        <p:spPr>
          <a:xfrm>
            <a:off x="838200" y="365125"/>
            <a:ext cx="10515600" cy="915035"/>
          </a:xfrm>
        </p:spPr>
        <p:txBody>
          <a:bodyPr>
            <a:normAutofit/>
          </a:bodyPr>
          <a:lstStyle/>
          <a:p>
            <a:r>
              <a:rPr lang="en-US" b="1" dirty="0"/>
              <a:t>Bar Chart</a:t>
            </a:r>
            <a:endParaRPr lang="en-US" dirty="0"/>
          </a:p>
        </p:txBody>
      </p:sp>
      <p:pic>
        <p:nvPicPr>
          <p:cNvPr id="8" name="Google Shape;249;p44" descr="Chart, histogram&#10;&#10;Description automatically generated">
            <a:extLst>
              <a:ext uri="{FF2B5EF4-FFF2-40B4-BE49-F238E27FC236}">
                <a16:creationId xmlns:a16="http://schemas.microsoft.com/office/drawing/2014/main" id="{05616DD3-251C-8A3B-F549-79C882303CF5}"/>
              </a:ext>
            </a:extLst>
          </p:cNvPr>
          <p:cNvPicPr preferRelativeResize="0"/>
          <p:nvPr/>
        </p:nvPicPr>
        <p:blipFill rotWithShape="1">
          <a:blip r:embed="rId2">
            <a:alphaModFix/>
          </a:blip>
          <a:srcRect/>
          <a:stretch/>
        </p:blipFill>
        <p:spPr>
          <a:xfrm>
            <a:off x="8444182" y="1670696"/>
            <a:ext cx="3662175" cy="3078355"/>
          </a:xfrm>
          <a:prstGeom prst="rect">
            <a:avLst/>
          </a:prstGeom>
          <a:noFill/>
          <a:ln>
            <a:noFill/>
          </a:ln>
        </p:spPr>
      </p:pic>
      <p:pic>
        <p:nvPicPr>
          <p:cNvPr id="6" name="Google Shape;265;g10054a4cacb_1_7">
            <a:extLst>
              <a:ext uri="{FF2B5EF4-FFF2-40B4-BE49-F238E27FC236}">
                <a16:creationId xmlns:a16="http://schemas.microsoft.com/office/drawing/2014/main" id="{EF13E494-3F9B-7A54-C5D2-E657E845B5BB}"/>
              </a:ext>
            </a:extLst>
          </p:cNvPr>
          <p:cNvPicPr preferRelativeResize="0"/>
          <p:nvPr/>
        </p:nvPicPr>
        <p:blipFill>
          <a:blip r:embed="rId3">
            <a:alphaModFix/>
          </a:blip>
          <a:stretch>
            <a:fillRect/>
          </a:stretch>
        </p:blipFill>
        <p:spPr>
          <a:xfrm>
            <a:off x="456900" y="1101400"/>
            <a:ext cx="2991120" cy="1122282"/>
          </a:xfrm>
          <a:prstGeom prst="rect">
            <a:avLst/>
          </a:prstGeom>
          <a:noFill/>
          <a:ln>
            <a:noFill/>
          </a:ln>
        </p:spPr>
      </p:pic>
      <p:sp>
        <p:nvSpPr>
          <p:cNvPr id="7" name="Google Shape;266;g10054a4cacb_1_7">
            <a:extLst>
              <a:ext uri="{FF2B5EF4-FFF2-40B4-BE49-F238E27FC236}">
                <a16:creationId xmlns:a16="http://schemas.microsoft.com/office/drawing/2014/main" id="{FC86D508-AE00-9D2F-B97D-65EF70C0D230}"/>
              </a:ext>
            </a:extLst>
          </p:cNvPr>
          <p:cNvSpPr/>
          <p:nvPr/>
        </p:nvSpPr>
        <p:spPr>
          <a:xfrm>
            <a:off x="3633425" y="1330871"/>
            <a:ext cx="1519406" cy="383408"/>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id" dirty="0"/>
              <a:t>Import library</a:t>
            </a:r>
            <a:endParaRPr dirty="0"/>
          </a:p>
        </p:txBody>
      </p:sp>
      <p:cxnSp>
        <p:nvCxnSpPr>
          <p:cNvPr id="9" name="Google Shape;267;g10054a4cacb_1_7">
            <a:extLst>
              <a:ext uri="{FF2B5EF4-FFF2-40B4-BE49-F238E27FC236}">
                <a16:creationId xmlns:a16="http://schemas.microsoft.com/office/drawing/2014/main" id="{0F159EF6-DC72-4BF5-23FC-2F053F7AD9FA}"/>
              </a:ext>
            </a:extLst>
          </p:cNvPr>
          <p:cNvCxnSpPr>
            <a:cxnSpLocks/>
          </p:cNvCxnSpPr>
          <p:nvPr/>
        </p:nvCxnSpPr>
        <p:spPr>
          <a:xfrm>
            <a:off x="2903400" y="1522575"/>
            <a:ext cx="735002" cy="0"/>
          </a:xfrm>
          <a:prstGeom prst="straightConnector1">
            <a:avLst/>
          </a:prstGeom>
          <a:noFill/>
          <a:ln w="19050" cap="flat" cmpd="sng">
            <a:solidFill>
              <a:srgbClr val="1EA4B2"/>
            </a:solidFill>
            <a:prstDash val="solid"/>
            <a:round/>
            <a:headEnd type="none" w="med" len="med"/>
            <a:tailEnd type="triangle" w="med" len="med"/>
          </a:ln>
        </p:spPr>
      </p:cxnSp>
      <p:pic>
        <p:nvPicPr>
          <p:cNvPr id="10" name="Google Shape;268;g10054a4cacb_1_7">
            <a:extLst>
              <a:ext uri="{FF2B5EF4-FFF2-40B4-BE49-F238E27FC236}">
                <a16:creationId xmlns:a16="http://schemas.microsoft.com/office/drawing/2014/main" id="{70644FB3-FB1C-6993-5D6A-5D6DD384B52C}"/>
              </a:ext>
            </a:extLst>
          </p:cNvPr>
          <p:cNvPicPr preferRelativeResize="0"/>
          <p:nvPr/>
        </p:nvPicPr>
        <p:blipFill>
          <a:blip r:embed="rId4">
            <a:alphaModFix/>
          </a:blip>
          <a:stretch>
            <a:fillRect/>
          </a:stretch>
        </p:blipFill>
        <p:spPr>
          <a:xfrm>
            <a:off x="456899" y="2223682"/>
            <a:ext cx="6705899" cy="3819507"/>
          </a:xfrm>
          <a:prstGeom prst="rect">
            <a:avLst/>
          </a:prstGeom>
          <a:noFill/>
          <a:ln>
            <a:noFill/>
          </a:ln>
        </p:spPr>
      </p:pic>
      <p:cxnSp>
        <p:nvCxnSpPr>
          <p:cNvPr id="11" name="Google Shape;269;g10054a4cacb_1_7">
            <a:extLst>
              <a:ext uri="{FF2B5EF4-FFF2-40B4-BE49-F238E27FC236}">
                <a16:creationId xmlns:a16="http://schemas.microsoft.com/office/drawing/2014/main" id="{65AC3F85-E559-D49A-E8A3-69D3AA38BD4A}"/>
              </a:ext>
            </a:extLst>
          </p:cNvPr>
          <p:cNvCxnSpPr>
            <a:cxnSpLocks/>
          </p:cNvCxnSpPr>
          <p:nvPr/>
        </p:nvCxnSpPr>
        <p:spPr>
          <a:xfrm>
            <a:off x="7162798" y="2079362"/>
            <a:ext cx="0" cy="960610"/>
          </a:xfrm>
          <a:prstGeom prst="straightConnector1">
            <a:avLst/>
          </a:prstGeom>
          <a:noFill/>
          <a:ln w="19050" cap="flat" cmpd="sng">
            <a:solidFill>
              <a:srgbClr val="1EA4B2"/>
            </a:solidFill>
            <a:prstDash val="solid"/>
            <a:round/>
            <a:headEnd type="none" w="med" len="med"/>
            <a:tailEnd type="none" w="med" len="med"/>
          </a:ln>
        </p:spPr>
      </p:cxnSp>
      <p:sp>
        <p:nvSpPr>
          <p:cNvPr id="12" name="Google Shape;270;g10054a4cacb_1_7">
            <a:extLst>
              <a:ext uri="{FF2B5EF4-FFF2-40B4-BE49-F238E27FC236}">
                <a16:creationId xmlns:a16="http://schemas.microsoft.com/office/drawing/2014/main" id="{9313DDD6-DB82-A333-2068-0A427AD93116}"/>
              </a:ext>
            </a:extLst>
          </p:cNvPr>
          <p:cNvSpPr/>
          <p:nvPr/>
        </p:nvSpPr>
        <p:spPr>
          <a:xfrm>
            <a:off x="7496582" y="2241708"/>
            <a:ext cx="734854" cy="383408"/>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id"/>
              <a:t>Data</a:t>
            </a:r>
            <a:endParaRPr/>
          </a:p>
        </p:txBody>
      </p:sp>
      <p:cxnSp>
        <p:nvCxnSpPr>
          <p:cNvPr id="13" name="Google Shape;271;g10054a4cacb_1_7">
            <a:extLst>
              <a:ext uri="{FF2B5EF4-FFF2-40B4-BE49-F238E27FC236}">
                <a16:creationId xmlns:a16="http://schemas.microsoft.com/office/drawing/2014/main" id="{4FBD5032-D31D-2F8F-DD5E-01E0F1D88820}"/>
              </a:ext>
            </a:extLst>
          </p:cNvPr>
          <p:cNvCxnSpPr>
            <a:cxnSpLocks/>
            <a:endCxn id="12" idx="1"/>
          </p:cNvCxnSpPr>
          <p:nvPr/>
        </p:nvCxnSpPr>
        <p:spPr>
          <a:xfrm>
            <a:off x="7140471" y="2370150"/>
            <a:ext cx="356111" cy="63262"/>
          </a:xfrm>
          <a:prstGeom prst="straightConnector1">
            <a:avLst/>
          </a:prstGeom>
          <a:noFill/>
          <a:ln w="19050" cap="flat" cmpd="sng">
            <a:solidFill>
              <a:srgbClr val="1EA4B2"/>
            </a:solidFill>
            <a:prstDash val="solid"/>
            <a:round/>
            <a:headEnd type="none" w="med" len="med"/>
            <a:tailEnd type="triangle" w="med" len="med"/>
          </a:ln>
        </p:spPr>
      </p:cxnSp>
      <p:sp>
        <p:nvSpPr>
          <p:cNvPr id="14" name="Google Shape;272;g10054a4cacb_1_7">
            <a:extLst>
              <a:ext uri="{FF2B5EF4-FFF2-40B4-BE49-F238E27FC236}">
                <a16:creationId xmlns:a16="http://schemas.microsoft.com/office/drawing/2014/main" id="{34C9D65E-629B-A42A-F6AD-569602857861}"/>
              </a:ext>
            </a:extLst>
          </p:cNvPr>
          <p:cNvSpPr/>
          <p:nvPr/>
        </p:nvSpPr>
        <p:spPr>
          <a:xfrm>
            <a:off x="5147853" y="3518995"/>
            <a:ext cx="2986701" cy="546103"/>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id" dirty="0"/>
              <a:t>Convert menjadi dataframe</a:t>
            </a:r>
            <a:endParaRPr dirty="0"/>
          </a:p>
        </p:txBody>
      </p:sp>
      <p:cxnSp>
        <p:nvCxnSpPr>
          <p:cNvPr id="15" name="Google Shape;273;g10054a4cacb_1_7">
            <a:extLst>
              <a:ext uri="{FF2B5EF4-FFF2-40B4-BE49-F238E27FC236}">
                <a16:creationId xmlns:a16="http://schemas.microsoft.com/office/drawing/2014/main" id="{BAC1187B-E9B6-4663-8BE8-1EF7B3F0A3B7}"/>
              </a:ext>
            </a:extLst>
          </p:cNvPr>
          <p:cNvCxnSpPr>
            <a:cxnSpLocks/>
          </p:cNvCxnSpPr>
          <p:nvPr/>
        </p:nvCxnSpPr>
        <p:spPr>
          <a:xfrm>
            <a:off x="4417829" y="3955776"/>
            <a:ext cx="735002" cy="0"/>
          </a:xfrm>
          <a:prstGeom prst="straightConnector1">
            <a:avLst/>
          </a:prstGeom>
          <a:noFill/>
          <a:ln w="19050" cap="flat" cmpd="sng">
            <a:solidFill>
              <a:srgbClr val="1EA4B2"/>
            </a:solidFill>
            <a:prstDash val="solid"/>
            <a:round/>
            <a:headEnd type="none" w="med" len="med"/>
            <a:tailEnd type="triangle" w="med" len="med"/>
          </a:ln>
        </p:spPr>
      </p:cxnSp>
      <p:sp>
        <p:nvSpPr>
          <p:cNvPr id="16" name="Google Shape;274;g10054a4cacb_1_7">
            <a:extLst>
              <a:ext uri="{FF2B5EF4-FFF2-40B4-BE49-F238E27FC236}">
                <a16:creationId xmlns:a16="http://schemas.microsoft.com/office/drawing/2014/main" id="{89048BEF-D664-5693-92FF-A4B172D51676}"/>
              </a:ext>
            </a:extLst>
          </p:cNvPr>
          <p:cNvSpPr/>
          <p:nvPr/>
        </p:nvSpPr>
        <p:spPr>
          <a:xfrm>
            <a:off x="5147853" y="4172422"/>
            <a:ext cx="3528787" cy="383408"/>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id"/>
              <a:t>Urut berdasarkan “Population”</a:t>
            </a:r>
            <a:endParaRPr/>
          </a:p>
        </p:txBody>
      </p:sp>
      <p:cxnSp>
        <p:nvCxnSpPr>
          <p:cNvPr id="17" name="Google Shape;275;g10054a4cacb_1_7">
            <a:extLst>
              <a:ext uri="{FF2B5EF4-FFF2-40B4-BE49-F238E27FC236}">
                <a16:creationId xmlns:a16="http://schemas.microsoft.com/office/drawing/2014/main" id="{0C574311-75DA-F806-CAAB-FF213FF1AABD}"/>
              </a:ext>
            </a:extLst>
          </p:cNvPr>
          <p:cNvCxnSpPr>
            <a:cxnSpLocks/>
          </p:cNvCxnSpPr>
          <p:nvPr/>
        </p:nvCxnSpPr>
        <p:spPr>
          <a:xfrm>
            <a:off x="4417829" y="4364126"/>
            <a:ext cx="735002" cy="0"/>
          </a:xfrm>
          <a:prstGeom prst="straightConnector1">
            <a:avLst/>
          </a:prstGeom>
          <a:noFill/>
          <a:ln w="19050" cap="flat" cmpd="sng">
            <a:solidFill>
              <a:srgbClr val="1EA4B2"/>
            </a:solidFill>
            <a:prstDash val="solid"/>
            <a:round/>
            <a:headEnd type="none" w="med" len="med"/>
            <a:tailEnd type="triangle" w="med" len="med"/>
          </a:ln>
        </p:spPr>
      </p:cxnSp>
      <p:cxnSp>
        <p:nvCxnSpPr>
          <p:cNvPr id="18" name="Google Shape;276;g10054a4cacb_1_7">
            <a:extLst>
              <a:ext uri="{FF2B5EF4-FFF2-40B4-BE49-F238E27FC236}">
                <a16:creationId xmlns:a16="http://schemas.microsoft.com/office/drawing/2014/main" id="{38106D87-6D02-4945-EAD8-D1CD1D353DF3}"/>
              </a:ext>
            </a:extLst>
          </p:cNvPr>
          <p:cNvCxnSpPr>
            <a:cxnSpLocks/>
          </p:cNvCxnSpPr>
          <p:nvPr/>
        </p:nvCxnSpPr>
        <p:spPr>
          <a:xfrm>
            <a:off x="6908610" y="5209307"/>
            <a:ext cx="3112" cy="592316"/>
          </a:xfrm>
          <a:prstGeom prst="straightConnector1">
            <a:avLst/>
          </a:prstGeom>
          <a:noFill/>
          <a:ln w="19050" cap="flat" cmpd="sng">
            <a:solidFill>
              <a:srgbClr val="1EA4B2"/>
            </a:solidFill>
            <a:prstDash val="solid"/>
            <a:round/>
            <a:headEnd type="none" w="med" len="med"/>
            <a:tailEnd type="none" w="med" len="med"/>
          </a:ln>
        </p:spPr>
      </p:cxnSp>
      <p:sp>
        <p:nvSpPr>
          <p:cNvPr id="19" name="Google Shape;277;g10054a4cacb_1_7">
            <a:extLst>
              <a:ext uri="{FF2B5EF4-FFF2-40B4-BE49-F238E27FC236}">
                <a16:creationId xmlns:a16="http://schemas.microsoft.com/office/drawing/2014/main" id="{5E688AF7-AF5B-4A57-EE01-70B371A113BE}"/>
              </a:ext>
            </a:extLst>
          </p:cNvPr>
          <p:cNvSpPr/>
          <p:nvPr/>
        </p:nvSpPr>
        <p:spPr>
          <a:xfrm>
            <a:off x="7628634" y="5233803"/>
            <a:ext cx="2279350" cy="383408"/>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id"/>
              <a:t>Visualisasi Bar Chart</a:t>
            </a:r>
            <a:endParaRPr/>
          </a:p>
        </p:txBody>
      </p:sp>
      <p:cxnSp>
        <p:nvCxnSpPr>
          <p:cNvPr id="20" name="Google Shape;278;g10054a4cacb_1_7">
            <a:extLst>
              <a:ext uri="{FF2B5EF4-FFF2-40B4-BE49-F238E27FC236}">
                <a16:creationId xmlns:a16="http://schemas.microsoft.com/office/drawing/2014/main" id="{52E54636-0695-AAB6-8261-2EF21594A87B}"/>
              </a:ext>
            </a:extLst>
          </p:cNvPr>
          <p:cNvCxnSpPr>
            <a:cxnSpLocks/>
          </p:cNvCxnSpPr>
          <p:nvPr/>
        </p:nvCxnSpPr>
        <p:spPr>
          <a:xfrm>
            <a:off x="6898610" y="5425507"/>
            <a:ext cx="735002" cy="0"/>
          </a:xfrm>
          <a:prstGeom prst="straightConnector1">
            <a:avLst/>
          </a:prstGeom>
          <a:noFill/>
          <a:ln w="19050" cap="flat" cmpd="sng">
            <a:solidFill>
              <a:srgbClr val="1EA4B2"/>
            </a:solidFill>
            <a:prstDash val="solid"/>
            <a:round/>
            <a:headEnd type="none" w="med" len="med"/>
            <a:tailEnd type="triangle" w="med" len="med"/>
          </a:ln>
        </p:spPr>
      </p:cxnSp>
      <p:sp>
        <p:nvSpPr>
          <p:cNvPr id="21" name="Google Shape;279;g10054a4cacb_1_7">
            <a:extLst>
              <a:ext uri="{FF2B5EF4-FFF2-40B4-BE49-F238E27FC236}">
                <a16:creationId xmlns:a16="http://schemas.microsoft.com/office/drawing/2014/main" id="{0DC043B3-440A-3E71-671C-DE4BD0278A24}"/>
              </a:ext>
            </a:extLst>
          </p:cNvPr>
          <p:cNvSpPr/>
          <p:nvPr/>
        </p:nvSpPr>
        <p:spPr>
          <a:xfrm>
            <a:off x="5147854" y="4718575"/>
            <a:ext cx="1836894" cy="383408"/>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id"/>
              <a:t>Atur warna chart</a:t>
            </a:r>
            <a:endParaRPr/>
          </a:p>
        </p:txBody>
      </p:sp>
      <p:cxnSp>
        <p:nvCxnSpPr>
          <p:cNvPr id="22" name="Google Shape;280;g10054a4cacb_1_7">
            <a:extLst>
              <a:ext uri="{FF2B5EF4-FFF2-40B4-BE49-F238E27FC236}">
                <a16:creationId xmlns:a16="http://schemas.microsoft.com/office/drawing/2014/main" id="{9FF67230-A984-093D-3797-73CC0CD241BE}"/>
              </a:ext>
            </a:extLst>
          </p:cNvPr>
          <p:cNvCxnSpPr>
            <a:cxnSpLocks/>
          </p:cNvCxnSpPr>
          <p:nvPr/>
        </p:nvCxnSpPr>
        <p:spPr>
          <a:xfrm>
            <a:off x="4417830" y="4910279"/>
            <a:ext cx="735002" cy="0"/>
          </a:xfrm>
          <a:prstGeom prst="straightConnector1">
            <a:avLst/>
          </a:prstGeom>
          <a:noFill/>
          <a:ln w="19050" cap="flat" cmpd="sng">
            <a:solidFill>
              <a:srgbClr val="1EA4B2"/>
            </a:solidFill>
            <a:prstDash val="solid"/>
            <a:round/>
            <a:headEnd type="none" w="med" len="med"/>
            <a:tailEnd type="triangle" w="med" len="med"/>
          </a:ln>
        </p:spPr>
      </p:cxnSp>
    </p:spTree>
    <p:extLst>
      <p:ext uri="{BB962C8B-B14F-4D97-AF65-F5344CB8AC3E}">
        <p14:creationId xmlns:p14="http://schemas.microsoft.com/office/powerpoint/2010/main" val="28176594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1111D-BEB1-719D-20A3-05D5D83141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E12900-00FC-9F78-33D8-CD11B13BAF77}"/>
              </a:ext>
            </a:extLst>
          </p:cNvPr>
          <p:cNvSpPr>
            <a:spLocks noGrp="1"/>
          </p:cNvSpPr>
          <p:nvPr>
            <p:ph type="title"/>
          </p:nvPr>
        </p:nvSpPr>
        <p:spPr>
          <a:xfrm>
            <a:off x="838200" y="365125"/>
            <a:ext cx="10515600" cy="915035"/>
          </a:xfrm>
        </p:spPr>
        <p:txBody>
          <a:bodyPr>
            <a:normAutofit/>
          </a:bodyPr>
          <a:lstStyle/>
          <a:p>
            <a:r>
              <a:rPr lang="en-US" b="1" dirty="0"/>
              <a:t>Line Graph</a:t>
            </a:r>
            <a:endParaRPr lang="en-US" dirty="0"/>
          </a:p>
        </p:txBody>
      </p:sp>
      <p:sp>
        <p:nvSpPr>
          <p:cNvPr id="3" name="Content Placeholder 2">
            <a:extLst>
              <a:ext uri="{FF2B5EF4-FFF2-40B4-BE49-F238E27FC236}">
                <a16:creationId xmlns:a16="http://schemas.microsoft.com/office/drawing/2014/main" id="{760A5F64-1912-001D-0827-CA1B87912721}"/>
              </a:ext>
            </a:extLst>
          </p:cNvPr>
          <p:cNvSpPr>
            <a:spLocks noGrp="1"/>
          </p:cNvSpPr>
          <p:nvPr>
            <p:ph idx="1"/>
          </p:nvPr>
        </p:nvSpPr>
        <p:spPr>
          <a:xfrm>
            <a:off x="838200" y="1825625"/>
            <a:ext cx="6446520" cy="4351338"/>
          </a:xfrm>
        </p:spPr>
        <p:txBody>
          <a:bodyPr>
            <a:normAutofit fontScale="92500" lnSpcReduction="20000"/>
          </a:bodyPr>
          <a:lstStyle/>
          <a:p>
            <a:pPr marL="457200" lvl="0" indent="-323850">
              <a:lnSpc>
                <a:spcPct val="115000"/>
              </a:lnSpc>
              <a:spcBef>
                <a:spcPts val="0"/>
              </a:spcBef>
              <a:buClr>
                <a:schemeClr val="dk1"/>
              </a:buClr>
              <a:buSzPts val="1500"/>
              <a:buChar char="●"/>
            </a:pPr>
            <a:r>
              <a:rPr lang="en-US" dirty="0">
                <a:latin typeface="Arial"/>
                <a:ea typeface="Arial"/>
                <a:cs typeface="Arial"/>
                <a:sym typeface="Arial"/>
              </a:rPr>
              <a:t>Line Graph </a:t>
            </a:r>
            <a:r>
              <a:rPr lang="en-US" dirty="0" err="1">
                <a:latin typeface="Arial"/>
                <a:ea typeface="Arial"/>
                <a:cs typeface="Arial"/>
                <a:sym typeface="Arial"/>
              </a:rPr>
              <a:t>adalah</a:t>
            </a:r>
            <a:r>
              <a:rPr lang="en-US" dirty="0">
                <a:latin typeface="Arial"/>
                <a:ea typeface="Arial"/>
                <a:cs typeface="Arial"/>
                <a:sym typeface="Arial"/>
              </a:rPr>
              <a:t> </a:t>
            </a:r>
            <a:r>
              <a:rPr lang="en-US" dirty="0" err="1">
                <a:latin typeface="Arial"/>
                <a:ea typeface="Arial"/>
                <a:cs typeface="Arial"/>
                <a:sym typeface="Arial"/>
              </a:rPr>
              <a:t>bentuk</a:t>
            </a:r>
            <a:r>
              <a:rPr lang="en-US" dirty="0">
                <a:latin typeface="Arial"/>
                <a:ea typeface="Arial"/>
                <a:cs typeface="Arial"/>
                <a:sym typeface="Arial"/>
              </a:rPr>
              <a:t> </a:t>
            </a:r>
            <a:r>
              <a:rPr lang="en-US" dirty="0" err="1">
                <a:latin typeface="Arial"/>
                <a:ea typeface="Arial"/>
                <a:cs typeface="Arial"/>
                <a:sym typeface="Arial"/>
              </a:rPr>
              <a:t>visualisasi</a:t>
            </a:r>
            <a:r>
              <a:rPr lang="en-US" dirty="0">
                <a:latin typeface="Arial"/>
                <a:ea typeface="Arial"/>
                <a:cs typeface="Arial"/>
                <a:sym typeface="Arial"/>
              </a:rPr>
              <a:t> </a:t>
            </a:r>
            <a:r>
              <a:rPr lang="en-US" dirty="0" err="1">
                <a:latin typeface="Arial"/>
                <a:ea typeface="Arial"/>
                <a:cs typeface="Arial"/>
                <a:sym typeface="Arial"/>
              </a:rPr>
              <a:t>lainya</a:t>
            </a:r>
            <a:r>
              <a:rPr lang="en-US" dirty="0">
                <a:latin typeface="Arial"/>
                <a:ea typeface="Arial"/>
                <a:cs typeface="Arial"/>
                <a:sym typeface="Arial"/>
              </a:rPr>
              <a:t> </a:t>
            </a:r>
            <a:r>
              <a:rPr lang="en-US" dirty="0" err="1">
                <a:latin typeface="Arial"/>
                <a:ea typeface="Arial"/>
                <a:cs typeface="Arial"/>
                <a:sym typeface="Arial"/>
              </a:rPr>
              <a:t>selain</a:t>
            </a:r>
            <a:r>
              <a:rPr lang="en-US" dirty="0">
                <a:latin typeface="Arial"/>
                <a:ea typeface="Arial"/>
                <a:cs typeface="Arial"/>
                <a:sym typeface="Arial"/>
              </a:rPr>
              <a:t> diagram </a:t>
            </a:r>
            <a:r>
              <a:rPr lang="en-US" dirty="0" err="1">
                <a:latin typeface="Arial"/>
                <a:ea typeface="Arial"/>
                <a:cs typeface="Arial"/>
                <a:sym typeface="Arial"/>
              </a:rPr>
              <a:t>lingkaran</a:t>
            </a:r>
            <a:r>
              <a:rPr lang="en-US" dirty="0">
                <a:latin typeface="Arial"/>
                <a:ea typeface="Arial"/>
                <a:cs typeface="Arial"/>
                <a:sym typeface="Arial"/>
              </a:rPr>
              <a:t> dan diagram </a:t>
            </a:r>
            <a:r>
              <a:rPr lang="en-US" dirty="0" err="1">
                <a:latin typeface="Arial"/>
                <a:ea typeface="Arial"/>
                <a:cs typeface="Arial"/>
                <a:sym typeface="Arial"/>
              </a:rPr>
              <a:t>batang</a:t>
            </a:r>
            <a:r>
              <a:rPr lang="en-US" dirty="0">
                <a:latin typeface="Arial"/>
                <a:ea typeface="Arial"/>
                <a:cs typeface="Arial"/>
                <a:sym typeface="Arial"/>
              </a:rPr>
              <a:t>. </a:t>
            </a:r>
          </a:p>
          <a:p>
            <a:pPr marL="457200" lvl="0" indent="-323850">
              <a:lnSpc>
                <a:spcPct val="115000"/>
              </a:lnSpc>
              <a:spcBef>
                <a:spcPts val="0"/>
              </a:spcBef>
              <a:buClr>
                <a:schemeClr val="dk1"/>
              </a:buClr>
              <a:buSzPts val="1500"/>
              <a:buChar char="●"/>
            </a:pPr>
            <a:r>
              <a:rPr lang="en-US" dirty="0">
                <a:latin typeface="Arial"/>
                <a:ea typeface="Arial"/>
                <a:cs typeface="Arial"/>
                <a:sym typeface="Arial"/>
              </a:rPr>
              <a:t>Diagram garis </a:t>
            </a:r>
            <a:r>
              <a:rPr lang="en-US" dirty="0" err="1">
                <a:latin typeface="Arial"/>
                <a:ea typeface="Arial"/>
                <a:cs typeface="Arial"/>
                <a:sym typeface="Arial"/>
              </a:rPr>
              <a:t>lebih</a:t>
            </a:r>
            <a:r>
              <a:rPr lang="en-US" dirty="0">
                <a:latin typeface="Arial"/>
                <a:ea typeface="Arial"/>
                <a:cs typeface="Arial"/>
                <a:sym typeface="Arial"/>
              </a:rPr>
              <a:t> </a:t>
            </a:r>
            <a:r>
              <a:rPr lang="en-US" dirty="0" err="1">
                <a:latin typeface="Arial"/>
                <a:ea typeface="Arial"/>
                <a:cs typeface="Arial"/>
                <a:sym typeface="Arial"/>
              </a:rPr>
              <a:t>berguna</a:t>
            </a:r>
            <a:r>
              <a:rPr lang="en-US" dirty="0">
                <a:latin typeface="Arial"/>
                <a:ea typeface="Arial"/>
                <a:cs typeface="Arial"/>
                <a:sym typeface="Arial"/>
              </a:rPr>
              <a:t> </a:t>
            </a:r>
            <a:r>
              <a:rPr lang="en-US" dirty="0" err="1">
                <a:latin typeface="Arial"/>
                <a:ea typeface="Arial"/>
                <a:cs typeface="Arial"/>
                <a:sym typeface="Arial"/>
              </a:rPr>
              <a:t>untuk</a:t>
            </a:r>
            <a:r>
              <a:rPr lang="en-US" dirty="0">
                <a:latin typeface="Arial"/>
                <a:ea typeface="Arial"/>
                <a:cs typeface="Arial"/>
                <a:sym typeface="Arial"/>
              </a:rPr>
              <a:t> </a:t>
            </a:r>
            <a:r>
              <a:rPr lang="en-US" dirty="0" err="1">
                <a:latin typeface="Arial"/>
                <a:ea typeface="Arial"/>
                <a:cs typeface="Arial"/>
                <a:sym typeface="Arial"/>
              </a:rPr>
              <a:t>menunjukkan</a:t>
            </a:r>
            <a:r>
              <a:rPr lang="en-US" dirty="0">
                <a:latin typeface="Arial"/>
                <a:ea typeface="Arial"/>
                <a:cs typeface="Arial"/>
                <a:sym typeface="Arial"/>
              </a:rPr>
              <a:t> </a:t>
            </a:r>
            <a:r>
              <a:rPr lang="en-US" dirty="0" err="1">
                <a:latin typeface="Arial"/>
                <a:ea typeface="Arial"/>
                <a:cs typeface="Arial"/>
                <a:sym typeface="Arial"/>
              </a:rPr>
              <a:t>bagaimana</a:t>
            </a:r>
            <a:r>
              <a:rPr lang="en-US" dirty="0">
                <a:latin typeface="Arial"/>
                <a:ea typeface="Arial"/>
                <a:cs typeface="Arial"/>
                <a:sym typeface="Arial"/>
              </a:rPr>
              <a:t> </a:t>
            </a:r>
            <a:r>
              <a:rPr lang="en-US" dirty="0" err="1">
                <a:latin typeface="Arial"/>
                <a:ea typeface="Arial"/>
                <a:cs typeface="Arial"/>
                <a:sym typeface="Arial"/>
              </a:rPr>
              <a:t>kemajuan</a:t>
            </a:r>
            <a:r>
              <a:rPr lang="en-US" dirty="0">
                <a:latin typeface="Arial"/>
                <a:ea typeface="Arial"/>
                <a:cs typeface="Arial"/>
                <a:sym typeface="Arial"/>
              </a:rPr>
              <a:t> data </a:t>
            </a:r>
            <a:r>
              <a:rPr lang="en-US" dirty="0" err="1">
                <a:latin typeface="Arial"/>
                <a:ea typeface="Arial"/>
                <a:cs typeface="Arial"/>
                <a:sym typeface="Arial"/>
              </a:rPr>
              <a:t>selama</a:t>
            </a:r>
            <a:r>
              <a:rPr lang="en-US" dirty="0">
                <a:latin typeface="Arial"/>
                <a:ea typeface="Arial"/>
                <a:cs typeface="Arial"/>
                <a:sym typeface="Arial"/>
              </a:rPr>
              <a:t> </a:t>
            </a:r>
            <a:r>
              <a:rPr lang="en-US" dirty="0" err="1">
                <a:latin typeface="Arial"/>
                <a:ea typeface="Arial"/>
                <a:cs typeface="Arial"/>
                <a:sym typeface="Arial"/>
              </a:rPr>
              <a:t>beberapa</a:t>
            </a:r>
            <a:r>
              <a:rPr lang="en-US" dirty="0">
                <a:latin typeface="Arial"/>
                <a:ea typeface="Arial"/>
                <a:cs typeface="Arial"/>
                <a:sym typeface="Arial"/>
              </a:rPr>
              <a:t> </a:t>
            </a:r>
            <a:r>
              <a:rPr lang="en-US" dirty="0" err="1">
                <a:latin typeface="Arial"/>
                <a:ea typeface="Arial"/>
                <a:cs typeface="Arial"/>
                <a:sym typeface="Arial"/>
              </a:rPr>
              <a:t>periode</a:t>
            </a:r>
            <a:r>
              <a:rPr lang="en-US" dirty="0">
                <a:latin typeface="Arial"/>
                <a:ea typeface="Arial"/>
                <a:cs typeface="Arial"/>
                <a:sym typeface="Arial"/>
              </a:rPr>
              <a:t>. </a:t>
            </a:r>
          </a:p>
          <a:p>
            <a:pPr marL="457200" lvl="0" indent="-323850">
              <a:lnSpc>
                <a:spcPct val="115000"/>
              </a:lnSpc>
              <a:spcBef>
                <a:spcPts val="0"/>
              </a:spcBef>
              <a:buClr>
                <a:schemeClr val="dk1"/>
              </a:buClr>
              <a:buSzPts val="1500"/>
              <a:buChar char="●"/>
            </a:pPr>
            <a:r>
              <a:rPr lang="en-US" dirty="0" err="1">
                <a:latin typeface="Arial"/>
                <a:ea typeface="Arial"/>
                <a:cs typeface="Arial"/>
                <a:sym typeface="Arial"/>
              </a:rPr>
              <a:t>Misalnya</a:t>
            </a:r>
            <a:r>
              <a:rPr lang="en-US" dirty="0">
                <a:latin typeface="Arial"/>
                <a:ea typeface="Arial"/>
                <a:cs typeface="Arial"/>
                <a:sym typeface="Arial"/>
              </a:rPr>
              <a:t>, </a:t>
            </a:r>
            <a:r>
              <a:rPr lang="en-US" dirty="0" err="1">
                <a:latin typeface="Arial"/>
                <a:ea typeface="Arial"/>
                <a:cs typeface="Arial"/>
                <a:sym typeface="Arial"/>
              </a:rPr>
              <a:t>grafik</a:t>
            </a:r>
            <a:r>
              <a:rPr lang="en-US" dirty="0">
                <a:latin typeface="Arial"/>
                <a:ea typeface="Arial"/>
                <a:cs typeface="Arial"/>
                <a:sym typeface="Arial"/>
              </a:rPr>
              <a:t> garis </a:t>
            </a:r>
            <a:r>
              <a:rPr lang="en-US" dirty="0" err="1">
                <a:latin typeface="Arial"/>
                <a:ea typeface="Arial"/>
                <a:cs typeface="Arial"/>
                <a:sym typeface="Arial"/>
              </a:rPr>
              <a:t>dapat</a:t>
            </a:r>
            <a:r>
              <a:rPr lang="en-US" dirty="0">
                <a:latin typeface="Arial"/>
                <a:ea typeface="Arial"/>
                <a:cs typeface="Arial"/>
                <a:sym typeface="Arial"/>
              </a:rPr>
              <a:t> </a:t>
            </a:r>
            <a:r>
              <a:rPr lang="en-US" dirty="0" err="1">
                <a:latin typeface="Arial"/>
                <a:ea typeface="Arial"/>
                <a:cs typeface="Arial"/>
                <a:sym typeface="Arial"/>
              </a:rPr>
              <a:t>berguna</a:t>
            </a:r>
            <a:r>
              <a:rPr lang="en-US" dirty="0">
                <a:latin typeface="Arial"/>
                <a:ea typeface="Arial"/>
                <a:cs typeface="Arial"/>
                <a:sym typeface="Arial"/>
              </a:rPr>
              <a:t> </a:t>
            </a:r>
            <a:r>
              <a:rPr lang="en-US" dirty="0" err="1">
                <a:latin typeface="Arial"/>
                <a:ea typeface="Arial"/>
                <a:cs typeface="Arial"/>
                <a:sym typeface="Arial"/>
              </a:rPr>
              <a:t>dalam</a:t>
            </a:r>
            <a:r>
              <a:rPr lang="en-US" dirty="0">
                <a:latin typeface="Arial"/>
                <a:ea typeface="Arial"/>
                <a:cs typeface="Arial"/>
                <a:sym typeface="Arial"/>
              </a:rPr>
              <a:t> </a:t>
            </a:r>
            <a:r>
              <a:rPr lang="en-US" dirty="0" err="1">
                <a:latin typeface="Arial"/>
                <a:ea typeface="Arial"/>
                <a:cs typeface="Arial"/>
                <a:sym typeface="Arial"/>
              </a:rPr>
              <a:t>membuat</a:t>
            </a:r>
            <a:r>
              <a:rPr lang="en-US" dirty="0">
                <a:latin typeface="Arial"/>
                <a:ea typeface="Arial"/>
                <a:cs typeface="Arial"/>
                <a:sym typeface="Arial"/>
              </a:rPr>
              <a:t> </a:t>
            </a:r>
            <a:r>
              <a:rPr lang="en-US" dirty="0" err="1">
                <a:latin typeface="Arial"/>
                <a:ea typeface="Arial"/>
                <a:cs typeface="Arial"/>
                <a:sym typeface="Arial"/>
              </a:rPr>
              <a:t>grafik</a:t>
            </a:r>
            <a:r>
              <a:rPr lang="en-US" dirty="0">
                <a:latin typeface="Arial"/>
                <a:ea typeface="Arial"/>
                <a:cs typeface="Arial"/>
                <a:sym typeface="Arial"/>
              </a:rPr>
              <a:t> </a:t>
            </a:r>
            <a:r>
              <a:rPr lang="en-US" dirty="0" err="1">
                <a:latin typeface="Arial"/>
                <a:ea typeface="Arial"/>
                <a:cs typeface="Arial"/>
                <a:sym typeface="Arial"/>
              </a:rPr>
              <a:t>temperatur</a:t>
            </a:r>
            <a:r>
              <a:rPr lang="en-US" dirty="0">
                <a:latin typeface="Arial"/>
                <a:ea typeface="Arial"/>
                <a:cs typeface="Arial"/>
                <a:sym typeface="Arial"/>
              </a:rPr>
              <a:t> </a:t>
            </a:r>
            <a:r>
              <a:rPr lang="en-US" dirty="0" err="1">
                <a:latin typeface="Arial"/>
                <a:ea typeface="Arial"/>
                <a:cs typeface="Arial"/>
                <a:sym typeface="Arial"/>
              </a:rPr>
              <a:t>dari</a:t>
            </a:r>
            <a:r>
              <a:rPr lang="en-US" dirty="0">
                <a:latin typeface="Arial"/>
                <a:ea typeface="Arial"/>
                <a:cs typeface="Arial"/>
                <a:sym typeface="Arial"/>
              </a:rPr>
              <a:t> </a:t>
            </a:r>
            <a:r>
              <a:rPr lang="en-US" dirty="0" err="1">
                <a:latin typeface="Arial"/>
                <a:ea typeface="Arial"/>
                <a:cs typeface="Arial"/>
                <a:sym typeface="Arial"/>
              </a:rPr>
              <a:t>waktu</a:t>
            </a:r>
            <a:r>
              <a:rPr lang="en-US" dirty="0">
                <a:latin typeface="Arial"/>
                <a:ea typeface="Arial"/>
                <a:cs typeface="Arial"/>
                <a:sym typeface="Arial"/>
              </a:rPr>
              <a:t> </a:t>
            </a:r>
            <a:r>
              <a:rPr lang="en-US" dirty="0" err="1">
                <a:latin typeface="Arial"/>
                <a:ea typeface="Arial"/>
                <a:cs typeface="Arial"/>
                <a:sym typeface="Arial"/>
              </a:rPr>
              <a:t>ke</a:t>
            </a:r>
            <a:r>
              <a:rPr lang="en-US" dirty="0">
                <a:latin typeface="Arial"/>
                <a:ea typeface="Arial"/>
                <a:cs typeface="Arial"/>
                <a:sym typeface="Arial"/>
              </a:rPr>
              <a:t> </a:t>
            </a:r>
            <a:r>
              <a:rPr lang="en-US" dirty="0" err="1">
                <a:latin typeface="Arial"/>
                <a:ea typeface="Arial"/>
                <a:cs typeface="Arial"/>
                <a:sym typeface="Arial"/>
              </a:rPr>
              <a:t>waktu</a:t>
            </a:r>
            <a:r>
              <a:rPr lang="en-US" dirty="0">
                <a:latin typeface="Arial"/>
                <a:ea typeface="Arial"/>
                <a:cs typeface="Arial"/>
                <a:sym typeface="Arial"/>
              </a:rPr>
              <a:t>, </a:t>
            </a:r>
            <a:r>
              <a:rPr lang="en-US" dirty="0" err="1">
                <a:latin typeface="Arial"/>
                <a:ea typeface="Arial"/>
                <a:cs typeface="Arial"/>
                <a:sym typeface="Arial"/>
              </a:rPr>
              <a:t>harga</a:t>
            </a:r>
            <a:r>
              <a:rPr lang="en-US" dirty="0">
                <a:latin typeface="Arial"/>
                <a:ea typeface="Arial"/>
                <a:cs typeface="Arial"/>
                <a:sym typeface="Arial"/>
              </a:rPr>
              <a:t> </a:t>
            </a:r>
            <a:r>
              <a:rPr lang="en-US" dirty="0" err="1">
                <a:latin typeface="Arial"/>
                <a:ea typeface="Arial"/>
                <a:cs typeface="Arial"/>
                <a:sym typeface="Arial"/>
              </a:rPr>
              <a:t>saham</a:t>
            </a:r>
            <a:r>
              <a:rPr lang="en-US" dirty="0">
                <a:latin typeface="Arial"/>
                <a:ea typeface="Arial"/>
                <a:cs typeface="Arial"/>
                <a:sym typeface="Arial"/>
              </a:rPr>
              <a:t> </a:t>
            </a:r>
            <a:r>
              <a:rPr lang="en-US" dirty="0" err="1">
                <a:latin typeface="Arial"/>
                <a:ea typeface="Arial"/>
                <a:cs typeface="Arial"/>
                <a:sym typeface="Arial"/>
              </a:rPr>
              <a:t>dari</a:t>
            </a:r>
            <a:r>
              <a:rPr lang="en-US" dirty="0">
                <a:latin typeface="Arial"/>
                <a:ea typeface="Arial"/>
                <a:cs typeface="Arial"/>
                <a:sym typeface="Arial"/>
              </a:rPr>
              <a:t> </a:t>
            </a:r>
            <a:r>
              <a:rPr lang="en-US" dirty="0" err="1">
                <a:latin typeface="Arial"/>
                <a:ea typeface="Arial"/>
                <a:cs typeface="Arial"/>
                <a:sym typeface="Arial"/>
              </a:rPr>
              <a:t>waktu</a:t>
            </a:r>
            <a:r>
              <a:rPr lang="en-US" dirty="0">
                <a:latin typeface="Arial"/>
                <a:ea typeface="Arial"/>
                <a:cs typeface="Arial"/>
                <a:sym typeface="Arial"/>
              </a:rPr>
              <a:t> </a:t>
            </a:r>
            <a:r>
              <a:rPr lang="en-US" dirty="0" err="1">
                <a:latin typeface="Arial"/>
                <a:ea typeface="Arial"/>
                <a:cs typeface="Arial"/>
                <a:sym typeface="Arial"/>
              </a:rPr>
              <a:t>ke</a:t>
            </a:r>
            <a:r>
              <a:rPr lang="en-US" dirty="0">
                <a:latin typeface="Arial"/>
                <a:ea typeface="Arial"/>
                <a:cs typeface="Arial"/>
                <a:sym typeface="Arial"/>
              </a:rPr>
              <a:t> </a:t>
            </a:r>
            <a:r>
              <a:rPr lang="en-US" dirty="0" err="1">
                <a:latin typeface="Arial"/>
                <a:ea typeface="Arial"/>
                <a:cs typeface="Arial"/>
                <a:sym typeface="Arial"/>
              </a:rPr>
              <a:t>waktu</a:t>
            </a:r>
            <a:r>
              <a:rPr lang="en-US" dirty="0">
                <a:latin typeface="Arial"/>
                <a:ea typeface="Arial"/>
                <a:cs typeface="Arial"/>
                <a:sym typeface="Arial"/>
              </a:rPr>
              <a:t>, </a:t>
            </a:r>
            <a:r>
              <a:rPr lang="en-US" dirty="0" err="1">
                <a:latin typeface="Arial"/>
                <a:ea typeface="Arial"/>
                <a:cs typeface="Arial"/>
                <a:sym typeface="Arial"/>
              </a:rPr>
              <a:t>berat</a:t>
            </a:r>
            <a:r>
              <a:rPr lang="en-US" dirty="0">
                <a:latin typeface="Arial"/>
                <a:ea typeface="Arial"/>
                <a:cs typeface="Arial"/>
                <a:sym typeface="Arial"/>
              </a:rPr>
              <a:t> </a:t>
            </a:r>
            <a:r>
              <a:rPr lang="en-US" dirty="0" err="1">
                <a:latin typeface="Arial"/>
                <a:ea typeface="Arial"/>
                <a:cs typeface="Arial"/>
                <a:sym typeface="Arial"/>
              </a:rPr>
              <a:t>menurut</a:t>
            </a:r>
            <a:r>
              <a:rPr lang="en-US" dirty="0">
                <a:latin typeface="Arial"/>
                <a:ea typeface="Arial"/>
                <a:cs typeface="Arial"/>
                <a:sym typeface="Arial"/>
              </a:rPr>
              <a:t> </a:t>
            </a:r>
            <a:r>
              <a:rPr lang="en-US" dirty="0" err="1">
                <a:latin typeface="Arial"/>
                <a:ea typeface="Arial"/>
                <a:cs typeface="Arial"/>
                <a:sym typeface="Arial"/>
              </a:rPr>
              <a:t>hari</a:t>
            </a:r>
            <a:r>
              <a:rPr lang="en-US" dirty="0">
                <a:latin typeface="Arial"/>
                <a:ea typeface="Arial"/>
                <a:cs typeface="Arial"/>
                <a:sym typeface="Arial"/>
              </a:rPr>
              <a:t>, </a:t>
            </a:r>
            <a:r>
              <a:rPr lang="en-US" dirty="0" err="1">
                <a:latin typeface="Arial"/>
                <a:ea typeface="Arial"/>
                <a:cs typeface="Arial"/>
                <a:sym typeface="Arial"/>
              </a:rPr>
              <a:t>atau</a:t>
            </a:r>
            <a:r>
              <a:rPr lang="en-US" dirty="0">
                <a:latin typeface="Arial"/>
                <a:ea typeface="Arial"/>
                <a:cs typeface="Arial"/>
                <a:sym typeface="Arial"/>
              </a:rPr>
              <a:t> </a:t>
            </a:r>
            <a:r>
              <a:rPr lang="en-US" dirty="0" err="1">
                <a:latin typeface="Arial"/>
                <a:ea typeface="Arial"/>
                <a:cs typeface="Arial"/>
                <a:sym typeface="Arial"/>
              </a:rPr>
              <a:t>metrik</a:t>
            </a:r>
            <a:r>
              <a:rPr lang="en-US" dirty="0">
                <a:latin typeface="Arial"/>
                <a:ea typeface="Arial"/>
                <a:cs typeface="Arial"/>
                <a:sym typeface="Arial"/>
              </a:rPr>
              <a:t> </a:t>
            </a:r>
            <a:r>
              <a:rPr lang="en-US" dirty="0" err="1">
                <a:latin typeface="Arial"/>
                <a:ea typeface="Arial"/>
                <a:cs typeface="Arial"/>
                <a:sym typeface="Arial"/>
              </a:rPr>
              <a:t>berkelanjutan</a:t>
            </a:r>
            <a:r>
              <a:rPr lang="en-US" dirty="0">
                <a:latin typeface="Arial"/>
                <a:ea typeface="Arial"/>
                <a:cs typeface="Arial"/>
                <a:sym typeface="Arial"/>
              </a:rPr>
              <a:t> </a:t>
            </a:r>
            <a:r>
              <a:rPr lang="en-US" dirty="0" err="1">
                <a:latin typeface="Arial"/>
                <a:ea typeface="Arial"/>
                <a:cs typeface="Arial"/>
                <a:sym typeface="Arial"/>
              </a:rPr>
              <a:t>lainnya</a:t>
            </a:r>
            <a:r>
              <a:rPr lang="en-US" dirty="0">
                <a:latin typeface="Arial"/>
                <a:ea typeface="Arial"/>
                <a:cs typeface="Arial"/>
                <a:sym typeface="Arial"/>
              </a:rPr>
              <a:t>. </a:t>
            </a:r>
          </a:p>
        </p:txBody>
      </p:sp>
      <p:pic>
        <p:nvPicPr>
          <p:cNvPr id="5" name="Google Shape;288;p46" descr="Chart, line chart&#10;&#10;Description automatically generated">
            <a:extLst>
              <a:ext uri="{FF2B5EF4-FFF2-40B4-BE49-F238E27FC236}">
                <a16:creationId xmlns:a16="http://schemas.microsoft.com/office/drawing/2014/main" id="{AF8EB9EB-1F17-491E-197A-F313C68D40B8}"/>
              </a:ext>
            </a:extLst>
          </p:cNvPr>
          <p:cNvPicPr preferRelativeResize="0"/>
          <p:nvPr/>
        </p:nvPicPr>
        <p:blipFill rotWithShape="1">
          <a:blip r:embed="rId2">
            <a:alphaModFix/>
          </a:blip>
          <a:srcRect/>
          <a:stretch/>
        </p:blipFill>
        <p:spPr>
          <a:xfrm>
            <a:off x="7284720" y="1901962"/>
            <a:ext cx="4581598" cy="3330437"/>
          </a:xfrm>
          <a:prstGeom prst="rect">
            <a:avLst/>
          </a:prstGeom>
          <a:noFill/>
          <a:ln>
            <a:noFill/>
          </a:ln>
        </p:spPr>
      </p:pic>
    </p:spTree>
    <p:extLst>
      <p:ext uri="{BB962C8B-B14F-4D97-AF65-F5344CB8AC3E}">
        <p14:creationId xmlns:p14="http://schemas.microsoft.com/office/powerpoint/2010/main" val="1246073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CB935-25FF-EA5E-021D-B39332BEF9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5742AD-D991-B217-F4AE-324A5138628E}"/>
              </a:ext>
            </a:extLst>
          </p:cNvPr>
          <p:cNvSpPr>
            <a:spLocks noGrp="1"/>
          </p:cNvSpPr>
          <p:nvPr>
            <p:ph type="title"/>
          </p:nvPr>
        </p:nvSpPr>
        <p:spPr>
          <a:xfrm>
            <a:off x="838200" y="365125"/>
            <a:ext cx="10515600" cy="915035"/>
          </a:xfrm>
        </p:spPr>
        <p:txBody>
          <a:bodyPr>
            <a:normAutofit/>
          </a:bodyPr>
          <a:lstStyle/>
          <a:p>
            <a:r>
              <a:rPr lang="en-US" b="1" dirty="0"/>
              <a:t>Line Graph</a:t>
            </a:r>
            <a:endParaRPr lang="en-US" dirty="0"/>
          </a:p>
        </p:txBody>
      </p:sp>
      <p:sp>
        <p:nvSpPr>
          <p:cNvPr id="3" name="Content Placeholder 2">
            <a:extLst>
              <a:ext uri="{FF2B5EF4-FFF2-40B4-BE49-F238E27FC236}">
                <a16:creationId xmlns:a16="http://schemas.microsoft.com/office/drawing/2014/main" id="{A91EDFEE-4120-5934-1169-CA93F5E4E044}"/>
              </a:ext>
            </a:extLst>
          </p:cNvPr>
          <p:cNvSpPr>
            <a:spLocks noGrp="1"/>
          </p:cNvSpPr>
          <p:nvPr>
            <p:ph idx="1"/>
          </p:nvPr>
        </p:nvSpPr>
        <p:spPr>
          <a:xfrm>
            <a:off x="838200" y="1825625"/>
            <a:ext cx="6446520" cy="4351338"/>
          </a:xfrm>
        </p:spPr>
        <p:txBody>
          <a:bodyPr>
            <a:normAutofit/>
          </a:bodyPr>
          <a:lstStyle/>
          <a:p>
            <a:pPr marL="457200" lvl="0" indent="-330200">
              <a:lnSpc>
                <a:spcPct val="115000"/>
              </a:lnSpc>
              <a:spcBef>
                <a:spcPts val="0"/>
              </a:spcBef>
              <a:buClr>
                <a:schemeClr val="dk1"/>
              </a:buClr>
              <a:buSzPts val="1600"/>
              <a:buChar char="●"/>
            </a:pPr>
            <a:r>
              <a:rPr lang="en-US" dirty="0">
                <a:latin typeface="Arial"/>
                <a:ea typeface="Arial"/>
                <a:cs typeface="Arial"/>
                <a:sym typeface="Arial"/>
              </a:rPr>
              <a:t>Kita </a:t>
            </a:r>
            <a:r>
              <a:rPr lang="en-US" dirty="0" err="1">
                <a:latin typeface="Arial"/>
                <a:ea typeface="Arial"/>
                <a:cs typeface="Arial"/>
                <a:sym typeface="Arial"/>
              </a:rPr>
              <a:t>akan</a:t>
            </a:r>
            <a:r>
              <a:rPr lang="en-US" dirty="0">
                <a:latin typeface="Arial"/>
                <a:ea typeface="Arial"/>
                <a:cs typeface="Arial"/>
                <a:sym typeface="Arial"/>
              </a:rPr>
              <a:t> </a:t>
            </a:r>
            <a:r>
              <a:rPr lang="en-US" dirty="0" err="1">
                <a:latin typeface="Arial"/>
                <a:ea typeface="Arial"/>
                <a:cs typeface="Arial"/>
                <a:sym typeface="Arial"/>
              </a:rPr>
              <a:t>membuat</a:t>
            </a:r>
            <a:r>
              <a:rPr lang="en-US" dirty="0">
                <a:latin typeface="Arial"/>
                <a:ea typeface="Arial"/>
                <a:cs typeface="Arial"/>
                <a:sym typeface="Arial"/>
              </a:rPr>
              <a:t> </a:t>
            </a:r>
            <a:r>
              <a:rPr lang="en-US" dirty="0" err="1">
                <a:latin typeface="Arial"/>
                <a:ea typeface="Arial"/>
                <a:cs typeface="Arial"/>
                <a:sym typeface="Arial"/>
              </a:rPr>
              <a:t>grafik</a:t>
            </a:r>
            <a:r>
              <a:rPr lang="en-US" dirty="0">
                <a:latin typeface="Arial"/>
                <a:ea typeface="Arial"/>
                <a:cs typeface="Arial"/>
                <a:sym typeface="Arial"/>
              </a:rPr>
              <a:t> garis yang sangat </a:t>
            </a:r>
            <a:r>
              <a:rPr lang="en-US" dirty="0" err="1">
                <a:latin typeface="Arial"/>
                <a:ea typeface="Arial"/>
                <a:cs typeface="Arial"/>
                <a:sym typeface="Arial"/>
              </a:rPr>
              <a:t>sederhana</a:t>
            </a:r>
            <a:r>
              <a:rPr lang="en-US" dirty="0">
                <a:latin typeface="Arial"/>
                <a:ea typeface="Arial"/>
                <a:cs typeface="Arial"/>
                <a:sym typeface="Arial"/>
              </a:rPr>
              <a:t> di </a:t>
            </a:r>
            <a:r>
              <a:rPr lang="en-US" dirty="0" err="1">
                <a:latin typeface="Arial"/>
                <a:ea typeface="Arial"/>
                <a:cs typeface="Arial"/>
                <a:sym typeface="Arial"/>
              </a:rPr>
              <a:t>bawah</a:t>
            </a:r>
            <a:r>
              <a:rPr lang="en-US" dirty="0">
                <a:latin typeface="Arial"/>
                <a:ea typeface="Arial"/>
                <a:cs typeface="Arial"/>
                <a:sym typeface="Arial"/>
              </a:rPr>
              <a:t> </a:t>
            </a:r>
            <a:r>
              <a:rPr lang="en-US" dirty="0" err="1">
                <a:latin typeface="Arial"/>
                <a:ea typeface="Arial"/>
                <a:cs typeface="Arial"/>
                <a:sym typeface="Arial"/>
              </a:rPr>
              <a:t>ini</a:t>
            </a:r>
            <a:r>
              <a:rPr lang="en-US" dirty="0">
                <a:latin typeface="Arial"/>
                <a:ea typeface="Arial"/>
                <a:cs typeface="Arial"/>
                <a:sym typeface="Arial"/>
              </a:rPr>
              <a:t>. Data yang </a:t>
            </a:r>
            <a:r>
              <a:rPr lang="en-US" dirty="0" err="1">
                <a:latin typeface="Arial"/>
                <a:ea typeface="Arial"/>
                <a:cs typeface="Arial"/>
                <a:sym typeface="Arial"/>
              </a:rPr>
              <a:t>kita</a:t>
            </a:r>
            <a:r>
              <a:rPr lang="en-US" dirty="0">
                <a:latin typeface="Arial"/>
                <a:ea typeface="Arial"/>
                <a:cs typeface="Arial"/>
                <a:sym typeface="Arial"/>
              </a:rPr>
              <a:t> </a:t>
            </a:r>
            <a:r>
              <a:rPr lang="en-US" dirty="0" err="1">
                <a:latin typeface="Arial"/>
                <a:ea typeface="Arial"/>
                <a:cs typeface="Arial"/>
                <a:sym typeface="Arial"/>
              </a:rPr>
              <a:t>miliki</a:t>
            </a:r>
            <a:r>
              <a:rPr lang="en-US" dirty="0">
                <a:latin typeface="Arial"/>
                <a:ea typeface="Arial"/>
                <a:cs typeface="Arial"/>
                <a:sym typeface="Arial"/>
              </a:rPr>
              <a:t> </a:t>
            </a:r>
            <a:r>
              <a:rPr lang="en-US" dirty="0" err="1">
                <a:latin typeface="Arial"/>
                <a:ea typeface="Arial"/>
                <a:cs typeface="Arial"/>
                <a:sym typeface="Arial"/>
              </a:rPr>
              <a:t>adalah</a:t>
            </a:r>
            <a:r>
              <a:rPr lang="en-US" dirty="0">
                <a:latin typeface="Arial"/>
                <a:ea typeface="Arial"/>
                <a:cs typeface="Arial"/>
                <a:sym typeface="Arial"/>
              </a:rPr>
              <a:t> </a:t>
            </a:r>
            <a:r>
              <a:rPr lang="en-US" dirty="0" err="1">
                <a:latin typeface="Arial"/>
                <a:ea typeface="Arial"/>
                <a:cs typeface="Arial"/>
                <a:sym typeface="Arial"/>
              </a:rPr>
              <a:t>suhu</a:t>
            </a:r>
            <a:r>
              <a:rPr lang="en-US" dirty="0">
                <a:latin typeface="Arial"/>
                <a:ea typeface="Arial"/>
                <a:cs typeface="Arial"/>
                <a:sym typeface="Arial"/>
              </a:rPr>
              <a:t> </a:t>
            </a:r>
            <a:r>
              <a:rPr lang="en-US" dirty="0" err="1">
                <a:latin typeface="Arial"/>
                <a:ea typeface="Arial"/>
                <a:cs typeface="Arial"/>
                <a:sym typeface="Arial"/>
              </a:rPr>
              <a:t>dalam</a:t>
            </a:r>
            <a:r>
              <a:rPr lang="en-US" dirty="0">
                <a:latin typeface="Arial"/>
                <a:ea typeface="Arial"/>
                <a:cs typeface="Arial"/>
                <a:sym typeface="Arial"/>
              </a:rPr>
              <a:t> </a:t>
            </a:r>
            <a:r>
              <a:rPr lang="en-US" dirty="0" err="1">
                <a:latin typeface="Arial"/>
                <a:ea typeface="Arial"/>
                <a:cs typeface="Arial"/>
                <a:sym typeface="Arial"/>
              </a:rPr>
              <a:t>celcius</a:t>
            </a:r>
            <a:r>
              <a:rPr lang="en-US" dirty="0">
                <a:latin typeface="Arial"/>
                <a:ea typeface="Arial"/>
                <a:cs typeface="Arial"/>
                <a:sym typeface="Arial"/>
              </a:rPr>
              <a:t> dan jam </a:t>
            </a:r>
            <a:r>
              <a:rPr lang="en-US" dirty="0" err="1">
                <a:latin typeface="Arial"/>
                <a:ea typeface="Arial"/>
                <a:cs typeface="Arial"/>
                <a:sym typeface="Arial"/>
              </a:rPr>
              <a:t>dalam</a:t>
            </a:r>
            <a:r>
              <a:rPr lang="en-US" dirty="0">
                <a:latin typeface="Arial"/>
                <a:ea typeface="Arial"/>
                <a:cs typeface="Arial"/>
                <a:sym typeface="Arial"/>
              </a:rPr>
              <a:t> </a:t>
            </a:r>
            <a:r>
              <a:rPr lang="en-US" dirty="0" err="1">
                <a:latin typeface="Arial"/>
                <a:ea typeface="Arial"/>
                <a:cs typeface="Arial"/>
                <a:sym typeface="Arial"/>
              </a:rPr>
              <a:t>sehari</a:t>
            </a:r>
            <a:r>
              <a:rPr lang="en-US" dirty="0">
                <a:latin typeface="Arial"/>
                <a:ea typeface="Arial"/>
                <a:cs typeface="Arial"/>
                <a:sym typeface="Arial"/>
              </a:rPr>
              <a:t> </a:t>
            </a:r>
            <a:r>
              <a:rPr lang="en-US" dirty="0" err="1">
                <a:latin typeface="Arial"/>
                <a:ea typeface="Arial"/>
                <a:cs typeface="Arial"/>
                <a:sym typeface="Arial"/>
              </a:rPr>
              <a:t>untuk</a:t>
            </a:r>
            <a:r>
              <a:rPr lang="en-US" dirty="0">
                <a:latin typeface="Arial"/>
                <a:ea typeface="Arial"/>
                <a:cs typeface="Arial"/>
                <a:sym typeface="Arial"/>
              </a:rPr>
              <a:t> </a:t>
            </a:r>
            <a:r>
              <a:rPr lang="en-US" dirty="0" err="1">
                <a:latin typeface="Arial"/>
                <a:ea typeface="Arial"/>
                <a:cs typeface="Arial"/>
                <a:sym typeface="Arial"/>
              </a:rPr>
              <a:t>satu</a:t>
            </a:r>
            <a:r>
              <a:rPr lang="en-US" dirty="0">
                <a:latin typeface="Arial"/>
                <a:ea typeface="Arial"/>
                <a:cs typeface="Arial"/>
                <a:sym typeface="Arial"/>
              </a:rPr>
              <a:t> </a:t>
            </a:r>
            <a:r>
              <a:rPr lang="en-US" dirty="0" err="1">
                <a:latin typeface="Arial"/>
                <a:ea typeface="Arial"/>
                <a:cs typeface="Arial"/>
                <a:sym typeface="Arial"/>
              </a:rPr>
              <a:t>hari</a:t>
            </a:r>
            <a:r>
              <a:rPr lang="en-US" dirty="0">
                <a:latin typeface="Arial"/>
                <a:ea typeface="Arial"/>
                <a:cs typeface="Arial"/>
                <a:sym typeface="Arial"/>
              </a:rPr>
              <a:t> dan </a:t>
            </a:r>
            <a:r>
              <a:rPr lang="en-US" dirty="0" err="1">
                <a:latin typeface="Arial"/>
                <a:ea typeface="Arial"/>
                <a:cs typeface="Arial"/>
                <a:sym typeface="Arial"/>
              </a:rPr>
              <a:t>lokasi</a:t>
            </a:r>
            <a:r>
              <a:rPr lang="en-US" dirty="0">
                <a:latin typeface="Arial"/>
                <a:ea typeface="Arial"/>
                <a:cs typeface="Arial"/>
                <a:sym typeface="Arial"/>
              </a:rPr>
              <a:t>.</a:t>
            </a:r>
          </a:p>
          <a:p>
            <a:pPr marL="457200" lvl="0" indent="-330200">
              <a:lnSpc>
                <a:spcPct val="115000"/>
              </a:lnSpc>
              <a:spcBef>
                <a:spcPts val="0"/>
              </a:spcBef>
              <a:buClr>
                <a:schemeClr val="dk1"/>
              </a:buClr>
              <a:buSzPts val="1600"/>
              <a:buChar char="●"/>
            </a:pPr>
            <a:r>
              <a:rPr lang="en-US" dirty="0">
                <a:latin typeface="Arial"/>
                <a:ea typeface="Arial"/>
                <a:cs typeface="Arial"/>
                <a:sym typeface="Arial"/>
              </a:rPr>
              <a:t>Anda </a:t>
            </a:r>
            <a:r>
              <a:rPr lang="en-US" dirty="0" err="1">
                <a:latin typeface="Arial"/>
                <a:ea typeface="Arial"/>
                <a:cs typeface="Arial"/>
                <a:sym typeface="Arial"/>
              </a:rPr>
              <a:t>dapat</a:t>
            </a:r>
            <a:r>
              <a:rPr lang="en-US" dirty="0">
                <a:latin typeface="Arial"/>
                <a:ea typeface="Arial"/>
                <a:cs typeface="Arial"/>
                <a:sym typeface="Arial"/>
              </a:rPr>
              <a:t> </a:t>
            </a:r>
            <a:r>
              <a:rPr lang="en-US" dirty="0" err="1">
                <a:latin typeface="Arial"/>
                <a:ea typeface="Arial"/>
                <a:cs typeface="Arial"/>
                <a:sym typeface="Arial"/>
              </a:rPr>
              <a:t>melihat</a:t>
            </a:r>
            <a:r>
              <a:rPr lang="en-US" dirty="0">
                <a:latin typeface="Arial"/>
                <a:ea typeface="Arial"/>
                <a:cs typeface="Arial"/>
                <a:sym typeface="Arial"/>
              </a:rPr>
              <a:t> </a:t>
            </a:r>
            <a:r>
              <a:rPr lang="en-US" dirty="0" err="1">
                <a:latin typeface="Arial"/>
                <a:ea typeface="Arial"/>
                <a:cs typeface="Arial"/>
                <a:sym typeface="Arial"/>
              </a:rPr>
              <a:t>bahwa</a:t>
            </a:r>
            <a:r>
              <a:rPr lang="en-US" dirty="0">
                <a:latin typeface="Arial"/>
                <a:ea typeface="Arial"/>
                <a:cs typeface="Arial"/>
                <a:sym typeface="Arial"/>
              </a:rPr>
              <a:t> </a:t>
            </a:r>
            <a:r>
              <a:rPr lang="en-US" dirty="0" err="1">
                <a:latin typeface="Arial"/>
                <a:ea typeface="Arial"/>
                <a:cs typeface="Arial"/>
                <a:sym typeface="Arial"/>
              </a:rPr>
              <a:t>untuk</a:t>
            </a:r>
            <a:r>
              <a:rPr lang="en-US" dirty="0">
                <a:latin typeface="Arial"/>
                <a:ea typeface="Arial"/>
                <a:cs typeface="Arial"/>
                <a:sym typeface="Arial"/>
              </a:rPr>
              <a:t> </a:t>
            </a:r>
            <a:r>
              <a:rPr lang="en-US" dirty="0" err="1">
                <a:latin typeface="Arial"/>
                <a:ea typeface="Arial"/>
                <a:cs typeface="Arial"/>
                <a:sym typeface="Arial"/>
              </a:rPr>
              <a:t>membuat</a:t>
            </a:r>
            <a:r>
              <a:rPr lang="en-US" dirty="0">
                <a:latin typeface="Arial"/>
                <a:ea typeface="Arial"/>
                <a:cs typeface="Arial"/>
                <a:sym typeface="Arial"/>
              </a:rPr>
              <a:t> </a:t>
            </a:r>
            <a:r>
              <a:rPr lang="en-US" dirty="0" err="1">
                <a:latin typeface="Arial"/>
                <a:ea typeface="Arial"/>
                <a:cs typeface="Arial"/>
                <a:sym typeface="Arial"/>
              </a:rPr>
              <a:t>grafik</a:t>
            </a:r>
            <a:r>
              <a:rPr lang="en-US" dirty="0">
                <a:latin typeface="Arial"/>
                <a:ea typeface="Arial"/>
                <a:cs typeface="Arial"/>
                <a:sym typeface="Arial"/>
              </a:rPr>
              <a:t> garis </a:t>
            </a:r>
            <a:r>
              <a:rPr lang="en-US" dirty="0" err="1">
                <a:latin typeface="Arial"/>
                <a:ea typeface="Arial"/>
                <a:cs typeface="Arial"/>
                <a:sym typeface="Arial"/>
              </a:rPr>
              <a:t>kita</a:t>
            </a:r>
            <a:r>
              <a:rPr lang="en-US" dirty="0">
                <a:latin typeface="Arial"/>
                <a:ea typeface="Arial"/>
                <a:cs typeface="Arial"/>
                <a:sym typeface="Arial"/>
              </a:rPr>
              <a:t> </a:t>
            </a:r>
            <a:r>
              <a:rPr lang="en-US" dirty="0" err="1">
                <a:latin typeface="Arial"/>
                <a:ea typeface="Arial"/>
                <a:cs typeface="Arial"/>
                <a:sym typeface="Arial"/>
              </a:rPr>
              <a:t>menggunakan</a:t>
            </a:r>
            <a:r>
              <a:rPr lang="en-US" dirty="0">
                <a:latin typeface="Arial"/>
                <a:ea typeface="Arial"/>
                <a:cs typeface="Arial"/>
                <a:sym typeface="Arial"/>
              </a:rPr>
              <a:t> </a:t>
            </a:r>
            <a:r>
              <a:rPr lang="en-US" dirty="0" err="1">
                <a:latin typeface="Arial"/>
                <a:ea typeface="Arial"/>
                <a:cs typeface="Arial"/>
                <a:sym typeface="Arial"/>
              </a:rPr>
              <a:t>metode</a:t>
            </a:r>
            <a:r>
              <a:rPr lang="en-US" dirty="0">
                <a:latin typeface="Arial"/>
                <a:ea typeface="Arial"/>
                <a:cs typeface="Arial"/>
                <a:sym typeface="Arial"/>
              </a:rPr>
              <a:t> </a:t>
            </a:r>
            <a:r>
              <a:rPr lang="en-US" dirty="0" err="1">
                <a:latin typeface="Arial"/>
                <a:ea typeface="Arial"/>
                <a:cs typeface="Arial"/>
                <a:sym typeface="Arial"/>
              </a:rPr>
              <a:t>plt.plot</a:t>
            </a:r>
            <a:r>
              <a:rPr lang="en-US" dirty="0">
                <a:latin typeface="Arial"/>
                <a:ea typeface="Arial"/>
                <a:cs typeface="Arial"/>
                <a:sym typeface="Arial"/>
              </a:rPr>
              <a:t> ().</a:t>
            </a:r>
          </a:p>
        </p:txBody>
      </p:sp>
      <p:pic>
        <p:nvPicPr>
          <p:cNvPr id="8" name="Google Shape;288;p46" descr="Chart, line chart&#10;&#10;Description automatically generated">
            <a:extLst>
              <a:ext uri="{FF2B5EF4-FFF2-40B4-BE49-F238E27FC236}">
                <a16:creationId xmlns:a16="http://schemas.microsoft.com/office/drawing/2014/main" id="{D9AFAD5F-B05C-5447-6CB9-4CD180D7417D}"/>
              </a:ext>
            </a:extLst>
          </p:cNvPr>
          <p:cNvPicPr preferRelativeResize="0"/>
          <p:nvPr/>
        </p:nvPicPr>
        <p:blipFill rotWithShape="1">
          <a:blip r:embed="rId2">
            <a:alphaModFix/>
          </a:blip>
          <a:srcRect/>
          <a:stretch/>
        </p:blipFill>
        <p:spPr>
          <a:xfrm>
            <a:off x="7284720" y="1901962"/>
            <a:ext cx="4581598" cy="3330437"/>
          </a:xfrm>
          <a:prstGeom prst="rect">
            <a:avLst/>
          </a:prstGeom>
          <a:noFill/>
          <a:ln>
            <a:noFill/>
          </a:ln>
        </p:spPr>
      </p:pic>
    </p:spTree>
    <p:extLst>
      <p:ext uri="{BB962C8B-B14F-4D97-AF65-F5344CB8AC3E}">
        <p14:creationId xmlns:p14="http://schemas.microsoft.com/office/powerpoint/2010/main" val="34089116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B3519-09B1-5081-56ED-BAF18BEAA3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06A503-DB8F-DD8C-A310-157C16D2408A}"/>
              </a:ext>
            </a:extLst>
          </p:cNvPr>
          <p:cNvSpPr>
            <a:spLocks noGrp="1"/>
          </p:cNvSpPr>
          <p:nvPr>
            <p:ph type="title"/>
          </p:nvPr>
        </p:nvSpPr>
        <p:spPr>
          <a:xfrm>
            <a:off x="838200" y="365125"/>
            <a:ext cx="10515600" cy="915035"/>
          </a:xfrm>
        </p:spPr>
        <p:txBody>
          <a:bodyPr>
            <a:normAutofit/>
          </a:bodyPr>
          <a:lstStyle/>
          <a:p>
            <a:r>
              <a:rPr lang="en-US" b="1" dirty="0"/>
              <a:t>Line Graph</a:t>
            </a:r>
            <a:endParaRPr lang="en-US" dirty="0"/>
          </a:p>
        </p:txBody>
      </p:sp>
      <p:sp>
        <p:nvSpPr>
          <p:cNvPr id="3" name="Content Placeholder 2">
            <a:extLst>
              <a:ext uri="{FF2B5EF4-FFF2-40B4-BE49-F238E27FC236}">
                <a16:creationId xmlns:a16="http://schemas.microsoft.com/office/drawing/2014/main" id="{220E88DB-8608-582C-E3B0-A0119DEFDA54}"/>
              </a:ext>
            </a:extLst>
          </p:cNvPr>
          <p:cNvSpPr>
            <a:spLocks noGrp="1"/>
          </p:cNvSpPr>
          <p:nvPr>
            <p:ph idx="1"/>
          </p:nvPr>
        </p:nvSpPr>
        <p:spPr>
          <a:xfrm>
            <a:off x="838200" y="1825625"/>
            <a:ext cx="6446520" cy="4351338"/>
          </a:xfrm>
        </p:spPr>
        <p:txBody>
          <a:bodyPr>
            <a:normAutofit/>
          </a:bodyPr>
          <a:lstStyle/>
          <a:p>
            <a:pPr marL="457200" lvl="0" indent="-336550">
              <a:lnSpc>
                <a:spcPct val="115000"/>
              </a:lnSpc>
              <a:spcBef>
                <a:spcPts val="0"/>
              </a:spcBef>
              <a:buClr>
                <a:schemeClr val="dk1"/>
              </a:buClr>
              <a:buSzPts val="1700"/>
              <a:buChar char="●"/>
            </a:pPr>
            <a:r>
              <a:rPr lang="en-US" dirty="0">
                <a:latin typeface="Arial"/>
                <a:ea typeface="Arial"/>
                <a:cs typeface="Arial"/>
                <a:sym typeface="Arial"/>
              </a:rPr>
              <a:t>Kita </a:t>
            </a:r>
            <a:r>
              <a:rPr lang="en-US" dirty="0" err="1">
                <a:latin typeface="Arial"/>
                <a:ea typeface="Arial"/>
                <a:cs typeface="Arial"/>
                <a:sym typeface="Arial"/>
              </a:rPr>
              <a:t>bahkan</a:t>
            </a:r>
            <a:r>
              <a:rPr lang="en-US" dirty="0">
                <a:latin typeface="Arial"/>
                <a:ea typeface="Arial"/>
                <a:cs typeface="Arial"/>
                <a:sym typeface="Arial"/>
              </a:rPr>
              <a:t> </a:t>
            </a:r>
            <a:r>
              <a:rPr lang="en-US" dirty="0" err="1">
                <a:latin typeface="Arial"/>
                <a:ea typeface="Arial"/>
                <a:cs typeface="Arial"/>
                <a:sym typeface="Arial"/>
              </a:rPr>
              <a:t>dapat</a:t>
            </a:r>
            <a:r>
              <a:rPr lang="en-US" dirty="0">
                <a:latin typeface="Arial"/>
                <a:ea typeface="Arial"/>
                <a:cs typeface="Arial"/>
                <a:sym typeface="Arial"/>
              </a:rPr>
              <a:t> </a:t>
            </a:r>
            <a:r>
              <a:rPr lang="en-US" dirty="0" err="1">
                <a:latin typeface="Arial"/>
                <a:ea typeface="Arial"/>
                <a:cs typeface="Arial"/>
                <a:sym typeface="Arial"/>
              </a:rPr>
              <a:t>memiliki</a:t>
            </a:r>
            <a:r>
              <a:rPr lang="en-US" dirty="0">
                <a:latin typeface="Arial"/>
                <a:ea typeface="Arial"/>
                <a:cs typeface="Arial"/>
                <a:sym typeface="Arial"/>
              </a:rPr>
              <a:t> </a:t>
            </a:r>
            <a:r>
              <a:rPr lang="en-US" dirty="0" err="1">
                <a:latin typeface="Arial"/>
                <a:ea typeface="Arial"/>
                <a:cs typeface="Arial"/>
                <a:sym typeface="Arial"/>
              </a:rPr>
              <a:t>beberapa</a:t>
            </a:r>
            <a:r>
              <a:rPr lang="en-US" dirty="0">
                <a:latin typeface="Arial"/>
                <a:ea typeface="Arial"/>
                <a:cs typeface="Arial"/>
                <a:sym typeface="Arial"/>
              </a:rPr>
              <a:t> garis pada </a:t>
            </a:r>
            <a:r>
              <a:rPr lang="en-US" dirty="0" err="1">
                <a:latin typeface="Arial"/>
                <a:ea typeface="Arial"/>
                <a:cs typeface="Arial"/>
                <a:sym typeface="Arial"/>
              </a:rPr>
              <a:t>grafik</a:t>
            </a:r>
            <a:r>
              <a:rPr lang="en-US" dirty="0">
                <a:latin typeface="Arial"/>
                <a:ea typeface="Arial"/>
                <a:cs typeface="Arial"/>
                <a:sym typeface="Arial"/>
              </a:rPr>
              <a:t> yang </a:t>
            </a:r>
            <a:r>
              <a:rPr lang="en-US" dirty="0" err="1">
                <a:latin typeface="Arial"/>
                <a:ea typeface="Arial"/>
                <a:cs typeface="Arial"/>
                <a:sym typeface="Arial"/>
              </a:rPr>
              <a:t>sama</a:t>
            </a:r>
            <a:r>
              <a:rPr lang="en-US" dirty="0">
                <a:latin typeface="Arial"/>
                <a:ea typeface="Arial"/>
                <a:cs typeface="Arial"/>
                <a:sym typeface="Arial"/>
              </a:rPr>
              <a:t> </a:t>
            </a:r>
            <a:r>
              <a:rPr lang="en-US" dirty="0" err="1">
                <a:latin typeface="Arial"/>
                <a:ea typeface="Arial"/>
                <a:cs typeface="Arial"/>
                <a:sym typeface="Arial"/>
              </a:rPr>
              <a:t>didalam</a:t>
            </a:r>
            <a:r>
              <a:rPr lang="en-US" dirty="0">
                <a:latin typeface="Arial"/>
                <a:ea typeface="Arial"/>
                <a:cs typeface="Arial"/>
                <a:sym typeface="Arial"/>
              </a:rPr>
              <a:t> </a:t>
            </a:r>
            <a:r>
              <a:rPr lang="en-US" dirty="0" err="1">
                <a:latin typeface="Arial"/>
                <a:ea typeface="Arial"/>
                <a:cs typeface="Arial"/>
                <a:sym typeface="Arial"/>
              </a:rPr>
              <a:t>satu</a:t>
            </a:r>
            <a:r>
              <a:rPr lang="en-US" dirty="0">
                <a:latin typeface="Arial"/>
                <a:ea typeface="Arial"/>
                <a:cs typeface="Arial"/>
                <a:sym typeface="Arial"/>
              </a:rPr>
              <a:t> </a:t>
            </a:r>
            <a:r>
              <a:rPr lang="en-US" dirty="0" err="1">
                <a:latin typeface="Arial"/>
                <a:ea typeface="Arial"/>
                <a:cs typeface="Arial"/>
                <a:sym typeface="Arial"/>
              </a:rPr>
              <a:t>gambar</a:t>
            </a:r>
            <a:endParaRPr lang="en-US" dirty="0">
              <a:latin typeface="Arial"/>
              <a:ea typeface="Arial"/>
              <a:cs typeface="Arial"/>
              <a:sym typeface="Arial"/>
            </a:endParaRPr>
          </a:p>
          <a:p>
            <a:pPr marL="457200" lvl="0" indent="-336550">
              <a:lnSpc>
                <a:spcPct val="115000"/>
              </a:lnSpc>
              <a:spcBef>
                <a:spcPts val="0"/>
              </a:spcBef>
              <a:buClr>
                <a:schemeClr val="dk1"/>
              </a:buClr>
              <a:buSzPts val="1700"/>
              <a:buChar char="●"/>
            </a:pPr>
            <a:r>
              <a:rPr lang="en-US" dirty="0" err="1">
                <a:latin typeface="Arial"/>
                <a:ea typeface="Arial"/>
                <a:cs typeface="Arial"/>
                <a:sym typeface="Arial"/>
              </a:rPr>
              <a:t>Biasanya</a:t>
            </a:r>
            <a:r>
              <a:rPr lang="en-US" dirty="0">
                <a:latin typeface="Arial"/>
                <a:ea typeface="Arial"/>
                <a:cs typeface="Arial"/>
                <a:sym typeface="Arial"/>
              </a:rPr>
              <a:t> </a:t>
            </a:r>
            <a:r>
              <a:rPr lang="en-US" dirty="0" err="1">
                <a:latin typeface="Arial"/>
                <a:ea typeface="Arial"/>
                <a:cs typeface="Arial"/>
                <a:sym typeface="Arial"/>
              </a:rPr>
              <a:t>kita</a:t>
            </a:r>
            <a:r>
              <a:rPr lang="en-US" dirty="0">
                <a:latin typeface="Arial"/>
                <a:ea typeface="Arial"/>
                <a:cs typeface="Arial"/>
                <a:sym typeface="Arial"/>
              </a:rPr>
              <a:t> </a:t>
            </a:r>
            <a:r>
              <a:rPr lang="en-US" dirty="0" err="1">
                <a:latin typeface="Arial"/>
                <a:ea typeface="Arial"/>
                <a:cs typeface="Arial"/>
                <a:sym typeface="Arial"/>
              </a:rPr>
              <a:t>mengilustrasikan</a:t>
            </a:r>
            <a:r>
              <a:rPr lang="en-US" dirty="0">
                <a:latin typeface="Arial"/>
                <a:ea typeface="Arial"/>
                <a:cs typeface="Arial"/>
                <a:sym typeface="Arial"/>
              </a:rPr>
              <a:t> dua line graph </a:t>
            </a:r>
            <a:r>
              <a:rPr lang="en-US" dirty="0" err="1">
                <a:latin typeface="Arial"/>
                <a:ea typeface="Arial"/>
                <a:cs typeface="Arial"/>
                <a:sym typeface="Arial"/>
              </a:rPr>
              <a:t>untuk</a:t>
            </a:r>
            <a:r>
              <a:rPr lang="en-US" dirty="0">
                <a:latin typeface="Arial"/>
                <a:ea typeface="Arial"/>
                <a:cs typeface="Arial"/>
                <a:sym typeface="Arial"/>
              </a:rPr>
              <a:t> </a:t>
            </a:r>
            <a:r>
              <a:rPr lang="en-US" dirty="0" err="1">
                <a:latin typeface="Arial"/>
                <a:ea typeface="Arial"/>
                <a:cs typeface="Arial"/>
                <a:sym typeface="Arial"/>
              </a:rPr>
              <a:t>menggambarkan</a:t>
            </a:r>
            <a:r>
              <a:rPr lang="en-US" dirty="0">
                <a:latin typeface="Arial"/>
                <a:ea typeface="Arial"/>
                <a:cs typeface="Arial"/>
                <a:sym typeface="Arial"/>
              </a:rPr>
              <a:t> dua data </a:t>
            </a:r>
            <a:r>
              <a:rPr lang="en-US" dirty="0" err="1">
                <a:latin typeface="Arial"/>
                <a:ea typeface="Arial"/>
                <a:cs typeface="Arial"/>
                <a:sym typeface="Arial"/>
              </a:rPr>
              <a:t>yaitu</a:t>
            </a:r>
            <a:r>
              <a:rPr lang="en-US" dirty="0">
                <a:latin typeface="Arial"/>
                <a:ea typeface="Arial"/>
                <a:cs typeface="Arial"/>
                <a:sym typeface="Arial"/>
              </a:rPr>
              <a:t> data </a:t>
            </a:r>
            <a:r>
              <a:rPr lang="en-US" dirty="0" err="1">
                <a:latin typeface="Arial"/>
                <a:ea typeface="Arial"/>
                <a:cs typeface="Arial"/>
                <a:sym typeface="Arial"/>
              </a:rPr>
              <a:t>aktual</a:t>
            </a:r>
            <a:r>
              <a:rPr lang="en-US" dirty="0">
                <a:latin typeface="Arial"/>
                <a:ea typeface="Arial"/>
                <a:cs typeface="Arial"/>
                <a:sym typeface="Arial"/>
              </a:rPr>
              <a:t> dan data </a:t>
            </a:r>
            <a:r>
              <a:rPr lang="en-US" dirty="0" err="1">
                <a:latin typeface="Arial"/>
                <a:ea typeface="Arial"/>
                <a:cs typeface="Arial"/>
                <a:sym typeface="Arial"/>
              </a:rPr>
              <a:t>prediksi</a:t>
            </a:r>
            <a:r>
              <a:rPr lang="en-US" dirty="0">
                <a:latin typeface="Arial"/>
                <a:ea typeface="Arial"/>
                <a:cs typeface="Arial"/>
                <a:sym typeface="Arial"/>
              </a:rPr>
              <a:t>. </a:t>
            </a:r>
          </a:p>
        </p:txBody>
      </p:sp>
      <p:pic>
        <p:nvPicPr>
          <p:cNvPr id="6" name="Google Shape;304;p48" descr="Chart, line chart&#10;&#10;Description automatically generated">
            <a:extLst>
              <a:ext uri="{FF2B5EF4-FFF2-40B4-BE49-F238E27FC236}">
                <a16:creationId xmlns:a16="http://schemas.microsoft.com/office/drawing/2014/main" id="{4F94E5B5-D97F-DD0F-566C-289C78183E1E}"/>
              </a:ext>
            </a:extLst>
          </p:cNvPr>
          <p:cNvPicPr preferRelativeResize="0"/>
          <p:nvPr/>
        </p:nvPicPr>
        <p:blipFill rotWithShape="1">
          <a:blip r:embed="rId2">
            <a:alphaModFix/>
          </a:blip>
          <a:srcRect/>
          <a:stretch/>
        </p:blipFill>
        <p:spPr>
          <a:xfrm>
            <a:off x="7179383" y="2024062"/>
            <a:ext cx="4829175" cy="3533775"/>
          </a:xfrm>
          <a:prstGeom prst="rect">
            <a:avLst/>
          </a:prstGeom>
          <a:noFill/>
          <a:ln>
            <a:noFill/>
          </a:ln>
        </p:spPr>
      </p:pic>
    </p:spTree>
    <p:extLst>
      <p:ext uri="{BB962C8B-B14F-4D97-AF65-F5344CB8AC3E}">
        <p14:creationId xmlns:p14="http://schemas.microsoft.com/office/powerpoint/2010/main" val="16681404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AA59F-7BCB-AA01-F083-41A9A53B2F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C6F079-D6E7-4C99-2575-0C024F8E8DCC}"/>
              </a:ext>
            </a:extLst>
          </p:cNvPr>
          <p:cNvSpPr>
            <a:spLocks noGrp="1"/>
          </p:cNvSpPr>
          <p:nvPr>
            <p:ph type="title"/>
          </p:nvPr>
        </p:nvSpPr>
        <p:spPr>
          <a:xfrm>
            <a:off x="838200" y="365125"/>
            <a:ext cx="10515600" cy="915035"/>
          </a:xfrm>
        </p:spPr>
        <p:txBody>
          <a:bodyPr>
            <a:normAutofit/>
          </a:bodyPr>
          <a:lstStyle/>
          <a:p>
            <a:r>
              <a:rPr lang="en-US" b="1" dirty="0"/>
              <a:t>Line Graph</a:t>
            </a:r>
            <a:endParaRPr lang="en-US" dirty="0"/>
          </a:p>
        </p:txBody>
      </p:sp>
      <p:pic>
        <p:nvPicPr>
          <p:cNvPr id="7" name="Google Shape;312;g10054a4cc09_0_208">
            <a:extLst>
              <a:ext uri="{FF2B5EF4-FFF2-40B4-BE49-F238E27FC236}">
                <a16:creationId xmlns:a16="http://schemas.microsoft.com/office/drawing/2014/main" id="{52DAA891-C96A-B5FB-ADD7-F4FCD7022B2C}"/>
              </a:ext>
            </a:extLst>
          </p:cNvPr>
          <p:cNvPicPr preferRelativeResize="0"/>
          <p:nvPr/>
        </p:nvPicPr>
        <p:blipFill>
          <a:blip r:embed="rId2">
            <a:alphaModFix/>
          </a:blip>
          <a:stretch>
            <a:fillRect/>
          </a:stretch>
        </p:blipFill>
        <p:spPr>
          <a:xfrm>
            <a:off x="183442" y="1517960"/>
            <a:ext cx="2827478" cy="1206240"/>
          </a:xfrm>
          <a:prstGeom prst="rect">
            <a:avLst/>
          </a:prstGeom>
          <a:noFill/>
          <a:ln>
            <a:noFill/>
          </a:ln>
        </p:spPr>
      </p:pic>
      <p:sp>
        <p:nvSpPr>
          <p:cNvPr id="8" name="Google Shape;313;g10054a4cc09_0_208">
            <a:extLst>
              <a:ext uri="{FF2B5EF4-FFF2-40B4-BE49-F238E27FC236}">
                <a16:creationId xmlns:a16="http://schemas.microsoft.com/office/drawing/2014/main" id="{54EF0DFB-AF05-1A9D-88E1-9F07090C9061}"/>
              </a:ext>
            </a:extLst>
          </p:cNvPr>
          <p:cNvSpPr/>
          <p:nvPr/>
        </p:nvSpPr>
        <p:spPr>
          <a:xfrm>
            <a:off x="3208047" y="1715297"/>
            <a:ext cx="1638754" cy="447676"/>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id" dirty="0"/>
              <a:t>Import library</a:t>
            </a:r>
            <a:endParaRPr dirty="0"/>
          </a:p>
        </p:txBody>
      </p:sp>
      <p:cxnSp>
        <p:nvCxnSpPr>
          <p:cNvPr id="9" name="Google Shape;314;g10054a4cc09_0_208">
            <a:extLst>
              <a:ext uri="{FF2B5EF4-FFF2-40B4-BE49-F238E27FC236}">
                <a16:creationId xmlns:a16="http://schemas.microsoft.com/office/drawing/2014/main" id="{14899A08-3111-8C18-0C26-3BAD7BA7E4DE}"/>
              </a:ext>
            </a:extLst>
          </p:cNvPr>
          <p:cNvCxnSpPr/>
          <p:nvPr/>
        </p:nvCxnSpPr>
        <p:spPr>
          <a:xfrm>
            <a:off x="2629942" y="1939135"/>
            <a:ext cx="559200" cy="0"/>
          </a:xfrm>
          <a:prstGeom prst="straightConnector1">
            <a:avLst/>
          </a:prstGeom>
          <a:noFill/>
          <a:ln w="19050" cap="flat" cmpd="sng">
            <a:solidFill>
              <a:srgbClr val="1EA4B2"/>
            </a:solidFill>
            <a:prstDash val="solid"/>
            <a:round/>
            <a:headEnd type="none" w="med" len="med"/>
            <a:tailEnd type="triangle" w="med" len="med"/>
          </a:ln>
        </p:spPr>
      </p:cxnSp>
      <p:cxnSp>
        <p:nvCxnSpPr>
          <p:cNvPr id="12" name="Google Shape;317;g10054a4cc09_0_208">
            <a:extLst>
              <a:ext uri="{FF2B5EF4-FFF2-40B4-BE49-F238E27FC236}">
                <a16:creationId xmlns:a16="http://schemas.microsoft.com/office/drawing/2014/main" id="{16E3186F-D08B-DA4D-5278-4E094EF21172}"/>
              </a:ext>
            </a:extLst>
          </p:cNvPr>
          <p:cNvCxnSpPr/>
          <p:nvPr/>
        </p:nvCxnSpPr>
        <p:spPr>
          <a:xfrm>
            <a:off x="3675680" y="4164035"/>
            <a:ext cx="559200" cy="0"/>
          </a:xfrm>
          <a:prstGeom prst="straightConnector1">
            <a:avLst/>
          </a:prstGeom>
          <a:noFill/>
          <a:ln w="19050" cap="flat" cmpd="sng">
            <a:solidFill>
              <a:srgbClr val="1EA4B2"/>
            </a:solidFill>
            <a:prstDash val="solid"/>
            <a:round/>
            <a:headEnd type="none" w="med" len="med"/>
            <a:tailEnd type="triangle" w="med" len="med"/>
          </a:ln>
        </p:spPr>
      </p:cxnSp>
      <p:pic>
        <p:nvPicPr>
          <p:cNvPr id="13" name="Google Shape;318;g10054a4cc09_0_208">
            <a:extLst>
              <a:ext uri="{FF2B5EF4-FFF2-40B4-BE49-F238E27FC236}">
                <a16:creationId xmlns:a16="http://schemas.microsoft.com/office/drawing/2014/main" id="{CEDF91CB-1B76-6BBE-8166-A80B58953D62}"/>
              </a:ext>
            </a:extLst>
          </p:cNvPr>
          <p:cNvPicPr preferRelativeResize="0"/>
          <p:nvPr/>
        </p:nvPicPr>
        <p:blipFill>
          <a:blip r:embed="rId3">
            <a:alphaModFix/>
          </a:blip>
          <a:stretch>
            <a:fillRect/>
          </a:stretch>
        </p:blipFill>
        <p:spPr>
          <a:xfrm>
            <a:off x="192023" y="2782571"/>
            <a:ext cx="5435038" cy="2557469"/>
          </a:xfrm>
          <a:prstGeom prst="rect">
            <a:avLst/>
          </a:prstGeom>
          <a:noFill/>
          <a:ln>
            <a:noFill/>
          </a:ln>
        </p:spPr>
      </p:pic>
      <p:sp>
        <p:nvSpPr>
          <p:cNvPr id="10" name="Google Shape;315;g10054a4cc09_0_208">
            <a:extLst>
              <a:ext uri="{FF2B5EF4-FFF2-40B4-BE49-F238E27FC236}">
                <a16:creationId xmlns:a16="http://schemas.microsoft.com/office/drawing/2014/main" id="{AC3AB67F-9597-8240-A5CD-2CEC27EF22C4}"/>
              </a:ext>
            </a:extLst>
          </p:cNvPr>
          <p:cNvSpPr/>
          <p:nvPr/>
        </p:nvSpPr>
        <p:spPr>
          <a:xfrm>
            <a:off x="5806107" y="2760712"/>
            <a:ext cx="792576" cy="447676"/>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id"/>
              <a:t>Data</a:t>
            </a:r>
            <a:endParaRPr/>
          </a:p>
        </p:txBody>
      </p:sp>
      <p:cxnSp>
        <p:nvCxnSpPr>
          <p:cNvPr id="11" name="Google Shape;316;g10054a4cc09_0_208">
            <a:extLst>
              <a:ext uri="{FF2B5EF4-FFF2-40B4-BE49-F238E27FC236}">
                <a16:creationId xmlns:a16="http://schemas.microsoft.com/office/drawing/2014/main" id="{09A8DB1C-2372-4A10-5BAB-EA7E752BECE4}"/>
              </a:ext>
            </a:extLst>
          </p:cNvPr>
          <p:cNvCxnSpPr/>
          <p:nvPr/>
        </p:nvCxnSpPr>
        <p:spPr>
          <a:xfrm>
            <a:off x="5228002" y="2984550"/>
            <a:ext cx="559200" cy="0"/>
          </a:xfrm>
          <a:prstGeom prst="straightConnector1">
            <a:avLst/>
          </a:prstGeom>
          <a:noFill/>
          <a:ln w="19050" cap="flat" cmpd="sng">
            <a:solidFill>
              <a:srgbClr val="1EA4B2"/>
            </a:solidFill>
            <a:prstDash val="solid"/>
            <a:round/>
            <a:headEnd type="none" w="med" len="med"/>
            <a:tailEnd type="triangle" w="med" len="med"/>
          </a:ln>
        </p:spPr>
      </p:cxnSp>
      <p:sp>
        <p:nvSpPr>
          <p:cNvPr id="14" name="Google Shape;319;g10054a4cc09_0_208">
            <a:extLst>
              <a:ext uri="{FF2B5EF4-FFF2-40B4-BE49-F238E27FC236}">
                <a16:creationId xmlns:a16="http://schemas.microsoft.com/office/drawing/2014/main" id="{76019747-618F-AC75-160D-E05A946E6798}"/>
              </a:ext>
            </a:extLst>
          </p:cNvPr>
          <p:cNvSpPr/>
          <p:nvPr/>
        </p:nvSpPr>
        <p:spPr>
          <a:xfrm>
            <a:off x="4771596" y="3766117"/>
            <a:ext cx="2376167" cy="447676"/>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id"/>
              <a:t>Menambah tanda “x”</a:t>
            </a:r>
            <a:endParaRPr/>
          </a:p>
        </p:txBody>
      </p:sp>
      <p:cxnSp>
        <p:nvCxnSpPr>
          <p:cNvPr id="15" name="Google Shape;320;g10054a4cc09_0_208">
            <a:extLst>
              <a:ext uri="{FF2B5EF4-FFF2-40B4-BE49-F238E27FC236}">
                <a16:creationId xmlns:a16="http://schemas.microsoft.com/office/drawing/2014/main" id="{425DE92F-D4E9-9808-B271-EC7FC050224C}"/>
              </a:ext>
            </a:extLst>
          </p:cNvPr>
          <p:cNvCxnSpPr/>
          <p:nvPr/>
        </p:nvCxnSpPr>
        <p:spPr>
          <a:xfrm>
            <a:off x="4193492" y="3989955"/>
            <a:ext cx="559200" cy="0"/>
          </a:xfrm>
          <a:prstGeom prst="straightConnector1">
            <a:avLst/>
          </a:prstGeom>
          <a:noFill/>
          <a:ln w="19050" cap="flat" cmpd="sng">
            <a:solidFill>
              <a:srgbClr val="1EA4B2"/>
            </a:solidFill>
            <a:prstDash val="solid"/>
            <a:round/>
            <a:headEnd type="none" w="med" len="med"/>
            <a:tailEnd type="triangle" w="med" len="med"/>
          </a:ln>
        </p:spPr>
      </p:cxnSp>
      <p:sp>
        <p:nvSpPr>
          <p:cNvPr id="16" name="Google Shape;321;g10054a4cc09_0_208">
            <a:extLst>
              <a:ext uri="{FF2B5EF4-FFF2-40B4-BE49-F238E27FC236}">
                <a16:creationId xmlns:a16="http://schemas.microsoft.com/office/drawing/2014/main" id="{F80DA7C0-2D1D-7611-4A91-373D767B29EF}"/>
              </a:ext>
            </a:extLst>
          </p:cNvPr>
          <p:cNvSpPr/>
          <p:nvPr/>
        </p:nvSpPr>
        <p:spPr>
          <a:xfrm>
            <a:off x="4771596" y="4693702"/>
            <a:ext cx="2458391" cy="447676"/>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id"/>
              <a:t>Visualisasi linegraph</a:t>
            </a:r>
            <a:endParaRPr/>
          </a:p>
        </p:txBody>
      </p:sp>
      <p:cxnSp>
        <p:nvCxnSpPr>
          <p:cNvPr id="17" name="Google Shape;322;g10054a4cc09_0_208">
            <a:extLst>
              <a:ext uri="{FF2B5EF4-FFF2-40B4-BE49-F238E27FC236}">
                <a16:creationId xmlns:a16="http://schemas.microsoft.com/office/drawing/2014/main" id="{44445405-ABBA-B17B-086B-CBDB4D8B472C}"/>
              </a:ext>
            </a:extLst>
          </p:cNvPr>
          <p:cNvCxnSpPr/>
          <p:nvPr/>
        </p:nvCxnSpPr>
        <p:spPr>
          <a:xfrm>
            <a:off x="4193492" y="4917540"/>
            <a:ext cx="559200" cy="0"/>
          </a:xfrm>
          <a:prstGeom prst="straightConnector1">
            <a:avLst/>
          </a:prstGeom>
          <a:noFill/>
          <a:ln w="19050" cap="flat" cmpd="sng">
            <a:solidFill>
              <a:srgbClr val="1EA4B2"/>
            </a:solidFill>
            <a:prstDash val="solid"/>
            <a:round/>
            <a:headEnd type="none" w="med" len="med"/>
            <a:tailEnd type="triangle" w="med" len="med"/>
          </a:ln>
        </p:spPr>
      </p:cxnSp>
      <p:pic>
        <p:nvPicPr>
          <p:cNvPr id="4" name="Google Shape;288;p46" descr="Chart, line chart&#10;&#10;Description automatically generated">
            <a:extLst>
              <a:ext uri="{FF2B5EF4-FFF2-40B4-BE49-F238E27FC236}">
                <a16:creationId xmlns:a16="http://schemas.microsoft.com/office/drawing/2014/main" id="{531842CB-752E-CF29-524D-605C3C5EC56D}"/>
              </a:ext>
            </a:extLst>
          </p:cNvPr>
          <p:cNvPicPr preferRelativeResize="0"/>
          <p:nvPr/>
        </p:nvPicPr>
        <p:blipFill rotWithShape="1">
          <a:blip r:embed="rId4">
            <a:alphaModFix/>
          </a:blip>
          <a:srcRect/>
          <a:stretch/>
        </p:blipFill>
        <p:spPr>
          <a:xfrm>
            <a:off x="7284720" y="1901962"/>
            <a:ext cx="4581598" cy="3330437"/>
          </a:xfrm>
          <a:prstGeom prst="rect">
            <a:avLst/>
          </a:prstGeom>
          <a:noFill/>
          <a:ln>
            <a:noFill/>
          </a:ln>
        </p:spPr>
      </p:pic>
    </p:spTree>
    <p:extLst>
      <p:ext uri="{BB962C8B-B14F-4D97-AF65-F5344CB8AC3E}">
        <p14:creationId xmlns:p14="http://schemas.microsoft.com/office/powerpoint/2010/main" val="11128916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F8B0B-16B2-BA17-B30E-9B894AF12F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C38B2B-25F8-4390-D116-30552415768E}"/>
              </a:ext>
            </a:extLst>
          </p:cNvPr>
          <p:cNvSpPr>
            <a:spLocks noGrp="1"/>
          </p:cNvSpPr>
          <p:nvPr>
            <p:ph type="title"/>
          </p:nvPr>
        </p:nvSpPr>
        <p:spPr>
          <a:xfrm>
            <a:off x="838200" y="365125"/>
            <a:ext cx="10515600" cy="915035"/>
          </a:xfrm>
        </p:spPr>
        <p:txBody>
          <a:bodyPr>
            <a:normAutofit/>
          </a:bodyPr>
          <a:lstStyle/>
          <a:p>
            <a:r>
              <a:rPr lang="en-US" b="1" dirty="0"/>
              <a:t>Line Graph</a:t>
            </a:r>
            <a:endParaRPr lang="en-US" dirty="0"/>
          </a:p>
        </p:txBody>
      </p:sp>
      <p:pic>
        <p:nvPicPr>
          <p:cNvPr id="6" name="Google Shape;304;p48" descr="Chart, line chart&#10;&#10;Description automatically generated">
            <a:extLst>
              <a:ext uri="{FF2B5EF4-FFF2-40B4-BE49-F238E27FC236}">
                <a16:creationId xmlns:a16="http://schemas.microsoft.com/office/drawing/2014/main" id="{9E3B7446-3EC3-AB81-23FF-EF182F6D3026}"/>
              </a:ext>
            </a:extLst>
          </p:cNvPr>
          <p:cNvPicPr preferRelativeResize="0"/>
          <p:nvPr/>
        </p:nvPicPr>
        <p:blipFill rotWithShape="1">
          <a:blip r:embed="rId2">
            <a:alphaModFix/>
          </a:blip>
          <a:srcRect/>
          <a:stretch/>
        </p:blipFill>
        <p:spPr>
          <a:xfrm>
            <a:off x="7959625" y="3656824"/>
            <a:ext cx="4008855" cy="2733815"/>
          </a:xfrm>
          <a:prstGeom prst="rect">
            <a:avLst/>
          </a:prstGeom>
          <a:noFill/>
          <a:ln>
            <a:noFill/>
          </a:ln>
        </p:spPr>
      </p:pic>
      <p:pic>
        <p:nvPicPr>
          <p:cNvPr id="18" name="Google Shape;330;g10054a4cacb_1_13">
            <a:extLst>
              <a:ext uri="{FF2B5EF4-FFF2-40B4-BE49-F238E27FC236}">
                <a16:creationId xmlns:a16="http://schemas.microsoft.com/office/drawing/2014/main" id="{987E61B1-A821-C64A-A8CA-82F2DC53C2E2}"/>
              </a:ext>
            </a:extLst>
          </p:cNvPr>
          <p:cNvPicPr preferRelativeResize="0"/>
          <p:nvPr/>
        </p:nvPicPr>
        <p:blipFill>
          <a:blip r:embed="rId3">
            <a:alphaModFix/>
          </a:blip>
          <a:stretch>
            <a:fillRect/>
          </a:stretch>
        </p:blipFill>
        <p:spPr>
          <a:xfrm>
            <a:off x="456900" y="1101400"/>
            <a:ext cx="3001313" cy="1075835"/>
          </a:xfrm>
          <a:prstGeom prst="rect">
            <a:avLst/>
          </a:prstGeom>
          <a:noFill/>
          <a:ln>
            <a:noFill/>
          </a:ln>
        </p:spPr>
      </p:pic>
      <p:sp>
        <p:nvSpPr>
          <p:cNvPr id="19" name="Google Shape;331;g10054a4cacb_1_13">
            <a:extLst>
              <a:ext uri="{FF2B5EF4-FFF2-40B4-BE49-F238E27FC236}">
                <a16:creationId xmlns:a16="http://schemas.microsoft.com/office/drawing/2014/main" id="{072CEF74-2ECA-3499-E486-3A4756148C5A}"/>
              </a:ext>
            </a:extLst>
          </p:cNvPr>
          <p:cNvSpPr/>
          <p:nvPr/>
        </p:nvSpPr>
        <p:spPr>
          <a:xfrm>
            <a:off x="3730923" y="1307757"/>
            <a:ext cx="1737052" cy="446295"/>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id" dirty="0"/>
              <a:t>Import library</a:t>
            </a:r>
            <a:endParaRPr dirty="0"/>
          </a:p>
        </p:txBody>
      </p:sp>
      <p:cxnSp>
        <p:nvCxnSpPr>
          <p:cNvPr id="20" name="Google Shape;332;g10054a4cacb_1_13">
            <a:extLst>
              <a:ext uri="{FF2B5EF4-FFF2-40B4-BE49-F238E27FC236}">
                <a16:creationId xmlns:a16="http://schemas.microsoft.com/office/drawing/2014/main" id="{2DFB4C50-DC22-E484-5EBA-C290B9EACC44}"/>
              </a:ext>
            </a:extLst>
          </p:cNvPr>
          <p:cNvCxnSpPr/>
          <p:nvPr/>
        </p:nvCxnSpPr>
        <p:spPr>
          <a:xfrm>
            <a:off x="3171723" y="1530905"/>
            <a:ext cx="559200" cy="0"/>
          </a:xfrm>
          <a:prstGeom prst="straightConnector1">
            <a:avLst/>
          </a:prstGeom>
          <a:noFill/>
          <a:ln w="19050" cap="flat" cmpd="sng">
            <a:solidFill>
              <a:srgbClr val="1EA4B2"/>
            </a:solidFill>
            <a:prstDash val="solid"/>
            <a:round/>
            <a:headEnd type="none" w="med" len="med"/>
            <a:tailEnd type="triangle" w="med" len="med"/>
          </a:ln>
        </p:spPr>
      </p:cxnSp>
      <p:pic>
        <p:nvPicPr>
          <p:cNvPr id="21" name="Google Shape;333;g10054a4cacb_1_13">
            <a:extLst>
              <a:ext uri="{FF2B5EF4-FFF2-40B4-BE49-F238E27FC236}">
                <a16:creationId xmlns:a16="http://schemas.microsoft.com/office/drawing/2014/main" id="{09FD4C73-D979-540B-B4EE-ACD4645E319D}"/>
              </a:ext>
            </a:extLst>
          </p:cNvPr>
          <p:cNvPicPr preferRelativeResize="0"/>
          <p:nvPr/>
        </p:nvPicPr>
        <p:blipFill>
          <a:blip r:embed="rId4">
            <a:alphaModFix/>
          </a:blip>
          <a:stretch>
            <a:fillRect/>
          </a:stretch>
        </p:blipFill>
        <p:spPr>
          <a:xfrm>
            <a:off x="456900" y="2137300"/>
            <a:ext cx="6547271" cy="2151250"/>
          </a:xfrm>
          <a:prstGeom prst="rect">
            <a:avLst/>
          </a:prstGeom>
          <a:noFill/>
          <a:ln>
            <a:noFill/>
          </a:ln>
        </p:spPr>
      </p:pic>
      <p:cxnSp>
        <p:nvCxnSpPr>
          <p:cNvPr id="22" name="Google Shape;334;g10054a4cacb_1_13">
            <a:extLst>
              <a:ext uri="{FF2B5EF4-FFF2-40B4-BE49-F238E27FC236}">
                <a16:creationId xmlns:a16="http://schemas.microsoft.com/office/drawing/2014/main" id="{A81CE8AC-AC67-08D1-AE12-6C82C1420461}"/>
              </a:ext>
            </a:extLst>
          </p:cNvPr>
          <p:cNvCxnSpPr/>
          <p:nvPr/>
        </p:nvCxnSpPr>
        <p:spPr>
          <a:xfrm>
            <a:off x="7001150" y="2177250"/>
            <a:ext cx="0" cy="619200"/>
          </a:xfrm>
          <a:prstGeom prst="straightConnector1">
            <a:avLst/>
          </a:prstGeom>
          <a:noFill/>
          <a:ln w="19050" cap="flat" cmpd="sng">
            <a:solidFill>
              <a:srgbClr val="1EA4B2"/>
            </a:solidFill>
            <a:prstDash val="solid"/>
            <a:round/>
            <a:headEnd type="none" w="med" len="med"/>
            <a:tailEnd type="none" w="med" len="med"/>
          </a:ln>
        </p:spPr>
      </p:cxnSp>
      <p:sp>
        <p:nvSpPr>
          <p:cNvPr id="23" name="Google Shape;335;g10054a4cacb_1_13">
            <a:extLst>
              <a:ext uri="{FF2B5EF4-FFF2-40B4-BE49-F238E27FC236}">
                <a16:creationId xmlns:a16="http://schemas.microsoft.com/office/drawing/2014/main" id="{8A2E6813-26D6-69BA-15AE-144C95804660}"/>
              </a:ext>
            </a:extLst>
          </p:cNvPr>
          <p:cNvSpPr/>
          <p:nvPr/>
        </p:nvSpPr>
        <p:spPr>
          <a:xfrm>
            <a:off x="7560350" y="2258202"/>
            <a:ext cx="840118" cy="446295"/>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id"/>
              <a:t>Data</a:t>
            </a:r>
            <a:endParaRPr/>
          </a:p>
        </p:txBody>
      </p:sp>
      <p:cxnSp>
        <p:nvCxnSpPr>
          <p:cNvPr id="24" name="Google Shape;336;g10054a4cacb_1_13">
            <a:extLst>
              <a:ext uri="{FF2B5EF4-FFF2-40B4-BE49-F238E27FC236}">
                <a16:creationId xmlns:a16="http://schemas.microsoft.com/office/drawing/2014/main" id="{2001E787-7946-23DF-CD97-28452D629BA7}"/>
              </a:ext>
            </a:extLst>
          </p:cNvPr>
          <p:cNvCxnSpPr/>
          <p:nvPr/>
        </p:nvCxnSpPr>
        <p:spPr>
          <a:xfrm>
            <a:off x="7001150" y="2481350"/>
            <a:ext cx="559200" cy="0"/>
          </a:xfrm>
          <a:prstGeom prst="straightConnector1">
            <a:avLst/>
          </a:prstGeom>
          <a:noFill/>
          <a:ln w="19050" cap="flat" cmpd="sng">
            <a:solidFill>
              <a:srgbClr val="1EA4B2"/>
            </a:solidFill>
            <a:prstDash val="solid"/>
            <a:round/>
            <a:headEnd type="none" w="med" len="med"/>
            <a:tailEnd type="triangle" w="med" len="med"/>
          </a:ln>
        </p:spPr>
      </p:cxnSp>
      <p:sp>
        <p:nvSpPr>
          <p:cNvPr id="25" name="Google Shape;337;g10054a4cacb_1_13">
            <a:extLst>
              <a:ext uri="{FF2B5EF4-FFF2-40B4-BE49-F238E27FC236}">
                <a16:creationId xmlns:a16="http://schemas.microsoft.com/office/drawing/2014/main" id="{D126C4BF-02D4-CBEB-0FE4-0E320DB1937A}"/>
              </a:ext>
            </a:extLst>
          </p:cNvPr>
          <p:cNvSpPr/>
          <p:nvPr/>
        </p:nvSpPr>
        <p:spPr>
          <a:xfrm>
            <a:off x="7170644" y="2954575"/>
            <a:ext cx="3151958" cy="446295"/>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id" dirty="0"/>
              <a:t>Memberi garis putus-putus</a:t>
            </a:r>
            <a:endParaRPr dirty="0"/>
          </a:p>
        </p:txBody>
      </p:sp>
      <p:cxnSp>
        <p:nvCxnSpPr>
          <p:cNvPr id="26" name="Google Shape;338;g10054a4cacb_1_13">
            <a:extLst>
              <a:ext uri="{FF2B5EF4-FFF2-40B4-BE49-F238E27FC236}">
                <a16:creationId xmlns:a16="http://schemas.microsoft.com/office/drawing/2014/main" id="{DF130FCC-AB1C-3F88-280C-AB63D492B1E7}"/>
              </a:ext>
            </a:extLst>
          </p:cNvPr>
          <p:cNvCxnSpPr/>
          <p:nvPr/>
        </p:nvCxnSpPr>
        <p:spPr>
          <a:xfrm>
            <a:off x="6604225" y="3292925"/>
            <a:ext cx="559200" cy="0"/>
          </a:xfrm>
          <a:prstGeom prst="straightConnector1">
            <a:avLst/>
          </a:prstGeom>
          <a:noFill/>
          <a:ln w="19050" cap="flat" cmpd="sng">
            <a:solidFill>
              <a:srgbClr val="1EA4B2"/>
            </a:solidFill>
            <a:prstDash val="solid"/>
            <a:round/>
            <a:headEnd type="none" w="med" len="med"/>
            <a:tailEnd type="triangle" w="med" len="med"/>
          </a:ln>
        </p:spPr>
      </p:cxnSp>
      <p:sp>
        <p:nvSpPr>
          <p:cNvPr id="27" name="Google Shape;339;g10054a4cacb_1_13">
            <a:extLst>
              <a:ext uri="{FF2B5EF4-FFF2-40B4-BE49-F238E27FC236}">
                <a16:creationId xmlns:a16="http://schemas.microsoft.com/office/drawing/2014/main" id="{D3B092DF-059D-60F5-1C77-D7027040E330}"/>
              </a:ext>
            </a:extLst>
          </p:cNvPr>
          <p:cNvSpPr/>
          <p:nvPr/>
        </p:nvSpPr>
        <p:spPr>
          <a:xfrm>
            <a:off x="7170644" y="3427802"/>
            <a:ext cx="948235" cy="446295"/>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id"/>
              <a:t>Judul</a:t>
            </a:r>
            <a:endParaRPr/>
          </a:p>
        </p:txBody>
      </p:sp>
      <p:cxnSp>
        <p:nvCxnSpPr>
          <p:cNvPr id="28" name="Google Shape;340;g10054a4cacb_1_13">
            <a:extLst>
              <a:ext uri="{FF2B5EF4-FFF2-40B4-BE49-F238E27FC236}">
                <a16:creationId xmlns:a16="http://schemas.microsoft.com/office/drawing/2014/main" id="{E69673EF-7A55-4314-872F-757CA0B89C0F}"/>
              </a:ext>
            </a:extLst>
          </p:cNvPr>
          <p:cNvCxnSpPr/>
          <p:nvPr/>
        </p:nvCxnSpPr>
        <p:spPr>
          <a:xfrm>
            <a:off x="6604225" y="3555175"/>
            <a:ext cx="559200" cy="0"/>
          </a:xfrm>
          <a:prstGeom prst="straightConnector1">
            <a:avLst/>
          </a:prstGeom>
          <a:noFill/>
          <a:ln w="19050" cap="flat" cmpd="sng">
            <a:solidFill>
              <a:srgbClr val="1EA4B2"/>
            </a:solidFill>
            <a:prstDash val="solid"/>
            <a:round/>
            <a:headEnd type="none" w="med" len="med"/>
            <a:tailEnd type="triangle" w="med" len="med"/>
          </a:ln>
        </p:spPr>
      </p:cxnSp>
      <p:sp>
        <p:nvSpPr>
          <p:cNvPr id="29" name="Google Shape;341;g10054a4cacb_1_13">
            <a:extLst>
              <a:ext uri="{FF2B5EF4-FFF2-40B4-BE49-F238E27FC236}">
                <a16:creationId xmlns:a16="http://schemas.microsoft.com/office/drawing/2014/main" id="{1573172A-28DE-96A0-5503-FBCA6F783278}"/>
              </a:ext>
            </a:extLst>
          </p:cNvPr>
          <p:cNvSpPr/>
          <p:nvPr/>
        </p:nvSpPr>
        <p:spPr>
          <a:xfrm>
            <a:off x="4508349" y="3524327"/>
            <a:ext cx="1974249" cy="446295"/>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id"/>
              <a:t>Nama label “Y”</a:t>
            </a:r>
            <a:endParaRPr/>
          </a:p>
        </p:txBody>
      </p:sp>
      <p:cxnSp>
        <p:nvCxnSpPr>
          <p:cNvPr id="30" name="Google Shape;342;g10054a4cacb_1_13">
            <a:extLst>
              <a:ext uri="{FF2B5EF4-FFF2-40B4-BE49-F238E27FC236}">
                <a16:creationId xmlns:a16="http://schemas.microsoft.com/office/drawing/2014/main" id="{0EE3AADC-36BC-898B-FE67-548DF3B9B4A7}"/>
              </a:ext>
            </a:extLst>
          </p:cNvPr>
          <p:cNvCxnSpPr/>
          <p:nvPr/>
        </p:nvCxnSpPr>
        <p:spPr>
          <a:xfrm>
            <a:off x="3949138" y="3747475"/>
            <a:ext cx="559200" cy="0"/>
          </a:xfrm>
          <a:prstGeom prst="straightConnector1">
            <a:avLst/>
          </a:prstGeom>
          <a:noFill/>
          <a:ln w="19050" cap="flat" cmpd="sng">
            <a:solidFill>
              <a:srgbClr val="1EA4B2"/>
            </a:solidFill>
            <a:prstDash val="solid"/>
            <a:round/>
            <a:headEnd type="none" w="med" len="med"/>
            <a:tailEnd type="triangle" w="med" len="med"/>
          </a:ln>
        </p:spPr>
      </p:cxnSp>
      <p:sp>
        <p:nvSpPr>
          <p:cNvPr id="31" name="Google Shape;343;g10054a4cacb_1_13">
            <a:extLst>
              <a:ext uri="{FF2B5EF4-FFF2-40B4-BE49-F238E27FC236}">
                <a16:creationId xmlns:a16="http://schemas.microsoft.com/office/drawing/2014/main" id="{4B862482-623E-8C54-0A47-B425798AB499}"/>
              </a:ext>
            </a:extLst>
          </p:cNvPr>
          <p:cNvSpPr/>
          <p:nvPr/>
        </p:nvSpPr>
        <p:spPr>
          <a:xfrm>
            <a:off x="4508338" y="3953828"/>
            <a:ext cx="1974249" cy="446295"/>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id" dirty="0"/>
              <a:t>Nama label “X”</a:t>
            </a:r>
            <a:endParaRPr dirty="0"/>
          </a:p>
        </p:txBody>
      </p:sp>
      <p:cxnSp>
        <p:nvCxnSpPr>
          <p:cNvPr id="32" name="Google Shape;344;g10054a4cacb_1_13">
            <a:extLst>
              <a:ext uri="{FF2B5EF4-FFF2-40B4-BE49-F238E27FC236}">
                <a16:creationId xmlns:a16="http://schemas.microsoft.com/office/drawing/2014/main" id="{9829B745-2467-7ED4-19AE-3D476D1A629F}"/>
              </a:ext>
            </a:extLst>
          </p:cNvPr>
          <p:cNvCxnSpPr>
            <a:cxnSpLocks/>
          </p:cNvCxnSpPr>
          <p:nvPr/>
        </p:nvCxnSpPr>
        <p:spPr>
          <a:xfrm>
            <a:off x="3949138" y="3979725"/>
            <a:ext cx="559200" cy="114755"/>
          </a:xfrm>
          <a:prstGeom prst="straightConnector1">
            <a:avLst/>
          </a:prstGeom>
          <a:noFill/>
          <a:ln w="19050" cap="flat" cmpd="sng">
            <a:solidFill>
              <a:srgbClr val="1EA4B2"/>
            </a:solidFill>
            <a:prstDash val="solid"/>
            <a:round/>
            <a:headEnd type="none" w="med" len="med"/>
            <a:tailEnd type="triangle" w="med" len="med"/>
          </a:ln>
        </p:spPr>
      </p:cxnSp>
    </p:spTree>
    <p:extLst>
      <p:ext uri="{BB962C8B-B14F-4D97-AF65-F5344CB8AC3E}">
        <p14:creationId xmlns:p14="http://schemas.microsoft.com/office/powerpoint/2010/main" val="31203847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27BB3-F052-B257-A346-1DEF1FA5D8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46E02E-6F2B-D526-E70F-289FAAD511C2}"/>
              </a:ext>
            </a:extLst>
          </p:cNvPr>
          <p:cNvSpPr>
            <a:spLocks noGrp="1"/>
          </p:cNvSpPr>
          <p:nvPr>
            <p:ph type="title"/>
          </p:nvPr>
        </p:nvSpPr>
        <p:spPr>
          <a:xfrm>
            <a:off x="838200" y="365125"/>
            <a:ext cx="10515600" cy="915035"/>
          </a:xfrm>
        </p:spPr>
        <p:txBody>
          <a:bodyPr>
            <a:normAutofit/>
          </a:bodyPr>
          <a:lstStyle/>
          <a:p>
            <a:r>
              <a:rPr lang="en-US" b="1" dirty="0"/>
              <a:t>Scatter Plot</a:t>
            </a:r>
            <a:endParaRPr lang="en-US" dirty="0"/>
          </a:p>
        </p:txBody>
      </p:sp>
      <p:sp>
        <p:nvSpPr>
          <p:cNvPr id="3" name="Content Placeholder 2">
            <a:extLst>
              <a:ext uri="{FF2B5EF4-FFF2-40B4-BE49-F238E27FC236}">
                <a16:creationId xmlns:a16="http://schemas.microsoft.com/office/drawing/2014/main" id="{5CB1F8F6-0AC2-4A71-C186-4777B605AF81}"/>
              </a:ext>
            </a:extLst>
          </p:cNvPr>
          <p:cNvSpPr>
            <a:spLocks noGrp="1"/>
          </p:cNvSpPr>
          <p:nvPr>
            <p:ph idx="1"/>
          </p:nvPr>
        </p:nvSpPr>
        <p:spPr>
          <a:xfrm>
            <a:off x="838200" y="1825625"/>
            <a:ext cx="6446520" cy="4351338"/>
          </a:xfrm>
        </p:spPr>
        <p:txBody>
          <a:bodyPr>
            <a:normAutofit lnSpcReduction="10000"/>
          </a:bodyPr>
          <a:lstStyle/>
          <a:p>
            <a:pPr marL="457200" lvl="0" indent="-336550">
              <a:lnSpc>
                <a:spcPct val="115000"/>
              </a:lnSpc>
              <a:spcBef>
                <a:spcPts val="0"/>
              </a:spcBef>
              <a:buClr>
                <a:schemeClr val="dk1"/>
              </a:buClr>
              <a:buSzPts val="1700"/>
              <a:buChar char="●"/>
            </a:pPr>
            <a:r>
              <a:rPr lang="en-US" sz="2400" b="1" dirty="0">
                <a:latin typeface="Arial"/>
                <a:ea typeface="Arial"/>
                <a:cs typeface="Arial"/>
                <a:sym typeface="Arial"/>
              </a:rPr>
              <a:t>Scatter plot</a:t>
            </a:r>
            <a:r>
              <a:rPr lang="en-US" sz="2400" dirty="0">
                <a:latin typeface="Arial"/>
                <a:ea typeface="Arial"/>
                <a:cs typeface="Arial"/>
                <a:sym typeface="Arial"/>
              </a:rPr>
              <a:t> </a:t>
            </a:r>
            <a:r>
              <a:rPr lang="en-US" sz="2400" dirty="0" err="1">
                <a:latin typeface="Arial"/>
                <a:ea typeface="Arial"/>
                <a:cs typeface="Arial"/>
                <a:sym typeface="Arial"/>
              </a:rPr>
              <a:t>berfungsi</a:t>
            </a:r>
            <a:r>
              <a:rPr lang="en-US" sz="2400" dirty="0">
                <a:latin typeface="Arial"/>
                <a:ea typeface="Arial"/>
                <a:cs typeface="Arial"/>
                <a:sym typeface="Arial"/>
              </a:rPr>
              <a:t> </a:t>
            </a:r>
            <a:r>
              <a:rPr lang="en-US" sz="2400" dirty="0" err="1">
                <a:latin typeface="Arial"/>
                <a:ea typeface="Arial"/>
                <a:cs typeface="Arial"/>
                <a:sym typeface="Arial"/>
              </a:rPr>
              <a:t>baik</a:t>
            </a:r>
            <a:r>
              <a:rPr lang="en-US" sz="2400" dirty="0">
                <a:latin typeface="Arial"/>
                <a:ea typeface="Arial"/>
                <a:cs typeface="Arial"/>
                <a:sym typeface="Arial"/>
              </a:rPr>
              <a:t> </a:t>
            </a:r>
            <a:r>
              <a:rPr lang="en-US" sz="2400" dirty="0" err="1">
                <a:latin typeface="Arial"/>
                <a:ea typeface="Arial"/>
                <a:cs typeface="Arial"/>
                <a:sym typeface="Arial"/>
              </a:rPr>
              <a:t>untuk</a:t>
            </a:r>
            <a:r>
              <a:rPr lang="en-US" sz="2400" dirty="0">
                <a:latin typeface="Arial"/>
                <a:ea typeface="Arial"/>
                <a:cs typeface="Arial"/>
                <a:sym typeface="Arial"/>
              </a:rPr>
              <a:t> data </a:t>
            </a:r>
            <a:r>
              <a:rPr lang="en-US" sz="2400" dirty="0" err="1">
                <a:latin typeface="Arial"/>
                <a:ea typeface="Arial"/>
                <a:cs typeface="Arial"/>
                <a:sym typeface="Arial"/>
              </a:rPr>
              <a:t>dengan</a:t>
            </a:r>
            <a:r>
              <a:rPr lang="en-US" sz="2400" dirty="0">
                <a:latin typeface="Arial"/>
                <a:ea typeface="Arial"/>
                <a:cs typeface="Arial"/>
                <a:sym typeface="Arial"/>
              </a:rPr>
              <a:t> dua </a:t>
            </a:r>
            <a:r>
              <a:rPr lang="en-US" sz="2400" dirty="0" err="1">
                <a:latin typeface="Arial"/>
                <a:ea typeface="Arial"/>
                <a:cs typeface="Arial"/>
                <a:sym typeface="Arial"/>
              </a:rPr>
              <a:t>komponen</a:t>
            </a:r>
            <a:r>
              <a:rPr lang="en-US" sz="2400" dirty="0">
                <a:latin typeface="Arial"/>
                <a:ea typeface="Arial"/>
                <a:cs typeface="Arial"/>
                <a:sym typeface="Arial"/>
              </a:rPr>
              <a:t> </a:t>
            </a:r>
            <a:r>
              <a:rPr lang="en-US" sz="2400" dirty="0" err="1">
                <a:latin typeface="Arial"/>
                <a:ea typeface="Arial"/>
                <a:cs typeface="Arial"/>
                <a:sym typeface="Arial"/>
              </a:rPr>
              <a:t>numerik</a:t>
            </a:r>
            <a:r>
              <a:rPr lang="en-US" sz="2400" dirty="0">
                <a:latin typeface="Arial"/>
                <a:ea typeface="Arial"/>
                <a:cs typeface="Arial"/>
                <a:sym typeface="Arial"/>
              </a:rPr>
              <a:t>.</a:t>
            </a:r>
          </a:p>
          <a:p>
            <a:pPr marL="457200" lvl="0" indent="-336550">
              <a:lnSpc>
                <a:spcPct val="115000"/>
              </a:lnSpc>
              <a:spcBef>
                <a:spcPts val="0"/>
              </a:spcBef>
              <a:buClr>
                <a:schemeClr val="dk1"/>
              </a:buClr>
              <a:buSzPts val="1700"/>
              <a:buChar char="●"/>
            </a:pPr>
            <a:r>
              <a:rPr lang="en-US" sz="2400" b="1" dirty="0">
                <a:latin typeface="Arial"/>
                <a:ea typeface="Arial"/>
                <a:cs typeface="Arial"/>
                <a:sym typeface="Arial"/>
              </a:rPr>
              <a:t>Scatter plot</a:t>
            </a:r>
            <a:r>
              <a:rPr lang="en-US" sz="2400" dirty="0">
                <a:latin typeface="Arial"/>
                <a:ea typeface="Arial"/>
                <a:cs typeface="Arial"/>
                <a:sym typeface="Arial"/>
              </a:rPr>
              <a:t> </a:t>
            </a:r>
            <a:r>
              <a:rPr lang="en-US" sz="2400" dirty="0" err="1">
                <a:latin typeface="Arial"/>
                <a:ea typeface="Arial"/>
                <a:cs typeface="Arial"/>
                <a:sym typeface="Arial"/>
              </a:rPr>
              <a:t>dapat</a:t>
            </a:r>
            <a:r>
              <a:rPr lang="en-US" sz="2400" dirty="0">
                <a:latin typeface="Arial"/>
                <a:ea typeface="Arial"/>
                <a:cs typeface="Arial"/>
                <a:sym typeface="Arial"/>
              </a:rPr>
              <a:t> </a:t>
            </a:r>
            <a:r>
              <a:rPr lang="en-US" sz="2400" dirty="0" err="1">
                <a:latin typeface="Arial"/>
                <a:ea typeface="Arial"/>
                <a:cs typeface="Arial"/>
                <a:sym typeface="Arial"/>
              </a:rPr>
              <a:t>memberikan</a:t>
            </a:r>
            <a:r>
              <a:rPr lang="en-US" sz="2400" dirty="0">
                <a:latin typeface="Arial"/>
                <a:ea typeface="Arial"/>
                <a:cs typeface="Arial"/>
                <a:sym typeface="Arial"/>
              </a:rPr>
              <a:t> </a:t>
            </a:r>
            <a:r>
              <a:rPr lang="en-US" sz="2400" dirty="0" err="1">
                <a:latin typeface="Arial"/>
                <a:ea typeface="Arial"/>
                <a:cs typeface="Arial"/>
                <a:sym typeface="Arial"/>
              </a:rPr>
              <a:t>informasi</a:t>
            </a:r>
            <a:r>
              <a:rPr lang="en-US" sz="2400" dirty="0">
                <a:latin typeface="Arial"/>
                <a:ea typeface="Arial"/>
                <a:cs typeface="Arial"/>
                <a:sym typeface="Arial"/>
              </a:rPr>
              <a:t> yang </a:t>
            </a:r>
            <a:r>
              <a:rPr lang="en-US" sz="2400" dirty="0" err="1">
                <a:latin typeface="Arial"/>
                <a:ea typeface="Arial"/>
                <a:cs typeface="Arial"/>
                <a:sym typeface="Arial"/>
              </a:rPr>
              <a:t>berguna</a:t>
            </a:r>
            <a:r>
              <a:rPr lang="en-US" sz="2400" dirty="0">
                <a:latin typeface="Arial"/>
                <a:ea typeface="Arial"/>
                <a:cs typeface="Arial"/>
                <a:sym typeface="Arial"/>
              </a:rPr>
              <a:t> </a:t>
            </a:r>
            <a:r>
              <a:rPr lang="en-US" sz="2400" dirty="0" err="1">
                <a:latin typeface="Arial"/>
                <a:ea typeface="Arial"/>
                <a:cs typeface="Arial"/>
                <a:sym typeface="Arial"/>
              </a:rPr>
              <a:t>terutama</a:t>
            </a:r>
            <a:r>
              <a:rPr lang="en-US" sz="2400" dirty="0">
                <a:latin typeface="Arial"/>
                <a:ea typeface="Arial"/>
                <a:cs typeface="Arial"/>
                <a:sym typeface="Arial"/>
              </a:rPr>
              <a:t> </a:t>
            </a:r>
            <a:r>
              <a:rPr lang="en-US" sz="2400" dirty="0" err="1">
                <a:latin typeface="Arial"/>
                <a:ea typeface="Arial"/>
                <a:cs typeface="Arial"/>
                <a:sym typeface="Arial"/>
              </a:rPr>
              <a:t>mengenai</a:t>
            </a:r>
            <a:r>
              <a:rPr lang="en-US" sz="2400" dirty="0">
                <a:latin typeface="Arial"/>
                <a:ea typeface="Arial"/>
                <a:cs typeface="Arial"/>
                <a:sym typeface="Arial"/>
              </a:rPr>
              <a:t> </a:t>
            </a:r>
            <a:r>
              <a:rPr lang="en-US" sz="2400" dirty="0" err="1">
                <a:latin typeface="Arial"/>
                <a:ea typeface="Arial"/>
                <a:cs typeface="Arial"/>
                <a:sym typeface="Arial"/>
              </a:rPr>
              <a:t>pola</a:t>
            </a:r>
            <a:r>
              <a:rPr lang="en-US" sz="2400" dirty="0">
                <a:latin typeface="Arial"/>
                <a:ea typeface="Arial"/>
                <a:cs typeface="Arial"/>
                <a:sym typeface="Arial"/>
              </a:rPr>
              <a:t> </a:t>
            </a:r>
            <a:r>
              <a:rPr lang="en-US" sz="2400" dirty="0" err="1">
                <a:latin typeface="Arial"/>
                <a:ea typeface="Arial"/>
                <a:cs typeface="Arial"/>
                <a:sym typeface="Arial"/>
              </a:rPr>
              <a:t>atau</a:t>
            </a:r>
            <a:r>
              <a:rPr lang="en-US" sz="2400" dirty="0">
                <a:latin typeface="Arial"/>
                <a:ea typeface="Arial"/>
                <a:cs typeface="Arial"/>
                <a:sym typeface="Arial"/>
              </a:rPr>
              <a:t> </a:t>
            </a:r>
            <a:r>
              <a:rPr lang="en-US" sz="2400" dirty="0" err="1">
                <a:latin typeface="Arial"/>
                <a:ea typeface="Arial"/>
                <a:cs typeface="Arial"/>
                <a:sym typeface="Arial"/>
              </a:rPr>
              <a:t>pencilan</a:t>
            </a:r>
            <a:r>
              <a:rPr lang="en-US" sz="2400" dirty="0">
                <a:latin typeface="Arial"/>
                <a:ea typeface="Arial"/>
                <a:cs typeface="Arial"/>
                <a:sym typeface="Arial"/>
              </a:rPr>
              <a:t>. </a:t>
            </a:r>
          </a:p>
          <a:p>
            <a:pPr marL="457200" lvl="0" indent="-336550">
              <a:lnSpc>
                <a:spcPct val="115000"/>
              </a:lnSpc>
              <a:spcBef>
                <a:spcPts val="0"/>
              </a:spcBef>
              <a:buClr>
                <a:schemeClr val="dk1"/>
              </a:buClr>
              <a:buSzPts val="1700"/>
              <a:buChar char="●"/>
            </a:pPr>
            <a:r>
              <a:rPr lang="en-US" sz="2400" dirty="0">
                <a:latin typeface="Arial"/>
                <a:ea typeface="Arial"/>
                <a:cs typeface="Arial"/>
                <a:sym typeface="Arial"/>
              </a:rPr>
              <a:t>Pada </a:t>
            </a:r>
            <a:r>
              <a:rPr lang="en-US" sz="2400" dirty="0" err="1">
                <a:latin typeface="Arial"/>
                <a:ea typeface="Arial"/>
                <a:cs typeface="Arial"/>
                <a:sym typeface="Arial"/>
              </a:rPr>
              <a:t>contoh</a:t>
            </a:r>
            <a:r>
              <a:rPr lang="en-US" sz="2400" dirty="0">
                <a:latin typeface="Arial"/>
                <a:ea typeface="Arial"/>
                <a:cs typeface="Arial"/>
                <a:sym typeface="Arial"/>
              </a:rPr>
              <a:t> di </a:t>
            </a:r>
            <a:r>
              <a:rPr lang="en-US" sz="2400" dirty="0" err="1">
                <a:latin typeface="Arial"/>
                <a:ea typeface="Arial"/>
                <a:cs typeface="Arial"/>
                <a:sym typeface="Arial"/>
              </a:rPr>
              <a:t>bawah</a:t>
            </a:r>
            <a:r>
              <a:rPr lang="en-US" sz="2400" dirty="0">
                <a:latin typeface="Arial"/>
                <a:ea typeface="Arial"/>
                <a:cs typeface="Arial"/>
                <a:sym typeface="Arial"/>
              </a:rPr>
              <a:t> </a:t>
            </a:r>
            <a:r>
              <a:rPr lang="en-US" sz="2400" dirty="0" err="1">
                <a:latin typeface="Arial"/>
                <a:ea typeface="Arial"/>
                <a:cs typeface="Arial"/>
                <a:sym typeface="Arial"/>
              </a:rPr>
              <a:t>ini</a:t>
            </a:r>
            <a:r>
              <a:rPr lang="en-US" sz="2400" dirty="0">
                <a:latin typeface="Arial"/>
                <a:ea typeface="Arial"/>
                <a:cs typeface="Arial"/>
                <a:sym typeface="Arial"/>
              </a:rPr>
              <a:t>, </a:t>
            </a:r>
            <a:r>
              <a:rPr lang="en-US" sz="2400" dirty="0" err="1">
                <a:latin typeface="Arial"/>
                <a:ea typeface="Arial"/>
                <a:cs typeface="Arial"/>
                <a:sym typeface="Arial"/>
              </a:rPr>
              <a:t>kita</a:t>
            </a:r>
            <a:r>
              <a:rPr lang="en-US" sz="2400" dirty="0">
                <a:latin typeface="Arial"/>
                <a:ea typeface="Arial"/>
                <a:cs typeface="Arial"/>
                <a:sym typeface="Arial"/>
              </a:rPr>
              <a:t> </a:t>
            </a:r>
            <a:r>
              <a:rPr lang="en-US" sz="2400" dirty="0" err="1">
                <a:latin typeface="Arial"/>
                <a:ea typeface="Arial"/>
                <a:cs typeface="Arial"/>
                <a:sym typeface="Arial"/>
              </a:rPr>
              <a:t>memiliki</a:t>
            </a:r>
            <a:r>
              <a:rPr lang="en-US" sz="2400" dirty="0">
                <a:latin typeface="Arial"/>
                <a:ea typeface="Arial"/>
                <a:cs typeface="Arial"/>
                <a:sym typeface="Arial"/>
              </a:rPr>
              <a:t> data yang </a:t>
            </a:r>
            <a:r>
              <a:rPr lang="en-US" sz="2400" dirty="0" err="1">
                <a:latin typeface="Arial"/>
                <a:ea typeface="Arial"/>
                <a:cs typeface="Arial"/>
                <a:sym typeface="Arial"/>
              </a:rPr>
              <a:t>terkait</a:t>
            </a:r>
            <a:r>
              <a:rPr lang="en-US" sz="2400" dirty="0">
                <a:latin typeface="Arial"/>
                <a:ea typeface="Arial"/>
                <a:cs typeface="Arial"/>
                <a:sym typeface="Arial"/>
              </a:rPr>
              <a:t> </a:t>
            </a:r>
            <a:r>
              <a:rPr lang="en-US" sz="2400" dirty="0" err="1">
                <a:latin typeface="Arial"/>
                <a:ea typeface="Arial"/>
                <a:cs typeface="Arial"/>
                <a:sym typeface="Arial"/>
              </a:rPr>
              <a:t>dengan</a:t>
            </a:r>
            <a:r>
              <a:rPr lang="en-US" sz="2400" dirty="0">
                <a:latin typeface="Arial"/>
                <a:ea typeface="Arial"/>
                <a:cs typeface="Arial"/>
                <a:sym typeface="Arial"/>
              </a:rPr>
              <a:t> </a:t>
            </a:r>
            <a:r>
              <a:rPr lang="en-US" sz="2400" dirty="0" err="1">
                <a:latin typeface="Arial"/>
                <a:ea typeface="Arial"/>
                <a:cs typeface="Arial"/>
                <a:sym typeface="Arial"/>
              </a:rPr>
              <a:t>perbedaan</a:t>
            </a:r>
            <a:r>
              <a:rPr lang="en-US" sz="2400" dirty="0">
                <a:latin typeface="Arial"/>
                <a:ea typeface="Arial"/>
                <a:cs typeface="Arial"/>
                <a:sym typeface="Arial"/>
              </a:rPr>
              <a:t> lemon dan lime </a:t>
            </a:r>
            <a:r>
              <a:rPr lang="en-US" sz="2400" dirty="0" err="1">
                <a:latin typeface="Arial"/>
                <a:ea typeface="Arial"/>
                <a:cs typeface="Arial"/>
                <a:sym typeface="Arial"/>
              </a:rPr>
              <a:t>berdasarkan</a:t>
            </a:r>
            <a:r>
              <a:rPr lang="en-US" sz="2400" dirty="0">
                <a:latin typeface="Arial"/>
                <a:ea typeface="Arial"/>
                <a:cs typeface="Arial"/>
                <a:sym typeface="Arial"/>
              </a:rPr>
              <a:t> </a:t>
            </a:r>
            <a:r>
              <a:rPr lang="en-US" sz="2400" dirty="0" err="1">
                <a:latin typeface="Arial"/>
                <a:ea typeface="Arial"/>
                <a:cs typeface="Arial"/>
                <a:sym typeface="Arial"/>
              </a:rPr>
              <a:t>karakteristik</a:t>
            </a:r>
            <a:r>
              <a:rPr lang="en-US" sz="2400" dirty="0">
                <a:latin typeface="Arial"/>
                <a:ea typeface="Arial"/>
                <a:cs typeface="Arial"/>
                <a:sym typeface="Arial"/>
              </a:rPr>
              <a:t> </a:t>
            </a:r>
            <a:r>
              <a:rPr lang="en-US" sz="2400" dirty="0" err="1">
                <a:latin typeface="Arial"/>
                <a:ea typeface="Arial"/>
                <a:cs typeface="Arial"/>
                <a:sym typeface="Arial"/>
              </a:rPr>
              <a:t>fisiologis</a:t>
            </a:r>
            <a:r>
              <a:rPr lang="en-US" sz="2400" dirty="0">
                <a:latin typeface="Arial"/>
                <a:ea typeface="Arial"/>
                <a:cs typeface="Arial"/>
                <a:sym typeface="Arial"/>
              </a:rPr>
              <a:t>.</a:t>
            </a:r>
          </a:p>
          <a:p>
            <a:pPr marL="914400" lvl="1" indent="-336550">
              <a:lnSpc>
                <a:spcPct val="115000"/>
              </a:lnSpc>
              <a:spcBef>
                <a:spcPts val="0"/>
              </a:spcBef>
              <a:buClr>
                <a:schemeClr val="dk1"/>
              </a:buClr>
              <a:buSzPts val="1700"/>
              <a:buChar char="○"/>
            </a:pPr>
            <a:r>
              <a:rPr lang="en-US" dirty="0">
                <a:latin typeface="Arial"/>
                <a:ea typeface="Arial"/>
                <a:cs typeface="Arial"/>
                <a:sym typeface="Arial"/>
              </a:rPr>
              <a:t>Berat (g)</a:t>
            </a:r>
          </a:p>
          <a:p>
            <a:pPr marL="914400" lvl="1" indent="-336550">
              <a:lnSpc>
                <a:spcPct val="115000"/>
              </a:lnSpc>
              <a:spcBef>
                <a:spcPts val="0"/>
              </a:spcBef>
              <a:buClr>
                <a:schemeClr val="dk1"/>
              </a:buClr>
              <a:buSzPts val="1700"/>
              <a:buChar char="○"/>
            </a:pPr>
            <a:r>
              <a:rPr lang="en-US" dirty="0">
                <a:latin typeface="Arial"/>
                <a:ea typeface="Arial"/>
                <a:cs typeface="Arial"/>
                <a:sym typeface="Arial"/>
              </a:rPr>
              <a:t>Diameter (cm)</a:t>
            </a:r>
          </a:p>
        </p:txBody>
      </p:sp>
      <p:pic>
        <p:nvPicPr>
          <p:cNvPr id="5" name="Google Shape;352;p49">
            <a:extLst>
              <a:ext uri="{FF2B5EF4-FFF2-40B4-BE49-F238E27FC236}">
                <a16:creationId xmlns:a16="http://schemas.microsoft.com/office/drawing/2014/main" id="{0122DEE7-213E-CC55-1910-07372E79965F}"/>
              </a:ext>
            </a:extLst>
          </p:cNvPr>
          <p:cNvPicPr preferRelativeResize="0"/>
          <p:nvPr/>
        </p:nvPicPr>
        <p:blipFill rotWithShape="1">
          <a:blip r:embed="rId2">
            <a:alphaModFix/>
          </a:blip>
          <a:srcRect/>
          <a:stretch/>
        </p:blipFill>
        <p:spPr>
          <a:xfrm>
            <a:off x="7208520" y="1825625"/>
            <a:ext cx="4505960" cy="3271142"/>
          </a:xfrm>
          <a:prstGeom prst="rect">
            <a:avLst/>
          </a:prstGeom>
          <a:noFill/>
          <a:ln>
            <a:noFill/>
          </a:ln>
        </p:spPr>
      </p:pic>
    </p:spTree>
    <p:extLst>
      <p:ext uri="{BB962C8B-B14F-4D97-AF65-F5344CB8AC3E}">
        <p14:creationId xmlns:p14="http://schemas.microsoft.com/office/powerpoint/2010/main" val="28087033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63AB5-60F0-B6F7-DD39-8910CDAD2C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83B0F5-EA0F-2F3B-F645-05D7FF716EA3}"/>
              </a:ext>
            </a:extLst>
          </p:cNvPr>
          <p:cNvSpPr>
            <a:spLocks noGrp="1"/>
          </p:cNvSpPr>
          <p:nvPr>
            <p:ph type="title"/>
          </p:nvPr>
        </p:nvSpPr>
        <p:spPr>
          <a:xfrm>
            <a:off x="838200" y="365125"/>
            <a:ext cx="10515600" cy="915035"/>
          </a:xfrm>
        </p:spPr>
        <p:txBody>
          <a:bodyPr>
            <a:normAutofit/>
          </a:bodyPr>
          <a:lstStyle/>
          <a:p>
            <a:r>
              <a:rPr lang="en-US" b="1" dirty="0"/>
              <a:t>Scatter Plot</a:t>
            </a:r>
            <a:endParaRPr lang="en-US" dirty="0"/>
          </a:p>
        </p:txBody>
      </p:sp>
      <p:pic>
        <p:nvPicPr>
          <p:cNvPr id="5" name="Google Shape;352;p49">
            <a:extLst>
              <a:ext uri="{FF2B5EF4-FFF2-40B4-BE49-F238E27FC236}">
                <a16:creationId xmlns:a16="http://schemas.microsoft.com/office/drawing/2014/main" id="{93A2BB1C-19A6-BE00-CEA5-0CC7160FCAF9}"/>
              </a:ext>
            </a:extLst>
          </p:cNvPr>
          <p:cNvPicPr preferRelativeResize="0"/>
          <p:nvPr/>
        </p:nvPicPr>
        <p:blipFill rotWithShape="1">
          <a:blip r:embed="rId2">
            <a:alphaModFix/>
          </a:blip>
          <a:srcRect/>
          <a:stretch/>
        </p:blipFill>
        <p:spPr>
          <a:xfrm>
            <a:off x="7258333" y="2646591"/>
            <a:ext cx="4505960" cy="3271142"/>
          </a:xfrm>
          <a:prstGeom prst="rect">
            <a:avLst/>
          </a:prstGeom>
          <a:noFill/>
          <a:ln>
            <a:noFill/>
          </a:ln>
        </p:spPr>
      </p:pic>
      <p:pic>
        <p:nvPicPr>
          <p:cNvPr id="8" name="Google Shape;360;g10054a4cacb_1_19">
            <a:extLst>
              <a:ext uri="{FF2B5EF4-FFF2-40B4-BE49-F238E27FC236}">
                <a16:creationId xmlns:a16="http://schemas.microsoft.com/office/drawing/2014/main" id="{39F311C7-4CDB-C718-3A61-27ABF43F9A42}"/>
              </a:ext>
            </a:extLst>
          </p:cNvPr>
          <p:cNvPicPr preferRelativeResize="0"/>
          <p:nvPr/>
        </p:nvPicPr>
        <p:blipFill>
          <a:blip r:embed="rId3">
            <a:alphaModFix/>
          </a:blip>
          <a:stretch>
            <a:fillRect/>
          </a:stretch>
        </p:blipFill>
        <p:spPr>
          <a:xfrm>
            <a:off x="438807" y="1405562"/>
            <a:ext cx="2557424" cy="985609"/>
          </a:xfrm>
          <a:prstGeom prst="rect">
            <a:avLst/>
          </a:prstGeom>
          <a:noFill/>
          <a:ln>
            <a:noFill/>
          </a:ln>
        </p:spPr>
      </p:pic>
      <p:sp>
        <p:nvSpPr>
          <p:cNvPr id="9" name="Google Shape;361;g10054a4cacb_1_19">
            <a:extLst>
              <a:ext uri="{FF2B5EF4-FFF2-40B4-BE49-F238E27FC236}">
                <a16:creationId xmlns:a16="http://schemas.microsoft.com/office/drawing/2014/main" id="{4DBB2E95-4E03-F0D3-BA46-39EAACF5C7E2}"/>
              </a:ext>
            </a:extLst>
          </p:cNvPr>
          <p:cNvSpPr/>
          <p:nvPr/>
        </p:nvSpPr>
        <p:spPr>
          <a:xfrm>
            <a:off x="3513738" y="1567681"/>
            <a:ext cx="1823012" cy="394569"/>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id" dirty="0"/>
              <a:t>Import library</a:t>
            </a:r>
            <a:endParaRPr dirty="0"/>
          </a:p>
        </p:txBody>
      </p:sp>
      <p:cxnSp>
        <p:nvCxnSpPr>
          <p:cNvPr id="10" name="Google Shape;362;g10054a4cacb_1_19">
            <a:extLst>
              <a:ext uri="{FF2B5EF4-FFF2-40B4-BE49-F238E27FC236}">
                <a16:creationId xmlns:a16="http://schemas.microsoft.com/office/drawing/2014/main" id="{B2E0A28F-6AD6-CCF8-824D-D2DBD0103127}"/>
              </a:ext>
            </a:extLst>
          </p:cNvPr>
          <p:cNvCxnSpPr>
            <a:cxnSpLocks/>
          </p:cNvCxnSpPr>
          <p:nvPr/>
        </p:nvCxnSpPr>
        <p:spPr>
          <a:xfrm>
            <a:off x="2885307" y="1826737"/>
            <a:ext cx="628431" cy="0"/>
          </a:xfrm>
          <a:prstGeom prst="straightConnector1">
            <a:avLst/>
          </a:prstGeom>
          <a:noFill/>
          <a:ln w="19050" cap="flat" cmpd="sng">
            <a:solidFill>
              <a:srgbClr val="1EA4B2"/>
            </a:solidFill>
            <a:prstDash val="solid"/>
            <a:round/>
            <a:headEnd type="none" w="med" len="med"/>
            <a:tailEnd type="triangle" w="med" len="med"/>
          </a:ln>
        </p:spPr>
      </p:cxnSp>
      <p:pic>
        <p:nvPicPr>
          <p:cNvPr id="11" name="Google Shape;363;g10054a4cacb_1_19">
            <a:extLst>
              <a:ext uri="{FF2B5EF4-FFF2-40B4-BE49-F238E27FC236}">
                <a16:creationId xmlns:a16="http://schemas.microsoft.com/office/drawing/2014/main" id="{D54A8522-5E62-E2BA-04ED-070964294A90}"/>
              </a:ext>
            </a:extLst>
          </p:cNvPr>
          <p:cNvPicPr preferRelativeResize="0"/>
          <p:nvPr/>
        </p:nvPicPr>
        <p:blipFill>
          <a:blip r:embed="rId4">
            <a:alphaModFix/>
          </a:blip>
          <a:stretch>
            <a:fillRect/>
          </a:stretch>
        </p:blipFill>
        <p:spPr>
          <a:xfrm>
            <a:off x="477520" y="2508828"/>
            <a:ext cx="6769713" cy="2679518"/>
          </a:xfrm>
          <a:prstGeom prst="rect">
            <a:avLst/>
          </a:prstGeom>
          <a:noFill/>
          <a:ln>
            <a:noFill/>
          </a:ln>
        </p:spPr>
      </p:pic>
      <p:cxnSp>
        <p:nvCxnSpPr>
          <p:cNvPr id="12" name="Google Shape;364;g10054a4cacb_1_19">
            <a:extLst>
              <a:ext uri="{FF2B5EF4-FFF2-40B4-BE49-F238E27FC236}">
                <a16:creationId xmlns:a16="http://schemas.microsoft.com/office/drawing/2014/main" id="{DA27C69F-BF21-A31E-D754-88B49860D340}"/>
              </a:ext>
            </a:extLst>
          </p:cNvPr>
          <p:cNvCxnSpPr>
            <a:cxnSpLocks/>
          </p:cNvCxnSpPr>
          <p:nvPr/>
        </p:nvCxnSpPr>
        <p:spPr>
          <a:xfrm>
            <a:off x="5449443" y="2560216"/>
            <a:ext cx="1374" cy="1290251"/>
          </a:xfrm>
          <a:prstGeom prst="straightConnector1">
            <a:avLst/>
          </a:prstGeom>
          <a:noFill/>
          <a:ln w="19050" cap="flat" cmpd="sng">
            <a:solidFill>
              <a:srgbClr val="1EA4B2"/>
            </a:solidFill>
            <a:prstDash val="solid"/>
            <a:round/>
            <a:headEnd type="none" w="med" len="med"/>
            <a:tailEnd type="none" w="med" len="med"/>
          </a:ln>
        </p:spPr>
      </p:cxnSp>
      <p:sp>
        <p:nvSpPr>
          <p:cNvPr id="13" name="Google Shape;365;g10054a4cacb_1_19">
            <a:extLst>
              <a:ext uri="{FF2B5EF4-FFF2-40B4-BE49-F238E27FC236}">
                <a16:creationId xmlns:a16="http://schemas.microsoft.com/office/drawing/2014/main" id="{7D10D8B4-94B9-8E2D-87FE-58AD596A21D0}"/>
              </a:ext>
            </a:extLst>
          </p:cNvPr>
          <p:cNvSpPr/>
          <p:nvPr/>
        </p:nvSpPr>
        <p:spPr>
          <a:xfrm>
            <a:off x="6066775" y="2800035"/>
            <a:ext cx="881692" cy="394569"/>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id" dirty="0"/>
              <a:t>Data</a:t>
            </a:r>
            <a:endParaRPr dirty="0"/>
          </a:p>
        </p:txBody>
      </p:sp>
      <p:cxnSp>
        <p:nvCxnSpPr>
          <p:cNvPr id="14" name="Google Shape;366;g10054a4cacb_1_19">
            <a:extLst>
              <a:ext uri="{FF2B5EF4-FFF2-40B4-BE49-F238E27FC236}">
                <a16:creationId xmlns:a16="http://schemas.microsoft.com/office/drawing/2014/main" id="{CA3FB7A6-A874-93A3-1A26-682D6E1B90A0}"/>
              </a:ext>
            </a:extLst>
          </p:cNvPr>
          <p:cNvCxnSpPr>
            <a:cxnSpLocks/>
          </p:cNvCxnSpPr>
          <p:nvPr/>
        </p:nvCxnSpPr>
        <p:spPr>
          <a:xfrm>
            <a:off x="5438343" y="3059091"/>
            <a:ext cx="628431" cy="0"/>
          </a:xfrm>
          <a:prstGeom prst="straightConnector1">
            <a:avLst/>
          </a:prstGeom>
          <a:noFill/>
          <a:ln w="19050" cap="flat" cmpd="sng">
            <a:solidFill>
              <a:srgbClr val="1EA4B2"/>
            </a:solidFill>
            <a:prstDash val="solid"/>
            <a:round/>
            <a:headEnd type="none" w="med" len="med"/>
            <a:tailEnd type="triangle" w="med" len="med"/>
          </a:ln>
        </p:spPr>
      </p:cxnSp>
      <p:sp>
        <p:nvSpPr>
          <p:cNvPr id="15" name="Google Shape;367;g10054a4cacb_1_19">
            <a:extLst>
              <a:ext uri="{FF2B5EF4-FFF2-40B4-BE49-F238E27FC236}">
                <a16:creationId xmlns:a16="http://schemas.microsoft.com/office/drawing/2014/main" id="{76CC8093-392A-C25E-A2F2-418C6B6DE963}"/>
              </a:ext>
            </a:extLst>
          </p:cNvPr>
          <p:cNvSpPr/>
          <p:nvPr/>
        </p:nvSpPr>
        <p:spPr>
          <a:xfrm>
            <a:off x="3727048" y="3799545"/>
            <a:ext cx="1079103" cy="394569"/>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id"/>
              <a:t>Judul</a:t>
            </a:r>
            <a:endParaRPr/>
          </a:p>
        </p:txBody>
      </p:sp>
      <p:cxnSp>
        <p:nvCxnSpPr>
          <p:cNvPr id="16" name="Google Shape;368;g10054a4cacb_1_19">
            <a:extLst>
              <a:ext uri="{FF2B5EF4-FFF2-40B4-BE49-F238E27FC236}">
                <a16:creationId xmlns:a16="http://schemas.microsoft.com/office/drawing/2014/main" id="{9D23B248-4F64-B6DC-FEC3-16AB7ADD4128}"/>
              </a:ext>
            </a:extLst>
          </p:cNvPr>
          <p:cNvCxnSpPr>
            <a:cxnSpLocks/>
          </p:cNvCxnSpPr>
          <p:nvPr/>
        </p:nvCxnSpPr>
        <p:spPr>
          <a:xfrm>
            <a:off x="3098617" y="4089081"/>
            <a:ext cx="628431" cy="0"/>
          </a:xfrm>
          <a:prstGeom prst="straightConnector1">
            <a:avLst/>
          </a:prstGeom>
          <a:noFill/>
          <a:ln w="19050" cap="flat" cmpd="sng">
            <a:solidFill>
              <a:srgbClr val="1EA4B2"/>
            </a:solidFill>
            <a:prstDash val="solid"/>
            <a:round/>
            <a:headEnd type="none" w="med" len="med"/>
            <a:tailEnd type="triangle" w="med" len="med"/>
          </a:ln>
        </p:spPr>
      </p:cxnSp>
      <p:sp>
        <p:nvSpPr>
          <p:cNvPr id="17" name="Google Shape;369;g10054a4cacb_1_19">
            <a:extLst>
              <a:ext uri="{FF2B5EF4-FFF2-40B4-BE49-F238E27FC236}">
                <a16:creationId xmlns:a16="http://schemas.microsoft.com/office/drawing/2014/main" id="{4570F360-6367-E0AA-483F-6E4C126288FA}"/>
              </a:ext>
            </a:extLst>
          </p:cNvPr>
          <p:cNvSpPr/>
          <p:nvPr/>
        </p:nvSpPr>
        <p:spPr>
          <a:xfrm>
            <a:off x="3738148" y="4183004"/>
            <a:ext cx="1823012" cy="394569"/>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id"/>
              <a:t>Nama label</a:t>
            </a:r>
            <a:endParaRPr/>
          </a:p>
        </p:txBody>
      </p:sp>
      <p:cxnSp>
        <p:nvCxnSpPr>
          <p:cNvPr id="18" name="Google Shape;370;g10054a4cacb_1_19">
            <a:extLst>
              <a:ext uri="{FF2B5EF4-FFF2-40B4-BE49-F238E27FC236}">
                <a16:creationId xmlns:a16="http://schemas.microsoft.com/office/drawing/2014/main" id="{93E68278-19FC-198B-7640-F3D6811FE047}"/>
              </a:ext>
            </a:extLst>
          </p:cNvPr>
          <p:cNvCxnSpPr>
            <a:cxnSpLocks/>
          </p:cNvCxnSpPr>
          <p:nvPr/>
        </p:nvCxnSpPr>
        <p:spPr>
          <a:xfrm>
            <a:off x="3098617" y="4341356"/>
            <a:ext cx="628431" cy="0"/>
          </a:xfrm>
          <a:prstGeom prst="straightConnector1">
            <a:avLst/>
          </a:prstGeom>
          <a:noFill/>
          <a:ln w="19050" cap="flat" cmpd="sng">
            <a:solidFill>
              <a:srgbClr val="1EA4B2"/>
            </a:solidFill>
            <a:prstDash val="solid"/>
            <a:round/>
            <a:headEnd type="none" w="med" len="med"/>
            <a:tailEnd type="triangle" w="med" len="med"/>
          </a:ln>
        </p:spPr>
      </p:cxnSp>
      <p:sp>
        <p:nvSpPr>
          <p:cNvPr id="19" name="Google Shape;371;g10054a4cacb_1_19">
            <a:extLst>
              <a:ext uri="{FF2B5EF4-FFF2-40B4-BE49-F238E27FC236}">
                <a16:creationId xmlns:a16="http://schemas.microsoft.com/office/drawing/2014/main" id="{90C1CBA4-404F-9D38-AF3B-A4A7FA03C78B}"/>
              </a:ext>
            </a:extLst>
          </p:cNvPr>
          <p:cNvSpPr/>
          <p:nvPr/>
        </p:nvSpPr>
        <p:spPr>
          <a:xfrm>
            <a:off x="4712568" y="4601920"/>
            <a:ext cx="2545765" cy="394569"/>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id"/>
              <a:t>Visualisasi Scatter Plot</a:t>
            </a:r>
            <a:endParaRPr/>
          </a:p>
        </p:txBody>
      </p:sp>
      <p:cxnSp>
        <p:nvCxnSpPr>
          <p:cNvPr id="20" name="Google Shape;372;g10054a4cacb_1_19">
            <a:extLst>
              <a:ext uri="{FF2B5EF4-FFF2-40B4-BE49-F238E27FC236}">
                <a16:creationId xmlns:a16="http://schemas.microsoft.com/office/drawing/2014/main" id="{EBD44B28-A199-0B36-EA8D-3D6701F43285}"/>
              </a:ext>
            </a:extLst>
          </p:cNvPr>
          <p:cNvCxnSpPr>
            <a:cxnSpLocks/>
          </p:cNvCxnSpPr>
          <p:nvPr/>
        </p:nvCxnSpPr>
        <p:spPr>
          <a:xfrm>
            <a:off x="4084137" y="4810176"/>
            <a:ext cx="628431" cy="0"/>
          </a:xfrm>
          <a:prstGeom prst="straightConnector1">
            <a:avLst/>
          </a:prstGeom>
          <a:noFill/>
          <a:ln w="19050" cap="flat" cmpd="sng">
            <a:solidFill>
              <a:srgbClr val="1EA4B2"/>
            </a:solidFill>
            <a:prstDash val="solid"/>
            <a:round/>
            <a:headEnd type="none" w="med" len="med"/>
            <a:tailEnd type="triangle" w="med" len="med"/>
          </a:ln>
        </p:spPr>
      </p:cxnSp>
    </p:spTree>
    <p:extLst>
      <p:ext uri="{BB962C8B-B14F-4D97-AF65-F5344CB8AC3E}">
        <p14:creationId xmlns:p14="http://schemas.microsoft.com/office/powerpoint/2010/main" val="12438199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4FB26-78B0-35FB-F134-E069F0E6BE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6AF3B6-22E3-E61C-C445-05D4B233654B}"/>
              </a:ext>
            </a:extLst>
          </p:cNvPr>
          <p:cNvSpPr>
            <a:spLocks noGrp="1"/>
          </p:cNvSpPr>
          <p:nvPr>
            <p:ph type="title"/>
          </p:nvPr>
        </p:nvSpPr>
        <p:spPr>
          <a:xfrm>
            <a:off x="838200" y="365125"/>
            <a:ext cx="10515600" cy="915035"/>
          </a:xfrm>
        </p:spPr>
        <p:txBody>
          <a:bodyPr>
            <a:normAutofit/>
          </a:bodyPr>
          <a:lstStyle/>
          <a:p>
            <a:r>
              <a:rPr lang="en-US" b="1" dirty="0"/>
              <a:t>Heatmap</a:t>
            </a:r>
            <a:endParaRPr lang="en-US" dirty="0"/>
          </a:p>
        </p:txBody>
      </p:sp>
      <p:sp>
        <p:nvSpPr>
          <p:cNvPr id="3" name="Content Placeholder 2">
            <a:extLst>
              <a:ext uri="{FF2B5EF4-FFF2-40B4-BE49-F238E27FC236}">
                <a16:creationId xmlns:a16="http://schemas.microsoft.com/office/drawing/2014/main" id="{0BFA427F-C8D5-2A5F-60FB-9D8639252459}"/>
              </a:ext>
            </a:extLst>
          </p:cNvPr>
          <p:cNvSpPr>
            <a:spLocks noGrp="1"/>
          </p:cNvSpPr>
          <p:nvPr>
            <p:ph idx="1"/>
          </p:nvPr>
        </p:nvSpPr>
        <p:spPr>
          <a:xfrm>
            <a:off x="309880" y="1825625"/>
            <a:ext cx="6446520" cy="4351338"/>
          </a:xfrm>
        </p:spPr>
        <p:txBody>
          <a:bodyPr>
            <a:normAutofit/>
          </a:bodyPr>
          <a:lstStyle/>
          <a:p>
            <a:pPr marL="457200" lvl="0" indent="-323850">
              <a:lnSpc>
                <a:spcPct val="115000"/>
              </a:lnSpc>
              <a:spcBef>
                <a:spcPts val="0"/>
              </a:spcBef>
              <a:buClr>
                <a:schemeClr val="dk1"/>
              </a:buClr>
              <a:buSzPts val="1500"/>
              <a:buChar char="●"/>
            </a:pPr>
            <a:r>
              <a:rPr lang="en-US" sz="2400" dirty="0">
                <a:latin typeface="Arial"/>
                <a:ea typeface="Arial"/>
                <a:cs typeface="Arial"/>
                <a:sym typeface="Arial"/>
              </a:rPr>
              <a:t>Heatmap </a:t>
            </a:r>
            <a:r>
              <a:rPr lang="en-US" sz="2400" dirty="0" err="1">
                <a:latin typeface="Arial"/>
                <a:ea typeface="Arial"/>
                <a:cs typeface="Arial"/>
                <a:sym typeface="Arial"/>
              </a:rPr>
              <a:t>adalah</a:t>
            </a:r>
            <a:r>
              <a:rPr lang="en-US" sz="2400" dirty="0">
                <a:latin typeface="Arial"/>
                <a:ea typeface="Arial"/>
                <a:cs typeface="Arial"/>
                <a:sym typeface="Arial"/>
              </a:rPr>
              <a:t> </a:t>
            </a:r>
            <a:r>
              <a:rPr lang="en-US" sz="2400" dirty="0" err="1">
                <a:latin typeface="Arial"/>
                <a:ea typeface="Arial"/>
                <a:cs typeface="Arial"/>
                <a:sym typeface="Arial"/>
              </a:rPr>
              <a:t>jenis</a:t>
            </a:r>
            <a:r>
              <a:rPr lang="en-US" sz="2400" dirty="0">
                <a:latin typeface="Arial"/>
                <a:ea typeface="Arial"/>
                <a:cs typeface="Arial"/>
                <a:sym typeface="Arial"/>
              </a:rPr>
              <a:t> </a:t>
            </a:r>
            <a:r>
              <a:rPr lang="en-US" sz="2400" dirty="0" err="1">
                <a:latin typeface="Arial"/>
                <a:ea typeface="Arial"/>
                <a:cs typeface="Arial"/>
                <a:sym typeface="Arial"/>
              </a:rPr>
              <a:t>visualisasi</a:t>
            </a:r>
            <a:r>
              <a:rPr lang="en-US" sz="2400" dirty="0">
                <a:latin typeface="Arial"/>
                <a:ea typeface="Arial"/>
                <a:cs typeface="Arial"/>
                <a:sym typeface="Arial"/>
              </a:rPr>
              <a:t> yang </a:t>
            </a:r>
            <a:r>
              <a:rPr lang="en-US" sz="2400" dirty="0" err="1">
                <a:latin typeface="Arial"/>
                <a:ea typeface="Arial"/>
                <a:cs typeface="Arial"/>
                <a:sym typeface="Arial"/>
              </a:rPr>
              <a:t>menggunakan</a:t>
            </a:r>
            <a:r>
              <a:rPr lang="en-US" sz="2400" dirty="0">
                <a:latin typeface="Arial"/>
                <a:ea typeface="Arial"/>
                <a:cs typeface="Arial"/>
                <a:sym typeface="Arial"/>
              </a:rPr>
              <a:t> </a:t>
            </a:r>
            <a:r>
              <a:rPr lang="en-US" sz="2400" dirty="0" err="1">
                <a:latin typeface="Arial"/>
                <a:ea typeface="Arial"/>
                <a:cs typeface="Arial"/>
                <a:sym typeface="Arial"/>
              </a:rPr>
              <a:t>kode</a:t>
            </a:r>
            <a:r>
              <a:rPr lang="en-US" sz="2400" dirty="0">
                <a:latin typeface="Arial"/>
                <a:ea typeface="Arial"/>
                <a:cs typeface="Arial"/>
                <a:sym typeface="Arial"/>
              </a:rPr>
              <a:t> </a:t>
            </a:r>
            <a:r>
              <a:rPr lang="en-US" sz="2400" dirty="0" err="1">
                <a:latin typeface="Arial"/>
                <a:ea typeface="Arial"/>
                <a:cs typeface="Arial"/>
                <a:sym typeface="Arial"/>
              </a:rPr>
              <a:t>warna</a:t>
            </a:r>
            <a:r>
              <a:rPr lang="en-US" sz="2400" dirty="0">
                <a:latin typeface="Arial"/>
                <a:ea typeface="Arial"/>
                <a:cs typeface="Arial"/>
                <a:sym typeface="Arial"/>
              </a:rPr>
              <a:t> </a:t>
            </a:r>
            <a:r>
              <a:rPr lang="en-US" sz="2400" dirty="0" err="1">
                <a:latin typeface="Arial"/>
                <a:ea typeface="Arial"/>
                <a:cs typeface="Arial"/>
                <a:sym typeface="Arial"/>
              </a:rPr>
              <a:t>untuk</a:t>
            </a:r>
            <a:r>
              <a:rPr lang="en-US" sz="2400" dirty="0">
                <a:latin typeface="Arial"/>
                <a:ea typeface="Arial"/>
                <a:cs typeface="Arial"/>
                <a:sym typeface="Arial"/>
              </a:rPr>
              <a:t> </a:t>
            </a:r>
            <a:r>
              <a:rPr lang="en-US" sz="2400" dirty="0" err="1">
                <a:latin typeface="Arial"/>
                <a:ea typeface="Arial"/>
                <a:cs typeface="Arial"/>
                <a:sym typeface="Arial"/>
              </a:rPr>
              <a:t>mewakili</a:t>
            </a:r>
            <a:r>
              <a:rPr lang="en-US" sz="2400" dirty="0">
                <a:latin typeface="Arial"/>
                <a:ea typeface="Arial"/>
                <a:cs typeface="Arial"/>
                <a:sym typeface="Arial"/>
              </a:rPr>
              <a:t> </a:t>
            </a:r>
            <a:r>
              <a:rPr lang="en-US" sz="2400" dirty="0" err="1">
                <a:latin typeface="Arial"/>
                <a:ea typeface="Arial"/>
                <a:cs typeface="Arial"/>
                <a:sym typeface="Arial"/>
              </a:rPr>
              <a:t>nilai</a:t>
            </a:r>
            <a:r>
              <a:rPr lang="en-US" sz="2400" dirty="0">
                <a:latin typeface="Arial"/>
                <a:ea typeface="Arial"/>
                <a:cs typeface="Arial"/>
                <a:sym typeface="Arial"/>
              </a:rPr>
              <a:t> / </a:t>
            </a:r>
            <a:r>
              <a:rPr lang="en-US" sz="2400" dirty="0" err="1">
                <a:latin typeface="Arial"/>
                <a:ea typeface="Arial"/>
                <a:cs typeface="Arial"/>
                <a:sym typeface="Arial"/>
              </a:rPr>
              <a:t>kepadatan</a:t>
            </a:r>
            <a:r>
              <a:rPr lang="en-US" sz="2400" dirty="0">
                <a:latin typeface="Arial"/>
                <a:ea typeface="Arial"/>
                <a:cs typeface="Arial"/>
                <a:sym typeface="Arial"/>
              </a:rPr>
              <a:t> </a:t>
            </a:r>
            <a:r>
              <a:rPr lang="en-US" sz="2400" dirty="0" err="1">
                <a:latin typeface="Arial"/>
                <a:ea typeface="Arial"/>
                <a:cs typeface="Arial"/>
                <a:sym typeface="Arial"/>
              </a:rPr>
              <a:t>relatif</a:t>
            </a:r>
            <a:r>
              <a:rPr lang="en-US" sz="2400" dirty="0">
                <a:latin typeface="Arial"/>
                <a:ea typeface="Arial"/>
                <a:cs typeface="Arial"/>
                <a:sym typeface="Arial"/>
              </a:rPr>
              <a:t> data di </a:t>
            </a:r>
            <a:r>
              <a:rPr lang="en-US" sz="2400" dirty="0" err="1">
                <a:latin typeface="Arial"/>
                <a:ea typeface="Arial"/>
                <a:cs typeface="Arial"/>
                <a:sym typeface="Arial"/>
              </a:rPr>
              <a:t>seluruh</a:t>
            </a:r>
            <a:r>
              <a:rPr lang="en-US" sz="2400" dirty="0">
                <a:latin typeface="Arial"/>
                <a:ea typeface="Arial"/>
                <a:cs typeface="Arial"/>
                <a:sym typeface="Arial"/>
              </a:rPr>
              <a:t> </a:t>
            </a:r>
            <a:r>
              <a:rPr lang="en-US" sz="2400" dirty="0" err="1">
                <a:latin typeface="Arial"/>
                <a:ea typeface="Arial"/>
                <a:cs typeface="Arial"/>
                <a:sym typeface="Arial"/>
              </a:rPr>
              <a:t>permukaan</a:t>
            </a:r>
            <a:r>
              <a:rPr lang="en-US" sz="2400" dirty="0">
                <a:latin typeface="Arial"/>
                <a:ea typeface="Arial"/>
                <a:cs typeface="Arial"/>
                <a:sym typeface="Arial"/>
              </a:rPr>
              <a:t>.</a:t>
            </a:r>
          </a:p>
          <a:p>
            <a:pPr marL="457200" lvl="0" indent="-323850">
              <a:lnSpc>
                <a:spcPct val="115000"/>
              </a:lnSpc>
              <a:spcBef>
                <a:spcPts val="0"/>
              </a:spcBef>
              <a:buClr>
                <a:schemeClr val="dk1"/>
              </a:buClr>
              <a:buSzPts val="1500"/>
              <a:buChar char="●"/>
            </a:pPr>
            <a:r>
              <a:rPr lang="en-US" sz="2400" dirty="0">
                <a:latin typeface="Arial"/>
                <a:ea typeface="Arial"/>
                <a:cs typeface="Arial"/>
                <a:sym typeface="Arial"/>
              </a:rPr>
              <a:t>Warna-</a:t>
            </a:r>
            <a:r>
              <a:rPr lang="en-US" sz="2400" dirty="0" err="1">
                <a:latin typeface="Arial"/>
                <a:ea typeface="Arial"/>
                <a:cs typeface="Arial"/>
                <a:sym typeface="Arial"/>
              </a:rPr>
              <a:t>warna</a:t>
            </a:r>
            <a:r>
              <a:rPr lang="en-US" sz="2400" dirty="0">
                <a:latin typeface="Arial"/>
                <a:ea typeface="Arial"/>
                <a:cs typeface="Arial"/>
                <a:sym typeface="Arial"/>
              </a:rPr>
              <a:t> </a:t>
            </a:r>
            <a:r>
              <a:rPr lang="en-US" sz="2400" dirty="0" err="1">
                <a:latin typeface="Arial"/>
                <a:ea typeface="Arial"/>
                <a:cs typeface="Arial"/>
                <a:sym typeface="Arial"/>
              </a:rPr>
              <a:t>ini</a:t>
            </a:r>
            <a:r>
              <a:rPr lang="en-US" sz="2400" dirty="0">
                <a:latin typeface="Arial"/>
                <a:ea typeface="Arial"/>
                <a:cs typeface="Arial"/>
                <a:sym typeface="Arial"/>
              </a:rPr>
              <a:t> </a:t>
            </a:r>
            <a:r>
              <a:rPr lang="en-US" sz="2400" dirty="0" err="1">
                <a:latin typeface="Arial"/>
                <a:ea typeface="Arial"/>
                <a:cs typeface="Arial"/>
                <a:sym typeface="Arial"/>
              </a:rPr>
              <a:t>kemudian</a:t>
            </a:r>
            <a:r>
              <a:rPr lang="en-US" sz="2400" dirty="0">
                <a:latin typeface="Arial"/>
                <a:ea typeface="Arial"/>
                <a:cs typeface="Arial"/>
                <a:sym typeface="Arial"/>
              </a:rPr>
              <a:t> </a:t>
            </a:r>
            <a:r>
              <a:rPr lang="en-US" sz="2400" dirty="0" err="1">
                <a:latin typeface="Arial"/>
                <a:ea typeface="Arial"/>
                <a:cs typeface="Arial"/>
                <a:sym typeface="Arial"/>
              </a:rPr>
              <a:t>dapat</a:t>
            </a:r>
            <a:r>
              <a:rPr lang="en-US" sz="2400" dirty="0">
                <a:latin typeface="Arial"/>
                <a:ea typeface="Arial"/>
                <a:cs typeface="Arial"/>
                <a:sym typeface="Arial"/>
              </a:rPr>
              <a:t> </a:t>
            </a:r>
            <a:r>
              <a:rPr lang="en-US" sz="2400" dirty="0" err="1">
                <a:latin typeface="Arial"/>
                <a:ea typeface="Arial"/>
                <a:cs typeface="Arial"/>
                <a:sym typeface="Arial"/>
              </a:rPr>
              <a:t>digunakan</a:t>
            </a:r>
            <a:r>
              <a:rPr lang="en-US" sz="2400" dirty="0">
                <a:latin typeface="Arial"/>
                <a:ea typeface="Arial"/>
                <a:cs typeface="Arial"/>
                <a:sym typeface="Arial"/>
              </a:rPr>
              <a:t> </a:t>
            </a:r>
            <a:r>
              <a:rPr lang="en-US" sz="2400" dirty="0" err="1">
                <a:latin typeface="Arial"/>
                <a:ea typeface="Arial"/>
                <a:cs typeface="Arial"/>
                <a:sym typeface="Arial"/>
              </a:rPr>
              <a:t>untuk</a:t>
            </a:r>
            <a:r>
              <a:rPr lang="en-US" sz="2400" dirty="0">
                <a:latin typeface="Arial"/>
                <a:ea typeface="Arial"/>
                <a:cs typeface="Arial"/>
                <a:sym typeface="Arial"/>
              </a:rPr>
              <a:t> </a:t>
            </a:r>
            <a:r>
              <a:rPr lang="en-US" sz="2400" dirty="0" err="1">
                <a:latin typeface="Arial"/>
                <a:ea typeface="Arial"/>
                <a:cs typeface="Arial"/>
                <a:sym typeface="Arial"/>
              </a:rPr>
              <a:t>memeriksa</a:t>
            </a:r>
            <a:r>
              <a:rPr lang="en-US" sz="2400" dirty="0">
                <a:latin typeface="Arial"/>
                <a:ea typeface="Arial"/>
                <a:cs typeface="Arial"/>
                <a:sym typeface="Arial"/>
              </a:rPr>
              <a:t> data </a:t>
            </a:r>
            <a:r>
              <a:rPr lang="en-US" sz="2400" dirty="0" err="1">
                <a:latin typeface="Arial"/>
                <a:ea typeface="Arial"/>
                <a:cs typeface="Arial"/>
                <a:sym typeface="Arial"/>
              </a:rPr>
              <a:t>secara</a:t>
            </a:r>
            <a:r>
              <a:rPr lang="en-US" sz="2400" dirty="0">
                <a:latin typeface="Arial"/>
                <a:ea typeface="Arial"/>
                <a:cs typeface="Arial"/>
                <a:sym typeface="Arial"/>
              </a:rPr>
              <a:t> visual guna </a:t>
            </a:r>
            <a:r>
              <a:rPr lang="en-US" sz="2400" dirty="0" err="1">
                <a:latin typeface="Arial"/>
                <a:ea typeface="Arial"/>
                <a:cs typeface="Arial"/>
                <a:sym typeface="Arial"/>
              </a:rPr>
              <a:t>menemukan</a:t>
            </a:r>
            <a:r>
              <a:rPr lang="en-US" sz="2400" dirty="0">
                <a:latin typeface="Arial"/>
                <a:ea typeface="Arial"/>
                <a:cs typeface="Arial"/>
                <a:sym typeface="Arial"/>
              </a:rPr>
              <a:t> </a:t>
            </a:r>
            <a:r>
              <a:rPr lang="en-US" sz="2400" dirty="0" err="1">
                <a:latin typeface="Arial"/>
                <a:ea typeface="Arial"/>
                <a:cs typeface="Arial"/>
                <a:sym typeface="Arial"/>
              </a:rPr>
              <a:t>kelompok</a:t>
            </a:r>
            <a:r>
              <a:rPr lang="en-US" sz="2400" dirty="0">
                <a:latin typeface="Arial"/>
                <a:ea typeface="Arial"/>
                <a:cs typeface="Arial"/>
                <a:sym typeface="Arial"/>
              </a:rPr>
              <a:t> </a:t>
            </a:r>
            <a:r>
              <a:rPr lang="en-US" sz="2400" dirty="0" err="1">
                <a:latin typeface="Arial"/>
                <a:ea typeface="Arial"/>
                <a:cs typeface="Arial"/>
                <a:sym typeface="Arial"/>
              </a:rPr>
              <a:t>dengan</a:t>
            </a:r>
            <a:r>
              <a:rPr lang="en-US" sz="2400" dirty="0">
                <a:latin typeface="Arial"/>
                <a:ea typeface="Arial"/>
                <a:cs typeface="Arial"/>
                <a:sym typeface="Arial"/>
              </a:rPr>
              <a:t> </a:t>
            </a:r>
            <a:r>
              <a:rPr lang="en-US" sz="2400" dirty="0" err="1">
                <a:latin typeface="Arial"/>
                <a:ea typeface="Arial"/>
                <a:cs typeface="Arial"/>
                <a:sym typeface="Arial"/>
              </a:rPr>
              <a:t>nilai</a:t>
            </a:r>
            <a:r>
              <a:rPr lang="en-US" sz="2400" dirty="0">
                <a:latin typeface="Arial"/>
                <a:ea typeface="Arial"/>
                <a:cs typeface="Arial"/>
                <a:sym typeface="Arial"/>
              </a:rPr>
              <a:t> </a:t>
            </a:r>
            <a:r>
              <a:rPr lang="en-US" sz="2400" dirty="0" err="1">
                <a:latin typeface="Arial"/>
                <a:ea typeface="Arial"/>
                <a:cs typeface="Arial"/>
                <a:sym typeface="Arial"/>
              </a:rPr>
              <a:t>serupa</a:t>
            </a:r>
            <a:r>
              <a:rPr lang="en-US" sz="2400" dirty="0">
                <a:latin typeface="Arial"/>
                <a:ea typeface="Arial"/>
                <a:cs typeface="Arial"/>
                <a:sym typeface="Arial"/>
              </a:rPr>
              <a:t> dan </a:t>
            </a:r>
            <a:r>
              <a:rPr lang="en-US" sz="2400" dirty="0" err="1">
                <a:latin typeface="Arial"/>
                <a:ea typeface="Arial"/>
                <a:cs typeface="Arial"/>
                <a:sym typeface="Arial"/>
              </a:rPr>
              <a:t>mendeteksi</a:t>
            </a:r>
            <a:r>
              <a:rPr lang="en-US" sz="2400" dirty="0">
                <a:latin typeface="Arial"/>
                <a:ea typeface="Arial"/>
                <a:cs typeface="Arial"/>
                <a:sym typeface="Arial"/>
              </a:rPr>
              <a:t> trend </a:t>
            </a:r>
            <a:r>
              <a:rPr lang="en-US" sz="2400" dirty="0" err="1">
                <a:latin typeface="Arial"/>
                <a:ea typeface="Arial"/>
                <a:cs typeface="Arial"/>
                <a:sym typeface="Arial"/>
              </a:rPr>
              <a:t>dalam</a:t>
            </a:r>
            <a:r>
              <a:rPr lang="en-US" sz="2400" dirty="0">
                <a:latin typeface="Arial"/>
                <a:ea typeface="Arial"/>
                <a:cs typeface="Arial"/>
                <a:sym typeface="Arial"/>
              </a:rPr>
              <a:t> data. </a:t>
            </a:r>
          </a:p>
        </p:txBody>
      </p:sp>
      <p:pic>
        <p:nvPicPr>
          <p:cNvPr id="6" name="Google Shape;380;p50" descr="Background pattern&#10;&#10;Description automatically generated">
            <a:extLst>
              <a:ext uri="{FF2B5EF4-FFF2-40B4-BE49-F238E27FC236}">
                <a16:creationId xmlns:a16="http://schemas.microsoft.com/office/drawing/2014/main" id="{E14B6189-F7F6-A69A-6416-B38F7224251E}"/>
              </a:ext>
            </a:extLst>
          </p:cNvPr>
          <p:cNvPicPr preferRelativeResize="0"/>
          <p:nvPr/>
        </p:nvPicPr>
        <p:blipFill rotWithShape="1">
          <a:blip r:embed="rId2">
            <a:alphaModFix/>
          </a:blip>
          <a:srcRect/>
          <a:stretch/>
        </p:blipFill>
        <p:spPr>
          <a:xfrm>
            <a:off x="6881495" y="2158825"/>
            <a:ext cx="5000625" cy="3200400"/>
          </a:xfrm>
          <a:prstGeom prst="rect">
            <a:avLst/>
          </a:prstGeom>
          <a:noFill/>
          <a:ln>
            <a:noFill/>
          </a:ln>
        </p:spPr>
      </p:pic>
    </p:spTree>
    <p:extLst>
      <p:ext uri="{BB962C8B-B14F-4D97-AF65-F5344CB8AC3E}">
        <p14:creationId xmlns:p14="http://schemas.microsoft.com/office/powerpoint/2010/main" val="33195972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6056F-9B39-40A3-DF42-08FCB37788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A50927-B612-B660-62CC-9F4004FF6BD6}"/>
              </a:ext>
            </a:extLst>
          </p:cNvPr>
          <p:cNvSpPr>
            <a:spLocks noGrp="1"/>
          </p:cNvSpPr>
          <p:nvPr>
            <p:ph type="title"/>
          </p:nvPr>
        </p:nvSpPr>
        <p:spPr>
          <a:xfrm>
            <a:off x="838200" y="365125"/>
            <a:ext cx="10515600" cy="915035"/>
          </a:xfrm>
        </p:spPr>
        <p:txBody>
          <a:bodyPr>
            <a:normAutofit/>
          </a:bodyPr>
          <a:lstStyle/>
          <a:p>
            <a:r>
              <a:rPr lang="en-US" b="1" dirty="0"/>
              <a:t>Heatmap</a:t>
            </a:r>
            <a:endParaRPr lang="en-US" dirty="0"/>
          </a:p>
        </p:txBody>
      </p:sp>
      <p:sp>
        <p:nvSpPr>
          <p:cNvPr id="3" name="Content Placeholder 2">
            <a:extLst>
              <a:ext uri="{FF2B5EF4-FFF2-40B4-BE49-F238E27FC236}">
                <a16:creationId xmlns:a16="http://schemas.microsoft.com/office/drawing/2014/main" id="{BD5CE5A7-4110-6A6F-942C-D1F0E968B6B2}"/>
              </a:ext>
            </a:extLst>
          </p:cNvPr>
          <p:cNvSpPr>
            <a:spLocks noGrp="1"/>
          </p:cNvSpPr>
          <p:nvPr>
            <p:ph idx="1"/>
          </p:nvPr>
        </p:nvSpPr>
        <p:spPr>
          <a:xfrm>
            <a:off x="309880" y="1825625"/>
            <a:ext cx="6446520" cy="4351338"/>
          </a:xfrm>
        </p:spPr>
        <p:txBody>
          <a:bodyPr>
            <a:normAutofit/>
          </a:bodyPr>
          <a:lstStyle/>
          <a:p>
            <a:pPr marL="457200" lvl="0" indent="-317500">
              <a:lnSpc>
                <a:spcPct val="115000"/>
              </a:lnSpc>
              <a:spcBef>
                <a:spcPts val="0"/>
              </a:spcBef>
              <a:buClr>
                <a:schemeClr val="dk1"/>
              </a:buClr>
              <a:buSzPts val="1400"/>
              <a:buChar char="●"/>
            </a:pPr>
            <a:r>
              <a:rPr lang="en-US" sz="2400" dirty="0">
                <a:latin typeface="Arial"/>
                <a:ea typeface="Arial"/>
                <a:cs typeface="Arial"/>
                <a:sym typeface="Arial"/>
              </a:rPr>
              <a:t>Kita </a:t>
            </a:r>
            <a:r>
              <a:rPr lang="en-US" sz="2400" dirty="0" err="1">
                <a:latin typeface="Arial"/>
                <a:ea typeface="Arial"/>
                <a:cs typeface="Arial"/>
                <a:sym typeface="Arial"/>
              </a:rPr>
              <a:t>akan</a:t>
            </a:r>
            <a:r>
              <a:rPr lang="en-US" sz="2400" dirty="0">
                <a:latin typeface="Arial"/>
                <a:ea typeface="Arial"/>
                <a:cs typeface="Arial"/>
                <a:sym typeface="Arial"/>
              </a:rPr>
              <a:t> </a:t>
            </a:r>
            <a:r>
              <a:rPr lang="en-US" sz="2400" dirty="0" err="1">
                <a:latin typeface="Arial"/>
                <a:ea typeface="Arial"/>
                <a:cs typeface="Arial"/>
                <a:sym typeface="Arial"/>
              </a:rPr>
              <a:t>bekerja</a:t>
            </a:r>
            <a:r>
              <a:rPr lang="en-US" sz="2400" dirty="0">
                <a:latin typeface="Arial"/>
                <a:ea typeface="Arial"/>
                <a:cs typeface="Arial"/>
                <a:sym typeface="Arial"/>
              </a:rPr>
              <a:t> </a:t>
            </a:r>
            <a:r>
              <a:rPr lang="en-US" sz="2400" dirty="0" err="1">
                <a:latin typeface="Arial"/>
                <a:ea typeface="Arial"/>
                <a:cs typeface="Arial"/>
                <a:sym typeface="Arial"/>
              </a:rPr>
              <a:t>dengan</a:t>
            </a:r>
            <a:r>
              <a:rPr lang="en-US" sz="2400" dirty="0">
                <a:latin typeface="Arial"/>
                <a:ea typeface="Arial"/>
                <a:cs typeface="Arial"/>
                <a:sym typeface="Arial"/>
              </a:rPr>
              <a:t> data </a:t>
            </a:r>
            <a:r>
              <a:rPr lang="en-US" sz="2400" dirty="0" err="1">
                <a:latin typeface="Arial"/>
                <a:ea typeface="Arial"/>
                <a:cs typeface="Arial"/>
                <a:sym typeface="Arial"/>
              </a:rPr>
              <a:t>tentang</a:t>
            </a:r>
            <a:r>
              <a:rPr lang="en-US" sz="2400" dirty="0">
                <a:latin typeface="Arial"/>
                <a:ea typeface="Arial"/>
                <a:cs typeface="Arial"/>
                <a:sym typeface="Arial"/>
              </a:rPr>
              <a:t> </a:t>
            </a:r>
            <a:r>
              <a:rPr lang="en-US" sz="2400" dirty="0" err="1">
                <a:latin typeface="Arial"/>
                <a:ea typeface="Arial"/>
                <a:cs typeface="Arial"/>
                <a:sym typeface="Arial"/>
              </a:rPr>
              <a:t>temperatur</a:t>
            </a:r>
            <a:r>
              <a:rPr lang="en-US" sz="2400" dirty="0">
                <a:latin typeface="Arial"/>
                <a:ea typeface="Arial"/>
                <a:cs typeface="Arial"/>
                <a:sym typeface="Arial"/>
              </a:rPr>
              <a:t> rata-rata </a:t>
            </a:r>
            <a:r>
              <a:rPr lang="en-US" sz="2400" dirty="0" err="1">
                <a:latin typeface="Arial"/>
                <a:ea typeface="Arial"/>
                <a:cs typeface="Arial"/>
                <a:sym typeface="Arial"/>
              </a:rPr>
              <a:t>setiap</a:t>
            </a:r>
            <a:r>
              <a:rPr lang="en-US" sz="2400" dirty="0">
                <a:latin typeface="Arial"/>
                <a:ea typeface="Arial"/>
                <a:cs typeface="Arial"/>
                <a:sym typeface="Arial"/>
              </a:rPr>
              <a:t> </a:t>
            </a:r>
            <a:r>
              <a:rPr lang="en-US" sz="2400" dirty="0" err="1">
                <a:latin typeface="Arial"/>
                <a:ea typeface="Arial"/>
                <a:cs typeface="Arial"/>
                <a:sym typeface="Arial"/>
              </a:rPr>
              <a:t>bulan</a:t>
            </a:r>
            <a:r>
              <a:rPr lang="en-US" sz="2400" dirty="0">
                <a:latin typeface="Arial"/>
                <a:ea typeface="Arial"/>
                <a:cs typeface="Arial"/>
                <a:sym typeface="Arial"/>
              </a:rPr>
              <a:t> </a:t>
            </a:r>
            <a:r>
              <a:rPr lang="en-US" sz="2400" dirty="0" err="1">
                <a:latin typeface="Arial"/>
                <a:ea typeface="Arial"/>
                <a:cs typeface="Arial"/>
                <a:sym typeface="Arial"/>
              </a:rPr>
              <a:t>untuk</a:t>
            </a:r>
            <a:r>
              <a:rPr lang="en-US" sz="2400" dirty="0">
                <a:latin typeface="Arial"/>
                <a:ea typeface="Arial"/>
                <a:cs typeface="Arial"/>
                <a:sym typeface="Arial"/>
              </a:rPr>
              <a:t> 12 </a:t>
            </a:r>
            <a:r>
              <a:rPr lang="en-US" sz="2400" dirty="0" err="1">
                <a:latin typeface="Arial"/>
                <a:ea typeface="Arial"/>
                <a:cs typeface="Arial"/>
                <a:sym typeface="Arial"/>
              </a:rPr>
              <a:t>kota</a:t>
            </a:r>
            <a:r>
              <a:rPr lang="en-US" sz="2400" dirty="0">
                <a:latin typeface="Arial"/>
                <a:ea typeface="Arial"/>
                <a:cs typeface="Arial"/>
                <a:sym typeface="Arial"/>
              </a:rPr>
              <a:t> </a:t>
            </a:r>
            <a:r>
              <a:rPr lang="en-US" sz="2400" dirty="0" err="1">
                <a:latin typeface="Arial"/>
                <a:ea typeface="Arial"/>
                <a:cs typeface="Arial"/>
                <a:sym typeface="Arial"/>
              </a:rPr>
              <a:t>terbesar</a:t>
            </a:r>
            <a:r>
              <a:rPr lang="en-US" sz="2400" dirty="0">
                <a:latin typeface="Arial"/>
                <a:ea typeface="Arial"/>
                <a:cs typeface="Arial"/>
                <a:sym typeface="Arial"/>
              </a:rPr>
              <a:t> di dunia. </a:t>
            </a:r>
            <a:r>
              <a:rPr lang="en-US" sz="2400" dirty="0" err="1">
                <a:latin typeface="Arial"/>
                <a:ea typeface="Arial"/>
                <a:cs typeface="Arial"/>
                <a:sym typeface="Arial"/>
              </a:rPr>
              <a:t>Untuk</a:t>
            </a:r>
            <a:r>
              <a:rPr lang="en-US" sz="2400" dirty="0">
                <a:latin typeface="Arial"/>
                <a:ea typeface="Arial"/>
                <a:cs typeface="Arial"/>
                <a:sym typeface="Arial"/>
              </a:rPr>
              <a:t> </a:t>
            </a:r>
            <a:r>
              <a:rPr lang="en-US" sz="2400" dirty="0" err="1">
                <a:latin typeface="Arial"/>
                <a:ea typeface="Arial"/>
                <a:cs typeface="Arial"/>
                <a:sym typeface="Arial"/>
              </a:rPr>
              <a:t>membuat</a:t>
            </a:r>
            <a:r>
              <a:rPr lang="en-US" sz="2400" dirty="0">
                <a:latin typeface="Arial"/>
                <a:ea typeface="Arial"/>
                <a:cs typeface="Arial"/>
                <a:sym typeface="Arial"/>
              </a:rPr>
              <a:t> heatmap </a:t>
            </a:r>
            <a:r>
              <a:rPr lang="en-US" sz="2400" dirty="0" err="1">
                <a:latin typeface="Arial"/>
                <a:ea typeface="Arial"/>
                <a:cs typeface="Arial"/>
                <a:sym typeface="Arial"/>
              </a:rPr>
              <a:t>ini</a:t>
            </a:r>
            <a:r>
              <a:rPr lang="en-US" sz="2400" dirty="0">
                <a:latin typeface="Arial"/>
                <a:ea typeface="Arial"/>
                <a:cs typeface="Arial"/>
                <a:sym typeface="Arial"/>
              </a:rPr>
              <a:t>, </a:t>
            </a:r>
            <a:r>
              <a:rPr lang="en-US" sz="2400" dirty="0" err="1">
                <a:latin typeface="Arial"/>
                <a:ea typeface="Arial"/>
                <a:cs typeface="Arial"/>
                <a:sym typeface="Arial"/>
              </a:rPr>
              <a:t>kita</a:t>
            </a:r>
            <a:r>
              <a:rPr lang="en-US" sz="2400" dirty="0">
                <a:latin typeface="Arial"/>
                <a:ea typeface="Arial"/>
                <a:cs typeface="Arial"/>
                <a:sym typeface="Arial"/>
              </a:rPr>
              <a:t> </a:t>
            </a:r>
            <a:r>
              <a:rPr lang="en-US" sz="2400" dirty="0" err="1">
                <a:latin typeface="Arial"/>
                <a:ea typeface="Arial"/>
                <a:cs typeface="Arial"/>
                <a:sym typeface="Arial"/>
              </a:rPr>
              <a:t>akan</a:t>
            </a:r>
            <a:r>
              <a:rPr lang="en-US" sz="2400" dirty="0">
                <a:latin typeface="Arial"/>
                <a:ea typeface="Arial"/>
                <a:cs typeface="Arial"/>
                <a:sym typeface="Arial"/>
              </a:rPr>
              <a:t> </a:t>
            </a:r>
            <a:r>
              <a:rPr lang="en-US" sz="2400" dirty="0" err="1">
                <a:latin typeface="Arial"/>
                <a:ea typeface="Arial"/>
                <a:cs typeface="Arial"/>
                <a:sym typeface="Arial"/>
              </a:rPr>
              <a:t>menggunakan</a:t>
            </a:r>
            <a:r>
              <a:rPr lang="en-US" sz="2400" dirty="0">
                <a:latin typeface="Arial"/>
                <a:ea typeface="Arial"/>
                <a:cs typeface="Arial"/>
                <a:sym typeface="Arial"/>
              </a:rPr>
              <a:t> library Seaborn.</a:t>
            </a:r>
          </a:p>
          <a:p>
            <a:pPr marL="457200" lvl="0" indent="-317500">
              <a:lnSpc>
                <a:spcPct val="115000"/>
              </a:lnSpc>
              <a:spcBef>
                <a:spcPts val="0"/>
              </a:spcBef>
              <a:buClr>
                <a:schemeClr val="dk1"/>
              </a:buClr>
              <a:buSzPts val="1400"/>
              <a:buChar char="●"/>
            </a:pPr>
            <a:r>
              <a:rPr lang="en-US" sz="2400" b="1" dirty="0">
                <a:latin typeface="Arial"/>
                <a:ea typeface="Arial"/>
                <a:cs typeface="Arial"/>
                <a:sym typeface="Arial"/>
              </a:rPr>
              <a:t>Seaborn </a:t>
            </a:r>
            <a:r>
              <a:rPr lang="en-US" sz="2400" dirty="0" err="1">
                <a:latin typeface="Arial"/>
                <a:ea typeface="Arial"/>
                <a:cs typeface="Arial"/>
                <a:sym typeface="Arial"/>
              </a:rPr>
              <a:t>adalah</a:t>
            </a:r>
            <a:r>
              <a:rPr lang="en-US" sz="2400" dirty="0">
                <a:latin typeface="Arial"/>
                <a:ea typeface="Arial"/>
                <a:cs typeface="Arial"/>
                <a:sym typeface="Arial"/>
              </a:rPr>
              <a:t> library </a:t>
            </a:r>
            <a:r>
              <a:rPr lang="en-US" sz="2400" dirty="0" err="1">
                <a:latin typeface="Arial"/>
                <a:ea typeface="Arial"/>
                <a:cs typeface="Arial"/>
                <a:sym typeface="Arial"/>
              </a:rPr>
              <a:t>visualisasi</a:t>
            </a:r>
            <a:r>
              <a:rPr lang="en-US" sz="2400" dirty="0">
                <a:latin typeface="Arial"/>
                <a:ea typeface="Arial"/>
                <a:cs typeface="Arial"/>
                <a:sym typeface="Arial"/>
              </a:rPr>
              <a:t> yang </a:t>
            </a:r>
            <a:r>
              <a:rPr lang="en-US" sz="2400" dirty="0" err="1">
                <a:latin typeface="Arial"/>
                <a:ea typeface="Arial"/>
                <a:cs typeface="Arial"/>
                <a:sym typeface="Arial"/>
              </a:rPr>
              <a:t>dibangun</a:t>
            </a:r>
            <a:r>
              <a:rPr lang="en-US" sz="2400" dirty="0">
                <a:latin typeface="Arial"/>
                <a:ea typeface="Arial"/>
                <a:cs typeface="Arial"/>
                <a:sym typeface="Arial"/>
              </a:rPr>
              <a:t> di </a:t>
            </a:r>
            <a:r>
              <a:rPr lang="en-US" sz="2400" dirty="0" err="1">
                <a:latin typeface="Arial"/>
                <a:ea typeface="Arial"/>
                <a:cs typeface="Arial"/>
                <a:sym typeface="Arial"/>
              </a:rPr>
              <a:t>atas</a:t>
            </a:r>
            <a:r>
              <a:rPr lang="en-US" sz="2400" dirty="0">
                <a:latin typeface="Arial"/>
                <a:ea typeface="Arial"/>
                <a:cs typeface="Arial"/>
                <a:sym typeface="Arial"/>
              </a:rPr>
              <a:t> Matplotlib.</a:t>
            </a:r>
          </a:p>
          <a:p>
            <a:pPr marL="457200" lvl="0" indent="-317500">
              <a:lnSpc>
                <a:spcPct val="115000"/>
              </a:lnSpc>
              <a:spcBef>
                <a:spcPts val="0"/>
              </a:spcBef>
              <a:buClr>
                <a:schemeClr val="dk1"/>
              </a:buClr>
              <a:buSzPts val="1400"/>
              <a:buChar char="●"/>
            </a:pPr>
            <a:r>
              <a:rPr lang="en-US" sz="2400" dirty="0">
                <a:latin typeface="Arial"/>
                <a:ea typeface="Arial"/>
                <a:cs typeface="Arial"/>
                <a:sym typeface="Arial"/>
              </a:rPr>
              <a:t>Library </a:t>
            </a:r>
            <a:r>
              <a:rPr lang="en-US" sz="2400" dirty="0" err="1">
                <a:latin typeface="Arial"/>
                <a:ea typeface="Arial"/>
                <a:cs typeface="Arial"/>
                <a:sym typeface="Arial"/>
              </a:rPr>
              <a:t>ini</a:t>
            </a:r>
            <a:r>
              <a:rPr lang="en-US" sz="2400" dirty="0">
                <a:latin typeface="Arial"/>
                <a:ea typeface="Arial"/>
                <a:cs typeface="Arial"/>
                <a:sym typeface="Arial"/>
              </a:rPr>
              <a:t> </a:t>
            </a:r>
            <a:r>
              <a:rPr lang="en-US" sz="2400" dirty="0" err="1">
                <a:latin typeface="Arial"/>
                <a:ea typeface="Arial"/>
                <a:cs typeface="Arial"/>
                <a:sym typeface="Arial"/>
              </a:rPr>
              <a:t>menyediakan</a:t>
            </a:r>
            <a:r>
              <a:rPr lang="en-US" sz="2400" dirty="0">
                <a:latin typeface="Arial"/>
                <a:ea typeface="Arial"/>
                <a:cs typeface="Arial"/>
                <a:sym typeface="Arial"/>
              </a:rPr>
              <a:t> </a:t>
            </a:r>
            <a:r>
              <a:rPr lang="en-US" sz="2400" dirty="0" err="1">
                <a:latin typeface="Arial"/>
                <a:ea typeface="Arial"/>
                <a:cs typeface="Arial"/>
                <a:sym typeface="Arial"/>
              </a:rPr>
              <a:t>antarmuka</a:t>
            </a:r>
            <a:r>
              <a:rPr lang="en-US" sz="2400" dirty="0">
                <a:latin typeface="Arial"/>
                <a:ea typeface="Arial"/>
                <a:cs typeface="Arial"/>
                <a:sym typeface="Arial"/>
              </a:rPr>
              <a:t> </a:t>
            </a:r>
            <a:r>
              <a:rPr lang="en-US" sz="2400" dirty="0" err="1">
                <a:latin typeface="Arial"/>
                <a:ea typeface="Arial"/>
                <a:cs typeface="Arial"/>
                <a:sym typeface="Arial"/>
              </a:rPr>
              <a:t>tingkat</a:t>
            </a:r>
            <a:r>
              <a:rPr lang="en-US" sz="2400" dirty="0">
                <a:latin typeface="Arial"/>
                <a:ea typeface="Arial"/>
                <a:cs typeface="Arial"/>
                <a:sym typeface="Arial"/>
              </a:rPr>
              <a:t> yang </a:t>
            </a:r>
            <a:r>
              <a:rPr lang="en-US" sz="2400" dirty="0" err="1">
                <a:latin typeface="Arial"/>
                <a:ea typeface="Arial"/>
                <a:cs typeface="Arial"/>
                <a:sym typeface="Arial"/>
              </a:rPr>
              <a:t>lebih</a:t>
            </a:r>
            <a:r>
              <a:rPr lang="en-US" sz="2400" dirty="0">
                <a:latin typeface="Arial"/>
                <a:ea typeface="Arial"/>
                <a:cs typeface="Arial"/>
                <a:sym typeface="Arial"/>
              </a:rPr>
              <a:t> </a:t>
            </a:r>
            <a:r>
              <a:rPr lang="en-US" sz="2400" dirty="0" err="1">
                <a:latin typeface="Arial"/>
                <a:ea typeface="Arial"/>
                <a:cs typeface="Arial"/>
                <a:sym typeface="Arial"/>
              </a:rPr>
              <a:t>tinggi</a:t>
            </a:r>
            <a:r>
              <a:rPr lang="en-US" sz="2400" dirty="0">
                <a:latin typeface="Arial"/>
                <a:ea typeface="Arial"/>
                <a:cs typeface="Arial"/>
                <a:sym typeface="Arial"/>
              </a:rPr>
              <a:t> dan </a:t>
            </a:r>
            <a:r>
              <a:rPr lang="en-US" sz="2400" dirty="0" err="1">
                <a:latin typeface="Arial"/>
                <a:ea typeface="Arial"/>
                <a:cs typeface="Arial"/>
                <a:sym typeface="Arial"/>
              </a:rPr>
              <a:t>dapat</a:t>
            </a:r>
            <a:r>
              <a:rPr lang="en-US" sz="2400" dirty="0">
                <a:latin typeface="Arial"/>
                <a:ea typeface="Arial"/>
                <a:cs typeface="Arial"/>
                <a:sym typeface="Arial"/>
              </a:rPr>
              <a:t> </a:t>
            </a:r>
            <a:r>
              <a:rPr lang="en-US" sz="2400" dirty="0" err="1">
                <a:latin typeface="Arial"/>
                <a:ea typeface="Arial"/>
                <a:cs typeface="Arial"/>
                <a:sym typeface="Arial"/>
              </a:rPr>
              <a:t>membuat</a:t>
            </a:r>
            <a:r>
              <a:rPr lang="en-US" sz="2400" dirty="0">
                <a:latin typeface="Arial"/>
                <a:ea typeface="Arial"/>
                <a:cs typeface="Arial"/>
                <a:sym typeface="Arial"/>
              </a:rPr>
              <a:t> </a:t>
            </a:r>
            <a:r>
              <a:rPr lang="en-US" sz="2400" dirty="0" err="1">
                <a:latin typeface="Arial"/>
                <a:ea typeface="Arial"/>
                <a:cs typeface="Arial"/>
                <a:sym typeface="Arial"/>
              </a:rPr>
              <a:t>grafik</a:t>
            </a:r>
            <a:r>
              <a:rPr lang="en-US" sz="2400" dirty="0">
                <a:latin typeface="Arial"/>
                <a:ea typeface="Arial"/>
                <a:cs typeface="Arial"/>
                <a:sym typeface="Arial"/>
              </a:rPr>
              <a:t> yang </a:t>
            </a:r>
            <a:r>
              <a:rPr lang="en-US" sz="2400" dirty="0" err="1">
                <a:latin typeface="Arial"/>
                <a:ea typeface="Arial"/>
                <a:cs typeface="Arial"/>
                <a:sym typeface="Arial"/>
              </a:rPr>
              <a:t>lebih</a:t>
            </a:r>
            <a:r>
              <a:rPr lang="en-US" sz="2400" dirty="0">
                <a:latin typeface="Arial"/>
                <a:ea typeface="Arial"/>
                <a:cs typeface="Arial"/>
                <a:sym typeface="Arial"/>
              </a:rPr>
              <a:t> </a:t>
            </a:r>
            <a:r>
              <a:rPr lang="en-US" sz="2400" dirty="0" err="1">
                <a:latin typeface="Arial"/>
                <a:ea typeface="Arial"/>
                <a:cs typeface="Arial"/>
                <a:sym typeface="Arial"/>
              </a:rPr>
              <a:t>menarik</a:t>
            </a:r>
            <a:endParaRPr lang="en-US" sz="2400" dirty="0">
              <a:latin typeface="Arial"/>
              <a:ea typeface="Arial"/>
              <a:cs typeface="Arial"/>
              <a:sym typeface="Arial"/>
            </a:endParaRPr>
          </a:p>
        </p:txBody>
      </p:sp>
      <p:pic>
        <p:nvPicPr>
          <p:cNvPr id="5" name="Google Shape;388;p51" descr="Background pattern&#10;&#10;Description automatically generated">
            <a:extLst>
              <a:ext uri="{FF2B5EF4-FFF2-40B4-BE49-F238E27FC236}">
                <a16:creationId xmlns:a16="http://schemas.microsoft.com/office/drawing/2014/main" id="{EF030996-2012-A7DF-ACCC-B68681F16299}"/>
              </a:ext>
            </a:extLst>
          </p:cNvPr>
          <p:cNvPicPr preferRelativeResize="0"/>
          <p:nvPr/>
        </p:nvPicPr>
        <p:blipFill rotWithShape="1">
          <a:blip r:embed="rId2">
            <a:alphaModFix/>
          </a:blip>
          <a:srcRect/>
          <a:stretch/>
        </p:blipFill>
        <p:spPr>
          <a:xfrm>
            <a:off x="6756400" y="2214146"/>
            <a:ext cx="5000625" cy="3200400"/>
          </a:xfrm>
          <a:prstGeom prst="rect">
            <a:avLst/>
          </a:prstGeom>
          <a:noFill/>
          <a:ln>
            <a:noFill/>
          </a:ln>
        </p:spPr>
      </p:pic>
    </p:spTree>
    <p:extLst>
      <p:ext uri="{BB962C8B-B14F-4D97-AF65-F5344CB8AC3E}">
        <p14:creationId xmlns:p14="http://schemas.microsoft.com/office/powerpoint/2010/main" val="2663993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94A30-A7CA-862C-E8DA-BE61C3C28E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2ED386-D9CA-6193-FF97-CC56F968647E}"/>
              </a:ext>
            </a:extLst>
          </p:cNvPr>
          <p:cNvSpPr>
            <a:spLocks noGrp="1"/>
          </p:cNvSpPr>
          <p:nvPr>
            <p:ph type="title"/>
          </p:nvPr>
        </p:nvSpPr>
        <p:spPr>
          <a:xfrm>
            <a:off x="838200" y="365125"/>
            <a:ext cx="10515600" cy="915035"/>
          </a:xfrm>
        </p:spPr>
        <p:txBody>
          <a:bodyPr>
            <a:normAutofit/>
          </a:bodyPr>
          <a:lstStyle/>
          <a:p>
            <a:r>
              <a:rPr lang="en-US" b="1" dirty="0"/>
              <a:t>Heatmap</a:t>
            </a:r>
            <a:endParaRPr lang="en-US" dirty="0"/>
          </a:p>
        </p:txBody>
      </p:sp>
      <p:pic>
        <p:nvPicPr>
          <p:cNvPr id="5" name="Google Shape;388;p51" descr="Background pattern&#10;&#10;Description automatically generated">
            <a:extLst>
              <a:ext uri="{FF2B5EF4-FFF2-40B4-BE49-F238E27FC236}">
                <a16:creationId xmlns:a16="http://schemas.microsoft.com/office/drawing/2014/main" id="{259E0E15-FA64-FE39-A416-76A114E2B147}"/>
              </a:ext>
            </a:extLst>
          </p:cNvPr>
          <p:cNvPicPr preferRelativeResize="0"/>
          <p:nvPr/>
        </p:nvPicPr>
        <p:blipFill rotWithShape="1">
          <a:blip r:embed="rId2">
            <a:alphaModFix/>
          </a:blip>
          <a:srcRect/>
          <a:stretch/>
        </p:blipFill>
        <p:spPr>
          <a:xfrm>
            <a:off x="6756400" y="2214146"/>
            <a:ext cx="5000625" cy="3200400"/>
          </a:xfrm>
          <a:prstGeom prst="rect">
            <a:avLst/>
          </a:prstGeom>
          <a:noFill/>
          <a:ln>
            <a:noFill/>
          </a:ln>
        </p:spPr>
      </p:pic>
      <p:pic>
        <p:nvPicPr>
          <p:cNvPr id="7" name="Google Shape;396;g10054a4cacb_1_25">
            <a:extLst>
              <a:ext uri="{FF2B5EF4-FFF2-40B4-BE49-F238E27FC236}">
                <a16:creationId xmlns:a16="http://schemas.microsoft.com/office/drawing/2014/main" id="{F4486E31-DCF9-A08C-1E38-28D77B984ED9}"/>
              </a:ext>
            </a:extLst>
          </p:cNvPr>
          <p:cNvPicPr preferRelativeResize="0"/>
          <p:nvPr/>
        </p:nvPicPr>
        <p:blipFill>
          <a:blip r:embed="rId3">
            <a:alphaModFix/>
          </a:blip>
          <a:stretch>
            <a:fillRect/>
          </a:stretch>
        </p:blipFill>
        <p:spPr>
          <a:xfrm>
            <a:off x="172720" y="1519635"/>
            <a:ext cx="2717588" cy="1020739"/>
          </a:xfrm>
          <a:prstGeom prst="rect">
            <a:avLst/>
          </a:prstGeom>
          <a:noFill/>
          <a:ln>
            <a:noFill/>
          </a:ln>
        </p:spPr>
      </p:pic>
      <p:sp>
        <p:nvSpPr>
          <p:cNvPr id="8" name="Google Shape;397;g10054a4cacb_1_25">
            <a:extLst>
              <a:ext uri="{FF2B5EF4-FFF2-40B4-BE49-F238E27FC236}">
                <a16:creationId xmlns:a16="http://schemas.microsoft.com/office/drawing/2014/main" id="{46657076-57A5-29B0-1D49-9B3F33A6ED50}"/>
              </a:ext>
            </a:extLst>
          </p:cNvPr>
          <p:cNvSpPr/>
          <p:nvPr/>
        </p:nvSpPr>
        <p:spPr>
          <a:xfrm>
            <a:off x="3620320" y="1628943"/>
            <a:ext cx="1577933" cy="527277"/>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id" dirty="0"/>
              <a:t>Import library</a:t>
            </a:r>
            <a:endParaRPr dirty="0"/>
          </a:p>
        </p:txBody>
      </p:sp>
      <p:cxnSp>
        <p:nvCxnSpPr>
          <p:cNvPr id="9" name="Google Shape;398;g10054a4cacb_1_25">
            <a:extLst>
              <a:ext uri="{FF2B5EF4-FFF2-40B4-BE49-F238E27FC236}">
                <a16:creationId xmlns:a16="http://schemas.microsoft.com/office/drawing/2014/main" id="{76166F5D-5D64-52CC-C220-E0720DB52D89}"/>
              </a:ext>
            </a:extLst>
          </p:cNvPr>
          <p:cNvCxnSpPr>
            <a:cxnSpLocks/>
          </p:cNvCxnSpPr>
          <p:nvPr/>
        </p:nvCxnSpPr>
        <p:spPr>
          <a:xfrm>
            <a:off x="2952533" y="1940810"/>
            <a:ext cx="667787" cy="0"/>
          </a:xfrm>
          <a:prstGeom prst="straightConnector1">
            <a:avLst/>
          </a:prstGeom>
          <a:noFill/>
          <a:ln w="19050" cap="flat" cmpd="sng">
            <a:solidFill>
              <a:srgbClr val="1EA4B2"/>
            </a:solidFill>
            <a:prstDash val="solid"/>
            <a:round/>
            <a:headEnd type="none" w="med" len="med"/>
            <a:tailEnd type="triangle" w="med" len="med"/>
          </a:ln>
        </p:spPr>
      </p:cxnSp>
      <p:pic>
        <p:nvPicPr>
          <p:cNvPr id="10" name="Google Shape;399;g10054a4cacb_1_25">
            <a:extLst>
              <a:ext uri="{FF2B5EF4-FFF2-40B4-BE49-F238E27FC236}">
                <a16:creationId xmlns:a16="http://schemas.microsoft.com/office/drawing/2014/main" id="{678D3C4B-38E4-9333-FFEA-43E2B527688A}"/>
              </a:ext>
            </a:extLst>
          </p:cNvPr>
          <p:cNvPicPr preferRelativeResize="0"/>
          <p:nvPr/>
        </p:nvPicPr>
        <p:blipFill>
          <a:blip r:embed="rId4">
            <a:alphaModFix/>
          </a:blip>
          <a:stretch>
            <a:fillRect/>
          </a:stretch>
        </p:blipFill>
        <p:spPr>
          <a:xfrm>
            <a:off x="172720" y="2743174"/>
            <a:ext cx="6024880" cy="3535706"/>
          </a:xfrm>
          <a:prstGeom prst="rect">
            <a:avLst/>
          </a:prstGeom>
          <a:noFill/>
          <a:ln>
            <a:noFill/>
          </a:ln>
        </p:spPr>
      </p:pic>
      <p:cxnSp>
        <p:nvCxnSpPr>
          <p:cNvPr id="11" name="Google Shape;400;g10054a4cacb_1_25">
            <a:extLst>
              <a:ext uri="{FF2B5EF4-FFF2-40B4-BE49-F238E27FC236}">
                <a16:creationId xmlns:a16="http://schemas.microsoft.com/office/drawing/2014/main" id="{456FA47E-6B0A-469A-00D1-3E93C082A8C2}"/>
              </a:ext>
            </a:extLst>
          </p:cNvPr>
          <p:cNvCxnSpPr>
            <a:cxnSpLocks/>
          </p:cNvCxnSpPr>
          <p:nvPr/>
        </p:nvCxnSpPr>
        <p:spPr>
          <a:xfrm flipH="1">
            <a:off x="5161907" y="3318329"/>
            <a:ext cx="1433" cy="2130112"/>
          </a:xfrm>
          <a:prstGeom prst="straightConnector1">
            <a:avLst/>
          </a:prstGeom>
          <a:noFill/>
          <a:ln w="19050" cap="flat" cmpd="sng">
            <a:solidFill>
              <a:srgbClr val="1EA4B2"/>
            </a:solidFill>
            <a:prstDash val="solid"/>
            <a:round/>
            <a:headEnd type="none" w="med" len="med"/>
            <a:tailEnd type="none" w="med" len="med"/>
          </a:ln>
        </p:spPr>
      </p:cxnSp>
      <p:sp>
        <p:nvSpPr>
          <p:cNvPr id="12" name="Google Shape;401;g10054a4cacb_1_25">
            <a:extLst>
              <a:ext uri="{FF2B5EF4-FFF2-40B4-BE49-F238E27FC236}">
                <a16:creationId xmlns:a16="http://schemas.microsoft.com/office/drawing/2014/main" id="{659E2CE2-F4D4-FA47-4907-C3F2948A61A0}"/>
              </a:ext>
            </a:extLst>
          </p:cNvPr>
          <p:cNvSpPr/>
          <p:nvPr/>
        </p:nvSpPr>
        <p:spPr>
          <a:xfrm>
            <a:off x="5865140" y="3998964"/>
            <a:ext cx="664919" cy="391929"/>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id" dirty="0"/>
              <a:t>Data</a:t>
            </a:r>
            <a:endParaRPr dirty="0"/>
          </a:p>
        </p:txBody>
      </p:sp>
      <p:cxnSp>
        <p:nvCxnSpPr>
          <p:cNvPr id="13" name="Google Shape;402;g10054a4cacb_1_25">
            <a:extLst>
              <a:ext uri="{FF2B5EF4-FFF2-40B4-BE49-F238E27FC236}">
                <a16:creationId xmlns:a16="http://schemas.microsoft.com/office/drawing/2014/main" id="{8D903370-620B-A839-A30C-B0CD08C6053C}"/>
              </a:ext>
            </a:extLst>
          </p:cNvPr>
          <p:cNvCxnSpPr>
            <a:cxnSpLocks/>
          </p:cNvCxnSpPr>
          <p:nvPr/>
        </p:nvCxnSpPr>
        <p:spPr>
          <a:xfrm>
            <a:off x="5185633" y="4194929"/>
            <a:ext cx="667787" cy="0"/>
          </a:xfrm>
          <a:prstGeom prst="straightConnector1">
            <a:avLst/>
          </a:prstGeom>
          <a:noFill/>
          <a:ln w="19050" cap="flat" cmpd="sng">
            <a:solidFill>
              <a:srgbClr val="1EA4B2"/>
            </a:solidFill>
            <a:prstDash val="solid"/>
            <a:round/>
            <a:headEnd type="none" w="med" len="med"/>
            <a:tailEnd type="triangle" w="med" len="med"/>
          </a:ln>
        </p:spPr>
      </p:cxnSp>
      <p:cxnSp>
        <p:nvCxnSpPr>
          <p:cNvPr id="14" name="Google Shape;403;g10054a4cacb_1_25">
            <a:extLst>
              <a:ext uri="{FF2B5EF4-FFF2-40B4-BE49-F238E27FC236}">
                <a16:creationId xmlns:a16="http://schemas.microsoft.com/office/drawing/2014/main" id="{BAFBCAB4-6466-0C35-68A9-DAB023A6B390}"/>
              </a:ext>
            </a:extLst>
          </p:cNvPr>
          <p:cNvCxnSpPr>
            <a:cxnSpLocks/>
          </p:cNvCxnSpPr>
          <p:nvPr/>
        </p:nvCxnSpPr>
        <p:spPr>
          <a:xfrm>
            <a:off x="2251865" y="5309318"/>
            <a:ext cx="0" cy="850004"/>
          </a:xfrm>
          <a:prstGeom prst="straightConnector1">
            <a:avLst/>
          </a:prstGeom>
          <a:noFill/>
          <a:ln w="19050" cap="flat" cmpd="sng">
            <a:solidFill>
              <a:srgbClr val="1EA4B2"/>
            </a:solidFill>
            <a:prstDash val="solid"/>
            <a:round/>
            <a:headEnd type="none" w="med" len="med"/>
            <a:tailEnd type="none" w="med" len="med"/>
          </a:ln>
        </p:spPr>
      </p:cxnSp>
      <p:sp>
        <p:nvSpPr>
          <p:cNvPr id="15" name="Google Shape;404;g10054a4cacb_1_25">
            <a:extLst>
              <a:ext uri="{FF2B5EF4-FFF2-40B4-BE49-F238E27FC236}">
                <a16:creationId xmlns:a16="http://schemas.microsoft.com/office/drawing/2014/main" id="{5B302782-A1C6-17C5-C7E2-21999D30D1E8}"/>
              </a:ext>
            </a:extLst>
          </p:cNvPr>
          <p:cNvSpPr/>
          <p:nvPr/>
        </p:nvSpPr>
        <p:spPr>
          <a:xfrm>
            <a:off x="2917551" y="5494856"/>
            <a:ext cx="5173197" cy="540537"/>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id" dirty="0"/>
              <a:t>Visualisasi  heatmap dengan colormap “coolwarm”</a:t>
            </a:r>
            <a:endParaRPr dirty="0"/>
          </a:p>
        </p:txBody>
      </p:sp>
      <p:cxnSp>
        <p:nvCxnSpPr>
          <p:cNvPr id="16" name="Google Shape;405;g10054a4cacb_1_25">
            <a:extLst>
              <a:ext uri="{FF2B5EF4-FFF2-40B4-BE49-F238E27FC236}">
                <a16:creationId xmlns:a16="http://schemas.microsoft.com/office/drawing/2014/main" id="{00BD7DD0-DDBF-F188-A967-3793179508F9}"/>
              </a:ext>
            </a:extLst>
          </p:cNvPr>
          <p:cNvCxnSpPr>
            <a:cxnSpLocks/>
          </p:cNvCxnSpPr>
          <p:nvPr/>
        </p:nvCxnSpPr>
        <p:spPr>
          <a:xfrm>
            <a:off x="2249764" y="5750558"/>
            <a:ext cx="667787" cy="0"/>
          </a:xfrm>
          <a:prstGeom prst="straightConnector1">
            <a:avLst/>
          </a:prstGeom>
          <a:noFill/>
          <a:ln w="19050" cap="flat" cmpd="sng">
            <a:solidFill>
              <a:srgbClr val="1EA4B2"/>
            </a:solidFill>
            <a:prstDash val="solid"/>
            <a:round/>
            <a:headEnd type="none" w="med" len="med"/>
            <a:tailEnd type="triangle" w="med" len="med"/>
          </a:ln>
        </p:spPr>
      </p:cxnSp>
    </p:spTree>
    <p:extLst>
      <p:ext uri="{BB962C8B-B14F-4D97-AF65-F5344CB8AC3E}">
        <p14:creationId xmlns:p14="http://schemas.microsoft.com/office/powerpoint/2010/main" val="39433193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A610B-7372-10E0-D7AD-7136F0600E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1CBFA8-E460-8F66-2C94-4F6DDF7F8F9A}"/>
              </a:ext>
            </a:extLst>
          </p:cNvPr>
          <p:cNvSpPr>
            <a:spLocks noGrp="1"/>
          </p:cNvSpPr>
          <p:nvPr>
            <p:ph type="title"/>
          </p:nvPr>
        </p:nvSpPr>
        <p:spPr>
          <a:xfrm>
            <a:off x="838200" y="365125"/>
            <a:ext cx="10515600" cy="915035"/>
          </a:xfrm>
        </p:spPr>
        <p:txBody>
          <a:bodyPr>
            <a:normAutofit/>
          </a:bodyPr>
          <a:lstStyle/>
          <a:p>
            <a:r>
              <a:rPr lang="en-US" b="1" dirty="0"/>
              <a:t>Histogram</a:t>
            </a:r>
            <a:endParaRPr lang="en-US" dirty="0"/>
          </a:p>
        </p:txBody>
      </p:sp>
      <p:sp>
        <p:nvSpPr>
          <p:cNvPr id="3" name="Content Placeholder 2">
            <a:extLst>
              <a:ext uri="{FF2B5EF4-FFF2-40B4-BE49-F238E27FC236}">
                <a16:creationId xmlns:a16="http://schemas.microsoft.com/office/drawing/2014/main" id="{7C7E898E-D1D3-34B5-711E-A5BA21EE31FC}"/>
              </a:ext>
            </a:extLst>
          </p:cNvPr>
          <p:cNvSpPr>
            <a:spLocks noGrp="1"/>
          </p:cNvSpPr>
          <p:nvPr>
            <p:ph idx="1"/>
          </p:nvPr>
        </p:nvSpPr>
        <p:spPr>
          <a:xfrm>
            <a:off x="309880" y="1825625"/>
            <a:ext cx="6446520" cy="4351338"/>
          </a:xfrm>
        </p:spPr>
        <p:txBody>
          <a:bodyPr>
            <a:normAutofit lnSpcReduction="10000"/>
          </a:bodyPr>
          <a:lstStyle/>
          <a:p>
            <a:pPr marL="457200" lvl="0" indent="-332814">
              <a:lnSpc>
                <a:spcPct val="115000"/>
              </a:lnSpc>
              <a:spcBef>
                <a:spcPts val="0"/>
              </a:spcBef>
              <a:buClr>
                <a:schemeClr val="dk1"/>
              </a:buClr>
              <a:buSzPct val="100840"/>
              <a:buChar char="●"/>
            </a:pPr>
            <a:r>
              <a:rPr lang="en-US" sz="2400" b="1" dirty="0">
                <a:latin typeface="Arial"/>
                <a:ea typeface="Arial"/>
                <a:cs typeface="Arial"/>
                <a:sym typeface="Arial"/>
              </a:rPr>
              <a:t>Histogram </a:t>
            </a:r>
            <a:r>
              <a:rPr lang="en-US" sz="2400" dirty="0" err="1">
                <a:latin typeface="Arial"/>
                <a:ea typeface="Arial"/>
                <a:cs typeface="Arial"/>
                <a:sym typeface="Arial"/>
              </a:rPr>
              <a:t>adalah</a:t>
            </a:r>
            <a:r>
              <a:rPr lang="en-US" sz="2400" dirty="0">
                <a:latin typeface="Arial"/>
                <a:ea typeface="Arial"/>
                <a:cs typeface="Arial"/>
                <a:sym typeface="Arial"/>
              </a:rPr>
              <a:t> salah </a:t>
            </a:r>
            <a:r>
              <a:rPr lang="en-US" sz="2400" dirty="0" err="1">
                <a:latin typeface="Arial"/>
                <a:ea typeface="Arial"/>
                <a:cs typeface="Arial"/>
                <a:sym typeface="Arial"/>
              </a:rPr>
              <a:t>satu</a:t>
            </a:r>
            <a:r>
              <a:rPr lang="en-US" sz="2400" dirty="0">
                <a:latin typeface="Arial"/>
                <a:ea typeface="Arial"/>
                <a:cs typeface="Arial"/>
                <a:sym typeface="Arial"/>
              </a:rPr>
              <a:t> </a:t>
            </a:r>
            <a:r>
              <a:rPr lang="en-US" sz="2400" dirty="0" err="1">
                <a:latin typeface="Arial"/>
                <a:ea typeface="Arial"/>
                <a:cs typeface="Arial"/>
                <a:sym typeface="Arial"/>
              </a:rPr>
              <a:t>visualisasi</a:t>
            </a:r>
            <a:r>
              <a:rPr lang="en-US" sz="2400" dirty="0">
                <a:latin typeface="Arial"/>
                <a:ea typeface="Arial"/>
                <a:cs typeface="Arial"/>
                <a:sym typeface="Arial"/>
              </a:rPr>
              <a:t> yang </a:t>
            </a:r>
            <a:r>
              <a:rPr lang="en-US" sz="2400" dirty="0" err="1">
                <a:latin typeface="Arial"/>
                <a:ea typeface="Arial"/>
                <a:cs typeface="Arial"/>
                <a:sym typeface="Arial"/>
              </a:rPr>
              <a:t>cukup</a:t>
            </a:r>
            <a:r>
              <a:rPr lang="en-US" sz="2400" dirty="0">
                <a:latin typeface="Arial"/>
                <a:ea typeface="Arial"/>
                <a:cs typeface="Arial"/>
                <a:sym typeface="Arial"/>
              </a:rPr>
              <a:t> </a:t>
            </a:r>
            <a:r>
              <a:rPr lang="en-US" sz="2400" dirty="0" err="1">
                <a:latin typeface="Arial"/>
                <a:ea typeface="Arial"/>
                <a:cs typeface="Arial"/>
                <a:sym typeface="Arial"/>
              </a:rPr>
              <a:t>penting</a:t>
            </a:r>
            <a:r>
              <a:rPr lang="en-US" sz="2400" dirty="0">
                <a:latin typeface="Arial"/>
                <a:ea typeface="Arial"/>
                <a:cs typeface="Arial"/>
                <a:sym typeface="Arial"/>
              </a:rPr>
              <a:t> </a:t>
            </a:r>
            <a:r>
              <a:rPr lang="en-US" sz="2400" dirty="0" err="1">
                <a:latin typeface="Arial"/>
                <a:ea typeface="Arial"/>
                <a:cs typeface="Arial"/>
                <a:sym typeface="Arial"/>
              </a:rPr>
              <a:t>dalam</a:t>
            </a:r>
            <a:r>
              <a:rPr lang="en-US" sz="2400" dirty="0">
                <a:latin typeface="Arial"/>
                <a:ea typeface="Arial"/>
                <a:cs typeface="Arial"/>
                <a:sym typeface="Arial"/>
              </a:rPr>
              <a:t> </a:t>
            </a:r>
            <a:r>
              <a:rPr lang="en-US" sz="2400" dirty="0" err="1">
                <a:latin typeface="Arial"/>
                <a:ea typeface="Arial"/>
                <a:cs typeface="Arial"/>
                <a:sym typeface="Arial"/>
              </a:rPr>
              <a:t>memahami</a:t>
            </a:r>
            <a:r>
              <a:rPr lang="en-US" sz="2400" dirty="0">
                <a:latin typeface="Arial"/>
                <a:ea typeface="Arial"/>
                <a:cs typeface="Arial"/>
                <a:sym typeface="Arial"/>
              </a:rPr>
              <a:t> </a:t>
            </a:r>
            <a:r>
              <a:rPr lang="en-US" sz="2400" dirty="0" err="1">
                <a:latin typeface="Arial"/>
                <a:ea typeface="Arial"/>
                <a:cs typeface="Arial"/>
                <a:sym typeface="Arial"/>
              </a:rPr>
              <a:t>distribusi</a:t>
            </a:r>
            <a:r>
              <a:rPr lang="en-US" sz="2400" dirty="0">
                <a:latin typeface="Arial"/>
                <a:ea typeface="Arial"/>
                <a:cs typeface="Arial"/>
                <a:sym typeface="Arial"/>
              </a:rPr>
              <a:t> pada data </a:t>
            </a:r>
            <a:r>
              <a:rPr lang="en-US" sz="2400" dirty="0" err="1">
                <a:latin typeface="Arial"/>
                <a:ea typeface="Arial"/>
                <a:cs typeface="Arial"/>
                <a:sym typeface="Arial"/>
              </a:rPr>
              <a:t>kita</a:t>
            </a:r>
            <a:r>
              <a:rPr lang="en-US" sz="2400" dirty="0">
                <a:latin typeface="Arial"/>
                <a:ea typeface="Arial"/>
                <a:cs typeface="Arial"/>
                <a:sym typeface="Arial"/>
              </a:rPr>
              <a:t>. Pandas Histogram </a:t>
            </a:r>
            <a:r>
              <a:rPr lang="en-US" sz="2400" dirty="0" err="1">
                <a:latin typeface="Arial"/>
                <a:ea typeface="Arial"/>
                <a:cs typeface="Arial"/>
                <a:sym typeface="Arial"/>
              </a:rPr>
              <a:t>menyediakan</a:t>
            </a:r>
            <a:r>
              <a:rPr lang="en-US" sz="2400" dirty="0">
                <a:latin typeface="Arial"/>
                <a:ea typeface="Arial"/>
                <a:cs typeface="Arial"/>
                <a:sym typeface="Arial"/>
              </a:rPr>
              <a:t> method yang </a:t>
            </a:r>
            <a:r>
              <a:rPr lang="en-US" sz="2400" dirty="0" err="1">
                <a:latin typeface="Arial"/>
                <a:ea typeface="Arial"/>
                <a:cs typeface="Arial"/>
                <a:sym typeface="Arial"/>
              </a:rPr>
              <a:t>memudahkan</a:t>
            </a:r>
            <a:r>
              <a:rPr lang="en-US" sz="2400" dirty="0">
                <a:latin typeface="Arial"/>
                <a:ea typeface="Arial"/>
                <a:cs typeface="Arial"/>
                <a:sym typeface="Arial"/>
              </a:rPr>
              <a:t> </a:t>
            </a:r>
            <a:r>
              <a:rPr lang="en-US" sz="2400" dirty="0" err="1">
                <a:latin typeface="Arial"/>
                <a:ea typeface="Arial"/>
                <a:cs typeface="Arial"/>
                <a:sym typeface="Arial"/>
              </a:rPr>
              <a:t>kita</a:t>
            </a:r>
            <a:r>
              <a:rPr lang="en-US" sz="2400" dirty="0">
                <a:latin typeface="Arial"/>
                <a:ea typeface="Arial"/>
                <a:cs typeface="Arial"/>
                <a:sym typeface="Arial"/>
              </a:rPr>
              <a:t> </a:t>
            </a:r>
            <a:r>
              <a:rPr lang="en-US" sz="2400" dirty="0" err="1">
                <a:latin typeface="Arial"/>
                <a:ea typeface="Arial"/>
                <a:cs typeface="Arial"/>
                <a:sym typeface="Arial"/>
              </a:rPr>
              <a:t>untuk</a:t>
            </a:r>
            <a:r>
              <a:rPr lang="en-US" sz="2400" dirty="0">
                <a:latin typeface="Arial"/>
                <a:ea typeface="Arial"/>
                <a:cs typeface="Arial"/>
                <a:sym typeface="Arial"/>
              </a:rPr>
              <a:t> </a:t>
            </a:r>
            <a:r>
              <a:rPr lang="en-US" sz="2400" dirty="0" err="1">
                <a:latin typeface="Arial"/>
                <a:ea typeface="Arial"/>
                <a:cs typeface="Arial"/>
                <a:sym typeface="Arial"/>
              </a:rPr>
              <a:t>membuat</a:t>
            </a:r>
            <a:r>
              <a:rPr lang="en-US" sz="2400" dirty="0">
                <a:latin typeface="Arial"/>
                <a:ea typeface="Arial"/>
                <a:cs typeface="Arial"/>
                <a:sym typeface="Arial"/>
              </a:rPr>
              <a:t> histogram.</a:t>
            </a:r>
          </a:p>
          <a:p>
            <a:pPr marL="457200" lvl="0" indent="-332814">
              <a:lnSpc>
                <a:spcPct val="115000"/>
              </a:lnSpc>
              <a:spcBef>
                <a:spcPts val="0"/>
              </a:spcBef>
              <a:buClr>
                <a:schemeClr val="dk1"/>
              </a:buClr>
              <a:buSzPct val="100840"/>
              <a:buChar char="●"/>
            </a:pPr>
            <a:r>
              <a:rPr lang="en-US" sz="2400" dirty="0">
                <a:latin typeface="Arial"/>
                <a:ea typeface="Arial"/>
                <a:cs typeface="Arial"/>
                <a:sym typeface="Arial"/>
              </a:rPr>
              <a:t>Plot histogram </a:t>
            </a:r>
            <a:r>
              <a:rPr lang="en-US" sz="2400" dirty="0" err="1">
                <a:latin typeface="Arial"/>
                <a:ea typeface="Arial"/>
                <a:cs typeface="Arial"/>
                <a:sym typeface="Arial"/>
              </a:rPr>
              <a:t>secara</a:t>
            </a:r>
            <a:r>
              <a:rPr lang="en-US" sz="2400" dirty="0">
                <a:latin typeface="Arial"/>
                <a:ea typeface="Arial"/>
                <a:cs typeface="Arial"/>
                <a:sym typeface="Arial"/>
              </a:rPr>
              <a:t> </a:t>
            </a:r>
            <a:r>
              <a:rPr lang="en-US" sz="2400" dirty="0" err="1">
                <a:latin typeface="Arial"/>
                <a:ea typeface="Arial"/>
                <a:cs typeface="Arial"/>
                <a:sym typeface="Arial"/>
              </a:rPr>
              <a:t>tradisional</a:t>
            </a:r>
            <a:r>
              <a:rPr lang="en-US" sz="2400" dirty="0">
                <a:latin typeface="Arial"/>
                <a:ea typeface="Arial"/>
                <a:cs typeface="Arial"/>
                <a:sym typeface="Arial"/>
              </a:rPr>
              <a:t> </a:t>
            </a:r>
            <a:r>
              <a:rPr lang="en-US" sz="2400" dirty="0" err="1">
                <a:latin typeface="Arial"/>
                <a:ea typeface="Arial"/>
                <a:cs typeface="Arial"/>
                <a:sym typeface="Arial"/>
              </a:rPr>
              <a:t>hanya</a:t>
            </a:r>
            <a:r>
              <a:rPr lang="en-US" sz="2400" dirty="0">
                <a:latin typeface="Arial"/>
                <a:ea typeface="Arial"/>
                <a:cs typeface="Arial"/>
                <a:sym typeface="Arial"/>
              </a:rPr>
              <a:t> </a:t>
            </a:r>
            <a:r>
              <a:rPr lang="en-US" sz="2400" dirty="0" err="1">
                <a:latin typeface="Arial"/>
                <a:ea typeface="Arial"/>
                <a:cs typeface="Arial"/>
                <a:sym typeface="Arial"/>
              </a:rPr>
              <a:t>membutuhkan</a:t>
            </a:r>
            <a:r>
              <a:rPr lang="en-US" sz="2400" dirty="0">
                <a:latin typeface="Arial"/>
                <a:ea typeface="Arial"/>
                <a:cs typeface="Arial"/>
                <a:sym typeface="Arial"/>
              </a:rPr>
              <a:t> </a:t>
            </a:r>
            <a:r>
              <a:rPr lang="en-US" sz="2400" dirty="0" err="1">
                <a:latin typeface="Arial"/>
                <a:ea typeface="Arial"/>
                <a:cs typeface="Arial"/>
                <a:sym typeface="Arial"/>
              </a:rPr>
              <a:t>satu</a:t>
            </a:r>
            <a:r>
              <a:rPr lang="en-US" sz="2400" dirty="0">
                <a:latin typeface="Arial"/>
                <a:ea typeface="Arial"/>
                <a:cs typeface="Arial"/>
                <a:sym typeface="Arial"/>
              </a:rPr>
              <a:t> </a:t>
            </a:r>
            <a:r>
              <a:rPr lang="en-US" sz="2400" dirty="0" err="1">
                <a:latin typeface="Arial"/>
                <a:ea typeface="Arial"/>
                <a:cs typeface="Arial"/>
                <a:sym typeface="Arial"/>
              </a:rPr>
              <a:t>dimensi</a:t>
            </a:r>
            <a:r>
              <a:rPr lang="en-US" sz="2400" dirty="0">
                <a:latin typeface="Arial"/>
                <a:ea typeface="Arial"/>
                <a:cs typeface="Arial"/>
                <a:sym typeface="Arial"/>
              </a:rPr>
              <a:t> data. </a:t>
            </a:r>
          </a:p>
          <a:p>
            <a:pPr marL="457200" lvl="0" indent="-332814">
              <a:lnSpc>
                <a:spcPct val="115000"/>
              </a:lnSpc>
              <a:spcBef>
                <a:spcPts val="0"/>
              </a:spcBef>
              <a:buClr>
                <a:schemeClr val="dk1"/>
              </a:buClr>
              <a:buSzPct val="100840"/>
              <a:buChar char="●"/>
            </a:pPr>
            <a:r>
              <a:rPr lang="en-US" sz="2400" dirty="0">
                <a:latin typeface="Arial"/>
                <a:ea typeface="Arial"/>
                <a:cs typeface="Arial"/>
                <a:sym typeface="Arial"/>
              </a:rPr>
              <a:t>Ini </a:t>
            </a:r>
            <a:r>
              <a:rPr lang="en-US" sz="2400" dirty="0" err="1">
                <a:latin typeface="Arial"/>
                <a:ea typeface="Arial"/>
                <a:cs typeface="Arial"/>
                <a:sym typeface="Arial"/>
              </a:rPr>
              <a:t>dimaksudkan</a:t>
            </a:r>
            <a:r>
              <a:rPr lang="en-US" sz="2400" dirty="0">
                <a:latin typeface="Arial"/>
                <a:ea typeface="Arial"/>
                <a:cs typeface="Arial"/>
                <a:sym typeface="Arial"/>
              </a:rPr>
              <a:t> </a:t>
            </a:r>
            <a:r>
              <a:rPr lang="en-US" sz="2400" dirty="0" err="1">
                <a:latin typeface="Arial"/>
                <a:ea typeface="Arial"/>
                <a:cs typeface="Arial"/>
                <a:sym typeface="Arial"/>
              </a:rPr>
              <a:t>untuk</a:t>
            </a:r>
            <a:r>
              <a:rPr lang="en-US" sz="2400" dirty="0">
                <a:latin typeface="Arial"/>
                <a:ea typeface="Arial"/>
                <a:cs typeface="Arial"/>
                <a:sym typeface="Arial"/>
              </a:rPr>
              <a:t> </a:t>
            </a:r>
            <a:r>
              <a:rPr lang="en-US" sz="2400" dirty="0" err="1">
                <a:latin typeface="Arial"/>
                <a:ea typeface="Arial"/>
                <a:cs typeface="Arial"/>
                <a:sym typeface="Arial"/>
              </a:rPr>
              <a:t>menunjukkan</a:t>
            </a:r>
            <a:r>
              <a:rPr lang="en-US" sz="2400" dirty="0">
                <a:latin typeface="Arial"/>
                <a:ea typeface="Arial"/>
                <a:cs typeface="Arial"/>
                <a:sym typeface="Arial"/>
              </a:rPr>
              <a:t> </a:t>
            </a:r>
            <a:r>
              <a:rPr lang="en-US" sz="2400" dirty="0" err="1">
                <a:latin typeface="Arial"/>
                <a:ea typeface="Arial"/>
                <a:cs typeface="Arial"/>
                <a:sym typeface="Arial"/>
              </a:rPr>
              <a:t>jumlah</a:t>
            </a:r>
            <a:r>
              <a:rPr lang="en-US" sz="2400" dirty="0">
                <a:latin typeface="Arial"/>
                <a:ea typeface="Arial"/>
                <a:cs typeface="Arial"/>
                <a:sym typeface="Arial"/>
              </a:rPr>
              <a:t> </a:t>
            </a:r>
            <a:r>
              <a:rPr lang="en-US" sz="2400" dirty="0" err="1">
                <a:latin typeface="Arial"/>
                <a:ea typeface="Arial"/>
                <a:cs typeface="Arial"/>
                <a:sym typeface="Arial"/>
              </a:rPr>
              <a:t>nilai</a:t>
            </a:r>
            <a:r>
              <a:rPr lang="en-US" sz="2400" dirty="0">
                <a:latin typeface="Arial"/>
                <a:ea typeface="Arial"/>
                <a:cs typeface="Arial"/>
                <a:sym typeface="Arial"/>
              </a:rPr>
              <a:t> </a:t>
            </a:r>
            <a:r>
              <a:rPr lang="en-US" sz="2400" dirty="0" err="1">
                <a:latin typeface="Arial"/>
                <a:ea typeface="Arial"/>
                <a:cs typeface="Arial"/>
                <a:sym typeface="Arial"/>
              </a:rPr>
              <a:t>atau</a:t>
            </a:r>
            <a:r>
              <a:rPr lang="en-US" sz="2400" dirty="0">
                <a:latin typeface="Arial"/>
                <a:ea typeface="Arial"/>
                <a:cs typeface="Arial"/>
                <a:sym typeface="Arial"/>
              </a:rPr>
              <a:t> </a:t>
            </a:r>
            <a:r>
              <a:rPr lang="en-US" sz="2400" dirty="0" err="1">
                <a:latin typeface="Arial"/>
                <a:ea typeface="Arial"/>
                <a:cs typeface="Arial"/>
                <a:sym typeface="Arial"/>
              </a:rPr>
              <a:t>kumpulan</a:t>
            </a:r>
            <a:r>
              <a:rPr lang="en-US" sz="2400" dirty="0">
                <a:latin typeface="Arial"/>
                <a:ea typeface="Arial"/>
                <a:cs typeface="Arial"/>
                <a:sym typeface="Arial"/>
              </a:rPr>
              <a:t> </a:t>
            </a:r>
            <a:r>
              <a:rPr lang="en-US" sz="2400" dirty="0" err="1">
                <a:latin typeface="Arial"/>
                <a:ea typeface="Arial"/>
                <a:cs typeface="Arial"/>
                <a:sym typeface="Arial"/>
              </a:rPr>
              <a:t>nilai</a:t>
            </a:r>
            <a:r>
              <a:rPr lang="en-US" sz="2400" dirty="0">
                <a:latin typeface="Arial"/>
                <a:ea typeface="Arial"/>
                <a:cs typeface="Arial"/>
                <a:sym typeface="Arial"/>
              </a:rPr>
              <a:t> </a:t>
            </a:r>
            <a:r>
              <a:rPr lang="en-US" sz="2400" dirty="0" err="1">
                <a:latin typeface="Arial"/>
                <a:ea typeface="Arial"/>
                <a:cs typeface="Arial"/>
                <a:sym typeface="Arial"/>
              </a:rPr>
              <a:t>secara</a:t>
            </a:r>
            <a:r>
              <a:rPr lang="en-US" sz="2400" dirty="0">
                <a:latin typeface="Arial"/>
                <a:ea typeface="Arial"/>
                <a:cs typeface="Arial"/>
                <a:sym typeface="Arial"/>
              </a:rPr>
              <a:t> serial.</a:t>
            </a:r>
          </a:p>
        </p:txBody>
      </p:sp>
      <p:pic>
        <p:nvPicPr>
          <p:cNvPr id="8" name="Google Shape;413;p52">
            <a:extLst>
              <a:ext uri="{FF2B5EF4-FFF2-40B4-BE49-F238E27FC236}">
                <a16:creationId xmlns:a16="http://schemas.microsoft.com/office/drawing/2014/main" id="{45DBA769-3FFA-AB17-2BDF-8D3D48240BE2}"/>
              </a:ext>
            </a:extLst>
          </p:cNvPr>
          <p:cNvPicPr preferRelativeResize="0"/>
          <p:nvPr/>
        </p:nvPicPr>
        <p:blipFill rotWithShape="1">
          <a:blip r:embed="rId2">
            <a:alphaModFix/>
          </a:blip>
          <a:srcRect/>
          <a:stretch/>
        </p:blipFill>
        <p:spPr>
          <a:xfrm>
            <a:off x="7058476" y="2103705"/>
            <a:ext cx="4675505" cy="3351530"/>
          </a:xfrm>
          <a:prstGeom prst="rect">
            <a:avLst/>
          </a:prstGeom>
          <a:noFill/>
          <a:ln>
            <a:noFill/>
          </a:ln>
        </p:spPr>
      </p:pic>
    </p:spTree>
    <p:extLst>
      <p:ext uri="{BB962C8B-B14F-4D97-AF65-F5344CB8AC3E}">
        <p14:creationId xmlns:p14="http://schemas.microsoft.com/office/powerpoint/2010/main" val="21308749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6C6FA-39D6-0B75-DC64-6EF78EC558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26FC3C-4B77-EDC8-4E14-3D44AFD594B4}"/>
              </a:ext>
            </a:extLst>
          </p:cNvPr>
          <p:cNvSpPr>
            <a:spLocks noGrp="1"/>
          </p:cNvSpPr>
          <p:nvPr>
            <p:ph type="title"/>
          </p:nvPr>
        </p:nvSpPr>
        <p:spPr>
          <a:xfrm>
            <a:off x="838200" y="365125"/>
            <a:ext cx="10515600" cy="915035"/>
          </a:xfrm>
        </p:spPr>
        <p:txBody>
          <a:bodyPr>
            <a:normAutofit/>
          </a:bodyPr>
          <a:lstStyle/>
          <a:p>
            <a:r>
              <a:rPr lang="en-US" b="1" dirty="0"/>
              <a:t>Histogram</a:t>
            </a:r>
            <a:endParaRPr lang="en-US" dirty="0"/>
          </a:p>
        </p:txBody>
      </p:sp>
      <p:sp>
        <p:nvSpPr>
          <p:cNvPr id="3" name="Content Placeholder 2">
            <a:extLst>
              <a:ext uri="{FF2B5EF4-FFF2-40B4-BE49-F238E27FC236}">
                <a16:creationId xmlns:a16="http://schemas.microsoft.com/office/drawing/2014/main" id="{8C52C003-8873-6066-A0D6-393C98EF5F88}"/>
              </a:ext>
            </a:extLst>
          </p:cNvPr>
          <p:cNvSpPr>
            <a:spLocks noGrp="1"/>
          </p:cNvSpPr>
          <p:nvPr>
            <p:ph idx="1"/>
          </p:nvPr>
        </p:nvSpPr>
        <p:spPr>
          <a:xfrm>
            <a:off x="309880" y="1825625"/>
            <a:ext cx="11445240" cy="4351338"/>
          </a:xfrm>
        </p:spPr>
        <p:txBody>
          <a:bodyPr>
            <a:normAutofit/>
          </a:bodyPr>
          <a:lstStyle/>
          <a:p>
            <a:pPr marL="457200" lvl="0" indent="-342900">
              <a:lnSpc>
                <a:spcPct val="115000"/>
              </a:lnSpc>
              <a:spcBef>
                <a:spcPts val="0"/>
              </a:spcBef>
              <a:buClr>
                <a:schemeClr val="dk1"/>
              </a:buClr>
              <a:buSzPts val="1800"/>
              <a:buChar char="●"/>
            </a:pPr>
            <a:r>
              <a:rPr lang="en-US" sz="2400" dirty="0">
                <a:latin typeface="Arial"/>
                <a:ea typeface="Arial"/>
                <a:cs typeface="Arial"/>
                <a:sym typeface="Arial"/>
              </a:rPr>
              <a:t>Data yang </a:t>
            </a:r>
            <a:r>
              <a:rPr lang="en-US" sz="2400" dirty="0" err="1">
                <a:latin typeface="Arial"/>
                <a:ea typeface="Arial"/>
                <a:cs typeface="Arial"/>
                <a:sym typeface="Arial"/>
              </a:rPr>
              <a:t>digunakan</a:t>
            </a:r>
            <a:r>
              <a:rPr lang="en-US" sz="2400" dirty="0">
                <a:latin typeface="Arial"/>
                <a:ea typeface="Arial"/>
                <a:cs typeface="Arial"/>
                <a:sym typeface="Arial"/>
              </a:rPr>
              <a:t> </a:t>
            </a:r>
            <a:r>
              <a:rPr lang="en-US" sz="2400" dirty="0" err="1">
                <a:latin typeface="Arial"/>
                <a:ea typeface="Arial"/>
                <a:cs typeface="Arial"/>
                <a:sym typeface="Arial"/>
              </a:rPr>
              <a:t>adalah</a:t>
            </a:r>
            <a:r>
              <a:rPr lang="en-US" sz="2400" dirty="0">
                <a:latin typeface="Arial"/>
                <a:ea typeface="Arial"/>
                <a:cs typeface="Arial"/>
                <a:sym typeface="Arial"/>
              </a:rPr>
              <a:t> data </a:t>
            </a:r>
            <a:r>
              <a:rPr lang="en-US" sz="2400" dirty="0" err="1">
                <a:latin typeface="Arial"/>
                <a:ea typeface="Arial"/>
                <a:cs typeface="Arial"/>
                <a:sym typeface="Arial"/>
              </a:rPr>
              <a:t>spesifikasi</a:t>
            </a:r>
            <a:r>
              <a:rPr lang="en-US" sz="2400" dirty="0">
                <a:latin typeface="Arial"/>
                <a:ea typeface="Arial"/>
                <a:cs typeface="Arial"/>
                <a:sym typeface="Arial"/>
              </a:rPr>
              <a:t> </a:t>
            </a:r>
            <a:r>
              <a:rPr lang="en-US" sz="2400" dirty="0" err="1">
                <a:latin typeface="Arial"/>
                <a:ea typeface="Arial"/>
                <a:cs typeface="Arial"/>
                <a:sym typeface="Arial"/>
              </a:rPr>
              <a:t>mobil</a:t>
            </a:r>
            <a:r>
              <a:rPr lang="en-US" sz="2400" dirty="0">
                <a:latin typeface="Arial"/>
                <a:ea typeface="Arial"/>
                <a:cs typeface="Arial"/>
                <a:sym typeface="Arial"/>
              </a:rPr>
              <a:t> </a:t>
            </a:r>
            <a:r>
              <a:rPr lang="en-US" sz="2400" dirty="0" err="1">
                <a:latin typeface="Arial"/>
                <a:ea typeface="Arial"/>
                <a:cs typeface="Arial"/>
                <a:sym typeface="Arial"/>
              </a:rPr>
              <a:t>dari</a:t>
            </a:r>
            <a:r>
              <a:rPr lang="en-US" sz="2400" dirty="0">
                <a:latin typeface="Arial"/>
                <a:ea typeface="Arial"/>
                <a:cs typeface="Arial"/>
                <a:sym typeface="Arial"/>
              </a:rPr>
              <a:t> </a:t>
            </a:r>
            <a:r>
              <a:rPr lang="en-US" sz="2400" dirty="0" err="1">
                <a:latin typeface="Arial"/>
                <a:ea typeface="Arial"/>
                <a:cs typeface="Arial"/>
                <a:sym typeface="Arial"/>
              </a:rPr>
              <a:t>berbagai</a:t>
            </a:r>
            <a:r>
              <a:rPr lang="en-US" sz="2400" dirty="0">
                <a:latin typeface="Arial"/>
                <a:ea typeface="Arial"/>
                <a:cs typeface="Arial"/>
                <a:sym typeface="Arial"/>
              </a:rPr>
              <a:t> merk</a:t>
            </a:r>
          </a:p>
        </p:txBody>
      </p:sp>
      <p:pic>
        <p:nvPicPr>
          <p:cNvPr id="5" name="Google Shape;421;p53">
            <a:extLst>
              <a:ext uri="{FF2B5EF4-FFF2-40B4-BE49-F238E27FC236}">
                <a16:creationId xmlns:a16="http://schemas.microsoft.com/office/drawing/2014/main" id="{BF45D6AB-F053-9D67-E7B1-838F69C44802}"/>
              </a:ext>
            </a:extLst>
          </p:cNvPr>
          <p:cNvPicPr preferRelativeResize="0"/>
          <p:nvPr/>
        </p:nvPicPr>
        <p:blipFill rotWithShape="1">
          <a:blip r:embed="rId2">
            <a:alphaModFix/>
          </a:blip>
          <a:srcRect/>
          <a:stretch/>
        </p:blipFill>
        <p:spPr>
          <a:xfrm>
            <a:off x="203200" y="2600988"/>
            <a:ext cx="11775440" cy="2987011"/>
          </a:xfrm>
          <a:prstGeom prst="rect">
            <a:avLst/>
          </a:prstGeom>
          <a:noFill/>
          <a:ln>
            <a:noFill/>
          </a:ln>
        </p:spPr>
      </p:pic>
    </p:spTree>
    <p:extLst>
      <p:ext uri="{BB962C8B-B14F-4D97-AF65-F5344CB8AC3E}">
        <p14:creationId xmlns:p14="http://schemas.microsoft.com/office/powerpoint/2010/main" val="11418084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1F09E-19C8-0FB6-1C0F-8539EDCFE7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73ACC7-DFF7-6BF7-D659-4240C3D067D9}"/>
              </a:ext>
            </a:extLst>
          </p:cNvPr>
          <p:cNvSpPr>
            <a:spLocks noGrp="1"/>
          </p:cNvSpPr>
          <p:nvPr>
            <p:ph type="title"/>
          </p:nvPr>
        </p:nvSpPr>
        <p:spPr>
          <a:xfrm>
            <a:off x="838200" y="365125"/>
            <a:ext cx="10515600" cy="915035"/>
          </a:xfrm>
        </p:spPr>
        <p:txBody>
          <a:bodyPr>
            <a:normAutofit/>
          </a:bodyPr>
          <a:lstStyle/>
          <a:p>
            <a:r>
              <a:rPr lang="en-US" b="1" dirty="0"/>
              <a:t>Histogram</a:t>
            </a:r>
            <a:endParaRPr lang="en-US" dirty="0"/>
          </a:p>
        </p:txBody>
      </p:sp>
      <p:sp>
        <p:nvSpPr>
          <p:cNvPr id="3" name="Content Placeholder 2">
            <a:extLst>
              <a:ext uri="{FF2B5EF4-FFF2-40B4-BE49-F238E27FC236}">
                <a16:creationId xmlns:a16="http://schemas.microsoft.com/office/drawing/2014/main" id="{310171AA-3D69-FD2D-CF78-18A04AA962B8}"/>
              </a:ext>
            </a:extLst>
          </p:cNvPr>
          <p:cNvSpPr>
            <a:spLocks noGrp="1"/>
          </p:cNvSpPr>
          <p:nvPr>
            <p:ph idx="1"/>
          </p:nvPr>
        </p:nvSpPr>
        <p:spPr>
          <a:xfrm>
            <a:off x="309880" y="1825625"/>
            <a:ext cx="6446520" cy="4351338"/>
          </a:xfrm>
        </p:spPr>
        <p:txBody>
          <a:bodyPr>
            <a:normAutofit/>
          </a:bodyPr>
          <a:lstStyle/>
          <a:p>
            <a:pPr marL="457200" lvl="0" indent="-332878">
              <a:lnSpc>
                <a:spcPct val="115000"/>
              </a:lnSpc>
              <a:spcBef>
                <a:spcPts val="0"/>
              </a:spcBef>
              <a:buClr>
                <a:schemeClr val="dk1"/>
              </a:buClr>
              <a:buSzPct val="100840"/>
              <a:buChar char="●"/>
            </a:pPr>
            <a:r>
              <a:rPr lang="en-US" sz="2400" dirty="0">
                <a:latin typeface="Arial"/>
                <a:ea typeface="Arial"/>
                <a:cs typeface="Arial"/>
                <a:sym typeface="Arial"/>
              </a:rPr>
              <a:t>Pandas </a:t>
            </a:r>
            <a:r>
              <a:rPr lang="en-US" sz="2400" dirty="0" err="1">
                <a:latin typeface="Arial"/>
                <a:ea typeface="Arial"/>
                <a:cs typeface="Arial"/>
                <a:sym typeface="Arial"/>
              </a:rPr>
              <a:t>DataFrame.hist</a:t>
            </a:r>
            <a:r>
              <a:rPr lang="en-US" sz="2400" dirty="0">
                <a:latin typeface="Arial"/>
                <a:ea typeface="Arial"/>
                <a:cs typeface="Arial"/>
                <a:sym typeface="Arial"/>
              </a:rPr>
              <a:t>() </a:t>
            </a:r>
            <a:r>
              <a:rPr lang="en-US" sz="2400" dirty="0" err="1">
                <a:latin typeface="Arial"/>
                <a:ea typeface="Arial"/>
                <a:cs typeface="Arial"/>
                <a:sym typeface="Arial"/>
              </a:rPr>
              <a:t>akan</a:t>
            </a:r>
            <a:r>
              <a:rPr lang="en-US" sz="2400" dirty="0">
                <a:latin typeface="Arial"/>
                <a:ea typeface="Arial"/>
                <a:cs typeface="Arial"/>
                <a:sym typeface="Arial"/>
              </a:rPr>
              <a:t> </a:t>
            </a:r>
            <a:r>
              <a:rPr lang="en-US" sz="2400" dirty="0" err="1">
                <a:latin typeface="Arial"/>
                <a:ea typeface="Arial"/>
                <a:cs typeface="Arial"/>
                <a:sym typeface="Arial"/>
              </a:rPr>
              <a:t>mengambil</a:t>
            </a:r>
            <a:r>
              <a:rPr lang="en-US" sz="2400" dirty="0">
                <a:latin typeface="Arial"/>
                <a:ea typeface="Arial"/>
                <a:cs typeface="Arial"/>
                <a:sym typeface="Arial"/>
              </a:rPr>
              <a:t> </a:t>
            </a:r>
            <a:r>
              <a:rPr lang="en-US" sz="2400" dirty="0" err="1">
                <a:latin typeface="Arial"/>
                <a:ea typeface="Arial"/>
                <a:cs typeface="Arial"/>
                <a:sym typeface="Arial"/>
              </a:rPr>
              <a:t>DataFrame</a:t>
            </a:r>
            <a:r>
              <a:rPr lang="en-US" sz="2400" dirty="0">
                <a:latin typeface="Arial"/>
                <a:ea typeface="Arial"/>
                <a:cs typeface="Arial"/>
                <a:sym typeface="Arial"/>
              </a:rPr>
              <a:t> </a:t>
            </a:r>
            <a:r>
              <a:rPr lang="en-US" sz="2400" dirty="0" err="1">
                <a:latin typeface="Arial"/>
                <a:ea typeface="Arial"/>
                <a:cs typeface="Arial"/>
                <a:sym typeface="Arial"/>
              </a:rPr>
              <a:t>kita</a:t>
            </a:r>
            <a:r>
              <a:rPr lang="en-US" sz="2400" dirty="0">
                <a:latin typeface="Arial"/>
                <a:ea typeface="Arial"/>
                <a:cs typeface="Arial"/>
                <a:sym typeface="Arial"/>
              </a:rPr>
              <a:t> dan </a:t>
            </a:r>
            <a:r>
              <a:rPr lang="en-US" sz="2400" dirty="0" err="1">
                <a:latin typeface="Arial"/>
                <a:ea typeface="Arial"/>
                <a:cs typeface="Arial"/>
                <a:sym typeface="Arial"/>
              </a:rPr>
              <a:t>menampilkan</a:t>
            </a:r>
            <a:r>
              <a:rPr lang="en-US" sz="2400" dirty="0">
                <a:latin typeface="Arial"/>
                <a:ea typeface="Arial"/>
                <a:cs typeface="Arial"/>
                <a:sym typeface="Arial"/>
              </a:rPr>
              <a:t> plot histogram yang </a:t>
            </a:r>
            <a:r>
              <a:rPr lang="en-US" sz="2400" dirty="0" err="1">
                <a:latin typeface="Arial"/>
                <a:ea typeface="Arial"/>
                <a:cs typeface="Arial"/>
                <a:sym typeface="Arial"/>
              </a:rPr>
              <a:t>menunjukkan</a:t>
            </a:r>
            <a:r>
              <a:rPr lang="en-US" sz="2400" dirty="0">
                <a:latin typeface="Arial"/>
                <a:ea typeface="Arial"/>
                <a:cs typeface="Arial"/>
                <a:sym typeface="Arial"/>
              </a:rPr>
              <a:t> </a:t>
            </a:r>
            <a:r>
              <a:rPr lang="en-US" sz="2400" dirty="0" err="1">
                <a:latin typeface="Arial"/>
                <a:ea typeface="Arial"/>
                <a:cs typeface="Arial"/>
                <a:sym typeface="Arial"/>
              </a:rPr>
              <a:t>distribusi</a:t>
            </a:r>
            <a:r>
              <a:rPr lang="en-US" sz="2400" dirty="0">
                <a:latin typeface="Arial"/>
                <a:ea typeface="Arial"/>
                <a:cs typeface="Arial"/>
                <a:sym typeface="Arial"/>
              </a:rPr>
              <a:t> </a:t>
            </a:r>
            <a:r>
              <a:rPr lang="en-US" sz="2400" dirty="0" err="1">
                <a:latin typeface="Arial"/>
                <a:ea typeface="Arial"/>
                <a:cs typeface="Arial"/>
                <a:sym typeface="Arial"/>
              </a:rPr>
              <a:t>nilai</a:t>
            </a:r>
            <a:r>
              <a:rPr lang="en-US" sz="2400" dirty="0">
                <a:latin typeface="Arial"/>
                <a:ea typeface="Arial"/>
                <a:cs typeface="Arial"/>
                <a:sym typeface="Arial"/>
              </a:rPr>
              <a:t> </a:t>
            </a:r>
            <a:r>
              <a:rPr lang="en-US" sz="2400" dirty="0" err="1">
                <a:latin typeface="Arial"/>
                <a:ea typeface="Arial"/>
                <a:cs typeface="Arial"/>
                <a:sym typeface="Arial"/>
              </a:rPr>
              <a:t>dalam</a:t>
            </a:r>
            <a:r>
              <a:rPr lang="en-US" sz="2400" dirty="0">
                <a:latin typeface="Arial"/>
                <a:ea typeface="Arial"/>
                <a:cs typeface="Arial"/>
                <a:sym typeface="Arial"/>
              </a:rPr>
              <a:t> </a:t>
            </a:r>
            <a:r>
              <a:rPr lang="en-US" sz="2400" dirty="0" err="1">
                <a:latin typeface="Arial"/>
                <a:ea typeface="Arial"/>
                <a:cs typeface="Arial"/>
                <a:sym typeface="Arial"/>
              </a:rPr>
              <a:t>satu</a:t>
            </a:r>
            <a:r>
              <a:rPr lang="en-US" sz="2400" dirty="0">
                <a:latin typeface="Arial"/>
                <a:ea typeface="Arial"/>
                <a:cs typeface="Arial"/>
                <a:sym typeface="Arial"/>
              </a:rPr>
              <a:t> </a:t>
            </a:r>
            <a:r>
              <a:rPr lang="en-US" sz="2400" dirty="0" err="1">
                <a:latin typeface="Arial"/>
                <a:ea typeface="Arial"/>
                <a:cs typeface="Arial"/>
                <a:sym typeface="Arial"/>
              </a:rPr>
              <a:t>seri</a:t>
            </a:r>
            <a:r>
              <a:rPr lang="en-US" sz="2400" dirty="0">
                <a:latin typeface="Arial"/>
                <a:ea typeface="Arial"/>
                <a:cs typeface="Arial"/>
                <a:sym typeface="Arial"/>
              </a:rPr>
              <a:t>. </a:t>
            </a:r>
          </a:p>
          <a:p>
            <a:pPr marL="457200" lvl="0" indent="-332878">
              <a:lnSpc>
                <a:spcPct val="115000"/>
              </a:lnSpc>
              <a:spcBef>
                <a:spcPts val="0"/>
              </a:spcBef>
              <a:buClr>
                <a:schemeClr val="dk1"/>
              </a:buClr>
              <a:buSzPct val="100840"/>
              <a:buChar char="●"/>
            </a:pPr>
            <a:r>
              <a:rPr lang="en-US" sz="2400" dirty="0" err="1">
                <a:latin typeface="Arial"/>
                <a:ea typeface="Arial"/>
                <a:cs typeface="Arial"/>
                <a:sym typeface="Arial"/>
              </a:rPr>
              <a:t>Untuk</a:t>
            </a:r>
            <a:r>
              <a:rPr lang="en-US" sz="2400" dirty="0">
                <a:latin typeface="Arial"/>
                <a:ea typeface="Arial"/>
                <a:cs typeface="Arial"/>
                <a:sym typeface="Arial"/>
              </a:rPr>
              <a:t> </a:t>
            </a:r>
            <a:r>
              <a:rPr lang="en-US" sz="2400" dirty="0" err="1">
                <a:latin typeface="Arial"/>
                <a:ea typeface="Arial"/>
                <a:cs typeface="Arial"/>
                <a:sym typeface="Arial"/>
              </a:rPr>
              <a:t>membuat</a:t>
            </a:r>
            <a:r>
              <a:rPr lang="en-US" sz="2400" dirty="0">
                <a:latin typeface="Arial"/>
                <a:ea typeface="Arial"/>
                <a:cs typeface="Arial"/>
                <a:sym typeface="Arial"/>
              </a:rPr>
              <a:t> histogram di panda, yang </a:t>
            </a:r>
            <a:r>
              <a:rPr lang="en-US" sz="2400" dirty="0" err="1">
                <a:latin typeface="Arial"/>
                <a:ea typeface="Arial"/>
                <a:cs typeface="Arial"/>
                <a:sym typeface="Arial"/>
              </a:rPr>
              <a:t>perlu</a:t>
            </a:r>
            <a:r>
              <a:rPr lang="en-US" sz="2400" dirty="0">
                <a:latin typeface="Arial"/>
                <a:ea typeface="Arial"/>
                <a:cs typeface="Arial"/>
                <a:sym typeface="Arial"/>
              </a:rPr>
              <a:t> </a:t>
            </a:r>
            <a:r>
              <a:rPr lang="en-US" sz="2400" dirty="0" err="1">
                <a:latin typeface="Arial"/>
                <a:ea typeface="Arial"/>
                <a:cs typeface="Arial"/>
                <a:sym typeface="Arial"/>
              </a:rPr>
              <a:t>kita</a:t>
            </a:r>
            <a:r>
              <a:rPr lang="en-US" sz="2400" dirty="0">
                <a:latin typeface="Arial"/>
                <a:ea typeface="Arial"/>
                <a:cs typeface="Arial"/>
                <a:sym typeface="Arial"/>
              </a:rPr>
              <a:t> </a:t>
            </a:r>
            <a:r>
              <a:rPr lang="en-US" sz="2400" dirty="0" err="1">
                <a:latin typeface="Arial"/>
                <a:ea typeface="Arial"/>
                <a:cs typeface="Arial"/>
                <a:sym typeface="Arial"/>
              </a:rPr>
              <a:t>lakukan</a:t>
            </a:r>
            <a:r>
              <a:rPr lang="en-US" sz="2400" dirty="0">
                <a:latin typeface="Arial"/>
                <a:ea typeface="Arial"/>
                <a:cs typeface="Arial"/>
                <a:sym typeface="Arial"/>
              </a:rPr>
              <a:t> </a:t>
            </a:r>
            <a:r>
              <a:rPr lang="en-US" sz="2400" dirty="0" err="1">
                <a:latin typeface="Arial"/>
                <a:ea typeface="Arial"/>
                <a:cs typeface="Arial"/>
                <a:sym typeface="Arial"/>
              </a:rPr>
              <a:t>adalah</a:t>
            </a:r>
            <a:r>
              <a:rPr lang="en-US" sz="2400" dirty="0">
                <a:latin typeface="Arial"/>
                <a:ea typeface="Arial"/>
                <a:cs typeface="Arial"/>
                <a:sym typeface="Arial"/>
              </a:rPr>
              <a:t> </a:t>
            </a:r>
            <a:r>
              <a:rPr lang="en-US" sz="2400" dirty="0" err="1">
                <a:latin typeface="Arial"/>
                <a:ea typeface="Arial"/>
                <a:cs typeface="Arial"/>
                <a:sym typeface="Arial"/>
              </a:rPr>
              <a:t>memberi</a:t>
            </a:r>
            <a:r>
              <a:rPr lang="en-US" sz="2400" dirty="0">
                <a:latin typeface="Arial"/>
                <a:ea typeface="Arial"/>
                <a:cs typeface="Arial"/>
                <a:sym typeface="Arial"/>
              </a:rPr>
              <a:t> </a:t>
            </a:r>
            <a:r>
              <a:rPr lang="en-US" sz="2400" dirty="0" err="1">
                <a:latin typeface="Arial"/>
                <a:ea typeface="Arial"/>
                <a:cs typeface="Arial"/>
                <a:sym typeface="Arial"/>
              </a:rPr>
              <a:t>tahu</a:t>
            </a:r>
            <a:r>
              <a:rPr lang="en-US" sz="2400" dirty="0">
                <a:latin typeface="Arial"/>
                <a:ea typeface="Arial"/>
                <a:cs typeface="Arial"/>
                <a:sym typeface="Arial"/>
              </a:rPr>
              <a:t> panda </a:t>
            </a:r>
            <a:r>
              <a:rPr lang="en-US" sz="2400" dirty="0" err="1">
                <a:latin typeface="Arial"/>
                <a:ea typeface="Arial"/>
                <a:cs typeface="Arial"/>
                <a:sym typeface="Arial"/>
              </a:rPr>
              <a:t>kolom</a:t>
            </a:r>
            <a:r>
              <a:rPr lang="en-US" sz="2400" dirty="0">
                <a:latin typeface="Arial"/>
                <a:ea typeface="Arial"/>
                <a:cs typeface="Arial"/>
                <a:sym typeface="Arial"/>
              </a:rPr>
              <a:t> mana yang </a:t>
            </a:r>
            <a:r>
              <a:rPr lang="en-US" sz="2400" dirty="0" err="1">
                <a:latin typeface="Arial"/>
                <a:ea typeface="Arial"/>
                <a:cs typeface="Arial"/>
                <a:sym typeface="Arial"/>
              </a:rPr>
              <a:t>ingin</a:t>
            </a:r>
            <a:r>
              <a:rPr lang="en-US" sz="2400" dirty="0">
                <a:latin typeface="Arial"/>
                <a:ea typeface="Arial"/>
                <a:cs typeface="Arial"/>
                <a:sym typeface="Arial"/>
              </a:rPr>
              <a:t> </a:t>
            </a:r>
            <a:r>
              <a:rPr lang="en-US" sz="2400" dirty="0" err="1">
                <a:latin typeface="Arial"/>
                <a:ea typeface="Arial"/>
                <a:cs typeface="Arial"/>
                <a:sym typeface="Arial"/>
              </a:rPr>
              <a:t>kita</a:t>
            </a:r>
            <a:r>
              <a:rPr lang="en-US" sz="2400" dirty="0">
                <a:latin typeface="Arial"/>
                <a:ea typeface="Arial"/>
                <a:cs typeface="Arial"/>
                <a:sym typeface="Arial"/>
              </a:rPr>
              <a:t> </a:t>
            </a:r>
            <a:r>
              <a:rPr lang="en-US" sz="2400" dirty="0" err="1">
                <a:latin typeface="Arial"/>
                <a:ea typeface="Arial"/>
                <a:cs typeface="Arial"/>
                <a:sym typeface="Arial"/>
              </a:rPr>
              <a:t>berikan</a:t>
            </a:r>
            <a:r>
              <a:rPr lang="en-US" sz="2400" dirty="0">
                <a:latin typeface="Arial"/>
                <a:ea typeface="Arial"/>
                <a:cs typeface="Arial"/>
                <a:sym typeface="Arial"/>
              </a:rPr>
              <a:t> </a:t>
            </a:r>
            <a:r>
              <a:rPr lang="en-US" sz="2400" dirty="0" err="1">
                <a:latin typeface="Arial"/>
                <a:ea typeface="Arial"/>
                <a:cs typeface="Arial"/>
                <a:sym typeface="Arial"/>
              </a:rPr>
              <a:t>datanya</a:t>
            </a:r>
            <a:r>
              <a:rPr lang="en-US" sz="2400" dirty="0">
                <a:latin typeface="Arial"/>
                <a:ea typeface="Arial"/>
                <a:cs typeface="Arial"/>
                <a:sym typeface="Arial"/>
              </a:rPr>
              <a:t>. </a:t>
            </a:r>
            <a:r>
              <a:rPr lang="en-US" sz="2400" dirty="0" err="1">
                <a:latin typeface="Arial"/>
                <a:ea typeface="Arial"/>
                <a:cs typeface="Arial"/>
                <a:sym typeface="Arial"/>
              </a:rPr>
              <a:t>Dalam</a:t>
            </a:r>
            <a:r>
              <a:rPr lang="en-US" sz="2400" dirty="0">
                <a:latin typeface="Arial"/>
                <a:ea typeface="Arial"/>
                <a:cs typeface="Arial"/>
                <a:sym typeface="Arial"/>
              </a:rPr>
              <a:t> </a:t>
            </a:r>
            <a:r>
              <a:rPr lang="en-US" sz="2400" dirty="0" err="1">
                <a:latin typeface="Arial"/>
                <a:ea typeface="Arial"/>
                <a:cs typeface="Arial"/>
                <a:sym typeface="Arial"/>
              </a:rPr>
              <a:t>hal</a:t>
            </a:r>
            <a:r>
              <a:rPr lang="en-US" sz="2400" dirty="0">
                <a:latin typeface="Arial"/>
                <a:ea typeface="Arial"/>
                <a:cs typeface="Arial"/>
                <a:sym typeface="Arial"/>
              </a:rPr>
              <a:t> </a:t>
            </a:r>
            <a:r>
              <a:rPr lang="en-US" sz="2400" dirty="0" err="1">
                <a:latin typeface="Arial"/>
                <a:ea typeface="Arial"/>
                <a:cs typeface="Arial"/>
                <a:sym typeface="Arial"/>
              </a:rPr>
              <a:t>ini</a:t>
            </a:r>
            <a:r>
              <a:rPr lang="en-US" sz="2400" dirty="0">
                <a:latin typeface="Arial"/>
                <a:ea typeface="Arial"/>
                <a:cs typeface="Arial"/>
                <a:sym typeface="Arial"/>
              </a:rPr>
              <a:t>, </a:t>
            </a:r>
            <a:r>
              <a:rPr lang="en-US" sz="2400" dirty="0" err="1">
                <a:latin typeface="Arial"/>
                <a:ea typeface="Arial"/>
                <a:cs typeface="Arial"/>
                <a:sym typeface="Arial"/>
              </a:rPr>
              <a:t>saya</a:t>
            </a:r>
            <a:r>
              <a:rPr lang="en-US" sz="2400" dirty="0">
                <a:latin typeface="Arial"/>
                <a:ea typeface="Arial"/>
                <a:cs typeface="Arial"/>
                <a:sym typeface="Arial"/>
              </a:rPr>
              <a:t> </a:t>
            </a:r>
            <a:r>
              <a:rPr lang="en-US" sz="2400" dirty="0" err="1">
                <a:latin typeface="Arial"/>
                <a:ea typeface="Arial"/>
                <a:cs typeface="Arial"/>
                <a:sym typeface="Arial"/>
              </a:rPr>
              <a:t>akan</a:t>
            </a:r>
            <a:r>
              <a:rPr lang="en-US" sz="2400" dirty="0">
                <a:latin typeface="Arial"/>
                <a:ea typeface="Arial"/>
                <a:cs typeface="Arial"/>
                <a:sym typeface="Arial"/>
              </a:rPr>
              <a:t> </a:t>
            </a:r>
            <a:r>
              <a:rPr lang="en-US" sz="2400" dirty="0" err="1">
                <a:latin typeface="Arial"/>
                <a:ea typeface="Arial"/>
                <a:cs typeface="Arial"/>
                <a:sym typeface="Arial"/>
              </a:rPr>
              <a:t>memberi</a:t>
            </a:r>
            <a:r>
              <a:rPr lang="en-US" sz="2400" dirty="0">
                <a:latin typeface="Arial"/>
                <a:ea typeface="Arial"/>
                <a:cs typeface="Arial"/>
                <a:sym typeface="Arial"/>
              </a:rPr>
              <a:t> </a:t>
            </a:r>
            <a:r>
              <a:rPr lang="en-US" sz="2400" dirty="0" err="1">
                <a:latin typeface="Arial"/>
                <a:ea typeface="Arial"/>
                <a:cs typeface="Arial"/>
                <a:sym typeface="Arial"/>
              </a:rPr>
              <a:t>tahu</a:t>
            </a:r>
            <a:r>
              <a:rPr lang="en-US" sz="2400" dirty="0">
                <a:latin typeface="Arial"/>
                <a:ea typeface="Arial"/>
                <a:cs typeface="Arial"/>
                <a:sym typeface="Arial"/>
              </a:rPr>
              <a:t> panda </a:t>
            </a:r>
            <a:r>
              <a:rPr lang="en-US" sz="2400" dirty="0" err="1">
                <a:latin typeface="Arial"/>
                <a:ea typeface="Arial"/>
                <a:cs typeface="Arial"/>
                <a:sym typeface="Arial"/>
              </a:rPr>
              <a:t>bahwa</a:t>
            </a:r>
            <a:r>
              <a:rPr lang="en-US" sz="2400" dirty="0">
                <a:latin typeface="Arial"/>
                <a:ea typeface="Arial"/>
                <a:cs typeface="Arial"/>
                <a:sym typeface="Arial"/>
              </a:rPr>
              <a:t> </a:t>
            </a:r>
            <a:r>
              <a:rPr lang="en-US" sz="2400" dirty="0" err="1">
                <a:latin typeface="Arial"/>
                <a:ea typeface="Arial"/>
                <a:cs typeface="Arial"/>
                <a:sym typeface="Arial"/>
              </a:rPr>
              <a:t>saya</a:t>
            </a:r>
            <a:r>
              <a:rPr lang="en-US" sz="2400" dirty="0">
                <a:latin typeface="Arial"/>
                <a:ea typeface="Arial"/>
                <a:cs typeface="Arial"/>
                <a:sym typeface="Arial"/>
              </a:rPr>
              <a:t> </a:t>
            </a:r>
            <a:r>
              <a:rPr lang="en-US" sz="2400" dirty="0" err="1">
                <a:latin typeface="Arial"/>
                <a:ea typeface="Arial"/>
                <a:cs typeface="Arial"/>
                <a:sym typeface="Arial"/>
              </a:rPr>
              <a:t>ingin</a:t>
            </a:r>
            <a:r>
              <a:rPr lang="en-US" sz="2400" dirty="0">
                <a:latin typeface="Arial"/>
                <a:ea typeface="Arial"/>
                <a:cs typeface="Arial"/>
                <a:sym typeface="Arial"/>
              </a:rPr>
              <a:t> </a:t>
            </a:r>
            <a:r>
              <a:rPr lang="en-US" sz="2400" dirty="0" err="1">
                <a:latin typeface="Arial"/>
                <a:ea typeface="Arial"/>
                <a:cs typeface="Arial"/>
                <a:sym typeface="Arial"/>
              </a:rPr>
              <a:t>melihat</a:t>
            </a:r>
            <a:r>
              <a:rPr lang="en-US" sz="2400" dirty="0">
                <a:latin typeface="Arial"/>
                <a:ea typeface="Arial"/>
                <a:cs typeface="Arial"/>
                <a:sym typeface="Arial"/>
              </a:rPr>
              <a:t> </a:t>
            </a:r>
            <a:r>
              <a:rPr lang="en-US" sz="2400" dirty="0" err="1">
                <a:latin typeface="Arial"/>
                <a:ea typeface="Arial"/>
                <a:cs typeface="Arial"/>
                <a:sym typeface="Arial"/>
              </a:rPr>
              <a:t>distribusi</a:t>
            </a:r>
            <a:r>
              <a:rPr lang="en-US" sz="2400" dirty="0">
                <a:latin typeface="Arial"/>
                <a:ea typeface="Arial"/>
                <a:cs typeface="Arial"/>
                <a:sym typeface="Arial"/>
              </a:rPr>
              <a:t> </a:t>
            </a:r>
            <a:r>
              <a:rPr lang="en-US" sz="2400" dirty="0" err="1">
                <a:latin typeface="Arial"/>
                <a:ea typeface="Arial"/>
                <a:cs typeface="Arial"/>
                <a:sym typeface="Arial"/>
              </a:rPr>
              <a:t>harga</a:t>
            </a:r>
            <a:r>
              <a:rPr lang="en-US" sz="2400" dirty="0">
                <a:latin typeface="Arial"/>
                <a:ea typeface="Arial"/>
                <a:cs typeface="Arial"/>
                <a:sym typeface="Arial"/>
              </a:rPr>
              <a:t> (histogram). </a:t>
            </a:r>
          </a:p>
        </p:txBody>
      </p:sp>
      <p:pic>
        <p:nvPicPr>
          <p:cNvPr id="8" name="Google Shape;413;p52">
            <a:extLst>
              <a:ext uri="{FF2B5EF4-FFF2-40B4-BE49-F238E27FC236}">
                <a16:creationId xmlns:a16="http://schemas.microsoft.com/office/drawing/2014/main" id="{C892FF50-A6CB-6B7A-E454-94DBD300177A}"/>
              </a:ext>
            </a:extLst>
          </p:cNvPr>
          <p:cNvPicPr preferRelativeResize="0"/>
          <p:nvPr/>
        </p:nvPicPr>
        <p:blipFill rotWithShape="1">
          <a:blip r:embed="rId2">
            <a:alphaModFix/>
          </a:blip>
          <a:srcRect/>
          <a:stretch/>
        </p:blipFill>
        <p:spPr>
          <a:xfrm>
            <a:off x="7058476" y="2103705"/>
            <a:ext cx="4675505" cy="3351530"/>
          </a:xfrm>
          <a:prstGeom prst="rect">
            <a:avLst/>
          </a:prstGeom>
          <a:noFill/>
          <a:ln>
            <a:noFill/>
          </a:ln>
        </p:spPr>
      </p:pic>
    </p:spTree>
    <p:extLst>
      <p:ext uri="{BB962C8B-B14F-4D97-AF65-F5344CB8AC3E}">
        <p14:creationId xmlns:p14="http://schemas.microsoft.com/office/powerpoint/2010/main" val="15921056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48793-063C-33C1-CF6E-3FA0B2CDFB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119F9F-8044-27D3-5D80-094A35228926}"/>
              </a:ext>
            </a:extLst>
          </p:cNvPr>
          <p:cNvSpPr>
            <a:spLocks noGrp="1"/>
          </p:cNvSpPr>
          <p:nvPr>
            <p:ph type="title"/>
          </p:nvPr>
        </p:nvSpPr>
        <p:spPr>
          <a:xfrm>
            <a:off x="838200" y="365125"/>
            <a:ext cx="10515600" cy="915035"/>
          </a:xfrm>
        </p:spPr>
        <p:txBody>
          <a:bodyPr>
            <a:normAutofit/>
          </a:bodyPr>
          <a:lstStyle/>
          <a:p>
            <a:r>
              <a:rPr lang="en-US" b="1" dirty="0"/>
              <a:t>Histogram</a:t>
            </a:r>
            <a:endParaRPr lang="en-US" dirty="0"/>
          </a:p>
        </p:txBody>
      </p:sp>
      <p:sp>
        <p:nvSpPr>
          <p:cNvPr id="3" name="Content Placeholder 2">
            <a:extLst>
              <a:ext uri="{FF2B5EF4-FFF2-40B4-BE49-F238E27FC236}">
                <a16:creationId xmlns:a16="http://schemas.microsoft.com/office/drawing/2014/main" id="{878AABF5-9402-1C03-0605-ECCDA7B62891}"/>
              </a:ext>
            </a:extLst>
          </p:cNvPr>
          <p:cNvSpPr>
            <a:spLocks noGrp="1"/>
          </p:cNvSpPr>
          <p:nvPr>
            <p:ph idx="1"/>
          </p:nvPr>
        </p:nvSpPr>
        <p:spPr>
          <a:xfrm>
            <a:off x="309880" y="1825625"/>
            <a:ext cx="6446520" cy="4351338"/>
          </a:xfrm>
        </p:spPr>
        <p:txBody>
          <a:bodyPr>
            <a:normAutofit/>
          </a:bodyPr>
          <a:lstStyle/>
          <a:p>
            <a:pPr marL="457200" lvl="0" indent="-336579">
              <a:lnSpc>
                <a:spcPct val="95000"/>
              </a:lnSpc>
              <a:spcBef>
                <a:spcPts val="0"/>
              </a:spcBef>
              <a:buClr>
                <a:schemeClr val="dk1"/>
              </a:buClr>
              <a:buSzPts val="1700"/>
              <a:buChar char="●"/>
            </a:pPr>
            <a:r>
              <a:rPr lang="en-US" sz="2400" dirty="0">
                <a:latin typeface="Arial"/>
                <a:ea typeface="Arial"/>
                <a:cs typeface="Arial"/>
                <a:sym typeface="Arial"/>
              </a:rPr>
              <a:t>Kita juga </a:t>
            </a:r>
            <a:r>
              <a:rPr lang="en-US" sz="2400" dirty="0" err="1">
                <a:latin typeface="Arial"/>
                <a:ea typeface="Arial"/>
                <a:cs typeface="Arial"/>
                <a:sym typeface="Arial"/>
              </a:rPr>
              <a:t>dapat</a:t>
            </a:r>
            <a:r>
              <a:rPr lang="en-US" sz="2400" dirty="0">
                <a:latin typeface="Arial"/>
                <a:ea typeface="Arial"/>
                <a:cs typeface="Arial"/>
                <a:sym typeface="Arial"/>
              </a:rPr>
              <a:t> </a:t>
            </a:r>
            <a:r>
              <a:rPr lang="en-US" sz="2400" dirty="0" err="1">
                <a:latin typeface="Arial"/>
                <a:ea typeface="Arial"/>
                <a:cs typeface="Arial"/>
                <a:sym typeface="Arial"/>
              </a:rPr>
              <a:t>memplot</a:t>
            </a:r>
            <a:r>
              <a:rPr lang="en-US" sz="2400" dirty="0">
                <a:latin typeface="Arial"/>
                <a:ea typeface="Arial"/>
                <a:cs typeface="Arial"/>
                <a:sym typeface="Arial"/>
              </a:rPr>
              <a:t> </a:t>
            </a:r>
            <a:r>
              <a:rPr lang="en-US" sz="2400" dirty="0" err="1">
                <a:latin typeface="Arial"/>
                <a:ea typeface="Arial"/>
                <a:cs typeface="Arial"/>
                <a:sym typeface="Arial"/>
              </a:rPr>
              <a:t>beberapa</a:t>
            </a:r>
            <a:r>
              <a:rPr lang="en-US" sz="2400" dirty="0">
                <a:latin typeface="Arial"/>
                <a:ea typeface="Arial"/>
                <a:cs typeface="Arial"/>
                <a:sym typeface="Arial"/>
              </a:rPr>
              <a:t> </a:t>
            </a:r>
            <a:r>
              <a:rPr lang="en-US" sz="2400" dirty="0" err="1">
                <a:latin typeface="Arial"/>
                <a:ea typeface="Arial"/>
                <a:cs typeface="Arial"/>
                <a:sym typeface="Arial"/>
              </a:rPr>
              <a:t>grup</a:t>
            </a:r>
            <a:r>
              <a:rPr lang="en-US" sz="2400" dirty="0">
                <a:latin typeface="Arial"/>
                <a:ea typeface="Arial"/>
                <a:cs typeface="Arial"/>
                <a:sym typeface="Arial"/>
              </a:rPr>
              <a:t> </a:t>
            </a:r>
            <a:r>
              <a:rPr lang="en-US" sz="2400" dirty="0" err="1">
                <a:latin typeface="Arial"/>
                <a:ea typeface="Arial"/>
                <a:cs typeface="Arial"/>
                <a:sym typeface="Arial"/>
              </a:rPr>
              <a:t>secara</a:t>
            </a:r>
            <a:r>
              <a:rPr lang="en-US" sz="2400" dirty="0">
                <a:latin typeface="Arial"/>
                <a:ea typeface="Arial"/>
                <a:cs typeface="Arial"/>
                <a:sym typeface="Arial"/>
              </a:rPr>
              <a:t> </a:t>
            </a:r>
            <a:r>
              <a:rPr lang="en-US" sz="2400" dirty="0" err="1">
                <a:latin typeface="Arial"/>
                <a:ea typeface="Arial"/>
                <a:cs typeface="Arial"/>
                <a:sym typeface="Arial"/>
              </a:rPr>
              <a:t>berdampingan</a:t>
            </a:r>
            <a:r>
              <a:rPr lang="en-US" sz="2400" dirty="0">
                <a:latin typeface="Arial"/>
                <a:ea typeface="Arial"/>
                <a:cs typeface="Arial"/>
                <a:sym typeface="Arial"/>
              </a:rPr>
              <a:t>. Di </a:t>
            </a:r>
            <a:r>
              <a:rPr lang="en-US" sz="2400" dirty="0" err="1">
                <a:latin typeface="Arial"/>
                <a:ea typeface="Arial"/>
                <a:cs typeface="Arial"/>
                <a:sym typeface="Arial"/>
              </a:rPr>
              <a:t>sini</a:t>
            </a:r>
            <a:r>
              <a:rPr lang="en-US" sz="2400" dirty="0">
                <a:latin typeface="Arial"/>
                <a:ea typeface="Arial"/>
                <a:cs typeface="Arial"/>
                <a:sym typeface="Arial"/>
              </a:rPr>
              <a:t> </a:t>
            </a:r>
            <a:r>
              <a:rPr lang="en-US" sz="2400" dirty="0" err="1">
                <a:latin typeface="Arial"/>
                <a:ea typeface="Arial"/>
                <a:cs typeface="Arial"/>
                <a:sym typeface="Arial"/>
              </a:rPr>
              <a:t>saya</a:t>
            </a:r>
            <a:r>
              <a:rPr lang="en-US" sz="2400" dirty="0">
                <a:latin typeface="Arial"/>
                <a:ea typeface="Arial"/>
                <a:cs typeface="Arial"/>
                <a:sym typeface="Arial"/>
              </a:rPr>
              <a:t> </a:t>
            </a:r>
            <a:r>
              <a:rPr lang="en-US" sz="2400" dirty="0" err="1">
                <a:latin typeface="Arial"/>
                <a:ea typeface="Arial"/>
                <a:cs typeface="Arial"/>
                <a:sym typeface="Arial"/>
              </a:rPr>
              <a:t>ingin</a:t>
            </a:r>
            <a:r>
              <a:rPr lang="en-US" sz="2400" dirty="0">
                <a:latin typeface="Arial"/>
                <a:ea typeface="Arial"/>
                <a:cs typeface="Arial"/>
                <a:sym typeface="Arial"/>
              </a:rPr>
              <a:t> </a:t>
            </a:r>
            <a:r>
              <a:rPr lang="en-US" sz="2400" dirty="0" err="1">
                <a:latin typeface="Arial"/>
                <a:ea typeface="Arial"/>
                <a:cs typeface="Arial"/>
                <a:sym typeface="Arial"/>
              </a:rPr>
              <a:t>melihat</a:t>
            </a:r>
            <a:r>
              <a:rPr lang="en-US" sz="2400" dirty="0">
                <a:latin typeface="Arial"/>
                <a:ea typeface="Arial"/>
                <a:cs typeface="Arial"/>
                <a:sym typeface="Arial"/>
              </a:rPr>
              <a:t> dua histogram, histogram price </a:t>
            </a:r>
            <a:r>
              <a:rPr lang="en-US" sz="2400" dirty="0" err="1">
                <a:latin typeface="Arial"/>
                <a:ea typeface="Arial"/>
                <a:cs typeface="Arial"/>
                <a:sym typeface="Arial"/>
              </a:rPr>
              <a:t>akan</a:t>
            </a:r>
            <a:r>
              <a:rPr lang="en-US" sz="2400" dirty="0">
                <a:latin typeface="Arial"/>
                <a:ea typeface="Arial"/>
                <a:cs typeface="Arial"/>
                <a:sym typeface="Arial"/>
              </a:rPr>
              <a:t> </a:t>
            </a:r>
            <a:r>
              <a:rPr lang="en-US" sz="2400" dirty="0" err="1">
                <a:latin typeface="Arial"/>
                <a:ea typeface="Arial"/>
                <a:cs typeface="Arial"/>
                <a:sym typeface="Arial"/>
              </a:rPr>
              <a:t>dikelompokkan</a:t>
            </a:r>
            <a:r>
              <a:rPr lang="en-US" sz="2400" dirty="0">
                <a:latin typeface="Arial"/>
                <a:ea typeface="Arial"/>
                <a:cs typeface="Arial"/>
                <a:sym typeface="Arial"/>
              </a:rPr>
              <a:t> </a:t>
            </a:r>
            <a:r>
              <a:rPr lang="en-US" sz="2400" dirty="0" err="1">
                <a:latin typeface="Arial"/>
                <a:ea typeface="Arial"/>
                <a:cs typeface="Arial"/>
                <a:sym typeface="Arial"/>
              </a:rPr>
              <a:t>berdasarkan</a:t>
            </a:r>
            <a:r>
              <a:rPr lang="en-US" sz="2400" dirty="0">
                <a:latin typeface="Arial"/>
                <a:ea typeface="Arial"/>
                <a:cs typeface="Arial"/>
                <a:sym typeface="Arial"/>
              </a:rPr>
              <a:t> </a:t>
            </a:r>
            <a:r>
              <a:rPr lang="en-US" sz="2400" dirty="0" err="1">
                <a:latin typeface="Arial"/>
                <a:ea typeface="Arial"/>
                <a:cs typeface="Arial"/>
                <a:sym typeface="Arial"/>
              </a:rPr>
              <a:t>roda</a:t>
            </a:r>
            <a:r>
              <a:rPr lang="en-US" sz="2400" dirty="0">
                <a:latin typeface="Arial"/>
                <a:ea typeface="Arial"/>
                <a:cs typeface="Arial"/>
                <a:sym typeface="Arial"/>
              </a:rPr>
              <a:t> </a:t>
            </a:r>
            <a:r>
              <a:rPr lang="en-US" sz="2400" dirty="0" err="1">
                <a:latin typeface="Arial"/>
                <a:ea typeface="Arial"/>
                <a:cs typeface="Arial"/>
                <a:sym typeface="Arial"/>
              </a:rPr>
              <a:t>penggerak</a:t>
            </a:r>
            <a:r>
              <a:rPr lang="en-US" sz="2400" dirty="0">
                <a:latin typeface="Arial"/>
                <a:ea typeface="Arial"/>
                <a:cs typeface="Arial"/>
                <a:sym typeface="Arial"/>
              </a:rPr>
              <a:t> </a:t>
            </a:r>
            <a:r>
              <a:rPr lang="en-US" sz="2400" dirty="0" err="1">
                <a:latin typeface="Arial"/>
                <a:ea typeface="Arial"/>
                <a:cs typeface="Arial"/>
                <a:sym typeface="Arial"/>
              </a:rPr>
              <a:t>dari</a:t>
            </a:r>
            <a:r>
              <a:rPr lang="en-US" sz="2400" dirty="0">
                <a:latin typeface="Arial"/>
                <a:ea typeface="Arial"/>
                <a:cs typeface="Arial"/>
                <a:sym typeface="Arial"/>
              </a:rPr>
              <a:t> </a:t>
            </a:r>
            <a:r>
              <a:rPr lang="en-US" sz="2400" dirty="0" err="1">
                <a:latin typeface="Arial"/>
                <a:ea typeface="Arial"/>
                <a:cs typeface="Arial"/>
                <a:sym typeface="Arial"/>
              </a:rPr>
              <a:t>kendaraan</a:t>
            </a:r>
            <a:r>
              <a:rPr lang="en-US" sz="2400" dirty="0">
                <a:latin typeface="Arial"/>
                <a:ea typeface="Arial"/>
                <a:cs typeface="Arial"/>
                <a:sym typeface="Arial"/>
              </a:rPr>
              <a:t> (</a:t>
            </a:r>
            <a:r>
              <a:rPr lang="en-US" sz="2400" dirty="0" err="1">
                <a:latin typeface="Arial"/>
                <a:ea typeface="Arial"/>
                <a:cs typeface="Arial"/>
                <a:sym typeface="Arial"/>
              </a:rPr>
              <a:t>fwd</a:t>
            </a:r>
            <a:r>
              <a:rPr lang="en-US" sz="2400" dirty="0">
                <a:latin typeface="Arial"/>
                <a:ea typeface="Arial"/>
                <a:cs typeface="Arial"/>
                <a:sym typeface="Arial"/>
              </a:rPr>
              <a:t> – </a:t>
            </a:r>
            <a:r>
              <a:rPr lang="en-US" sz="2400" dirty="0" err="1">
                <a:latin typeface="Arial"/>
                <a:ea typeface="Arial"/>
                <a:cs typeface="Arial"/>
                <a:sym typeface="Arial"/>
              </a:rPr>
              <a:t>berpenggerak</a:t>
            </a:r>
            <a:r>
              <a:rPr lang="en-US" sz="2400" dirty="0">
                <a:latin typeface="Arial"/>
                <a:ea typeface="Arial"/>
                <a:cs typeface="Arial"/>
                <a:sym typeface="Arial"/>
              </a:rPr>
              <a:t> </a:t>
            </a:r>
            <a:r>
              <a:rPr lang="en-US" sz="2400" dirty="0" err="1">
                <a:latin typeface="Arial"/>
                <a:ea typeface="Arial"/>
                <a:cs typeface="Arial"/>
                <a:sym typeface="Arial"/>
              </a:rPr>
              <a:t>roda</a:t>
            </a:r>
            <a:r>
              <a:rPr lang="en-US" sz="2400" dirty="0">
                <a:latin typeface="Arial"/>
                <a:ea typeface="Arial"/>
                <a:cs typeface="Arial"/>
                <a:sym typeface="Arial"/>
              </a:rPr>
              <a:t> </a:t>
            </a:r>
            <a:r>
              <a:rPr lang="en-US" sz="2400" dirty="0" err="1">
                <a:latin typeface="Arial"/>
                <a:ea typeface="Arial"/>
                <a:cs typeface="Arial"/>
                <a:sym typeface="Arial"/>
              </a:rPr>
              <a:t>depan</a:t>
            </a:r>
            <a:r>
              <a:rPr lang="en-US" sz="2400" dirty="0">
                <a:latin typeface="Arial"/>
                <a:ea typeface="Arial"/>
                <a:cs typeface="Arial"/>
                <a:sym typeface="Arial"/>
              </a:rPr>
              <a:t>, 4wd – </a:t>
            </a:r>
            <a:r>
              <a:rPr lang="en-US" sz="2400" dirty="0" err="1">
                <a:latin typeface="Arial"/>
                <a:ea typeface="Arial"/>
                <a:cs typeface="Arial"/>
                <a:sym typeface="Arial"/>
              </a:rPr>
              <a:t>berpenggerak</a:t>
            </a:r>
            <a:r>
              <a:rPr lang="en-US" sz="2400" dirty="0">
                <a:latin typeface="Arial"/>
                <a:ea typeface="Arial"/>
                <a:cs typeface="Arial"/>
                <a:sym typeface="Arial"/>
              </a:rPr>
              <a:t> 4 </a:t>
            </a:r>
            <a:r>
              <a:rPr lang="en-US" sz="2400" dirty="0" err="1">
                <a:latin typeface="Arial"/>
                <a:ea typeface="Arial"/>
                <a:cs typeface="Arial"/>
                <a:sym typeface="Arial"/>
              </a:rPr>
              <a:t>roda</a:t>
            </a:r>
            <a:r>
              <a:rPr lang="en-US" sz="2400" dirty="0">
                <a:latin typeface="Arial"/>
                <a:ea typeface="Arial"/>
                <a:cs typeface="Arial"/>
                <a:sym typeface="Arial"/>
              </a:rPr>
              <a:t>, </a:t>
            </a:r>
            <a:r>
              <a:rPr lang="en-US" sz="2400" dirty="0" err="1">
                <a:latin typeface="Arial"/>
                <a:ea typeface="Arial"/>
                <a:cs typeface="Arial"/>
                <a:sym typeface="Arial"/>
              </a:rPr>
              <a:t>atau</a:t>
            </a:r>
            <a:r>
              <a:rPr lang="en-US" sz="2400" dirty="0">
                <a:latin typeface="Arial"/>
                <a:ea typeface="Arial"/>
                <a:cs typeface="Arial"/>
                <a:sym typeface="Arial"/>
              </a:rPr>
              <a:t> </a:t>
            </a:r>
            <a:r>
              <a:rPr lang="en-US" sz="2400" dirty="0" err="1">
                <a:latin typeface="Arial"/>
                <a:ea typeface="Arial"/>
                <a:cs typeface="Arial"/>
                <a:sym typeface="Arial"/>
              </a:rPr>
              <a:t>rwd</a:t>
            </a:r>
            <a:r>
              <a:rPr lang="en-US" sz="2400" dirty="0">
                <a:latin typeface="Arial"/>
                <a:ea typeface="Arial"/>
                <a:cs typeface="Arial"/>
                <a:sym typeface="Arial"/>
              </a:rPr>
              <a:t> – </a:t>
            </a:r>
            <a:r>
              <a:rPr lang="en-US" sz="2400" dirty="0" err="1">
                <a:latin typeface="Arial"/>
                <a:ea typeface="Arial"/>
                <a:cs typeface="Arial"/>
                <a:sym typeface="Arial"/>
              </a:rPr>
              <a:t>pengerak</a:t>
            </a:r>
            <a:r>
              <a:rPr lang="en-US" sz="2400" dirty="0">
                <a:latin typeface="Arial"/>
                <a:ea typeface="Arial"/>
                <a:cs typeface="Arial"/>
                <a:sym typeface="Arial"/>
              </a:rPr>
              <a:t> </a:t>
            </a:r>
            <a:r>
              <a:rPr lang="en-US" sz="2400" dirty="0" err="1">
                <a:latin typeface="Arial"/>
                <a:ea typeface="Arial"/>
                <a:cs typeface="Arial"/>
                <a:sym typeface="Arial"/>
              </a:rPr>
              <a:t>belakang</a:t>
            </a:r>
            <a:r>
              <a:rPr lang="en-US" sz="2400" dirty="0">
                <a:latin typeface="Arial"/>
                <a:ea typeface="Arial"/>
                <a:cs typeface="Arial"/>
                <a:sym typeface="Arial"/>
              </a:rPr>
              <a:t>.</a:t>
            </a:r>
          </a:p>
        </p:txBody>
      </p:sp>
      <p:pic>
        <p:nvPicPr>
          <p:cNvPr id="5" name="Google Shape;437;p55">
            <a:extLst>
              <a:ext uri="{FF2B5EF4-FFF2-40B4-BE49-F238E27FC236}">
                <a16:creationId xmlns:a16="http://schemas.microsoft.com/office/drawing/2014/main" id="{74543D0D-6CB3-7D10-3670-89A839D58682}"/>
              </a:ext>
            </a:extLst>
          </p:cNvPr>
          <p:cNvPicPr preferRelativeResize="0"/>
          <p:nvPr/>
        </p:nvPicPr>
        <p:blipFill rotWithShape="1">
          <a:blip r:embed="rId2">
            <a:alphaModFix/>
          </a:blip>
          <a:srcRect/>
          <a:stretch/>
        </p:blipFill>
        <p:spPr>
          <a:xfrm>
            <a:off x="7093500" y="1974055"/>
            <a:ext cx="4260300" cy="3164482"/>
          </a:xfrm>
          <a:prstGeom prst="rect">
            <a:avLst/>
          </a:prstGeom>
          <a:noFill/>
          <a:ln>
            <a:noFill/>
          </a:ln>
        </p:spPr>
      </p:pic>
    </p:spTree>
    <p:extLst>
      <p:ext uri="{BB962C8B-B14F-4D97-AF65-F5344CB8AC3E}">
        <p14:creationId xmlns:p14="http://schemas.microsoft.com/office/powerpoint/2010/main" val="40575915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44075-EC34-CB36-6892-4ED068DBB8C0}"/>
            </a:ext>
          </a:extLst>
        </p:cNvPr>
        <p:cNvGrpSpPr/>
        <p:nvPr/>
      </p:nvGrpSpPr>
      <p:grpSpPr>
        <a:xfrm>
          <a:off x="0" y="0"/>
          <a:ext cx="0" cy="0"/>
          <a:chOff x="0" y="0"/>
          <a:chExt cx="0" cy="0"/>
        </a:xfrm>
      </p:grpSpPr>
      <p:pic>
        <p:nvPicPr>
          <p:cNvPr id="12" name="Google Shape;450;g10054a4cacb_1_31">
            <a:extLst>
              <a:ext uri="{FF2B5EF4-FFF2-40B4-BE49-F238E27FC236}">
                <a16:creationId xmlns:a16="http://schemas.microsoft.com/office/drawing/2014/main" id="{8AB09700-80E0-03FB-C166-D694AD19992C}"/>
              </a:ext>
            </a:extLst>
          </p:cNvPr>
          <p:cNvPicPr preferRelativeResize="0"/>
          <p:nvPr/>
        </p:nvPicPr>
        <p:blipFill>
          <a:blip r:embed="rId2">
            <a:alphaModFix/>
          </a:blip>
          <a:stretch>
            <a:fillRect/>
          </a:stretch>
        </p:blipFill>
        <p:spPr>
          <a:xfrm>
            <a:off x="578820" y="2419348"/>
            <a:ext cx="4694220" cy="3493772"/>
          </a:xfrm>
          <a:prstGeom prst="rect">
            <a:avLst/>
          </a:prstGeom>
          <a:noFill/>
          <a:ln>
            <a:noFill/>
          </a:ln>
        </p:spPr>
      </p:pic>
      <p:sp>
        <p:nvSpPr>
          <p:cNvPr id="2" name="Title 1">
            <a:extLst>
              <a:ext uri="{FF2B5EF4-FFF2-40B4-BE49-F238E27FC236}">
                <a16:creationId xmlns:a16="http://schemas.microsoft.com/office/drawing/2014/main" id="{08D49AB9-3105-2FB3-5A15-17E6971EDAEB}"/>
              </a:ext>
            </a:extLst>
          </p:cNvPr>
          <p:cNvSpPr>
            <a:spLocks noGrp="1"/>
          </p:cNvSpPr>
          <p:nvPr>
            <p:ph type="title"/>
          </p:nvPr>
        </p:nvSpPr>
        <p:spPr>
          <a:xfrm>
            <a:off x="838200" y="365125"/>
            <a:ext cx="10515600" cy="915035"/>
          </a:xfrm>
        </p:spPr>
        <p:txBody>
          <a:bodyPr>
            <a:normAutofit/>
          </a:bodyPr>
          <a:lstStyle/>
          <a:p>
            <a:r>
              <a:rPr lang="en-US" b="1" dirty="0"/>
              <a:t>Histogram</a:t>
            </a:r>
            <a:endParaRPr lang="en-US" dirty="0"/>
          </a:p>
        </p:txBody>
      </p:sp>
      <p:pic>
        <p:nvPicPr>
          <p:cNvPr id="7" name="Google Shape;445;g10054a4cacb_1_31">
            <a:extLst>
              <a:ext uri="{FF2B5EF4-FFF2-40B4-BE49-F238E27FC236}">
                <a16:creationId xmlns:a16="http://schemas.microsoft.com/office/drawing/2014/main" id="{137ADE64-1587-1564-1151-F700BE651D8D}"/>
              </a:ext>
            </a:extLst>
          </p:cNvPr>
          <p:cNvPicPr preferRelativeResize="0"/>
          <p:nvPr/>
        </p:nvPicPr>
        <p:blipFill>
          <a:blip r:embed="rId3">
            <a:alphaModFix/>
          </a:blip>
          <a:stretch>
            <a:fillRect/>
          </a:stretch>
        </p:blipFill>
        <p:spPr>
          <a:xfrm>
            <a:off x="578820" y="1280160"/>
            <a:ext cx="3318575" cy="1168470"/>
          </a:xfrm>
          <a:prstGeom prst="rect">
            <a:avLst/>
          </a:prstGeom>
          <a:noFill/>
          <a:ln>
            <a:noFill/>
          </a:ln>
        </p:spPr>
      </p:pic>
      <p:sp>
        <p:nvSpPr>
          <p:cNvPr id="8" name="Google Shape;446;g10054a4cacb_1_31">
            <a:extLst>
              <a:ext uri="{FF2B5EF4-FFF2-40B4-BE49-F238E27FC236}">
                <a16:creationId xmlns:a16="http://schemas.microsoft.com/office/drawing/2014/main" id="{4D41DB08-804A-DD76-1CD3-0036CB000994}"/>
              </a:ext>
            </a:extLst>
          </p:cNvPr>
          <p:cNvSpPr/>
          <p:nvPr/>
        </p:nvSpPr>
        <p:spPr>
          <a:xfrm>
            <a:off x="3840787" y="1578772"/>
            <a:ext cx="1787853" cy="419381"/>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id" dirty="0"/>
              <a:t>Import library</a:t>
            </a:r>
            <a:endParaRPr dirty="0"/>
          </a:p>
        </p:txBody>
      </p:sp>
      <p:cxnSp>
        <p:nvCxnSpPr>
          <p:cNvPr id="9" name="Google Shape;447;g10054a4cacb_1_31">
            <a:extLst>
              <a:ext uri="{FF2B5EF4-FFF2-40B4-BE49-F238E27FC236}">
                <a16:creationId xmlns:a16="http://schemas.microsoft.com/office/drawing/2014/main" id="{E7FF1832-B3A2-59C7-FB13-B59C2B54320F}"/>
              </a:ext>
            </a:extLst>
          </p:cNvPr>
          <p:cNvCxnSpPr>
            <a:cxnSpLocks/>
          </p:cNvCxnSpPr>
          <p:nvPr/>
        </p:nvCxnSpPr>
        <p:spPr>
          <a:xfrm>
            <a:off x="3025320" y="1701335"/>
            <a:ext cx="815467" cy="0"/>
          </a:xfrm>
          <a:prstGeom prst="straightConnector1">
            <a:avLst/>
          </a:prstGeom>
          <a:noFill/>
          <a:ln w="19050" cap="flat" cmpd="sng">
            <a:solidFill>
              <a:srgbClr val="1EA4B2"/>
            </a:solidFill>
            <a:prstDash val="solid"/>
            <a:round/>
            <a:headEnd type="none" w="med" len="med"/>
            <a:tailEnd type="triangle" w="med" len="med"/>
          </a:ln>
        </p:spPr>
      </p:cxnSp>
      <p:sp>
        <p:nvSpPr>
          <p:cNvPr id="10" name="Google Shape;448;g10054a4cacb_1_31">
            <a:extLst>
              <a:ext uri="{FF2B5EF4-FFF2-40B4-BE49-F238E27FC236}">
                <a16:creationId xmlns:a16="http://schemas.microsoft.com/office/drawing/2014/main" id="{7FD62652-373C-7E1C-EA5D-98EA402A1CC3}"/>
              </a:ext>
            </a:extLst>
          </p:cNvPr>
          <p:cNvSpPr/>
          <p:nvPr/>
        </p:nvSpPr>
        <p:spPr>
          <a:xfrm>
            <a:off x="5057636" y="2299793"/>
            <a:ext cx="2623324" cy="758365"/>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id" dirty="0"/>
              <a:t>Visualisasi histogram dari kolom “Price”</a:t>
            </a:r>
            <a:endParaRPr dirty="0"/>
          </a:p>
        </p:txBody>
      </p:sp>
      <p:cxnSp>
        <p:nvCxnSpPr>
          <p:cNvPr id="11" name="Google Shape;449;g10054a4cacb_1_31">
            <a:extLst>
              <a:ext uri="{FF2B5EF4-FFF2-40B4-BE49-F238E27FC236}">
                <a16:creationId xmlns:a16="http://schemas.microsoft.com/office/drawing/2014/main" id="{1DA826BC-BA29-863C-A300-995E608AF782}"/>
              </a:ext>
            </a:extLst>
          </p:cNvPr>
          <p:cNvCxnSpPr>
            <a:cxnSpLocks/>
          </p:cNvCxnSpPr>
          <p:nvPr/>
        </p:nvCxnSpPr>
        <p:spPr>
          <a:xfrm>
            <a:off x="4189920" y="2532885"/>
            <a:ext cx="815467" cy="0"/>
          </a:xfrm>
          <a:prstGeom prst="straightConnector1">
            <a:avLst/>
          </a:prstGeom>
          <a:noFill/>
          <a:ln w="19050" cap="flat" cmpd="sng">
            <a:solidFill>
              <a:srgbClr val="1EA4B2"/>
            </a:solidFill>
            <a:prstDash val="solid"/>
            <a:round/>
            <a:headEnd type="none" w="med" len="med"/>
            <a:tailEnd type="triangle" w="med" len="med"/>
          </a:ln>
        </p:spPr>
      </p:cxnSp>
    </p:spTree>
    <p:extLst>
      <p:ext uri="{BB962C8B-B14F-4D97-AF65-F5344CB8AC3E}">
        <p14:creationId xmlns:p14="http://schemas.microsoft.com/office/powerpoint/2010/main" val="209988778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51320-9722-BA29-61F9-68D3B8A7EF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16AD17-F408-93DB-ADA2-85C6BC06B010}"/>
              </a:ext>
            </a:extLst>
          </p:cNvPr>
          <p:cNvSpPr>
            <a:spLocks noGrp="1"/>
          </p:cNvSpPr>
          <p:nvPr>
            <p:ph type="title"/>
          </p:nvPr>
        </p:nvSpPr>
        <p:spPr>
          <a:xfrm>
            <a:off x="838200" y="365125"/>
            <a:ext cx="10515600" cy="915035"/>
          </a:xfrm>
        </p:spPr>
        <p:txBody>
          <a:bodyPr>
            <a:normAutofit/>
          </a:bodyPr>
          <a:lstStyle/>
          <a:p>
            <a:r>
              <a:rPr lang="en-US" b="1" dirty="0"/>
              <a:t>Histogram</a:t>
            </a:r>
            <a:endParaRPr lang="en-US" dirty="0"/>
          </a:p>
        </p:txBody>
      </p:sp>
      <p:pic>
        <p:nvPicPr>
          <p:cNvPr id="3" name="Google Shape;457;g10054a4cc09_0_239">
            <a:extLst>
              <a:ext uri="{FF2B5EF4-FFF2-40B4-BE49-F238E27FC236}">
                <a16:creationId xmlns:a16="http://schemas.microsoft.com/office/drawing/2014/main" id="{845751C5-2B6D-BC42-9522-595879DF8F95}"/>
              </a:ext>
            </a:extLst>
          </p:cNvPr>
          <p:cNvPicPr preferRelativeResize="0"/>
          <p:nvPr/>
        </p:nvPicPr>
        <p:blipFill>
          <a:blip r:embed="rId2">
            <a:alphaModFix/>
          </a:blip>
          <a:stretch>
            <a:fillRect/>
          </a:stretch>
        </p:blipFill>
        <p:spPr>
          <a:xfrm>
            <a:off x="436580" y="1426520"/>
            <a:ext cx="2827171" cy="1066913"/>
          </a:xfrm>
          <a:prstGeom prst="rect">
            <a:avLst/>
          </a:prstGeom>
          <a:noFill/>
          <a:ln>
            <a:noFill/>
          </a:ln>
        </p:spPr>
      </p:pic>
      <p:sp>
        <p:nvSpPr>
          <p:cNvPr id="4" name="Google Shape;458;g10054a4cc09_0_239">
            <a:extLst>
              <a:ext uri="{FF2B5EF4-FFF2-40B4-BE49-F238E27FC236}">
                <a16:creationId xmlns:a16="http://schemas.microsoft.com/office/drawing/2014/main" id="{D52CB376-675C-BB6E-BF40-BE899CEA9AB0}"/>
              </a:ext>
            </a:extLst>
          </p:cNvPr>
          <p:cNvSpPr/>
          <p:nvPr/>
        </p:nvSpPr>
        <p:spPr>
          <a:xfrm>
            <a:off x="3577795" y="1573685"/>
            <a:ext cx="1731055" cy="548019"/>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id" dirty="0"/>
              <a:t>Import library</a:t>
            </a:r>
            <a:endParaRPr dirty="0"/>
          </a:p>
        </p:txBody>
      </p:sp>
      <p:cxnSp>
        <p:nvCxnSpPr>
          <p:cNvPr id="5" name="Google Shape;459;g10054a4cc09_0_239">
            <a:extLst>
              <a:ext uri="{FF2B5EF4-FFF2-40B4-BE49-F238E27FC236}">
                <a16:creationId xmlns:a16="http://schemas.microsoft.com/office/drawing/2014/main" id="{E5DCD5AE-2B2F-CE90-E16E-177F0E1761C1}"/>
              </a:ext>
            </a:extLst>
          </p:cNvPr>
          <p:cNvCxnSpPr>
            <a:cxnSpLocks/>
          </p:cNvCxnSpPr>
          <p:nvPr/>
        </p:nvCxnSpPr>
        <p:spPr>
          <a:xfrm>
            <a:off x="2883080" y="1847695"/>
            <a:ext cx="694715" cy="0"/>
          </a:xfrm>
          <a:prstGeom prst="straightConnector1">
            <a:avLst/>
          </a:prstGeom>
          <a:noFill/>
          <a:ln w="19050" cap="flat" cmpd="sng">
            <a:solidFill>
              <a:srgbClr val="1EA4B2"/>
            </a:solidFill>
            <a:prstDash val="solid"/>
            <a:round/>
            <a:headEnd type="none" w="med" len="med"/>
            <a:tailEnd type="triangle" w="med" len="med"/>
          </a:ln>
        </p:spPr>
      </p:cxnSp>
      <p:pic>
        <p:nvPicPr>
          <p:cNvPr id="6" name="Google Shape;460;g10054a4cc09_0_239">
            <a:extLst>
              <a:ext uri="{FF2B5EF4-FFF2-40B4-BE49-F238E27FC236}">
                <a16:creationId xmlns:a16="http://schemas.microsoft.com/office/drawing/2014/main" id="{4C602D2A-67C5-FFA9-DA07-E80F8510ADF8}"/>
              </a:ext>
            </a:extLst>
          </p:cNvPr>
          <p:cNvPicPr preferRelativeResize="0"/>
          <p:nvPr/>
        </p:nvPicPr>
        <p:blipFill>
          <a:blip r:embed="rId3">
            <a:alphaModFix/>
          </a:blip>
          <a:stretch>
            <a:fillRect/>
          </a:stretch>
        </p:blipFill>
        <p:spPr>
          <a:xfrm>
            <a:off x="443285" y="2639793"/>
            <a:ext cx="6269020" cy="2780480"/>
          </a:xfrm>
          <a:prstGeom prst="rect">
            <a:avLst/>
          </a:prstGeom>
          <a:noFill/>
          <a:ln>
            <a:noFill/>
          </a:ln>
        </p:spPr>
      </p:pic>
      <p:cxnSp>
        <p:nvCxnSpPr>
          <p:cNvPr id="13" name="Google Shape;461;g10054a4cc09_0_239">
            <a:extLst>
              <a:ext uri="{FF2B5EF4-FFF2-40B4-BE49-F238E27FC236}">
                <a16:creationId xmlns:a16="http://schemas.microsoft.com/office/drawing/2014/main" id="{2911920D-2340-D63D-0777-BE38E494D29D}"/>
              </a:ext>
            </a:extLst>
          </p:cNvPr>
          <p:cNvCxnSpPr>
            <a:cxnSpLocks/>
          </p:cNvCxnSpPr>
          <p:nvPr/>
        </p:nvCxnSpPr>
        <p:spPr>
          <a:xfrm>
            <a:off x="6647675" y="2691438"/>
            <a:ext cx="0" cy="2067598"/>
          </a:xfrm>
          <a:prstGeom prst="straightConnector1">
            <a:avLst/>
          </a:prstGeom>
          <a:noFill/>
          <a:ln w="19050" cap="flat" cmpd="sng">
            <a:solidFill>
              <a:srgbClr val="1EA4B2"/>
            </a:solidFill>
            <a:prstDash val="solid"/>
            <a:round/>
            <a:headEnd type="none" w="med" len="med"/>
            <a:tailEnd type="none" w="med" len="med"/>
          </a:ln>
        </p:spPr>
      </p:cxnSp>
      <p:sp>
        <p:nvSpPr>
          <p:cNvPr id="14" name="Google Shape;462;g10054a4cc09_0_239">
            <a:extLst>
              <a:ext uri="{FF2B5EF4-FFF2-40B4-BE49-F238E27FC236}">
                <a16:creationId xmlns:a16="http://schemas.microsoft.com/office/drawing/2014/main" id="{7234C182-37AC-02C8-EEED-43165DC23DF4}"/>
              </a:ext>
            </a:extLst>
          </p:cNvPr>
          <p:cNvSpPr/>
          <p:nvPr/>
        </p:nvSpPr>
        <p:spPr>
          <a:xfrm>
            <a:off x="7357724" y="3170238"/>
            <a:ext cx="2538116" cy="851498"/>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id" dirty="0"/>
              <a:t>Visualisasi histogram data “bore” dan “stroke”</a:t>
            </a:r>
            <a:endParaRPr dirty="0"/>
          </a:p>
        </p:txBody>
      </p:sp>
      <p:cxnSp>
        <p:nvCxnSpPr>
          <p:cNvPr id="15" name="Google Shape;463;g10054a4cc09_0_239">
            <a:extLst>
              <a:ext uri="{FF2B5EF4-FFF2-40B4-BE49-F238E27FC236}">
                <a16:creationId xmlns:a16="http://schemas.microsoft.com/office/drawing/2014/main" id="{8F5AAE43-225E-AE75-B5A3-16F885F3E999}"/>
              </a:ext>
            </a:extLst>
          </p:cNvPr>
          <p:cNvCxnSpPr>
            <a:cxnSpLocks/>
          </p:cNvCxnSpPr>
          <p:nvPr/>
        </p:nvCxnSpPr>
        <p:spPr>
          <a:xfrm>
            <a:off x="6647675" y="3499988"/>
            <a:ext cx="694715" cy="0"/>
          </a:xfrm>
          <a:prstGeom prst="straightConnector1">
            <a:avLst/>
          </a:prstGeom>
          <a:noFill/>
          <a:ln w="19050" cap="flat" cmpd="sng">
            <a:solidFill>
              <a:srgbClr val="1EA4B2"/>
            </a:solidFill>
            <a:prstDash val="solid"/>
            <a:round/>
            <a:headEnd type="none" w="med" len="med"/>
            <a:tailEnd type="triangle" w="med" len="med"/>
          </a:ln>
        </p:spPr>
      </p:cxnSp>
      <p:sp>
        <p:nvSpPr>
          <p:cNvPr id="16" name="Google Shape;464;g10054a4cc09_0_239">
            <a:extLst>
              <a:ext uri="{FF2B5EF4-FFF2-40B4-BE49-F238E27FC236}">
                <a16:creationId xmlns:a16="http://schemas.microsoft.com/office/drawing/2014/main" id="{BCBEFADA-3564-F628-9FA1-1F756CFEB862}"/>
              </a:ext>
            </a:extLst>
          </p:cNvPr>
          <p:cNvSpPr/>
          <p:nvPr/>
        </p:nvSpPr>
        <p:spPr>
          <a:xfrm>
            <a:off x="4417985" y="4872853"/>
            <a:ext cx="1876385" cy="425380"/>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id" dirty="0"/>
              <a:t>Nama label</a:t>
            </a:r>
            <a:endParaRPr dirty="0"/>
          </a:p>
        </p:txBody>
      </p:sp>
      <p:cxnSp>
        <p:nvCxnSpPr>
          <p:cNvPr id="17" name="Google Shape;465;g10054a4cc09_0_239">
            <a:extLst>
              <a:ext uri="{FF2B5EF4-FFF2-40B4-BE49-F238E27FC236}">
                <a16:creationId xmlns:a16="http://schemas.microsoft.com/office/drawing/2014/main" id="{C3C23697-EBDE-5B5E-F9A1-3FEF4F0BA515}"/>
              </a:ext>
            </a:extLst>
          </p:cNvPr>
          <p:cNvCxnSpPr>
            <a:cxnSpLocks/>
          </p:cNvCxnSpPr>
          <p:nvPr/>
        </p:nvCxnSpPr>
        <p:spPr>
          <a:xfrm>
            <a:off x="3723270" y="5085543"/>
            <a:ext cx="694715" cy="0"/>
          </a:xfrm>
          <a:prstGeom prst="straightConnector1">
            <a:avLst/>
          </a:prstGeom>
          <a:noFill/>
          <a:ln w="19050" cap="flat" cmpd="sng">
            <a:solidFill>
              <a:srgbClr val="1EA4B2"/>
            </a:solidFill>
            <a:prstDash val="solid"/>
            <a:round/>
            <a:headEnd type="none" w="med" len="med"/>
            <a:tailEnd type="triangle" w="med" len="med"/>
          </a:ln>
        </p:spPr>
      </p:cxnSp>
      <p:pic>
        <p:nvPicPr>
          <p:cNvPr id="18" name="Google Shape;466;g10054a4cc09_0_239">
            <a:extLst>
              <a:ext uri="{FF2B5EF4-FFF2-40B4-BE49-F238E27FC236}">
                <a16:creationId xmlns:a16="http://schemas.microsoft.com/office/drawing/2014/main" id="{A734035B-1F8C-6F19-40A4-9BA4A86784DB}"/>
              </a:ext>
            </a:extLst>
          </p:cNvPr>
          <p:cNvPicPr preferRelativeResize="0"/>
          <p:nvPr/>
        </p:nvPicPr>
        <p:blipFill>
          <a:blip r:embed="rId4">
            <a:alphaModFix/>
          </a:blip>
          <a:stretch>
            <a:fillRect/>
          </a:stretch>
        </p:blipFill>
        <p:spPr>
          <a:xfrm>
            <a:off x="7968381" y="105598"/>
            <a:ext cx="3729020" cy="2641844"/>
          </a:xfrm>
          <a:prstGeom prst="rect">
            <a:avLst/>
          </a:prstGeom>
          <a:noFill/>
          <a:ln>
            <a:noFill/>
          </a:ln>
        </p:spPr>
      </p:pic>
    </p:spTree>
    <p:extLst>
      <p:ext uri="{BB962C8B-B14F-4D97-AF65-F5344CB8AC3E}">
        <p14:creationId xmlns:p14="http://schemas.microsoft.com/office/powerpoint/2010/main" val="10486544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7AF9E-22C2-D6D3-A6AD-446E57767B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86F8E-EAFD-502B-37A3-9F5234E7CB30}"/>
              </a:ext>
            </a:extLst>
          </p:cNvPr>
          <p:cNvSpPr>
            <a:spLocks noGrp="1"/>
          </p:cNvSpPr>
          <p:nvPr>
            <p:ph type="title"/>
          </p:nvPr>
        </p:nvSpPr>
        <p:spPr>
          <a:xfrm>
            <a:off x="838200" y="365125"/>
            <a:ext cx="10515600" cy="915035"/>
          </a:xfrm>
        </p:spPr>
        <p:txBody>
          <a:bodyPr>
            <a:normAutofit/>
          </a:bodyPr>
          <a:lstStyle/>
          <a:p>
            <a:r>
              <a:rPr lang="en-US" b="1" dirty="0"/>
              <a:t>Correlation &amp; Causation</a:t>
            </a:r>
            <a:endParaRPr lang="en-US" dirty="0"/>
          </a:p>
        </p:txBody>
      </p:sp>
      <p:sp>
        <p:nvSpPr>
          <p:cNvPr id="3" name="Content Placeholder 2">
            <a:extLst>
              <a:ext uri="{FF2B5EF4-FFF2-40B4-BE49-F238E27FC236}">
                <a16:creationId xmlns:a16="http://schemas.microsoft.com/office/drawing/2014/main" id="{73B9D53F-0F05-53AD-BDAF-0D5D2F9ABA34}"/>
              </a:ext>
            </a:extLst>
          </p:cNvPr>
          <p:cNvSpPr>
            <a:spLocks noGrp="1"/>
          </p:cNvSpPr>
          <p:nvPr>
            <p:ph idx="1"/>
          </p:nvPr>
        </p:nvSpPr>
        <p:spPr>
          <a:xfrm>
            <a:off x="309880" y="1825625"/>
            <a:ext cx="6446520" cy="4351338"/>
          </a:xfrm>
        </p:spPr>
        <p:txBody>
          <a:bodyPr>
            <a:normAutofit lnSpcReduction="10000"/>
          </a:bodyPr>
          <a:lstStyle/>
          <a:p>
            <a:pPr marL="457200" lvl="0" indent="-343005">
              <a:lnSpc>
                <a:spcPct val="115000"/>
              </a:lnSpc>
              <a:spcBef>
                <a:spcPts val="0"/>
              </a:spcBef>
              <a:buClr>
                <a:schemeClr val="dk1"/>
              </a:buClr>
              <a:buSzPct val="110599"/>
              <a:buChar char="●"/>
            </a:pPr>
            <a:r>
              <a:rPr lang="en-US" sz="2400" b="1" dirty="0" err="1">
                <a:latin typeface="Arial"/>
                <a:ea typeface="Arial"/>
                <a:cs typeface="Arial"/>
                <a:sym typeface="Arial"/>
              </a:rPr>
              <a:t>Korelasi</a:t>
            </a:r>
            <a:r>
              <a:rPr lang="en-US" sz="2400" b="1" dirty="0">
                <a:latin typeface="Arial"/>
                <a:ea typeface="Arial"/>
                <a:cs typeface="Arial"/>
                <a:sym typeface="Arial"/>
              </a:rPr>
              <a:t> </a:t>
            </a:r>
            <a:r>
              <a:rPr lang="en-US" sz="2400" dirty="0" err="1">
                <a:latin typeface="Arial"/>
                <a:ea typeface="Arial"/>
                <a:cs typeface="Arial"/>
                <a:sym typeface="Arial"/>
              </a:rPr>
              <a:t>merupakan</a:t>
            </a:r>
            <a:r>
              <a:rPr lang="en-US" sz="2400" dirty="0">
                <a:latin typeface="Arial"/>
                <a:ea typeface="Arial"/>
                <a:cs typeface="Arial"/>
                <a:sym typeface="Arial"/>
              </a:rPr>
              <a:t> </a:t>
            </a:r>
            <a:r>
              <a:rPr lang="en-US" sz="2400" dirty="0" err="1">
                <a:latin typeface="Arial"/>
                <a:ea typeface="Arial"/>
                <a:cs typeface="Arial"/>
                <a:sym typeface="Arial"/>
              </a:rPr>
              <a:t>suatu</a:t>
            </a:r>
            <a:r>
              <a:rPr lang="en-US" sz="2400" dirty="0">
                <a:latin typeface="Arial"/>
                <a:ea typeface="Arial"/>
                <a:cs typeface="Arial"/>
                <a:sym typeface="Arial"/>
              </a:rPr>
              <a:t> </a:t>
            </a:r>
            <a:r>
              <a:rPr lang="en-US" sz="2400" dirty="0" err="1">
                <a:latin typeface="Arial"/>
                <a:ea typeface="Arial"/>
                <a:cs typeface="Arial"/>
                <a:sym typeface="Arial"/>
              </a:rPr>
              <a:t>pengukuran</a:t>
            </a:r>
            <a:r>
              <a:rPr lang="en-US" sz="2400" dirty="0">
                <a:latin typeface="Arial"/>
                <a:ea typeface="Arial"/>
                <a:cs typeface="Arial"/>
                <a:sym typeface="Arial"/>
              </a:rPr>
              <a:t> </a:t>
            </a:r>
            <a:r>
              <a:rPr lang="en-US" sz="2400" dirty="0" err="1">
                <a:latin typeface="Arial"/>
                <a:ea typeface="Arial"/>
                <a:cs typeface="Arial"/>
                <a:sym typeface="Arial"/>
              </a:rPr>
              <a:t>sejauh</a:t>
            </a:r>
            <a:r>
              <a:rPr lang="en-US" sz="2400" dirty="0">
                <a:latin typeface="Arial"/>
                <a:ea typeface="Arial"/>
                <a:cs typeface="Arial"/>
                <a:sym typeface="Arial"/>
              </a:rPr>
              <a:t> mana </a:t>
            </a:r>
            <a:r>
              <a:rPr lang="en-US" sz="2400" dirty="0" err="1">
                <a:latin typeface="Arial"/>
                <a:ea typeface="Arial"/>
                <a:cs typeface="Arial"/>
                <a:sym typeface="Arial"/>
              </a:rPr>
              <a:t>nilai</a:t>
            </a:r>
            <a:r>
              <a:rPr lang="en-US" sz="2400" dirty="0">
                <a:latin typeface="Arial"/>
                <a:ea typeface="Arial"/>
                <a:cs typeface="Arial"/>
                <a:sym typeface="Arial"/>
              </a:rPr>
              <a:t> </a:t>
            </a:r>
            <a:r>
              <a:rPr lang="en-US" sz="2400" dirty="0" err="1">
                <a:latin typeface="Arial"/>
                <a:ea typeface="Arial"/>
                <a:cs typeface="Arial"/>
                <a:sym typeface="Arial"/>
              </a:rPr>
              <a:t>saling</a:t>
            </a:r>
            <a:r>
              <a:rPr lang="en-US" sz="2400" dirty="0">
                <a:latin typeface="Arial"/>
                <a:ea typeface="Arial"/>
                <a:cs typeface="Arial"/>
                <a:sym typeface="Arial"/>
              </a:rPr>
              <a:t> </a:t>
            </a:r>
            <a:r>
              <a:rPr lang="en-US" sz="2400" dirty="0" err="1">
                <a:latin typeface="Arial"/>
                <a:ea typeface="Arial"/>
                <a:cs typeface="Arial"/>
                <a:sym typeface="Arial"/>
              </a:rPr>
              <a:t>ketergantungan</a:t>
            </a:r>
            <a:r>
              <a:rPr lang="en-US" sz="2400" dirty="0">
                <a:latin typeface="Arial"/>
                <a:ea typeface="Arial"/>
                <a:cs typeface="Arial"/>
                <a:sym typeface="Arial"/>
              </a:rPr>
              <a:t> </a:t>
            </a:r>
            <a:r>
              <a:rPr lang="en-US" sz="2400" dirty="0" err="1">
                <a:latin typeface="Arial"/>
                <a:ea typeface="Arial"/>
                <a:cs typeface="Arial"/>
                <a:sym typeface="Arial"/>
              </a:rPr>
              <a:t>antar</a:t>
            </a:r>
            <a:r>
              <a:rPr lang="en-US" sz="2400" dirty="0">
                <a:latin typeface="Arial"/>
                <a:ea typeface="Arial"/>
                <a:cs typeface="Arial"/>
                <a:sym typeface="Arial"/>
              </a:rPr>
              <a:t> </a:t>
            </a:r>
            <a:r>
              <a:rPr lang="en-US" sz="2400" dirty="0" err="1">
                <a:latin typeface="Arial"/>
                <a:ea typeface="Arial"/>
                <a:cs typeface="Arial"/>
                <a:sym typeface="Arial"/>
              </a:rPr>
              <a:t>variabel</a:t>
            </a:r>
            <a:r>
              <a:rPr lang="en-US" sz="2400" dirty="0">
                <a:latin typeface="Arial"/>
                <a:ea typeface="Arial"/>
                <a:cs typeface="Arial"/>
                <a:sym typeface="Arial"/>
              </a:rPr>
              <a:t>.</a:t>
            </a:r>
          </a:p>
          <a:p>
            <a:pPr marL="457200" lvl="0" indent="-343005">
              <a:lnSpc>
                <a:spcPct val="115000"/>
              </a:lnSpc>
              <a:spcBef>
                <a:spcPts val="0"/>
              </a:spcBef>
              <a:buClr>
                <a:schemeClr val="dk1"/>
              </a:buClr>
              <a:buSzPct val="110599"/>
              <a:buChar char="●"/>
            </a:pPr>
            <a:r>
              <a:rPr lang="en-US" sz="2400" b="1" dirty="0">
                <a:latin typeface="Arial"/>
                <a:ea typeface="Arial"/>
                <a:cs typeface="Arial"/>
                <a:sym typeface="Arial"/>
              </a:rPr>
              <a:t>Causation </a:t>
            </a:r>
            <a:r>
              <a:rPr lang="en-US" sz="2400" dirty="0" err="1">
                <a:latin typeface="Arial"/>
                <a:ea typeface="Arial"/>
                <a:cs typeface="Arial"/>
                <a:sym typeface="Arial"/>
              </a:rPr>
              <a:t>merupakan</a:t>
            </a:r>
            <a:r>
              <a:rPr lang="en-US" sz="2400" dirty="0">
                <a:latin typeface="Arial"/>
                <a:ea typeface="Arial"/>
                <a:cs typeface="Arial"/>
                <a:sym typeface="Arial"/>
              </a:rPr>
              <a:t> </a:t>
            </a:r>
            <a:r>
              <a:rPr lang="en-US" sz="2400" dirty="0" err="1">
                <a:latin typeface="Arial"/>
                <a:ea typeface="Arial"/>
                <a:cs typeface="Arial"/>
                <a:sym typeface="Arial"/>
              </a:rPr>
              <a:t>hubungan</a:t>
            </a:r>
            <a:r>
              <a:rPr lang="en-US" sz="2400" dirty="0">
                <a:latin typeface="Arial"/>
                <a:ea typeface="Arial"/>
                <a:cs typeface="Arial"/>
                <a:sym typeface="Arial"/>
              </a:rPr>
              <a:t> </a:t>
            </a:r>
            <a:r>
              <a:rPr lang="en-US" sz="2400" dirty="0" err="1">
                <a:latin typeface="Arial"/>
                <a:ea typeface="Arial"/>
                <a:cs typeface="Arial"/>
                <a:sym typeface="Arial"/>
              </a:rPr>
              <a:t>antara</a:t>
            </a:r>
            <a:r>
              <a:rPr lang="en-US" sz="2400" dirty="0">
                <a:latin typeface="Arial"/>
                <a:ea typeface="Arial"/>
                <a:cs typeface="Arial"/>
                <a:sym typeface="Arial"/>
              </a:rPr>
              <a:t> </a:t>
            </a:r>
            <a:r>
              <a:rPr lang="en-US" sz="2400" dirty="0" err="1">
                <a:latin typeface="Arial"/>
                <a:ea typeface="Arial"/>
                <a:cs typeface="Arial"/>
                <a:sym typeface="Arial"/>
              </a:rPr>
              <a:t>sebab</a:t>
            </a:r>
            <a:r>
              <a:rPr lang="en-US" sz="2400" dirty="0">
                <a:latin typeface="Arial"/>
                <a:ea typeface="Arial"/>
                <a:cs typeface="Arial"/>
                <a:sym typeface="Arial"/>
              </a:rPr>
              <a:t> dan </a:t>
            </a:r>
            <a:r>
              <a:rPr lang="en-US" sz="2400" dirty="0" err="1">
                <a:latin typeface="Arial"/>
                <a:ea typeface="Arial"/>
                <a:cs typeface="Arial"/>
                <a:sym typeface="Arial"/>
              </a:rPr>
              <a:t>akibat</a:t>
            </a:r>
            <a:r>
              <a:rPr lang="en-US" sz="2400" dirty="0">
                <a:latin typeface="Arial"/>
                <a:ea typeface="Arial"/>
                <a:cs typeface="Arial"/>
                <a:sym typeface="Arial"/>
              </a:rPr>
              <a:t> </a:t>
            </a:r>
            <a:r>
              <a:rPr lang="en-US" sz="2400" dirty="0" err="1">
                <a:latin typeface="Arial"/>
                <a:ea typeface="Arial"/>
                <a:cs typeface="Arial"/>
                <a:sym typeface="Arial"/>
              </a:rPr>
              <a:t>antara</a:t>
            </a:r>
            <a:r>
              <a:rPr lang="en-US" sz="2400" dirty="0">
                <a:latin typeface="Arial"/>
                <a:ea typeface="Arial"/>
                <a:cs typeface="Arial"/>
                <a:sym typeface="Arial"/>
              </a:rPr>
              <a:t> dua variable</a:t>
            </a:r>
          </a:p>
          <a:p>
            <a:pPr marL="457200" lvl="0" indent="-343005">
              <a:lnSpc>
                <a:spcPct val="115000"/>
              </a:lnSpc>
              <a:spcBef>
                <a:spcPts val="0"/>
              </a:spcBef>
              <a:buClr>
                <a:schemeClr val="dk1"/>
              </a:buClr>
              <a:buSzPct val="110599"/>
              <a:buChar char="●"/>
            </a:pPr>
            <a:r>
              <a:rPr lang="en-US" sz="2400" dirty="0" err="1">
                <a:latin typeface="Arial"/>
                <a:ea typeface="Arial"/>
                <a:cs typeface="Arial"/>
                <a:sym typeface="Arial"/>
              </a:rPr>
              <a:t>Penting</a:t>
            </a:r>
            <a:r>
              <a:rPr lang="en-US" sz="2400" dirty="0">
                <a:latin typeface="Arial"/>
                <a:ea typeface="Arial"/>
                <a:cs typeface="Arial"/>
                <a:sym typeface="Arial"/>
              </a:rPr>
              <a:t> </a:t>
            </a:r>
            <a:r>
              <a:rPr lang="en-US" sz="2400" dirty="0" err="1">
                <a:latin typeface="Arial"/>
                <a:ea typeface="Arial"/>
                <a:cs typeface="Arial"/>
                <a:sym typeface="Arial"/>
              </a:rPr>
              <a:t>untuk</a:t>
            </a:r>
            <a:r>
              <a:rPr lang="en-US" sz="2400" dirty="0">
                <a:latin typeface="Arial"/>
                <a:ea typeface="Arial"/>
                <a:cs typeface="Arial"/>
                <a:sym typeface="Arial"/>
              </a:rPr>
              <a:t> </a:t>
            </a:r>
            <a:r>
              <a:rPr lang="en-US" sz="2400" dirty="0" err="1">
                <a:latin typeface="Arial"/>
                <a:ea typeface="Arial"/>
                <a:cs typeface="Arial"/>
                <a:sym typeface="Arial"/>
              </a:rPr>
              <a:t>mengetahui</a:t>
            </a:r>
            <a:r>
              <a:rPr lang="en-US" sz="2400" dirty="0">
                <a:latin typeface="Arial"/>
                <a:ea typeface="Arial"/>
                <a:cs typeface="Arial"/>
                <a:sym typeface="Arial"/>
              </a:rPr>
              <a:t> </a:t>
            </a:r>
            <a:r>
              <a:rPr lang="en-US" sz="2400" dirty="0" err="1">
                <a:latin typeface="Arial"/>
                <a:ea typeface="Arial"/>
                <a:cs typeface="Arial"/>
                <a:sym typeface="Arial"/>
              </a:rPr>
              <a:t>perbedaan</a:t>
            </a:r>
            <a:r>
              <a:rPr lang="en-US" sz="2400" dirty="0">
                <a:latin typeface="Arial"/>
                <a:ea typeface="Arial"/>
                <a:cs typeface="Arial"/>
                <a:sym typeface="Arial"/>
              </a:rPr>
              <a:t> </a:t>
            </a:r>
            <a:r>
              <a:rPr lang="en-US" sz="2400" dirty="0" err="1">
                <a:latin typeface="Arial"/>
                <a:ea typeface="Arial"/>
                <a:cs typeface="Arial"/>
                <a:sym typeface="Arial"/>
              </a:rPr>
              <a:t>antara</a:t>
            </a:r>
            <a:r>
              <a:rPr lang="en-US" sz="2400" dirty="0">
                <a:latin typeface="Arial"/>
                <a:ea typeface="Arial"/>
                <a:cs typeface="Arial"/>
                <a:sym typeface="Arial"/>
              </a:rPr>
              <a:t> </a:t>
            </a:r>
            <a:r>
              <a:rPr lang="en-US" sz="2400" dirty="0" err="1">
                <a:latin typeface="Arial"/>
                <a:ea typeface="Arial"/>
                <a:cs typeface="Arial"/>
                <a:sym typeface="Arial"/>
              </a:rPr>
              <a:t>keduanya</a:t>
            </a:r>
            <a:r>
              <a:rPr lang="en-US" sz="2400" dirty="0">
                <a:latin typeface="Arial"/>
                <a:ea typeface="Arial"/>
                <a:cs typeface="Arial"/>
                <a:sym typeface="Arial"/>
              </a:rPr>
              <a:t> dan </a:t>
            </a:r>
            <a:r>
              <a:rPr lang="en-US" sz="2400" dirty="0" err="1">
                <a:latin typeface="Arial"/>
                <a:ea typeface="Arial"/>
                <a:cs typeface="Arial"/>
                <a:sym typeface="Arial"/>
              </a:rPr>
              <a:t>bahwa</a:t>
            </a:r>
            <a:r>
              <a:rPr lang="en-US" sz="2400" dirty="0">
                <a:latin typeface="Arial"/>
                <a:ea typeface="Arial"/>
                <a:cs typeface="Arial"/>
                <a:sym typeface="Arial"/>
              </a:rPr>
              <a:t> </a:t>
            </a:r>
            <a:r>
              <a:rPr lang="en-US" sz="2400" dirty="0" err="1">
                <a:latin typeface="Arial"/>
                <a:ea typeface="Arial"/>
                <a:cs typeface="Arial"/>
                <a:sym typeface="Arial"/>
              </a:rPr>
              <a:t>korelasi</a:t>
            </a:r>
            <a:r>
              <a:rPr lang="en-US" sz="2400" dirty="0">
                <a:latin typeface="Arial"/>
                <a:ea typeface="Arial"/>
                <a:cs typeface="Arial"/>
                <a:sym typeface="Arial"/>
              </a:rPr>
              <a:t> </a:t>
            </a:r>
            <a:r>
              <a:rPr lang="en-US" sz="2400" dirty="0" err="1">
                <a:latin typeface="Arial"/>
                <a:ea typeface="Arial"/>
                <a:cs typeface="Arial"/>
                <a:sym typeface="Arial"/>
              </a:rPr>
              <a:t>tidak</a:t>
            </a:r>
            <a:r>
              <a:rPr lang="en-US" sz="2400" dirty="0">
                <a:latin typeface="Arial"/>
                <a:ea typeface="Arial"/>
                <a:cs typeface="Arial"/>
                <a:sym typeface="Arial"/>
              </a:rPr>
              <a:t> </a:t>
            </a:r>
            <a:r>
              <a:rPr lang="en-US" sz="2400" dirty="0" err="1">
                <a:latin typeface="Arial"/>
                <a:ea typeface="Arial"/>
                <a:cs typeface="Arial"/>
                <a:sym typeface="Arial"/>
              </a:rPr>
              <a:t>mendeskripsikan</a:t>
            </a:r>
            <a:r>
              <a:rPr lang="en-US" sz="2400" dirty="0">
                <a:latin typeface="Arial"/>
                <a:ea typeface="Arial"/>
                <a:cs typeface="Arial"/>
                <a:sym typeface="Arial"/>
              </a:rPr>
              <a:t>  </a:t>
            </a:r>
            <a:r>
              <a:rPr lang="en-US" sz="2400" dirty="0" err="1">
                <a:latin typeface="Arial"/>
                <a:ea typeface="Arial"/>
                <a:cs typeface="Arial"/>
                <a:sym typeface="Arial"/>
              </a:rPr>
              <a:t>sebab-akibat</a:t>
            </a:r>
            <a:r>
              <a:rPr lang="en-US" sz="2400" dirty="0">
                <a:latin typeface="Arial"/>
                <a:ea typeface="Arial"/>
                <a:cs typeface="Arial"/>
                <a:sym typeface="Arial"/>
              </a:rPr>
              <a:t>.</a:t>
            </a:r>
          </a:p>
          <a:p>
            <a:pPr marL="457200" lvl="0" indent="-343005">
              <a:lnSpc>
                <a:spcPct val="115000"/>
              </a:lnSpc>
              <a:spcBef>
                <a:spcPts val="0"/>
              </a:spcBef>
              <a:buClr>
                <a:schemeClr val="dk1"/>
              </a:buClr>
              <a:buSzPct val="110599"/>
              <a:buChar char="●"/>
            </a:pPr>
            <a:r>
              <a:rPr lang="en-US" sz="2400" dirty="0" err="1">
                <a:latin typeface="Arial"/>
                <a:ea typeface="Arial"/>
                <a:cs typeface="Arial"/>
                <a:sym typeface="Arial"/>
              </a:rPr>
              <a:t>Menentukan</a:t>
            </a:r>
            <a:r>
              <a:rPr lang="en-US" sz="2400" dirty="0">
                <a:latin typeface="Arial"/>
                <a:ea typeface="Arial"/>
                <a:cs typeface="Arial"/>
                <a:sym typeface="Arial"/>
              </a:rPr>
              <a:t> </a:t>
            </a:r>
            <a:r>
              <a:rPr lang="en-US" sz="2400" dirty="0" err="1">
                <a:latin typeface="Arial"/>
                <a:ea typeface="Arial"/>
                <a:cs typeface="Arial"/>
                <a:sym typeface="Arial"/>
              </a:rPr>
              <a:t>korelasi</a:t>
            </a:r>
            <a:r>
              <a:rPr lang="en-US" sz="2400" dirty="0">
                <a:latin typeface="Arial"/>
                <a:ea typeface="Arial"/>
                <a:cs typeface="Arial"/>
                <a:sym typeface="Arial"/>
              </a:rPr>
              <a:t> </a:t>
            </a:r>
            <a:r>
              <a:rPr lang="en-US" sz="2400" dirty="0" err="1">
                <a:latin typeface="Arial"/>
                <a:ea typeface="Arial"/>
                <a:cs typeface="Arial"/>
                <a:sym typeface="Arial"/>
              </a:rPr>
              <a:t>jauh</a:t>
            </a:r>
            <a:r>
              <a:rPr lang="en-US" sz="2400" dirty="0">
                <a:latin typeface="Arial"/>
                <a:ea typeface="Arial"/>
                <a:cs typeface="Arial"/>
                <a:sym typeface="Arial"/>
              </a:rPr>
              <a:t> </a:t>
            </a:r>
            <a:r>
              <a:rPr lang="en-US" sz="2400" dirty="0" err="1">
                <a:latin typeface="Arial"/>
                <a:ea typeface="Arial"/>
                <a:cs typeface="Arial"/>
                <a:sym typeface="Arial"/>
              </a:rPr>
              <a:t>lebih</a:t>
            </a:r>
            <a:r>
              <a:rPr lang="en-US" sz="2400" dirty="0">
                <a:latin typeface="Arial"/>
                <a:ea typeface="Arial"/>
                <a:cs typeface="Arial"/>
                <a:sym typeface="Arial"/>
              </a:rPr>
              <a:t> </a:t>
            </a:r>
            <a:r>
              <a:rPr lang="en-US" sz="2400" dirty="0" err="1">
                <a:latin typeface="Arial"/>
                <a:ea typeface="Arial"/>
                <a:cs typeface="Arial"/>
                <a:sym typeface="Arial"/>
              </a:rPr>
              <a:t>sederhana</a:t>
            </a:r>
            <a:r>
              <a:rPr lang="en-US" sz="2400" dirty="0">
                <a:latin typeface="Arial"/>
                <a:ea typeface="Arial"/>
                <a:cs typeface="Arial"/>
                <a:sym typeface="Arial"/>
              </a:rPr>
              <a:t> </a:t>
            </a:r>
            <a:r>
              <a:rPr lang="en-US" sz="2400" dirty="0" err="1">
                <a:latin typeface="Arial"/>
                <a:ea typeface="Arial"/>
                <a:cs typeface="Arial"/>
                <a:sym typeface="Arial"/>
              </a:rPr>
              <a:t>menentukan</a:t>
            </a:r>
            <a:r>
              <a:rPr lang="en-US" sz="2400" dirty="0">
                <a:latin typeface="Arial"/>
                <a:ea typeface="Arial"/>
                <a:cs typeface="Arial"/>
                <a:sym typeface="Arial"/>
              </a:rPr>
              <a:t> </a:t>
            </a:r>
            <a:r>
              <a:rPr lang="en-US" sz="2400" dirty="0" err="1">
                <a:latin typeface="Arial"/>
                <a:ea typeface="Arial"/>
                <a:cs typeface="Arial"/>
                <a:sym typeface="Arial"/>
              </a:rPr>
              <a:t>sebab</a:t>
            </a:r>
            <a:r>
              <a:rPr lang="en-US" sz="2400" dirty="0">
                <a:latin typeface="Arial"/>
                <a:ea typeface="Arial"/>
                <a:cs typeface="Arial"/>
                <a:sym typeface="Arial"/>
              </a:rPr>
              <a:t> </a:t>
            </a:r>
            <a:r>
              <a:rPr lang="en-US" sz="2400" dirty="0" err="1">
                <a:latin typeface="Arial"/>
                <a:ea typeface="Arial"/>
                <a:cs typeface="Arial"/>
                <a:sym typeface="Arial"/>
              </a:rPr>
              <a:t>memerlukan</a:t>
            </a:r>
            <a:r>
              <a:rPr lang="en-US" sz="2400" dirty="0">
                <a:latin typeface="Arial"/>
                <a:ea typeface="Arial"/>
                <a:cs typeface="Arial"/>
                <a:sym typeface="Arial"/>
              </a:rPr>
              <a:t> </a:t>
            </a:r>
            <a:r>
              <a:rPr lang="en-US" sz="2400" dirty="0" err="1">
                <a:latin typeface="Arial"/>
                <a:ea typeface="Arial"/>
                <a:cs typeface="Arial"/>
                <a:sym typeface="Arial"/>
              </a:rPr>
              <a:t>analisis</a:t>
            </a:r>
            <a:r>
              <a:rPr lang="en-US" sz="2400" dirty="0">
                <a:latin typeface="Arial"/>
                <a:ea typeface="Arial"/>
                <a:cs typeface="Arial"/>
                <a:sym typeface="Arial"/>
              </a:rPr>
              <a:t> </a:t>
            </a:r>
            <a:r>
              <a:rPr lang="en-US" sz="2400" dirty="0" err="1">
                <a:latin typeface="Arial"/>
                <a:ea typeface="Arial"/>
                <a:cs typeface="Arial"/>
                <a:sym typeface="Arial"/>
              </a:rPr>
              <a:t>lebih</a:t>
            </a:r>
            <a:r>
              <a:rPr lang="en-US" sz="2400" dirty="0">
                <a:latin typeface="Arial"/>
                <a:ea typeface="Arial"/>
                <a:cs typeface="Arial"/>
                <a:sym typeface="Arial"/>
              </a:rPr>
              <a:t> </a:t>
            </a:r>
            <a:r>
              <a:rPr lang="en-US" sz="2400" dirty="0" err="1">
                <a:latin typeface="Arial"/>
                <a:ea typeface="Arial"/>
                <a:cs typeface="Arial"/>
                <a:sym typeface="Arial"/>
              </a:rPr>
              <a:t>lanjut</a:t>
            </a:r>
            <a:r>
              <a:rPr lang="en-US" sz="2400" dirty="0">
                <a:latin typeface="Arial"/>
                <a:ea typeface="Arial"/>
                <a:cs typeface="Arial"/>
                <a:sym typeface="Arial"/>
              </a:rPr>
              <a:t> </a:t>
            </a:r>
          </a:p>
        </p:txBody>
      </p:sp>
      <p:pic>
        <p:nvPicPr>
          <p:cNvPr id="6" name="Google Shape;473;p56">
            <a:extLst>
              <a:ext uri="{FF2B5EF4-FFF2-40B4-BE49-F238E27FC236}">
                <a16:creationId xmlns:a16="http://schemas.microsoft.com/office/drawing/2014/main" id="{31809D0D-1FD1-4D0B-F9D1-C73D1273DC55}"/>
              </a:ext>
            </a:extLst>
          </p:cNvPr>
          <p:cNvPicPr preferRelativeResize="0"/>
          <p:nvPr/>
        </p:nvPicPr>
        <p:blipFill rotWithShape="1">
          <a:blip r:embed="rId2">
            <a:alphaModFix/>
          </a:blip>
          <a:srcRect/>
          <a:stretch/>
        </p:blipFill>
        <p:spPr>
          <a:xfrm>
            <a:off x="6756400" y="2199342"/>
            <a:ext cx="5262075" cy="3114337"/>
          </a:xfrm>
          <a:prstGeom prst="rect">
            <a:avLst/>
          </a:prstGeom>
          <a:noFill/>
          <a:ln>
            <a:noFill/>
          </a:ln>
        </p:spPr>
      </p:pic>
    </p:spTree>
    <p:extLst>
      <p:ext uri="{BB962C8B-B14F-4D97-AF65-F5344CB8AC3E}">
        <p14:creationId xmlns:p14="http://schemas.microsoft.com/office/powerpoint/2010/main" val="31896549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0A52B-413D-CC3C-4E0C-7761C96FEA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265C95-9ACE-1D30-D6E1-DB9E622C68C2}"/>
              </a:ext>
            </a:extLst>
          </p:cNvPr>
          <p:cNvSpPr>
            <a:spLocks noGrp="1"/>
          </p:cNvSpPr>
          <p:nvPr>
            <p:ph type="title"/>
          </p:nvPr>
        </p:nvSpPr>
        <p:spPr>
          <a:xfrm>
            <a:off x="838200" y="365125"/>
            <a:ext cx="10515600" cy="915035"/>
          </a:xfrm>
        </p:spPr>
        <p:txBody>
          <a:bodyPr>
            <a:normAutofit/>
          </a:bodyPr>
          <a:lstStyle/>
          <a:p>
            <a:r>
              <a:rPr lang="en-US" b="1" dirty="0"/>
              <a:t>Correlation &amp; Causation</a:t>
            </a:r>
            <a:endParaRPr lang="en-US" dirty="0"/>
          </a:p>
        </p:txBody>
      </p:sp>
      <p:sp>
        <p:nvSpPr>
          <p:cNvPr id="3" name="Content Placeholder 2">
            <a:extLst>
              <a:ext uri="{FF2B5EF4-FFF2-40B4-BE49-F238E27FC236}">
                <a16:creationId xmlns:a16="http://schemas.microsoft.com/office/drawing/2014/main" id="{C9919038-6F72-63ED-1140-711228A39772}"/>
              </a:ext>
            </a:extLst>
          </p:cNvPr>
          <p:cNvSpPr>
            <a:spLocks noGrp="1"/>
          </p:cNvSpPr>
          <p:nvPr>
            <p:ph idx="1"/>
          </p:nvPr>
        </p:nvSpPr>
        <p:spPr>
          <a:xfrm>
            <a:off x="309880" y="1825625"/>
            <a:ext cx="6446520" cy="4351338"/>
          </a:xfrm>
        </p:spPr>
        <p:txBody>
          <a:bodyPr>
            <a:normAutofit/>
          </a:bodyPr>
          <a:lstStyle/>
          <a:p>
            <a:pPr marL="457200" lvl="0" indent="-327977">
              <a:lnSpc>
                <a:spcPct val="95000"/>
              </a:lnSpc>
              <a:spcBef>
                <a:spcPts val="0"/>
              </a:spcBef>
              <a:buClr>
                <a:schemeClr val="dk1"/>
              </a:buClr>
              <a:buSzPts val="1565"/>
              <a:buChar char="●"/>
            </a:pPr>
            <a:r>
              <a:rPr lang="en-US" sz="2400" b="1" dirty="0">
                <a:latin typeface="Arial"/>
                <a:ea typeface="Arial"/>
                <a:cs typeface="Arial"/>
                <a:sym typeface="Arial"/>
              </a:rPr>
              <a:t>Pearson Correlation</a:t>
            </a:r>
            <a:r>
              <a:rPr lang="en-US" sz="2400" dirty="0">
                <a:latin typeface="Arial"/>
                <a:ea typeface="Arial"/>
                <a:cs typeface="Arial"/>
                <a:sym typeface="Arial"/>
              </a:rPr>
              <a:t> </a:t>
            </a:r>
            <a:r>
              <a:rPr lang="en-US" sz="2400" dirty="0" err="1">
                <a:latin typeface="Arial"/>
                <a:ea typeface="Arial"/>
                <a:cs typeface="Arial"/>
                <a:sym typeface="Arial"/>
              </a:rPr>
              <a:t>adalah</a:t>
            </a:r>
            <a:r>
              <a:rPr lang="en-US" sz="2400" dirty="0">
                <a:latin typeface="Arial"/>
                <a:ea typeface="Arial"/>
                <a:cs typeface="Arial"/>
                <a:sym typeface="Arial"/>
              </a:rPr>
              <a:t> </a:t>
            </a:r>
            <a:r>
              <a:rPr lang="en-US" sz="2400" dirty="0" err="1">
                <a:latin typeface="Arial"/>
                <a:ea typeface="Arial"/>
                <a:cs typeface="Arial"/>
                <a:sym typeface="Arial"/>
              </a:rPr>
              <a:t>metode</a:t>
            </a:r>
            <a:r>
              <a:rPr lang="en-US" sz="2400" dirty="0">
                <a:latin typeface="Arial"/>
                <a:ea typeface="Arial"/>
                <a:cs typeface="Arial"/>
                <a:sym typeface="Arial"/>
              </a:rPr>
              <a:t> default </a:t>
            </a:r>
            <a:r>
              <a:rPr lang="en-US" sz="2400" dirty="0" err="1">
                <a:latin typeface="Arial"/>
                <a:ea typeface="Arial"/>
                <a:cs typeface="Arial"/>
                <a:sym typeface="Arial"/>
              </a:rPr>
              <a:t>dari</a:t>
            </a:r>
            <a:r>
              <a:rPr lang="en-US" sz="2400" dirty="0">
                <a:latin typeface="Arial"/>
                <a:ea typeface="Arial"/>
                <a:cs typeface="Arial"/>
                <a:sym typeface="Arial"/>
              </a:rPr>
              <a:t> </a:t>
            </a:r>
            <a:r>
              <a:rPr lang="en-US" sz="2400" dirty="0" err="1">
                <a:latin typeface="Arial"/>
                <a:ea typeface="Arial"/>
                <a:cs typeface="Arial"/>
                <a:sym typeface="Arial"/>
              </a:rPr>
              <a:t>fungsi</a:t>
            </a:r>
            <a:r>
              <a:rPr lang="en-US" sz="2400" dirty="0">
                <a:latin typeface="Arial"/>
                <a:ea typeface="Arial"/>
                <a:cs typeface="Arial"/>
                <a:sym typeface="Arial"/>
              </a:rPr>
              <a:t> "</a:t>
            </a:r>
            <a:r>
              <a:rPr lang="en-US" sz="2400" dirty="0" err="1">
                <a:latin typeface="Arial"/>
                <a:ea typeface="Arial"/>
                <a:cs typeface="Arial"/>
                <a:sym typeface="Arial"/>
              </a:rPr>
              <a:t>corr</a:t>
            </a:r>
            <a:r>
              <a:rPr lang="en-US" sz="2400" dirty="0">
                <a:latin typeface="Arial"/>
                <a:ea typeface="Arial"/>
                <a:cs typeface="Arial"/>
                <a:sym typeface="Arial"/>
              </a:rPr>
              <a:t>". Kita </a:t>
            </a:r>
            <a:r>
              <a:rPr lang="en-US" sz="2400" dirty="0" err="1">
                <a:latin typeface="Arial"/>
                <a:ea typeface="Arial"/>
                <a:cs typeface="Arial"/>
                <a:sym typeface="Arial"/>
              </a:rPr>
              <a:t>dapat</a:t>
            </a:r>
            <a:r>
              <a:rPr lang="en-US" sz="2400" dirty="0">
                <a:latin typeface="Arial"/>
                <a:ea typeface="Arial"/>
                <a:cs typeface="Arial"/>
                <a:sym typeface="Arial"/>
              </a:rPr>
              <a:t> </a:t>
            </a:r>
            <a:r>
              <a:rPr lang="en-US" sz="2400" dirty="0" err="1">
                <a:latin typeface="Arial"/>
                <a:ea typeface="Arial"/>
                <a:cs typeface="Arial"/>
                <a:sym typeface="Arial"/>
              </a:rPr>
              <a:t>menghitung</a:t>
            </a:r>
            <a:r>
              <a:rPr lang="en-US" sz="2400" dirty="0">
                <a:latin typeface="Arial"/>
                <a:ea typeface="Arial"/>
                <a:cs typeface="Arial"/>
                <a:sym typeface="Arial"/>
              </a:rPr>
              <a:t> </a:t>
            </a:r>
            <a:r>
              <a:rPr lang="en-US" sz="2400" dirty="0" err="1">
                <a:latin typeface="Arial"/>
                <a:ea typeface="Arial"/>
                <a:cs typeface="Arial"/>
                <a:sym typeface="Arial"/>
              </a:rPr>
              <a:t>Korelasi</a:t>
            </a:r>
            <a:r>
              <a:rPr lang="en-US" sz="2400" dirty="0">
                <a:latin typeface="Arial"/>
                <a:ea typeface="Arial"/>
                <a:cs typeface="Arial"/>
                <a:sym typeface="Arial"/>
              </a:rPr>
              <a:t> Pearson </a:t>
            </a:r>
            <a:r>
              <a:rPr lang="en-US" sz="2400" dirty="0" err="1">
                <a:latin typeface="Arial"/>
                <a:ea typeface="Arial"/>
                <a:cs typeface="Arial"/>
                <a:sym typeface="Arial"/>
              </a:rPr>
              <a:t>dari</a:t>
            </a:r>
            <a:r>
              <a:rPr lang="en-US" sz="2400" dirty="0">
                <a:latin typeface="Arial"/>
                <a:ea typeface="Arial"/>
                <a:cs typeface="Arial"/>
                <a:sym typeface="Arial"/>
              </a:rPr>
              <a:t> </a:t>
            </a:r>
            <a:r>
              <a:rPr lang="en-US" sz="2400" dirty="0" err="1">
                <a:latin typeface="Arial"/>
                <a:ea typeface="Arial"/>
                <a:cs typeface="Arial"/>
                <a:sym typeface="Arial"/>
              </a:rPr>
              <a:t>variabel</a:t>
            </a:r>
            <a:r>
              <a:rPr lang="en-US" sz="2400" dirty="0">
                <a:latin typeface="Arial"/>
                <a:ea typeface="Arial"/>
                <a:cs typeface="Arial"/>
                <a:sym typeface="Arial"/>
              </a:rPr>
              <a:t> 'int64' </a:t>
            </a:r>
            <a:r>
              <a:rPr lang="en-US" sz="2400" dirty="0" err="1">
                <a:latin typeface="Arial"/>
                <a:ea typeface="Arial"/>
                <a:cs typeface="Arial"/>
                <a:sym typeface="Arial"/>
              </a:rPr>
              <a:t>atau</a:t>
            </a:r>
            <a:r>
              <a:rPr lang="en-US" sz="2400" dirty="0">
                <a:latin typeface="Arial"/>
                <a:ea typeface="Arial"/>
                <a:cs typeface="Arial"/>
                <a:sym typeface="Arial"/>
              </a:rPr>
              <a:t> 'float64'. </a:t>
            </a:r>
            <a:r>
              <a:rPr lang="en-US" sz="2400" dirty="0" err="1">
                <a:latin typeface="Arial"/>
                <a:ea typeface="Arial"/>
                <a:cs typeface="Arial"/>
                <a:sym typeface="Arial"/>
              </a:rPr>
              <a:t>Terkadang</a:t>
            </a:r>
            <a:r>
              <a:rPr lang="en-US" sz="2400" dirty="0">
                <a:latin typeface="Arial"/>
                <a:ea typeface="Arial"/>
                <a:cs typeface="Arial"/>
                <a:sym typeface="Arial"/>
              </a:rPr>
              <a:t> </a:t>
            </a:r>
            <a:r>
              <a:rPr lang="en-US" sz="2400" dirty="0" err="1">
                <a:latin typeface="Arial"/>
                <a:ea typeface="Arial"/>
                <a:cs typeface="Arial"/>
                <a:sym typeface="Arial"/>
              </a:rPr>
              <a:t>kita</a:t>
            </a:r>
            <a:r>
              <a:rPr lang="en-US" sz="2400" dirty="0">
                <a:latin typeface="Arial"/>
                <a:ea typeface="Arial"/>
                <a:cs typeface="Arial"/>
                <a:sym typeface="Arial"/>
              </a:rPr>
              <a:t> </a:t>
            </a:r>
            <a:r>
              <a:rPr lang="en-US" sz="2400" dirty="0" err="1">
                <a:latin typeface="Arial"/>
                <a:ea typeface="Arial"/>
                <a:cs typeface="Arial"/>
                <a:sym typeface="Arial"/>
              </a:rPr>
              <a:t>ingin</a:t>
            </a:r>
            <a:r>
              <a:rPr lang="en-US" sz="2400" dirty="0">
                <a:latin typeface="Arial"/>
                <a:ea typeface="Arial"/>
                <a:cs typeface="Arial"/>
                <a:sym typeface="Arial"/>
              </a:rPr>
              <a:t> </a:t>
            </a:r>
            <a:r>
              <a:rPr lang="en-US" sz="2400" dirty="0" err="1">
                <a:latin typeface="Arial"/>
                <a:ea typeface="Arial"/>
                <a:cs typeface="Arial"/>
                <a:sym typeface="Arial"/>
              </a:rPr>
              <a:t>mengetahui</a:t>
            </a:r>
            <a:r>
              <a:rPr lang="en-US" sz="2400" dirty="0">
                <a:latin typeface="Arial"/>
                <a:ea typeface="Arial"/>
                <a:cs typeface="Arial"/>
                <a:sym typeface="Arial"/>
              </a:rPr>
              <a:t> </a:t>
            </a:r>
            <a:r>
              <a:rPr lang="en-US" sz="2400" dirty="0" err="1">
                <a:latin typeface="Arial"/>
                <a:ea typeface="Arial"/>
                <a:cs typeface="Arial"/>
                <a:sym typeface="Arial"/>
              </a:rPr>
              <a:t>signifikansi</a:t>
            </a:r>
            <a:r>
              <a:rPr lang="en-US" sz="2400" dirty="0">
                <a:latin typeface="Arial"/>
                <a:ea typeface="Arial"/>
                <a:cs typeface="Arial"/>
                <a:sym typeface="Arial"/>
              </a:rPr>
              <a:t> </a:t>
            </a:r>
            <a:r>
              <a:rPr lang="en-US" sz="2400" dirty="0" err="1">
                <a:latin typeface="Arial"/>
                <a:ea typeface="Arial"/>
                <a:cs typeface="Arial"/>
                <a:sym typeface="Arial"/>
              </a:rPr>
              <a:t>dari</a:t>
            </a:r>
            <a:r>
              <a:rPr lang="en-US" sz="2400" dirty="0">
                <a:latin typeface="Arial"/>
                <a:ea typeface="Arial"/>
                <a:cs typeface="Arial"/>
                <a:sym typeface="Arial"/>
              </a:rPr>
              <a:t> </a:t>
            </a:r>
            <a:r>
              <a:rPr lang="en-US" sz="2400" dirty="0" err="1">
                <a:latin typeface="Arial"/>
                <a:ea typeface="Arial"/>
                <a:cs typeface="Arial"/>
                <a:sym typeface="Arial"/>
              </a:rPr>
              <a:t>estimasi</a:t>
            </a:r>
            <a:r>
              <a:rPr lang="en-US" sz="2400" dirty="0">
                <a:latin typeface="Arial"/>
                <a:ea typeface="Arial"/>
                <a:cs typeface="Arial"/>
                <a:sym typeface="Arial"/>
              </a:rPr>
              <a:t> </a:t>
            </a:r>
            <a:r>
              <a:rPr lang="en-US" sz="2400" dirty="0" err="1">
                <a:latin typeface="Arial"/>
                <a:ea typeface="Arial"/>
                <a:cs typeface="Arial"/>
                <a:sym typeface="Arial"/>
              </a:rPr>
              <a:t>korelasi</a:t>
            </a:r>
            <a:r>
              <a:rPr lang="en-US" sz="2400" dirty="0">
                <a:latin typeface="Arial"/>
                <a:ea typeface="Arial"/>
                <a:cs typeface="Arial"/>
                <a:sym typeface="Arial"/>
              </a:rPr>
              <a:t>, </a:t>
            </a:r>
            <a:r>
              <a:rPr lang="en-US" sz="2400" dirty="0" err="1">
                <a:latin typeface="Arial"/>
                <a:ea typeface="Arial"/>
                <a:cs typeface="Arial"/>
                <a:sym typeface="Arial"/>
              </a:rPr>
              <a:t>kita</a:t>
            </a:r>
            <a:r>
              <a:rPr lang="en-US" sz="2400" dirty="0">
                <a:latin typeface="Arial"/>
                <a:ea typeface="Arial"/>
                <a:cs typeface="Arial"/>
                <a:sym typeface="Arial"/>
              </a:rPr>
              <a:t> </a:t>
            </a:r>
            <a:r>
              <a:rPr lang="en-US" sz="2400" dirty="0" err="1">
                <a:latin typeface="Arial"/>
                <a:ea typeface="Arial"/>
                <a:cs typeface="Arial"/>
                <a:sym typeface="Arial"/>
              </a:rPr>
              <a:t>dapat</a:t>
            </a:r>
            <a:r>
              <a:rPr lang="en-US" sz="2400" dirty="0">
                <a:latin typeface="Arial"/>
                <a:ea typeface="Arial"/>
                <a:cs typeface="Arial"/>
                <a:sym typeface="Arial"/>
              </a:rPr>
              <a:t> </a:t>
            </a:r>
            <a:r>
              <a:rPr lang="en-US" sz="2400" dirty="0" err="1">
                <a:latin typeface="Arial"/>
                <a:ea typeface="Arial"/>
                <a:cs typeface="Arial"/>
                <a:sym typeface="Arial"/>
              </a:rPr>
              <a:t>menggunakan</a:t>
            </a:r>
            <a:r>
              <a:rPr lang="en-US" sz="2400" dirty="0">
                <a:latin typeface="Arial"/>
                <a:ea typeface="Arial"/>
                <a:cs typeface="Arial"/>
                <a:sym typeface="Arial"/>
              </a:rPr>
              <a:t> p-value.</a:t>
            </a:r>
          </a:p>
          <a:p>
            <a:pPr marL="457200" lvl="0" indent="-327977">
              <a:lnSpc>
                <a:spcPct val="95000"/>
              </a:lnSpc>
              <a:spcBef>
                <a:spcPts val="0"/>
              </a:spcBef>
              <a:buSzPts val="1565"/>
              <a:buChar char="●"/>
            </a:pPr>
            <a:r>
              <a:rPr lang="en-US" sz="2400" b="1" dirty="0" err="1">
                <a:latin typeface="Arial"/>
                <a:ea typeface="Arial"/>
                <a:cs typeface="Arial"/>
                <a:sym typeface="Arial"/>
              </a:rPr>
              <a:t>Korelasi</a:t>
            </a:r>
            <a:r>
              <a:rPr lang="en-US" sz="2400" b="1" dirty="0">
                <a:latin typeface="Arial"/>
                <a:ea typeface="Arial"/>
                <a:cs typeface="Arial"/>
                <a:sym typeface="Arial"/>
              </a:rPr>
              <a:t> Pearson</a:t>
            </a:r>
            <a:r>
              <a:rPr lang="en-US" sz="2400" dirty="0">
                <a:latin typeface="Arial"/>
                <a:ea typeface="Arial"/>
                <a:cs typeface="Arial"/>
                <a:sym typeface="Arial"/>
              </a:rPr>
              <a:t> </a:t>
            </a:r>
            <a:r>
              <a:rPr lang="en-US" sz="2400" dirty="0" err="1">
                <a:latin typeface="Arial"/>
                <a:ea typeface="Arial"/>
                <a:cs typeface="Arial"/>
                <a:sym typeface="Arial"/>
              </a:rPr>
              <a:t>mengukur</a:t>
            </a:r>
            <a:r>
              <a:rPr lang="en-US" sz="2400" dirty="0">
                <a:latin typeface="Arial"/>
                <a:ea typeface="Arial"/>
                <a:cs typeface="Arial"/>
                <a:sym typeface="Arial"/>
              </a:rPr>
              <a:t> </a:t>
            </a:r>
            <a:r>
              <a:rPr lang="en-US" sz="2400" dirty="0" err="1">
                <a:latin typeface="Arial"/>
                <a:ea typeface="Arial"/>
                <a:cs typeface="Arial"/>
                <a:sym typeface="Arial"/>
              </a:rPr>
              <a:t>ketergantungan</a:t>
            </a:r>
            <a:r>
              <a:rPr lang="en-US" sz="2400" dirty="0">
                <a:latin typeface="Arial"/>
                <a:ea typeface="Arial"/>
                <a:cs typeface="Arial"/>
                <a:sym typeface="Arial"/>
              </a:rPr>
              <a:t> linier </a:t>
            </a:r>
            <a:r>
              <a:rPr lang="en-US" sz="2400" dirty="0" err="1">
                <a:latin typeface="Arial"/>
                <a:ea typeface="Arial"/>
                <a:cs typeface="Arial"/>
                <a:sym typeface="Arial"/>
              </a:rPr>
              <a:t>antara</a:t>
            </a:r>
            <a:r>
              <a:rPr lang="en-US" sz="2400" dirty="0">
                <a:latin typeface="Arial"/>
                <a:ea typeface="Arial"/>
                <a:cs typeface="Arial"/>
                <a:sym typeface="Arial"/>
              </a:rPr>
              <a:t> dua </a:t>
            </a:r>
            <a:r>
              <a:rPr lang="en-US" sz="2400" dirty="0" err="1">
                <a:latin typeface="Arial"/>
                <a:ea typeface="Arial"/>
                <a:cs typeface="Arial"/>
                <a:sym typeface="Arial"/>
              </a:rPr>
              <a:t>variabel</a:t>
            </a:r>
            <a:r>
              <a:rPr lang="en-US" sz="2400" dirty="0">
                <a:latin typeface="Arial"/>
                <a:ea typeface="Arial"/>
                <a:cs typeface="Arial"/>
                <a:sym typeface="Arial"/>
              </a:rPr>
              <a:t> X dan Y.</a:t>
            </a:r>
          </a:p>
        </p:txBody>
      </p:sp>
      <p:pic>
        <p:nvPicPr>
          <p:cNvPr id="5" name="Google Shape;481;p57">
            <a:extLst>
              <a:ext uri="{FF2B5EF4-FFF2-40B4-BE49-F238E27FC236}">
                <a16:creationId xmlns:a16="http://schemas.microsoft.com/office/drawing/2014/main" id="{6D9DBA43-B8D0-300C-1961-8D8BD94D1169}"/>
              </a:ext>
            </a:extLst>
          </p:cNvPr>
          <p:cNvPicPr preferRelativeResize="0"/>
          <p:nvPr/>
        </p:nvPicPr>
        <p:blipFill rotWithShape="1">
          <a:blip r:embed="rId2">
            <a:alphaModFix/>
          </a:blip>
          <a:srcRect/>
          <a:stretch/>
        </p:blipFill>
        <p:spPr>
          <a:xfrm>
            <a:off x="6827520" y="2211704"/>
            <a:ext cx="4932680" cy="3213735"/>
          </a:xfrm>
          <a:prstGeom prst="rect">
            <a:avLst/>
          </a:prstGeom>
          <a:noFill/>
          <a:ln>
            <a:noFill/>
          </a:ln>
        </p:spPr>
      </p:pic>
    </p:spTree>
    <p:extLst>
      <p:ext uri="{BB962C8B-B14F-4D97-AF65-F5344CB8AC3E}">
        <p14:creationId xmlns:p14="http://schemas.microsoft.com/office/powerpoint/2010/main" val="297766456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33B8A-620F-4E54-835E-422531E645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6656F2-6F60-E791-9D9A-862C213DE30E}"/>
              </a:ext>
            </a:extLst>
          </p:cNvPr>
          <p:cNvSpPr>
            <a:spLocks noGrp="1"/>
          </p:cNvSpPr>
          <p:nvPr>
            <p:ph type="title"/>
          </p:nvPr>
        </p:nvSpPr>
        <p:spPr>
          <a:xfrm>
            <a:off x="838200" y="365125"/>
            <a:ext cx="10515600" cy="915035"/>
          </a:xfrm>
        </p:spPr>
        <p:txBody>
          <a:bodyPr>
            <a:normAutofit/>
          </a:bodyPr>
          <a:lstStyle/>
          <a:p>
            <a:r>
              <a:rPr lang="en-US" b="1" dirty="0"/>
              <a:t>Correlation &amp; Causation</a:t>
            </a:r>
            <a:endParaRPr lang="en-US" dirty="0"/>
          </a:p>
        </p:txBody>
      </p:sp>
      <p:sp>
        <p:nvSpPr>
          <p:cNvPr id="3" name="Content Placeholder 2">
            <a:extLst>
              <a:ext uri="{FF2B5EF4-FFF2-40B4-BE49-F238E27FC236}">
                <a16:creationId xmlns:a16="http://schemas.microsoft.com/office/drawing/2014/main" id="{69AA5AFB-E59D-8917-B05E-6273D51F7138}"/>
              </a:ext>
            </a:extLst>
          </p:cNvPr>
          <p:cNvSpPr>
            <a:spLocks noGrp="1"/>
          </p:cNvSpPr>
          <p:nvPr>
            <p:ph idx="1"/>
          </p:nvPr>
        </p:nvSpPr>
        <p:spPr>
          <a:xfrm>
            <a:off x="309880" y="1825625"/>
            <a:ext cx="11435080" cy="4351338"/>
          </a:xfrm>
        </p:spPr>
        <p:txBody>
          <a:bodyPr>
            <a:normAutofit/>
          </a:bodyPr>
          <a:lstStyle/>
          <a:p>
            <a:pPr marL="457200" lvl="0" indent="-323850">
              <a:lnSpc>
                <a:spcPct val="115000"/>
              </a:lnSpc>
              <a:spcBef>
                <a:spcPts val="0"/>
              </a:spcBef>
              <a:buClr>
                <a:schemeClr val="dk1"/>
              </a:buClr>
              <a:buSzPts val="1500"/>
              <a:buChar char="●"/>
            </a:pPr>
            <a:r>
              <a:rPr lang="en-US" sz="2400" b="1" dirty="0">
                <a:latin typeface="Arial"/>
                <a:ea typeface="Arial"/>
                <a:cs typeface="Arial"/>
                <a:sym typeface="Arial"/>
              </a:rPr>
              <a:t>P-Value:</a:t>
            </a:r>
          </a:p>
          <a:p>
            <a:pPr marL="914400" lvl="1" indent="-304800">
              <a:lnSpc>
                <a:spcPct val="115000"/>
              </a:lnSpc>
              <a:spcBef>
                <a:spcPts val="0"/>
              </a:spcBef>
              <a:buSzPts val="1200"/>
              <a:buChar char="○"/>
            </a:pPr>
            <a:r>
              <a:rPr lang="en-US" sz="2000" dirty="0" err="1">
                <a:latin typeface="Arial"/>
                <a:ea typeface="Arial"/>
                <a:cs typeface="Arial"/>
                <a:sym typeface="Arial"/>
              </a:rPr>
              <a:t>Berapa</a:t>
            </a:r>
            <a:r>
              <a:rPr lang="en-US" sz="2000" dirty="0">
                <a:latin typeface="Arial"/>
                <a:ea typeface="Arial"/>
                <a:cs typeface="Arial"/>
                <a:sym typeface="Arial"/>
              </a:rPr>
              <a:t> </a:t>
            </a:r>
            <a:r>
              <a:rPr lang="en-US" sz="2000" dirty="0" err="1">
                <a:latin typeface="Arial"/>
                <a:ea typeface="Arial"/>
                <a:cs typeface="Arial"/>
                <a:sym typeface="Arial"/>
              </a:rPr>
              <a:t>nilai</a:t>
            </a:r>
            <a:r>
              <a:rPr lang="en-US" sz="2000" dirty="0">
                <a:latin typeface="Arial"/>
                <a:ea typeface="Arial"/>
                <a:cs typeface="Arial"/>
                <a:sym typeface="Arial"/>
              </a:rPr>
              <a:t> P </a:t>
            </a:r>
            <a:r>
              <a:rPr lang="en-US" sz="2000" dirty="0" err="1">
                <a:latin typeface="Arial"/>
                <a:ea typeface="Arial"/>
                <a:cs typeface="Arial"/>
                <a:sym typeface="Arial"/>
              </a:rPr>
              <a:t>ini</a:t>
            </a:r>
            <a:r>
              <a:rPr lang="en-US" sz="2000" dirty="0">
                <a:latin typeface="Arial"/>
                <a:ea typeface="Arial"/>
                <a:cs typeface="Arial"/>
                <a:sym typeface="Arial"/>
              </a:rPr>
              <a:t>? </a:t>
            </a:r>
          </a:p>
          <a:p>
            <a:pPr marL="914400" lvl="1" indent="-304800">
              <a:lnSpc>
                <a:spcPct val="115000"/>
              </a:lnSpc>
              <a:spcBef>
                <a:spcPts val="0"/>
              </a:spcBef>
              <a:buSzPts val="1200"/>
              <a:buChar char="○"/>
            </a:pPr>
            <a:r>
              <a:rPr lang="en-US" sz="2000" dirty="0">
                <a:latin typeface="Arial"/>
                <a:ea typeface="Arial"/>
                <a:cs typeface="Arial"/>
                <a:sym typeface="Arial"/>
              </a:rPr>
              <a:t>Nilai P </a:t>
            </a:r>
            <a:r>
              <a:rPr lang="en-US" sz="2000" dirty="0" err="1">
                <a:latin typeface="Arial"/>
                <a:ea typeface="Arial"/>
                <a:cs typeface="Arial"/>
                <a:sym typeface="Arial"/>
              </a:rPr>
              <a:t>adalah</a:t>
            </a:r>
            <a:r>
              <a:rPr lang="en-US" sz="2000" dirty="0">
                <a:latin typeface="Arial"/>
                <a:ea typeface="Arial"/>
                <a:cs typeface="Arial"/>
                <a:sym typeface="Arial"/>
              </a:rPr>
              <a:t> </a:t>
            </a:r>
            <a:r>
              <a:rPr lang="en-US" sz="2000" dirty="0" err="1">
                <a:latin typeface="Arial"/>
                <a:ea typeface="Arial"/>
                <a:cs typeface="Arial"/>
                <a:sym typeface="Arial"/>
              </a:rPr>
              <a:t>nilai</a:t>
            </a:r>
            <a:r>
              <a:rPr lang="en-US" sz="2000" dirty="0">
                <a:latin typeface="Arial"/>
                <a:ea typeface="Arial"/>
                <a:cs typeface="Arial"/>
                <a:sym typeface="Arial"/>
              </a:rPr>
              <a:t> </a:t>
            </a:r>
            <a:r>
              <a:rPr lang="en-US" sz="2000" dirty="0" err="1">
                <a:latin typeface="Arial"/>
                <a:ea typeface="Arial"/>
                <a:cs typeface="Arial"/>
                <a:sym typeface="Arial"/>
              </a:rPr>
              <a:t>probabilitas</a:t>
            </a:r>
            <a:r>
              <a:rPr lang="en-US" sz="2000" dirty="0">
                <a:latin typeface="Arial"/>
                <a:ea typeface="Arial"/>
                <a:cs typeface="Arial"/>
                <a:sym typeface="Arial"/>
              </a:rPr>
              <a:t> </a:t>
            </a:r>
            <a:r>
              <a:rPr lang="en-US" sz="2000" dirty="0" err="1">
                <a:latin typeface="Arial"/>
                <a:ea typeface="Arial"/>
                <a:cs typeface="Arial"/>
                <a:sym typeface="Arial"/>
              </a:rPr>
              <a:t>bahwa</a:t>
            </a:r>
            <a:r>
              <a:rPr lang="en-US" sz="2000" dirty="0">
                <a:latin typeface="Arial"/>
                <a:ea typeface="Arial"/>
                <a:cs typeface="Arial"/>
                <a:sym typeface="Arial"/>
              </a:rPr>
              <a:t> </a:t>
            </a:r>
            <a:r>
              <a:rPr lang="en-US" sz="2000" dirty="0" err="1">
                <a:latin typeface="Arial"/>
                <a:ea typeface="Arial"/>
                <a:cs typeface="Arial"/>
                <a:sym typeface="Arial"/>
              </a:rPr>
              <a:t>korelasi</a:t>
            </a:r>
            <a:r>
              <a:rPr lang="en-US" sz="2000" dirty="0">
                <a:latin typeface="Arial"/>
                <a:ea typeface="Arial"/>
                <a:cs typeface="Arial"/>
                <a:sym typeface="Arial"/>
              </a:rPr>
              <a:t> </a:t>
            </a:r>
            <a:r>
              <a:rPr lang="en-US" sz="2000" dirty="0" err="1">
                <a:latin typeface="Arial"/>
                <a:ea typeface="Arial"/>
                <a:cs typeface="Arial"/>
                <a:sym typeface="Arial"/>
              </a:rPr>
              <a:t>antara</a:t>
            </a:r>
            <a:r>
              <a:rPr lang="en-US" sz="2000" dirty="0">
                <a:latin typeface="Arial"/>
                <a:ea typeface="Arial"/>
                <a:cs typeface="Arial"/>
                <a:sym typeface="Arial"/>
              </a:rPr>
              <a:t> </a:t>
            </a:r>
            <a:r>
              <a:rPr lang="en-US" sz="2000" dirty="0" err="1">
                <a:latin typeface="Arial"/>
                <a:ea typeface="Arial"/>
                <a:cs typeface="Arial"/>
                <a:sym typeface="Arial"/>
              </a:rPr>
              <a:t>kedua</a:t>
            </a:r>
            <a:r>
              <a:rPr lang="en-US" sz="2000" dirty="0">
                <a:latin typeface="Arial"/>
                <a:ea typeface="Arial"/>
                <a:cs typeface="Arial"/>
                <a:sym typeface="Arial"/>
              </a:rPr>
              <a:t> </a:t>
            </a:r>
            <a:r>
              <a:rPr lang="en-US" sz="2000" dirty="0" err="1">
                <a:latin typeface="Arial"/>
                <a:ea typeface="Arial"/>
                <a:cs typeface="Arial"/>
                <a:sym typeface="Arial"/>
              </a:rPr>
              <a:t>variabel</a:t>
            </a:r>
            <a:r>
              <a:rPr lang="en-US" sz="2000" dirty="0">
                <a:latin typeface="Arial"/>
                <a:ea typeface="Arial"/>
                <a:cs typeface="Arial"/>
                <a:sym typeface="Arial"/>
              </a:rPr>
              <a:t> </a:t>
            </a:r>
            <a:r>
              <a:rPr lang="en-US" sz="2000" dirty="0" err="1">
                <a:latin typeface="Arial"/>
                <a:ea typeface="Arial"/>
                <a:cs typeface="Arial"/>
                <a:sym typeface="Arial"/>
              </a:rPr>
              <a:t>ini</a:t>
            </a:r>
            <a:r>
              <a:rPr lang="en-US" sz="2000" dirty="0">
                <a:latin typeface="Arial"/>
                <a:ea typeface="Arial"/>
                <a:cs typeface="Arial"/>
                <a:sym typeface="Arial"/>
              </a:rPr>
              <a:t> </a:t>
            </a:r>
            <a:r>
              <a:rPr lang="en-US" sz="2000" dirty="0" err="1">
                <a:latin typeface="Arial"/>
                <a:ea typeface="Arial"/>
                <a:cs typeface="Arial"/>
                <a:sym typeface="Arial"/>
              </a:rPr>
              <a:t>signifikan</a:t>
            </a:r>
            <a:r>
              <a:rPr lang="en-US" sz="2000" dirty="0">
                <a:latin typeface="Arial"/>
                <a:ea typeface="Arial"/>
                <a:cs typeface="Arial"/>
                <a:sym typeface="Arial"/>
              </a:rPr>
              <a:t> </a:t>
            </a:r>
            <a:r>
              <a:rPr lang="en-US" sz="2000" dirty="0" err="1">
                <a:latin typeface="Arial"/>
                <a:ea typeface="Arial"/>
                <a:cs typeface="Arial"/>
                <a:sym typeface="Arial"/>
              </a:rPr>
              <a:t>secara</a:t>
            </a:r>
            <a:r>
              <a:rPr lang="en-US" sz="2000" dirty="0">
                <a:latin typeface="Arial"/>
                <a:ea typeface="Arial"/>
                <a:cs typeface="Arial"/>
                <a:sym typeface="Arial"/>
              </a:rPr>
              <a:t> </a:t>
            </a:r>
            <a:r>
              <a:rPr lang="en-US" sz="2000" dirty="0" err="1">
                <a:latin typeface="Arial"/>
                <a:ea typeface="Arial"/>
                <a:cs typeface="Arial"/>
                <a:sym typeface="Arial"/>
              </a:rPr>
              <a:t>statistik</a:t>
            </a:r>
            <a:r>
              <a:rPr lang="en-US" sz="2000" dirty="0">
                <a:latin typeface="Arial"/>
                <a:ea typeface="Arial"/>
                <a:cs typeface="Arial"/>
                <a:sym typeface="Arial"/>
              </a:rPr>
              <a:t>. </a:t>
            </a:r>
          </a:p>
          <a:p>
            <a:pPr marL="914400" lvl="1" indent="-304800">
              <a:lnSpc>
                <a:spcPct val="115000"/>
              </a:lnSpc>
              <a:spcBef>
                <a:spcPts val="0"/>
              </a:spcBef>
              <a:buSzPts val="1200"/>
              <a:buChar char="○"/>
            </a:pPr>
            <a:r>
              <a:rPr lang="en-US" sz="2000" dirty="0" err="1">
                <a:latin typeface="Arial"/>
                <a:ea typeface="Arial"/>
                <a:cs typeface="Arial"/>
                <a:sym typeface="Arial"/>
              </a:rPr>
              <a:t>Biasanya</a:t>
            </a:r>
            <a:r>
              <a:rPr lang="en-US" sz="2000" dirty="0">
                <a:latin typeface="Arial"/>
                <a:ea typeface="Arial"/>
                <a:cs typeface="Arial"/>
                <a:sym typeface="Arial"/>
              </a:rPr>
              <a:t>, </a:t>
            </a:r>
            <a:r>
              <a:rPr lang="en-US" sz="2000" dirty="0" err="1">
                <a:latin typeface="Arial"/>
                <a:ea typeface="Arial"/>
                <a:cs typeface="Arial"/>
                <a:sym typeface="Arial"/>
              </a:rPr>
              <a:t>kita</a:t>
            </a:r>
            <a:r>
              <a:rPr lang="en-US" sz="2000" dirty="0">
                <a:latin typeface="Arial"/>
                <a:ea typeface="Arial"/>
                <a:cs typeface="Arial"/>
                <a:sym typeface="Arial"/>
              </a:rPr>
              <a:t> </a:t>
            </a:r>
            <a:r>
              <a:rPr lang="en-US" sz="2000" dirty="0" err="1">
                <a:latin typeface="Arial"/>
                <a:ea typeface="Arial"/>
                <a:cs typeface="Arial"/>
                <a:sym typeface="Arial"/>
              </a:rPr>
              <a:t>memilih</a:t>
            </a:r>
            <a:r>
              <a:rPr lang="en-US" sz="2000" dirty="0">
                <a:latin typeface="Arial"/>
                <a:ea typeface="Arial"/>
                <a:cs typeface="Arial"/>
                <a:sym typeface="Arial"/>
              </a:rPr>
              <a:t> </a:t>
            </a:r>
            <a:r>
              <a:rPr lang="en-US" sz="2000" dirty="0" err="1">
                <a:latin typeface="Arial"/>
                <a:ea typeface="Arial"/>
                <a:cs typeface="Arial"/>
                <a:sym typeface="Arial"/>
              </a:rPr>
              <a:t>tingkat</a:t>
            </a:r>
            <a:r>
              <a:rPr lang="en-US" sz="2000" dirty="0">
                <a:latin typeface="Arial"/>
                <a:ea typeface="Arial"/>
                <a:cs typeface="Arial"/>
                <a:sym typeface="Arial"/>
              </a:rPr>
              <a:t> </a:t>
            </a:r>
            <a:r>
              <a:rPr lang="en-US" sz="2000" dirty="0" err="1">
                <a:latin typeface="Arial"/>
                <a:ea typeface="Arial"/>
                <a:cs typeface="Arial"/>
                <a:sym typeface="Arial"/>
              </a:rPr>
              <a:t>signifikansi</a:t>
            </a:r>
            <a:r>
              <a:rPr lang="en-US" sz="2000" dirty="0">
                <a:latin typeface="Arial"/>
                <a:ea typeface="Arial"/>
                <a:cs typeface="Arial"/>
                <a:sym typeface="Arial"/>
              </a:rPr>
              <a:t> 0,05, yang </a:t>
            </a:r>
            <a:r>
              <a:rPr lang="en-US" sz="2000" dirty="0" err="1">
                <a:latin typeface="Arial"/>
                <a:ea typeface="Arial"/>
                <a:cs typeface="Arial"/>
                <a:sym typeface="Arial"/>
              </a:rPr>
              <a:t>berarti</a:t>
            </a:r>
            <a:r>
              <a:rPr lang="en-US" sz="2000" dirty="0">
                <a:latin typeface="Arial"/>
                <a:ea typeface="Arial"/>
                <a:cs typeface="Arial"/>
                <a:sym typeface="Arial"/>
              </a:rPr>
              <a:t> </a:t>
            </a:r>
            <a:r>
              <a:rPr lang="en-US" sz="2000" dirty="0" err="1">
                <a:latin typeface="Arial"/>
                <a:ea typeface="Arial"/>
                <a:cs typeface="Arial"/>
                <a:sym typeface="Arial"/>
              </a:rPr>
              <a:t>bahwa</a:t>
            </a:r>
            <a:r>
              <a:rPr lang="en-US" sz="2000" dirty="0">
                <a:latin typeface="Arial"/>
                <a:ea typeface="Arial"/>
                <a:cs typeface="Arial"/>
                <a:sym typeface="Arial"/>
              </a:rPr>
              <a:t> kami </a:t>
            </a:r>
            <a:r>
              <a:rPr lang="en-US" sz="2000" dirty="0" err="1">
                <a:latin typeface="Arial"/>
                <a:ea typeface="Arial"/>
                <a:cs typeface="Arial"/>
                <a:sym typeface="Arial"/>
              </a:rPr>
              <a:t>yakin</a:t>
            </a:r>
            <a:r>
              <a:rPr lang="en-US" sz="2000" dirty="0">
                <a:latin typeface="Arial"/>
                <a:ea typeface="Arial"/>
                <a:cs typeface="Arial"/>
                <a:sym typeface="Arial"/>
              </a:rPr>
              <a:t> </a:t>
            </a:r>
            <a:r>
              <a:rPr lang="en-US" sz="2000" dirty="0" err="1">
                <a:latin typeface="Arial"/>
                <a:ea typeface="Arial"/>
                <a:cs typeface="Arial"/>
                <a:sym typeface="Arial"/>
              </a:rPr>
              <a:t>bahwa</a:t>
            </a:r>
            <a:r>
              <a:rPr lang="en-US" sz="2000" dirty="0">
                <a:latin typeface="Arial"/>
                <a:ea typeface="Arial"/>
                <a:cs typeface="Arial"/>
                <a:sym typeface="Arial"/>
              </a:rPr>
              <a:t> 95% </a:t>
            </a:r>
            <a:r>
              <a:rPr lang="en-US" sz="2000" dirty="0" err="1">
                <a:latin typeface="Arial"/>
                <a:ea typeface="Arial"/>
                <a:cs typeface="Arial"/>
                <a:sym typeface="Arial"/>
              </a:rPr>
              <a:t>korelasi</a:t>
            </a:r>
            <a:r>
              <a:rPr lang="en-US" sz="2000" dirty="0">
                <a:latin typeface="Arial"/>
                <a:ea typeface="Arial"/>
                <a:cs typeface="Arial"/>
                <a:sym typeface="Arial"/>
              </a:rPr>
              <a:t> </a:t>
            </a:r>
            <a:r>
              <a:rPr lang="en-US" sz="2000" dirty="0" err="1">
                <a:latin typeface="Arial"/>
                <a:ea typeface="Arial"/>
                <a:cs typeface="Arial"/>
                <a:sym typeface="Arial"/>
              </a:rPr>
              <a:t>antar</a:t>
            </a:r>
            <a:r>
              <a:rPr lang="en-US" sz="2000" dirty="0">
                <a:latin typeface="Arial"/>
                <a:ea typeface="Arial"/>
                <a:cs typeface="Arial"/>
                <a:sym typeface="Arial"/>
              </a:rPr>
              <a:t> </a:t>
            </a:r>
            <a:r>
              <a:rPr lang="en-US" sz="2000" dirty="0" err="1">
                <a:latin typeface="Arial"/>
                <a:ea typeface="Arial"/>
                <a:cs typeface="Arial"/>
                <a:sym typeface="Arial"/>
              </a:rPr>
              <a:t>variabel</a:t>
            </a:r>
            <a:r>
              <a:rPr lang="en-US" sz="2000" dirty="0">
                <a:latin typeface="Arial"/>
                <a:ea typeface="Arial"/>
                <a:cs typeface="Arial"/>
                <a:sym typeface="Arial"/>
              </a:rPr>
              <a:t> </a:t>
            </a:r>
            <a:r>
              <a:rPr lang="en-US" sz="2000" dirty="0" err="1">
                <a:latin typeface="Arial"/>
                <a:ea typeface="Arial"/>
                <a:cs typeface="Arial"/>
                <a:sym typeface="Arial"/>
              </a:rPr>
              <a:t>signifikan</a:t>
            </a:r>
            <a:r>
              <a:rPr lang="en-US" sz="2000" dirty="0">
                <a:latin typeface="Arial"/>
                <a:ea typeface="Arial"/>
                <a:cs typeface="Arial"/>
                <a:sym typeface="Arial"/>
              </a:rPr>
              <a:t>.</a:t>
            </a:r>
          </a:p>
          <a:p>
            <a:pPr marL="457200" lvl="0" indent="-342900">
              <a:lnSpc>
                <a:spcPct val="115000"/>
              </a:lnSpc>
              <a:spcBef>
                <a:spcPts val="0"/>
              </a:spcBef>
              <a:buClr>
                <a:schemeClr val="dk1"/>
              </a:buClr>
              <a:buSzPts val="1800"/>
              <a:buFont typeface="Arial"/>
              <a:buChar char="●"/>
            </a:pPr>
            <a:r>
              <a:rPr lang="en-US" sz="2400" b="1" dirty="0">
                <a:solidFill>
                  <a:schemeClr val="dk1"/>
                </a:solidFill>
                <a:latin typeface="Arial"/>
                <a:ea typeface="Arial"/>
                <a:cs typeface="Arial"/>
                <a:sym typeface="Arial"/>
              </a:rPr>
              <a:t>Dengan </a:t>
            </a:r>
            <a:r>
              <a:rPr lang="en-US" sz="2400" b="1" dirty="0" err="1">
                <a:solidFill>
                  <a:schemeClr val="dk1"/>
                </a:solidFill>
                <a:latin typeface="Arial"/>
                <a:ea typeface="Arial"/>
                <a:cs typeface="Arial"/>
                <a:sym typeface="Arial"/>
              </a:rPr>
              <a:t>konvensi</a:t>
            </a:r>
            <a:r>
              <a:rPr lang="en-US" sz="2400" b="1" dirty="0">
                <a:solidFill>
                  <a:schemeClr val="dk1"/>
                </a:solidFill>
                <a:latin typeface="Arial"/>
                <a:ea typeface="Arial"/>
                <a:cs typeface="Arial"/>
                <a:sym typeface="Arial"/>
              </a:rPr>
              <a:t>, </a:t>
            </a:r>
            <a:r>
              <a:rPr lang="en-US" sz="2400" b="1" dirty="0" err="1">
                <a:solidFill>
                  <a:schemeClr val="dk1"/>
                </a:solidFill>
                <a:latin typeface="Arial"/>
                <a:ea typeface="Arial"/>
                <a:cs typeface="Arial"/>
                <a:sym typeface="Arial"/>
              </a:rPr>
              <a:t>ketika</a:t>
            </a:r>
            <a:endParaRPr lang="en-US" sz="2400" b="1" dirty="0">
              <a:solidFill>
                <a:schemeClr val="dk1"/>
              </a:solidFill>
              <a:latin typeface="Arial"/>
              <a:ea typeface="Arial"/>
              <a:cs typeface="Arial"/>
              <a:sym typeface="Arial"/>
            </a:endParaRPr>
          </a:p>
          <a:p>
            <a:pPr marL="914400" lvl="1" indent="-317500">
              <a:lnSpc>
                <a:spcPct val="115000"/>
              </a:lnSpc>
              <a:spcBef>
                <a:spcPts val="0"/>
              </a:spcBef>
              <a:buClr>
                <a:schemeClr val="dk1"/>
              </a:buClr>
              <a:buSzPts val="1400"/>
              <a:buFont typeface="Arial"/>
              <a:buChar char="○"/>
            </a:pPr>
            <a:r>
              <a:rPr lang="en-US" sz="2000" dirty="0" err="1">
                <a:solidFill>
                  <a:schemeClr val="dk1"/>
                </a:solidFill>
                <a:latin typeface="Arial"/>
                <a:ea typeface="Arial"/>
                <a:cs typeface="Arial"/>
                <a:sym typeface="Arial"/>
              </a:rPr>
              <a:t>nilai</a:t>
            </a:r>
            <a:r>
              <a:rPr lang="en-US" sz="2000" dirty="0">
                <a:solidFill>
                  <a:schemeClr val="dk1"/>
                </a:solidFill>
                <a:latin typeface="Arial"/>
                <a:ea typeface="Arial"/>
                <a:cs typeface="Arial"/>
                <a:sym typeface="Arial"/>
              </a:rPr>
              <a:t> p </a:t>
            </a:r>
            <a:r>
              <a:rPr lang="en-US" sz="2000" dirty="0" err="1">
                <a:solidFill>
                  <a:schemeClr val="dk1"/>
                </a:solidFill>
                <a:latin typeface="Arial"/>
                <a:ea typeface="Arial"/>
                <a:cs typeface="Arial"/>
                <a:sym typeface="Arial"/>
              </a:rPr>
              <a:t>adalah</a:t>
            </a:r>
            <a:r>
              <a:rPr lang="en-US" sz="2000" dirty="0">
                <a:solidFill>
                  <a:schemeClr val="dk1"/>
                </a:solidFill>
                <a:latin typeface="Arial"/>
                <a:ea typeface="Arial"/>
                <a:cs typeface="Arial"/>
                <a:sym typeface="Arial"/>
              </a:rPr>
              <a:t> $&lt;$ 0,001: kami </a:t>
            </a:r>
            <a:r>
              <a:rPr lang="en-US" sz="2000" dirty="0" err="1">
                <a:solidFill>
                  <a:schemeClr val="dk1"/>
                </a:solidFill>
                <a:latin typeface="Arial"/>
                <a:ea typeface="Arial"/>
                <a:cs typeface="Arial"/>
                <a:sym typeface="Arial"/>
              </a:rPr>
              <a:t>katakan</a:t>
            </a:r>
            <a:r>
              <a:rPr lang="en-US" sz="2000" dirty="0">
                <a:solidFill>
                  <a:schemeClr val="dk1"/>
                </a:solidFill>
                <a:latin typeface="Arial"/>
                <a:ea typeface="Arial"/>
                <a:cs typeface="Arial"/>
                <a:sym typeface="Arial"/>
              </a:rPr>
              <a:t> </a:t>
            </a:r>
            <a:r>
              <a:rPr lang="en-US" sz="2000" dirty="0" err="1">
                <a:solidFill>
                  <a:schemeClr val="dk1"/>
                </a:solidFill>
                <a:latin typeface="Arial"/>
                <a:ea typeface="Arial"/>
                <a:cs typeface="Arial"/>
                <a:sym typeface="Arial"/>
              </a:rPr>
              <a:t>ada</a:t>
            </a:r>
            <a:r>
              <a:rPr lang="en-US" sz="2000" dirty="0">
                <a:solidFill>
                  <a:schemeClr val="dk1"/>
                </a:solidFill>
                <a:latin typeface="Arial"/>
                <a:ea typeface="Arial"/>
                <a:cs typeface="Arial"/>
                <a:sym typeface="Arial"/>
              </a:rPr>
              <a:t> </a:t>
            </a:r>
            <a:r>
              <a:rPr lang="en-US" sz="2000" dirty="0" err="1">
                <a:solidFill>
                  <a:schemeClr val="dk1"/>
                </a:solidFill>
                <a:latin typeface="Arial"/>
                <a:ea typeface="Arial"/>
                <a:cs typeface="Arial"/>
                <a:sym typeface="Arial"/>
              </a:rPr>
              <a:t>bukti</a:t>
            </a:r>
            <a:r>
              <a:rPr lang="en-US" sz="2000" dirty="0">
                <a:solidFill>
                  <a:schemeClr val="dk1"/>
                </a:solidFill>
                <a:latin typeface="Arial"/>
                <a:ea typeface="Arial"/>
                <a:cs typeface="Arial"/>
                <a:sym typeface="Arial"/>
              </a:rPr>
              <a:t> </a:t>
            </a:r>
            <a:r>
              <a:rPr lang="en-US" sz="2000" dirty="0" err="1">
                <a:solidFill>
                  <a:schemeClr val="dk1"/>
                </a:solidFill>
                <a:latin typeface="Arial"/>
                <a:ea typeface="Arial"/>
                <a:cs typeface="Arial"/>
                <a:sym typeface="Arial"/>
              </a:rPr>
              <a:t>kuat</a:t>
            </a:r>
            <a:r>
              <a:rPr lang="en-US" sz="2000" dirty="0">
                <a:solidFill>
                  <a:schemeClr val="dk1"/>
                </a:solidFill>
                <a:latin typeface="Arial"/>
                <a:ea typeface="Arial"/>
                <a:cs typeface="Arial"/>
                <a:sym typeface="Arial"/>
              </a:rPr>
              <a:t> </a:t>
            </a:r>
            <a:r>
              <a:rPr lang="en-US" sz="2000" dirty="0" err="1">
                <a:solidFill>
                  <a:schemeClr val="dk1"/>
                </a:solidFill>
                <a:latin typeface="Arial"/>
                <a:ea typeface="Arial"/>
                <a:cs typeface="Arial"/>
                <a:sym typeface="Arial"/>
              </a:rPr>
              <a:t>bahwa</a:t>
            </a:r>
            <a:r>
              <a:rPr lang="en-US" sz="2000" dirty="0">
                <a:solidFill>
                  <a:schemeClr val="dk1"/>
                </a:solidFill>
                <a:latin typeface="Arial"/>
                <a:ea typeface="Arial"/>
                <a:cs typeface="Arial"/>
                <a:sym typeface="Arial"/>
              </a:rPr>
              <a:t> </a:t>
            </a:r>
            <a:r>
              <a:rPr lang="en-US" sz="2000" dirty="0" err="1">
                <a:solidFill>
                  <a:schemeClr val="dk1"/>
                </a:solidFill>
                <a:latin typeface="Arial"/>
                <a:ea typeface="Arial"/>
                <a:cs typeface="Arial"/>
                <a:sym typeface="Arial"/>
              </a:rPr>
              <a:t>korelasinya</a:t>
            </a:r>
            <a:r>
              <a:rPr lang="en-US" sz="2000" dirty="0">
                <a:solidFill>
                  <a:schemeClr val="dk1"/>
                </a:solidFill>
                <a:latin typeface="Arial"/>
                <a:ea typeface="Arial"/>
                <a:cs typeface="Arial"/>
                <a:sym typeface="Arial"/>
              </a:rPr>
              <a:t> </a:t>
            </a:r>
            <a:r>
              <a:rPr lang="en-US" sz="2000" dirty="0" err="1">
                <a:solidFill>
                  <a:schemeClr val="dk1"/>
                </a:solidFill>
                <a:latin typeface="Arial"/>
                <a:ea typeface="Arial"/>
                <a:cs typeface="Arial"/>
                <a:sym typeface="Arial"/>
              </a:rPr>
              <a:t>signifikan</a:t>
            </a:r>
            <a:r>
              <a:rPr lang="en-US" sz="2000" dirty="0">
                <a:solidFill>
                  <a:schemeClr val="dk1"/>
                </a:solidFill>
                <a:latin typeface="Arial"/>
                <a:ea typeface="Arial"/>
                <a:cs typeface="Arial"/>
                <a:sym typeface="Arial"/>
              </a:rPr>
              <a:t>.</a:t>
            </a:r>
          </a:p>
          <a:p>
            <a:pPr marL="914400" lvl="1" indent="-317500">
              <a:lnSpc>
                <a:spcPct val="115000"/>
              </a:lnSpc>
              <a:spcBef>
                <a:spcPts val="0"/>
              </a:spcBef>
              <a:buClr>
                <a:schemeClr val="dk1"/>
              </a:buClr>
              <a:buSzPts val="1400"/>
              <a:buFont typeface="Arial"/>
              <a:buChar char="○"/>
            </a:pPr>
            <a:r>
              <a:rPr lang="en-US" sz="2000" dirty="0" err="1">
                <a:solidFill>
                  <a:schemeClr val="dk1"/>
                </a:solidFill>
                <a:latin typeface="Arial"/>
                <a:ea typeface="Arial"/>
                <a:cs typeface="Arial"/>
                <a:sym typeface="Arial"/>
              </a:rPr>
              <a:t>nilai</a:t>
            </a:r>
            <a:r>
              <a:rPr lang="en-US" sz="2000" dirty="0">
                <a:solidFill>
                  <a:schemeClr val="dk1"/>
                </a:solidFill>
                <a:latin typeface="Arial"/>
                <a:ea typeface="Arial"/>
                <a:cs typeface="Arial"/>
                <a:sym typeface="Arial"/>
              </a:rPr>
              <a:t> p </a:t>
            </a:r>
            <a:r>
              <a:rPr lang="en-US" sz="2000" dirty="0" err="1">
                <a:solidFill>
                  <a:schemeClr val="dk1"/>
                </a:solidFill>
                <a:latin typeface="Arial"/>
                <a:ea typeface="Arial"/>
                <a:cs typeface="Arial"/>
                <a:sym typeface="Arial"/>
              </a:rPr>
              <a:t>adalah</a:t>
            </a:r>
            <a:r>
              <a:rPr lang="en-US" sz="2000" dirty="0">
                <a:solidFill>
                  <a:schemeClr val="dk1"/>
                </a:solidFill>
                <a:latin typeface="Arial"/>
                <a:ea typeface="Arial"/>
                <a:cs typeface="Arial"/>
                <a:sym typeface="Arial"/>
              </a:rPr>
              <a:t> $&lt;$ 0,05: </a:t>
            </a:r>
            <a:r>
              <a:rPr lang="en-US" sz="2000" dirty="0" err="1">
                <a:solidFill>
                  <a:schemeClr val="dk1"/>
                </a:solidFill>
                <a:latin typeface="Arial"/>
                <a:ea typeface="Arial"/>
                <a:cs typeface="Arial"/>
                <a:sym typeface="Arial"/>
              </a:rPr>
              <a:t>terdapat</a:t>
            </a:r>
            <a:r>
              <a:rPr lang="en-US" sz="2000" dirty="0">
                <a:solidFill>
                  <a:schemeClr val="dk1"/>
                </a:solidFill>
                <a:latin typeface="Arial"/>
                <a:ea typeface="Arial"/>
                <a:cs typeface="Arial"/>
                <a:sym typeface="Arial"/>
              </a:rPr>
              <a:t> </a:t>
            </a:r>
            <a:r>
              <a:rPr lang="en-US" sz="2000" dirty="0" err="1">
                <a:solidFill>
                  <a:schemeClr val="dk1"/>
                </a:solidFill>
                <a:latin typeface="Arial"/>
                <a:ea typeface="Arial"/>
                <a:cs typeface="Arial"/>
                <a:sym typeface="Arial"/>
              </a:rPr>
              <a:t>bukti</a:t>
            </a:r>
            <a:r>
              <a:rPr lang="en-US" sz="2000" dirty="0">
                <a:solidFill>
                  <a:schemeClr val="dk1"/>
                </a:solidFill>
                <a:latin typeface="Arial"/>
                <a:ea typeface="Arial"/>
                <a:cs typeface="Arial"/>
                <a:sym typeface="Arial"/>
              </a:rPr>
              <a:t> </a:t>
            </a:r>
            <a:r>
              <a:rPr lang="en-US" sz="2000" dirty="0" err="1">
                <a:solidFill>
                  <a:schemeClr val="dk1"/>
                </a:solidFill>
                <a:latin typeface="Arial"/>
                <a:ea typeface="Arial"/>
                <a:cs typeface="Arial"/>
                <a:sym typeface="Arial"/>
              </a:rPr>
              <a:t>moderat</a:t>
            </a:r>
            <a:r>
              <a:rPr lang="en-US" sz="2000" dirty="0">
                <a:solidFill>
                  <a:schemeClr val="dk1"/>
                </a:solidFill>
                <a:latin typeface="Arial"/>
                <a:ea typeface="Arial"/>
                <a:cs typeface="Arial"/>
                <a:sym typeface="Arial"/>
              </a:rPr>
              <a:t> </a:t>
            </a:r>
            <a:r>
              <a:rPr lang="en-US" sz="2000" dirty="0" err="1">
                <a:solidFill>
                  <a:schemeClr val="dk1"/>
                </a:solidFill>
                <a:latin typeface="Arial"/>
                <a:ea typeface="Arial"/>
                <a:cs typeface="Arial"/>
                <a:sym typeface="Arial"/>
              </a:rPr>
              <a:t>bahwa</a:t>
            </a:r>
            <a:r>
              <a:rPr lang="en-US" sz="2000" dirty="0">
                <a:solidFill>
                  <a:schemeClr val="dk1"/>
                </a:solidFill>
                <a:latin typeface="Arial"/>
                <a:ea typeface="Arial"/>
                <a:cs typeface="Arial"/>
                <a:sym typeface="Arial"/>
              </a:rPr>
              <a:t> </a:t>
            </a:r>
            <a:r>
              <a:rPr lang="en-US" sz="2000" dirty="0" err="1">
                <a:solidFill>
                  <a:schemeClr val="dk1"/>
                </a:solidFill>
                <a:latin typeface="Arial"/>
                <a:ea typeface="Arial"/>
                <a:cs typeface="Arial"/>
                <a:sym typeface="Arial"/>
              </a:rPr>
              <a:t>korelasi</a:t>
            </a:r>
            <a:r>
              <a:rPr lang="en-US" sz="2000" dirty="0">
                <a:solidFill>
                  <a:schemeClr val="dk1"/>
                </a:solidFill>
                <a:latin typeface="Arial"/>
                <a:ea typeface="Arial"/>
                <a:cs typeface="Arial"/>
                <a:sym typeface="Arial"/>
              </a:rPr>
              <a:t> </a:t>
            </a:r>
            <a:r>
              <a:rPr lang="en-US" sz="2000" dirty="0" err="1">
                <a:solidFill>
                  <a:schemeClr val="dk1"/>
                </a:solidFill>
                <a:latin typeface="Arial"/>
                <a:ea typeface="Arial"/>
                <a:cs typeface="Arial"/>
                <a:sym typeface="Arial"/>
              </a:rPr>
              <a:t>tersebut</a:t>
            </a:r>
            <a:r>
              <a:rPr lang="en-US" sz="2000" dirty="0">
                <a:solidFill>
                  <a:schemeClr val="dk1"/>
                </a:solidFill>
                <a:latin typeface="Arial"/>
                <a:ea typeface="Arial"/>
                <a:cs typeface="Arial"/>
                <a:sym typeface="Arial"/>
              </a:rPr>
              <a:t> </a:t>
            </a:r>
            <a:r>
              <a:rPr lang="en-US" sz="2000" dirty="0" err="1">
                <a:solidFill>
                  <a:schemeClr val="dk1"/>
                </a:solidFill>
                <a:latin typeface="Arial"/>
                <a:ea typeface="Arial"/>
                <a:cs typeface="Arial"/>
                <a:sym typeface="Arial"/>
              </a:rPr>
              <a:t>signifikan</a:t>
            </a:r>
            <a:r>
              <a:rPr lang="en-US" sz="2000" dirty="0">
                <a:solidFill>
                  <a:schemeClr val="dk1"/>
                </a:solidFill>
                <a:latin typeface="Arial"/>
                <a:ea typeface="Arial"/>
                <a:cs typeface="Arial"/>
                <a:sym typeface="Arial"/>
              </a:rPr>
              <a:t>.</a:t>
            </a:r>
          </a:p>
          <a:p>
            <a:pPr marL="914400" lvl="1" indent="-317500">
              <a:lnSpc>
                <a:spcPct val="115000"/>
              </a:lnSpc>
              <a:spcBef>
                <a:spcPts val="0"/>
              </a:spcBef>
              <a:buClr>
                <a:schemeClr val="dk1"/>
              </a:buClr>
              <a:buSzPts val="1400"/>
              <a:buFont typeface="Arial"/>
              <a:buChar char="○"/>
            </a:pPr>
            <a:r>
              <a:rPr lang="en-US" sz="2000" dirty="0" err="1">
                <a:solidFill>
                  <a:schemeClr val="dk1"/>
                </a:solidFill>
                <a:latin typeface="Arial"/>
                <a:ea typeface="Arial"/>
                <a:cs typeface="Arial"/>
                <a:sym typeface="Arial"/>
              </a:rPr>
              <a:t>nilai</a:t>
            </a:r>
            <a:r>
              <a:rPr lang="en-US" sz="2000" dirty="0">
                <a:solidFill>
                  <a:schemeClr val="dk1"/>
                </a:solidFill>
                <a:latin typeface="Arial"/>
                <a:ea typeface="Arial"/>
                <a:cs typeface="Arial"/>
                <a:sym typeface="Arial"/>
              </a:rPr>
              <a:t> p </a:t>
            </a:r>
            <a:r>
              <a:rPr lang="en-US" sz="2000" dirty="0" err="1">
                <a:solidFill>
                  <a:schemeClr val="dk1"/>
                </a:solidFill>
                <a:latin typeface="Arial"/>
                <a:ea typeface="Arial"/>
                <a:cs typeface="Arial"/>
                <a:sym typeface="Arial"/>
              </a:rPr>
              <a:t>adalah</a:t>
            </a:r>
            <a:r>
              <a:rPr lang="en-US" sz="2000" dirty="0">
                <a:solidFill>
                  <a:schemeClr val="dk1"/>
                </a:solidFill>
                <a:latin typeface="Arial"/>
                <a:ea typeface="Arial"/>
                <a:cs typeface="Arial"/>
                <a:sym typeface="Arial"/>
              </a:rPr>
              <a:t> $&lt;$ 0,1: </a:t>
            </a:r>
            <a:r>
              <a:rPr lang="en-US" sz="2000" dirty="0" err="1">
                <a:solidFill>
                  <a:schemeClr val="dk1"/>
                </a:solidFill>
                <a:latin typeface="Arial"/>
                <a:ea typeface="Arial"/>
                <a:cs typeface="Arial"/>
                <a:sym typeface="Arial"/>
              </a:rPr>
              <a:t>ada</a:t>
            </a:r>
            <a:r>
              <a:rPr lang="en-US" sz="2000" dirty="0">
                <a:solidFill>
                  <a:schemeClr val="dk1"/>
                </a:solidFill>
                <a:latin typeface="Arial"/>
                <a:ea typeface="Arial"/>
                <a:cs typeface="Arial"/>
                <a:sym typeface="Arial"/>
              </a:rPr>
              <a:t> </a:t>
            </a:r>
            <a:r>
              <a:rPr lang="en-US" sz="2000" dirty="0" err="1">
                <a:solidFill>
                  <a:schemeClr val="dk1"/>
                </a:solidFill>
                <a:latin typeface="Arial"/>
                <a:ea typeface="Arial"/>
                <a:cs typeface="Arial"/>
                <a:sym typeface="Arial"/>
              </a:rPr>
              <a:t>bukti</a:t>
            </a:r>
            <a:r>
              <a:rPr lang="en-US" sz="2000" dirty="0">
                <a:solidFill>
                  <a:schemeClr val="dk1"/>
                </a:solidFill>
                <a:latin typeface="Arial"/>
                <a:ea typeface="Arial"/>
                <a:cs typeface="Arial"/>
                <a:sym typeface="Arial"/>
              </a:rPr>
              <a:t> </a:t>
            </a:r>
            <a:r>
              <a:rPr lang="en-US" sz="2000" dirty="0" err="1">
                <a:solidFill>
                  <a:schemeClr val="dk1"/>
                </a:solidFill>
                <a:latin typeface="Arial"/>
                <a:ea typeface="Arial"/>
                <a:cs typeface="Arial"/>
                <a:sym typeface="Arial"/>
              </a:rPr>
              <a:t>lemah</a:t>
            </a:r>
            <a:r>
              <a:rPr lang="en-US" sz="2000" dirty="0">
                <a:solidFill>
                  <a:schemeClr val="dk1"/>
                </a:solidFill>
                <a:latin typeface="Arial"/>
                <a:ea typeface="Arial"/>
                <a:cs typeface="Arial"/>
                <a:sym typeface="Arial"/>
              </a:rPr>
              <a:t> </a:t>
            </a:r>
            <a:r>
              <a:rPr lang="en-US" sz="2000" dirty="0" err="1">
                <a:solidFill>
                  <a:schemeClr val="dk1"/>
                </a:solidFill>
                <a:latin typeface="Arial"/>
                <a:ea typeface="Arial"/>
                <a:cs typeface="Arial"/>
                <a:sym typeface="Arial"/>
              </a:rPr>
              <a:t>bahwa</a:t>
            </a:r>
            <a:r>
              <a:rPr lang="en-US" sz="2000" dirty="0">
                <a:solidFill>
                  <a:schemeClr val="dk1"/>
                </a:solidFill>
                <a:latin typeface="Arial"/>
                <a:ea typeface="Arial"/>
                <a:cs typeface="Arial"/>
                <a:sym typeface="Arial"/>
              </a:rPr>
              <a:t> </a:t>
            </a:r>
            <a:r>
              <a:rPr lang="en-US" sz="2000" dirty="0" err="1">
                <a:solidFill>
                  <a:schemeClr val="dk1"/>
                </a:solidFill>
                <a:latin typeface="Arial"/>
                <a:ea typeface="Arial"/>
                <a:cs typeface="Arial"/>
                <a:sym typeface="Arial"/>
              </a:rPr>
              <a:t>korelasinya</a:t>
            </a:r>
            <a:r>
              <a:rPr lang="en-US" sz="2000" dirty="0">
                <a:solidFill>
                  <a:schemeClr val="dk1"/>
                </a:solidFill>
                <a:latin typeface="Arial"/>
                <a:ea typeface="Arial"/>
                <a:cs typeface="Arial"/>
                <a:sym typeface="Arial"/>
              </a:rPr>
              <a:t> </a:t>
            </a:r>
            <a:r>
              <a:rPr lang="en-US" sz="2000" dirty="0" err="1">
                <a:solidFill>
                  <a:schemeClr val="dk1"/>
                </a:solidFill>
                <a:latin typeface="Arial"/>
                <a:ea typeface="Arial"/>
                <a:cs typeface="Arial"/>
                <a:sym typeface="Arial"/>
              </a:rPr>
              <a:t>signifikan</a:t>
            </a:r>
            <a:r>
              <a:rPr lang="en-US" sz="2000" dirty="0">
                <a:solidFill>
                  <a:schemeClr val="dk1"/>
                </a:solidFill>
                <a:latin typeface="Arial"/>
                <a:ea typeface="Arial"/>
                <a:cs typeface="Arial"/>
                <a:sym typeface="Arial"/>
              </a:rPr>
              <a:t>.</a:t>
            </a:r>
          </a:p>
          <a:p>
            <a:pPr marL="914400" lvl="1" indent="-317500">
              <a:lnSpc>
                <a:spcPct val="115000"/>
              </a:lnSpc>
              <a:spcBef>
                <a:spcPts val="0"/>
              </a:spcBef>
              <a:buClr>
                <a:schemeClr val="dk1"/>
              </a:buClr>
              <a:buSzPts val="1400"/>
              <a:buFont typeface="Arial"/>
              <a:buChar char="○"/>
            </a:pPr>
            <a:r>
              <a:rPr lang="en-US" sz="2000" dirty="0" err="1">
                <a:solidFill>
                  <a:schemeClr val="dk1"/>
                </a:solidFill>
                <a:latin typeface="Arial"/>
                <a:ea typeface="Arial"/>
                <a:cs typeface="Arial"/>
                <a:sym typeface="Arial"/>
              </a:rPr>
              <a:t>nilai</a:t>
            </a:r>
            <a:r>
              <a:rPr lang="en-US" sz="2000" dirty="0">
                <a:solidFill>
                  <a:schemeClr val="dk1"/>
                </a:solidFill>
                <a:latin typeface="Arial"/>
                <a:ea typeface="Arial"/>
                <a:cs typeface="Arial"/>
                <a:sym typeface="Arial"/>
              </a:rPr>
              <a:t> p </a:t>
            </a:r>
            <a:r>
              <a:rPr lang="en-US" sz="2000" dirty="0" err="1">
                <a:solidFill>
                  <a:schemeClr val="dk1"/>
                </a:solidFill>
                <a:latin typeface="Arial"/>
                <a:ea typeface="Arial"/>
                <a:cs typeface="Arial"/>
                <a:sym typeface="Arial"/>
              </a:rPr>
              <a:t>adalah</a:t>
            </a:r>
            <a:r>
              <a:rPr lang="en-US" sz="2000" dirty="0">
                <a:solidFill>
                  <a:schemeClr val="dk1"/>
                </a:solidFill>
                <a:latin typeface="Arial"/>
                <a:ea typeface="Arial"/>
                <a:cs typeface="Arial"/>
                <a:sym typeface="Arial"/>
              </a:rPr>
              <a:t> $&gt;$ 0,1: </a:t>
            </a:r>
            <a:r>
              <a:rPr lang="en-US" sz="2000" dirty="0" err="1">
                <a:solidFill>
                  <a:schemeClr val="dk1"/>
                </a:solidFill>
                <a:latin typeface="Arial"/>
                <a:ea typeface="Arial"/>
                <a:cs typeface="Arial"/>
                <a:sym typeface="Arial"/>
              </a:rPr>
              <a:t>tidak</a:t>
            </a:r>
            <a:r>
              <a:rPr lang="en-US" sz="2000" dirty="0">
                <a:solidFill>
                  <a:schemeClr val="dk1"/>
                </a:solidFill>
                <a:latin typeface="Arial"/>
                <a:ea typeface="Arial"/>
                <a:cs typeface="Arial"/>
                <a:sym typeface="Arial"/>
              </a:rPr>
              <a:t> </a:t>
            </a:r>
            <a:r>
              <a:rPr lang="en-US" sz="2000" dirty="0" err="1">
                <a:solidFill>
                  <a:schemeClr val="dk1"/>
                </a:solidFill>
                <a:latin typeface="Arial"/>
                <a:ea typeface="Arial"/>
                <a:cs typeface="Arial"/>
                <a:sym typeface="Arial"/>
              </a:rPr>
              <a:t>ada</a:t>
            </a:r>
            <a:r>
              <a:rPr lang="en-US" sz="2000" dirty="0">
                <a:solidFill>
                  <a:schemeClr val="dk1"/>
                </a:solidFill>
                <a:latin typeface="Arial"/>
                <a:ea typeface="Arial"/>
                <a:cs typeface="Arial"/>
                <a:sym typeface="Arial"/>
              </a:rPr>
              <a:t> </a:t>
            </a:r>
            <a:r>
              <a:rPr lang="en-US" sz="2000" dirty="0" err="1">
                <a:solidFill>
                  <a:schemeClr val="dk1"/>
                </a:solidFill>
                <a:latin typeface="Arial"/>
                <a:ea typeface="Arial"/>
                <a:cs typeface="Arial"/>
                <a:sym typeface="Arial"/>
              </a:rPr>
              <a:t>bukti</a:t>
            </a:r>
            <a:r>
              <a:rPr lang="en-US" sz="2000" dirty="0">
                <a:solidFill>
                  <a:schemeClr val="dk1"/>
                </a:solidFill>
                <a:latin typeface="Arial"/>
                <a:ea typeface="Arial"/>
                <a:cs typeface="Arial"/>
                <a:sym typeface="Arial"/>
              </a:rPr>
              <a:t> </a:t>
            </a:r>
            <a:r>
              <a:rPr lang="en-US" sz="2000" dirty="0" err="1">
                <a:solidFill>
                  <a:schemeClr val="dk1"/>
                </a:solidFill>
                <a:latin typeface="Arial"/>
                <a:ea typeface="Arial"/>
                <a:cs typeface="Arial"/>
                <a:sym typeface="Arial"/>
              </a:rPr>
              <a:t>bahwa</a:t>
            </a:r>
            <a:r>
              <a:rPr lang="en-US" sz="2000" dirty="0">
                <a:solidFill>
                  <a:schemeClr val="dk1"/>
                </a:solidFill>
                <a:latin typeface="Arial"/>
                <a:ea typeface="Arial"/>
                <a:cs typeface="Arial"/>
                <a:sym typeface="Arial"/>
              </a:rPr>
              <a:t> </a:t>
            </a:r>
            <a:r>
              <a:rPr lang="en-US" sz="2000" dirty="0" err="1">
                <a:solidFill>
                  <a:schemeClr val="dk1"/>
                </a:solidFill>
                <a:latin typeface="Arial"/>
                <a:ea typeface="Arial"/>
                <a:cs typeface="Arial"/>
                <a:sym typeface="Arial"/>
              </a:rPr>
              <a:t>korelasi</a:t>
            </a:r>
            <a:r>
              <a:rPr lang="en-US" sz="2000" dirty="0">
                <a:solidFill>
                  <a:schemeClr val="dk1"/>
                </a:solidFill>
                <a:latin typeface="Arial"/>
                <a:ea typeface="Arial"/>
                <a:cs typeface="Arial"/>
                <a:sym typeface="Arial"/>
              </a:rPr>
              <a:t> </a:t>
            </a:r>
            <a:r>
              <a:rPr lang="en-US" sz="2000" dirty="0" err="1">
                <a:solidFill>
                  <a:schemeClr val="dk1"/>
                </a:solidFill>
                <a:latin typeface="Arial"/>
                <a:ea typeface="Arial"/>
                <a:cs typeface="Arial"/>
                <a:sym typeface="Arial"/>
              </a:rPr>
              <a:t>tersebut</a:t>
            </a:r>
            <a:r>
              <a:rPr lang="en-US" sz="2000" dirty="0">
                <a:solidFill>
                  <a:schemeClr val="dk1"/>
                </a:solidFill>
                <a:latin typeface="Arial"/>
                <a:ea typeface="Arial"/>
                <a:cs typeface="Arial"/>
                <a:sym typeface="Arial"/>
              </a:rPr>
              <a:t> </a:t>
            </a:r>
            <a:r>
              <a:rPr lang="en-US" sz="2000" dirty="0" err="1">
                <a:solidFill>
                  <a:schemeClr val="dk1"/>
                </a:solidFill>
                <a:latin typeface="Arial"/>
                <a:ea typeface="Arial"/>
                <a:cs typeface="Arial"/>
                <a:sym typeface="Arial"/>
              </a:rPr>
              <a:t>signifikan</a:t>
            </a:r>
            <a:r>
              <a:rPr lang="en-US" sz="2000" dirty="0">
                <a:solidFill>
                  <a:schemeClr val="dk1"/>
                </a:solidFill>
                <a:latin typeface="Arial"/>
                <a:ea typeface="Arial"/>
                <a:cs typeface="Arial"/>
                <a:sym typeface="Arial"/>
              </a:rPr>
              <a:t>.</a:t>
            </a:r>
          </a:p>
          <a:p>
            <a:pPr marL="457200" indent="-304800">
              <a:lnSpc>
                <a:spcPct val="115000"/>
              </a:lnSpc>
              <a:spcBef>
                <a:spcPts val="0"/>
              </a:spcBef>
              <a:buSzPts val="1200"/>
              <a:buChar char="○"/>
            </a:pPr>
            <a:endParaRPr lang="en-US" sz="2400" dirty="0">
              <a:latin typeface="Arial"/>
              <a:ea typeface="Arial"/>
              <a:cs typeface="Arial"/>
              <a:sym typeface="Arial"/>
            </a:endParaRPr>
          </a:p>
        </p:txBody>
      </p:sp>
    </p:spTree>
    <p:extLst>
      <p:ext uri="{BB962C8B-B14F-4D97-AF65-F5344CB8AC3E}">
        <p14:creationId xmlns:p14="http://schemas.microsoft.com/office/powerpoint/2010/main" val="318229949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7EA21-2123-26D2-6B44-F881EE34E5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38E924-3250-9A48-A6C9-3F4A9DADF6E3}"/>
              </a:ext>
            </a:extLst>
          </p:cNvPr>
          <p:cNvSpPr>
            <a:spLocks noGrp="1"/>
          </p:cNvSpPr>
          <p:nvPr>
            <p:ph type="title"/>
          </p:nvPr>
        </p:nvSpPr>
        <p:spPr>
          <a:xfrm>
            <a:off x="838200" y="365125"/>
            <a:ext cx="10515600" cy="915035"/>
          </a:xfrm>
        </p:spPr>
        <p:txBody>
          <a:bodyPr>
            <a:normAutofit/>
          </a:bodyPr>
          <a:lstStyle/>
          <a:p>
            <a:r>
              <a:rPr lang="en-US" b="1" dirty="0"/>
              <a:t>Correlation &amp; Causation</a:t>
            </a:r>
            <a:endParaRPr lang="en-US" dirty="0"/>
          </a:p>
        </p:txBody>
      </p:sp>
      <p:sp>
        <p:nvSpPr>
          <p:cNvPr id="3" name="Content Placeholder 2">
            <a:extLst>
              <a:ext uri="{FF2B5EF4-FFF2-40B4-BE49-F238E27FC236}">
                <a16:creationId xmlns:a16="http://schemas.microsoft.com/office/drawing/2014/main" id="{C66AE1AE-C81A-5899-7957-047EBA9365B5}"/>
              </a:ext>
            </a:extLst>
          </p:cNvPr>
          <p:cNvSpPr>
            <a:spLocks noGrp="1"/>
          </p:cNvSpPr>
          <p:nvPr>
            <p:ph idx="1"/>
          </p:nvPr>
        </p:nvSpPr>
        <p:spPr>
          <a:xfrm>
            <a:off x="208280" y="1591945"/>
            <a:ext cx="11435080" cy="4351338"/>
          </a:xfrm>
        </p:spPr>
        <p:txBody>
          <a:bodyPr>
            <a:normAutofit fontScale="92500"/>
          </a:bodyPr>
          <a:lstStyle/>
          <a:p>
            <a:pPr marL="457200" lvl="0" indent="-332878">
              <a:lnSpc>
                <a:spcPct val="115000"/>
              </a:lnSpc>
              <a:spcBef>
                <a:spcPts val="0"/>
              </a:spcBef>
              <a:buClr>
                <a:schemeClr val="dk1"/>
              </a:buClr>
              <a:buSzPct val="100840"/>
              <a:buChar char="●"/>
            </a:pPr>
            <a:r>
              <a:rPr lang="en-US" sz="2400" dirty="0">
                <a:latin typeface="Arial"/>
                <a:ea typeface="Arial"/>
                <a:cs typeface="Arial"/>
                <a:sym typeface="Arial"/>
              </a:rPr>
              <a:t>Mari </a:t>
            </a:r>
            <a:r>
              <a:rPr lang="en-US" sz="2400" dirty="0" err="1">
                <a:latin typeface="Arial"/>
                <a:ea typeface="Arial"/>
                <a:cs typeface="Arial"/>
                <a:sym typeface="Arial"/>
              </a:rPr>
              <a:t>kita</a:t>
            </a:r>
            <a:r>
              <a:rPr lang="en-US" sz="2400" dirty="0">
                <a:latin typeface="Arial"/>
                <a:ea typeface="Arial"/>
                <a:cs typeface="Arial"/>
                <a:sym typeface="Arial"/>
              </a:rPr>
              <a:t> </a:t>
            </a:r>
            <a:r>
              <a:rPr lang="en-US" sz="2400" dirty="0" err="1">
                <a:latin typeface="Arial"/>
                <a:ea typeface="Arial"/>
                <a:cs typeface="Arial"/>
                <a:sym typeface="Arial"/>
              </a:rPr>
              <a:t>hitung</a:t>
            </a:r>
            <a:r>
              <a:rPr lang="en-US" sz="2400" dirty="0">
                <a:latin typeface="Arial"/>
                <a:ea typeface="Arial"/>
                <a:cs typeface="Arial"/>
                <a:sym typeface="Arial"/>
              </a:rPr>
              <a:t> </a:t>
            </a:r>
            <a:r>
              <a:rPr lang="en-US" sz="2400" dirty="0" err="1">
                <a:latin typeface="Arial"/>
                <a:ea typeface="Arial"/>
                <a:cs typeface="Arial"/>
                <a:sym typeface="Arial"/>
              </a:rPr>
              <a:t>Koefisien</a:t>
            </a:r>
            <a:r>
              <a:rPr lang="en-US" sz="2400" dirty="0">
                <a:latin typeface="Arial"/>
                <a:ea typeface="Arial"/>
                <a:cs typeface="Arial"/>
                <a:sym typeface="Arial"/>
              </a:rPr>
              <a:t> </a:t>
            </a:r>
            <a:r>
              <a:rPr lang="en-US" sz="2400" dirty="0" err="1">
                <a:latin typeface="Arial"/>
                <a:ea typeface="Arial"/>
                <a:cs typeface="Arial"/>
                <a:sym typeface="Arial"/>
              </a:rPr>
              <a:t>Korelasi</a:t>
            </a:r>
            <a:r>
              <a:rPr lang="en-US" sz="2400" dirty="0">
                <a:latin typeface="Arial"/>
                <a:ea typeface="Arial"/>
                <a:cs typeface="Arial"/>
                <a:sym typeface="Arial"/>
              </a:rPr>
              <a:t> Pearson dan </a:t>
            </a:r>
            <a:r>
              <a:rPr lang="en-US" sz="2400" dirty="0" err="1">
                <a:latin typeface="Arial"/>
                <a:ea typeface="Arial"/>
                <a:cs typeface="Arial"/>
                <a:sym typeface="Arial"/>
              </a:rPr>
              <a:t>nilai</a:t>
            </a:r>
            <a:r>
              <a:rPr lang="en-US" sz="2400" dirty="0">
                <a:latin typeface="Arial"/>
                <a:ea typeface="Arial"/>
                <a:cs typeface="Arial"/>
                <a:sym typeface="Arial"/>
              </a:rPr>
              <a:t>-P </a:t>
            </a:r>
            <a:r>
              <a:rPr lang="en-US" sz="2400" dirty="0" err="1">
                <a:latin typeface="Arial"/>
                <a:ea typeface="Arial"/>
                <a:cs typeface="Arial"/>
                <a:sym typeface="Arial"/>
              </a:rPr>
              <a:t>dari</a:t>
            </a:r>
            <a:r>
              <a:rPr lang="en-US" sz="2400" dirty="0">
                <a:latin typeface="Arial"/>
                <a:ea typeface="Arial"/>
                <a:cs typeface="Arial"/>
                <a:sym typeface="Arial"/>
              </a:rPr>
              <a:t> 'wheel-base' dan 'price’. </a:t>
            </a:r>
          </a:p>
          <a:p>
            <a:pPr marL="457200" lvl="0" indent="-332878">
              <a:lnSpc>
                <a:spcPct val="115000"/>
              </a:lnSpc>
              <a:spcBef>
                <a:spcPts val="0"/>
              </a:spcBef>
              <a:buClr>
                <a:schemeClr val="dk1"/>
              </a:buClr>
              <a:buSzPct val="100840"/>
              <a:buChar char="●"/>
            </a:pPr>
            <a:endParaRPr lang="en-US" sz="2400" dirty="0">
              <a:latin typeface="Arial"/>
              <a:ea typeface="Arial"/>
              <a:cs typeface="Arial"/>
              <a:sym typeface="Arial"/>
            </a:endParaRPr>
          </a:p>
          <a:p>
            <a:pPr marL="457200" lvl="0" indent="-332878">
              <a:lnSpc>
                <a:spcPct val="115000"/>
              </a:lnSpc>
              <a:spcBef>
                <a:spcPts val="0"/>
              </a:spcBef>
              <a:buClr>
                <a:schemeClr val="dk1"/>
              </a:buClr>
              <a:buSzPct val="100840"/>
              <a:buChar char="●"/>
            </a:pPr>
            <a:endParaRPr lang="en-US" sz="2400" dirty="0">
              <a:latin typeface="Arial"/>
              <a:ea typeface="Arial"/>
              <a:cs typeface="Arial"/>
              <a:sym typeface="Arial"/>
            </a:endParaRPr>
          </a:p>
          <a:p>
            <a:pPr marL="457200" lvl="0" indent="-332878">
              <a:lnSpc>
                <a:spcPct val="115000"/>
              </a:lnSpc>
              <a:spcBef>
                <a:spcPts val="0"/>
              </a:spcBef>
              <a:buClr>
                <a:schemeClr val="dk1"/>
              </a:buClr>
              <a:buSzPct val="100840"/>
              <a:buChar char="●"/>
            </a:pPr>
            <a:endParaRPr lang="en-US" sz="2400" dirty="0">
              <a:latin typeface="Arial"/>
              <a:ea typeface="Arial"/>
              <a:cs typeface="Arial"/>
              <a:sym typeface="Arial"/>
            </a:endParaRPr>
          </a:p>
          <a:p>
            <a:pPr marL="457200" lvl="0" indent="-332878">
              <a:lnSpc>
                <a:spcPct val="115000"/>
              </a:lnSpc>
              <a:spcBef>
                <a:spcPts val="0"/>
              </a:spcBef>
              <a:buClr>
                <a:schemeClr val="dk1"/>
              </a:buClr>
              <a:buSzPct val="100840"/>
              <a:buChar char="●"/>
            </a:pPr>
            <a:endParaRPr lang="en-US" sz="2400" dirty="0">
              <a:latin typeface="Arial"/>
              <a:ea typeface="Arial"/>
              <a:cs typeface="Arial"/>
              <a:sym typeface="Arial"/>
            </a:endParaRPr>
          </a:p>
          <a:p>
            <a:pPr marL="457200" lvl="0" indent="-342900">
              <a:lnSpc>
                <a:spcPct val="115000"/>
              </a:lnSpc>
              <a:spcBef>
                <a:spcPts val="0"/>
              </a:spcBef>
              <a:buClr>
                <a:schemeClr val="dk1"/>
              </a:buClr>
              <a:buSzPts val="1800"/>
              <a:buFont typeface="Arial"/>
              <a:buChar char="●"/>
            </a:pPr>
            <a:endParaRPr lang="en-US" sz="2400" dirty="0">
              <a:solidFill>
                <a:schemeClr val="dk1"/>
              </a:solidFill>
              <a:latin typeface="Arial"/>
              <a:ea typeface="Arial"/>
              <a:cs typeface="Arial"/>
              <a:sym typeface="Arial"/>
            </a:endParaRPr>
          </a:p>
          <a:p>
            <a:pPr marL="457200" lvl="0" indent="-342900">
              <a:lnSpc>
                <a:spcPct val="115000"/>
              </a:lnSpc>
              <a:spcBef>
                <a:spcPts val="0"/>
              </a:spcBef>
              <a:buClr>
                <a:schemeClr val="dk1"/>
              </a:buClr>
              <a:buSzPts val="1800"/>
              <a:buFont typeface="Arial"/>
              <a:buChar char="●"/>
            </a:pPr>
            <a:r>
              <a:rPr lang="en-US" sz="2400" dirty="0">
                <a:solidFill>
                  <a:schemeClr val="dk1"/>
                </a:solidFill>
                <a:latin typeface="Arial"/>
                <a:ea typeface="Arial"/>
                <a:cs typeface="Arial"/>
                <a:sym typeface="Arial"/>
              </a:rPr>
              <a:t>Karena </a:t>
            </a:r>
            <a:r>
              <a:rPr lang="en-US" sz="2400" dirty="0" err="1">
                <a:solidFill>
                  <a:schemeClr val="dk1"/>
                </a:solidFill>
                <a:latin typeface="Arial"/>
                <a:ea typeface="Arial"/>
                <a:cs typeface="Arial"/>
                <a:sym typeface="Arial"/>
              </a:rPr>
              <a:t>nilai</a:t>
            </a:r>
            <a:r>
              <a:rPr lang="en-US" sz="2400" dirty="0">
                <a:solidFill>
                  <a:schemeClr val="dk1"/>
                </a:solidFill>
                <a:latin typeface="Arial"/>
                <a:ea typeface="Arial"/>
                <a:cs typeface="Arial"/>
                <a:sym typeface="Arial"/>
              </a:rPr>
              <a:t> p </a:t>
            </a:r>
            <a:r>
              <a:rPr lang="en-US" sz="2400" dirty="0" err="1">
                <a:solidFill>
                  <a:schemeClr val="dk1"/>
                </a:solidFill>
                <a:latin typeface="Arial"/>
                <a:ea typeface="Arial"/>
                <a:cs typeface="Arial"/>
                <a:sym typeface="Arial"/>
              </a:rPr>
              <a:t>adalah</a:t>
            </a:r>
            <a:r>
              <a:rPr lang="en-US" sz="2400" dirty="0">
                <a:solidFill>
                  <a:schemeClr val="dk1"/>
                </a:solidFill>
                <a:latin typeface="Arial"/>
                <a:ea typeface="Arial"/>
                <a:cs typeface="Arial"/>
                <a:sym typeface="Arial"/>
              </a:rPr>
              <a:t> $&lt;$ 0,001, </a:t>
            </a:r>
            <a:r>
              <a:rPr lang="en-US" sz="2400" dirty="0" err="1">
                <a:solidFill>
                  <a:schemeClr val="dk1"/>
                </a:solidFill>
                <a:latin typeface="Arial"/>
                <a:ea typeface="Arial"/>
                <a:cs typeface="Arial"/>
                <a:sym typeface="Arial"/>
              </a:rPr>
              <a:t>korelasi</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antara</a:t>
            </a:r>
            <a:r>
              <a:rPr lang="en-US" sz="2400" dirty="0">
                <a:solidFill>
                  <a:schemeClr val="dk1"/>
                </a:solidFill>
                <a:latin typeface="Arial"/>
                <a:ea typeface="Arial"/>
                <a:cs typeface="Arial"/>
                <a:sym typeface="Arial"/>
              </a:rPr>
              <a:t> horsepower dan </a:t>
            </a:r>
            <a:r>
              <a:rPr lang="en-US" sz="2400" dirty="0" err="1">
                <a:solidFill>
                  <a:schemeClr val="dk1"/>
                </a:solidFill>
                <a:latin typeface="Arial"/>
                <a:ea typeface="Arial"/>
                <a:cs typeface="Arial"/>
                <a:sym typeface="Arial"/>
              </a:rPr>
              <a:t>harga</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signifikan</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secara</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statistik</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dengan</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korelasi</a:t>
            </a:r>
            <a:r>
              <a:rPr lang="en-US" sz="2400" dirty="0">
                <a:solidFill>
                  <a:schemeClr val="dk1"/>
                </a:solidFill>
                <a:latin typeface="Arial"/>
                <a:ea typeface="Arial"/>
                <a:cs typeface="Arial"/>
                <a:sym typeface="Arial"/>
              </a:rPr>
              <a:t> linear </a:t>
            </a:r>
            <a:r>
              <a:rPr lang="en-US" sz="2400" dirty="0" err="1">
                <a:solidFill>
                  <a:schemeClr val="dk1"/>
                </a:solidFill>
                <a:latin typeface="Arial"/>
                <a:ea typeface="Arial"/>
                <a:cs typeface="Arial"/>
                <a:sym typeface="Arial"/>
              </a:rPr>
              <a:t>positif</a:t>
            </a:r>
            <a:r>
              <a:rPr lang="en-US" sz="2400" dirty="0">
                <a:solidFill>
                  <a:schemeClr val="dk1"/>
                </a:solidFill>
                <a:latin typeface="Arial"/>
                <a:ea typeface="Arial"/>
                <a:cs typeface="Arial"/>
                <a:sym typeface="Arial"/>
              </a:rPr>
              <a:t> yang </a:t>
            </a:r>
            <a:r>
              <a:rPr lang="en-US" sz="2400" dirty="0" err="1">
                <a:solidFill>
                  <a:schemeClr val="dk1"/>
                </a:solidFill>
                <a:latin typeface="Arial"/>
                <a:ea typeface="Arial"/>
                <a:cs typeface="Arial"/>
                <a:sym typeface="Arial"/>
              </a:rPr>
              <a:t>cukup</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kuat</a:t>
            </a:r>
            <a:r>
              <a:rPr lang="en-US" sz="2400" dirty="0">
                <a:solidFill>
                  <a:schemeClr val="dk1"/>
                </a:solidFill>
                <a:latin typeface="Arial"/>
                <a:ea typeface="Arial"/>
                <a:cs typeface="Arial"/>
                <a:sym typeface="Arial"/>
              </a:rPr>
              <a:t>(~0,805)</a:t>
            </a:r>
            <a:endParaRPr lang="en-US" sz="1800" dirty="0">
              <a:solidFill>
                <a:schemeClr val="dk1"/>
              </a:solidFill>
              <a:latin typeface="Arial"/>
              <a:ea typeface="Arial"/>
              <a:cs typeface="Arial"/>
              <a:sym typeface="Arial"/>
            </a:endParaRPr>
          </a:p>
          <a:p>
            <a:pPr marL="457200" lvl="0" indent="-342900">
              <a:lnSpc>
                <a:spcPct val="115000"/>
              </a:lnSpc>
              <a:spcBef>
                <a:spcPts val="0"/>
              </a:spcBef>
              <a:buClr>
                <a:schemeClr val="dk1"/>
              </a:buClr>
              <a:buSzPts val="1800"/>
              <a:buFont typeface="Arial"/>
              <a:buChar char="●"/>
            </a:pPr>
            <a:r>
              <a:rPr lang="en-US" sz="2400" dirty="0">
                <a:solidFill>
                  <a:schemeClr val="dk1"/>
                </a:solidFill>
                <a:latin typeface="Arial"/>
                <a:ea typeface="Arial"/>
                <a:cs typeface="Arial"/>
                <a:sym typeface="Arial"/>
              </a:rPr>
              <a:t>Saat </a:t>
            </a:r>
            <a:r>
              <a:rPr lang="en-US" sz="2400" dirty="0" err="1">
                <a:solidFill>
                  <a:schemeClr val="dk1"/>
                </a:solidFill>
                <a:latin typeface="Arial"/>
                <a:ea typeface="Arial"/>
                <a:cs typeface="Arial"/>
                <a:sym typeface="Arial"/>
              </a:rPr>
              <a:t>memvisualisasikan</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variabel</a:t>
            </a:r>
            <a:r>
              <a:rPr lang="en-US" sz="2400" dirty="0">
                <a:solidFill>
                  <a:schemeClr val="dk1"/>
                </a:solidFill>
                <a:latin typeface="Arial"/>
                <a:ea typeface="Arial"/>
                <a:cs typeface="Arial"/>
                <a:sym typeface="Arial"/>
              </a:rPr>
              <a:t> individual, </a:t>
            </a:r>
            <a:r>
              <a:rPr lang="en-US" sz="2400" dirty="0" err="1">
                <a:solidFill>
                  <a:schemeClr val="dk1"/>
                </a:solidFill>
                <a:latin typeface="Arial"/>
                <a:ea typeface="Arial"/>
                <a:cs typeface="Arial"/>
                <a:sym typeface="Arial"/>
              </a:rPr>
              <a:t>penting</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untuk</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terlebih</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dahulu</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memahami</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jenis</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variabel</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apa</a:t>
            </a:r>
            <a:r>
              <a:rPr lang="en-US" sz="2400" dirty="0">
                <a:solidFill>
                  <a:schemeClr val="dk1"/>
                </a:solidFill>
                <a:latin typeface="Arial"/>
                <a:ea typeface="Arial"/>
                <a:cs typeface="Arial"/>
                <a:sym typeface="Arial"/>
              </a:rPr>
              <a:t> yang Anda </a:t>
            </a:r>
            <a:r>
              <a:rPr lang="en-US" sz="2400" dirty="0" err="1">
                <a:solidFill>
                  <a:schemeClr val="dk1"/>
                </a:solidFill>
                <a:latin typeface="Arial"/>
                <a:ea typeface="Arial"/>
                <a:cs typeface="Arial"/>
                <a:sym typeface="Arial"/>
              </a:rPr>
              <a:t>hadapi</a:t>
            </a:r>
            <a:r>
              <a:rPr lang="en-US" sz="2400" dirty="0">
                <a:solidFill>
                  <a:schemeClr val="dk1"/>
                </a:solidFill>
                <a:latin typeface="Arial"/>
                <a:ea typeface="Arial"/>
                <a:cs typeface="Arial"/>
                <a:sym typeface="Arial"/>
              </a:rPr>
              <a:t>. Ini </a:t>
            </a:r>
            <a:r>
              <a:rPr lang="en-US" sz="2400" dirty="0" err="1">
                <a:solidFill>
                  <a:schemeClr val="dk1"/>
                </a:solidFill>
                <a:latin typeface="Arial"/>
                <a:ea typeface="Arial"/>
                <a:cs typeface="Arial"/>
                <a:sym typeface="Arial"/>
              </a:rPr>
              <a:t>akan</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membantu</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kita</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menemukan</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metode</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visualisasi</a:t>
            </a:r>
            <a:r>
              <a:rPr lang="en-US" sz="2400" dirty="0">
                <a:solidFill>
                  <a:schemeClr val="dk1"/>
                </a:solidFill>
                <a:latin typeface="Arial"/>
                <a:ea typeface="Arial"/>
                <a:cs typeface="Arial"/>
                <a:sym typeface="Arial"/>
              </a:rPr>
              <a:t> yang </a:t>
            </a:r>
            <a:r>
              <a:rPr lang="en-US" sz="2400" dirty="0" err="1">
                <a:solidFill>
                  <a:schemeClr val="dk1"/>
                </a:solidFill>
                <a:latin typeface="Arial"/>
                <a:ea typeface="Arial"/>
                <a:cs typeface="Arial"/>
                <a:sym typeface="Arial"/>
              </a:rPr>
              <a:t>tepat</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untuk</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variabel</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tersebut</a:t>
            </a:r>
            <a:r>
              <a:rPr lang="en-US" sz="2400" dirty="0">
                <a:solidFill>
                  <a:schemeClr val="dk1"/>
                </a:solidFill>
                <a:latin typeface="Arial"/>
                <a:ea typeface="Arial"/>
                <a:cs typeface="Arial"/>
                <a:sym typeface="Arial"/>
              </a:rPr>
              <a:t>. </a:t>
            </a:r>
            <a:endParaRPr lang="en-US" sz="1800" dirty="0">
              <a:solidFill>
                <a:schemeClr val="dk1"/>
              </a:solidFill>
              <a:latin typeface="Arial"/>
              <a:ea typeface="Arial"/>
              <a:cs typeface="Arial"/>
              <a:sym typeface="Arial"/>
            </a:endParaRPr>
          </a:p>
          <a:p>
            <a:pPr marL="124322" lvl="0" indent="0">
              <a:lnSpc>
                <a:spcPct val="115000"/>
              </a:lnSpc>
              <a:spcBef>
                <a:spcPts val="0"/>
              </a:spcBef>
              <a:buClr>
                <a:schemeClr val="dk1"/>
              </a:buClr>
              <a:buSzPct val="100840"/>
              <a:buNone/>
            </a:pPr>
            <a:endParaRPr lang="en-US" sz="2400" dirty="0">
              <a:latin typeface="Arial"/>
              <a:ea typeface="Arial"/>
              <a:cs typeface="Arial"/>
              <a:sym typeface="Arial"/>
            </a:endParaRPr>
          </a:p>
        </p:txBody>
      </p:sp>
      <p:sp>
        <p:nvSpPr>
          <p:cNvPr id="5" name="Google Shape;498;p59">
            <a:extLst>
              <a:ext uri="{FF2B5EF4-FFF2-40B4-BE49-F238E27FC236}">
                <a16:creationId xmlns:a16="http://schemas.microsoft.com/office/drawing/2014/main" id="{6B41A244-6101-1C03-C6B9-33D9D1CA66E3}"/>
              </a:ext>
            </a:extLst>
          </p:cNvPr>
          <p:cNvSpPr txBox="1"/>
          <p:nvPr/>
        </p:nvSpPr>
        <p:spPr>
          <a:xfrm>
            <a:off x="601040" y="2612539"/>
            <a:ext cx="10839120" cy="547221"/>
          </a:xfrm>
          <a:prstGeom prst="rect">
            <a:avLst/>
          </a:prstGeom>
          <a:noFill/>
          <a:ln>
            <a:noFill/>
          </a:ln>
        </p:spPr>
        <p:txBody>
          <a:bodyPr spcFirstLastPara="1" wrap="square" lIns="91425" tIns="91425" rIns="91425" bIns="91425" anchor="t" anchorCtr="0">
            <a:normAutofit/>
          </a:bodyPr>
          <a:lstStyle/>
          <a:p>
            <a:pPr marL="0" marR="0" lvl="0" indent="0" algn="l" rtl="0">
              <a:lnSpc>
                <a:spcPct val="59166"/>
              </a:lnSpc>
              <a:spcBef>
                <a:spcPts val="0"/>
              </a:spcBef>
              <a:spcAft>
                <a:spcPts val="0"/>
              </a:spcAft>
              <a:buClr>
                <a:schemeClr val="dk2"/>
              </a:buClr>
              <a:buSzPts val="2664"/>
              <a:buFont typeface="Arial"/>
              <a:buNone/>
            </a:pPr>
            <a:r>
              <a:rPr lang="id" sz="1200" b="0" i="0" u="none" strike="noStrike" cap="none" dirty="0">
                <a:solidFill>
                  <a:srgbClr val="000000"/>
                </a:solidFill>
                <a:latin typeface="Courier New"/>
                <a:ea typeface="Courier New"/>
                <a:cs typeface="Courier New"/>
                <a:sym typeface="Courier New"/>
              </a:rPr>
              <a:t>pearson_coef, p_value = stats.pearsonr(df[</a:t>
            </a:r>
            <a:r>
              <a:rPr lang="id" sz="1200" b="0" i="0" u="none" strike="noStrike" cap="none" dirty="0">
                <a:solidFill>
                  <a:srgbClr val="A31515"/>
                </a:solidFill>
                <a:latin typeface="Courier New"/>
                <a:ea typeface="Courier New"/>
                <a:cs typeface="Courier New"/>
                <a:sym typeface="Courier New"/>
              </a:rPr>
              <a:t>'horsepower'</a:t>
            </a:r>
            <a:r>
              <a:rPr lang="id" sz="1200" b="0" i="0" u="none" strike="noStrike" cap="none" dirty="0">
                <a:solidFill>
                  <a:srgbClr val="000000"/>
                </a:solidFill>
                <a:latin typeface="Courier New"/>
                <a:ea typeface="Courier New"/>
                <a:cs typeface="Courier New"/>
                <a:sym typeface="Courier New"/>
              </a:rPr>
              <a:t>], df[</a:t>
            </a:r>
            <a:r>
              <a:rPr lang="id" sz="1200" b="0" i="0" u="none" strike="noStrike" cap="none" dirty="0">
                <a:solidFill>
                  <a:srgbClr val="A31515"/>
                </a:solidFill>
                <a:latin typeface="Courier New"/>
                <a:ea typeface="Courier New"/>
                <a:cs typeface="Courier New"/>
                <a:sym typeface="Courier New"/>
              </a:rPr>
              <a:t>'price'</a:t>
            </a:r>
            <a:r>
              <a:rPr lang="id" sz="1200" b="0" i="0" u="none" strike="noStrike" cap="none" dirty="0">
                <a:solidFill>
                  <a:srgbClr val="000000"/>
                </a:solidFill>
                <a:latin typeface="Courier New"/>
                <a:ea typeface="Courier New"/>
                <a:cs typeface="Courier New"/>
                <a:sym typeface="Courier New"/>
              </a:rPr>
              <a:t>])</a:t>
            </a:r>
            <a:endParaRPr sz="1200" b="0" i="0" u="none" strike="noStrike" cap="none" dirty="0">
              <a:solidFill>
                <a:srgbClr val="000000"/>
              </a:solidFill>
              <a:latin typeface="Courier New"/>
              <a:ea typeface="Courier New"/>
              <a:cs typeface="Courier New"/>
              <a:sym typeface="Courier New"/>
            </a:endParaRPr>
          </a:p>
          <a:p>
            <a:pPr marL="0" marR="0" lvl="0" indent="0" algn="l" rtl="0">
              <a:lnSpc>
                <a:spcPct val="59166"/>
              </a:lnSpc>
              <a:spcBef>
                <a:spcPts val="0"/>
              </a:spcBef>
              <a:spcAft>
                <a:spcPts val="0"/>
              </a:spcAft>
              <a:buClr>
                <a:schemeClr val="dk2"/>
              </a:buClr>
              <a:buSzPts val="2664"/>
              <a:buFont typeface="Arial"/>
              <a:buNone/>
            </a:pPr>
            <a:endParaRPr sz="1200" b="0" i="0" u="none" strike="noStrike" cap="none" dirty="0">
              <a:solidFill>
                <a:srgbClr val="000000"/>
              </a:solidFill>
              <a:latin typeface="Courier New"/>
              <a:ea typeface="Courier New"/>
              <a:cs typeface="Courier New"/>
              <a:sym typeface="Courier New"/>
            </a:endParaRPr>
          </a:p>
          <a:p>
            <a:pPr marL="0" marR="0" lvl="0" indent="0" algn="l" rtl="0">
              <a:lnSpc>
                <a:spcPct val="59166"/>
              </a:lnSpc>
              <a:spcBef>
                <a:spcPts val="0"/>
              </a:spcBef>
              <a:spcAft>
                <a:spcPts val="0"/>
              </a:spcAft>
              <a:buClr>
                <a:schemeClr val="dk2"/>
              </a:buClr>
              <a:buSzPts val="2664"/>
              <a:buFont typeface="Arial"/>
              <a:buNone/>
            </a:pPr>
            <a:r>
              <a:rPr lang="id" sz="1200" b="0" i="0" u="none" strike="noStrike" cap="none" dirty="0">
                <a:solidFill>
                  <a:srgbClr val="795E26"/>
                </a:solidFill>
                <a:latin typeface="Courier New"/>
                <a:ea typeface="Courier New"/>
                <a:cs typeface="Courier New"/>
                <a:sym typeface="Courier New"/>
              </a:rPr>
              <a:t>print</a:t>
            </a:r>
            <a:r>
              <a:rPr lang="id" sz="1200" b="0" i="0" u="none" strike="noStrike" cap="none" dirty="0">
                <a:solidFill>
                  <a:srgbClr val="000000"/>
                </a:solidFill>
                <a:latin typeface="Courier New"/>
                <a:ea typeface="Courier New"/>
                <a:cs typeface="Courier New"/>
                <a:sym typeface="Courier New"/>
              </a:rPr>
              <a:t>(</a:t>
            </a:r>
            <a:r>
              <a:rPr lang="id" sz="1200" b="0" i="0" u="none" strike="noStrike" cap="none" dirty="0">
                <a:solidFill>
                  <a:srgbClr val="A31515"/>
                </a:solidFill>
                <a:latin typeface="Courier New"/>
                <a:ea typeface="Courier New"/>
                <a:cs typeface="Courier New"/>
                <a:sym typeface="Courier New"/>
              </a:rPr>
              <a:t>"The Pearson Correlation Coefficient is"</a:t>
            </a:r>
            <a:r>
              <a:rPr lang="id" sz="1200" b="0" i="0" u="none" strike="noStrike" cap="none" dirty="0">
                <a:solidFill>
                  <a:srgbClr val="000000"/>
                </a:solidFill>
                <a:latin typeface="Courier New"/>
                <a:ea typeface="Courier New"/>
                <a:cs typeface="Courier New"/>
                <a:sym typeface="Courier New"/>
              </a:rPr>
              <a:t>, pearson_coef, </a:t>
            </a:r>
            <a:r>
              <a:rPr lang="id" sz="1200" b="0" i="0" u="none" strike="noStrike" cap="none" dirty="0">
                <a:solidFill>
                  <a:srgbClr val="A31515"/>
                </a:solidFill>
                <a:latin typeface="Courier New"/>
                <a:ea typeface="Courier New"/>
                <a:cs typeface="Courier New"/>
                <a:sym typeface="Courier New"/>
              </a:rPr>
              <a:t>" with a P-value of P = "</a:t>
            </a:r>
            <a:r>
              <a:rPr lang="id" sz="1200" b="0" i="0" u="none" strike="noStrike" cap="none" dirty="0">
                <a:solidFill>
                  <a:srgbClr val="000000"/>
                </a:solidFill>
                <a:latin typeface="Courier New"/>
                <a:ea typeface="Courier New"/>
                <a:cs typeface="Courier New"/>
                <a:sym typeface="Courier New"/>
              </a:rPr>
              <a:t>, p_value)</a:t>
            </a:r>
            <a:endParaRPr sz="1200" b="0" i="0" u="none" strike="noStrike" cap="none" dirty="0">
              <a:solidFill>
                <a:schemeClr val="dk2"/>
              </a:solidFill>
              <a:latin typeface="Cambria"/>
              <a:ea typeface="Cambria"/>
              <a:cs typeface="Cambria"/>
              <a:sym typeface="Cambria"/>
            </a:endParaRPr>
          </a:p>
        </p:txBody>
      </p:sp>
      <p:pic>
        <p:nvPicPr>
          <p:cNvPr id="7" name="Google Shape;500;p59">
            <a:extLst>
              <a:ext uri="{FF2B5EF4-FFF2-40B4-BE49-F238E27FC236}">
                <a16:creationId xmlns:a16="http://schemas.microsoft.com/office/drawing/2014/main" id="{9F98F038-E9C8-669A-F281-151C492A5A82}"/>
              </a:ext>
            </a:extLst>
          </p:cNvPr>
          <p:cNvPicPr preferRelativeResize="0"/>
          <p:nvPr/>
        </p:nvPicPr>
        <p:blipFill rotWithShape="1">
          <a:blip r:embed="rId2">
            <a:alphaModFix/>
          </a:blip>
          <a:srcRect/>
          <a:stretch/>
        </p:blipFill>
        <p:spPr>
          <a:xfrm>
            <a:off x="681455" y="3271400"/>
            <a:ext cx="7296425" cy="315200"/>
          </a:xfrm>
          <a:prstGeom prst="rect">
            <a:avLst/>
          </a:prstGeom>
          <a:noFill/>
          <a:ln w="9525" cap="flat" cmpd="sng">
            <a:solidFill>
              <a:srgbClr val="FF0000"/>
            </a:solidFill>
            <a:prstDash val="solid"/>
            <a:round/>
            <a:headEnd type="none" w="sm" len="sm"/>
            <a:tailEnd type="none" w="sm" len="sm"/>
          </a:ln>
        </p:spPr>
      </p:pic>
    </p:spTree>
    <p:extLst>
      <p:ext uri="{BB962C8B-B14F-4D97-AF65-F5344CB8AC3E}">
        <p14:creationId xmlns:p14="http://schemas.microsoft.com/office/powerpoint/2010/main" val="22743748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C7F0-72ED-845A-71F6-B20A9A8CD0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9460F0-F3A6-D3CC-7A58-EF3546E50748}"/>
              </a:ext>
            </a:extLst>
          </p:cNvPr>
          <p:cNvSpPr>
            <a:spLocks noGrp="1"/>
          </p:cNvSpPr>
          <p:nvPr>
            <p:ph type="title"/>
          </p:nvPr>
        </p:nvSpPr>
        <p:spPr>
          <a:xfrm>
            <a:off x="838200" y="365125"/>
            <a:ext cx="10515600" cy="915035"/>
          </a:xfrm>
        </p:spPr>
        <p:txBody>
          <a:bodyPr>
            <a:normAutofit/>
          </a:bodyPr>
          <a:lstStyle/>
          <a:p>
            <a:r>
              <a:rPr lang="en-US" b="1" dirty="0"/>
              <a:t>Correlation &amp; Causation</a:t>
            </a:r>
            <a:endParaRPr lang="en-US" dirty="0"/>
          </a:p>
        </p:txBody>
      </p:sp>
      <p:sp>
        <p:nvSpPr>
          <p:cNvPr id="3" name="Content Placeholder 2">
            <a:extLst>
              <a:ext uri="{FF2B5EF4-FFF2-40B4-BE49-F238E27FC236}">
                <a16:creationId xmlns:a16="http://schemas.microsoft.com/office/drawing/2014/main" id="{25C63F2A-D7AF-D658-D530-5D89AE73A088}"/>
              </a:ext>
            </a:extLst>
          </p:cNvPr>
          <p:cNvSpPr>
            <a:spLocks noGrp="1"/>
          </p:cNvSpPr>
          <p:nvPr>
            <p:ph idx="1"/>
          </p:nvPr>
        </p:nvSpPr>
        <p:spPr>
          <a:xfrm>
            <a:off x="208280" y="1591945"/>
            <a:ext cx="7974573" cy="4351338"/>
          </a:xfrm>
        </p:spPr>
        <p:txBody>
          <a:bodyPr>
            <a:normAutofit fontScale="92500" lnSpcReduction="20000"/>
          </a:bodyPr>
          <a:lstStyle/>
          <a:p>
            <a:pPr marL="457200" lvl="0" indent="-317500">
              <a:lnSpc>
                <a:spcPct val="115000"/>
              </a:lnSpc>
              <a:spcBef>
                <a:spcPts val="0"/>
              </a:spcBef>
              <a:buClr>
                <a:schemeClr val="dk1"/>
              </a:buClr>
              <a:buSzPts val="1400"/>
              <a:buChar char="●"/>
            </a:pPr>
            <a:r>
              <a:rPr lang="en-US" sz="2400" dirty="0" err="1">
                <a:latin typeface="Arial"/>
                <a:ea typeface="Arial"/>
                <a:cs typeface="Arial"/>
                <a:sym typeface="Arial"/>
              </a:rPr>
              <a:t>Untuk</a:t>
            </a:r>
            <a:r>
              <a:rPr lang="en-US" sz="2400" dirty="0">
                <a:latin typeface="Arial"/>
                <a:ea typeface="Arial"/>
                <a:cs typeface="Arial"/>
                <a:sym typeface="Arial"/>
              </a:rPr>
              <a:t> </a:t>
            </a:r>
            <a:r>
              <a:rPr lang="en-US" sz="2400" dirty="0" err="1">
                <a:latin typeface="Arial"/>
                <a:ea typeface="Arial"/>
                <a:cs typeface="Arial"/>
                <a:sym typeface="Arial"/>
              </a:rPr>
              <a:t>mulai</a:t>
            </a:r>
            <a:r>
              <a:rPr lang="en-US" sz="2400" dirty="0">
                <a:latin typeface="Arial"/>
                <a:ea typeface="Arial"/>
                <a:cs typeface="Arial"/>
                <a:sym typeface="Arial"/>
              </a:rPr>
              <a:t> </a:t>
            </a:r>
            <a:r>
              <a:rPr lang="en-US" sz="2400" dirty="0" err="1">
                <a:latin typeface="Arial"/>
                <a:ea typeface="Arial"/>
                <a:cs typeface="Arial"/>
                <a:sym typeface="Arial"/>
              </a:rPr>
              <a:t>memahami</a:t>
            </a:r>
            <a:r>
              <a:rPr lang="en-US" sz="2400" dirty="0">
                <a:latin typeface="Arial"/>
                <a:ea typeface="Arial"/>
                <a:cs typeface="Arial"/>
                <a:sym typeface="Arial"/>
              </a:rPr>
              <a:t> </a:t>
            </a:r>
            <a:r>
              <a:rPr lang="en-US" sz="2400" dirty="0" err="1">
                <a:latin typeface="Arial"/>
                <a:ea typeface="Arial"/>
                <a:cs typeface="Arial"/>
                <a:sym typeface="Arial"/>
              </a:rPr>
              <a:t>keterhubungan</a:t>
            </a:r>
            <a:r>
              <a:rPr lang="en-US" sz="2400" dirty="0">
                <a:latin typeface="Arial"/>
                <a:ea typeface="Arial"/>
                <a:cs typeface="Arial"/>
                <a:sym typeface="Arial"/>
              </a:rPr>
              <a:t> (linier) </a:t>
            </a:r>
            <a:r>
              <a:rPr lang="en-US" sz="2400" dirty="0" err="1">
                <a:latin typeface="Arial"/>
                <a:ea typeface="Arial"/>
                <a:cs typeface="Arial"/>
                <a:sym typeface="Arial"/>
              </a:rPr>
              <a:t>antara</a:t>
            </a:r>
            <a:r>
              <a:rPr lang="en-US" sz="2400" dirty="0">
                <a:latin typeface="Arial"/>
                <a:ea typeface="Arial"/>
                <a:cs typeface="Arial"/>
                <a:sym typeface="Arial"/>
              </a:rPr>
              <a:t> </a:t>
            </a:r>
            <a:r>
              <a:rPr lang="en-US" sz="2400" dirty="0" err="1">
                <a:latin typeface="Arial"/>
                <a:ea typeface="Arial"/>
                <a:cs typeface="Arial"/>
                <a:sym typeface="Arial"/>
              </a:rPr>
              <a:t>variabel</a:t>
            </a:r>
            <a:r>
              <a:rPr lang="en-US" sz="2400" dirty="0">
                <a:latin typeface="Arial"/>
                <a:ea typeface="Arial"/>
                <a:cs typeface="Arial"/>
                <a:sym typeface="Arial"/>
              </a:rPr>
              <a:t> </a:t>
            </a:r>
            <a:r>
              <a:rPr lang="en-US" sz="2400" dirty="0" err="1">
                <a:latin typeface="Arial"/>
                <a:ea typeface="Arial"/>
                <a:cs typeface="Arial"/>
                <a:sym typeface="Arial"/>
              </a:rPr>
              <a:t>individu</a:t>
            </a:r>
            <a:r>
              <a:rPr lang="en-US" sz="2400" dirty="0">
                <a:latin typeface="Arial"/>
                <a:ea typeface="Arial"/>
                <a:cs typeface="Arial"/>
                <a:sym typeface="Arial"/>
              </a:rPr>
              <a:t> dan </a:t>
            </a:r>
            <a:r>
              <a:rPr lang="en-US" sz="2400" dirty="0" err="1">
                <a:latin typeface="Arial"/>
                <a:ea typeface="Arial"/>
                <a:cs typeface="Arial"/>
                <a:sym typeface="Arial"/>
              </a:rPr>
              <a:t>harga</a:t>
            </a:r>
            <a:r>
              <a:rPr lang="en-US" sz="2400" dirty="0">
                <a:latin typeface="Arial"/>
                <a:ea typeface="Arial"/>
                <a:cs typeface="Arial"/>
                <a:sym typeface="Arial"/>
              </a:rPr>
              <a:t>. Kita </a:t>
            </a:r>
            <a:r>
              <a:rPr lang="en-US" sz="2400" dirty="0" err="1">
                <a:latin typeface="Arial"/>
                <a:ea typeface="Arial"/>
                <a:cs typeface="Arial"/>
                <a:sym typeface="Arial"/>
              </a:rPr>
              <a:t>dapat</a:t>
            </a:r>
            <a:r>
              <a:rPr lang="en-US" sz="2400" dirty="0">
                <a:latin typeface="Arial"/>
                <a:ea typeface="Arial"/>
                <a:cs typeface="Arial"/>
                <a:sym typeface="Arial"/>
              </a:rPr>
              <a:t> </a:t>
            </a:r>
            <a:r>
              <a:rPr lang="en-US" sz="2400" dirty="0" err="1">
                <a:latin typeface="Arial"/>
                <a:ea typeface="Arial"/>
                <a:cs typeface="Arial"/>
                <a:sym typeface="Arial"/>
              </a:rPr>
              <a:t>melakukan</a:t>
            </a:r>
            <a:r>
              <a:rPr lang="en-US" sz="2400" dirty="0">
                <a:latin typeface="Arial"/>
                <a:ea typeface="Arial"/>
                <a:cs typeface="Arial"/>
                <a:sym typeface="Arial"/>
              </a:rPr>
              <a:t> </a:t>
            </a:r>
            <a:r>
              <a:rPr lang="en-US" sz="2400" dirty="0" err="1">
                <a:latin typeface="Arial"/>
                <a:ea typeface="Arial"/>
                <a:cs typeface="Arial"/>
                <a:sym typeface="Arial"/>
              </a:rPr>
              <a:t>ini</a:t>
            </a:r>
            <a:r>
              <a:rPr lang="en-US" sz="2400" dirty="0">
                <a:latin typeface="Arial"/>
                <a:ea typeface="Arial"/>
                <a:cs typeface="Arial"/>
                <a:sym typeface="Arial"/>
              </a:rPr>
              <a:t> </a:t>
            </a:r>
            <a:r>
              <a:rPr lang="en-US" sz="2400" dirty="0" err="1">
                <a:latin typeface="Arial"/>
                <a:ea typeface="Arial"/>
                <a:cs typeface="Arial"/>
                <a:sym typeface="Arial"/>
              </a:rPr>
              <a:t>dengan</a:t>
            </a:r>
            <a:r>
              <a:rPr lang="en-US" sz="2400" dirty="0">
                <a:latin typeface="Arial"/>
                <a:ea typeface="Arial"/>
                <a:cs typeface="Arial"/>
                <a:sym typeface="Arial"/>
              </a:rPr>
              <a:t> </a:t>
            </a:r>
            <a:r>
              <a:rPr lang="en-US" sz="2400" dirty="0" err="1">
                <a:latin typeface="Arial"/>
                <a:ea typeface="Arial"/>
                <a:cs typeface="Arial"/>
                <a:sym typeface="Arial"/>
              </a:rPr>
              <a:t>menggunakan</a:t>
            </a:r>
            <a:r>
              <a:rPr lang="en-US" sz="2400" dirty="0">
                <a:latin typeface="Arial"/>
                <a:ea typeface="Arial"/>
                <a:cs typeface="Arial"/>
                <a:sym typeface="Arial"/>
              </a:rPr>
              <a:t> "</a:t>
            </a:r>
            <a:r>
              <a:rPr lang="en-US" sz="2400" dirty="0" err="1">
                <a:latin typeface="Arial"/>
                <a:ea typeface="Arial"/>
                <a:cs typeface="Arial"/>
                <a:sym typeface="Arial"/>
              </a:rPr>
              <a:t>regplot</a:t>
            </a:r>
            <a:r>
              <a:rPr lang="en-US" sz="2400" dirty="0">
                <a:latin typeface="Arial"/>
                <a:ea typeface="Arial"/>
                <a:cs typeface="Arial"/>
                <a:sym typeface="Arial"/>
              </a:rPr>
              <a:t>". </a:t>
            </a:r>
          </a:p>
          <a:p>
            <a:pPr marL="457200" lvl="0" indent="-317500">
              <a:lnSpc>
                <a:spcPct val="115000"/>
              </a:lnSpc>
              <a:spcBef>
                <a:spcPts val="0"/>
              </a:spcBef>
              <a:buClr>
                <a:schemeClr val="dk1"/>
              </a:buClr>
              <a:buSzPts val="1400"/>
              <a:buChar char="●"/>
            </a:pPr>
            <a:r>
              <a:rPr lang="en-US" sz="2400" dirty="0" err="1">
                <a:latin typeface="Arial"/>
                <a:ea typeface="Arial"/>
                <a:cs typeface="Arial"/>
                <a:sym typeface="Arial"/>
              </a:rPr>
              <a:t>Fungsi</a:t>
            </a:r>
            <a:r>
              <a:rPr lang="en-US" sz="2400" dirty="0">
                <a:latin typeface="Arial"/>
                <a:ea typeface="Arial"/>
                <a:cs typeface="Arial"/>
                <a:sym typeface="Arial"/>
              </a:rPr>
              <a:t> </a:t>
            </a:r>
            <a:r>
              <a:rPr lang="en-US" sz="2400" dirty="0" err="1">
                <a:latin typeface="Arial"/>
                <a:ea typeface="Arial"/>
                <a:cs typeface="Arial"/>
                <a:sym typeface="Arial"/>
              </a:rPr>
              <a:t>ini</a:t>
            </a:r>
            <a:r>
              <a:rPr lang="en-US" sz="2400" dirty="0">
                <a:latin typeface="Arial"/>
                <a:ea typeface="Arial"/>
                <a:cs typeface="Arial"/>
                <a:sym typeface="Arial"/>
              </a:rPr>
              <a:t> yang </a:t>
            </a:r>
            <a:r>
              <a:rPr lang="en-US" sz="2400" dirty="0" err="1">
                <a:latin typeface="Arial"/>
                <a:ea typeface="Arial"/>
                <a:cs typeface="Arial"/>
                <a:sym typeface="Arial"/>
              </a:rPr>
              <a:t>memplot</a:t>
            </a:r>
            <a:r>
              <a:rPr lang="en-US" sz="2400" dirty="0">
                <a:latin typeface="Arial"/>
                <a:ea typeface="Arial"/>
                <a:cs typeface="Arial"/>
                <a:sym typeface="Arial"/>
              </a:rPr>
              <a:t> scatterplot </a:t>
            </a:r>
            <a:r>
              <a:rPr lang="en-US" sz="2400" dirty="0" err="1">
                <a:latin typeface="Arial"/>
                <a:ea typeface="Arial"/>
                <a:cs typeface="Arial"/>
                <a:sym typeface="Arial"/>
              </a:rPr>
              <a:t>ditambah</a:t>
            </a:r>
            <a:r>
              <a:rPr lang="en-US" sz="2400" dirty="0">
                <a:latin typeface="Arial"/>
                <a:ea typeface="Arial"/>
                <a:cs typeface="Arial"/>
                <a:sym typeface="Arial"/>
              </a:rPr>
              <a:t> garis </a:t>
            </a:r>
            <a:r>
              <a:rPr lang="en-US" sz="2400" dirty="0" err="1">
                <a:latin typeface="Arial"/>
                <a:ea typeface="Arial"/>
                <a:cs typeface="Arial"/>
                <a:sym typeface="Arial"/>
              </a:rPr>
              <a:t>regresi</a:t>
            </a:r>
            <a:r>
              <a:rPr lang="en-US" sz="2400" dirty="0">
                <a:latin typeface="Arial"/>
                <a:ea typeface="Arial"/>
                <a:cs typeface="Arial"/>
                <a:sym typeface="Arial"/>
              </a:rPr>
              <a:t> yang </a:t>
            </a:r>
            <a:r>
              <a:rPr lang="en-US" sz="2400" dirty="0" err="1">
                <a:latin typeface="Arial"/>
                <a:ea typeface="Arial"/>
                <a:cs typeface="Arial"/>
                <a:sym typeface="Arial"/>
              </a:rPr>
              <a:t>sesuai</a:t>
            </a:r>
            <a:r>
              <a:rPr lang="en-US" sz="2400" dirty="0">
                <a:latin typeface="Arial"/>
                <a:ea typeface="Arial"/>
                <a:cs typeface="Arial"/>
                <a:sym typeface="Arial"/>
              </a:rPr>
              <a:t> </a:t>
            </a:r>
            <a:r>
              <a:rPr lang="en-US" sz="2400" dirty="0" err="1">
                <a:latin typeface="Arial"/>
                <a:ea typeface="Arial"/>
                <a:cs typeface="Arial"/>
                <a:sym typeface="Arial"/>
              </a:rPr>
              <a:t>untuk</a:t>
            </a:r>
            <a:r>
              <a:rPr lang="en-US" sz="2400" dirty="0">
                <a:latin typeface="Arial"/>
                <a:ea typeface="Arial"/>
                <a:cs typeface="Arial"/>
                <a:sym typeface="Arial"/>
              </a:rPr>
              <a:t> data. </a:t>
            </a:r>
          </a:p>
          <a:p>
            <a:pPr marL="457200" lvl="0" indent="-317500">
              <a:lnSpc>
                <a:spcPct val="115000"/>
              </a:lnSpc>
              <a:spcBef>
                <a:spcPts val="0"/>
              </a:spcBef>
              <a:buClr>
                <a:schemeClr val="dk1"/>
              </a:buClr>
              <a:buSzPts val="1400"/>
              <a:buChar char="●"/>
            </a:pPr>
            <a:r>
              <a:rPr lang="en-US" sz="2400" dirty="0">
                <a:latin typeface="Arial"/>
                <a:ea typeface="Arial"/>
                <a:cs typeface="Arial"/>
                <a:sym typeface="Arial"/>
              </a:rPr>
              <a:t>Gambar di </a:t>
            </a:r>
            <a:r>
              <a:rPr lang="en-US" sz="2400" dirty="0" err="1">
                <a:latin typeface="Arial"/>
                <a:ea typeface="Arial"/>
                <a:cs typeface="Arial"/>
                <a:sym typeface="Arial"/>
              </a:rPr>
              <a:t>samping</a:t>
            </a:r>
            <a:r>
              <a:rPr lang="en-US" sz="2400" dirty="0">
                <a:latin typeface="Arial"/>
                <a:ea typeface="Arial"/>
                <a:cs typeface="Arial"/>
                <a:sym typeface="Arial"/>
              </a:rPr>
              <a:t> </a:t>
            </a:r>
            <a:r>
              <a:rPr lang="en-US" sz="2400" dirty="0" err="1">
                <a:latin typeface="Arial"/>
                <a:ea typeface="Arial"/>
                <a:cs typeface="Arial"/>
                <a:sym typeface="Arial"/>
              </a:rPr>
              <a:t>ini</a:t>
            </a:r>
            <a:r>
              <a:rPr lang="en-US" sz="2400" dirty="0">
                <a:latin typeface="Arial"/>
                <a:ea typeface="Arial"/>
                <a:cs typeface="Arial"/>
                <a:sym typeface="Arial"/>
              </a:rPr>
              <a:t> </a:t>
            </a:r>
            <a:r>
              <a:rPr lang="en-US" sz="2400" dirty="0" err="1">
                <a:latin typeface="Arial"/>
                <a:ea typeface="Arial"/>
                <a:cs typeface="Arial"/>
                <a:sym typeface="Arial"/>
              </a:rPr>
              <a:t>memperlihatkan</a:t>
            </a:r>
            <a:r>
              <a:rPr lang="en-US" sz="2400" dirty="0">
                <a:latin typeface="Arial"/>
                <a:ea typeface="Arial"/>
                <a:cs typeface="Arial"/>
                <a:sym typeface="Arial"/>
              </a:rPr>
              <a:t> </a:t>
            </a:r>
            <a:r>
              <a:rPr lang="en-US" sz="2400" dirty="0" err="1">
                <a:latin typeface="Arial"/>
                <a:ea typeface="Arial"/>
                <a:cs typeface="Arial"/>
                <a:sym typeface="Arial"/>
              </a:rPr>
              <a:t>hubungan</a:t>
            </a:r>
            <a:r>
              <a:rPr lang="en-US" sz="2400" dirty="0">
                <a:latin typeface="Arial"/>
                <a:ea typeface="Arial"/>
                <a:cs typeface="Arial"/>
                <a:sym typeface="Arial"/>
              </a:rPr>
              <a:t> </a:t>
            </a:r>
            <a:r>
              <a:rPr lang="en-US" sz="2400" dirty="0" err="1">
                <a:latin typeface="Arial"/>
                <a:ea typeface="Arial"/>
                <a:cs typeface="Arial"/>
                <a:sym typeface="Arial"/>
              </a:rPr>
              <a:t>korelasi</a:t>
            </a:r>
            <a:r>
              <a:rPr lang="en-US" sz="2400" dirty="0">
                <a:latin typeface="Arial"/>
                <a:ea typeface="Arial"/>
                <a:cs typeface="Arial"/>
                <a:sym typeface="Arial"/>
              </a:rPr>
              <a:t> </a:t>
            </a:r>
            <a:r>
              <a:rPr lang="en-US" sz="2400" dirty="0" err="1">
                <a:latin typeface="Arial"/>
                <a:ea typeface="Arial"/>
                <a:cs typeface="Arial"/>
                <a:sym typeface="Arial"/>
              </a:rPr>
              <a:t>positif</a:t>
            </a:r>
            <a:r>
              <a:rPr lang="en-US" sz="2400" dirty="0">
                <a:latin typeface="Arial"/>
                <a:ea typeface="Arial"/>
                <a:cs typeface="Arial"/>
                <a:sym typeface="Arial"/>
              </a:rPr>
              <a:t> </a:t>
            </a:r>
            <a:r>
              <a:rPr lang="en-US" sz="2400" dirty="0" err="1">
                <a:latin typeface="Arial"/>
                <a:ea typeface="Arial"/>
                <a:cs typeface="Arial"/>
                <a:sym typeface="Arial"/>
              </a:rPr>
              <a:t>kuat</a:t>
            </a:r>
            <a:r>
              <a:rPr lang="en-US" sz="2400" dirty="0">
                <a:latin typeface="Arial"/>
                <a:ea typeface="Arial"/>
                <a:cs typeface="Arial"/>
                <a:sym typeface="Arial"/>
              </a:rPr>
              <a:t> </a:t>
            </a:r>
            <a:r>
              <a:rPr lang="en-US" sz="2400" dirty="0" err="1">
                <a:latin typeface="Arial"/>
                <a:ea typeface="Arial"/>
                <a:cs typeface="Arial"/>
                <a:sym typeface="Arial"/>
              </a:rPr>
              <a:t>antara</a:t>
            </a:r>
            <a:r>
              <a:rPr lang="en-US" sz="2400" dirty="0">
                <a:latin typeface="Arial"/>
                <a:ea typeface="Arial"/>
                <a:cs typeface="Arial"/>
                <a:sym typeface="Arial"/>
              </a:rPr>
              <a:t> variable.</a:t>
            </a:r>
          </a:p>
          <a:p>
            <a:pPr marL="457200" lvl="0" indent="-317500">
              <a:lnSpc>
                <a:spcPct val="115000"/>
              </a:lnSpc>
              <a:spcBef>
                <a:spcPts val="0"/>
              </a:spcBef>
              <a:buClr>
                <a:schemeClr val="dk1"/>
              </a:buClr>
              <a:buSzPts val="1400"/>
              <a:buChar char="●"/>
            </a:pPr>
            <a:r>
              <a:rPr lang="en-US" sz="2400" dirty="0">
                <a:latin typeface="Arial"/>
                <a:ea typeface="Arial"/>
                <a:cs typeface="Arial"/>
                <a:sym typeface="Arial"/>
              </a:rPr>
              <a:t>Kita </a:t>
            </a:r>
            <a:r>
              <a:rPr lang="en-US" sz="2400" dirty="0" err="1">
                <a:latin typeface="Arial"/>
                <a:ea typeface="Arial"/>
                <a:cs typeface="Arial"/>
                <a:sym typeface="Arial"/>
              </a:rPr>
              <a:t>dapat</a:t>
            </a:r>
            <a:r>
              <a:rPr lang="en-US" sz="2400" dirty="0">
                <a:latin typeface="Arial"/>
                <a:ea typeface="Arial"/>
                <a:cs typeface="Arial"/>
                <a:sym typeface="Arial"/>
              </a:rPr>
              <a:t> </a:t>
            </a:r>
            <a:r>
              <a:rPr lang="en-US" sz="2400" dirty="0" err="1">
                <a:latin typeface="Arial"/>
                <a:ea typeface="Arial"/>
                <a:cs typeface="Arial"/>
                <a:sym typeface="Arial"/>
              </a:rPr>
              <a:t>memeriksa</a:t>
            </a:r>
            <a:r>
              <a:rPr lang="en-US" sz="2400" dirty="0">
                <a:latin typeface="Arial"/>
                <a:ea typeface="Arial"/>
                <a:cs typeface="Arial"/>
                <a:sym typeface="Arial"/>
              </a:rPr>
              <a:t> </a:t>
            </a:r>
            <a:r>
              <a:rPr lang="en-US" sz="2400" dirty="0" err="1">
                <a:latin typeface="Arial"/>
                <a:ea typeface="Arial"/>
                <a:cs typeface="Arial"/>
                <a:sym typeface="Arial"/>
              </a:rPr>
              <a:t>korelasi</a:t>
            </a:r>
            <a:r>
              <a:rPr lang="en-US" sz="2400" dirty="0">
                <a:latin typeface="Arial"/>
                <a:ea typeface="Arial"/>
                <a:cs typeface="Arial"/>
                <a:sym typeface="Arial"/>
              </a:rPr>
              <a:t> </a:t>
            </a:r>
            <a:r>
              <a:rPr lang="en-US" sz="2400" dirty="0" err="1">
                <a:latin typeface="Arial"/>
                <a:ea typeface="Arial"/>
                <a:cs typeface="Arial"/>
                <a:sym typeface="Arial"/>
              </a:rPr>
              <a:t>antara</a:t>
            </a:r>
            <a:r>
              <a:rPr lang="en-US" sz="2400" dirty="0">
                <a:latin typeface="Arial"/>
                <a:ea typeface="Arial"/>
                <a:cs typeface="Arial"/>
                <a:sym typeface="Arial"/>
              </a:rPr>
              <a:t> engine-size dan </a:t>
            </a:r>
            <a:r>
              <a:rPr lang="en-US" sz="2400" dirty="0" err="1">
                <a:latin typeface="Arial"/>
                <a:ea typeface="Arial"/>
                <a:cs typeface="Arial"/>
                <a:sym typeface="Arial"/>
              </a:rPr>
              <a:t>harga</a:t>
            </a:r>
            <a:r>
              <a:rPr lang="en-US" sz="2400" dirty="0">
                <a:latin typeface="Arial"/>
                <a:ea typeface="Arial"/>
                <a:cs typeface="Arial"/>
                <a:sym typeface="Arial"/>
              </a:rPr>
              <a:t> </a:t>
            </a:r>
            <a:r>
              <a:rPr lang="en-US" sz="2400" dirty="0" err="1">
                <a:latin typeface="Arial"/>
                <a:ea typeface="Arial"/>
                <a:cs typeface="Arial"/>
                <a:sym typeface="Arial"/>
              </a:rPr>
              <a:t>sekitar</a:t>
            </a:r>
            <a:r>
              <a:rPr lang="en-US" sz="2400" dirty="0">
                <a:latin typeface="Arial"/>
                <a:ea typeface="Arial"/>
                <a:cs typeface="Arial"/>
                <a:sym typeface="Arial"/>
              </a:rPr>
              <a:t> 0,87</a:t>
            </a:r>
          </a:p>
          <a:p>
            <a:pPr marL="457200" indent="-317500">
              <a:lnSpc>
                <a:spcPct val="115000"/>
              </a:lnSpc>
              <a:spcBef>
                <a:spcPts val="0"/>
              </a:spcBef>
              <a:buClr>
                <a:schemeClr val="dk1"/>
              </a:buClr>
              <a:buSzPts val="1400"/>
              <a:buFont typeface="Arial" panose="020B0604020202020204" pitchFamily="34" charset="0"/>
              <a:buChar char="●"/>
            </a:pPr>
            <a:r>
              <a:rPr lang="en-US" sz="2400" dirty="0">
                <a:solidFill>
                  <a:schemeClr val="dk1"/>
                </a:solidFill>
                <a:latin typeface="Arial"/>
                <a:ea typeface="Arial"/>
                <a:cs typeface="Arial"/>
                <a:sym typeface="Arial"/>
              </a:rPr>
              <a:t>Saat </a:t>
            </a:r>
            <a:r>
              <a:rPr lang="en-US" sz="2400" dirty="0" err="1">
                <a:solidFill>
                  <a:schemeClr val="dk1"/>
                </a:solidFill>
                <a:latin typeface="Arial"/>
                <a:ea typeface="Arial"/>
                <a:cs typeface="Arial"/>
                <a:sym typeface="Arial"/>
              </a:rPr>
              <a:t>kapasitas</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mesin</a:t>
            </a:r>
            <a:r>
              <a:rPr lang="en-US" sz="2400" dirty="0">
                <a:solidFill>
                  <a:schemeClr val="dk1"/>
                </a:solidFill>
                <a:latin typeface="Arial"/>
                <a:ea typeface="Arial"/>
                <a:cs typeface="Arial"/>
                <a:sym typeface="Arial"/>
              </a:rPr>
              <a:t> naik, </a:t>
            </a:r>
            <a:r>
              <a:rPr lang="en-US" sz="2400" dirty="0" err="1">
                <a:solidFill>
                  <a:schemeClr val="dk1"/>
                </a:solidFill>
                <a:latin typeface="Arial"/>
                <a:ea typeface="Arial"/>
                <a:cs typeface="Arial"/>
                <a:sym typeface="Arial"/>
              </a:rPr>
              <a:t>harga</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mobil</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tersebut</a:t>
            </a:r>
            <a:r>
              <a:rPr lang="en-US" sz="2400" dirty="0">
                <a:solidFill>
                  <a:schemeClr val="dk1"/>
                </a:solidFill>
                <a:latin typeface="Arial"/>
                <a:ea typeface="Arial"/>
                <a:cs typeface="Arial"/>
                <a:sym typeface="Arial"/>
              </a:rPr>
              <a:t> juga </a:t>
            </a:r>
            <a:r>
              <a:rPr lang="en-US" sz="2400" dirty="0" err="1">
                <a:solidFill>
                  <a:schemeClr val="dk1"/>
                </a:solidFill>
                <a:latin typeface="Arial"/>
                <a:ea typeface="Arial"/>
                <a:cs typeface="Arial"/>
                <a:sym typeface="Arial"/>
              </a:rPr>
              <a:t>tinggi</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ini</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menunjukkan</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hubungan</a:t>
            </a:r>
            <a:r>
              <a:rPr lang="en-US" sz="2400" dirty="0">
                <a:solidFill>
                  <a:schemeClr val="dk1"/>
                </a:solidFill>
                <a:latin typeface="Arial"/>
                <a:ea typeface="Arial"/>
                <a:cs typeface="Arial"/>
                <a:sym typeface="Arial"/>
              </a:rPr>
              <a:t> linier </a:t>
            </a:r>
            <a:r>
              <a:rPr lang="en-US" sz="2400" dirty="0" err="1">
                <a:solidFill>
                  <a:schemeClr val="dk1"/>
                </a:solidFill>
                <a:latin typeface="Arial"/>
                <a:ea typeface="Arial"/>
                <a:cs typeface="Arial"/>
                <a:sym typeface="Arial"/>
              </a:rPr>
              <a:t>antara</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kedua</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variabel</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ini</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Ukuran</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mesin</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berpotensi</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menjadi</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prediktor</a:t>
            </a:r>
            <a:r>
              <a:rPr lang="en-US" sz="2400" dirty="0">
                <a:solidFill>
                  <a:schemeClr val="dk1"/>
                </a:solidFill>
                <a:latin typeface="Arial"/>
                <a:ea typeface="Arial"/>
                <a:cs typeface="Arial"/>
                <a:sym typeface="Arial"/>
              </a:rPr>
              <a:t> </a:t>
            </a:r>
            <a:r>
              <a:rPr lang="en-US" sz="2400" dirty="0" err="1">
                <a:solidFill>
                  <a:schemeClr val="dk1"/>
                </a:solidFill>
                <a:latin typeface="Arial"/>
                <a:ea typeface="Arial"/>
                <a:cs typeface="Arial"/>
                <a:sym typeface="Arial"/>
              </a:rPr>
              <a:t>harga</a:t>
            </a:r>
            <a:r>
              <a:rPr lang="en-US" sz="2400" dirty="0">
                <a:solidFill>
                  <a:schemeClr val="dk1"/>
                </a:solidFill>
                <a:latin typeface="Arial"/>
                <a:ea typeface="Arial"/>
                <a:cs typeface="Arial"/>
                <a:sym typeface="Arial"/>
              </a:rPr>
              <a:t>.</a:t>
            </a:r>
          </a:p>
        </p:txBody>
      </p:sp>
      <p:pic>
        <p:nvPicPr>
          <p:cNvPr id="6" name="Google Shape;508;p60">
            <a:extLst>
              <a:ext uri="{FF2B5EF4-FFF2-40B4-BE49-F238E27FC236}">
                <a16:creationId xmlns:a16="http://schemas.microsoft.com/office/drawing/2014/main" id="{5C2996BF-2A3F-02CB-D2D0-964D1001EFA4}"/>
              </a:ext>
            </a:extLst>
          </p:cNvPr>
          <p:cNvPicPr preferRelativeResize="0"/>
          <p:nvPr/>
        </p:nvPicPr>
        <p:blipFill rotWithShape="1">
          <a:blip r:embed="rId2">
            <a:alphaModFix/>
          </a:blip>
          <a:srcRect/>
          <a:stretch/>
        </p:blipFill>
        <p:spPr>
          <a:xfrm>
            <a:off x="7863840" y="3377795"/>
            <a:ext cx="4119880" cy="2785538"/>
          </a:xfrm>
          <a:prstGeom prst="rect">
            <a:avLst/>
          </a:prstGeom>
          <a:noFill/>
          <a:ln>
            <a:noFill/>
          </a:ln>
        </p:spPr>
      </p:pic>
      <p:pic>
        <p:nvPicPr>
          <p:cNvPr id="9" name="Google Shape;510;p60">
            <a:extLst>
              <a:ext uri="{FF2B5EF4-FFF2-40B4-BE49-F238E27FC236}">
                <a16:creationId xmlns:a16="http://schemas.microsoft.com/office/drawing/2014/main" id="{DC98130A-C335-55E6-DF6A-7353F361ACAE}"/>
              </a:ext>
            </a:extLst>
          </p:cNvPr>
          <p:cNvPicPr preferRelativeResize="0"/>
          <p:nvPr/>
        </p:nvPicPr>
        <p:blipFill rotWithShape="1">
          <a:blip r:embed="rId3">
            <a:alphaModFix/>
          </a:blip>
          <a:srcRect/>
          <a:stretch/>
        </p:blipFill>
        <p:spPr>
          <a:xfrm>
            <a:off x="8777263" y="1865433"/>
            <a:ext cx="3206457" cy="1238875"/>
          </a:xfrm>
          <a:prstGeom prst="rect">
            <a:avLst/>
          </a:prstGeom>
          <a:noFill/>
          <a:ln>
            <a:noFill/>
          </a:ln>
        </p:spPr>
      </p:pic>
    </p:spTree>
    <p:extLst>
      <p:ext uri="{BB962C8B-B14F-4D97-AF65-F5344CB8AC3E}">
        <p14:creationId xmlns:p14="http://schemas.microsoft.com/office/powerpoint/2010/main" val="12296863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A5975-ED29-8B96-6A20-5CDB7081B9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8EDF7C-9D5E-47EC-1837-9ECF223B8655}"/>
              </a:ext>
            </a:extLst>
          </p:cNvPr>
          <p:cNvSpPr>
            <a:spLocks noGrp="1"/>
          </p:cNvSpPr>
          <p:nvPr>
            <p:ph type="title"/>
          </p:nvPr>
        </p:nvSpPr>
        <p:spPr>
          <a:xfrm>
            <a:off x="838200" y="365125"/>
            <a:ext cx="10515600" cy="915035"/>
          </a:xfrm>
        </p:spPr>
        <p:txBody>
          <a:bodyPr>
            <a:normAutofit/>
          </a:bodyPr>
          <a:lstStyle/>
          <a:p>
            <a:r>
              <a:rPr lang="en-US" b="1" dirty="0"/>
              <a:t>Correlation &amp; Causation</a:t>
            </a:r>
            <a:endParaRPr lang="en-US" dirty="0"/>
          </a:p>
        </p:txBody>
      </p:sp>
      <p:sp>
        <p:nvSpPr>
          <p:cNvPr id="3" name="Content Placeholder 2">
            <a:extLst>
              <a:ext uri="{FF2B5EF4-FFF2-40B4-BE49-F238E27FC236}">
                <a16:creationId xmlns:a16="http://schemas.microsoft.com/office/drawing/2014/main" id="{D75979DF-8A30-1261-9622-3A20F3101AED}"/>
              </a:ext>
            </a:extLst>
          </p:cNvPr>
          <p:cNvSpPr>
            <a:spLocks noGrp="1"/>
          </p:cNvSpPr>
          <p:nvPr>
            <p:ph idx="1"/>
          </p:nvPr>
        </p:nvSpPr>
        <p:spPr>
          <a:xfrm>
            <a:off x="208280" y="1591945"/>
            <a:ext cx="7974573" cy="4351338"/>
          </a:xfrm>
        </p:spPr>
        <p:txBody>
          <a:bodyPr>
            <a:normAutofit/>
          </a:bodyPr>
          <a:lstStyle/>
          <a:p>
            <a:pPr marL="457200" lvl="0" indent="-330200">
              <a:lnSpc>
                <a:spcPct val="115000"/>
              </a:lnSpc>
              <a:spcBef>
                <a:spcPts val="0"/>
              </a:spcBef>
              <a:buClr>
                <a:schemeClr val="dk1"/>
              </a:buClr>
              <a:buSzPts val="1600"/>
              <a:buChar char="●"/>
            </a:pPr>
            <a:r>
              <a:rPr lang="en-US" sz="2400" dirty="0">
                <a:latin typeface="Arial"/>
                <a:ea typeface="Arial"/>
                <a:cs typeface="Arial"/>
                <a:sym typeface="Arial"/>
              </a:rPr>
              <a:t>Peak rpm </a:t>
            </a:r>
            <a:r>
              <a:rPr lang="en-US" sz="2400" dirty="0" err="1">
                <a:latin typeface="Arial"/>
                <a:ea typeface="Arial"/>
                <a:cs typeface="Arial"/>
                <a:sym typeface="Arial"/>
              </a:rPr>
              <a:t>sepertinya</a:t>
            </a:r>
            <a:r>
              <a:rPr lang="en-US" sz="2400" dirty="0">
                <a:latin typeface="Arial"/>
                <a:ea typeface="Arial"/>
                <a:cs typeface="Arial"/>
                <a:sym typeface="Arial"/>
              </a:rPr>
              <a:t> </a:t>
            </a:r>
            <a:r>
              <a:rPr lang="en-US" sz="2400" dirty="0" err="1">
                <a:latin typeface="Arial"/>
                <a:ea typeface="Arial"/>
                <a:cs typeface="Arial"/>
                <a:sym typeface="Arial"/>
              </a:rPr>
              <a:t>bukan</a:t>
            </a:r>
            <a:r>
              <a:rPr lang="en-US" sz="2400" dirty="0">
                <a:latin typeface="Arial"/>
                <a:ea typeface="Arial"/>
                <a:cs typeface="Arial"/>
                <a:sym typeface="Arial"/>
              </a:rPr>
              <a:t> </a:t>
            </a:r>
            <a:r>
              <a:rPr lang="en-US" sz="2400" dirty="0" err="1">
                <a:latin typeface="Arial"/>
                <a:ea typeface="Arial"/>
                <a:cs typeface="Arial"/>
                <a:sym typeface="Arial"/>
              </a:rPr>
              <a:t>merupakan</a:t>
            </a:r>
            <a:r>
              <a:rPr lang="en-US" sz="2400" dirty="0">
                <a:latin typeface="Arial"/>
                <a:ea typeface="Arial"/>
                <a:cs typeface="Arial"/>
                <a:sym typeface="Arial"/>
              </a:rPr>
              <a:t> </a:t>
            </a:r>
            <a:r>
              <a:rPr lang="en-US" sz="2400" dirty="0" err="1">
                <a:latin typeface="Arial"/>
                <a:ea typeface="Arial"/>
                <a:cs typeface="Arial"/>
                <a:sym typeface="Arial"/>
              </a:rPr>
              <a:t>prediktor</a:t>
            </a:r>
            <a:r>
              <a:rPr lang="en-US" sz="2400" dirty="0">
                <a:latin typeface="Arial"/>
                <a:ea typeface="Arial"/>
                <a:cs typeface="Arial"/>
                <a:sym typeface="Arial"/>
              </a:rPr>
              <a:t> </a:t>
            </a:r>
            <a:r>
              <a:rPr lang="en-US" sz="2400" dirty="0" err="1">
                <a:latin typeface="Arial"/>
                <a:ea typeface="Arial"/>
                <a:cs typeface="Arial"/>
                <a:sym typeface="Arial"/>
              </a:rPr>
              <a:t>harga</a:t>
            </a:r>
            <a:r>
              <a:rPr lang="en-US" sz="2400" dirty="0">
                <a:latin typeface="Arial"/>
                <a:ea typeface="Arial"/>
                <a:cs typeface="Arial"/>
                <a:sym typeface="Arial"/>
              </a:rPr>
              <a:t> yang </a:t>
            </a:r>
            <a:r>
              <a:rPr lang="en-US" sz="2400" dirty="0" err="1">
                <a:latin typeface="Arial"/>
                <a:ea typeface="Arial"/>
                <a:cs typeface="Arial"/>
                <a:sym typeface="Arial"/>
              </a:rPr>
              <a:t>baik</a:t>
            </a:r>
            <a:r>
              <a:rPr lang="en-US" sz="2400" dirty="0">
                <a:latin typeface="Arial"/>
                <a:ea typeface="Arial"/>
                <a:cs typeface="Arial"/>
                <a:sym typeface="Arial"/>
              </a:rPr>
              <a:t> </a:t>
            </a:r>
            <a:r>
              <a:rPr lang="en-US" sz="2400" dirty="0" err="1">
                <a:latin typeface="Arial"/>
                <a:ea typeface="Arial"/>
                <a:cs typeface="Arial"/>
                <a:sym typeface="Arial"/>
              </a:rPr>
              <a:t>karena</a:t>
            </a:r>
            <a:r>
              <a:rPr lang="en-US" sz="2400" dirty="0">
                <a:latin typeface="Arial"/>
                <a:ea typeface="Arial"/>
                <a:cs typeface="Arial"/>
                <a:sym typeface="Arial"/>
              </a:rPr>
              <a:t> garis </a:t>
            </a:r>
            <a:r>
              <a:rPr lang="en-US" sz="2400" dirty="0" err="1">
                <a:latin typeface="Arial"/>
                <a:ea typeface="Arial"/>
                <a:cs typeface="Arial"/>
                <a:sym typeface="Arial"/>
              </a:rPr>
              <a:t>regresinya</a:t>
            </a:r>
            <a:r>
              <a:rPr lang="en-US" sz="2400" dirty="0">
                <a:latin typeface="Arial"/>
                <a:ea typeface="Arial"/>
                <a:cs typeface="Arial"/>
                <a:sym typeface="Arial"/>
              </a:rPr>
              <a:t> </a:t>
            </a:r>
            <a:r>
              <a:rPr lang="en-US" sz="2400" dirty="0" err="1">
                <a:latin typeface="Arial"/>
                <a:ea typeface="Arial"/>
                <a:cs typeface="Arial"/>
                <a:sym typeface="Arial"/>
              </a:rPr>
              <a:t>mendekati</a:t>
            </a:r>
            <a:r>
              <a:rPr lang="en-US" sz="2400" dirty="0">
                <a:latin typeface="Arial"/>
                <a:ea typeface="Arial"/>
                <a:cs typeface="Arial"/>
                <a:sym typeface="Arial"/>
              </a:rPr>
              <a:t> horizontal. </a:t>
            </a:r>
            <a:endParaRPr lang="en-US" sz="3600" dirty="0">
              <a:latin typeface="Arial"/>
              <a:ea typeface="Arial"/>
              <a:cs typeface="Arial"/>
              <a:sym typeface="Arial"/>
            </a:endParaRPr>
          </a:p>
          <a:p>
            <a:pPr marL="457200" lvl="0" indent="-330200">
              <a:lnSpc>
                <a:spcPct val="115000"/>
              </a:lnSpc>
              <a:spcBef>
                <a:spcPts val="0"/>
              </a:spcBef>
              <a:buClr>
                <a:schemeClr val="dk1"/>
              </a:buClr>
              <a:buSzPts val="1600"/>
              <a:buChar char="●"/>
            </a:pPr>
            <a:r>
              <a:rPr lang="en-US" sz="2400" dirty="0">
                <a:latin typeface="Arial"/>
                <a:ea typeface="Arial"/>
                <a:cs typeface="Arial"/>
                <a:sym typeface="Arial"/>
              </a:rPr>
              <a:t>Juga, </a:t>
            </a:r>
            <a:r>
              <a:rPr lang="en-US" sz="2400" dirty="0" err="1">
                <a:latin typeface="Arial"/>
                <a:ea typeface="Arial"/>
                <a:cs typeface="Arial"/>
                <a:sym typeface="Arial"/>
              </a:rPr>
              <a:t>titik-titik</a:t>
            </a:r>
            <a:r>
              <a:rPr lang="en-US" sz="2400" dirty="0">
                <a:latin typeface="Arial"/>
                <a:ea typeface="Arial"/>
                <a:cs typeface="Arial"/>
                <a:sym typeface="Arial"/>
              </a:rPr>
              <a:t> data sangat </a:t>
            </a:r>
            <a:r>
              <a:rPr lang="en-US" sz="2400" dirty="0" err="1">
                <a:latin typeface="Arial"/>
                <a:ea typeface="Arial"/>
                <a:cs typeface="Arial"/>
                <a:sym typeface="Arial"/>
              </a:rPr>
              <a:t>tersebar</a:t>
            </a:r>
            <a:r>
              <a:rPr lang="en-US" sz="2400" dirty="0">
                <a:latin typeface="Arial"/>
                <a:ea typeface="Arial"/>
                <a:cs typeface="Arial"/>
                <a:sym typeface="Arial"/>
              </a:rPr>
              <a:t> dan </a:t>
            </a:r>
            <a:r>
              <a:rPr lang="en-US" sz="2400" dirty="0" err="1">
                <a:latin typeface="Arial"/>
                <a:ea typeface="Arial"/>
                <a:cs typeface="Arial"/>
                <a:sym typeface="Arial"/>
              </a:rPr>
              <a:t>jauh</a:t>
            </a:r>
            <a:r>
              <a:rPr lang="en-US" sz="2400" dirty="0">
                <a:latin typeface="Arial"/>
                <a:ea typeface="Arial"/>
                <a:cs typeface="Arial"/>
                <a:sym typeface="Arial"/>
              </a:rPr>
              <a:t> </a:t>
            </a:r>
            <a:r>
              <a:rPr lang="en-US" sz="2400" dirty="0" err="1">
                <a:latin typeface="Arial"/>
                <a:ea typeface="Arial"/>
                <a:cs typeface="Arial"/>
                <a:sym typeface="Arial"/>
              </a:rPr>
              <a:t>dari</a:t>
            </a:r>
            <a:r>
              <a:rPr lang="en-US" sz="2400" dirty="0">
                <a:latin typeface="Arial"/>
                <a:ea typeface="Arial"/>
                <a:cs typeface="Arial"/>
                <a:sym typeface="Arial"/>
              </a:rPr>
              <a:t> garis pas, </a:t>
            </a:r>
            <a:r>
              <a:rPr lang="en-US" sz="2400" dirty="0" err="1">
                <a:latin typeface="Arial"/>
                <a:ea typeface="Arial"/>
                <a:cs typeface="Arial"/>
                <a:sym typeface="Arial"/>
              </a:rPr>
              <a:t>menunjukkan</a:t>
            </a:r>
            <a:r>
              <a:rPr lang="en-US" sz="2400" dirty="0">
                <a:latin typeface="Arial"/>
                <a:ea typeface="Arial"/>
                <a:cs typeface="Arial"/>
                <a:sym typeface="Arial"/>
              </a:rPr>
              <a:t> </a:t>
            </a:r>
            <a:r>
              <a:rPr lang="en-US" sz="2400" dirty="0" err="1">
                <a:latin typeface="Arial"/>
                <a:ea typeface="Arial"/>
                <a:cs typeface="Arial"/>
                <a:sym typeface="Arial"/>
              </a:rPr>
              <a:t>banyak</a:t>
            </a:r>
            <a:r>
              <a:rPr lang="en-US" sz="2400" dirty="0">
                <a:latin typeface="Arial"/>
                <a:ea typeface="Arial"/>
                <a:cs typeface="Arial"/>
                <a:sym typeface="Arial"/>
              </a:rPr>
              <a:t> </a:t>
            </a:r>
            <a:r>
              <a:rPr lang="en-US" sz="2400" dirty="0" err="1">
                <a:latin typeface="Arial"/>
                <a:ea typeface="Arial"/>
                <a:cs typeface="Arial"/>
                <a:sym typeface="Arial"/>
              </a:rPr>
              <a:t>variabilitas</a:t>
            </a:r>
            <a:r>
              <a:rPr lang="en-US" sz="2400" dirty="0">
                <a:latin typeface="Arial"/>
                <a:ea typeface="Arial"/>
                <a:cs typeface="Arial"/>
                <a:sym typeface="Arial"/>
              </a:rPr>
              <a:t>. </a:t>
            </a:r>
            <a:endParaRPr lang="en-US" sz="3600" dirty="0">
              <a:latin typeface="Arial"/>
              <a:ea typeface="Arial"/>
              <a:cs typeface="Arial"/>
              <a:sym typeface="Arial"/>
            </a:endParaRPr>
          </a:p>
          <a:p>
            <a:pPr marL="457200" lvl="0" indent="-330200">
              <a:lnSpc>
                <a:spcPct val="115000"/>
              </a:lnSpc>
              <a:spcBef>
                <a:spcPts val="0"/>
              </a:spcBef>
              <a:buClr>
                <a:schemeClr val="dk1"/>
              </a:buClr>
              <a:buSzPts val="1600"/>
              <a:buChar char="●"/>
            </a:pPr>
            <a:r>
              <a:rPr lang="en-US" sz="2400" dirty="0">
                <a:latin typeface="Arial"/>
                <a:ea typeface="Arial"/>
                <a:cs typeface="Arial"/>
                <a:sym typeface="Arial"/>
              </a:rPr>
              <a:t>Oleh </a:t>
            </a:r>
            <a:r>
              <a:rPr lang="en-US" sz="2400" dirty="0" err="1">
                <a:latin typeface="Arial"/>
                <a:ea typeface="Arial"/>
                <a:cs typeface="Arial"/>
                <a:sym typeface="Arial"/>
              </a:rPr>
              <a:t>karena</a:t>
            </a:r>
            <a:r>
              <a:rPr lang="en-US" sz="2400" dirty="0">
                <a:latin typeface="Arial"/>
                <a:ea typeface="Arial"/>
                <a:cs typeface="Arial"/>
                <a:sym typeface="Arial"/>
              </a:rPr>
              <a:t> </a:t>
            </a:r>
            <a:r>
              <a:rPr lang="en-US" sz="2400" dirty="0" err="1">
                <a:latin typeface="Arial"/>
                <a:ea typeface="Arial"/>
                <a:cs typeface="Arial"/>
                <a:sym typeface="Arial"/>
              </a:rPr>
              <a:t>itu</a:t>
            </a:r>
            <a:r>
              <a:rPr lang="en-US" sz="2400" dirty="0">
                <a:latin typeface="Arial"/>
                <a:ea typeface="Arial"/>
                <a:cs typeface="Arial"/>
                <a:sym typeface="Arial"/>
              </a:rPr>
              <a:t> </a:t>
            </a:r>
            <a:r>
              <a:rPr lang="en-US" sz="2400" dirty="0" err="1">
                <a:latin typeface="Arial"/>
                <a:ea typeface="Arial"/>
                <a:cs typeface="Arial"/>
                <a:sym typeface="Arial"/>
              </a:rPr>
              <a:t>itu</a:t>
            </a:r>
            <a:r>
              <a:rPr lang="en-US" sz="2400" dirty="0">
                <a:latin typeface="Arial"/>
                <a:ea typeface="Arial"/>
                <a:cs typeface="Arial"/>
                <a:sym typeface="Arial"/>
              </a:rPr>
              <a:t> </a:t>
            </a:r>
            <a:r>
              <a:rPr lang="en-US" sz="2400" dirty="0" err="1">
                <a:latin typeface="Arial"/>
                <a:ea typeface="Arial"/>
                <a:cs typeface="Arial"/>
                <a:sym typeface="Arial"/>
              </a:rPr>
              <a:t>bukan</a:t>
            </a:r>
            <a:r>
              <a:rPr lang="en-US" sz="2400" dirty="0">
                <a:latin typeface="Arial"/>
                <a:ea typeface="Arial"/>
                <a:cs typeface="Arial"/>
                <a:sym typeface="Arial"/>
              </a:rPr>
              <a:t> </a:t>
            </a:r>
            <a:r>
              <a:rPr lang="en-US" sz="2400" dirty="0" err="1">
                <a:latin typeface="Arial"/>
                <a:ea typeface="Arial"/>
                <a:cs typeface="Arial"/>
                <a:sym typeface="Arial"/>
              </a:rPr>
              <a:t>variabel</a:t>
            </a:r>
            <a:r>
              <a:rPr lang="en-US" sz="2400" dirty="0">
                <a:latin typeface="Arial"/>
                <a:ea typeface="Arial"/>
                <a:cs typeface="Arial"/>
                <a:sym typeface="Arial"/>
              </a:rPr>
              <a:t> yang </a:t>
            </a:r>
            <a:r>
              <a:rPr lang="en-US" sz="2400" dirty="0" err="1">
                <a:latin typeface="Arial"/>
                <a:ea typeface="Arial"/>
                <a:cs typeface="Arial"/>
                <a:sym typeface="Arial"/>
              </a:rPr>
              <a:t>dapat</a:t>
            </a:r>
            <a:r>
              <a:rPr lang="en-US" sz="2400" dirty="0">
                <a:latin typeface="Arial"/>
                <a:ea typeface="Arial"/>
                <a:cs typeface="Arial"/>
                <a:sym typeface="Arial"/>
              </a:rPr>
              <a:t> </a:t>
            </a:r>
            <a:r>
              <a:rPr lang="en-US" sz="2400" dirty="0" err="1">
                <a:latin typeface="Arial"/>
                <a:ea typeface="Arial"/>
                <a:cs typeface="Arial"/>
                <a:sym typeface="Arial"/>
              </a:rPr>
              <a:t>diandalkan</a:t>
            </a:r>
            <a:r>
              <a:rPr lang="en-US" sz="2400" dirty="0">
                <a:latin typeface="Arial"/>
                <a:ea typeface="Arial"/>
                <a:cs typeface="Arial"/>
                <a:sym typeface="Arial"/>
              </a:rPr>
              <a:t> </a:t>
            </a:r>
            <a:r>
              <a:rPr lang="en-US" sz="2400" dirty="0" err="1">
                <a:latin typeface="Arial"/>
                <a:ea typeface="Arial"/>
                <a:cs typeface="Arial"/>
                <a:sym typeface="Arial"/>
              </a:rPr>
              <a:t>untuk</a:t>
            </a:r>
            <a:r>
              <a:rPr lang="en-US" sz="2400" dirty="0">
                <a:latin typeface="Arial"/>
                <a:ea typeface="Arial"/>
                <a:cs typeface="Arial"/>
                <a:sym typeface="Arial"/>
              </a:rPr>
              <a:t> </a:t>
            </a:r>
            <a:r>
              <a:rPr lang="en-US" sz="2400" dirty="0" err="1">
                <a:latin typeface="Arial"/>
                <a:ea typeface="Arial"/>
                <a:cs typeface="Arial"/>
                <a:sym typeface="Arial"/>
              </a:rPr>
              <a:t>memprediksi</a:t>
            </a:r>
            <a:r>
              <a:rPr lang="en-US" sz="2400" dirty="0">
                <a:latin typeface="Arial"/>
                <a:ea typeface="Arial"/>
                <a:cs typeface="Arial"/>
                <a:sym typeface="Arial"/>
              </a:rPr>
              <a:t> </a:t>
            </a:r>
            <a:r>
              <a:rPr lang="en-US" sz="2400" dirty="0" err="1">
                <a:latin typeface="Arial"/>
                <a:ea typeface="Arial"/>
                <a:cs typeface="Arial"/>
                <a:sym typeface="Arial"/>
              </a:rPr>
              <a:t>harga</a:t>
            </a:r>
            <a:r>
              <a:rPr lang="en-US" sz="2400" dirty="0">
                <a:latin typeface="Arial"/>
                <a:ea typeface="Arial"/>
                <a:cs typeface="Arial"/>
                <a:sym typeface="Arial"/>
              </a:rPr>
              <a:t>. </a:t>
            </a:r>
            <a:endParaRPr lang="en-US" sz="3600" dirty="0">
              <a:latin typeface="Arial"/>
              <a:ea typeface="Arial"/>
              <a:cs typeface="Arial"/>
              <a:sym typeface="Arial"/>
            </a:endParaRPr>
          </a:p>
          <a:p>
            <a:pPr marL="457200" lvl="0" indent="-330200">
              <a:lnSpc>
                <a:spcPct val="115000"/>
              </a:lnSpc>
              <a:spcBef>
                <a:spcPts val="0"/>
              </a:spcBef>
              <a:buClr>
                <a:schemeClr val="dk1"/>
              </a:buClr>
              <a:buSzPts val="1600"/>
              <a:buChar char="●"/>
            </a:pPr>
            <a:r>
              <a:rPr lang="en-US" sz="2400" dirty="0">
                <a:latin typeface="Arial"/>
                <a:ea typeface="Arial"/>
                <a:cs typeface="Arial"/>
                <a:sym typeface="Arial"/>
              </a:rPr>
              <a:t>Kita </a:t>
            </a:r>
            <a:r>
              <a:rPr lang="en-US" sz="2400" dirty="0" err="1">
                <a:latin typeface="Arial"/>
                <a:ea typeface="Arial"/>
                <a:cs typeface="Arial"/>
                <a:sym typeface="Arial"/>
              </a:rPr>
              <a:t>dapat</a:t>
            </a:r>
            <a:r>
              <a:rPr lang="en-US" sz="2400" dirty="0">
                <a:latin typeface="Arial"/>
                <a:ea typeface="Arial"/>
                <a:cs typeface="Arial"/>
                <a:sym typeface="Arial"/>
              </a:rPr>
              <a:t> </a:t>
            </a:r>
            <a:r>
              <a:rPr lang="en-US" sz="2400" dirty="0" err="1">
                <a:latin typeface="Arial"/>
                <a:ea typeface="Arial"/>
                <a:cs typeface="Arial"/>
                <a:sym typeface="Arial"/>
              </a:rPr>
              <a:t>memeriksa</a:t>
            </a:r>
            <a:r>
              <a:rPr lang="en-US" sz="2400" dirty="0">
                <a:latin typeface="Arial"/>
                <a:ea typeface="Arial"/>
                <a:cs typeface="Arial"/>
                <a:sym typeface="Arial"/>
              </a:rPr>
              <a:t> </a:t>
            </a:r>
            <a:r>
              <a:rPr lang="en-US" sz="2400" dirty="0" err="1">
                <a:latin typeface="Arial"/>
                <a:ea typeface="Arial"/>
                <a:cs typeface="Arial"/>
                <a:sym typeface="Arial"/>
              </a:rPr>
              <a:t>korelasi</a:t>
            </a:r>
            <a:r>
              <a:rPr lang="en-US" sz="2400" dirty="0">
                <a:latin typeface="Arial"/>
                <a:ea typeface="Arial"/>
                <a:cs typeface="Arial"/>
                <a:sym typeface="Arial"/>
              </a:rPr>
              <a:t> </a:t>
            </a:r>
            <a:r>
              <a:rPr lang="en-US" sz="2400" dirty="0" err="1">
                <a:latin typeface="Arial"/>
                <a:ea typeface="Arial"/>
                <a:cs typeface="Arial"/>
                <a:sym typeface="Arial"/>
              </a:rPr>
              <a:t>antara</a:t>
            </a:r>
            <a:r>
              <a:rPr lang="en-US" sz="2400" dirty="0">
                <a:latin typeface="Arial"/>
                <a:ea typeface="Arial"/>
                <a:cs typeface="Arial"/>
                <a:sym typeface="Arial"/>
              </a:rPr>
              <a:t> '</a:t>
            </a:r>
            <a:r>
              <a:rPr lang="en-US" sz="2400" dirty="0" err="1">
                <a:latin typeface="Arial"/>
                <a:ea typeface="Arial"/>
                <a:cs typeface="Arial"/>
                <a:sym typeface="Arial"/>
              </a:rPr>
              <a:t>puncak</a:t>
            </a:r>
            <a:r>
              <a:rPr lang="en-US" sz="2400" dirty="0">
                <a:latin typeface="Arial"/>
                <a:ea typeface="Arial"/>
                <a:cs typeface="Arial"/>
                <a:sym typeface="Arial"/>
              </a:rPr>
              <a:t>-rpm' dan '</a:t>
            </a:r>
            <a:r>
              <a:rPr lang="en-US" sz="2400" dirty="0" err="1">
                <a:latin typeface="Arial"/>
                <a:ea typeface="Arial"/>
                <a:cs typeface="Arial"/>
                <a:sym typeface="Arial"/>
              </a:rPr>
              <a:t>harga</a:t>
            </a:r>
            <a:r>
              <a:rPr lang="en-US" sz="2400" dirty="0">
                <a:latin typeface="Arial"/>
                <a:ea typeface="Arial"/>
                <a:cs typeface="Arial"/>
                <a:sym typeface="Arial"/>
              </a:rPr>
              <a:t>' dan </a:t>
            </a:r>
            <a:r>
              <a:rPr lang="en-US" sz="2400" dirty="0" err="1">
                <a:latin typeface="Arial"/>
                <a:ea typeface="Arial"/>
                <a:cs typeface="Arial"/>
                <a:sym typeface="Arial"/>
              </a:rPr>
              <a:t>melihatnya</a:t>
            </a:r>
            <a:r>
              <a:rPr lang="en-US" sz="2400" dirty="0">
                <a:latin typeface="Arial"/>
                <a:ea typeface="Arial"/>
                <a:cs typeface="Arial"/>
                <a:sym typeface="Arial"/>
              </a:rPr>
              <a:t> </a:t>
            </a:r>
            <a:r>
              <a:rPr lang="en-US" sz="2400" dirty="0" err="1">
                <a:latin typeface="Arial"/>
                <a:ea typeface="Arial"/>
                <a:cs typeface="Arial"/>
                <a:sym typeface="Arial"/>
              </a:rPr>
              <a:t>kira-kira</a:t>
            </a:r>
            <a:r>
              <a:rPr lang="en-US" sz="2400" dirty="0">
                <a:latin typeface="Arial"/>
                <a:ea typeface="Arial"/>
                <a:cs typeface="Arial"/>
                <a:sym typeface="Arial"/>
              </a:rPr>
              <a:t> -0,101616 </a:t>
            </a:r>
            <a:endParaRPr lang="en-US" sz="3600" dirty="0">
              <a:latin typeface="Arial"/>
              <a:ea typeface="Arial"/>
              <a:cs typeface="Arial"/>
              <a:sym typeface="Arial"/>
            </a:endParaRPr>
          </a:p>
        </p:txBody>
      </p:sp>
      <p:pic>
        <p:nvPicPr>
          <p:cNvPr id="5" name="Google Shape;518;p61">
            <a:extLst>
              <a:ext uri="{FF2B5EF4-FFF2-40B4-BE49-F238E27FC236}">
                <a16:creationId xmlns:a16="http://schemas.microsoft.com/office/drawing/2014/main" id="{D69830B5-4035-C9D0-50C4-FEAE382F7C2D}"/>
              </a:ext>
            </a:extLst>
          </p:cNvPr>
          <p:cNvPicPr preferRelativeResize="0"/>
          <p:nvPr/>
        </p:nvPicPr>
        <p:blipFill rotWithShape="1">
          <a:blip r:embed="rId2">
            <a:alphaModFix/>
          </a:blip>
          <a:srcRect/>
          <a:stretch/>
        </p:blipFill>
        <p:spPr>
          <a:xfrm>
            <a:off x="7797323" y="3596697"/>
            <a:ext cx="4186397" cy="2658371"/>
          </a:xfrm>
          <a:prstGeom prst="rect">
            <a:avLst/>
          </a:prstGeom>
          <a:noFill/>
          <a:ln>
            <a:noFill/>
          </a:ln>
        </p:spPr>
      </p:pic>
      <p:pic>
        <p:nvPicPr>
          <p:cNvPr id="8" name="Google Shape;519;p61">
            <a:extLst>
              <a:ext uri="{FF2B5EF4-FFF2-40B4-BE49-F238E27FC236}">
                <a16:creationId xmlns:a16="http://schemas.microsoft.com/office/drawing/2014/main" id="{5C3D445C-3E07-4E54-2306-B4754844C0EA}"/>
              </a:ext>
            </a:extLst>
          </p:cNvPr>
          <p:cNvPicPr preferRelativeResize="0"/>
          <p:nvPr/>
        </p:nvPicPr>
        <p:blipFill rotWithShape="1">
          <a:blip r:embed="rId3">
            <a:alphaModFix/>
          </a:blip>
          <a:srcRect/>
          <a:stretch/>
        </p:blipFill>
        <p:spPr>
          <a:xfrm>
            <a:off x="9204961" y="2265680"/>
            <a:ext cx="2507136" cy="1019232"/>
          </a:xfrm>
          <a:prstGeom prst="rect">
            <a:avLst/>
          </a:prstGeom>
          <a:noFill/>
          <a:ln>
            <a:noFill/>
          </a:ln>
        </p:spPr>
      </p:pic>
    </p:spTree>
    <p:extLst>
      <p:ext uri="{BB962C8B-B14F-4D97-AF65-F5344CB8AC3E}">
        <p14:creationId xmlns:p14="http://schemas.microsoft.com/office/powerpoint/2010/main" val="18906577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A357D-EDC4-1CCA-ED28-B8C407FC98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3E5C3A-F4D2-F684-32F7-7D4CB2790699}"/>
              </a:ext>
            </a:extLst>
          </p:cNvPr>
          <p:cNvSpPr>
            <a:spLocks noGrp="1"/>
          </p:cNvSpPr>
          <p:nvPr>
            <p:ph type="title"/>
          </p:nvPr>
        </p:nvSpPr>
        <p:spPr>
          <a:xfrm>
            <a:off x="838200" y="365125"/>
            <a:ext cx="10515600" cy="915035"/>
          </a:xfrm>
        </p:spPr>
        <p:txBody>
          <a:bodyPr>
            <a:normAutofit/>
          </a:bodyPr>
          <a:lstStyle/>
          <a:p>
            <a:r>
              <a:rPr lang="en-US" b="1" dirty="0"/>
              <a:t>Correlation &amp; Causation</a:t>
            </a:r>
            <a:endParaRPr lang="en-US" dirty="0"/>
          </a:p>
        </p:txBody>
      </p:sp>
      <p:pic>
        <p:nvPicPr>
          <p:cNvPr id="10" name="Google Shape;529;g10054a4cacb_1_37">
            <a:extLst>
              <a:ext uri="{FF2B5EF4-FFF2-40B4-BE49-F238E27FC236}">
                <a16:creationId xmlns:a16="http://schemas.microsoft.com/office/drawing/2014/main" id="{C4038296-70E4-EFC3-C3C6-0659AB89BD21}"/>
              </a:ext>
            </a:extLst>
          </p:cNvPr>
          <p:cNvPicPr preferRelativeResize="0"/>
          <p:nvPr/>
        </p:nvPicPr>
        <p:blipFill>
          <a:blip r:embed="rId2">
            <a:alphaModFix/>
          </a:blip>
          <a:stretch>
            <a:fillRect/>
          </a:stretch>
        </p:blipFill>
        <p:spPr>
          <a:xfrm>
            <a:off x="456900" y="3093874"/>
            <a:ext cx="4866940" cy="3399001"/>
          </a:xfrm>
          <a:prstGeom prst="rect">
            <a:avLst/>
          </a:prstGeom>
          <a:noFill/>
          <a:ln>
            <a:noFill/>
          </a:ln>
        </p:spPr>
      </p:pic>
      <p:pic>
        <p:nvPicPr>
          <p:cNvPr id="11" name="Google Shape;530;g10054a4cacb_1_37">
            <a:extLst>
              <a:ext uri="{FF2B5EF4-FFF2-40B4-BE49-F238E27FC236}">
                <a16:creationId xmlns:a16="http://schemas.microsoft.com/office/drawing/2014/main" id="{A6256BF4-5747-6D69-7E93-FA5A5A858F67}"/>
              </a:ext>
            </a:extLst>
          </p:cNvPr>
          <p:cNvPicPr preferRelativeResize="0"/>
          <p:nvPr/>
        </p:nvPicPr>
        <p:blipFill>
          <a:blip r:embed="rId3">
            <a:alphaModFix/>
          </a:blip>
          <a:stretch>
            <a:fillRect/>
          </a:stretch>
        </p:blipFill>
        <p:spPr>
          <a:xfrm>
            <a:off x="456900" y="1268400"/>
            <a:ext cx="4162798" cy="1659498"/>
          </a:xfrm>
          <a:prstGeom prst="rect">
            <a:avLst/>
          </a:prstGeom>
          <a:noFill/>
          <a:ln>
            <a:noFill/>
          </a:ln>
        </p:spPr>
      </p:pic>
      <p:sp>
        <p:nvSpPr>
          <p:cNvPr id="7" name="Google Shape;527;g10054a4cacb_1_37">
            <a:extLst>
              <a:ext uri="{FF2B5EF4-FFF2-40B4-BE49-F238E27FC236}">
                <a16:creationId xmlns:a16="http://schemas.microsoft.com/office/drawing/2014/main" id="{A313A1DE-B16A-A62F-D15B-F4574A8F8971}"/>
              </a:ext>
            </a:extLst>
          </p:cNvPr>
          <p:cNvSpPr/>
          <p:nvPr/>
        </p:nvSpPr>
        <p:spPr>
          <a:xfrm>
            <a:off x="6186107" y="1912370"/>
            <a:ext cx="3595035" cy="528320"/>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id"/>
              <a:t>Korelasi “engine-size” dan “price”</a:t>
            </a:r>
            <a:endParaRPr/>
          </a:p>
        </p:txBody>
      </p:sp>
      <p:cxnSp>
        <p:nvCxnSpPr>
          <p:cNvPr id="9" name="Google Shape;528;g10054a4cacb_1_37">
            <a:extLst>
              <a:ext uri="{FF2B5EF4-FFF2-40B4-BE49-F238E27FC236}">
                <a16:creationId xmlns:a16="http://schemas.microsoft.com/office/drawing/2014/main" id="{2BAAF338-E06F-9860-B586-64CC7BF65749}"/>
              </a:ext>
            </a:extLst>
          </p:cNvPr>
          <p:cNvCxnSpPr>
            <a:cxnSpLocks/>
          </p:cNvCxnSpPr>
          <p:nvPr/>
        </p:nvCxnSpPr>
        <p:spPr>
          <a:xfrm>
            <a:off x="4423575" y="2266010"/>
            <a:ext cx="1762532" cy="0"/>
          </a:xfrm>
          <a:prstGeom prst="straightConnector1">
            <a:avLst/>
          </a:prstGeom>
          <a:noFill/>
          <a:ln w="19050" cap="flat" cmpd="sng">
            <a:solidFill>
              <a:srgbClr val="1EA4B2"/>
            </a:solidFill>
            <a:prstDash val="solid"/>
            <a:round/>
            <a:headEnd type="none" w="med" len="med"/>
            <a:tailEnd type="triangle" w="med" len="med"/>
          </a:ln>
        </p:spPr>
      </p:cxnSp>
      <p:sp>
        <p:nvSpPr>
          <p:cNvPr id="12" name="Google Shape;531;g10054a4cacb_1_37">
            <a:extLst>
              <a:ext uri="{FF2B5EF4-FFF2-40B4-BE49-F238E27FC236}">
                <a16:creationId xmlns:a16="http://schemas.microsoft.com/office/drawing/2014/main" id="{E4ACD438-189D-09C4-0B4D-2B81F5DC518C}"/>
              </a:ext>
            </a:extLst>
          </p:cNvPr>
          <p:cNvSpPr/>
          <p:nvPr/>
        </p:nvSpPr>
        <p:spPr>
          <a:xfrm>
            <a:off x="5871147" y="3377700"/>
            <a:ext cx="5357567" cy="528320"/>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id" dirty="0"/>
              <a:t>Visualisasi regplot “engine-size” dan “price”</a:t>
            </a:r>
            <a:endParaRPr dirty="0"/>
          </a:p>
        </p:txBody>
      </p:sp>
      <p:cxnSp>
        <p:nvCxnSpPr>
          <p:cNvPr id="13" name="Google Shape;532;g10054a4cacb_1_37">
            <a:extLst>
              <a:ext uri="{FF2B5EF4-FFF2-40B4-BE49-F238E27FC236}">
                <a16:creationId xmlns:a16="http://schemas.microsoft.com/office/drawing/2014/main" id="{C9FB5E31-6734-B957-D5B1-643D53D01AF3}"/>
              </a:ext>
            </a:extLst>
          </p:cNvPr>
          <p:cNvCxnSpPr>
            <a:cxnSpLocks/>
          </p:cNvCxnSpPr>
          <p:nvPr/>
        </p:nvCxnSpPr>
        <p:spPr>
          <a:xfrm>
            <a:off x="4108615" y="3731340"/>
            <a:ext cx="1762532" cy="0"/>
          </a:xfrm>
          <a:prstGeom prst="straightConnector1">
            <a:avLst/>
          </a:prstGeom>
          <a:noFill/>
          <a:ln w="19050" cap="flat" cmpd="sng">
            <a:solidFill>
              <a:srgbClr val="1EA4B2"/>
            </a:solidFill>
            <a:prstDash val="solid"/>
            <a:round/>
            <a:headEnd type="none" w="med" len="med"/>
            <a:tailEnd type="triangle" w="med" len="med"/>
          </a:ln>
        </p:spPr>
      </p:cxnSp>
    </p:spTree>
    <p:extLst>
      <p:ext uri="{BB962C8B-B14F-4D97-AF65-F5344CB8AC3E}">
        <p14:creationId xmlns:p14="http://schemas.microsoft.com/office/powerpoint/2010/main" val="205234292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E504E-5178-147B-7727-91E60BD006BD}"/>
            </a:ext>
          </a:extLst>
        </p:cNvPr>
        <p:cNvGrpSpPr/>
        <p:nvPr/>
      </p:nvGrpSpPr>
      <p:grpSpPr>
        <a:xfrm>
          <a:off x="0" y="0"/>
          <a:ext cx="0" cy="0"/>
          <a:chOff x="0" y="0"/>
          <a:chExt cx="0" cy="0"/>
        </a:xfrm>
      </p:grpSpPr>
      <p:pic>
        <p:nvPicPr>
          <p:cNvPr id="8" name="Google Shape;543;g10054a4cc09_0_134">
            <a:extLst>
              <a:ext uri="{FF2B5EF4-FFF2-40B4-BE49-F238E27FC236}">
                <a16:creationId xmlns:a16="http://schemas.microsoft.com/office/drawing/2014/main" id="{497736F2-611E-96AE-1D72-0091AE863B5F}"/>
              </a:ext>
            </a:extLst>
          </p:cNvPr>
          <p:cNvPicPr preferRelativeResize="0"/>
          <p:nvPr/>
        </p:nvPicPr>
        <p:blipFill>
          <a:blip r:embed="rId2">
            <a:alphaModFix/>
          </a:blip>
          <a:stretch>
            <a:fillRect/>
          </a:stretch>
        </p:blipFill>
        <p:spPr>
          <a:xfrm>
            <a:off x="456900" y="1358427"/>
            <a:ext cx="4257340" cy="1452385"/>
          </a:xfrm>
          <a:prstGeom prst="rect">
            <a:avLst/>
          </a:prstGeom>
          <a:noFill/>
          <a:ln>
            <a:noFill/>
          </a:ln>
        </p:spPr>
      </p:pic>
      <p:pic>
        <p:nvPicPr>
          <p:cNvPr id="14" name="Google Shape;544;g10054a4cc09_0_134">
            <a:extLst>
              <a:ext uri="{FF2B5EF4-FFF2-40B4-BE49-F238E27FC236}">
                <a16:creationId xmlns:a16="http://schemas.microsoft.com/office/drawing/2014/main" id="{DD8C8E93-78FF-8C64-E7D1-DAF6F6C0B55A}"/>
              </a:ext>
            </a:extLst>
          </p:cNvPr>
          <p:cNvPicPr preferRelativeResize="0"/>
          <p:nvPr/>
        </p:nvPicPr>
        <p:blipFill>
          <a:blip r:embed="rId3">
            <a:alphaModFix/>
          </a:blip>
          <a:stretch>
            <a:fillRect/>
          </a:stretch>
        </p:blipFill>
        <p:spPr>
          <a:xfrm>
            <a:off x="456900" y="2900246"/>
            <a:ext cx="4887260" cy="3520873"/>
          </a:xfrm>
          <a:prstGeom prst="rect">
            <a:avLst/>
          </a:prstGeom>
          <a:noFill/>
          <a:ln>
            <a:noFill/>
          </a:ln>
        </p:spPr>
      </p:pic>
      <p:sp>
        <p:nvSpPr>
          <p:cNvPr id="2" name="Title 1">
            <a:extLst>
              <a:ext uri="{FF2B5EF4-FFF2-40B4-BE49-F238E27FC236}">
                <a16:creationId xmlns:a16="http://schemas.microsoft.com/office/drawing/2014/main" id="{56F31949-BA80-DD3D-43DC-3D7CE7933480}"/>
              </a:ext>
            </a:extLst>
          </p:cNvPr>
          <p:cNvSpPr>
            <a:spLocks noGrp="1"/>
          </p:cNvSpPr>
          <p:nvPr>
            <p:ph type="title"/>
          </p:nvPr>
        </p:nvSpPr>
        <p:spPr>
          <a:xfrm>
            <a:off x="838200" y="365125"/>
            <a:ext cx="10515600" cy="915035"/>
          </a:xfrm>
        </p:spPr>
        <p:txBody>
          <a:bodyPr>
            <a:normAutofit/>
          </a:bodyPr>
          <a:lstStyle/>
          <a:p>
            <a:r>
              <a:rPr lang="en-US" b="1" dirty="0"/>
              <a:t>Correlation &amp; Causation</a:t>
            </a:r>
            <a:endParaRPr lang="en-US" dirty="0"/>
          </a:p>
        </p:txBody>
      </p:sp>
      <p:sp>
        <p:nvSpPr>
          <p:cNvPr id="3" name="Google Shape;539;g10054a4cc09_0_134">
            <a:extLst>
              <a:ext uri="{FF2B5EF4-FFF2-40B4-BE49-F238E27FC236}">
                <a16:creationId xmlns:a16="http://schemas.microsoft.com/office/drawing/2014/main" id="{EFDD2817-4DFC-7C95-D9DF-BBB5AEAEF7B6}"/>
              </a:ext>
            </a:extLst>
          </p:cNvPr>
          <p:cNvSpPr/>
          <p:nvPr/>
        </p:nvSpPr>
        <p:spPr>
          <a:xfrm>
            <a:off x="5831648" y="1863693"/>
            <a:ext cx="4391015" cy="635020"/>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id"/>
              <a:t>Korelasi “highway-mpg” dan “price”</a:t>
            </a:r>
            <a:endParaRPr/>
          </a:p>
        </p:txBody>
      </p:sp>
      <p:cxnSp>
        <p:nvCxnSpPr>
          <p:cNvPr id="4" name="Google Shape;540;g10054a4cc09_0_134">
            <a:extLst>
              <a:ext uri="{FF2B5EF4-FFF2-40B4-BE49-F238E27FC236}">
                <a16:creationId xmlns:a16="http://schemas.microsoft.com/office/drawing/2014/main" id="{B7752EA8-1A8E-5917-A7DB-42A3C57AB014}"/>
              </a:ext>
            </a:extLst>
          </p:cNvPr>
          <p:cNvCxnSpPr>
            <a:cxnSpLocks/>
          </p:cNvCxnSpPr>
          <p:nvPr/>
        </p:nvCxnSpPr>
        <p:spPr>
          <a:xfrm>
            <a:off x="5001091" y="2018226"/>
            <a:ext cx="830557" cy="0"/>
          </a:xfrm>
          <a:prstGeom prst="straightConnector1">
            <a:avLst/>
          </a:prstGeom>
          <a:noFill/>
          <a:ln w="19050" cap="flat" cmpd="sng">
            <a:solidFill>
              <a:srgbClr val="1EA4B2"/>
            </a:solidFill>
            <a:prstDash val="solid"/>
            <a:round/>
            <a:headEnd type="none" w="med" len="med"/>
            <a:tailEnd type="triangle" w="med" len="med"/>
          </a:ln>
        </p:spPr>
      </p:cxnSp>
      <p:sp>
        <p:nvSpPr>
          <p:cNvPr id="5" name="Google Shape;541;g10054a4cc09_0_134">
            <a:extLst>
              <a:ext uri="{FF2B5EF4-FFF2-40B4-BE49-F238E27FC236}">
                <a16:creationId xmlns:a16="http://schemas.microsoft.com/office/drawing/2014/main" id="{B2D41F51-38E2-D25F-7F9C-EAF9B6197144}"/>
              </a:ext>
            </a:extLst>
          </p:cNvPr>
          <p:cNvSpPr/>
          <p:nvPr/>
        </p:nvSpPr>
        <p:spPr>
          <a:xfrm>
            <a:off x="6349808" y="3082247"/>
            <a:ext cx="4551680" cy="635020"/>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id" dirty="0"/>
              <a:t>Visualisasi regplot </a:t>
            </a:r>
            <a:r>
              <a:rPr lang="id" dirty="0">
                <a:solidFill>
                  <a:schemeClr val="dk1"/>
                </a:solidFill>
              </a:rPr>
              <a:t>“highway-mpg” dan “price”</a:t>
            </a:r>
            <a:endParaRPr dirty="0"/>
          </a:p>
        </p:txBody>
      </p:sp>
      <p:cxnSp>
        <p:nvCxnSpPr>
          <p:cNvPr id="6" name="Google Shape;542;g10054a4cc09_0_134">
            <a:extLst>
              <a:ext uri="{FF2B5EF4-FFF2-40B4-BE49-F238E27FC236}">
                <a16:creationId xmlns:a16="http://schemas.microsoft.com/office/drawing/2014/main" id="{2E0C6091-E953-95B0-E323-6D743649E1F3}"/>
              </a:ext>
            </a:extLst>
          </p:cNvPr>
          <p:cNvCxnSpPr>
            <a:cxnSpLocks/>
          </p:cNvCxnSpPr>
          <p:nvPr/>
        </p:nvCxnSpPr>
        <p:spPr>
          <a:xfrm>
            <a:off x="5519251" y="3236780"/>
            <a:ext cx="830557" cy="0"/>
          </a:xfrm>
          <a:prstGeom prst="straightConnector1">
            <a:avLst/>
          </a:prstGeom>
          <a:noFill/>
          <a:ln w="19050" cap="flat" cmpd="sng">
            <a:solidFill>
              <a:srgbClr val="1EA4B2"/>
            </a:solidFill>
            <a:prstDash val="solid"/>
            <a:round/>
            <a:headEnd type="none" w="med" len="med"/>
            <a:tailEnd type="triangle" w="med" len="med"/>
          </a:ln>
        </p:spPr>
      </p:cxnSp>
    </p:spTree>
    <p:extLst>
      <p:ext uri="{BB962C8B-B14F-4D97-AF65-F5344CB8AC3E}">
        <p14:creationId xmlns:p14="http://schemas.microsoft.com/office/powerpoint/2010/main" val="16714546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15492-2511-CABF-3873-D76CFB320DFF}"/>
            </a:ext>
          </a:extLst>
        </p:cNvPr>
        <p:cNvGrpSpPr/>
        <p:nvPr/>
      </p:nvGrpSpPr>
      <p:grpSpPr>
        <a:xfrm>
          <a:off x="0" y="0"/>
          <a:ext cx="0" cy="0"/>
          <a:chOff x="0" y="0"/>
          <a:chExt cx="0" cy="0"/>
        </a:xfrm>
      </p:grpSpPr>
      <p:pic>
        <p:nvPicPr>
          <p:cNvPr id="12" name="Google Shape;555;g10054a4cc09_0_148">
            <a:extLst>
              <a:ext uri="{FF2B5EF4-FFF2-40B4-BE49-F238E27FC236}">
                <a16:creationId xmlns:a16="http://schemas.microsoft.com/office/drawing/2014/main" id="{28D4AB4D-4D82-E2D1-0272-3E82E095BD36}"/>
              </a:ext>
            </a:extLst>
          </p:cNvPr>
          <p:cNvPicPr preferRelativeResize="0"/>
          <p:nvPr/>
        </p:nvPicPr>
        <p:blipFill>
          <a:blip r:embed="rId2">
            <a:alphaModFix/>
          </a:blip>
          <a:stretch>
            <a:fillRect/>
          </a:stretch>
        </p:blipFill>
        <p:spPr>
          <a:xfrm>
            <a:off x="381094" y="1462508"/>
            <a:ext cx="3129691" cy="1435463"/>
          </a:xfrm>
          <a:prstGeom prst="rect">
            <a:avLst/>
          </a:prstGeom>
          <a:noFill/>
          <a:ln>
            <a:noFill/>
          </a:ln>
        </p:spPr>
      </p:pic>
      <p:pic>
        <p:nvPicPr>
          <p:cNvPr id="13" name="Google Shape;556;g10054a4cc09_0_148">
            <a:extLst>
              <a:ext uri="{FF2B5EF4-FFF2-40B4-BE49-F238E27FC236}">
                <a16:creationId xmlns:a16="http://schemas.microsoft.com/office/drawing/2014/main" id="{F6C83447-E112-82C1-306D-2F7E380FB10D}"/>
              </a:ext>
            </a:extLst>
          </p:cNvPr>
          <p:cNvPicPr preferRelativeResize="0"/>
          <p:nvPr/>
        </p:nvPicPr>
        <p:blipFill>
          <a:blip r:embed="rId3">
            <a:alphaModFix/>
          </a:blip>
          <a:stretch>
            <a:fillRect/>
          </a:stretch>
        </p:blipFill>
        <p:spPr>
          <a:xfrm>
            <a:off x="381094" y="3141375"/>
            <a:ext cx="4414426" cy="3086606"/>
          </a:xfrm>
          <a:prstGeom prst="rect">
            <a:avLst/>
          </a:prstGeom>
          <a:noFill/>
          <a:ln>
            <a:noFill/>
          </a:ln>
        </p:spPr>
      </p:pic>
      <p:sp>
        <p:nvSpPr>
          <p:cNvPr id="2" name="Title 1">
            <a:extLst>
              <a:ext uri="{FF2B5EF4-FFF2-40B4-BE49-F238E27FC236}">
                <a16:creationId xmlns:a16="http://schemas.microsoft.com/office/drawing/2014/main" id="{3444DB67-69A1-7EE9-DC28-26D89D7ADED6}"/>
              </a:ext>
            </a:extLst>
          </p:cNvPr>
          <p:cNvSpPr>
            <a:spLocks noGrp="1"/>
          </p:cNvSpPr>
          <p:nvPr>
            <p:ph type="title"/>
          </p:nvPr>
        </p:nvSpPr>
        <p:spPr>
          <a:xfrm>
            <a:off x="838200" y="365125"/>
            <a:ext cx="10515600" cy="915035"/>
          </a:xfrm>
        </p:spPr>
        <p:txBody>
          <a:bodyPr>
            <a:normAutofit/>
          </a:bodyPr>
          <a:lstStyle/>
          <a:p>
            <a:r>
              <a:rPr lang="en-US" b="1" dirty="0"/>
              <a:t>Correlation &amp; Causation</a:t>
            </a:r>
            <a:endParaRPr lang="en-US" dirty="0"/>
          </a:p>
        </p:txBody>
      </p:sp>
      <p:sp>
        <p:nvSpPr>
          <p:cNvPr id="7" name="Google Shape;551;g10054a4cc09_0_148">
            <a:extLst>
              <a:ext uri="{FF2B5EF4-FFF2-40B4-BE49-F238E27FC236}">
                <a16:creationId xmlns:a16="http://schemas.microsoft.com/office/drawing/2014/main" id="{DBA41384-2A6D-C972-8625-2BCA6073466E}"/>
              </a:ext>
            </a:extLst>
          </p:cNvPr>
          <p:cNvSpPr/>
          <p:nvPr/>
        </p:nvSpPr>
        <p:spPr>
          <a:xfrm>
            <a:off x="5272730" y="1482296"/>
            <a:ext cx="3731800" cy="465600"/>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id" dirty="0"/>
              <a:t>Korelasi “peak-rpm” dan “price”</a:t>
            </a:r>
            <a:endParaRPr dirty="0"/>
          </a:p>
        </p:txBody>
      </p:sp>
      <p:cxnSp>
        <p:nvCxnSpPr>
          <p:cNvPr id="9" name="Google Shape;552;g10054a4cc09_0_148">
            <a:extLst>
              <a:ext uri="{FF2B5EF4-FFF2-40B4-BE49-F238E27FC236}">
                <a16:creationId xmlns:a16="http://schemas.microsoft.com/office/drawing/2014/main" id="{E75AE197-4934-8623-35D3-EBBDD53E1B2E}"/>
              </a:ext>
            </a:extLst>
          </p:cNvPr>
          <p:cNvCxnSpPr/>
          <p:nvPr/>
        </p:nvCxnSpPr>
        <p:spPr>
          <a:xfrm>
            <a:off x="4713530" y="1695308"/>
            <a:ext cx="559200" cy="0"/>
          </a:xfrm>
          <a:prstGeom prst="straightConnector1">
            <a:avLst/>
          </a:prstGeom>
          <a:noFill/>
          <a:ln w="19050" cap="flat" cmpd="sng">
            <a:solidFill>
              <a:srgbClr val="1EA4B2"/>
            </a:solidFill>
            <a:prstDash val="solid"/>
            <a:round/>
            <a:headEnd type="none" w="med" len="med"/>
            <a:tailEnd type="triangle" w="med" len="med"/>
          </a:ln>
        </p:spPr>
      </p:cxnSp>
      <p:sp>
        <p:nvSpPr>
          <p:cNvPr id="10" name="Google Shape;553;g10054a4cc09_0_148">
            <a:extLst>
              <a:ext uri="{FF2B5EF4-FFF2-40B4-BE49-F238E27FC236}">
                <a16:creationId xmlns:a16="http://schemas.microsoft.com/office/drawing/2014/main" id="{69931D53-E4D7-BD5C-EC42-8C0B5122035D}"/>
              </a:ext>
            </a:extLst>
          </p:cNvPr>
          <p:cNvSpPr/>
          <p:nvPr/>
        </p:nvSpPr>
        <p:spPr>
          <a:xfrm>
            <a:off x="5272730" y="3572408"/>
            <a:ext cx="4414426" cy="465600"/>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id"/>
              <a:t>Visualisasi regplot </a:t>
            </a:r>
            <a:r>
              <a:rPr lang="id">
                <a:solidFill>
                  <a:schemeClr val="dk1"/>
                </a:solidFill>
              </a:rPr>
              <a:t>“peak-rpm” dan “price”</a:t>
            </a:r>
            <a:endParaRPr/>
          </a:p>
        </p:txBody>
      </p:sp>
      <p:cxnSp>
        <p:nvCxnSpPr>
          <p:cNvPr id="11" name="Google Shape;554;g10054a4cc09_0_148">
            <a:extLst>
              <a:ext uri="{FF2B5EF4-FFF2-40B4-BE49-F238E27FC236}">
                <a16:creationId xmlns:a16="http://schemas.microsoft.com/office/drawing/2014/main" id="{4853FD29-8915-0C9E-5CA7-2D76EB7D0CB9}"/>
              </a:ext>
            </a:extLst>
          </p:cNvPr>
          <p:cNvCxnSpPr/>
          <p:nvPr/>
        </p:nvCxnSpPr>
        <p:spPr>
          <a:xfrm>
            <a:off x="4713530" y="3805208"/>
            <a:ext cx="559200" cy="0"/>
          </a:xfrm>
          <a:prstGeom prst="straightConnector1">
            <a:avLst/>
          </a:prstGeom>
          <a:noFill/>
          <a:ln w="19050" cap="flat" cmpd="sng">
            <a:solidFill>
              <a:srgbClr val="1EA4B2"/>
            </a:solidFill>
            <a:prstDash val="solid"/>
            <a:round/>
            <a:headEnd type="none" w="med" len="med"/>
            <a:tailEnd type="triangle" w="med" len="med"/>
          </a:ln>
        </p:spPr>
      </p:cxnSp>
    </p:spTree>
    <p:extLst>
      <p:ext uri="{BB962C8B-B14F-4D97-AF65-F5344CB8AC3E}">
        <p14:creationId xmlns:p14="http://schemas.microsoft.com/office/powerpoint/2010/main" val="401990196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96BA9-9935-174A-7549-FBAF10E7F1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A33F27-9206-7062-4D83-BF5EB397C9DA}"/>
              </a:ext>
            </a:extLst>
          </p:cNvPr>
          <p:cNvSpPr>
            <a:spLocks noGrp="1"/>
          </p:cNvSpPr>
          <p:nvPr>
            <p:ph type="title"/>
          </p:nvPr>
        </p:nvSpPr>
        <p:spPr>
          <a:xfrm>
            <a:off x="838200" y="365125"/>
            <a:ext cx="10515600" cy="915035"/>
          </a:xfrm>
        </p:spPr>
        <p:txBody>
          <a:bodyPr>
            <a:normAutofit/>
          </a:bodyPr>
          <a:lstStyle/>
          <a:p>
            <a:r>
              <a:rPr lang="en-US" b="1" dirty="0" err="1"/>
              <a:t>Variabel</a:t>
            </a:r>
            <a:r>
              <a:rPr lang="en-US" b="1" dirty="0"/>
              <a:t> </a:t>
            </a:r>
            <a:r>
              <a:rPr lang="en-US" b="1" dirty="0" err="1"/>
              <a:t>Kategori</a:t>
            </a:r>
            <a:r>
              <a:rPr lang="en-US" b="1" dirty="0"/>
              <a:t> </a:t>
            </a:r>
            <a:r>
              <a:rPr lang="en-US" b="1" dirty="0" err="1"/>
              <a:t>Statistik</a:t>
            </a:r>
            <a:endParaRPr lang="en-US" dirty="0"/>
          </a:p>
        </p:txBody>
      </p:sp>
      <p:sp>
        <p:nvSpPr>
          <p:cNvPr id="3" name="Content Placeholder 2">
            <a:extLst>
              <a:ext uri="{FF2B5EF4-FFF2-40B4-BE49-F238E27FC236}">
                <a16:creationId xmlns:a16="http://schemas.microsoft.com/office/drawing/2014/main" id="{56389C21-D119-29BF-A63B-35D2ECCE970D}"/>
              </a:ext>
            </a:extLst>
          </p:cNvPr>
          <p:cNvSpPr>
            <a:spLocks noGrp="1"/>
          </p:cNvSpPr>
          <p:nvPr>
            <p:ph idx="1"/>
          </p:nvPr>
        </p:nvSpPr>
        <p:spPr>
          <a:xfrm>
            <a:off x="208281" y="1591945"/>
            <a:ext cx="7299960" cy="4351338"/>
          </a:xfrm>
        </p:spPr>
        <p:txBody>
          <a:bodyPr>
            <a:normAutofit/>
          </a:bodyPr>
          <a:lstStyle/>
          <a:p>
            <a:pPr marL="457200" lvl="0" indent="-342900">
              <a:lnSpc>
                <a:spcPct val="115000"/>
              </a:lnSpc>
              <a:spcBef>
                <a:spcPts val="0"/>
              </a:spcBef>
              <a:buClr>
                <a:schemeClr val="dk1"/>
              </a:buClr>
              <a:buSzPts val="1800"/>
              <a:buChar char="●"/>
            </a:pPr>
            <a:r>
              <a:rPr lang="en-US" sz="2400" dirty="0">
                <a:latin typeface="Arial"/>
                <a:ea typeface="Arial"/>
                <a:cs typeface="Arial"/>
                <a:sym typeface="Arial"/>
              </a:rPr>
              <a:t>Ini </a:t>
            </a:r>
            <a:r>
              <a:rPr lang="en-US" sz="2400" dirty="0" err="1">
                <a:latin typeface="Arial"/>
                <a:ea typeface="Arial"/>
                <a:cs typeface="Arial"/>
                <a:sym typeface="Arial"/>
              </a:rPr>
              <a:t>adalah</a:t>
            </a:r>
            <a:r>
              <a:rPr lang="en-US" sz="2400" dirty="0">
                <a:latin typeface="Arial"/>
                <a:ea typeface="Arial"/>
                <a:cs typeface="Arial"/>
                <a:sym typeface="Arial"/>
              </a:rPr>
              <a:t> </a:t>
            </a:r>
            <a:r>
              <a:rPr lang="en-US" sz="2400" dirty="0" err="1">
                <a:latin typeface="Arial"/>
                <a:ea typeface="Arial"/>
                <a:cs typeface="Arial"/>
                <a:sym typeface="Arial"/>
              </a:rPr>
              <a:t>variabel</a:t>
            </a:r>
            <a:r>
              <a:rPr lang="en-US" sz="2400" dirty="0">
                <a:latin typeface="Arial"/>
                <a:ea typeface="Arial"/>
                <a:cs typeface="Arial"/>
                <a:sym typeface="Arial"/>
              </a:rPr>
              <a:t> yang </a:t>
            </a:r>
            <a:r>
              <a:rPr lang="en-US" sz="2400" dirty="0" err="1">
                <a:latin typeface="Arial"/>
                <a:ea typeface="Arial"/>
                <a:cs typeface="Arial"/>
                <a:sym typeface="Arial"/>
              </a:rPr>
              <a:t>menggambarkan</a:t>
            </a:r>
            <a:r>
              <a:rPr lang="en-US" sz="2400" dirty="0">
                <a:latin typeface="Arial"/>
                <a:ea typeface="Arial"/>
                <a:cs typeface="Arial"/>
                <a:sym typeface="Arial"/>
              </a:rPr>
              <a:t> '</a:t>
            </a:r>
            <a:r>
              <a:rPr lang="en-US" sz="2400" dirty="0" err="1">
                <a:latin typeface="Arial"/>
                <a:ea typeface="Arial"/>
                <a:cs typeface="Arial"/>
                <a:sym typeface="Arial"/>
              </a:rPr>
              <a:t>karakteristik</a:t>
            </a:r>
            <a:r>
              <a:rPr lang="en-US" sz="2400" dirty="0">
                <a:latin typeface="Arial"/>
                <a:ea typeface="Arial"/>
                <a:cs typeface="Arial"/>
                <a:sym typeface="Arial"/>
              </a:rPr>
              <a:t>' </a:t>
            </a:r>
            <a:r>
              <a:rPr lang="en-US" sz="2400" dirty="0" err="1">
                <a:latin typeface="Arial"/>
                <a:ea typeface="Arial"/>
                <a:cs typeface="Arial"/>
                <a:sym typeface="Arial"/>
              </a:rPr>
              <a:t>dari</a:t>
            </a:r>
            <a:r>
              <a:rPr lang="en-US" sz="2400" dirty="0">
                <a:latin typeface="Arial"/>
                <a:ea typeface="Arial"/>
                <a:cs typeface="Arial"/>
                <a:sym typeface="Arial"/>
              </a:rPr>
              <a:t> unit data, dan </a:t>
            </a:r>
            <a:r>
              <a:rPr lang="en-US" sz="2400" dirty="0" err="1">
                <a:latin typeface="Arial"/>
                <a:ea typeface="Arial"/>
                <a:cs typeface="Arial"/>
                <a:sym typeface="Arial"/>
              </a:rPr>
              <a:t>dipilih</a:t>
            </a:r>
            <a:r>
              <a:rPr lang="en-US" sz="2400" dirty="0">
                <a:latin typeface="Arial"/>
                <a:ea typeface="Arial"/>
                <a:cs typeface="Arial"/>
                <a:sym typeface="Arial"/>
              </a:rPr>
              <a:t> </a:t>
            </a:r>
            <a:r>
              <a:rPr lang="en-US" sz="2400" dirty="0" err="1">
                <a:latin typeface="Arial"/>
                <a:ea typeface="Arial"/>
                <a:cs typeface="Arial"/>
                <a:sym typeface="Arial"/>
              </a:rPr>
              <a:t>dari</a:t>
            </a:r>
            <a:r>
              <a:rPr lang="en-US" sz="2400" dirty="0">
                <a:latin typeface="Arial"/>
                <a:ea typeface="Arial"/>
                <a:cs typeface="Arial"/>
                <a:sym typeface="Arial"/>
              </a:rPr>
              <a:t> </a:t>
            </a:r>
            <a:r>
              <a:rPr lang="en-US" sz="2400" dirty="0" err="1">
                <a:latin typeface="Arial"/>
                <a:ea typeface="Arial"/>
                <a:cs typeface="Arial"/>
                <a:sym typeface="Arial"/>
              </a:rPr>
              <a:t>sekelompok</a:t>
            </a:r>
            <a:r>
              <a:rPr lang="en-US" sz="2400" dirty="0">
                <a:latin typeface="Arial"/>
                <a:ea typeface="Arial"/>
                <a:cs typeface="Arial"/>
                <a:sym typeface="Arial"/>
              </a:rPr>
              <a:t> </a:t>
            </a:r>
            <a:r>
              <a:rPr lang="en-US" sz="2400" dirty="0" err="1">
                <a:latin typeface="Arial"/>
                <a:ea typeface="Arial"/>
                <a:cs typeface="Arial"/>
                <a:sym typeface="Arial"/>
              </a:rPr>
              <a:t>kategori</a:t>
            </a:r>
            <a:r>
              <a:rPr lang="en-US" sz="2400" dirty="0">
                <a:latin typeface="Arial"/>
                <a:ea typeface="Arial"/>
                <a:cs typeface="Arial"/>
                <a:sym typeface="Arial"/>
              </a:rPr>
              <a:t>. </a:t>
            </a:r>
            <a:r>
              <a:rPr lang="en-US" sz="2400" dirty="0" err="1">
                <a:latin typeface="Arial"/>
                <a:ea typeface="Arial"/>
                <a:cs typeface="Arial"/>
                <a:sym typeface="Arial"/>
              </a:rPr>
              <a:t>Variabel</a:t>
            </a:r>
            <a:r>
              <a:rPr lang="en-US" sz="2400" dirty="0">
                <a:latin typeface="Arial"/>
                <a:ea typeface="Arial"/>
                <a:cs typeface="Arial"/>
                <a:sym typeface="Arial"/>
              </a:rPr>
              <a:t> </a:t>
            </a:r>
            <a:r>
              <a:rPr lang="en-US" sz="2400" dirty="0" err="1">
                <a:latin typeface="Arial"/>
                <a:ea typeface="Arial"/>
                <a:cs typeface="Arial"/>
                <a:sym typeface="Arial"/>
              </a:rPr>
              <a:t>kategori</a:t>
            </a:r>
            <a:r>
              <a:rPr lang="en-US" sz="2400" dirty="0">
                <a:latin typeface="Arial"/>
                <a:ea typeface="Arial"/>
                <a:cs typeface="Arial"/>
                <a:sym typeface="Arial"/>
              </a:rPr>
              <a:t> </a:t>
            </a:r>
            <a:r>
              <a:rPr lang="en-US" sz="2400" dirty="0" err="1">
                <a:latin typeface="Arial"/>
                <a:ea typeface="Arial"/>
                <a:cs typeface="Arial"/>
                <a:sym typeface="Arial"/>
              </a:rPr>
              <a:t>dapat</a:t>
            </a:r>
            <a:r>
              <a:rPr lang="en-US" sz="2400" dirty="0">
                <a:latin typeface="Arial"/>
                <a:ea typeface="Arial"/>
                <a:cs typeface="Arial"/>
                <a:sym typeface="Arial"/>
              </a:rPr>
              <a:t> </a:t>
            </a:r>
            <a:r>
              <a:rPr lang="en-US" sz="2400" dirty="0" err="1">
                <a:latin typeface="Arial"/>
                <a:ea typeface="Arial"/>
                <a:cs typeface="Arial"/>
                <a:sym typeface="Arial"/>
              </a:rPr>
              <a:t>memiliki</a:t>
            </a:r>
            <a:r>
              <a:rPr lang="en-US" sz="2400" dirty="0">
                <a:latin typeface="Arial"/>
                <a:ea typeface="Arial"/>
                <a:cs typeface="Arial"/>
                <a:sym typeface="Arial"/>
              </a:rPr>
              <a:t> </a:t>
            </a:r>
            <a:r>
              <a:rPr lang="en-US" sz="2400" dirty="0" err="1">
                <a:latin typeface="Arial"/>
                <a:ea typeface="Arial"/>
                <a:cs typeface="Arial"/>
                <a:sym typeface="Arial"/>
              </a:rPr>
              <a:t>tipe</a:t>
            </a:r>
            <a:r>
              <a:rPr lang="en-US" sz="2400" dirty="0">
                <a:latin typeface="Arial"/>
                <a:ea typeface="Arial"/>
                <a:cs typeface="Arial"/>
                <a:sym typeface="Arial"/>
              </a:rPr>
              <a:t> "</a:t>
            </a:r>
            <a:r>
              <a:rPr lang="en-US" sz="2400" dirty="0" err="1">
                <a:latin typeface="Arial"/>
                <a:ea typeface="Arial"/>
                <a:cs typeface="Arial"/>
                <a:sym typeface="Arial"/>
              </a:rPr>
              <a:t>objek</a:t>
            </a:r>
            <a:r>
              <a:rPr lang="en-US" sz="2400" dirty="0">
                <a:latin typeface="Arial"/>
                <a:ea typeface="Arial"/>
                <a:cs typeface="Arial"/>
                <a:sym typeface="Arial"/>
              </a:rPr>
              <a:t>" </a:t>
            </a:r>
            <a:r>
              <a:rPr lang="en-US" sz="2400" dirty="0" err="1">
                <a:latin typeface="Arial"/>
                <a:ea typeface="Arial"/>
                <a:cs typeface="Arial"/>
                <a:sym typeface="Arial"/>
              </a:rPr>
              <a:t>atau</a:t>
            </a:r>
            <a:r>
              <a:rPr lang="en-US" sz="2400" dirty="0">
                <a:latin typeface="Arial"/>
                <a:ea typeface="Arial"/>
                <a:cs typeface="Arial"/>
                <a:sym typeface="Arial"/>
              </a:rPr>
              <a:t> "int64". Cara yang </a:t>
            </a:r>
            <a:r>
              <a:rPr lang="en-US" sz="2400" dirty="0" err="1">
                <a:latin typeface="Arial"/>
                <a:ea typeface="Arial"/>
                <a:cs typeface="Arial"/>
                <a:sym typeface="Arial"/>
              </a:rPr>
              <a:t>baik</a:t>
            </a:r>
            <a:r>
              <a:rPr lang="en-US" sz="2400" dirty="0">
                <a:latin typeface="Arial"/>
                <a:ea typeface="Arial"/>
                <a:cs typeface="Arial"/>
                <a:sym typeface="Arial"/>
              </a:rPr>
              <a:t> </a:t>
            </a:r>
            <a:r>
              <a:rPr lang="en-US" sz="2400" dirty="0" err="1">
                <a:latin typeface="Arial"/>
                <a:ea typeface="Arial"/>
                <a:cs typeface="Arial"/>
                <a:sym typeface="Arial"/>
              </a:rPr>
              <a:t>untuk</a:t>
            </a:r>
            <a:r>
              <a:rPr lang="en-US" sz="2400" dirty="0">
                <a:latin typeface="Arial"/>
                <a:ea typeface="Arial"/>
                <a:cs typeface="Arial"/>
                <a:sym typeface="Arial"/>
              </a:rPr>
              <a:t> </a:t>
            </a:r>
            <a:r>
              <a:rPr lang="en-US" sz="2400" dirty="0" err="1">
                <a:latin typeface="Arial"/>
                <a:ea typeface="Arial"/>
                <a:cs typeface="Arial"/>
                <a:sym typeface="Arial"/>
              </a:rPr>
              <a:t>memvisualisasikan</a:t>
            </a:r>
            <a:r>
              <a:rPr lang="en-US" sz="2400" dirty="0">
                <a:latin typeface="Arial"/>
                <a:ea typeface="Arial"/>
                <a:cs typeface="Arial"/>
                <a:sym typeface="Arial"/>
              </a:rPr>
              <a:t> </a:t>
            </a:r>
            <a:r>
              <a:rPr lang="en-US" sz="2400" dirty="0" err="1">
                <a:latin typeface="Arial"/>
                <a:ea typeface="Arial"/>
                <a:cs typeface="Arial"/>
                <a:sym typeface="Arial"/>
              </a:rPr>
              <a:t>variabel</a:t>
            </a:r>
            <a:r>
              <a:rPr lang="en-US" sz="2400" dirty="0">
                <a:latin typeface="Arial"/>
                <a:ea typeface="Arial"/>
                <a:cs typeface="Arial"/>
                <a:sym typeface="Arial"/>
              </a:rPr>
              <a:t> </a:t>
            </a:r>
            <a:r>
              <a:rPr lang="en-US" sz="2400" dirty="0" err="1">
                <a:latin typeface="Arial"/>
                <a:ea typeface="Arial"/>
                <a:cs typeface="Arial"/>
                <a:sym typeface="Arial"/>
              </a:rPr>
              <a:t>kategori</a:t>
            </a:r>
            <a:r>
              <a:rPr lang="en-US" sz="2400" dirty="0">
                <a:latin typeface="Arial"/>
                <a:ea typeface="Arial"/>
                <a:cs typeface="Arial"/>
                <a:sym typeface="Arial"/>
              </a:rPr>
              <a:t> </a:t>
            </a:r>
            <a:r>
              <a:rPr lang="en-US" sz="2400" dirty="0" err="1">
                <a:latin typeface="Arial"/>
                <a:ea typeface="Arial"/>
                <a:cs typeface="Arial"/>
                <a:sym typeface="Arial"/>
              </a:rPr>
              <a:t>adalah</a:t>
            </a:r>
            <a:r>
              <a:rPr lang="en-US" sz="2400" dirty="0">
                <a:latin typeface="Arial"/>
                <a:ea typeface="Arial"/>
                <a:cs typeface="Arial"/>
                <a:sym typeface="Arial"/>
              </a:rPr>
              <a:t> </a:t>
            </a:r>
            <a:r>
              <a:rPr lang="en-US" sz="2400" dirty="0" err="1">
                <a:latin typeface="Arial"/>
                <a:ea typeface="Arial"/>
                <a:cs typeface="Arial"/>
                <a:sym typeface="Arial"/>
              </a:rPr>
              <a:t>dengan</a:t>
            </a:r>
            <a:r>
              <a:rPr lang="en-US" sz="2400" dirty="0">
                <a:latin typeface="Arial"/>
                <a:ea typeface="Arial"/>
                <a:cs typeface="Arial"/>
                <a:sym typeface="Arial"/>
              </a:rPr>
              <a:t> </a:t>
            </a:r>
            <a:r>
              <a:rPr lang="en-US" sz="2400" dirty="0" err="1">
                <a:latin typeface="Arial"/>
                <a:ea typeface="Arial"/>
                <a:cs typeface="Arial"/>
                <a:sym typeface="Arial"/>
              </a:rPr>
              <a:t>menggunakan</a:t>
            </a:r>
            <a:r>
              <a:rPr lang="en-US" sz="2400" dirty="0">
                <a:latin typeface="Arial"/>
                <a:ea typeface="Arial"/>
                <a:cs typeface="Arial"/>
                <a:sym typeface="Arial"/>
              </a:rPr>
              <a:t> boxplot. </a:t>
            </a:r>
          </a:p>
          <a:p>
            <a:pPr marL="457200" lvl="0" indent="-342900">
              <a:lnSpc>
                <a:spcPct val="115000"/>
              </a:lnSpc>
              <a:spcBef>
                <a:spcPts val="0"/>
              </a:spcBef>
              <a:buClr>
                <a:schemeClr val="dk1"/>
              </a:buClr>
              <a:buSzPts val="1800"/>
              <a:buChar char="●"/>
            </a:pPr>
            <a:r>
              <a:rPr lang="en-US" sz="2400" dirty="0">
                <a:latin typeface="Arial"/>
                <a:ea typeface="Arial"/>
                <a:cs typeface="Arial"/>
                <a:sym typeface="Arial"/>
              </a:rPr>
              <a:t>Boxplot </a:t>
            </a:r>
            <a:r>
              <a:rPr lang="en-US" sz="2400" dirty="0" err="1">
                <a:latin typeface="Arial"/>
                <a:ea typeface="Arial"/>
                <a:cs typeface="Arial"/>
                <a:sym typeface="Arial"/>
              </a:rPr>
              <a:t>menggambarkan</a:t>
            </a:r>
            <a:r>
              <a:rPr lang="en-US" sz="2400" dirty="0">
                <a:latin typeface="Arial"/>
                <a:ea typeface="Arial"/>
                <a:cs typeface="Arial"/>
                <a:sym typeface="Arial"/>
              </a:rPr>
              <a:t> variable </a:t>
            </a:r>
            <a:r>
              <a:rPr lang="en-US" sz="2400" dirty="0" err="1">
                <a:latin typeface="Arial"/>
                <a:ea typeface="Arial"/>
                <a:cs typeface="Arial"/>
                <a:sym typeface="Arial"/>
              </a:rPr>
              <a:t>variable</a:t>
            </a:r>
            <a:r>
              <a:rPr lang="en-US" sz="2400" dirty="0">
                <a:latin typeface="Arial"/>
                <a:ea typeface="Arial"/>
                <a:cs typeface="Arial"/>
                <a:sym typeface="Arial"/>
              </a:rPr>
              <a:t> statistic </a:t>
            </a:r>
            <a:r>
              <a:rPr lang="en-US" sz="2400" dirty="0" err="1">
                <a:latin typeface="Arial"/>
                <a:ea typeface="Arial"/>
                <a:cs typeface="Arial"/>
                <a:sym typeface="Arial"/>
              </a:rPr>
              <a:t>seperti</a:t>
            </a:r>
            <a:r>
              <a:rPr lang="en-US" sz="2400" dirty="0">
                <a:latin typeface="Arial"/>
                <a:ea typeface="Arial"/>
                <a:cs typeface="Arial"/>
                <a:sym typeface="Arial"/>
              </a:rPr>
              <a:t> </a:t>
            </a:r>
            <a:r>
              <a:rPr lang="en-US" sz="2400" dirty="0" err="1">
                <a:latin typeface="Arial"/>
                <a:ea typeface="Arial"/>
                <a:cs typeface="Arial"/>
                <a:sym typeface="Arial"/>
              </a:rPr>
              <a:t>quartil</a:t>
            </a:r>
            <a:r>
              <a:rPr lang="en-US" sz="2400" dirty="0">
                <a:latin typeface="Arial"/>
                <a:ea typeface="Arial"/>
                <a:cs typeface="Arial"/>
                <a:sym typeface="Arial"/>
              </a:rPr>
              <a:t> 1, median / </a:t>
            </a:r>
            <a:r>
              <a:rPr lang="en-US" sz="2400" dirty="0" err="1">
                <a:latin typeface="Arial"/>
                <a:ea typeface="Arial"/>
                <a:cs typeface="Arial"/>
                <a:sym typeface="Arial"/>
              </a:rPr>
              <a:t>quartil</a:t>
            </a:r>
            <a:r>
              <a:rPr lang="en-US" sz="2400" dirty="0">
                <a:latin typeface="Arial"/>
                <a:ea typeface="Arial"/>
                <a:cs typeface="Arial"/>
                <a:sym typeface="Arial"/>
              </a:rPr>
              <a:t> 2, </a:t>
            </a:r>
            <a:r>
              <a:rPr lang="en-US" sz="2400" dirty="0" err="1">
                <a:latin typeface="Arial"/>
                <a:ea typeface="Arial"/>
                <a:cs typeface="Arial"/>
                <a:sym typeface="Arial"/>
              </a:rPr>
              <a:t>quartil</a:t>
            </a:r>
            <a:r>
              <a:rPr lang="en-US" sz="2400" dirty="0">
                <a:latin typeface="Arial"/>
                <a:ea typeface="Arial"/>
                <a:cs typeface="Arial"/>
                <a:sym typeface="Arial"/>
              </a:rPr>
              <a:t> 3, </a:t>
            </a:r>
            <a:r>
              <a:rPr lang="en-US" sz="2400" dirty="0" err="1">
                <a:latin typeface="Arial"/>
                <a:ea typeface="Arial"/>
                <a:cs typeface="Arial"/>
                <a:sym typeface="Arial"/>
              </a:rPr>
              <a:t>nilai</a:t>
            </a:r>
            <a:r>
              <a:rPr lang="en-US" sz="2400" dirty="0">
                <a:latin typeface="Arial"/>
                <a:ea typeface="Arial"/>
                <a:cs typeface="Arial"/>
                <a:sym typeface="Arial"/>
              </a:rPr>
              <a:t> </a:t>
            </a:r>
            <a:r>
              <a:rPr lang="en-US" sz="2400" dirty="0" err="1">
                <a:latin typeface="Arial"/>
                <a:ea typeface="Arial"/>
                <a:cs typeface="Arial"/>
                <a:sym typeface="Arial"/>
              </a:rPr>
              <a:t>maksimum</a:t>
            </a:r>
            <a:r>
              <a:rPr lang="en-US" sz="2400" dirty="0">
                <a:latin typeface="Arial"/>
                <a:ea typeface="Arial"/>
                <a:cs typeface="Arial"/>
                <a:sym typeface="Arial"/>
              </a:rPr>
              <a:t>, </a:t>
            </a:r>
            <a:r>
              <a:rPr lang="en-US" sz="2400" dirty="0" err="1">
                <a:latin typeface="Arial"/>
                <a:ea typeface="Arial"/>
                <a:cs typeface="Arial"/>
                <a:sym typeface="Arial"/>
              </a:rPr>
              <a:t>nilai</a:t>
            </a:r>
            <a:r>
              <a:rPr lang="en-US" sz="2400" dirty="0">
                <a:latin typeface="Arial"/>
                <a:ea typeface="Arial"/>
                <a:cs typeface="Arial"/>
                <a:sym typeface="Arial"/>
              </a:rPr>
              <a:t> minimum, dan outlier.</a:t>
            </a:r>
          </a:p>
        </p:txBody>
      </p:sp>
      <p:pic>
        <p:nvPicPr>
          <p:cNvPr id="6" name="Google Shape;563;p62">
            <a:extLst>
              <a:ext uri="{FF2B5EF4-FFF2-40B4-BE49-F238E27FC236}">
                <a16:creationId xmlns:a16="http://schemas.microsoft.com/office/drawing/2014/main" id="{856508CF-EE50-B6B1-058B-D3F93DF8721A}"/>
              </a:ext>
            </a:extLst>
          </p:cNvPr>
          <p:cNvPicPr preferRelativeResize="0"/>
          <p:nvPr/>
        </p:nvPicPr>
        <p:blipFill rotWithShape="1">
          <a:blip r:embed="rId2">
            <a:alphaModFix/>
          </a:blip>
          <a:srcRect/>
          <a:stretch/>
        </p:blipFill>
        <p:spPr>
          <a:xfrm>
            <a:off x="7508241" y="2121471"/>
            <a:ext cx="4475479" cy="2958529"/>
          </a:xfrm>
          <a:prstGeom prst="rect">
            <a:avLst/>
          </a:prstGeom>
          <a:noFill/>
          <a:ln>
            <a:noFill/>
          </a:ln>
        </p:spPr>
      </p:pic>
    </p:spTree>
    <p:extLst>
      <p:ext uri="{BB962C8B-B14F-4D97-AF65-F5344CB8AC3E}">
        <p14:creationId xmlns:p14="http://schemas.microsoft.com/office/powerpoint/2010/main" val="237436328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F3232-C407-E6E2-A58B-A41BD26674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88F5DC-1852-4758-E9F2-F2BDA3329CBF}"/>
              </a:ext>
            </a:extLst>
          </p:cNvPr>
          <p:cNvSpPr>
            <a:spLocks noGrp="1"/>
          </p:cNvSpPr>
          <p:nvPr>
            <p:ph type="title"/>
          </p:nvPr>
        </p:nvSpPr>
        <p:spPr>
          <a:xfrm>
            <a:off x="838200" y="365125"/>
            <a:ext cx="10515600" cy="915035"/>
          </a:xfrm>
        </p:spPr>
        <p:txBody>
          <a:bodyPr>
            <a:normAutofit/>
          </a:bodyPr>
          <a:lstStyle/>
          <a:p>
            <a:r>
              <a:rPr lang="en-US" b="1" dirty="0"/>
              <a:t>Descriptive Statistic</a:t>
            </a:r>
            <a:endParaRPr lang="en-US" dirty="0"/>
          </a:p>
        </p:txBody>
      </p:sp>
      <p:sp>
        <p:nvSpPr>
          <p:cNvPr id="3" name="Content Placeholder 2">
            <a:extLst>
              <a:ext uri="{FF2B5EF4-FFF2-40B4-BE49-F238E27FC236}">
                <a16:creationId xmlns:a16="http://schemas.microsoft.com/office/drawing/2014/main" id="{9985034E-66FE-6DDE-7E9F-03AB4B512693}"/>
              </a:ext>
            </a:extLst>
          </p:cNvPr>
          <p:cNvSpPr>
            <a:spLocks noGrp="1"/>
          </p:cNvSpPr>
          <p:nvPr>
            <p:ph idx="1"/>
          </p:nvPr>
        </p:nvSpPr>
        <p:spPr>
          <a:xfrm>
            <a:off x="147320" y="1280160"/>
            <a:ext cx="7411719" cy="4351338"/>
          </a:xfrm>
        </p:spPr>
        <p:txBody>
          <a:bodyPr>
            <a:normAutofit/>
          </a:bodyPr>
          <a:lstStyle/>
          <a:p>
            <a:pPr marL="457200" lvl="0" indent="-317500">
              <a:lnSpc>
                <a:spcPct val="115000"/>
              </a:lnSpc>
              <a:spcBef>
                <a:spcPts val="0"/>
              </a:spcBef>
              <a:buClr>
                <a:schemeClr val="dk1"/>
              </a:buClr>
              <a:buSzPts val="1400"/>
              <a:buChar char="●"/>
            </a:pPr>
            <a:r>
              <a:rPr lang="en-US" sz="2400" dirty="0" err="1">
                <a:latin typeface="Arial"/>
                <a:ea typeface="Arial"/>
                <a:cs typeface="Arial"/>
                <a:sym typeface="Arial"/>
              </a:rPr>
              <a:t>Fungsi</a:t>
            </a:r>
            <a:r>
              <a:rPr lang="en-US" sz="2400" dirty="0">
                <a:latin typeface="Arial"/>
                <a:ea typeface="Arial"/>
                <a:cs typeface="Arial"/>
                <a:sym typeface="Arial"/>
              </a:rPr>
              <a:t> </a:t>
            </a:r>
            <a:r>
              <a:rPr lang="en-US" sz="2400" dirty="0" err="1">
                <a:latin typeface="Arial"/>
                <a:ea typeface="Arial"/>
                <a:cs typeface="Arial"/>
                <a:sym typeface="Arial"/>
              </a:rPr>
              <a:t>deskripsi</a:t>
            </a:r>
            <a:r>
              <a:rPr lang="en-US" sz="2400" dirty="0">
                <a:latin typeface="Arial"/>
                <a:ea typeface="Arial"/>
                <a:cs typeface="Arial"/>
                <a:sym typeface="Arial"/>
              </a:rPr>
              <a:t> </a:t>
            </a:r>
            <a:r>
              <a:rPr lang="en-US" sz="2400" dirty="0" err="1">
                <a:latin typeface="Arial"/>
                <a:ea typeface="Arial"/>
                <a:cs typeface="Arial"/>
                <a:sym typeface="Arial"/>
              </a:rPr>
              <a:t>secara</a:t>
            </a:r>
            <a:r>
              <a:rPr lang="en-US" sz="2400" dirty="0">
                <a:latin typeface="Arial"/>
                <a:ea typeface="Arial"/>
                <a:cs typeface="Arial"/>
                <a:sym typeface="Arial"/>
              </a:rPr>
              <a:t> </a:t>
            </a:r>
            <a:r>
              <a:rPr lang="en-US" sz="2400" dirty="0" err="1">
                <a:latin typeface="Arial"/>
                <a:ea typeface="Arial"/>
                <a:cs typeface="Arial"/>
                <a:sym typeface="Arial"/>
              </a:rPr>
              <a:t>otomatis</a:t>
            </a:r>
            <a:r>
              <a:rPr lang="en-US" sz="2400" dirty="0">
                <a:latin typeface="Arial"/>
                <a:ea typeface="Arial"/>
                <a:cs typeface="Arial"/>
                <a:sym typeface="Arial"/>
              </a:rPr>
              <a:t> </a:t>
            </a:r>
            <a:r>
              <a:rPr lang="en-US" sz="2400" dirty="0" err="1">
                <a:latin typeface="Arial"/>
                <a:ea typeface="Arial"/>
                <a:cs typeface="Arial"/>
                <a:sym typeface="Arial"/>
              </a:rPr>
              <a:t>menghitung</a:t>
            </a:r>
            <a:r>
              <a:rPr lang="en-US" sz="2400" dirty="0">
                <a:latin typeface="Arial"/>
                <a:ea typeface="Arial"/>
                <a:cs typeface="Arial"/>
                <a:sym typeface="Arial"/>
              </a:rPr>
              <a:t> </a:t>
            </a:r>
            <a:r>
              <a:rPr lang="en-US" sz="2400" dirty="0" err="1">
                <a:latin typeface="Arial"/>
                <a:ea typeface="Arial"/>
                <a:cs typeface="Arial"/>
                <a:sym typeface="Arial"/>
              </a:rPr>
              <a:t>statistik</a:t>
            </a:r>
            <a:r>
              <a:rPr lang="en-US" sz="2400" dirty="0">
                <a:latin typeface="Arial"/>
                <a:ea typeface="Arial"/>
                <a:cs typeface="Arial"/>
                <a:sym typeface="Arial"/>
              </a:rPr>
              <a:t> </a:t>
            </a:r>
            <a:r>
              <a:rPr lang="en-US" sz="2400" dirty="0" err="1">
                <a:latin typeface="Arial"/>
                <a:ea typeface="Arial"/>
                <a:cs typeface="Arial"/>
                <a:sym typeface="Arial"/>
              </a:rPr>
              <a:t>dasar</a:t>
            </a:r>
            <a:r>
              <a:rPr lang="en-US" sz="2400" dirty="0">
                <a:latin typeface="Arial"/>
                <a:ea typeface="Arial"/>
                <a:cs typeface="Arial"/>
                <a:sym typeface="Arial"/>
              </a:rPr>
              <a:t> </a:t>
            </a:r>
            <a:r>
              <a:rPr lang="en-US" sz="2400" dirty="0" err="1">
                <a:latin typeface="Arial"/>
                <a:ea typeface="Arial"/>
                <a:cs typeface="Arial"/>
                <a:sym typeface="Arial"/>
              </a:rPr>
              <a:t>untuk</a:t>
            </a:r>
            <a:r>
              <a:rPr lang="en-US" sz="2400" dirty="0">
                <a:latin typeface="Arial"/>
                <a:ea typeface="Arial"/>
                <a:cs typeface="Arial"/>
                <a:sym typeface="Arial"/>
              </a:rPr>
              <a:t> </a:t>
            </a:r>
            <a:r>
              <a:rPr lang="en-US" sz="2400" dirty="0" err="1">
                <a:latin typeface="Arial"/>
                <a:ea typeface="Arial"/>
                <a:cs typeface="Arial"/>
                <a:sym typeface="Arial"/>
              </a:rPr>
              <a:t>semua</a:t>
            </a:r>
            <a:r>
              <a:rPr lang="en-US" sz="2400" dirty="0">
                <a:latin typeface="Arial"/>
                <a:ea typeface="Arial"/>
                <a:cs typeface="Arial"/>
                <a:sym typeface="Arial"/>
              </a:rPr>
              <a:t> </a:t>
            </a:r>
            <a:r>
              <a:rPr lang="en-US" sz="2400" dirty="0" err="1">
                <a:latin typeface="Arial"/>
                <a:ea typeface="Arial"/>
                <a:cs typeface="Arial"/>
                <a:sym typeface="Arial"/>
              </a:rPr>
              <a:t>variabel</a:t>
            </a:r>
            <a:r>
              <a:rPr lang="en-US" sz="2400" dirty="0">
                <a:latin typeface="Arial"/>
                <a:ea typeface="Arial"/>
                <a:cs typeface="Arial"/>
                <a:sym typeface="Arial"/>
              </a:rPr>
              <a:t> </a:t>
            </a:r>
            <a:r>
              <a:rPr lang="en-US" sz="2400" dirty="0" err="1">
                <a:latin typeface="Arial"/>
                <a:ea typeface="Arial"/>
                <a:cs typeface="Arial"/>
                <a:sym typeface="Arial"/>
              </a:rPr>
              <a:t>kontinu</a:t>
            </a:r>
            <a:r>
              <a:rPr lang="en-US" sz="2400" dirty="0">
                <a:latin typeface="Arial"/>
                <a:ea typeface="Arial"/>
                <a:cs typeface="Arial"/>
                <a:sym typeface="Arial"/>
              </a:rPr>
              <a:t>. </a:t>
            </a:r>
          </a:p>
          <a:p>
            <a:pPr marL="457200" lvl="0" indent="-317500">
              <a:lnSpc>
                <a:spcPct val="115000"/>
              </a:lnSpc>
              <a:spcBef>
                <a:spcPts val="0"/>
              </a:spcBef>
              <a:buClr>
                <a:schemeClr val="dk1"/>
              </a:buClr>
              <a:buSzPts val="1400"/>
              <a:buChar char="●"/>
            </a:pPr>
            <a:r>
              <a:rPr lang="en-US" sz="2400" dirty="0" err="1">
                <a:latin typeface="Arial"/>
                <a:ea typeface="Arial"/>
                <a:cs typeface="Arial"/>
                <a:sym typeface="Arial"/>
              </a:rPr>
              <a:t>Analisis</a:t>
            </a:r>
            <a:r>
              <a:rPr lang="en-US" sz="2400" dirty="0">
                <a:latin typeface="Arial"/>
                <a:ea typeface="Arial"/>
                <a:cs typeface="Arial"/>
                <a:sym typeface="Arial"/>
              </a:rPr>
              <a:t> yang </a:t>
            </a:r>
            <a:r>
              <a:rPr lang="en-US" sz="2400" dirty="0" err="1">
                <a:latin typeface="Arial"/>
                <a:ea typeface="Arial"/>
                <a:cs typeface="Arial"/>
                <a:sym typeface="Arial"/>
              </a:rPr>
              <a:t>bisa</a:t>
            </a:r>
            <a:r>
              <a:rPr lang="en-US" sz="2400" dirty="0">
                <a:latin typeface="Arial"/>
                <a:ea typeface="Arial"/>
                <a:cs typeface="Arial"/>
                <a:sym typeface="Arial"/>
              </a:rPr>
              <a:t> </a:t>
            </a:r>
            <a:r>
              <a:rPr lang="en-US" sz="2400" dirty="0" err="1">
                <a:latin typeface="Arial"/>
                <a:ea typeface="Arial"/>
                <a:cs typeface="Arial"/>
                <a:sym typeface="Arial"/>
              </a:rPr>
              <a:t>kita</a:t>
            </a:r>
            <a:r>
              <a:rPr lang="en-US" sz="2400" dirty="0">
                <a:latin typeface="Arial"/>
                <a:ea typeface="Arial"/>
                <a:cs typeface="Arial"/>
                <a:sym typeface="Arial"/>
              </a:rPr>
              <a:t> </a:t>
            </a:r>
            <a:r>
              <a:rPr lang="en-US" sz="2400" dirty="0" err="1">
                <a:latin typeface="Arial"/>
                <a:ea typeface="Arial"/>
                <a:cs typeface="Arial"/>
                <a:sym typeface="Arial"/>
              </a:rPr>
              <a:t>dapatkan</a:t>
            </a:r>
            <a:r>
              <a:rPr lang="en-US" sz="2400" dirty="0">
                <a:latin typeface="Arial"/>
                <a:ea typeface="Arial"/>
                <a:cs typeface="Arial"/>
                <a:sym typeface="Arial"/>
              </a:rPr>
              <a:t> </a:t>
            </a:r>
            <a:r>
              <a:rPr lang="en-US" sz="2400" dirty="0" err="1">
                <a:latin typeface="Arial"/>
                <a:ea typeface="Arial"/>
                <a:cs typeface="Arial"/>
                <a:sym typeface="Arial"/>
              </a:rPr>
              <a:t>dari</a:t>
            </a:r>
            <a:r>
              <a:rPr lang="en-US" sz="2400" dirty="0">
                <a:latin typeface="Arial"/>
                <a:ea typeface="Arial"/>
                <a:cs typeface="Arial"/>
                <a:sym typeface="Arial"/>
              </a:rPr>
              <a:t> </a:t>
            </a:r>
            <a:r>
              <a:rPr lang="en-US" sz="2400" dirty="0" err="1">
                <a:latin typeface="Arial"/>
                <a:ea typeface="Arial"/>
                <a:cs typeface="Arial"/>
                <a:sym typeface="Arial"/>
              </a:rPr>
              <a:t>deskriptif</a:t>
            </a:r>
            <a:r>
              <a:rPr lang="en-US" sz="2400" dirty="0">
                <a:latin typeface="Arial"/>
                <a:ea typeface="Arial"/>
                <a:cs typeface="Arial"/>
                <a:sym typeface="Arial"/>
              </a:rPr>
              <a:t> </a:t>
            </a:r>
            <a:r>
              <a:rPr lang="en-US" sz="2400" dirty="0" err="1">
                <a:latin typeface="Arial"/>
                <a:ea typeface="Arial"/>
                <a:cs typeface="Arial"/>
                <a:sym typeface="Arial"/>
              </a:rPr>
              <a:t>statistik</a:t>
            </a:r>
            <a:r>
              <a:rPr lang="en-US" sz="2400" dirty="0">
                <a:latin typeface="Arial"/>
                <a:ea typeface="Arial"/>
                <a:cs typeface="Arial"/>
                <a:sym typeface="Arial"/>
              </a:rPr>
              <a:t> </a:t>
            </a:r>
            <a:r>
              <a:rPr lang="en-US" sz="2400" dirty="0" err="1">
                <a:latin typeface="Arial"/>
                <a:ea typeface="Arial"/>
                <a:cs typeface="Arial"/>
                <a:sym typeface="Arial"/>
              </a:rPr>
              <a:t>adalah</a:t>
            </a:r>
            <a:endParaRPr lang="en-US" sz="2400" dirty="0">
              <a:latin typeface="Arial"/>
              <a:ea typeface="Arial"/>
              <a:cs typeface="Arial"/>
              <a:sym typeface="Arial"/>
            </a:endParaRPr>
          </a:p>
          <a:p>
            <a:pPr marL="914400" lvl="1" indent="-317500">
              <a:lnSpc>
                <a:spcPct val="115000"/>
              </a:lnSpc>
              <a:spcBef>
                <a:spcPts val="0"/>
              </a:spcBef>
              <a:buSzPts val="1400"/>
              <a:buChar char="○"/>
            </a:pPr>
            <a:r>
              <a:rPr lang="en-US" dirty="0" err="1">
                <a:latin typeface="Arial"/>
                <a:ea typeface="Arial"/>
                <a:cs typeface="Arial"/>
                <a:sym typeface="Arial"/>
              </a:rPr>
              <a:t>Jumlah</a:t>
            </a:r>
            <a:r>
              <a:rPr lang="en-US" dirty="0">
                <a:latin typeface="Arial"/>
                <a:ea typeface="Arial"/>
                <a:cs typeface="Arial"/>
                <a:sym typeface="Arial"/>
              </a:rPr>
              <a:t> </a:t>
            </a:r>
            <a:r>
              <a:rPr lang="en-US" dirty="0" err="1">
                <a:latin typeface="Arial"/>
                <a:ea typeface="Arial"/>
                <a:cs typeface="Arial"/>
                <a:sym typeface="Arial"/>
              </a:rPr>
              <a:t>variabel</a:t>
            </a:r>
            <a:endParaRPr lang="en-US" dirty="0">
              <a:latin typeface="Arial"/>
              <a:ea typeface="Arial"/>
              <a:cs typeface="Arial"/>
              <a:sym typeface="Arial"/>
            </a:endParaRPr>
          </a:p>
          <a:p>
            <a:pPr marL="914400" lvl="1" indent="-317500">
              <a:lnSpc>
                <a:spcPct val="115000"/>
              </a:lnSpc>
              <a:spcBef>
                <a:spcPts val="0"/>
              </a:spcBef>
              <a:buSzPts val="1400"/>
              <a:buChar char="○"/>
            </a:pPr>
            <a:r>
              <a:rPr lang="en-US" dirty="0">
                <a:latin typeface="Arial"/>
                <a:ea typeface="Arial"/>
                <a:cs typeface="Arial"/>
                <a:sym typeface="Arial"/>
              </a:rPr>
              <a:t>Rata-rata</a:t>
            </a:r>
          </a:p>
          <a:p>
            <a:pPr marL="914400" lvl="1" indent="-317500">
              <a:lnSpc>
                <a:spcPct val="115000"/>
              </a:lnSpc>
              <a:spcBef>
                <a:spcPts val="0"/>
              </a:spcBef>
              <a:buSzPts val="1400"/>
              <a:buChar char="○"/>
            </a:pPr>
            <a:r>
              <a:rPr lang="en-US" dirty="0">
                <a:latin typeface="Arial"/>
                <a:ea typeface="Arial"/>
                <a:cs typeface="Arial"/>
                <a:sym typeface="Arial"/>
              </a:rPr>
              <a:t>Standard </a:t>
            </a:r>
            <a:r>
              <a:rPr lang="en-US" dirty="0" err="1">
                <a:latin typeface="Arial"/>
                <a:ea typeface="Arial"/>
                <a:cs typeface="Arial"/>
                <a:sym typeface="Arial"/>
              </a:rPr>
              <a:t>deviasi</a:t>
            </a:r>
            <a:endParaRPr lang="en-US" dirty="0">
              <a:latin typeface="Arial"/>
              <a:ea typeface="Arial"/>
              <a:cs typeface="Arial"/>
              <a:sym typeface="Arial"/>
            </a:endParaRPr>
          </a:p>
          <a:p>
            <a:pPr marL="914400" lvl="1" indent="-317500">
              <a:lnSpc>
                <a:spcPct val="115000"/>
              </a:lnSpc>
              <a:spcBef>
                <a:spcPts val="0"/>
              </a:spcBef>
              <a:buSzPts val="1400"/>
              <a:buChar char="○"/>
            </a:pPr>
            <a:r>
              <a:rPr lang="en-US" dirty="0">
                <a:latin typeface="Arial"/>
                <a:ea typeface="Arial"/>
                <a:cs typeface="Arial"/>
                <a:sym typeface="Arial"/>
              </a:rPr>
              <a:t>Nilai minimal</a:t>
            </a:r>
          </a:p>
          <a:p>
            <a:pPr marL="914400" lvl="1" indent="-317500">
              <a:lnSpc>
                <a:spcPct val="115000"/>
              </a:lnSpc>
              <a:spcBef>
                <a:spcPts val="0"/>
              </a:spcBef>
              <a:buSzPts val="1400"/>
              <a:buChar char="○"/>
            </a:pPr>
            <a:r>
              <a:rPr lang="en-US" dirty="0">
                <a:latin typeface="Arial"/>
                <a:ea typeface="Arial"/>
                <a:cs typeface="Arial"/>
                <a:sym typeface="Arial"/>
              </a:rPr>
              <a:t>IQR (Interquartile Range: 25%, 50% and 75%)</a:t>
            </a:r>
          </a:p>
          <a:p>
            <a:pPr marL="914400" lvl="1" indent="-317500">
              <a:lnSpc>
                <a:spcPct val="115000"/>
              </a:lnSpc>
              <a:spcBef>
                <a:spcPts val="0"/>
              </a:spcBef>
              <a:buSzPts val="1400"/>
              <a:buChar char="○"/>
            </a:pPr>
            <a:r>
              <a:rPr lang="en-US" dirty="0">
                <a:latin typeface="Arial"/>
                <a:ea typeface="Arial"/>
                <a:cs typeface="Arial"/>
                <a:sym typeface="Arial"/>
              </a:rPr>
              <a:t>Nilai Maximal</a:t>
            </a:r>
          </a:p>
        </p:txBody>
      </p:sp>
      <p:pic>
        <p:nvPicPr>
          <p:cNvPr id="6" name="Google Shape;563;p62">
            <a:extLst>
              <a:ext uri="{FF2B5EF4-FFF2-40B4-BE49-F238E27FC236}">
                <a16:creationId xmlns:a16="http://schemas.microsoft.com/office/drawing/2014/main" id="{18D77A6D-318E-197F-0C57-C7644BB3392E}"/>
              </a:ext>
            </a:extLst>
          </p:cNvPr>
          <p:cNvPicPr preferRelativeResize="0"/>
          <p:nvPr/>
        </p:nvPicPr>
        <p:blipFill rotWithShape="1">
          <a:blip r:embed="rId2">
            <a:alphaModFix/>
          </a:blip>
          <a:srcRect/>
          <a:stretch/>
        </p:blipFill>
        <p:spPr>
          <a:xfrm>
            <a:off x="7376161" y="1054671"/>
            <a:ext cx="4475479" cy="2958529"/>
          </a:xfrm>
          <a:prstGeom prst="rect">
            <a:avLst/>
          </a:prstGeom>
          <a:noFill/>
          <a:ln>
            <a:noFill/>
          </a:ln>
        </p:spPr>
      </p:pic>
      <p:pic>
        <p:nvPicPr>
          <p:cNvPr id="5" name="Google Shape;572;p63">
            <a:extLst>
              <a:ext uri="{FF2B5EF4-FFF2-40B4-BE49-F238E27FC236}">
                <a16:creationId xmlns:a16="http://schemas.microsoft.com/office/drawing/2014/main" id="{799EA484-908D-4A4E-4E1B-93C88B997AE7}"/>
              </a:ext>
            </a:extLst>
          </p:cNvPr>
          <p:cNvPicPr preferRelativeResize="0"/>
          <p:nvPr/>
        </p:nvPicPr>
        <p:blipFill rotWithShape="1">
          <a:blip r:embed="rId3">
            <a:alphaModFix/>
          </a:blip>
          <a:srcRect/>
          <a:stretch/>
        </p:blipFill>
        <p:spPr>
          <a:xfrm>
            <a:off x="3291840" y="5130800"/>
            <a:ext cx="8900160" cy="1727200"/>
          </a:xfrm>
          <a:prstGeom prst="rect">
            <a:avLst/>
          </a:prstGeom>
          <a:noFill/>
          <a:ln>
            <a:noFill/>
          </a:ln>
        </p:spPr>
      </p:pic>
    </p:spTree>
    <p:extLst>
      <p:ext uri="{BB962C8B-B14F-4D97-AF65-F5344CB8AC3E}">
        <p14:creationId xmlns:p14="http://schemas.microsoft.com/office/powerpoint/2010/main" val="82109549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F995B-84B9-2740-F580-9C98A8DC1178}"/>
            </a:ext>
          </a:extLst>
        </p:cNvPr>
        <p:cNvGrpSpPr/>
        <p:nvPr/>
      </p:nvGrpSpPr>
      <p:grpSpPr>
        <a:xfrm>
          <a:off x="0" y="0"/>
          <a:ext cx="0" cy="0"/>
          <a:chOff x="0" y="0"/>
          <a:chExt cx="0" cy="0"/>
        </a:xfrm>
      </p:grpSpPr>
      <p:pic>
        <p:nvPicPr>
          <p:cNvPr id="8" name="Google Shape;580;g10054a4cacb_1_43">
            <a:extLst>
              <a:ext uri="{FF2B5EF4-FFF2-40B4-BE49-F238E27FC236}">
                <a16:creationId xmlns:a16="http://schemas.microsoft.com/office/drawing/2014/main" id="{9A4615C4-64E3-E5AE-A5B1-44062759DBA3}"/>
              </a:ext>
            </a:extLst>
          </p:cNvPr>
          <p:cNvPicPr preferRelativeResize="0"/>
          <p:nvPr/>
        </p:nvPicPr>
        <p:blipFill>
          <a:blip r:embed="rId2">
            <a:alphaModFix/>
          </a:blip>
          <a:stretch>
            <a:fillRect/>
          </a:stretch>
        </p:blipFill>
        <p:spPr>
          <a:xfrm>
            <a:off x="372124" y="1017723"/>
            <a:ext cx="8154413" cy="2465799"/>
          </a:xfrm>
          <a:prstGeom prst="rect">
            <a:avLst/>
          </a:prstGeom>
          <a:noFill/>
          <a:ln>
            <a:noFill/>
          </a:ln>
        </p:spPr>
      </p:pic>
      <p:pic>
        <p:nvPicPr>
          <p:cNvPr id="11" name="Google Shape;583;g10054a4cacb_1_43">
            <a:extLst>
              <a:ext uri="{FF2B5EF4-FFF2-40B4-BE49-F238E27FC236}">
                <a16:creationId xmlns:a16="http://schemas.microsoft.com/office/drawing/2014/main" id="{E8A8CD83-3AC6-4D88-A23B-2BEAE7026BFE}"/>
              </a:ext>
            </a:extLst>
          </p:cNvPr>
          <p:cNvPicPr preferRelativeResize="0"/>
          <p:nvPr/>
        </p:nvPicPr>
        <p:blipFill>
          <a:blip r:embed="rId3">
            <a:alphaModFix/>
          </a:blip>
          <a:stretch>
            <a:fillRect/>
          </a:stretch>
        </p:blipFill>
        <p:spPr>
          <a:xfrm>
            <a:off x="372124" y="3678770"/>
            <a:ext cx="4159235" cy="3077630"/>
          </a:xfrm>
          <a:prstGeom prst="rect">
            <a:avLst/>
          </a:prstGeom>
          <a:noFill/>
          <a:ln>
            <a:noFill/>
          </a:ln>
        </p:spPr>
      </p:pic>
      <p:sp>
        <p:nvSpPr>
          <p:cNvPr id="2" name="Title 1">
            <a:extLst>
              <a:ext uri="{FF2B5EF4-FFF2-40B4-BE49-F238E27FC236}">
                <a16:creationId xmlns:a16="http://schemas.microsoft.com/office/drawing/2014/main" id="{3955E14E-5C06-400D-75AF-0A5E92119779}"/>
              </a:ext>
            </a:extLst>
          </p:cNvPr>
          <p:cNvSpPr>
            <a:spLocks noGrp="1"/>
          </p:cNvSpPr>
          <p:nvPr>
            <p:ph type="title"/>
          </p:nvPr>
        </p:nvSpPr>
        <p:spPr>
          <a:xfrm>
            <a:off x="838200" y="365125"/>
            <a:ext cx="10515600" cy="915035"/>
          </a:xfrm>
        </p:spPr>
        <p:txBody>
          <a:bodyPr>
            <a:normAutofit/>
          </a:bodyPr>
          <a:lstStyle/>
          <a:p>
            <a:r>
              <a:rPr lang="en-US" b="1" dirty="0"/>
              <a:t>Descriptive Statistic</a:t>
            </a:r>
            <a:endParaRPr lang="en-US" dirty="0"/>
          </a:p>
        </p:txBody>
      </p:sp>
      <p:sp>
        <p:nvSpPr>
          <p:cNvPr id="9" name="Google Shape;581;g10054a4cacb_1_43">
            <a:extLst>
              <a:ext uri="{FF2B5EF4-FFF2-40B4-BE49-F238E27FC236}">
                <a16:creationId xmlns:a16="http://schemas.microsoft.com/office/drawing/2014/main" id="{D1980CDA-FB8F-0D4D-E536-D528D625B825}"/>
              </a:ext>
            </a:extLst>
          </p:cNvPr>
          <p:cNvSpPr/>
          <p:nvPr/>
        </p:nvSpPr>
        <p:spPr>
          <a:xfrm>
            <a:off x="9225414" y="2146997"/>
            <a:ext cx="2864986" cy="469688"/>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id"/>
              <a:t>Menghitung statistik dasar</a:t>
            </a:r>
            <a:endParaRPr/>
          </a:p>
        </p:txBody>
      </p:sp>
      <p:cxnSp>
        <p:nvCxnSpPr>
          <p:cNvPr id="10" name="Google Shape;582;g10054a4cacb_1_43">
            <a:extLst>
              <a:ext uri="{FF2B5EF4-FFF2-40B4-BE49-F238E27FC236}">
                <a16:creationId xmlns:a16="http://schemas.microsoft.com/office/drawing/2014/main" id="{04776C1E-159B-7318-E0D7-7BE6101EB2E0}"/>
              </a:ext>
            </a:extLst>
          </p:cNvPr>
          <p:cNvCxnSpPr/>
          <p:nvPr/>
        </p:nvCxnSpPr>
        <p:spPr>
          <a:xfrm>
            <a:off x="8666214" y="2365508"/>
            <a:ext cx="559200" cy="0"/>
          </a:xfrm>
          <a:prstGeom prst="straightConnector1">
            <a:avLst/>
          </a:prstGeom>
          <a:noFill/>
          <a:ln w="19050" cap="flat" cmpd="sng">
            <a:solidFill>
              <a:srgbClr val="1EA4B2"/>
            </a:solidFill>
            <a:prstDash val="solid"/>
            <a:round/>
            <a:headEnd type="none" w="med" len="med"/>
            <a:tailEnd type="triangle" w="med" len="med"/>
          </a:ln>
        </p:spPr>
      </p:cxnSp>
      <p:sp>
        <p:nvSpPr>
          <p:cNvPr id="12" name="Google Shape;584;g10054a4cacb_1_43">
            <a:extLst>
              <a:ext uri="{FF2B5EF4-FFF2-40B4-BE49-F238E27FC236}">
                <a16:creationId xmlns:a16="http://schemas.microsoft.com/office/drawing/2014/main" id="{7FD0211D-F2D7-634F-CCCA-14B8B0936328}"/>
              </a:ext>
            </a:extLst>
          </p:cNvPr>
          <p:cNvSpPr/>
          <p:nvPr/>
        </p:nvSpPr>
        <p:spPr>
          <a:xfrm>
            <a:off x="5155149" y="4596280"/>
            <a:ext cx="4590186" cy="469689"/>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id" dirty="0"/>
              <a:t>Visualisasi boxplot “body-style” dan “price”</a:t>
            </a:r>
            <a:endParaRPr dirty="0"/>
          </a:p>
        </p:txBody>
      </p:sp>
      <p:cxnSp>
        <p:nvCxnSpPr>
          <p:cNvPr id="13" name="Google Shape;585;g10054a4cacb_1_43">
            <a:extLst>
              <a:ext uri="{FF2B5EF4-FFF2-40B4-BE49-F238E27FC236}">
                <a16:creationId xmlns:a16="http://schemas.microsoft.com/office/drawing/2014/main" id="{40684A28-77C8-B3B6-9182-4A3B696D1776}"/>
              </a:ext>
            </a:extLst>
          </p:cNvPr>
          <p:cNvCxnSpPr/>
          <p:nvPr/>
        </p:nvCxnSpPr>
        <p:spPr>
          <a:xfrm>
            <a:off x="4595949" y="4831125"/>
            <a:ext cx="559200" cy="0"/>
          </a:xfrm>
          <a:prstGeom prst="straightConnector1">
            <a:avLst/>
          </a:prstGeom>
          <a:noFill/>
          <a:ln w="19050" cap="flat" cmpd="sng">
            <a:solidFill>
              <a:srgbClr val="1EA4B2"/>
            </a:solidFill>
            <a:prstDash val="solid"/>
            <a:round/>
            <a:headEnd type="none" w="med" len="med"/>
            <a:tailEnd type="triangle" w="med" len="med"/>
          </a:ln>
        </p:spPr>
      </p:cxnSp>
    </p:spTree>
    <p:extLst>
      <p:ext uri="{BB962C8B-B14F-4D97-AF65-F5344CB8AC3E}">
        <p14:creationId xmlns:p14="http://schemas.microsoft.com/office/powerpoint/2010/main" val="312876091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9F9CA-F977-A658-69B2-0862ECD9CC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0E481D-6DF7-13E7-9384-42185CA9324D}"/>
              </a:ext>
            </a:extLst>
          </p:cNvPr>
          <p:cNvSpPr>
            <a:spLocks noGrp="1"/>
          </p:cNvSpPr>
          <p:nvPr>
            <p:ph type="title"/>
          </p:nvPr>
        </p:nvSpPr>
        <p:spPr>
          <a:xfrm>
            <a:off x="838200" y="365125"/>
            <a:ext cx="10515600" cy="915035"/>
          </a:xfrm>
        </p:spPr>
        <p:txBody>
          <a:bodyPr>
            <a:normAutofit/>
          </a:bodyPr>
          <a:lstStyle/>
          <a:p>
            <a:r>
              <a:rPr lang="en-US" b="1" dirty="0"/>
              <a:t>Grouping</a:t>
            </a:r>
            <a:endParaRPr lang="en-US" dirty="0"/>
          </a:p>
        </p:txBody>
      </p:sp>
      <p:sp>
        <p:nvSpPr>
          <p:cNvPr id="3" name="Content Placeholder 2">
            <a:extLst>
              <a:ext uri="{FF2B5EF4-FFF2-40B4-BE49-F238E27FC236}">
                <a16:creationId xmlns:a16="http://schemas.microsoft.com/office/drawing/2014/main" id="{67D99B3D-FB0F-698C-B014-94C8C7A99F7F}"/>
              </a:ext>
            </a:extLst>
          </p:cNvPr>
          <p:cNvSpPr>
            <a:spLocks noGrp="1"/>
          </p:cNvSpPr>
          <p:nvPr>
            <p:ph idx="1"/>
          </p:nvPr>
        </p:nvSpPr>
        <p:spPr>
          <a:xfrm>
            <a:off x="208281" y="1591945"/>
            <a:ext cx="7299960" cy="4351338"/>
          </a:xfrm>
        </p:spPr>
        <p:txBody>
          <a:bodyPr>
            <a:normAutofit/>
          </a:bodyPr>
          <a:lstStyle/>
          <a:p>
            <a:pPr marL="457200" lvl="0" indent="-342900">
              <a:lnSpc>
                <a:spcPct val="115000"/>
              </a:lnSpc>
              <a:spcBef>
                <a:spcPts val="0"/>
              </a:spcBef>
              <a:buClr>
                <a:schemeClr val="dk1"/>
              </a:buClr>
              <a:buSzPts val="1800"/>
              <a:buChar char="●"/>
            </a:pPr>
            <a:r>
              <a:rPr lang="en-US" sz="2400" dirty="0">
                <a:latin typeface="Arial"/>
                <a:ea typeface="Arial"/>
                <a:cs typeface="Arial"/>
                <a:sym typeface="Arial"/>
              </a:rPr>
              <a:t>Method "</a:t>
            </a:r>
            <a:r>
              <a:rPr lang="en-US" sz="2400" b="1" dirty="0" err="1">
                <a:latin typeface="Arial"/>
                <a:ea typeface="Arial"/>
                <a:cs typeface="Arial"/>
                <a:sym typeface="Arial"/>
              </a:rPr>
              <a:t>groupby</a:t>
            </a:r>
            <a:r>
              <a:rPr lang="en-US" sz="2400" dirty="0">
                <a:latin typeface="Arial"/>
                <a:ea typeface="Arial"/>
                <a:cs typeface="Arial"/>
                <a:sym typeface="Arial"/>
              </a:rPr>
              <a:t>"  </a:t>
            </a:r>
            <a:r>
              <a:rPr lang="en-US" sz="2400" dirty="0" err="1">
                <a:latin typeface="Arial"/>
                <a:ea typeface="Arial"/>
                <a:cs typeface="Arial"/>
                <a:sym typeface="Arial"/>
              </a:rPr>
              <a:t>digunakan</a:t>
            </a:r>
            <a:r>
              <a:rPr lang="en-US" sz="2400" dirty="0">
                <a:latin typeface="Arial"/>
                <a:ea typeface="Arial"/>
                <a:cs typeface="Arial"/>
                <a:sym typeface="Arial"/>
              </a:rPr>
              <a:t> </a:t>
            </a:r>
            <a:r>
              <a:rPr lang="en-US" sz="2400" dirty="0" err="1">
                <a:latin typeface="Arial"/>
                <a:ea typeface="Arial"/>
                <a:cs typeface="Arial"/>
                <a:sym typeface="Arial"/>
              </a:rPr>
              <a:t>untuk</a:t>
            </a:r>
            <a:r>
              <a:rPr lang="en-US" sz="2400" dirty="0">
                <a:latin typeface="Arial"/>
                <a:ea typeface="Arial"/>
                <a:cs typeface="Arial"/>
                <a:sym typeface="Arial"/>
              </a:rPr>
              <a:t> </a:t>
            </a:r>
            <a:r>
              <a:rPr lang="en-US" sz="2400" dirty="0" err="1">
                <a:latin typeface="Arial"/>
                <a:ea typeface="Arial"/>
                <a:cs typeface="Arial"/>
                <a:sym typeface="Arial"/>
              </a:rPr>
              <a:t>mengelompokkan</a:t>
            </a:r>
            <a:r>
              <a:rPr lang="en-US" sz="2400" dirty="0">
                <a:latin typeface="Arial"/>
                <a:ea typeface="Arial"/>
                <a:cs typeface="Arial"/>
                <a:sym typeface="Arial"/>
              </a:rPr>
              <a:t> data </a:t>
            </a:r>
            <a:r>
              <a:rPr lang="en-US" sz="2400" dirty="0" err="1">
                <a:latin typeface="Arial"/>
                <a:ea typeface="Arial"/>
                <a:cs typeface="Arial"/>
                <a:sym typeface="Arial"/>
              </a:rPr>
              <a:t>menurut</a:t>
            </a:r>
            <a:r>
              <a:rPr lang="en-US" sz="2400" dirty="0">
                <a:latin typeface="Arial"/>
                <a:ea typeface="Arial"/>
                <a:cs typeface="Arial"/>
                <a:sym typeface="Arial"/>
              </a:rPr>
              <a:t> </a:t>
            </a:r>
            <a:r>
              <a:rPr lang="en-US" sz="2400" dirty="0" err="1">
                <a:latin typeface="Arial"/>
                <a:ea typeface="Arial"/>
                <a:cs typeface="Arial"/>
                <a:sym typeface="Arial"/>
              </a:rPr>
              <a:t>kategori</a:t>
            </a:r>
            <a:r>
              <a:rPr lang="en-US" sz="2400" dirty="0">
                <a:latin typeface="Arial"/>
                <a:ea typeface="Arial"/>
                <a:cs typeface="Arial"/>
                <a:sym typeface="Arial"/>
              </a:rPr>
              <a:t> yang </a:t>
            </a:r>
            <a:r>
              <a:rPr lang="en-US" sz="2400" dirty="0" err="1">
                <a:latin typeface="Arial"/>
                <a:ea typeface="Arial"/>
                <a:cs typeface="Arial"/>
                <a:sym typeface="Arial"/>
              </a:rPr>
              <a:t>berbeda</a:t>
            </a:r>
            <a:r>
              <a:rPr lang="en-US" sz="2400" dirty="0">
                <a:latin typeface="Arial"/>
                <a:ea typeface="Arial"/>
                <a:cs typeface="Arial"/>
                <a:sym typeface="Arial"/>
              </a:rPr>
              <a:t>. Data </a:t>
            </a:r>
            <a:r>
              <a:rPr lang="en-US" sz="2400" dirty="0" err="1">
                <a:latin typeface="Arial"/>
                <a:ea typeface="Arial"/>
                <a:cs typeface="Arial"/>
                <a:sym typeface="Arial"/>
              </a:rPr>
              <a:t>dikelompokkan</a:t>
            </a:r>
            <a:r>
              <a:rPr lang="en-US" sz="2400" dirty="0">
                <a:latin typeface="Arial"/>
                <a:ea typeface="Arial"/>
                <a:cs typeface="Arial"/>
                <a:sym typeface="Arial"/>
              </a:rPr>
              <a:t> </a:t>
            </a:r>
            <a:r>
              <a:rPr lang="en-US" sz="2400" dirty="0" err="1">
                <a:latin typeface="Arial"/>
                <a:ea typeface="Arial"/>
                <a:cs typeface="Arial"/>
                <a:sym typeface="Arial"/>
              </a:rPr>
              <a:t>berdasarkan</a:t>
            </a:r>
            <a:r>
              <a:rPr lang="en-US" sz="2400" dirty="0">
                <a:latin typeface="Arial"/>
                <a:ea typeface="Arial"/>
                <a:cs typeface="Arial"/>
                <a:sym typeface="Arial"/>
              </a:rPr>
              <a:t> </a:t>
            </a:r>
            <a:r>
              <a:rPr lang="en-US" sz="2400" dirty="0" err="1">
                <a:latin typeface="Arial"/>
                <a:ea typeface="Arial"/>
                <a:cs typeface="Arial"/>
                <a:sym typeface="Arial"/>
              </a:rPr>
              <a:t>satu</a:t>
            </a:r>
            <a:r>
              <a:rPr lang="en-US" sz="2400" dirty="0">
                <a:latin typeface="Arial"/>
                <a:ea typeface="Arial"/>
                <a:cs typeface="Arial"/>
                <a:sym typeface="Arial"/>
              </a:rPr>
              <a:t> </a:t>
            </a:r>
            <a:r>
              <a:rPr lang="en-US" sz="2400" dirty="0" err="1">
                <a:latin typeface="Arial"/>
                <a:ea typeface="Arial"/>
                <a:cs typeface="Arial"/>
                <a:sym typeface="Arial"/>
              </a:rPr>
              <a:t>atau</a:t>
            </a:r>
            <a:r>
              <a:rPr lang="en-US" sz="2400" dirty="0">
                <a:latin typeface="Arial"/>
                <a:ea typeface="Arial"/>
                <a:cs typeface="Arial"/>
                <a:sym typeface="Arial"/>
              </a:rPr>
              <a:t> </a:t>
            </a:r>
            <a:r>
              <a:rPr lang="en-US" sz="2400" dirty="0" err="1">
                <a:latin typeface="Arial"/>
                <a:ea typeface="Arial"/>
                <a:cs typeface="Arial"/>
                <a:sym typeface="Arial"/>
              </a:rPr>
              <a:t>beberapa</a:t>
            </a:r>
            <a:r>
              <a:rPr lang="en-US" sz="2400" dirty="0">
                <a:latin typeface="Arial"/>
                <a:ea typeface="Arial"/>
                <a:cs typeface="Arial"/>
                <a:sym typeface="Arial"/>
              </a:rPr>
              <a:t> </a:t>
            </a:r>
            <a:r>
              <a:rPr lang="en-US" sz="2400" dirty="0" err="1">
                <a:latin typeface="Arial"/>
                <a:ea typeface="Arial"/>
                <a:cs typeface="Arial"/>
                <a:sym typeface="Arial"/>
              </a:rPr>
              <a:t>variabel</a:t>
            </a:r>
            <a:r>
              <a:rPr lang="en-US" sz="2400" dirty="0">
                <a:latin typeface="Arial"/>
                <a:ea typeface="Arial"/>
                <a:cs typeface="Arial"/>
                <a:sym typeface="Arial"/>
              </a:rPr>
              <a:t> dan </a:t>
            </a:r>
            <a:r>
              <a:rPr lang="en-US" sz="2400" dirty="0" err="1">
                <a:latin typeface="Arial"/>
                <a:ea typeface="Arial"/>
                <a:cs typeface="Arial"/>
                <a:sym typeface="Arial"/>
              </a:rPr>
              <a:t>analisis</a:t>
            </a:r>
            <a:r>
              <a:rPr lang="en-US" sz="2400" dirty="0">
                <a:latin typeface="Arial"/>
                <a:ea typeface="Arial"/>
                <a:cs typeface="Arial"/>
                <a:sym typeface="Arial"/>
              </a:rPr>
              <a:t> </a:t>
            </a:r>
            <a:r>
              <a:rPr lang="en-US" sz="2400" dirty="0" err="1">
                <a:latin typeface="Arial"/>
                <a:ea typeface="Arial"/>
                <a:cs typeface="Arial"/>
                <a:sym typeface="Arial"/>
              </a:rPr>
              <a:t>dilakukan</a:t>
            </a:r>
            <a:r>
              <a:rPr lang="en-US" sz="2400" dirty="0">
                <a:latin typeface="Arial"/>
                <a:ea typeface="Arial"/>
                <a:cs typeface="Arial"/>
                <a:sym typeface="Arial"/>
              </a:rPr>
              <a:t> pada </a:t>
            </a:r>
            <a:r>
              <a:rPr lang="en-US" sz="2400" dirty="0" err="1">
                <a:latin typeface="Arial"/>
                <a:ea typeface="Arial"/>
                <a:cs typeface="Arial"/>
                <a:sym typeface="Arial"/>
              </a:rPr>
              <a:t>kelompok</a:t>
            </a:r>
            <a:r>
              <a:rPr lang="en-US" sz="2400" dirty="0">
                <a:latin typeface="Arial"/>
                <a:ea typeface="Arial"/>
                <a:cs typeface="Arial"/>
                <a:sym typeface="Arial"/>
              </a:rPr>
              <a:t> </a:t>
            </a:r>
            <a:r>
              <a:rPr lang="en-US" sz="2400" dirty="0" err="1">
                <a:latin typeface="Arial"/>
                <a:ea typeface="Arial"/>
                <a:cs typeface="Arial"/>
                <a:sym typeface="Arial"/>
              </a:rPr>
              <a:t>individu</a:t>
            </a:r>
            <a:r>
              <a:rPr lang="en-US" sz="2400" dirty="0">
                <a:latin typeface="Arial"/>
                <a:ea typeface="Arial"/>
                <a:cs typeface="Arial"/>
                <a:sym typeface="Arial"/>
              </a:rPr>
              <a:t>.</a:t>
            </a:r>
          </a:p>
          <a:p>
            <a:pPr marL="457200" lvl="0" indent="-342900">
              <a:lnSpc>
                <a:spcPct val="115000"/>
              </a:lnSpc>
              <a:spcBef>
                <a:spcPts val="0"/>
              </a:spcBef>
              <a:buClr>
                <a:schemeClr val="dk1"/>
              </a:buClr>
              <a:buSzPts val="1800"/>
              <a:buChar char="●"/>
            </a:pPr>
            <a:r>
              <a:rPr lang="en-US" sz="2400" dirty="0" err="1">
                <a:latin typeface="Arial"/>
                <a:ea typeface="Arial"/>
                <a:cs typeface="Arial"/>
                <a:sym typeface="Arial"/>
              </a:rPr>
              <a:t>Sebagai</a:t>
            </a:r>
            <a:r>
              <a:rPr lang="en-US" sz="2400" dirty="0">
                <a:latin typeface="Arial"/>
                <a:ea typeface="Arial"/>
                <a:cs typeface="Arial"/>
                <a:sym typeface="Arial"/>
              </a:rPr>
              <a:t> </a:t>
            </a:r>
            <a:r>
              <a:rPr lang="en-US" sz="2400" dirty="0" err="1">
                <a:latin typeface="Arial"/>
                <a:ea typeface="Arial"/>
                <a:cs typeface="Arial"/>
                <a:sym typeface="Arial"/>
              </a:rPr>
              <a:t>contoh</a:t>
            </a:r>
            <a:r>
              <a:rPr lang="en-US" sz="2400" dirty="0">
                <a:latin typeface="Arial"/>
                <a:ea typeface="Arial"/>
                <a:cs typeface="Arial"/>
                <a:sym typeface="Arial"/>
              </a:rPr>
              <a:t>, </a:t>
            </a:r>
            <a:r>
              <a:rPr lang="en-US" sz="2400" dirty="0" err="1">
                <a:latin typeface="Arial"/>
                <a:ea typeface="Arial"/>
                <a:cs typeface="Arial"/>
                <a:sym typeface="Arial"/>
              </a:rPr>
              <a:t>mari</a:t>
            </a:r>
            <a:r>
              <a:rPr lang="en-US" sz="2400" dirty="0">
                <a:latin typeface="Arial"/>
                <a:ea typeface="Arial"/>
                <a:cs typeface="Arial"/>
                <a:sym typeface="Arial"/>
              </a:rPr>
              <a:t> </a:t>
            </a:r>
            <a:r>
              <a:rPr lang="en-US" sz="2400" dirty="0" err="1">
                <a:latin typeface="Arial"/>
                <a:ea typeface="Arial"/>
                <a:cs typeface="Arial"/>
                <a:sym typeface="Arial"/>
              </a:rPr>
              <a:t>kita</a:t>
            </a:r>
            <a:r>
              <a:rPr lang="en-US" sz="2400" dirty="0">
                <a:latin typeface="Arial"/>
                <a:ea typeface="Arial"/>
                <a:cs typeface="Arial"/>
                <a:sym typeface="Arial"/>
              </a:rPr>
              <a:t> </a:t>
            </a:r>
            <a:r>
              <a:rPr lang="en-US" sz="2400" dirty="0" err="1">
                <a:latin typeface="Arial"/>
                <a:ea typeface="Arial"/>
                <a:cs typeface="Arial"/>
                <a:sym typeface="Arial"/>
              </a:rPr>
              <a:t>kelompokkan</a:t>
            </a:r>
            <a:r>
              <a:rPr lang="en-US" sz="2400" dirty="0">
                <a:latin typeface="Arial"/>
                <a:ea typeface="Arial"/>
                <a:cs typeface="Arial"/>
                <a:sym typeface="Arial"/>
              </a:rPr>
              <a:t> </a:t>
            </a:r>
            <a:r>
              <a:rPr lang="en-US" sz="2400" dirty="0" err="1">
                <a:latin typeface="Arial"/>
                <a:ea typeface="Arial"/>
                <a:cs typeface="Arial"/>
                <a:sym typeface="Arial"/>
              </a:rPr>
              <a:t>berdasarkan</a:t>
            </a:r>
            <a:r>
              <a:rPr lang="en-US" sz="2400" dirty="0">
                <a:latin typeface="Arial"/>
                <a:ea typeface="Arial"/>
                <a:cs typeface="Arial"/>
                <a:sym typeface="Arial"/>
              </a:rPr>
              <a:t> </a:t>
            </a:r>
            <a:r>
              <a:rPr lang="en-US" sz="2400" dirty="0" err="1">
                <a:latin typeface="Arial"/>
                <a:ea typeface="Arial"/>
                <a:cs typeface="Arial"/>
                <a:sym typeface="Arial"/>
              </a:rPr>
              <a:t>variabel</a:t>
            </a:r>
            <a:r>
              <a:rPr lang="en-US" sz="2400" dirty="0">
                <a:latin typeface="Arial"/>
                <a:ea typeface="Arial"/>
                <a:cs typeface="Arial"/>
                <a:sym typeface="Arial"/>
              </a:rPr>
              <a:t> "drive-wheels". Kita </a:t>
            </a:r>
            <a:r>
              <a:rPr lang="en-US" sz="2400" dirty="0" err="1">
                <a:latin typeface="Arial"/>
                <a:ea typeface="Arial"/>
                <a:cs typeface="Arial"/>
                <a:sym typeface="Arial"/>
              </a:rPr>
              <a:t>melihat</a:t>
            </a:r>
            <a:r>
              <a:rPr lang="en-US" sz="2400" dirty="0">
                <a:latin typeface="Arial"/>
                <a:ea typeface="Arial"/>
                <a:cs typeface="Arial"/>
                <a:sym typeface="Arial"/>
              </a:rPr>
              <a:t> </a:t>
            </a:r>
            <a:r>
              <a:rPr lang="en-US" sz="2400" dirty="0" err="1">
                <a:latin typeface="Arial"/>
                <a:ea typeface="Arial"/>
                <a:cs typeface="Arial"/>
                <a:sym typeface="Arial"/>
              </a:rPr>
              <a:t>bahwa</a:t>
            </a:r>
            <a:r>
              <a:rPr lang="en-US" sz="2400" dirty="0">
                <a:latin typeface="Arial"/>
                <a:ea typeface="Arial"/>
                <a:cs typeface="Arial"/>
                <a:sym typeface="Arial"/>
              </a:rPr>
              <a:t> </a:t>
            </a:r>
            <a:r>
              <a:rPr lang="en-US" sz="2400" dirty="0" err="1">
                <a:latin typeface="Arial"/>
                <a:ea typeface="Arial"/>
                <a:cs typeface="Arial"/>
                <a:sym typeface="Arial"/>
              </a:rPr>
              <a:t>ada</a:t>
            </a:r>
            <a:r>
              <a:rPr lang="en-US" sz="2400" dirty="0">
                <a:latin typeface="Arial"/>
                <a:ea typeface="Arial"/>
                <a:cs typeface="Arial"/>
                <a:sym typeface="Arial"/>
              </a:rPr>
              <a:t> 3 </a:t>
            </a:r>
            <a:r>
              <a:rPr lang="en-US" sz="2400" dirty="0" err="1">
                <a:latin typeface="Arial"/>
                <a:ea typeface="Arial"/>
                <a:cs typeface="Arial"/>
                <a:sym typeface="Arial"/>
              </a:rPr>
              <a:t>kategori</a:t>
            </a:r>
            <a:r>
              <a:rPr lang="en-US" sz="2400" dirty="0">
                <a:latin typeface="Arial"/>
                <a:ea typeface="Arial"/>
                <a:cs typeface="Arial"/>
                <a:sym typeface="Arial"/>
              </a:rPr>
              <a:t> </a:t>
            </a:r>
            <a:r>
              <a:rPr lang="en-US" sz="2400" dirty="0" err="1">
                <a:latin typeface="Arial"/>
                <a:ea typeface="Arial"/>
                <a:cs typeface="Arial"/>
                <a:sym typeface="Arial"/>
              </a:rPr>
              <a:t>roda</a:t>
            </a:r>
            <a:r>
              <a:rPr lang="en-US" sz="2400" dirty="0">
                <a:latin typeface="Arial"/>
                <a:ea typeface="Arial"/>
                <a:cs typeface="Arial"/>
                <a:sym typeface="Arial"/>
              </a:rPr>
              <a:t> </a:t>
            </a:r>
            <a:r>
              <a:rPr lang="en-US" sz="2400" dirty="0" err="1">
                <a:latin typeface="Arial"/>
                <a:ea typeface="Arial"/>
                <a:cs typeface="Arial"/>
                <a:sym typeface="Arial"/>
              </a:rPr>
              <a:t>penggerak</a:t>
            </a:r>
            <a:r>
              <a:rPr lang="en-US" sz="2400" dirty="0">
                <a:latin typeface="Arial"/>
                <a:ea typeface="Arial"/>
                <a:cs typeface="Arial"/>
                <a:sym typeface="Arial"/>
              </a:rPr>
              <a:t> yang </a:t>
            </a:r>
            <a:r>
              <a:rPr lang="en-US" sz="2400" dirty="0" err="1">
                <a:latin typeface="Arial"/>
                <a:ea typeface="Arial"/>
                <a:cs typeface="Arial"/>
                <a:sym typeface="Arial"/>
              </a:rPr>
              <a:t>berbeda</a:t>
            </a:r>
            <a:r>
              <a:rPr lang="en-US" sz="2400" dirty="0">
                <a:latin typeface="Arial"/>
                <a:ea typeface="Arial"/>
                <a:cs typeface="Arial"/>
                <a:sym typeface="Arial"/>
              </a:rPr>
              <a:t>.</a:t>
            </a:r>
          </a:p>
        </p:txBody>
      </p:sp>
      <p:sp>
        <p:nvSpPr>
          <p:cNvPr id="5" name="Google Shape;593;p64">
            <a:extLst>
              <a:ext uri="{FF2B5EF4-FFF2-40B4-BE49-F238E27FC236}">
                <a16:creationId xmlns:a16="http://schemas.microsoft.com/office/drawing/2014/main" id="{0307BA82-EA15-0649-3DF4-C43BBF669F7F}"/>
              </a:ext>
            </a:extLst>
          </p:cNvPr>
          <p:cNvSpPr txBox="1"/>
          <p:nvPr/>
        </p:nvSpPr>
        <p:spPr>
          <a:xfrm>
            <a:off x="7508241" y="2769948"/>
            <a:ext cx="4408800" cy="513000"/>
          </a:xfrm>
          <a:prstGeom prst="rect">
            <a:avLst/>
          </a:prstGeom>
          <a:solidFill>
            <a:schemeClr val="bg1">
              <a:lumMod val="85000"/>
            </a:schemeClr>
          </a:solidFill>
          <a:ln>
            <a:noFill/>
          </a:ln>
        </p:spPr>
        <p:txBody>
          <a:bodyPr spcFirstLastPara="1" wrap="square" lIns="91425" tIns="91425" rIns="91425" bIns="91425" anchor="t" anchorCtr="0">
            <a:noAutofit/>
          </a:bodyPr>
          <a:lstStyle/>
          <a:p>
            <a:pPr marL="457200" marR="0" lvl="0" indent="0" algn="l" rtl="0">
              <a:lnSpc>
                <a:spcPct val="101785"/>
              </a:lnSpc>
              <a:spcBef>
                <a:spcPts val="0"/>
              </a:spcBef>
              <a:spcAft>
                <a:spcPts val="0"/>
              </a:spcAft>
              <a:buClr>
                <a:srgbClr val="000000"/>
              </a:buClr>
              <a:buSzPts val="1400"/>
              <a:buFont typeface="Arial"/>
              <a:buNone/>
            </a:pPr>
            <a:r>
              <a:rPr lang="id" b="0" i="0" u="none" strike="noStrike" cap="none" dirty="0">
                <a:solidFill>
                  <a:srgbClr val="000000"/>
                </a:solidFill>
                <a:latin typeface="Courier New"/>
                <a:ea typeface="Courier New"/>
                <a:cs typeface="Courier New"/>
                <a:sym typeface="Courier New"/>
              </a:rPr>
              <a:t>df[</a:t>
            </a:r>
            <a:r>
              <a:rPr lang="id" b="0" i="0" u="none" strike="noStrike" cap="none" dirty="0">
                <a:solidFill>
                  <a:srgbClr val="A31515"/>
                </a:solidFill>
                <a:latin typeface="Courier New"/>
                <a:ea typeface="Courier New"/>
                <a:cs typeface="Courier New"/>
                <a:sym typeface="Courier New"/>
              </a:rPr>
              <a:t>'drive-wheels'</a:t>
            </a:r>
            <a:r>
              <a:rPr lang="id" b="0" i="0" u="none" strike="noStrike" cap="none" dirty="0">
                <a:solidFill>
                  <a:srgbClr val="000000"/>
                </a:solidFill>
                <a:latin typeface="Courier New"/>
                <a:ea typeface="Courier New"/>
                <a:cs typeface="Courier New"/>
                <a:sym typeface="Courier New"/>
              </a:rPr>
              <a:t>].unique()</a:t>
            </a:r>
            <a:endParaRPr b="0" i="0" u="none" strike="noStrike" cap="none" dirty="0">
              <a:solidFill>
                <a:schemeClr val="dk2"/>
              </a:solidFill>
              <a:latin typeface="Cambria"/>
              <a:ea typeface="Cambria"/>
              <a:cs typeface="Cambria"/>
              <a:sym typeface="Cambria"/>
            </a:endParaRPr>
          </a:p>
        </p:txBody>
      </p:sp>
      <p:pic>
        <p:nvPicPr>
          <p:cNvPr id="8" name="Google Shape;594;p64">
            <a:extLst>
              <a:ext uri="{FF2B5EF4-FFF2-40B4-BE49-F238E27FC236}">
                <a16:creationId xmlns:a16="http://schemas.microsoft.com/office/drawing/2014/main" id="{F28DEF6E-85A9-EEE8-FDC9-DC7A9C9D6DEE}"/>
              </a:ext>
            </a:extLst>
          </p:cNvPr>
          <p:cNvPicPr preferRelativeResize="0"/>
          <p:nvPr/>
        </p:nvPicPr>
        <p:blipFill rotWithShape="1">
          <a:blip r:embed="rId2">
            <a:alphaModFix/>
          </a:blip>
          <a:srcRect/>
          <a:stretch/>
        </p:blipFill>
        <p:spPr>
          <a:xfrm>
            <a:off x="7636229" y="3624100"/>
            <a:ext cx="4280824" cy="337300"/>
          </a:xfrm>
          <a:prstGeom prst="rect">
            <a:avLst/>
          </a:prstGeom>
          <a:noFill/>
          <a:ln>
            <a:noFill/>
          </a:ln>
        </p:spPr>
      </p:pic>
    </p:spTree>
    <p:extLst>
      <p:ext uri="{BB962C8B-B14F-4D97-AF65-F5344CB8AC3E}">
        <p14:creationId xmlns:p14="http://schemas.microsoft.com/office/powerpoint/2010/main" val="411291050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C059E-B16F-A595-611A-4EDB65209E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1942F5-B163-47AB-5C2A-D6CE67D5370A}"/>
              </a:ext>
            </a:extLst>
          </p:cNvPr>
          <p:cNvSpPr>
            <a:spLocks noGrp="1"/>
          </p:cNvSpPr>
          <p:nvPr>
            <p:ph type="title"/>
          </p:nvPr>
        </p:nvSpPr>
        <p:spPr>
          <a:xfrm>
            <a:off x="838200" y="365125"/>
            <a:ext cx="10515600" cy="915035"/>
          </a:xfrm>
        </p:spPr>
        <p:txBody>
          <a:bodyPr>
            <a:normAutofit/>
          </a:bodyPr>
          <a:lstStyle/>
          <a:p>
            <a:r>
              <a:rPr lang="en-US" b="1" dirty="0"/>
              <a:t>Grouping</a:t>
            </a:r>
            <a:endParaRPr lang="en-US" dirty="0"/>
          </a:p>
        </p:txBody>
      </p:sp>
      <p:sp>
        <p:nvSpPr>
          <p:cNvPr id="3" name="Content Placeholder 2">
            <a:extLst>
              <a:ext uri="{FF2B5EF4-FFF2-40B4-BE49-F238E27FC236}">
                <a16:creationId xmlns:a16="http://schemas.microsoft.com/office/drawing/2014/main" id="{85926C06-DB81-F726-530E-D80ECEAD9A89}"/>
              </a:ext>
            </a:extLst>
          </p:cNvPr>
          <p:cNvSpPr>
            <a:spLocks noGrp="1"/>
          </p:cNvSpPr>
          <p:nvPr>
            <p:ph idx="1"/>
          </p:nvPr>
        </p:nvSpPr>
        <p:spPr>
          <a:xfrm>
            <a:off x="208281" y="1591945"/>
            <a:ext cx="7299960" cy="4351338"/>
          </a:xfrm>
        </p:spPr>
        <p:txBody>
          <a:bodyPr>
            <a:normAutofit/>
          </a:bodyPr>
          <a:lstStyle/>
          <a:p>
            <a:pPr marL="457200" lvl="0" indent="-342900">
              <a:lnSpc>
                <a:spcPct val="115000"/>
              </a:lnSpc>
              <a:spcBef>
                <a:spcPts val="0"/>
              </a:spcBef>
              <a:buClr>
                <a:schemeClr val="dk1"/>
              </a:buClr>
              <a:buSzPts val="1800"/>
              <a:buChar char="●"/>
            </a:pPr>
            <a:r>
              <a:rPr lang="en-US" sz="2400" dirty="0">
                <a:latin typeface="Arial"/>
                <a:ea typeface="Arial"/>
                <a:cs typeface="Arial"/>
                <a:sym typeface="Arial"/>
              </a:rPr>
              <a:t>Anda juga </a:t>
            </a:r>
            <a:r>
              <a:rPr lang="en-US" sz="2400" dirty="0" err="1">
                <a:latin typeface="Arial"/>
                <a:ea typeface="Arial"/>
                <a:cs typeface="Arial"/>
                <a:sym typeface="Arial"/>
              </a:rPr>
              <a:t>dapat</a:t>
            </a:r>
            <a:r>
              <a:rPr lang="en-US" sz="2400" dirty="0">
                <a:latin typeface="Arial"/>
                <a:ea typeface="Arial"/>
                <a:cs typeface="Arial"/>
                <a:sym typeface="Arial"/>
              </a:rPr>
              <a:t> </a:t>
            </a:r>
            <a:r>
              <a:rPr lang="en-US" sz="2400" dirty="0" err="1">
                <a:latin typeface="Arial"/>
                <a:ea typeface="Arial"/>
                <a:cs typeface="Arial"/>
                <a:sym typeface="Arial"/>
              </a:rPr>
              <a:t>mengelompokkan</a:t>
            </a:r>
            <a:r>
              <a:rPr lang="en-US" sz="2400" dirty="0">
                <a:latin typeface="Arial"/>
                <a:ea typeface="Arial"/>
                <a:cs typeface="Arial"/>
                <a:sym typeface="Arial"/>
              </a:rPr>
              <a:t> </a:t>
            </a:r>
            <a:r>
              <a:rPr lang="en-US" sz="2400" dirty="0" err="1">
                <a:latin typeface="Arial"/>
                <a:ea typeface="Arial"/>
                <a:cs typeface="Arial"/>
                <a:sym typeface="Arial"/>
              </a:rPr>
              <a:t>dengan</a:t>
            </a:r>
            <a:r>
              <a:rPr lang="en-US" sz="2400" dirty="0">
                <a:latin typeface="Arial"/>
                <a:ea typeface="Arial"/>
                <a:cs typeface="Arial"/>
                <a:sym typeface="Arial"/>
              </a:rPr>
              <a:t> </a:t>
            </a:r>
            <a:r>
              <a:rPr lang="en-US" sz="2400" dirty="0" err="1">
                <a:latin typeface="Arial"/>
                <a:ea typeface="Arial"/>
                <a:cs typeface="Arial"/>
                <a:sym typeface="Arial"/>
              </a:rPr>
              <a:t>beberapa</a:t>
            </a:r>
            <a:r>
              <a:rPr lang="en-US" sz="2400" dirty="0">
                <a:latin typeface="Arial"/>
                <a:ea typeface="Arial"/>
                <a:cs typeface="Arial"/>
                <a:sym typeface="Arial"/>
              </a:rPr>
              <a:t> </a:t>
            </a:r>
            <a:r>
              <a:rPr lang="en-US" sz="2400" dirty="0" err="1">
                <a:latin typeface="Arial"/>
                <a:ea typeface="Arial"/>
                <a:cs typeface="Arial"/>
                <a:sym typeface="Arial"/>
              </a:rPr>
              <a:t>variabel</a:t>
            </a:r>
            <a:r>
              <a:rPr lang="en-US" sz="2400" dirty="0">
                <a:latin typeface="Arial"/>
                <a:ea typeface="Arial"/>
                <a:cs typeface="Arial"/>
                <a:sym typeface="Arial"/>
              </a:rPr>
              <a:t>. </a:t>
            </a:r>
            <a:r>
              <a:rPr lang="en-US" sz="2400" dirty="0" err="1">
                <a:latin typeface="Arial"/>
                <a:ea typeface="Arial"/>
                <a:cs typeface="Arial"/>
                <a:sym typeface="Arial"/>
              </a:rPr>
              <a:t>Misalnya</a:t>
            </a:r>
            <a:r>
              <a:rPr lang="en-US" sz="2400" dirty="0">
                <a:latin typeface="Arial"/>
                <a:ea typeface="Arial"/>
                <a:cs typeface="Arial"/>
                <a:sym typeface="Arial"/>
              </a:rPr>
              <a:t>, </a:t>
            </a:r>
            <a:r>
              <a:rPr lang="en-US" sz="2400" dirty="0" err="1">
                <a:latin typeface="Arial"/>
                <a:ea typeface="Arial"/>
                <a:cs typeface="Arial"/>
                <a:sym typeface="Arial"/>
              </a:rPr>
              <a:t>mari</a:t>
            </a:r>
            <a:r>
              <a:rPr lang="en-US" sz="2400" dirty="0">
                <a:latin typeface="Arial"/>
                <a:ea typeface="Arial"/>
                <a:cs typeface="Arial"/>
                <a:sym typeface="Arial"/>
              </a:rPr>
              <a:t> </a:t>
            </a:r>
            <a:r>
              <a:rPr lang="en-US" sz="2400" dirty="0" err="1">
                <a:latin typeface="Arial"/>
                <a:ea typeface="Arial"/>
                <a:cs typeface="Arial"/>
                <a:sym typeface="Arial"/>
              </a:rPr>
              <a:t>kita</a:t>
            </a:r>
            <a:r>
              <a:rPr lang="en-US" sz="2400" dirty="0">
                <a:latin typeface="Arial"/>
                <a:ea typeface="Arial"/>
                <a:cs typeface="Arial"/>
                <a:sym typeface="Arial"/>
              </a:rPr>
              <a:t> </a:t>
            </a:r>
            <a:r>
              <a:rPr lang="en-US" sz="2400" dirty="0" err="1">
                <a:latin typeface="Arial"/>
                <a:ea typeface="Arial"/>
                <a:cs typeface="Arial"/>
                <a:sym typeface="Arial"/>
              </a:rPr>
              <a:t>kelompokkan</a:t>
            </a:r>
            <a:r>
              <a:rPr lang="en-US" sz="2400" dirty="0">
                <a:latin typeface="Arial"/>
                <a:ea typeface="Arial"/>
                <a:cs typeface="Arial"/>
                <a:sym typeface="Arial"/>
              </a:rPr>
              <a:t> </a:t>
            </a:r>
            <a:r>
              <a:rPr lang="en-US" sz="2400" dirty="0" err="1">
                <a:latin typeface="Arial"/>
                <a:ea typeface="Arial"/>
                <a:cs typeface="Arial"/>
                <a:sym typeface="Arial"/>
              </a:rPr>
              <a:t>berdasarkan</a:t>
            </a:r>
            <a:r>
              <a:rPr lang="en-US" sz="2400" dirty="0">
                <a:latin typeface="Arial"/>
                <a:ea typeface="Arial"/>
                <a:cs typeface="Arial"/>
                <a:sym typeface="Arial"/>
              </a:rPr>
              <a:t> 'drive-wheels' dan body-style’. </a:t>
            </a:r>
          </a:p>
          <a:p>
            <a:pPr marL="457200" lvl="0" indent="-342900">
              <a:lnSpc>
                <a:spcPct val="115000"/>
              </a:lnSpc>
              <a:spcBef>
                <a:spcPts val="0"/>
              </a:spcBef>
              <a:buClr>
                <a:schemeClr val="dk1"/>
              </a:buClr>
              <a:buSzPts val="1800"/>
              <a:buChar char="●"/>
            </a:pPr>
            <a:r>
              <a:rPr lang="en-US" sz="2400" b="1" dirty="0">
                <a:latin typeface="Arial"/>
                <a:ea typeface="Arial"/>
                <a:cs typeface="Arial"/>
                <a:sym typeface="Arial"/>
              </a:rPr>
              <a:t>Grouping </a:t>
            </a:r>
            <a:r>
              <a:rPr lang="en-US" sz="2400" dirty="0" err="1">
                <a:latin typeface="Arial"/>
                <a:ea typeface="Arial"/>
                <a:cs typeface="Arial"/>
                <a:sym typeface="Arial"/>
              </a:rPr>
              <a:t>mengelompokkan</a:t>
            </a:r>
            <a:r>
              <a:rPr lang="en-US" sz="2400" dirty="0">
                <a:latin typeface="Arial"/>
                <a:ea typeface="Arial"/>
                <a:cs typeface="Arial"/>
                <a:sym typeface="Arial"/>
              </a:rPr>
              <a:t> </a:t>
            </a:r>
            <a:r>
              <a:rPr lang="en-US" sz="2400" dirty="0" err="1">
                <a:latin typeface="Arial"/>
                <a:ea typeface="Arial"/>
                <a:cs typeface="Arial"/>
                <a:sym typeface="Arial"/>
              </a:rPr>
              <a:t>dataframe</a:t>
            </a:r>
            <a:r>
              <a:rPr lang="en-US" sz="2400" dirty="0">
                <a:latin typeface="Arial"/>
                <a:ea typeface="Arial"/>
                <a:cs typeface="Arial"/>
                <a:sym typeface="Arial"/>
              </a:rPr>
              <a:t> </a:t>
            </a:r>
            <a:r>
              <a:rPr lang="en-US" sz="2400" dirty="0" err="1">
                <a:latin typeface="Arial"/>
                <a:ea typeface="Arial"/>
                <a:cs typeface="Arial"/>
                <a:sym typeface="Arial"/>
              </a:rPr>
              <a:t>dengan</a:t>
            </a:r>
            <a:r>
              <a:rPr lang="en-US" sz="2400" dirty="0">
                <a:latin typeface="Arial"/>
                <a:ea typeface="Arial"/>
                <a:cs typeface="Arial"/>
                <a:sym typeface="Arial"/>
              </a:rPr>
              <a:t> </a:t>
            </a:r>
            <a:r>
              <a:rPr lang="en-US" sz="2400" dirty="0" err="1">
                <a:latin typeface="Arial"/>
                <a:ea typeface="Arial"/>
                <a:cs typeface="Arial"/>
                <a:sym typeface="Arial"/>
              </a:rPr>
              <a:t>kombinasi</a:t>
            </a:r>
            <a:r>
              <a:rPr lang="en-US" sz="2400" dirty="0">
                <a:latin typeface="Arial"/>
                <a:ea typeface="Arial"/>
                <a:cs typeface="Arial"/>
                <a:sym typeface="Arial"/>
              </a:rPr>
              <a:t> </a:t>
            </a:r>
            <a:r>
              <a:rPr lang="en-US" sz="2400" dirty="0" err="1">
                <a:latin typeface="Arial"/>
                <a:ea typeface="Arial"/>
                <a:cs typeface="Arial"/>
                <a:sym typeface="Arial"/>
              </a:rPr>
              <a:t>unik</a:t>
            </a:r>
            <a:r>
              <a:rPr lang="en-US" sz="2400" dirty="0">
                <a:latin typeface="Arial"/>
                <a:ea typeface="Arial"/>
                <a:cs typeface="Arial"/>
                <a:sym typeface="Arial"/>
              </a:rPr>
              <a:t> 'drive-wheels' dan 'body-style'. Kita </a:t>
            </a:r>
            <a:r>
              <a:rPr lang="en-US" sz="2400" dirty="0" err="1">
                <a:latin typeface="Arial"/>
                <a:ea typeface="Arial"/>
                <a:cs typeface="Arial"/>
                <a:sym typeface="Arial"/>
              </a:rPr>
              <a:t>dapat</a:t>
            </a:r>
            <a:r>
              <a:rPr lang="en-US" sz="2400" dirty="0">
                <a:latin typeface="Arial"/>
                <a:ea typeface="Arial"/>
                <a:cs typeface="Arial"/>
                <a:sym typeface="Arial"/>
              </a:rPr>
              <a:t> </a:t>
            </a:r>
            <a:r>
              <a:rPr lang="en-US" sz="2400" dirty="0" err="1">
                <a:latin typeface="Arial"/>
                <a:ea typeface="Arial"/>
                <a:cs typeface="Arial"/>
                <a:sym typeface="Arial"/>
              </a:rPr>
              <a:t>menyimpan</a:t>
            </a:r>
            <a:r>
              <a:rPr lang="en-US" sz="2400" dirty="0">
                <a:latin typeface="Arial"/>
                <a:ea typeface="Arial"/>
                <a:cs typeface="Arial"/>
                <a:sym typeface="Arial"/>
              </a:rPr>
              <a:t> </a:t>
            </a:r>
            <a:r>
              <a:rPr lang="en-US" sz="2400" dirty="0" err="1">
                <a:latin typeface="Arial"/>
                <a:ea typeface="Arial"/>
                <a:cs typeface="Arial"/>
                <a:sym typeface="Arial"/>
              </a:rPr>
              <a:t>hasilnya</a:t>
            </a:r>
            <a:r>
              <a:rPr lang="en-US" sz="2400" dirty="0">
                <a:latin typeface="Arial"/>
                <a:ea typeface="Arial"/>
                <a:cs typeface="Arial"/>
                <a:sym typeface="Arial"/>
              </a:rPr>
              <a:t> </a:t>
            </a:r>
            <a:r>
              <a:rPr lang="en-US" sz="2400" dirty="0" err="1">
                <a:latin typeface="Arial"/>
                <a:ea typeface="Arial"/>
                <a:cs typeface="Arial"/>
                <a:sym typeface="Arial"/>
              </a:rPr>
              <a:t>dalam</a:t>
            </a:r>
            <a:r>
              <a:rPr lang="en-US" sz="2400" dirty="0">
                <a:latin typeface="Arial"/>
                <a:ea typeface="Arial"/>
                <a:cs typeface="Arial"/>
                <a:sym typeface="Arial"/>
              </a:rPr>
              <a:t> </a:t>
            </a:r>
            <a:r>
              <a:rPr lang="en-US" sz="2400" dirty="0" err="1">
                <a:latin typeface="Arial"/>
                <a:ea typeface="Arial"/>
                <a:cs typeface="Arial"/>
                <a:sym typeface="Arial"/>
              </a:rPr>
              <a:t>variabel</a:t>
            </a:r>
            <a:r>
              <a:rPr lang="en-US" sz="2400" dirty="0">
                <a:latin typeface="Arial"/>
                <a:ea typeface="Arial"/>
                <a:cs typeface="Arial"/>
                <a:sym typeface="Arial"/>
              </a:rPr>
              <a:t> 'grouped_test1'.</a:t>
            </a:r>
          </a:p>
        </p:txBody>
      </p:sp>
      <p:pic>
        <p:nvPicPr>
          <p:cNvPr id="6" name="Google Shape;602;p65">
            <a:extLst>
              <a:ext uri="{FF2B5EF4-FFF2-40B4-BE49-F238E27FC236}">
                <a16:creationId xmlns:a16="http://schemas.microsoft.com/office/drawing/2014/main" id="{7B1B1CF3-23B7-67C0-D8C0-2DECD5DEF01C}"/>
              </a:ext>
            </a:extLst>
          </p:cNvPr>
          <p:cNvPicPr preferRelativeResize="0"/>
          <p:nvPr/>
        </p:nvPicPr>
        <p:blipFill rotWithShape="1">
          <a:blip r:embed="rId2">
            <a:alphaModFix/>
          </a:blip>
          <a:srcRect/>
          <a:stretch/>
        </p:blipFill>
        <p:spPr>
          <a:xfrm>
            <a:off x="7508241" y="1096645"/>
            <a:ext cx="4013446" cy="4846638"/>
          </a:xfrm>
          <a:prstGeom prst="rect">
            <a:avLst/>
          </a:prstGeom>
          <a:noFill/>
          <a:ln>
            <a:noFill/>
          </a:ln>
        </p:spPr>
      </p:pic>
    </p:spTree>
    <p:extLst>
      <p:ext uri="{BB962C8B-B14F-4D97-AF65-F5344CB8AC3E}">
        <p14:creationId xmlns:p14="http://schemas.microsoft.com/office/powerpoint/2010/main" val="269187848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D8567-6770-E290-A15B-0428731882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11367C-82A5-7DDF-587D-689D8D2F948C}"/>
              </a:ext>
            </a:extLst>
          </p:cNvPr>
          <p:cNvSpPr>
            <a:spLocks noGrp="1"/>
          </p:cNvSpPr>
          <p:nvPr>
            <p:ph type="title"/>
          </p:nvPr>
        </p:nvSpPr>
        <p:spPr>
          <a:xfrm>
            <a:off x="838200" y="365125"/>
            <a:ext cx="10515600" cy="915035"/>
          </a:xfrm>
        </p:spPr>
        <p:txBody>
          <a:bodyPr>
            <a:normAutofit/>
          </a:bodyPr>
          <a:lstStyle/>
          <a:p>
            <a:r>
              <a:rPr lang="en-US" b="1" dirty="0"/>
              <a:t>Grouping</a:t>
            </a:r>
            <a:endParaRPr lang="en-US" dirty="0"/>
          </a:p>
        </p:txBody>
      </p:sp>
      <p:sp>
        <p:nvSpPr>
          <p:cNvPr id="3" name="Content Placeholder 2">
            <a:extLst>
              <a:ext uri="{FF2B5EF4-FFF2-40B4-BE49-F238E27FC236}">
                <a16:creationId xmlns:a16="http://schemas.microsoft.com/office/drawing/2014/main" id="{D3385A9E-4C74-EA0C-41D8-C540ED8304D1}"/>
              </a:ext>
            </a:extLst>
          </p:cNvPr>
          <p:cNvSpPr>
            <a:spLocks noGrp="1"/>
          </p:cNvSpPr>
          <p:nvPr>
            <p:ph idx="1"/>
          </p:nvPr>
        </p:nvSpPr>
        <p:spPr>
          <a:xfrm>
            <a:off x="208280" y="1591945"/>
            <a:ext cx="11689079" cy="4351338"/>
          </a:xfrm>
        </p:spPr>
        <p:txBody>
          <a:bodyPr>
            <a:normAutofit/>
          </a:bodyPr>
          <a:lstStyle/>
          <a:p>
            <a:pPr marL="457200" lvl="0" indent="-336550">
              <a:lnSpc>
                <a:spcPct val="115000"/>
              </a:lnSpc>
              <a:spcBef>
                <a:spcPts val="0"/>
              </a:spcBef>
              <a:buClr>
                <a:schemeClr val="dk1"/>
              </a:buClr>
              <a:buSzPts val="1700"/>
              <a:buChar char="●"/>
            </a:pPr>
            <a:r>
              <a:rPr lang="en-US" sz="2400" dirty="0">
                <a:latin typeface="Arial"/>
                <a:ea typeface="Arial"/>
                <a:cs typeface="Arial"/>
                <a:sym typeface="Arial"/>
              </a:rPr>
              <a:t>Data yang </a:t>
            </a:r>
            <a:r>
              <a:rPr lang="en-US" sz="2400" dirty="0" err="1">
                <a:latin typeface="Arial"/>
                <a:ea typeface="Arial"/>
                <a:cs typeface="Arial"/>
                <a:sym typeface="Arial"/>
              </a:rPr>
              <a:t>dikelompokkan</a:t>
            </a:r>
            <a:r>
              <a:rPr lang="en-US" sz="2400" dirty="0">
                <a:latin typeface="Arial"/>
                <a:ea typeface="Arial"/>
                <a:cs typeface="Arial"/>
                <a:sym typeface="Arial"/>
              </a:rPr>
              <a:t> </a:t>
            </a:r>
            <a:r>
              <a:rPr lang="en-US" sz="2400" dirty="0" err="1">
                <a:latin typeface="Arial"/>
                <a:ea typeface="Arial"/>
                <a:cs typeface="Arial"/>
                <a:sym typeface="Arial"/>
              </a:rPr>
              <a:t>ini</a:t>
            </a:r>
            <a:r>
              <a:rPr lang="en-US" sz="2400" dirty="0">
                <a:latin typeface="Arial"/>
                <a:ea typeface="Arial"/>
                <a:cs typeface="Arial"/>
                <a:sym typeface="Arial"/>
              </a:rPr>
              <a:t> </a:t>
            </a:r>
            <a:r>
              <a:rPr lang="en-US" sz="2400" dirty="0" err="1">
                <a:latin typeface="Arial"/>
                <a:ea typeface="Arial"/>
                <a:cs typeface="Arial"/>
                <a:sym typeface="Arial"/>
              </a:rPr>
              <a:t>jauh</a:t>
            </a:r>
            <a:r>
              <a:rPr lang="en-US" sz="2400" dirty="0">
                <a:latin typeface="Arial"/>
                <a:ea typeface="Arial"/>
                <a:cs typeface="Arial"/>
                <a:sym typeface="Arial"/>
              </a:rPr>
              <a:t> </a:t>
            </a:r>
            <a:r>
              <a:rPr lang="en-US" sz="2400" dirty="0" err="1">
                <a:latin typeface="Arial"/>
                <a:ea typeface="Arial"/>
                <a:cs typeface="Arial"/>
                <a:sym typeface="Arial"/>
              </a:rPr>
              <a:t>lebih</a:t>
            </a:r>
            <a:r>
              <a:rPr lang="en-US" sz="2400" dirty="0">
                <a:latin typeface="Arial"/>
                <a:ea typeface="Arial"/>
                <a:cs typeface="Arial"/>
                <a:sym typeface="Arial"/>
              </a:rPr>
              <a:t> </a:t>
            </a:r>
            <a:r>
              <a:rPr lang="en-US" sz="2400" dirty="0" err="1">
                <a:latin typeface="Arial"/>
                <a:ea typeface="Arial"/>
                <a:cs typeface="Arial"/>
                <a:sym typeface="Arial"/>
              </a:rPr>
              <a:t>mudah</a:t>
            </a:r>
            <a:r>
              <a:rPr lang="en-US" sz="2400" dirty="0">
                <a:latin typeface="Arial"/>
                <a:ea typeface="Arial"/>
                <a:cs typeface="Arial"/>
                <a:sym typeface="Arial"/>
              </a:rPr>
              <a:t> </a:t>
            </a:r>
            <a:r>
              <a:rPr lang="en-US" sz="2400" dirty="0" err="1">
                <a:latin typeface="Arial"/>
                <a:ea typeface="Arial"/>
                <a:cs typeface="Arial"/>
                <a:sym typeface="Arial"/>
              </a:rPr>
              <a:t>untuk</a:t>
            </a:r>
            <a:r>
              <a:rPr lang="en-US" sz="2400" dirty="0">
                <a:latin typeface="Arial"/>
                <a:ea typeface="Arial"/>
                <a:cs typeface="Arial"/>
                <a:sym typeface="Arial"/>
              </a:rPr>
              <a:t> </a:t>
            </a:r>
            <a:r>
              <a:rPr lang="en-US" sz="2400" dirty="0" err="1">
                <a:latin typeface="Arial"/>
                <a:ea typeface="Arial"/>
                <a:cs typeface="Arial"/>
                <a:sym typeface="Arial"/>
              </a:rPr>
              <a:t>divisualisasikan</a:t>
            </a:r>
            <a:r>
              <a:rPr lang="en-US" sz="2400" dirty="0">
                <a:latin typeface="Arial"/>
                <a:ea typeface="Arial"/>
                <a:cs typeface="Arial"/>
                <a:sym typeface="Arial"/>
              </a:rPr>
              <a:t> </a:t>
            </a:r>
            <a:r>
              <a:rPr lang="en-US" sz="2400" dirty="0" err="1">
                <a:latin typeface="Arial"/>
                <a:ea typeface="Arial"/>
                <a:cs typeface="Arial"/>
                <a:sym typeface="Arial"/>
              </a:rPr>
              <a:t>ketika</a:t>
            </a:r>
            <a:r>
              <a:rPr lang="en-US" sz="2400" dirty="0">
                <a:latin typeface="Arial"/>
                <a:ea typeface="Arial"/>
                <a:cs typeface="Arial"/>
                <a:sym typeface="Arial"/>
              </a:rPr>
              <a:t> </a:t>
            </a:r>
            <a:r>
              <a:rPr lang="en-US" sz="2400" dirty="0" err="1">
                <a:latin typeface="Arial"/>
                <a:ea typeface="Arial"/>
                <a:cs typeface="Arial"/>
                <a:sym typeface="Arial"/>
              </a:rPr>
              <a:t>dibuat</a:t>
            </a:r>
            <a:r>
              <a:rPr lang="en-US" sz="2400" dirty="0">
                <a:latin typeface="Arial"/>
                <a:ea typeface="Arial"/>
                <a:cs typeface="Arial"/>
                <a:sym typeface="Arial"/>
              </a:rPr>
              <a:t> </a:t>
            </a:r>
            <a:r>
              <a:rPr lang="en-US" sz="2400" dirty="0" err="1">
                <a:latin typeface="Arial"/>
                <a:ea typeface="Arial"/>
                <a:cs typeface="Arial"/>
                <a:sym typeface="Arial"/>
              </a:rPr>
              <a:t>menjadi</a:t>
            </a:r>
            <a:r>
              <a:rPr lang="en-US" sz="2400" dirty="0">
                <a:latin typeface="Arial"/>
                <a:ea typeface="Arial"/>
                <a:cs typeface="Arial"/>
                <a:sym typeface="Arial"/>
              </a:rPr>
              <a:t> </a:t>
            </a:r>
            <a:r>
              <a:rPr lang="en-US" sz="2400" dirty="0" err="1">
                <a:latin typeface="Arial"/>
                <a:ea typeface="Arial"/>
                <a:cs typeface="Arial"/>
                <a:sym typeface="Arial"/>
              </a:rPr>
              <a:t>tabel</a:t>
            </a:r>
            <a:r>
              <a:rPr lang="en-US" sz="2400" dirty="0">
                <a:latin typeface="Arial"/>
                <a:ea typeface="Arial"/>
                <a:cs typeface="Arial"/>
                <a:sym typeface="Arial"/>
              </a:rPr>
              <a:t> pivot. </a:t>
            </a:r>
            <a:endParaRPr lang="en-US" sz="3200" dirty="0">
              <a:latin typeface="Arial"/>
              <a:ea typeface="Arial"/>
              <a:cs typeface="Arial"/>
              <a:sym typeface="Arial"/>
            </a:endParaRPr>
          </a:p>
          <a:p>
            <a:pPr marL="457200" lvl="0" indent="-336550">
              <a:lnSpc>
                <a:spcPct val="115000"/>
              </a:lnSpc>
              <a:spcBef>
                <a:spcPts val="0"/>
              </a:spcBef>
              <a:buClr>
                <a:schemeClr val="dk1"/>
              </a:buClr>
              <a:buSzPts val="1700"/>
              <a:buChar char="●"/>
            </a:pPr>
            <a:r>
              <a:rPr lang="en-US" sz="2400" dirty="0">
                <a:latin typeface="Arial"/>
                <a:ea typeface="Arial"/>
                <a:cs typeface="Arial"/>
                <a:sym typeface="Arial"/>
              </a:rPr>
              <a:t>Tabel pivot yang </a:t>
            </a:r>
            <a:r>
              <a:rPr lang="en-US" sz="2400" dirty="0" err="1">
                <a:latin typeface="Arial"/>
                <a:ea typeface="Arial"/>
                <a:cs typeface="Arial"/>
                <a:sym typeface="Arial"/>
              </a:rPr>
              <a:t>mirip</a:t>
            </a:r>
            <a:r>
              <a:rPr lang="en-US" sz="2400" dirty="0">
                <a:latin typeface="Arial"/>
                <a:ea typeface="Arial"/>
                <a:cs typeface="Arial"/>
                <a:sym typeface="Arial"/>
              </a:rPr>
              <a:t> </a:t>
            </a:r>
            <a:r>
              <a:rPr lang="en-US" sz="2400" dirty="0" err="1">
                <a:latin typeface="Arial"/>
                <a:ea typeface="Arial"/>
                <a:cs typeface="Arial"/>
                <a:sym typeface="Arial"/>
              </a:rPr>
              <a:t>seperti</a:t>
            </a:r>
            <a:r>
              <a:rPr lang="en-US" sz="2400" dirty="0">
                <a:latin typeface="Arial"/>
                <a:ea typeface="Arial"/>
                <a:cs typeface="Arial"/>
                <a:sym typeface="Arial"/>
              </a:rPr>
              <a:t>  pada spreadsheet Excel, </a:t>
            </a:r>
            <a:r>
              <a:rPr lang="en-US" sz="2400" dirty="0" err="1">
                <a:latin typeface="Arial"/>
                <a:ea typeface="Arial"/>
                <a:cs typeface="Arial"/>
                <a:sym typeface="Arial"/>
              </a:rPr>
              <a:t>dengan</a:t>
            </a:r>
            <a:r>
              <a:rPr lang="en-US" sz="2400" dirty="0">
                <a:latin typeface="Arial"/>
                <a:ea typeface="Arial"/>
                <a:cs typeface="Arial"/>
                <a:sym typeface="Arial"/>
              </a:rPr>
              <a:t> </a:t>
            </a:r>
            <a:r>
              <a:rPr lang="en-US" sz="2400" dirty="0" err="1">
                <a:latin typeface="Arial"/>
                <a:ea typeface="Arial"/>
                <a:cs typeface="Arial"/>
                <a:sym typeface="Arial"/>
              </a:rPr>
              <a:t>satu</a:t>
            </a:r>
            <a:r>
              <a:rPr lang="en-US" sz="2400" dirty="0">
                <a:latin typeface="Arial"/>
                <a:ea typeface="Arial"/>
                <a:cs typeface="Arial"/>
                <a:sym typeface="Arial"/>
              </a:rPr>
              <a:t> </a:t>
            </a:r>
            <a:r>
              <a:rPr lang="en-US" sz="2400" dirty="0" err="1">
                <a:latin typeface="Arial"/>
                <a:ea typeface="Arial"/>
                <a:cs typeface="Arial"/>
                <a:sym typeface="Arial"/>
              </a:rPr>
              <a:t>variabel</a:t>
            </a:r>
            <a:r>
              <a:rPr lang="en-US" sz="2400" dirty="0">
                <a:latin typeface="Arial"/>
                <a:ea typeface="Arial"/>
                <a:cs typeface="Arial"/>
                <a:sym typeface="Arial"/>
              </a:rPr>
              <a:t> di </a:t>
            </a:r>
            <a:r>
              <a:rPr lang="en-US" sz="2400" dirty="0" err="1">
                <a:latin typeface="Arial"/>
                <a:ea typeface="Arial"/>
                <a:cs typeface="Arial"/>
                <a:sym typeface="Arial"/>
              </a:rPr>
              <a:t>sepanjang</a:t>
            </a:r>
            <a:r>
              <a:rPr lang="en-US" sz="2400" dirty="0">
                <a:latin typeface="Arial"/>
                <a:ea typeface="Arial"/>
                <a:cs typeface="Arial"/>
                <a:sym typeface="Arial"/>
              </a:rPr>
              <a:t> </a:t>
            </a:r>
            <a:r>
              <a:rPr lang="en-US" sz="2400" dirty="0" err="1">
                <a:latin typeface="Arial"/>
                <a:ea typeface="Arial"/>
                <a:cs typeface="Arial"/>
                <a:sym typeface="Arial"/>
              </a:rPr>
              <a:t>kolom</a:t>
            </a:r>
            <a:r>
              <a:rPr lang="en-US" sz="2400" dirty="0">
                <a:latin typeface="Arial"/>
                <a:ea typeface="Arial"/>
                <a:cs typeface="Arial"/>
                <a:sym typeface="Arial"/>
              </a:rPr>
              <a:t> dan </a:t>
            </a:r>
            <a:r>
              <a:rPr lang="en-US" sz="2400" dirty="0" err="1">
                <a:latin typeface="Arial"/>
                <a:ea typeface="Arial"/>
                <a:cs typeface="Arial"/>
                <a:sym typeface="Arial"/>
              </a:rPr>
              <a:t>variabel</a:t>
            </a:r>
            <a:r>
              <a:rPr lang="en-US" sz="2400" dirty="0">
                <a:latin typeface="Arial"/>
                <a:ea typeface="Arial"/>
                <a:cs typeface="Arial"/>
                <a:sym typeface="Arial"/>
              </a:rPr>
              <a:t> </a:t>
            </a:r>
            <a:r>
              <a:rPr lang="en-US" sz="2400" dirty="0" err="1">
                <a:latin typeface="Arial"/>
                <a:ea typeface="Arial"/>
                <a:cs typeface="Arial"/>
                <a:sym typeface="Arial"/>
              </a:rPr>
              <a:t>lainnya</a:t>
            </a:r>
            <a:r>
              <a:rPr lang="en-US" sz="2400" dirty="0">
                <a:latin typeface="Arial"/>
                <a:ea typeface="Arial"/>
                <a:cs typeface="Arial"/>
                <a:sym typeface="Arial"/>
              </a:rPr>
              <a:t> di </a:t>
            </a:r>
            <a:r>
              <a:rPr lang="en-US" sz="2400" dirty="0" err="1">
                <a:latin typeface="Arial"/>
                <a:ea typeface="Arial"/>
                <a:cs typeface="Arial"/>
                <a:sym typeface="Arial"/>
              </a:rPr>
              <a:t>sepanjang</a:t>
            </a:r>
            <a:r>
              <a:rPr lang="en-US" sz="2400" dirty="0">
                <a:latin typeface="Arial"/>
                <a:ea typeface="Arial"/>
                <a:cs typeface="Arial"/>
                <a:sym typeface="Arial"/>
              </a:rPr>
              <a:t> baris. </a:t>
            </a:r>
            <a:endParaRPr lang="en-US" sz="3200" dirty="0">
              <a:latin typeface="Arial"/>
              <a:ea typeface="Arial"/>
              <a:cs typeface="Arial"/>
              <a:sym typeface="Arial"/>
            </a:endParaRPr>
          </a:p>
          <a:p>
            <a:pPr marL="457200" lvl="0" indent="-336550">
              <a:lnSpc>
                <a:spcPct val="115000"/>
              </a:lnSpc>
              <a:spcBef>
                <a:spcPts val="0"/>
              </a:spcBef>
              <a:buClr>
                <a:schemeClr val="dk1"/>
              </a:buClr>
              <a:buSzPts val="1700"/>
              <a:buChar char="●"/>
            </a:pPr>
            <a:r>
              <a:rPr lang="en-US" sz="2400" dirty="0">
                <a:latin typeface="Arial"/>
                <a:ea typeface="Arial"/>
                <a:cs typeface="Arial"/>
                <a:sym typeface="Arial"/>
              </a:rPr>
              <a:t>Kita </a:t>
            </a:r>
            <a:r>
              <a:rPr lang="en-US" sz="2400" dirty="0" err="1">
                <a:latin typeface="Arial"/>
                <a:ea typeface="Arial"/>
                <a:cs typeface="Arial"/>
                <a:sym typeface="Arial"/>
              </a:rPr>
              <a:t>dapat</a:t>
            </a:r>
            <a:r>
              <a:rPr lang="en-US" sz="2400" dirty="0">
                <a:latin typeface="Arial"/>
                <a:ea typeface="Arial"/>
                <a:cs typeface="Arial"/>
                <a:sym typeface="Arial"/>
              </a:rPr>
              <a:t> </a:t>
            </a:r>
            <a:r>
              <a:rPr lang="en-US" sz="2400" dirty="0" err="1">
                <a:latin typeface="Arial"/>
                <a:ea typeface="Arial"/>
                <a:cs typeface="Arial"/>
                <a:sym typeface="Arial"/>
              </a:rPr>
              <a:t>mengonversi</a:t>
            </a:r>
            <a:r>
              <a:rPr lang="en-US" sz="2400" dirty="0">
                <a:latin typeface="Arial"/>
                <a:ea typeface="Arial"/>
                <a:cs typeface="Arial"/>
                <a:sym typeface="Arial"/>
              </a:rPr>
              <a:t> </a:t>
            </a:r>
            <a:r>
              <a:rPr lang="en-US" sz="2400" dirty="0" err="1">
                <a:latin typeface="Arial"/>
                <a:ea typeface="Arial"/>
                <a:cs typeface="Arial"/>
                <a:sym typeface="Arial"/>
              </a:rPr>
              <a:t>kerangka</a:t>
            </a:r>
            <a:r>
              <a:rPr lang="en-US" sz="2400" dirty="0">
                <a:latin typeface="Arial"/>
                <a:ea typeface="Arial"/>
                <a:cs typeface="Arial"/>
                <a:sym typeface="Arial"/>
              </a:rPr>
              <a:t> data </a:t>
            </a:r>
            <a:r>
              <a:rPr lang="en-US" sz="2400" dirty="0" err="1">
                <a:latin typeface="Arial"/>
                <a:ea typeface="Arial"/>
                <a:cs typeface="Arial"/>
                <a:sym typeface="Arial"/>
              </a:rPr>
              <a:t>menjadi</a:t>
            </a:r>
            <a:r>
              <a:rPr lang="en-US" sz="2400" dirty="0">
                <a:latin typeface="Arial"/>
                <a:ea typeface="Arial"/>
                <a:cs typeface="Arial"/>
                <a:sym typeface="Arial"/>
              </a:rPr>
              <a:t> </a:t>
            </a:r>
            <a:r>
              <a:rPr lang="en-US" sz="2400" dirty="0" err="1">
                <a:latin typeface="Arial"/>
                <a:ea typeface="Arial"/>
                <a:cs typeface="Arial"/>
                <a:sym typeface="Arial"/>
              </a:rPr>
              <a:t>tabel</a:t>
            </a:r>
            <a:r>
              <a:rPr lang="en-US" sz="2400" dirty="0">
                <a:latin typeface="Arial"/>
                <a:ea typeface="Arial"/>
                <a:cs typeface="Arial"/>
                <a:sym typeface="Arial"/>
              </a:rPr>
              <a:t> pivot </a:t>
            </a:r>
            <a:r>
              <a:rPr lang="en-US" sz="2400" dirty="0" err="1">
                <a:latin typeface="Arial"/>
                <a:ea typeface="Arial"/>
                <a:cs typeface="Arial"/>
                <a:sym typeface="Arial"/>
              </a:rPr>
              <a:t>menggunakan</a:t>
            </a:r>
            <a:r>
              <a:rPr lang="en-US" sz="2400" dirty="0">
                <a:latin typeface="Arial"/>
                <a:ea typeface="Arial"/>
                <a:cs typeface="Arial"/>
                <a:sym typeface="Arial"/>
              </a:rPr>
              <a:t> </a:t>
            </a:r>
            <a:r>
              <a:rPr lang="en-US" sz="2400" dirty="0" err="1">
                <a:latin typeface="Arial"/>
                <a:ea typeface="Arial"/>
                <a:cs typeface="Arial"/>
                <a:sym typeface="Arial"/>
              </a:rPr>
              <a:t>metode</a:t>
            </a:r>
            <a:r>
              <a:rPr lang="en-US" sz="2400" dirty="0">
                <a:latin typeface="Arial"/>
                <a:ea typeface="Arial"/>
                <a:cs typeface="Arial"/>
                <a:sym typeface="Arial"/>
              </a:rPr>
              <a:t> "pivot" </a:t>
            </a:r>
            <a:r>
              <a:rPr lang="en-US" sz="2400" dirty="0" err="1">
                <a:latin typeface="Arial"/>
                <a:ea typeface="Arial"/>
                <a:cs typeface="Arial"/>
                <a:sym typeface="Arial"/>
              </a:rPr>
              <a:t>untuk</a:t>
            </a:r>
            <a:r>
              <a:rPr lang="en-US" sz="2400" dirty="0">
                <a:latin typeface="Arial"/>
                <a:ea typeface="Arial"/>
                <a:cs typeface="Arial"/>
                <a:sym typeface="Arial"/>
              </a:rPr>
              <a:t> </a:t>
            </a:r>
            <a:r>
              <a:rPr lang="en-US" sz="2400" dirty="0" err="1">
                <a:latin typeface="Arial"/>
                <a:ea typeface="Arial"/>
                <a:cs typeface="Arial"/>
                <a:sym typeface="Arial"/>
              </a:rPr>
              <a:t>membuat</a:t>
            </a:r>
            <a:r>
              <a:rPr lang="en-US" sz="2400" dirty="0">
                <a:latin typeface="Arial"/>
                <a:ea typeface="Arial"/>
                <a:cs typeface="Arial"/>
                <a:sym typeface="Arial"/>
              </a:rPr>
              <a:t> </a:t>
            </a:r>
            <a:r>
              <a:rPr lang="en-US" sz="2400" dirty="0" err="1">
                <a:latin typeface="Arial"/>
                <a:ea typeface="Arial"/>
                <a:cs typeface="Arial"/>
                <a:sym typeface="Arial"/>
              </a:rPr>
              <a:t>tabel</a:t>
            </a:r>
            <a:r>
              <a:rPr lang="en-US" sz="2400" dirty="0">
                <a:latin typeface="Arial"/>
                <a:ea typeface="Arial"/>
                <a:cs typeface="Arial"/>
                <a:sym typeface="Arial"/>
              </a:rPr>
              <a:t> pivot </a:t>
            </a:r>
            <a:r>
              <a:rPr lang="en-US" sz="2400" dirty="0" err="1">
                <a:latin typeface="Arial"/>
                <a:ea typeface="Arial"/>
                <a:cs typeface="Arial"/>
                <a:sym typeface="Arial"/>
              </a:rPr>
              <a:t>dari</a:t>
            </a:r>
            <a:r>
              <a:rPr lang="en-US" sz="2400" dirty="0">
                <a:latin typeface="Arial"/>
                <a:ea typeface="Arial"/>
                <a:cs typeface="Arial"/>
                <a:sym typeface="Arial"/>
              </a:rPr>
              <a:t> </a:t>
            </a:r>
            <a:r>
              <a:rPr lang="en-US" sz="2400" dirty="0" err="1">
                <a:latin typeface="Arial"/>
                <a:ea typeface="Arial"/>
                <a:cs typeface="Arial"/>
                <a:sym typeface="Arial"/>
              </a:rPr>
              <a:t>grup</a:t>
            </a:r>
            <a:r>
              <a:rPr lang="en-US" sz="2400" dirty="0">
                <a:latin typeface="Arial"/>
                <a:ea typeface="Arial"/>
                <a:cs typeface="Arial"/>
                <a:sym typeface="Arial"/>
              </a:rPr>
              <a:t>.</a:t>
            </a:r>
            <a:endParaRPr lang="en-US" sz="3200" dirty="0">
              <a:latin typeface="Arial"/>
              <a:ea typeface="Arial"/>
              <a:cs typeface="Arial"/>
              <a:sym typeface="Arial"/>
            </a:endParaRPr>
          </a:p>
        </p:txBody>
      </p:sp>
      <p:pic>
        <p:nvPicPr>
          <p:cNvPr id="5" name="Google Shape;610;p66">
            <a:extLst>
              <a:ext uri="{FF2B5EF4-FFF2-40B4-BE49-F238E27FC236}">
                <a16:creationId xmlns:a16="http://schemas.microsoft.com/office/drawing/2014/main" id="{6F54EACB-3E0B-ECD3-D5C2-5DECD1E3AC64}"/>
              </a:ext>
            </a:extLst>
          </p:cNvPr>
          <p:cNvPicPr preferRelativeResize="0"/>
          <p:nvPr/>
        </p:nvPicPr>
        <p:blipFill rotWithShape="1">
          <a:blip r:embed="rId2">
            <a:alphaModFix/>
          </a:blip>
          <a:srcRect/>
          <a:stretch/>
        </p:blipFill>
        <p:spPr>
          <a:xfrm>
            <a:off x="2519195" y="4366150"/>
            <a:ext cx="6909770" cy="2491850"/>
          </a:xfrm>
          <a:prstGeom prst="rect">
            <a:avLst/>
          </a:prstGeom>
          <a:noFill/>
          <a:ln>
            <a:noFill/>
          </a:ln>
        </p:spPr>
      </p:pic>
    </p:spTree>
    <p:extLst>
      <p:ext uri="{BB962C8B-B14F-4D97-AF65-F5344CB8AC3E}">
        <p14:creationId xmlns:p14="http://schemas.microsoft.com/office/powerpoint/2010/main" val="177038018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C74E8-E17D-9831-0597-83FEE23998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953E2D-8703-6E03-3D7F-A0F576BC3E28}"/>
              </a:ext>
            </a:extLst>
          </p:cNvPr>
          <p:cNvSpPr>
            <a:spLocks noGrp="1"/>
          </p:cNvSpPr>
          <p:nvPr>
            <p:ph type="title"/>
          </p:nvPr>
        </p:nvSpPr>
        <p:spPr>
          <a:xfrm>
            <a:off x="838200" y="365125"/>
            <a:ext cx="10515600" cy="915035"/>
          </a:xfrm>
        </p:spPr>
        <p:txBody>
          <a:bodyPr>
            <a:normAutofit/>
          </a:bodyPr>
          <a:lstStyle/>
          <a:p>
            <a:r>
              <a:rPr lang="en-US" b="1" dirty="0"/>
              <a:t>Grouping</a:t>
            </a:r>
            <a:endParaRPr lang="en-US" dirty="0"/>
          </a:p>
        </p:txBody>
      </p:sp>
      <p:sp>
        <p:nvSpPr>
          <p:cNvPr id="3" name="Content Placeholder 2">
            <a:extLst>
              <a:ext uri="{FF2B5EF4-FFF2-40B4-BE49-F238E27FC236}">
                <a16:creationId xmlns:a16="http://schemas.microsoft.com/office/drawing/2014/main" id="{00A074E8-A7BA-3E79-78EA-8CAA99273D08}"/>
              </a:ext>
            </a:extLst>
          </p:cNvPr>
          <p:cNvSpPr>
            <a:spLocks noGrp="1"/>
          </p:cNvSpPr>
          <p:nvPr>
            <p:ph idx="1"/>
          </p:nvPr>
        </p:nvSpPr>
        <p:spPr>
          <a:xfrm>
            <a:off x="208280" y="1591945"/>
            <a:ext cx="11689079" cy="4351338"/>
          </a:xfrm>
        </p:spPr>
        <p:txBody>
          <a:bodyPr>
            <a:normAutofit/>
          </a:bodyPr>
          <a:lstStyle/>
          <a:p>
            <a:pPr marL="457200" lvl="0" indent="-336550">
              <a:lnSpc>
                <a:spcPct val="115000"/>
              </a:lnSpc>
              <a:spcBef>
                <a:spcPts val="0"/>
              </a:spcBef>
              <a:buClr>
                <a:schemeClr val="dk1"/>
              </a:buClr>
              <a:buSzPts val="1700"/>
              <a:buChar char="●"/>
            </a:pPr>
            <a:r>
              <a:rPr lang="en-US" sz="2400" dirty="0">
                <a:latin typeface="Arial"/>
                <a:ea typeface="Arial"/>
                <a:cs typeface="Arial"/>
                <a:sym typeface="Arial"/>
              </a:rPr>
              <a:t>Dari table pivot </a:t>
            </a:r>
            <a:r>
              <a:rPr lang="en-US" sz="2400" dirty="0" err="1">
                <a:latin typeface="Arial"/>
                <a:ea typeface="Arial"/>
                <a:cs typeface="Arial"/>
                <a:sym typeface="Arial"/>
              </a:rPr>
              <a:t>kita</a:t>
            </a:r>
            <a:r>
              <a:rPr lang="en-US" sz="2400" dirty="0">
                <a:latin typeface="Arial"/>
                <a:ea typeface="Arial"/>
                <a:cs typeface="Arial"/>
                <a:sym typeface="Arial"/>
              </a:rPr>
              <a:t> </a:t>
            </a:r>
            <a:r>
              <a:rPr lang="en-US" sz="2400" dirty="0" err="1">
                <a:latin typeface="Arial"/>
                <a:ea typeface="Arial"/>
                <a:cs typeface="Arial"/>
                <a:sym typeface="Arial"/>
              </a:rPr>
              <a:t>dapat</a:t>
            </a:r>
            <a:r>
              <a:rPr lang="en-US" sz="2400" dirty="0">
                <a:latin typeface="Arial"/>
                <a:ea typeface="Arial"/>
                <a:cs typeface="Arial"/>
                <a:sym typeface="Arial"/>
              </a:rPr>
              <a:t> </a:t>
            </a:r>
            <a:r>
              <a:rPr lang="en-US" sz="2400" dirty="0" err="1">
                <a:latin typeface="Arial"/>
                <a:ea typeface="Arial"/>
                <a:cs typeface="Arial"/>
                <a:sym typeface="Arial"/>
              </a:rPr>
              <a:t>mengilustrasikan</a:t>
            </a:r>
            <a:r>
              <a:rPr lang="en-US" sz="2400" dirty="0">
                <a:latin typeface="Arial"/>
                <a:ea typeface="Arial"/>
                <a:cs typeface="Arial"/>
                <a:sym typeface="Arial"/>
              </a:rPr>
              <a:t> table pivot </a:t>
            </a:r>
            <a:r>
              <a:rPr lang="en-US" sz="2400" dirty="0" err="1">
                <a:latin typeface="Arial"/>
                <a:ea typeface="Arial"/>
                <a:cs typeface="Arial"/>
                <a:sym typeface="Arial"/>
              </a:rPr>
              <a:t>dalam</a:t>
            </a:r>
            <a:r>
              <a:rPr lang="en-US" sz="2400" dirty="0">
                <a:latin typeface="Arial"/>
                <a:ea typeface="Arial"/>
                <a:cs typeface="Arial"/>
                <a:sym typeface="Arial"/>
              </a:rPr>
              <a:t> </a:t>
            </a:r>
            <a:r>
              <a:rPr lang="en-US" sz="2400" dirty="0" err="1">
                <a:latin typeface="Arial"/>
                <a:ea typeface="Arial"/>
                <a:cs typeface="Arial"/>
                <a:sym typeface="Arial"/>
              </a:rPr>
              <a:t>bentuk</a:t>
            </a:r>
            <a:r>
              <a:rPr lang="en-US" sz="2400" dirty="0">
                <a:latin typeface="Arial"/>
                <a:ea typeface="Arial"/>
                <a:cs typeface="Arial"/>
                <a:sym typeface="Arial"/>
              </a:rPr>
              <a:t> heatmap.</a:t>
            </a:r>
          </a:p>
        </p:txBody>
      </p:sp>
      <p:pic>
        <p:nvPicPr>
          <p:cNvPr id="6" name="Google Shape;618;p67">
            <a:extLst>
              <a:ext uri="{FF2B5EF4-FFF2-40B4-BE49-F238E27FC236}">
                <a16:creationId xmlns:a16="http://schemas.microsoft.com/office/drawing/2014/main" id="{526B789A-8A02-0C30-77E1-D7BC41613C58}"/>
              </a:ext>
            </a:extLst>
          </p:cNvPr>
          <p:cNvPicPr preferRelativeResize="0"/>
          <p:nvPr/>
        </p:nvPicPr>
        <p:blipFill rotWithShape="1">
          <a:blip r:embed="rId2">
            <a:alphaModFix/>
          </a:blip>
          <a:srcRect/>
          <a:stretch/>
        </p:blipFill>
        <p:spPr>
          <a:xfrm>
            <a:off x="7296116" y="2247039"/>
            <a:ext cx="4528066" cy="3523841"/>
          </a:xfrm>
          <a:prstGeom prst="rect">
            <a:avLst/>
          </a:prstGeom>
          <a:noFill/>
          <a:ln>
            <a:noFill/>
          </a:ln>
        </p:spPr>
      </p:pic>
      <p:pic>
        <p:nvPicPr>
          <p:cNvPr id="8" name="Google Shape;619;p67">
            <a:extLst>
              <a:ext uri="{FF2B5EF4-FFF2-40B4-BE49-F238E27FC236}">
                <a16:creationId xmlns:a16="http://schemas.microsoft.com/office/drawing/2014/main" id="{F7CCB3AF-EB9F-ED6B-A5DC-FD92EDC72951}"/>
              </a:ext>
            </a:extLst>
          </p:cNvPr>
          <p:cNvPicPr preferRelativeResize="0"/>
          <p:nvPr/>
        </p:nvPicPr>
        <p:blipFill rotWithShape="1">
          <a:blip r:embed="rId3">
            <a:alphaModFix/>
          </a:blip>
          <a:srcRect/>
          <a:stretch/>
        </p:blipFill>
        <p:spPr>
          <a:xfrm>
            <a:off x="367818" y="2555872"/>
            <a:ext cx="6683222" cy="2344423"/>
          </a:xfrm>
          <a:prstGeom prst="rect">
            <a:avLst/>
          </a:prstGeom>
          <a:noFill/>
          <a:ln>
            <a:noFill/>
          </a:ln>
        </p:spPr>
      </p:pic>
    </p:spTree>
    <p:extLst>
      <p:ext uri="{BB962C8B-B14F-4D97-AF65-F5344CB8AC3E}">
        <p14:creationId xmlns:p14="http://schemas.microsoft.com/office/powerpoint/2010/main" val="74059959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E3223-103C-0041-291C-ADC38A0D7D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26F99E-2AAB-0091-AE0E-BCDC503EEA46}"/>
              </a:ext>
            </a:extLst>
          </p:cNvPr>
          <p:cNvSpPr>
            <a:spLocks noGrp="1"/>
          </p:cNvSpPr>
          <p:nvPr>
            <p:ph type="title"/>
          </p:nvPr>
        </p:nvSpPr>
        <p:spPr>
          <a:xfrm>
            <a:off x="838200" y="365125"/>
            <a:ext cx="10515600" cy="915035"/>
          </a:xfrm>
        </p:spPr>
        <p:txBody>
          <a:bodyPr>
            <a:normAutofit/>
          </a:bodyPr>
          <a:lstStyle/>
          <a:p>
            <a:r>
              <a:rPr lang="en-US" b="1" dirty="0"/>
              <a:t>Grouping</a:t>
            </a:r>
            <a:endParaRPr lang="en-US" dirty="0"/>
          </a:p>
        </p:txBody>
      </p:sp>
      <p:pic>
        <p:nvPicPr>
          <p:cNvPr id="7" name="Google Shape;627;g10054a4cacb_1_49">
            <a:extLst>
              <a:ext uri="{FF2B5EF4-FFF2-40B4-BE49-F238E27FC236}">
                <a16:creationId xmlns:a16="http://schemas.microsoft.com/office/drawing/2014/main" id="{13DBF32C-656A-CC04-9783-5E61E56F53A5}"/>
              </a:ext>
            </a:extLst>
          </p:cNvPr>
          <p:cNvPicPr preferRelativeResize="0"/>
          <p:nvPr/>
        </p:nvPicPr>
        <p:blipFill>
          <a:blip r:embed="rId2">
            <a:alphaModFix/>
          </a:blip>
          <a:stretch>
            <a:fillRect/>
          </a:stretch>
        </p:blipFill>
        <p:spPr>
          <a:xfrm>
            <a:off x="396265" y="2244499"/>
            <a:ext cx="6472220" cy="4155200"/>
          </a:xfrm>
          <a:prstGeom prst="rect">
            <a:avLst/>
          </a:prstGeom>
          <a:noFill/>
          <a:ln>
            <a:noFill/>
          </a:ln>
        </p:spPr>
      </p:pic>
      <p:pic>
        <p:nvPicPr>
          <p:cNvPr id="11" name="Google Shape;630;g10054a4cacb_1_49">
            <a:extLst>
              <a:ext uri="{FF2B5EF4-FFF2-40B4-BE49-F238E27FC236}">
                <a16:creationId xmlns:a16="http://schemas.microsoft.com/office/drawing/2014/main" id="{D0CF0C3E-806B-8D69-E766-279D5D6C2EA0}"/>
              </a:ext>
            </a:extLst>
          </p:cNvPr>
          <p:cNvPicPr preferRelativeResize="0"/>
          <p:nvPr/>
        </p:nvPicPr>
        <p:blipFill>
          <a:blip r:embed="rId3">
            <a:alphaModFix/>
          </a:blip>
          <a:stretch>
            <a:fillRect/>
          </a:stretch>
        </p:blipFill>
        <p:spPr>
          <a:xfrm>
            <a:off x="396265" y="1177682"/>
            <a:ext cx="3514312" cy="497003"/>
          </a:xfrm>
          <a:prstGeom prst="rect">
            <a:avLst/>
          </a:prstGeom>
          <a:noFill/>
          <a:ln>
            <a:noFill/>
          </a:ln>
        </p:spPr>
      </p:pic>
      <p:pic>
        <p:nvPicPr>
          <p:cNvPr id="14" name="Google Shape;633;g10054a4cacb_1_49">
            <a:extLst>
              <a:ext uri="{FF2B5EF4-FFF2-40B4-BE49-F238E27FC236}">
                <a16:creationId xmlns:a16="http://schemas.microsoft.com/office/drawing/2014/main" id="{1791473E-15A9-A3D8-83EE-13C732917620}"/>
              </a:ext>
            </a:extLst>
          </p:cNvPr>
          <p:cNvPicPr preferRelativeResize="0"/>
          <p:nvPr/>
        </p:nvPicPr>
        <p:blipFill>
          <a:blip r:embed="rId4">
            <a:alphaModFix/>
          </a:blip>
          <a:stretch>
            <a:fillRect/>
          </a:stretch>
        </p:blipFill>
        <p:spPr>
          <a:xfrm>
            <a:off x="402506" y="1836124"/>
            <a:ext cx="5341338" cy="281928"/>
          </a:xfrm>
          <a:prstGeom prst="rect">
            <a:avLst/>
          </a:prstGeom>
          <a:noFill/>
          <a:ln>
            <a:noFill/>
          </a:ln>
        </p:spPr>
      </p:pic>
      <p:sp>
        <p:nvSpPr>
          <p:cNvPr id="9" name="Google Shape;628;g10054a4cacb_1_49">
            <a:extLst>
              <a:ext uri="{FF2B5EF4-FFF2-40B4-BE49-F238E27FC236}">
                <a16:creationId xmlns:a16="http://schemas.microsoft.com/office/drawing/2014/main" id="{DF92D312-A030-FBEE-4739-6FE583CE8A7B}"/>
              </a:ext>
            </a:extLst>
          </p:cNvPr>
          <p:cNvSpPr/>
          <p:nvPr/>
        </p:nvSpPr>
        <p:spPr>
          <a:xfrm>
            <a:off x="3910577" y="1004851"/>
            <a:ext cx="3887920" cy="372566"/>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id"/>
              <a:t>Menampilkan nilai unik data series</a:t>
            </a:r>
            <a:endParaRPr/>
          </a:p>
        </p:txBody>
      </p:sp>
      <p:cxnSp>
        <p:nvCxnSpPr>
          <p:cNvPr id="10" name="Google Shape;629;g10054a4cacb_1_49">
            <a:extLst>
              <a:ext uri="{FF2B5EF4-FFF2-40B4-BE49-F238E27FC236}">
                <a16:creationId xmlns:a16="http://schemas.microsoft.com/office/drawing/2014/main" id="{C161DD83-1465-E7F5-FB63-D744D284034E}"/>
              </a:ext>
            </a:extLst>
          </p:cNvPr>
          <p:cNvCxnSpPr/>
          <p:nvPr/>
        </p:nvCxnSpPr>
        <p:spPr>
          <a:xfrm>
            <a:off x="3377975" y="1226802"/>
            <a:ext cx="559200" cy="0"/>
          </a:xfrm>
          <a:prstGeom prst="straightConnector1">
            <a:avLst/>
          </a:prstGeom>
          <a:noFill/>
          <a:ln w="19050" cap="flat" cmpd="sng">
            <a:solidFill>
              <a:srgbClr val="1EA4B2"/>
            </a:solidFill>
            <a:prstDash val="solid"/>
            <a:round/>
            <a:headEnd type="none" w="med" len="med"/>
            <a:tailEnd type="triangle" w="med" len="med"/>
          </a:ln>
        </p:spPr>
      </p:cxnSp>
      <p:sp>
        <p:nvSpPr>
          <p:cNvPr id="12" name="Google Shape;631;g10054a4cacb_1_49">
            <a:extLst>
              <a:ext uri="{FF2B5EF4-FFF2-40B4-BE49-F238E27FC236}">
                <a16:creationId xmlns:a16="http://schemas.microsoft.com/office/drawing/2014/main" id="{E476A9E9-BD8C-5CAD-A038-FEB1F8643F6F}"/>
              </a:ext>
            </a:extLst>
          </p:cNvPr>
          <p:cNvSpPr/>
          <p:nvPr/>
        </p:nvSpPr>
        <p:spPr>
          <a:xfrm>
            <a:off x="3446050" y="3019148"/>
            <a:ext cx="3887920" cy="1015983"/>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id" dirty="0"/>
              <a:t>Melakukan grouping dari “drives-wheels” dan “body-style” berdasarkan rata-rata “harga”</a:t>
            </a:r>
            <a:endParaRPr dirty="0"/>
          </a:p>
        </p:txBody>
      </p:sp>
      <p:cxnSp>
        <p:nvCxnSpPr>
          <p:cNvPr id="13" name="Google Shape;632;g10054a4cacb_1_49">
            <a:extLst>
              <a:ext uri="{FF2B5EF4-FFF2-40B4-BE49-F238E27FC236}">
                <a16:creationId xmlns:a16="http://schemas.microsoft.com/office/drawing/2014/main" id="{6428E595-4212-F09F-4232-04F9F1CFA28C}"/>
              </a:ext>
            </a:extLst>
          </p:cNvPr>
          <p:cNvCxnSpPr/>
          <p:nvPr/>
        </p:nvCxnSpPr>
        <p:spPr>
          <a:xfrm>
            <a:off x="2886850" y="3423591"/>
            <a:ext cx="559200" cy="0"/>
          </a:xfrm>
          <a:prstGeom prst="straightConnector1">
            <a:avLst/>
          </a:prstGeom>
          <a:noFill/>
          <a:ln w="19050" cap="flat" cmpd="sng">
            <a:solidFill>
              <a:srgbClr val="1EA4B2"/>
            </a:solidFill>
            <a:prstDash val="solid"/>
            <a:round/>
            <a:headEnd type="none" w="med" len="med"/>
            <a:tailEnd type="triangle" w="med" len="med"/>
          </a:ln>
        </p:spPr>
      </p:cxnSp>
      <p:sp>
        <p:nvSpPr>
          <p:cNvPr id="15" name="Google Shape;634;g10054a4cacb_1_49">
            <a:extLst>
              <a:ext uri="{FF2B5EF4-FFF2-40B4-BE49-F238E27FC236}">
                <a16:creationId xmlns:a16="http://schemas.microsoft.com/office/drawing/2014/main" id="{5BF8F93C-FE69-B773-4BD8-0A0DC17128B6}"/>
              </a:ext>
            </a:extLst>
          </p:cNvPr>
          <p:cNvSpPr/>
          <p:nvPr/>
        </p:nvSpPr>
        <p:spPr>
          <a:xfrm>
            <a:off x="6966498" y="1665051"/>
            <a:ext cx="4822996" cy="858479"/>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id" dirty="0"/>
              <a:t>Membuat dataframe baru dengan kolom 'drive-wheels','body-style', dan 'price'unik data series</a:t>
            </a:r>
            <a:endParaRPr dirty="0"/>
          </a:p>
        </p:txBody>
      </p:sp>
      <p:cxnSp>
        <p:nvCxnSpPr>
          <p:cNvPr id="16" name="Google Shape;635;g10054a4cacb_1_49">
            <a:extLst>
              <a:ext uri="{FF2B5EF4-FFF2-40B4-BE49-F238E27FC236}">
                <a16:creationId xmlns:a16="http://schemas.microsoft.com/office/drawing/2014/main" id="{898BE734-145D-D7B6-62BF-8DB1C9995CA8}"/>
              </a:ext>
            </a:extLst>
          </p:cNvPr>
          <p:cNvCxnSpPr/>
          <p:nvPr/>
        </p:nvCxnSpPr>
        <p:spPr>
          <a:xfrm>
            <a:off x="6407298" y="1931753"/>
            <a:ext cx="559200" cy="0"/>
          </a:xfrm>
          <a:prstGeom prst="straightConnector1">
            <a:avLst/>
          </a:prstGeom>
          <a:noFill/>
          <a:ln w="19050" cap="flat" cmpd="sng">
            <a:solidFill>
              <a:srgbClr val="1EA4B2"/>
            </a:solidFill>
            <a:prstDash val="solid"/>
            <a:round/>
            <a:headEnd type="none" w="med" len="med"/>
            <a:tailEnd type="triangle" w="med" len="med"/>
          </a:ln>
        </p:spPr>
      </p:cxnSp>
    </p:spTree>
    <p:extLst>
      <p:ext uri="{BB962C8B-B14F-4D97-AF65-F5344CB8AC3E}">
        <p14:creationId xmlns:p14="http://schemas.microsoft.com/office/powerpoint/2010/main" val="6123732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78EA5-3023-95AF-AFF0-19381FD6E1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85D476-7C7F-D78F-AECF-6020F89B7547}"/>
              </a:ext>
            </a:extLst>
          </p:cNvPr>
          <p:cNvSpPr>
            <a:spLocks noGrp="1"/>
          </p:cNvSpPr>
          <p:nvPr>
            <p:ph type="title"/>
          </p:nvPr>
        </p:nvSpPr>
        <p:spPr>
          <a:xfrm>
            <a:off x="838200" y="365125"/>
            <a:ext cx="10515600" cy="915035"/>
          </a:xfrm>
        </p:spPr>
        <p:txBody>
          <a:bodyPr>
            <a:normAutofit/>
          </a:bodyPr>
          <a:lstStyle/>
          <a:p>
            <a:r>
              <a:rPr lang="en-US" b="1" dirty="0"/>
              <a:t>Grouping</a:t>
            </a:r>
            <a:endParaRPr lang="en-US" dirty="0"/>
          </a:p>
        </p:txBody>
      </p:sp>
      <p:sp>
        <p:nvSpPr>
          <p:cNvPr id="3" name="Google Shape;642;g10054a4cc09_0_170">
            <a:extLst>
              <a:ext uri="{FF2B5EF4-FFF2-40B4-BE49-F238E27FC236}">
                <a16:creationId xmlns:a16="http://schemas.microsoft.com/office/drawing/2014/main" id="{993D394F-EE40-526E-AAD8-B31606444CD5}"/>
              </a:ext>
            </a:extLst>
          </p:cNvPr>
          <p:cNvSpPr/>
          <p:nvPr/>
        </p:nvSpPr>
        <p:spPr>
          <a:xfrm>
            <a:off x="5471004" y="3977495"/>
            <a:ext cx="2947576" cy="980518"/>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id"/>
              <a:t>melakukan pivot data dengan handle missing value nilai 0</a:t>
            </a:r>
            <a:endParaRPr/>
          </a:p>
        </p:txBody>
      </p:sp>
      <p:cxnSp>
        <p:nvCxnSpPr>
          <p:cNvPr id="4" name="Google Shape;643;g10054a4cc09_0_170">
            <a:extLst>
              <a:ext uri="{FF2B5EF4-FFF2-40B4-BE49-F238E27FC236}">
                <a16:creationId xmlns:a16="http://schemas.microsoft.com/office/drawing/2014/main" id="{BFC701B0-F08B-F7B3-EB64-8FA53BEAD0CF}"/>
              </a:ext>
            </a:extLst>
          </p:cNvPr>
          <p:cNvCxnSpPr>
            <a:cxnSpLocks/>
          </p:cNvCxnSpPr>
          <p:nvPr/>
        </p:nvCxnSpPr>
        <p:spPr>
          <a:xfrm>
            <a:off x="4742029" y="4316932"/>
            <a:ext cx="716544" cy="0"/>
          </a:xfrm>
          <a:prstGeom prst="straightConnector1">
            <a:avLst/>
          </a:prstGeom>
          <a:noFill/>
          <a:ln w="19050" cap="flat" cmpd="sng">
            <a:solidFill>
              <a:srgbClr val="1EA4B2"/>
            </a:solidFill>
            <a:prstDash val="solid"/>
            <a:round/>
            <a:headEnd type="none" w="med" len="med"/>
            <a:tailEnd type="triangle" w="med" len="med"/>
          </a:ln>
        </p:spPr>
      </p:cxnSp>
      <p:pic>
        <p:nvPicPr>
          <p:cNvPr id="5" name="Google Shape;644;g10054a4cc09_0_170">
            <a:extLst>
              <a:ext uri="{FF2B5EF4-FFF2-40B4-BE49-F238E27FC236}">
                <a16:creationId xmlns:a16="http://schemas.microsoft.com/office/drawing/2014/main" id="{70CF7F7E-B7FE-6FED-1311-A23D77D091FD}"/>
              </a:ext>
            </a:extLst>
          </p:cNvPr>
          <p:cNvPicPr preferRelativeResize="0"/>
          <p:nvPr/>
        </p:nvPicPr>
        <p:blipFill>
          <a:blip r:embed="rId2">
            <a:alphaModFix/>
          </a:blip>
          <a:stretch>
            <a:fillRect/>
          </a:stretch>
        </p:blipFill>
        <p:spPr>
          <a:xfrm>
            <a:off x="437947" y="3977495"/>
            <a:ext cx="4054140" cy="1969790"/>
          </a:xfrm>
          <a:prstGeom prst="rect">
            <a:avLst/>
          </a:prstGeom>
          <a:noFill/>
          <a:ln>
            <a:noFill/>
          </a:ln>
        </p:spPr>
      </p:pic>
      <p:pic>
        <p:nvPicPr>
          <p:cNvPr id="6" name="Google Shape;645;g10054a4cc09_0_170">
            <a:extLst>
              <a:ext uri="{FF2B5EF4-FFF2-40B4-BE49-F238E27FC236}">
                <a16:creationId xmlns:a16="http://schemas.microsoft.com/office/drawing/2014/main" id="{8DEE9DA5-1EC2-A733-4B5A-7C9CD5355E86}"/>
              </a:ext>
            </a:extLst>
          </p:cNvPr>
          <p:cNvPicPr preferRelativeResize="0"/>
          <p:nvPr/>
        </p:nvPicPr>
        <p:blipFill>
          <a:blip r:embed="rId3">
            <a:alphaModFix/>
          </a:blip>
          <a:stretch>
            <a:fillRect/>
          </a:stretch>
        </p:blipFill>
        <p:spPr>
          <a:xfrm>
            <a:off x="397665" y="1444445"/>
            <a:ext cx="6549349" cy="2342163"/>
          </a:xfrm>
          <a:prstGeom prst="rect">
            <a:avLst/>
          </a:prstGeom>
          <a:noFill/>
          <a:ln>
            <a:noFill/>
          </a:ln>
        </p:spPr>
      </p:pic>
      <p:sp>
        <p:nvSpPr>
          <p:cNvPr id="8" name="Google Shape;646;g10054a4cc09_0_170">
            <a:extLst>
              <a:ext uri="{FF2B5EF4-FFF2-40B4-BE49-F238E27FC236}">
                <a16:creationId xmlns:a16="http://schemas.microsoft.com/office/drawing/2014/main" id="{91E88ADC-0DF3-00D8-9EB1-BFDCD0F6F7F9}"/>
              </a:ext>
            </a:extLst>
          </p:cNvPr>
          <p:cNvSpPr/>
          <p:nvPr/>
        </p:nvSpPr>
        <p:spPr>
          <a:xfrm>
            <a:off x="6501389" y="2195212"/>
            <a:ext cx="2459731" cy="395587"/>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id"/>
              <a:t>Melakukan pivot data</a:t>
            </a:r>
            <a:endParaRPr/>
          </a:p>
        </p:txBody>
      </p:sp>
      <p:cxnSp>
        <p:nvCxnSpPr>
          <p:cNvPr id="17" name="Google Shape;647;g10054a4cc09_0_170">
            <a:extLst>
              <a:ext uri="{FF2B5EF4-FFF2-40B4-BE49-F238E27FC236}">
                <a16:creationId xmlns:a16="http://schemas.microsoft.com/office/drawing/2014/main" id="{1D9AB502-3007-3A5A-DC2E-412836391434}"/>
              </a:ext>
            </a:extLst>
          </p:cNvPr>
          <p:cNvCxnSpPr>
            <a:cxnSpLocks/>
          </p:cNvCxnSpPr>
          <p:nvPr/>
        </p:nvCxnSpPr>
        <p:spPr>
          <a:xfrm>
            <a:off x="5804290" y="2332170"/>
            <a:ext cx="716544" cy="0"/>
          </a:xfrm>
          <a:prstGeom prst="straightConnector1">
            <a:avLst/>
          </a:prstGeom>
          <a:noFill/>
          <a:ln w="19050" cap="flat" cmpd="sng">
            <a:solidFill>
              <a:srgbClr val="1EA4B2"/>
            </a:solidFill>
            <a:prstDash val="solid"/>
            <a:round/>
            <a:headEnd type="none" w="med" len="med"/>
            <a:tailEnd type="triangle" w="med" len="med"/>
          </a:ln>
        </p:spPr>
      </p:cxnSp>
    </p:spTree>
    <p:extLst>
      <p:ext uri="{BB962C8B-B14F-4D97-AF65-F5344CB8AC3E}">
        <p14:creationId xmlns:p14="http://schemas.microsoft.com/office/powerpoint/2010/main" val="135258573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267A6-DEF4-4C57-5C15-7C3555812A2A}"/>
            </a:ext>
          </a:extLst>
        </p:cNvPr>
        <p:cNvGrpSpPr/>
        <p:nvPr/>
      </p:nvGrpSpPr>
      <p:grpSpPr>
        <a:xfrm>
          <a:off x="0" y="0"/>
          <a:ext cx="0" cy="0"/>
          <a:chOff x="0" y="0"/>
          <a:chExt cx="0" cy="0"/>
        </a:xfrm>
      </p:grpSpPr>
      <p:pic>
        <p:nvPicPr>
          <p:cNvPr id="12" name="Google Shape;658;g10054a4cc09_0_194">
            <a:extLst>
              <a:ext uri="{FF2B5EF4-FFF2-40B4-BE49-F238E27FC236}">
                <a16:creationId xmlns:a16="http://schemas.microsoft.com/office/drawing/2014/main" id="{C4D3273A-C0F4-FDDA-4493-3E1389BAABBF}"/>
              </a:ext>
            </a:extLst>
          </p:cNvPr>
          <p:cNvPicPr preferRelativeResize="0"/>
          <p:nvPr/>
        </p:nvPicPr>
        <p:blipFill>
          <a:blip r:embed="rId2">
            <a:alphaModFix/>
          </a:blip>
          <a:stretch>
            <a:fillRect/>
          </a:stretch>
        </p:blipFill>
        <p:spPr>
          <a:xfrm>
            <a:off x="310820" y="1182327"/>
            <a:ext cx="6394780" cy="2246673"/>
          </a:xfrm>
          <a:prstGeom prst="rect">
            <a:avLst/>
          </a:prstGeom>
          <a:noFill/>
          <a:ln>
            <a:noFill/>
          </a:ln>
        </p:spPr>
      </p:pic>
      <p:sp>
        <p:nvSpPr>
          <p:cNvPr id="2" name="Title 1">
            <a:extLst>
              <a:ext uri="{FF2B5EF4-FFF2-40B4-BE49-F238E27FC236}">
                <a16:creationId xmlns:a16="http://schemas.microsoft.com/office/drawing/2014/main" id="{41B27476-6B6C-AE90-2771-4604C8ACBE7E}"/>
              </a:ext>
            </a:extLst>
          </p:cNvPr>
          <p:cNvSpPr>
            <a:spLocks noGrp="1"/>
          </p:cNvSpPr>
          <p:nvPr>
            <p:ph type="title"/>
          </p:nvPr>
        </p:nvSpPr>
        <p:spPr>
          <a:xfrm>
            <a:off x="838200" y="365125"/>
            <a:ext cx="10515600" cy="915035"/>
          </a:xfrm>
        </p:spPr>
        <p:txBody>
          <a:bodyPr>
            <a:normAutofit/>
          </a:bodyPr>
          <a:lstStyle/>
          <a:p>
            <a:r>
              <a:rPr lang="en-US" b="1" dirty="0"/>
              <a:t>Grouping</a:t>
            </a:r>
            <a:endParaRPr lang="en-US" dirty="0"/>
          </a:p>
        </p:txBody>
      </p:sp>
      <p:sp>
        <p:nvSpPr>
          <p:cNvPr id="7" name="Google Shape;654;g10054a4cc09_0_194">
            <a:extLst>
              <a:ext uri="{FF2B5EF4-FFF2-40B4-BE49-F238E27FC236}">
                <a16:creationId xmlns:a16="http://schemas.microsoft.com/office/drawing/2014/main" id="{16196E67-D736-1A3D-E02F-67CF11B0FF32}"/>
              </a:ext>
            </a:extLst>
          </p:cNvPr>
          <p:cNvSpPr/>
          <p:nvPr/>
        </p:nvSpPr>
        <p:spPr>
          <a:xfrm>
            <a:off x="4181137" y="3762466"/>
            <a:ext cx="2620446" cy="322739"/>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id"/>
              <a:t>Visualisasi heatmap</a:t>
            </a:r>
            <a:endParaRPr/>
          </a:p>
        </p:txBody>
      </p:sp>
      <p:cxnSp>
        <p:nvCxnSpPr>
          <p:cNvPr id="9" name="Google Shape;655;g10054a4cc09_0_194">
            <a:extLst>
              <a:ext uri="{FF2B5EF4-FFF2-40B4-BE49-F238E27FC236}">
                <a16:creationId xmlns:a16="http://schemas.microsoft.com/office/drawing/2014/main" id="{DDF601F9-9F83-D560-1066-6DC3B31C8DF7}"/>
              </a:ext>
            </a:extLst>
          </p:cNvPr>
          <p:cNvCxnSpPr>
            <a:cxnSpLocks/>
          </p:cNvCxnSpPr>
          <p:nvPr/>
        </p:nvCxnSpPr>
        <p:spPr>
          <a:xfrm>
            <a:off x="3388213" y="3885698"/>
            <a:ext cx="792924" cy="0"/>
          </a:xfrm>
          <a:prstGeom prst="straightConnector1">
            <a:avLst/>
          </a:prstGeom>
          <a:noFill/>
          <a:ln w="19050" cap="flat" cmpd="sng">
            <a:solidFill>
              <a:srgbClr val="1EA4B2"/>
            </a:solidFill>
            <a:prstDash val="solid"/>
            <a:round/>
            <a:headEnd type="none" w="med" len="med"/>
            <a:tailEnd type="triangle" w="med" len="med"/>
          </a:ln>
        </p:spPr>
      </p:cxnSp>
      <p:sp>
        <p:nvSpPr>
          <p:cNvPr id="10" name="Google Shape;656;g10054a4cc09_0_194">
            <a:extLst>
              <a:ext uri="{FF2B5EF4-FFF2-40B4-BE49-F238E27FC236}">
                <a16:creationId xmlns:a16="http://schemas.microsoft.com/office/drawing/2014/main" id="{185C6D3B-14DC-EB92-0B0E-0B9000D98D70}"/>
              </a:ext>
            </a:extLst>
          </p:cNvPr>
          <p:cNvSpPr/>
          <p:nvPr/>
        </p:nvSpPr>
        <p:spPr>
          <a:xfrm>
            <a:off x="5691687" y="1768071"/>
            <a:ext cx="3238208" cy="1149174"/>
          </a:xfrm>
          <a:prstGeom prst="rect">
            <a:avLst/>
          </a:prstGeom>
          <a:noFill/>
          <a:ln w="9525" cap="flat" cmpd="sng">
            <a:solidFill>
              <a:srgbClr val="1EA4B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id"/>
              <a:t>Melakukan grouping dari  "body-style" berdasarkan rata-rata "harga"</a:t>
            </a:r>
            <a:endParaRPr/>
          </a:p>
        </p:txBody>
      </p:sp>
      <p:cxnSp>
        <p:nvCxnSpPr>
          <p:cNvPr id="11" name="Google Shape;657;g10054a4cc09_0_194">
            <a:extLst>
              <a:ext uri="{FF2B5EF4-FFF2-40B4-BE49-F238E27FC236}">
                <a16:creationId xmlns:a16="http://schemas.microsoft.com/office/drawing/2014/main" id="{12B8BC37-DBAB-D3BA-7AE2-6E5E440BFA26}"/>
              </a:ext>
            </a:extLst>
          </p:cNvPr>
          <p:cNvCxnSpPr>
            <a:cxnSpLocks/>
          </p:cNvCxnSpPr>
          <p:nvPr/>
        </p:nvCxnSpPr>
        <p:spPr>
          <a:xfrm>
            <a:off x="4924700" y="2086811"/>
            <a:ext cx="792924" cy="0"/>
          </a:xfrm>
          <a:prstGeom prst="straightConnector1">
            <a:avLst/>
          </a:prstGeom>
          <a:noFill/>
          <a:ln w="19050" cap="flat" cmpd="sng">
            <a:solidFill>
              <a:srgbClr val="1EA4B2"/>
            </a:solidFill>
            <a:prstDash val="solid"/>
            <a:round/>
            <a:headEnd type="none" w="med" len="med"/>
            <a:tailEnd type="triangle" w="med" len="med"/>
          </a:ln>
        </p:spPr>
      </p:cxnSp>
      <p:pic>
        <p:nvPicPr>
          <p:cNvPr id="13" name="Google Shape;659;g10054a4cc09_0_194">
            <a:extLst>
              <a:ext uri="{FF2B5EF4-FFF2-40B4-BE49-F238E27FC236}">
                <a16:creationId xmlns:a16="http://schemas.microsoft.com/office/drawing/2014/main" id="{4EDA8A45-E229-E0EB-2183-D8FF8C5181E2}"/>
              </a:ext>
            </a:extLst>
          </p:cNvPr>
          <p:cNvPicPr preferRelativeResize="0"/>
          <p:nvPr/>
        </p:nvPicPr>
        <p:blipFill>
          <a:blip r:embed="rId3">
            <a:alphaModFix/>
          </a:blip>
          <a:stretch>
            <a:fillRect/>
          </a:stretch>
        </p:blipFill>
        <p:spPr>
          <a:xfrm>
            <a:off x="310820" y="3729610"/>
            <a:ext cx="3580460" cy="2894710"/>
          </a:xfrm>
          <a:prstGeom prst="rect">
            <a:avLst/>
          </a:prstGeom>
          <a:noFill/>
          <a:ln>
            <a:noFill/>
          </a:ln>
        </p:spPr>
      </p:pic>
    </p:spTree>
    <p:extLst>
      <p:ext uri="{BB962C8B-B14F-4D97-AF65-F5344CB8AC3E}">
        <p14:creationId xmlns:p14="http://schemas.microsoft.com/office/powerpoint/2010/main" val="253065770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BB0E9-9594-7B4A-1CF3-EBE7FF2844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EEA3E6-2925-1661-5B7B-4238E30EE572}"/>
              </a:ext>
            </a:extLst>
          </p:cNvPr>
          <p:cNvSpPr>
            <a:spLocks noGrp="1"/>
          </p:cNvSpPr>
          <p:nvPr>
            <p:ph type="title"/>
          </p:nvPr>
        </p:nvSpPr>
        <p:spPr>
          <a:xfrm>
            <a:off x="838200" y="365125"/>
            <a:ext cx="10515600" cy="915035"/>
          </a:xfrm>
        </p:spPr>
        <p:txBody>
          <a:bodyPr>
            <a:normAutofit/>
          </a:bodyPr>
          <a:lstStyle/>
          <a:p>
            <a:r>
              <a:rPr lang="en-US" b="1" dirty="0"/>
              <a:t>ANOVA</a:t>
            </a:r>
            <a:endParaRPr lang="en-US" dirty="0"/>
          </a:p>
        </p:txBody>
      </p:sp>
      <p:sp>
        <p:nvSpPr>
          <p:cNvPr id="3" name="Content Placeholder 2">
            <a:extLst>
              <a:ext uri="{FF2B5EF4-FFF2-40B4-BE49-F238E27FC236}">
                <a16:creationId xmlns:a16="http://schemas.microsoft.com/office/drawing/2014/main" id="{5B451002-33BE-49B6-66C8-D30B787ED9D7}"/>
              </a:ext>
            </a:extLst>
          </p:cNvPr>
          <p:cNvSpPr>
            <a:spLocks noGrp="1"/>
          </p:cNvSpPr>
          <p:nvPr>
            <p:ph idx="1"/>
          </p:nvPr>
        </p:nvSpPr>
        <p:spPr>
          <a:xfrm>
            <a:off x="208280" y="1591945"/>
            <a:ext cx="11689079" cy="4351338"/>
          </a:xfrm>
        </p:spPr>
        <p:txBody>
          <a:bodyPr>
            <a:normAutofit fontScale="92500"/>
          </a:bodyPr>
          <a:lstStyle/>
          <a:p>
            <a:pPr marL="457200" lvl="0" indent="-317500">
              <a:lnSpc>
                <a:spcPct val="115000"/>
              </a:lnSpc>
              <a:spcBef>
                <a:spcPts val="0"/>
              </a:spcBef>
              <a:buClr>
                <a:schemeClr val="dk1"/>
              </a:buClr>
              <a:buSzPts val="1400"/>
              <a:buChar char="●"/>
            </a:pPr>
            <a:r>
              <a:rPr lang="en-US" sz="2400" b="1" dirty="0">
                <a:latin typeface="Arial"/>
                <a:ea typeface="Arial"/>
                <a:cs typeface="Arial"/>
                <a:sym typeface="Arial"/>
              </a:rPr>
              <a:t>Analysis of </a:t>
            </a:r>
            <a:r>
              <a:rPr lang="en-US" sz="2400" b="1" dirty="0" err="1">
                <a:latin typeface="Arial"/>
                <a:ea typeface="Arial"/>
                <a:cs typeface="Arial"/>
                <a:sym typeface="Arial"/>
              </a:rPr>
              <a:t>Varians</a:t>
            </a:r>
            <a:r>
              <a:rPr lang="en-US" sz="2400" b="1" dirty="0">
                <a:latin typeface="Arial"/>
                <a:ea typeface="Arial"/>
                <a:cs typeface="Arial"/>
                <a:sym typeface="Arial"/>
              </a:rPr>
              <a:t> (ANOVA)</a:t>
            </a:r>
            <a:r>
              <a:rPr lang="en-US" sz="2400" dirty="0">
                <a:latin typeface="Arial"/>
                <a:ea typeface="Arial"/>
                <a:cs typeface="Arial"/>
                <a:sym typeface="Arial"/>
              </a:rPr>
              <a:t> </a:t>
            </a:r>
            <a:r>
              <a:rPr lang="en-US" sz="2400" dirty="0" err="1">
                <a:latin typeface="Arial"/>
                <a:ea typeface="Arial"/>
                <a:cs typeface="Arial"/>
                <a:sym typeface="Arial"/>
              </a:rPr>
              <a:t>adalah</a:t>
            </a:r>
            <a:r>
              <a:rPr lang="en-US" sz="2400" dirty="0">
                <a:latin typeface="Arial"/>
                <a:ea typeface="Arial"/>
                <a:cs typeface="Arial"/>
                <a:sym typeface="Arial"/>
              </a:rPr>
              <a:t> </a:t>
            </a:r>
            <a:r>
              <a:rPr lang="en-US" sz="2400" dirty="0" err="1">
                <a:latin typeface="Arial"/>
                <a:ea typeface="Arial"/>
                <a:cs typeface="Arial"/>
                <a:sym typeface="Arial"/>
              </a:rPr>
              <a:t>metode</a:t>
            </a:r>
            <a:r>
              <a:rPr lang="en-US" sz="2400" dirty="0">
                <a:latin typeface="Arial"/>
                <a:ea typeface="Arial"/>
                <a:cs typeface="Arial"/>
                <a:sym typeface="Arial"/>
              </a:rPr>
              <a:t> </a:t>
            </a:r>
            <a:r>
              <a:rPr lang="en-US" sz="2400" dirty="0" err="1">
                <a:latin typeface="Arial"/>
                <a:ea typeface="Arial"/>
                <a:cs typeface="Arial"/>
                <a:sym typeface="Arial"/>
              </a:rPr>
              <a:t>statistik</a:t>
            </a:r>
            <a:r>
              <a:rPr lang="en-US" sz="2400" dirty="0">
                <a:latin typeface="Arial"/>
                <a:ea typeface="Arial"/>
                <a:cs typeface="Arial"/>
                <a:sym typeface="Arial"/>
              </a:rPr>
              <a:t> yang </a:t>
            </a:r>
            <a:r>
              <a:rPr lang="en-US" sz="2400" dirty="0" err="1">
                <a:latin typeface="Arial"/>
                <a:ea typeface="Arial"/>
                <a:cs typeface="Arial"/>
                <a:sym typeface="Arial"/>
              </a:rPr>
              <a:t>digunakan</a:t>
            </a:r>
            <a:r>
              <a:rPr lang="en-US" sz="2400" dirty="0">
                <a:latin typeface="Arial"/>
                <a:ea typeface="Arial"/>
                <a:cs typeface="Arial"/>
                <a:sym typeface="Arial"/>
              </a:rPr>
              <a:t> </a:t>
            </a:r>
            <a:r>
              <a:rPr lang="en-US" sz="2400" dirty="0" err="1">
                <a:latin typeface="Arial"/>
                <a:ea typeface="Arial"/>
                <a:cs typeface="Arial"/>
                <a:sym typeface="Arial"/>
              </a:rPr>
              <a:t>untuk</a:t>
            </a:r>
            <a:r>
              <a:rPr lang="en-US" sz="2400" dirty="0">
                <a:latin typeface="Arial"/>
                <a:ea typeface="Arial"/>
                <a:cs typeface="Arial"/>
                <a:sym typeface="Arial"/>
              </a:rPr>
              <a:t> </a:t>
            </a:r>
            <a:r>
              <a:rPr lang="en-US" sz="2400" dirty="0" err="1">
                <a:latin typeface="Arial"/>
                <a:ea typeface="Arial"/>
                <a:cs typeface="Arial"/>
                <a:sym typeface="Arial"/>
              </a:rPr>
              <a:t>menguji</a:t>
            </a:r>
            <a:r>
              <a:rPr lang="en-US" sz="2400" dirty="0">
                <a:latin typeface="Arial"/>
                <a:ea typeface="Arial"/>
                <a:cs typeface="Arial"/>
                <a:sym typeface="Arial"/>
              </a:rPr>
              <a:t> </a:t>
            </a:r>
            <a:r>
              <a:rPr lang="en-US" sz="2400" dirty="0" err="1">
                <a:latin typeface="Arial"/>
                <a:ea typeface="Arial"/>
                <a:cs typeface="Arial"/>
                <a:sym typeface="Arial"/>
              </a:rPr>
              <a:t>apakah</a:t>
            </a:r>
            <a:r>
              <a:rPr lang="en-US" sz="2400" dirty="0">
                <a:latin typeface="Arial"/>
                <a:ea typeface="Arial"/>
                <a:cs typeface="Arial"/>
                <a:sym typeface="Arial"/>
              </a:rPr>
              <a:t> </a:t>
            </a:r>
            <a:r>
              <a:rPr lang="en-US" sz="2400" dirty="0" err="1">
                <a:latin typeface="Arial"/>
                <a:ea typeface="Arial"/>
                <a:cs typeface="Arial"/>
                <a:sym typeface="Arial"/>
              </a:rPr>
              <a:t>ada</a:t>
            </a:r>
            <a:r>
              <a:rPr lang="en-US" sz="2400" dirty="0">
                <a:latin typeface="Arial"/>
                <a:ea typeface="Arial"/>
                <a:cs typeface="Arial"/>
                <a:sym typeface="Arial"/>
              </a:rPr>
              <a:t> </a:t>
            </a:r>
            <a:r>
              <a:rPr lang="en-US" sz="2400" dirty="0" err="1">
                <a:latin typeface="Arial"/>
                <a:ea typeface="Arial"/>
                <a:cs typeface="Arial"/>
                <a:sym typeface="Arial"/>
              </a:rPr>
              <a:t>perbedaan</a:t>
            </a:r>
            <a:r>
              <a:rPr lang="en-US" sz="2400" dirty="0">
                <a:latin typeface="Arial"/>
                <a:ea typeface="Arial"/>
                <a:cs typeface="Arial"/>
                <a:sym typeface="Arial"/>
              </a:rPr>
              <a:t> yang </a:t>
            </a:r>
            <a:r>
              <a:rPr lang="en-US" sz="2400" dirty="0" err="1">
                <a:latin typeface="Arial"/>
                <a:ea typeface="Arial"/>
                <a:cs typeface="Arial"/>
                <a:sym typeface="Arial"/>
              </a:rPr>
              <a:t>signifikan</a:t>
            </a:r>
            <a:r>
              <a:rPr lang="en-US" sz="2400" dirty="0">
                <a:latin typeface="Arial"/>
                <a:ea typeface="Arial"/>
                <a:cs typeface="Arial"/>
                <a:sym typeface="Arial"/>
              </a:rPr>
              <a:t> </a:t>
            </a:r>
            <a:r>
              <a:rPr lang="en-US" sz="2400" dirty="0" err="1">
                <a:latin typeface="Arial"/>
                <a:ea typeface="Arial"/>
                <a:cs typeface="Arial"/>
                <a:sym typeface="Arial"/>
              </a:rPr>
              <a:t>antara</a:t>
            </a:r>
            <a:r>
              <a:rPr lang="en-US" sz="2400" dirty="0">
                <a:latin typeface="Arial"/>
                <a:ea typeface="Arial"/>
                <a:cs typeface="Arial"/>
                <a:sym typeface="Arial"/>
              </a:rPr>
              <a:t> rata-rata dua </a:t>
            </a:r>
            <a:r>
              <a:rPr lang="en-US" sz="2400" dirty="0" err="1">
                <a:latin typeface="Arial"/>
                <a:ea typeface="Arial"/>
                <a:cs typeface="Arial"/>
                <a:sym typeface="Arial"/>
              </a:rPr>
              <a:t>kelompok</a:t>
            </a:r>
            <a:r>
              <a:rPr lang="en-US" sz="2400" dirty="0">
                <a:latin typeface="Arial"/>
                <a:ea typeface="Arial"/>
                <a:cs typeface="Arial"/>
                <a:sym typeface="Arial"/>
              </a:rPr>
              <a:t> </a:t>
            </a:r>
            <a:r>
              <a:rPr lang="en-US" sz="2400" dirty="0" err="1">
                <a:latin typeface="Arial"/>
                <a:ea typeface="Arial"/>
                <a:cs typeface="Arial"/>
                <a:sym typeface="Arial"/>
              </a:rPr>
              <a:t>atau</a:t>
            </a:r>
            <a:r>
              <a:rPr lang="en-US" sz="2400" dirty="0">
                <a:latin typeface="Arial"/>
                <a:ea typeface="Arial"/>
                <a:cs typeface="Arial"/>
                <a:sym typeface="Arial"/>
              </a:rPr>
              <a:t> </a:t>
            </a:r>
            <a:r>
              <a:rPr lang="en-US" sz="2400" dirty="0" err="1">
                <a:latin typeface="Arial"/>
                <a:ea typeface="Arial"/>
                <a:cs typeface="Arial"/>
                <a:sym typeface="Arial"/>
              </a:rPr>
              <a:t>lebih</a:t>
            </a:r>
            <a:r>
              <a:rPr lang="en-US" sz="2400" dirty="0">
                <a:latin typeface="Arial"/>
                <a:ea typeface="Arial"/>
                <a:cs typeface="Arial"/>
                <a:sym typeface="Arial"/>
              </a:rPr>
              <a:t>. </a:t>
            </a:r>
          </a:p>
          <a:p>
            <a:pPr marL="457200" lvl="0" indent="-317500">
              <a:lnSpc>
                <a:spcPct val="115000"/>
              </a:lnSpc>
              <a:spcBef>
                <a:spcPts val="0"/>
              </a:spcBef>
              <a:buClr>
                <a:schemeClr val="dk1"/>
              </a:buClr>
              <a:buSzPts val="1400"/>
              <a:buChar char="●"/>
            </a:pPr>
            <a:r>
              <a:rPr lang="en-US" sz="2400" b="1" dirty="0">
                <a:latin typeface="Arial"/>
                <a:ea typeface="Arial"/>
                <a:cs typeface="Arial"/>
                <a:sym typeface="Arial"/>
              </a:rPr>
              <a:t>ANOVA </a:t>
            </a:r>
            <a:r>
              <a:rPr lang="en-US" sz="2400" dirty="0" err="1">
                <a:latin typeface="Arial"/>
                <a:ea typeface="Arial"/>
                <a:cs typeface="Arial"/>
                <a:sym typeface="Arial"/>
              </a:rPr>
              <a:t>mengembalikan</a:t>
            </a:r>
            <a:r>
              <a:rPr lang="en-US" sz="2400" dirty="0">
                <a:latin typeface="Arial"/>
                <a:ea typeface="Arial"/>
                <a:cs typeface="Arial"/>
                <a:sym typeface="Arial"/>
              </a:rPr>
              <a:t> dua parameter</a:t>
            </a:r>
          </a:p>
          <a:p>
            <a:pPr marL="914400" lvl="1" indent="-317500">
              <a:lnSpc>
                <a:spcPct val="115000"/>
              </a:lnSpc>
              <a:spcBef>
                <a:spcPts val="0"/>
              </a:spcBef>
              <a:buSzPts val="1400"/>
              <a:buChar char="○"/>
            </a:pPr>
            <a:r>
              <a:rPr lang="en-US" sz="2200" dirty="0">
                <a:latin typeface="Arial"/>
                <a:ea typeface="Arial"/>
                <a:cs typeface="Arial"/>
                <a:sym typeface="Arial"/>
              </a:rPr>
              <a:t>F-Score:</a:t>
            </a:r>
          </a:p>
          <a:p>
            <a:pPr marL="914400" lvl="1" indent="-317500">
              <a:lnSpc>
                <a:spcPct val="115000"/>
              </a:lnSpc>
              <a:spcBef>
                <a:spcPts val="0"/>
              </a:spcBef>
              <a:buSzPts val="1400"/>
              <a:buChar char="○"/>
            </a:pPr>
            <a:r>
              <a:rPr lang="en-US" sz="2200" dirty="0">
                <a:latin typeface="Arial"/>
                <a:ea typeface="Arial"/>
                <a:cs typeface="Arial"/>
                <a:sym typeface="Arial"/>
              </a:rPr>
              <a:t>P-Value</a:t>
            </a:r>
          </a:p>
          <a:p>
            <a:pPr marL="457200" lvl="0" indent="-317500">
              <a:lnSpc>
                <a:spcPct val="115000"/>
              </a:lnSpc>
              <a:spcBef>
                <a:spcPts val="0"/>
              </a:spcBef>
              <a:buClr>
                <a:schemeClr val="dk2"/>
              </a:buClr>
              <a:buSzPts val="1400"/>
              <a:buFont typeface="Arial"/>
              <a:buChar char="●"/>
            </a:pPr>
            <a:r>
              <a:rPr lang="en-US" sz="2400" b="1" dirty="0">
                <a:latin typeface="Arial"/>
                <a:ea typeface="Arial"/>
                <a:cs typeface="Arial"/>
                <a:sym typeface="Arial"/>
              </a:rPr>
              <a:t>F-Score: ANOVA </a:t>
            </a:r>
            <a:r>
              <a:rPr lang="en-US" sz="2400" dirty="0" err="1">
                <a:latin typeface="Arial"/>
                <a:ea typeface="Arial"/>
                <a:cs typeface="Arial"/>
                <a:sym typeface="Arial"/>
              </a:rPr>
              <a:t>mengasumsikan</a:t>
            </a:r>
            <a:r>
              <a:rPr lang="en-US" sz="2400" dirty="0">
                <a:latin typeface="Arial"/>
                <a:ea typeface="Arial"/>
                <a:cs typeface="Arial"/>
                <a:sym typeface="Arial"/>
              </a:rPr>
              <a:t> rata-rata </a:t>
            </a:r>
            <a:r>
              <a:rPr lang="en-US" sz="2400" dirty="0" err="1">
                <a:latin typeface="Arial"/>
                <a:ea typeface="Arial"/>
                <a:cs typeface="Arial"/>
                <a:sym typeface="Arial"/>
              </a:rPr>
              <a:t>semua</a:t>
            </a:r>
            <a:r>
              <a:rPr lang="en-US" sz="2400" dirty="0">
                <a:latin typeface="Arial"/>
                <a:ea typeface="Arial"/>
                <a:cs typeface="Arial"/>
                <a:sym typeface="Arial"/>
              </a:rPr>
              <a:t> </a:t>
            </a:r>
            <a:r>
              <a:rPr lang="en-US" sz="2400" dirty="0" err="1">
                <a:latin typeface="Arial"/>
                <a:ea typeface="Arial"/>
                <a:cs typeface="Arial"/>
                <a:sym typeface="Arial"/>
              </a:rPr>
              <a:t>kelompok</a:t>
            </a:r>
            <a:r>
              <a:rPr lang="en-US" sz="2400" dirty="0">
                <a:latin typeface="Arial"/>
                <a:ea typeface="Arial"/>
                <a:cs typeface="Arial"/>
                <a:sym typeface="Arial"/>
              </a:rPr>
              <a:t> </a:t>
            </a:r>
            <a:r>
              <a:rPr lang="en-US" sz="2400" dirty="0" err="1">
                <a:latin typeface="Arial"/>
                <a:ea typeface="Arial"/>
                <a:cs typeface="Arial"/>
                <a:sym typeface="Arial"/>
              </a:rPr>
              <a:t>adalah</a:t>
            </a:r>
            <a:r>
              <a:rPr lang="en-US" sz="2400" dirty="0">
                <a:latin typeface="Arial"/>
                <a:ea typeface="Arial"/>
                <a:cs typeface="Arial"/>
                <a:sym typeface="Arial"/>
              </a:rPr>
              <a:t> </a:t>
            </a:r>
            <a:r>
              <a:rPr lang="en-US" sz="2400" dirty="0" err="1">
                <a:latin typeface="Arial"/>
                <a:ea typeface="Arial"/>
                <a:cs typeface="Arial"/>
                <a:sym typeface="Arial"/>
              </a:rPr>
              <a:t>sama</a:t>
            </a:r>
            <a:r>
              <a:rPr lang="en-US" sz="2400" dirty="0">
                <a:latin typeface="Arial"/>
                <a:ea typeface="Arial"/>
                <a:cs typeface="Arial"/>
                <a:sym typeface="Arial"/>
              </a:rPr>
              <a:t>, </a:t>
            </a:r>
            <a:r>
              <a:rPr lang="en-US" sz="2400" dirty="0" err="1">
                <a:latin typeface="Arial"/>
                <a:ea typeface="Arial"/>
                <a:cs typeface="Arial"/>
                <a:sym typeface="Arial"/>
              </a:rPr>
              <a:t>anova</a:t>
            </a:r>
            <a:r>
              <a:rPr lang="en-US" sz="2400" dirty="0">
                <a:latin typeface="Arial"/>
                <a:ea typeface="Arial"/>
                <a:cs typeface="Arial"/>
                <a:sym typeface="Arial"/>
              </a:rPr>
              <a:t> </a:t>
            </a:r>
            <a:r>
              <a:rPr lang="en-US" sz="2400" dirty="0" err="1">
                <a:latin typeface="Arial"/>
                <a:ea typeface="Arial"/>
                <a:cs typeface="Arial"/>
                <a:sym typeface="Arial"/>
              </a:rPr>
              <a:t>akan</a:t>
            </a:r>
            <a:r>
              <a:rPr lang="en-US" sz="2400" dirty="0">
                <a:latin typeface="Arial"/>
                <a:ea typeface="Arial"/>
                <a:cs typeface="Arial"/>
                <a:sym typeface="Arial"/>
              </a:rPr>
              <a:t> </a:t>
            </a:r>
            <a:r>
              <a:rPr lang="en-US" sz="2400" dirty="0" err="1">
                <a:latin typeface="Arial"/>
                <a:ea typeface="Arial"/>
                <a:cs typeface="Arial"/>
                <a:sym typeface="Arial"/>
              </a:rPr>
              <a:t>menghitung</a:t>
            </a:r>
            <a:r>
              <a:rPr lang="en-US" sz="2400" dirty="0">
                <a:latin typeface="Arial"/>
                <a:ea typeface="Arial"/>
                <a:cs typeface="Arial"/>
                <a:sym typeface="Arial"/>
              </a:rPr>
              <a:t> </a:t>
            </a:r>
            <a:r>
              <a:rPr lang="en-US" sz="2400" dirty="0" err="1">
                <a:latin typeface="Arial"/>
                <a:ea typeface="Arial"/>
                <a:cs typeface="Arial"/>
                <a:sym typeface="Arial"/>
              </a:rPr>
              <a:t>seberapa</a:t>
            </a:r>
            <a:r>
              <a:rPr lang="en-US" sz="2400" dirty="0">
                <a:latin typeface="Arial"/>
                <a:ea typeface="Arial"/>
                <a:cs typeface="Arial"/>
                <a:sym typeface="Arial"/>
              </a:rPr>
              <a:t> </a:t>
            </a:r>
            <a:r>
              <a:rPr lang="en-US" sz="2400" dirty="0" err="1">
                <a:latin typeface="Arial"/>
                <a:ea typeface="Arial"/>
                <a:cs typeface="Arial"/>
                <a:sym typeface="Arial"/>
              </a:rPr>
              <a:t>jauh</a:t>
            </a:r>
            <a:r>
              <a:rPr lang="en-US" sz="2400" dirty="0">
                <a:latin typeface="Arial"/>
                <a:ea typeface="Arial"/>
                <a:cs typeface="Arial"/>
                <a:sym typeface="Arial"/>
              </a:rPr>
              <a:t> rata-rata yang </a:t>
            </a:r>
            <a:r>
              <a:rPr lang="en-US" sz="2400" dirty="0" err="1">
                <a:latin typeface="Arial"/>
                <a:ea typeface="Arial"/>
                <a:cs typeface="Arial"/>
                <a:sym typeface="Arial"/>
              </a:rPr>
              <a:t>sebenarnya</a:t>
            </a:r>
            <a:r>
              <a:rPr lang="en-US" sz="2400" dirty="0">
                <a:latin typeface="Arial"/>
                <a:ea typeface="Arial"/>
                <a:cs typeface="Arial"/>
                <a:sym typeface="Arial"/>
              </a:rPr>
              <a:t> </a:t>
            </a:r>
            <a:r>
              <a:rPr lang="en-US" sz="2400" dirty="0" err="1">
                <a:latin typeface="Arial"/>
                <a:ea typeface="Arial"/>
                <a:cs typeface="Arial"/>
                <a:sym typeface="Arial"/>
              </a:rPr>
              <a:t>menyimpang</a:t>
            </a:r>
            <a:r>
              <a:rPr lang="en-US" sz="2400" dirty="0">
                <a:latin typeface="Arial"/>
                <a:ea typeface="Arial"/>
                <a:cs typeface="Arial"/>
                <a:sym typeface="Arial"/>
              </a:rPr>
              <a:t> </a:t>
            </a:r>
            <a:r>
              <a:rPr lang="en-US" sz="2400" dirty="0" err="1">
                <a:latin typeface="Arial"/>
                <a:ea typeface="Arial"/>
                <a:cs typeface="Arial"/>
                <a:sym typeface="Arial"/>
              </a:rPr>
              <a:t>dari</a:t>
            </a:r>
            <a:r>
              <a:rPr lang="en-US" sz="2400" dirty="0">
                <a:latin typeface="Arial"/>
                <a:ea typeface="Arial"/>
                <a:cs typeface="Arial"/>
                <a:sym typeface="Arial"/>
              </a:rPr>
              <a:t> </a:t>
            </a:r>
            <a:r>
              <a:rPr lang="en-US" sz="2400" dirty="0" err="1">
                <a:latin typeface="Arial"/>
                <a:ea typeface="Arial"/>
                <a:cs typeface="Arial"/>
                <a:sym typeface="Arial"/>
              </a:rPr>
              <a:t>asumsi</a:t>
            </a:r>
            <a:r>
              <a:rPr lang="en-US" sz="2400" dirty="0">
                <a:latin typeface="Arial"/>
                <a:ea typeface="Arial"/>
                <a:cs typeface="Arial"/>
                <a:sym typeface="Arial"/>
              </a:rPr>
              <a:t>, dan </a:t>
            </a:r>
            <a:r>
              <a:rPr lang="en-US" sz="2400" dirty="0" err="1">
                <a:latin typeface="Arial"/>
                <a:ea typeface="Arial"/>
                <a:cs typeface="Arial"/>
                <a:sym typeface="Arial"/>
              </a:rPr>
              <a:t>melaporkannya</a:t>
            </a:r>
            <a:r>
              <a:rPr lang="en-US" sz="2400" dirty="0">
                <a:latin typeface="Arial"/>
                <a:ea typeface="Arial"/>
                <a:cs typeface="Arial"/>
                <a:sym typeface="Arial"/>
              </a:rPr>
              <a:t> </a:t>
            </a:r>
            <a:r>
              <a:rPr lang="en-US" sz="2400" dirty="0" err="1">
                <a:latin typeface="Arial"/>
                <a:ea typeface="Arial"/>
                <a:cs typeface="Arial"/>
                <a:sym typeface="Arial"/>
              </a:rPr>
              <a:t>sebagai</a:t>
            </a:r>
            <a:r>
              <a:rPr lang="en-US" sz="2400" dirty="0">
                <a:latin typeface="Arial"/>
                <a:ea typeface="Arial"/>
                <a:cs typeface="Arial"/>
                <a:sym typeface="Arial"/>
              </a:rPr>
              <a:t> F-Score. </a:t>
            </a:r>
          </a:p>
          <a:p>
            <a:pPr marL="457200" lvl="0" indent="-317500">
              <a:lnSpc>
                <a:spcPct val="115000"/>
              </a:lnSpc>
              <a:spcBef>
                <a:spcPts val="0"/>
              </a:spcBef>
              <a:buClr>
                <a:schemeClr val="dk2"/>
              </a:buClr>
              <a:buSzPts val="1400"/>
              <a:buFont typeface="Arial"/>
              <a:buChar char="●"/>
            </a:pPr>
            <a:r>
              <a:rPr lang="en-US" sz="2400" dirty="0">
                <a:latin typeface="Arial"/>
                <a:ea typeface="Arial"/>
                <a:cs typeface="Arial"/>
                <a:sym typeface="Arial"/>
              </a:rPr>
              <a:t>Skor yang </a:t>
            </a:r>
            <a:r>
              <a:rPr lang="en-US" sz="2400" dirty="0" err="1">
                <a:latin typeface="Arial"/>
                <a:ea typeface="Arial"/>
                <a:cs typeface="Arial"/>
                <a:sym typeface="Arial"/>
              </a:rPr>
              <a:t>lebih</a:t>
            </a:r>
            <a:r>
              <a:rPr lang="en-US" sz="2400" dirty="0">
                <a:latin typeface="Arial"/>
                <a:ea typeface="Arial"/>
                <a:cs typeface="Arial"/>
                <a:sym typeface="Arial"/>
              </a:rPr>
              <a:t> </a:t>
            </a:r>
            <a:r>
              <a:rPr lang="en-US" sz="2400" dirty="0" err="1">
                <a:latin typeface="Arial"/>
                <a:ea typeface="Arial"/>
                <a:cs typeface="Arial"/>
                <a:sym typeface="Arial"/>
              </a:rPr>
              <a:t>besar</a:t>
            </a:r>
            <a:r>
              <a:rPr lang="en-US" sz="2400" dirty="0">
                <a:latin typeface="Arial"/>
                <a:ea typeface="Arial"/>
                <a:cs typeface="Arial"/>
                <a:sym typeface="Arial"/>
              </a:rPr>
              <a:t> </a:t>
            </a:r>
            <a:r>
              <a:rPr lang="en-US" sz="2400" dirty="0" err="1">
                <a:latin typeface="Arial"/>
                <a:ea typeface="Arial"/>
                <a:cs typeface="Arial"/>
                <a:sym typeface="Arial"/>
              </a:rPr>
              <a:t>berarti</a:t>
            </a:r>
            <a:r>
              <a:rPr lang="en-US" sz="2400" dirty="0">
                <a:latin typeface="Arial"/>
                <a:ea typeface="Arial"/>
                <a:cs typeface="Arial"/>
                <a:sym typeface="Arial"/>
              </a:rPr>
              <a:t> </a:t>
            </a:r>
            <a:r>
              <a:rPr lang="en-US" sz="2400" dirty="0" err="1">
                <a:latin typeface="Arial"/>
                <a:ea typeface="Arial"/>
                <a:cs typeface="Arial"/>
                <a:sym typeface="Arial"/>
              </a:rPr>
              <a:t>ada</a:t>
            </a:r>
            <a:r>
              <a:rPr lang="en-US" sz="2400" dirty="0">
                <a:latin typeface="Arial"/>
                <a:ea typeface="Arial"/>
                <a:cs typeface="Arial"/>
                <a:sym typeface="Arial"/>
              </a:rPr>
              <a:t> </a:t>
            </a:r>
            <a:r>
              <a:rPr lang="en-US" sz="2400" dirty="0" err="1">
                <a:latin typeface="Arial"/>
                <a:ea typeface="Arial"/>
                <a:cs typeface="Arial"/>
                <a:sym typeface="Arial"/>
              </a:rPr>
              <a:t>perbedaan</a:t>
            </a:r>
            <a:r>
              <a:rPr lang="en-US" sz="2400" dirty="0">
                <a:latin typeface="Arial"/>
                <a:ea typeface="Arial"/>
                <a:cs typeface="Arial"/>
                <a:sym typeface="Arial"/>
              </a:rPr>
              <a:t> yang </a:t>
            </a:r>
            <a:r>
              <a:rPr lang="en-US" sz="2400" dirty="0" err="1">
                <a:latin typeface="Arial"/>
                <a:ea typeface="Arial"/>
                <a:cs typeface="Arial"/>
                <a:sym typeface="Arial"/>
              </a:rPr>
              <a:t>lebih</a:t>
            </a:r>
            <a:r>
              <a:rPr lang="en-US" sz="2400" dirty="0">
                <a:latin typeface="Arial"/>
                <a:ea typeface="Arial"/>
                <a:cs typeface="Arial"/>
                <a:sym typeface="Arial"/>
              </a:rPr>
              <a:t> </a:t>
            </a:r>
            <a:r>
              <a:rPr lang="en-US" sz="2400" dirty="0" err="1">
                <a:latin typeface="Arial"/>
                <a:ea typeface="Arial"/>
                <a:cs typeface="Arial"/>
                <a:sym typeface="Arial"/>
              </a:rPr>
              <a:t>besar</a:t>
            </a:r>
            <a:r>
              <a:rPr lang="en-US" sz="2400" dirty="0">
                <a:latin typeface="Arial"/>
                <a:ea typeface="Arial"/>
                <a:cs typeface="Arial"/>
                <a:sym typeface="Arial"/>
              </a:rPr>
              <a:t> </a:t>
            </a:r>
            <a:r>
              <a:rPr lang="en-US" sz="2400" dirty="0" err="1">
                <a:latin typeface="Arial"/>
                <a:ea typeface="Arial"/>
                <a:cs typeface="Arial"/>
                <a:sym typeface="Arial"/>
              </a:rPr>
              <a:t>antara</a:t>
            </a:r>
            <a:r>
              <a:rPr lang="en-US" sz="2400" dirty="0">
                <a:latin typeface="Arial"/>
                <a:ea typeface="Arial"/>
                <a:cs typeface="Arial"/>
                <a:sym typeface="Arial"/>
              </a:rPr>
              <a:t> rata-rata.</a:t>
            </a:r>
          </a:p>
          <a:p>
            <a:pPr marL="457200" lvl="0" indent="-317500">
              <a:lnSpc>
                <a:spcPct val="115000"/>
              </a:lnSpc>
              <a:spcBef>
                <a:spcPts val="0"/>
              </a:spcBef>
              <a:buClr>
                <a:schemeClr val="dk2"/>
              </a:buClr>
              <a:buSzPts val="1400"/>
              <a:buFont typeface="Arial"/>
              <a:buChar char="●"/>
            </a:pPr>
            <a:r>
              <a:rPr lang="en-US" sz="2400" dirty="0">
                <a:latin typeface="Arial"/>
                <a:ea typeface="Arial"/>
                <a:cs typeface="Arial"/>
                <a:sym typeface="Arial"/>
              </a:rPr>
              <a:t>P-Value: Nilai-P </a:t>
            </a:r>
            <a:r>
              <a:rPr lang="en-US" sz="2400" dirty="0" err="1">
                <a:latin typeface="Arial"/>
                <a:ea typeface="Arial"/>
                <a:cs typeface="Arial"/>
                <a:sym typeface="Arial"/>
              </a:rPr>
              <a:t>menunjukkan</a:t>
            </a:r>
            <a:r>
              <a:rPr lang="en-US" sz="2400" dirty="0">
                <a:latin typeface="Arial"/>
                <a:ea typeface="Arial"/>
                <a:cs typeface="Arial"/>
                <a:sym typeface="Arial"/>
              </a:rPr>
              <a:t> </a:t>
            </a:r>
            <a:r>
              <a:rPr lang="en-US" sz="2400" dirty="0" err="1">
                <a:latin typeface="Arial"/>
                <a:ea typeface="Arial"/>
                <a:cs typeface="Arial"/>
                <a:sym typeface="Arial"/>
              </a:rPr>
              <a:t>seberapa</a:t>
            </a:r>
            <a:r>
              <a:rPr lang="en-US" sz="2400" dirty="0">
                <a:latin typeface="Arial"/>
                <a:ea typeface="Arial"/>
                <a:cs typeface="Arial"/>
                <a:sym typeface="Arial"/>
              </a:rPr>
              <a:t> </a:t>
            </a:r>
            <a:r>
              <a:rPr lang="en-US" sz="2400" dirty="0" err="1">
                <a:latin typeface="Arial"/>
                <a:ea typeface="Arial"/>
                <a:cs typeface="Arial"/>
                <a:sym typeface="Arial"/>
              </a:rPr>
              <a:t>signifikan</a:t>
            </a:r>
            <a:r>
              <a:rPr lang="en-US" sz="2400" dirty="0">
                <a:latin typeface="Arial"/>
                <a:ea typeface="Arial"/>
                <a:cs typeface="Arial"/>
                <a:sym typeface="Arial"/>
              </a:rPr>
              <a:t> </a:t>
            </a:r>
            <a:r>
              <a:rPr lang="en-US" sz="2400" dirty="0" err="1">
                <a:latin typeface="Arial"/>
                <a:ea typeface="Arial"/>
                <a:cs typeface="Arial"/>
                <a:sym typeface="Arial"/>
              </a:rPr>
              <a:t>secara</a:t>
            </a:r>
            <a:r>
              <a:rPr lang="en-US" sz="2400" dirty="0">
                <a:latin typeface="Arial"/>
                <a:ea typeface="Arial"/>
                <a:cs typeface="Arial"/>
                <a:sym typeface="Arial"/>
              </a:rPr>
              <a:t> </a:t>
            </a:r>
            <a:r>
              <a:rPr lang="en-US" sz="2400" dirty="0" err="1">
                <a:latin typeface="Arial"/>
                <a:ea typeface="Arial"/>
                <a:cs typeface="Arial"/>
                <a:sym typeface="Arial"/>
              </a:rPr>
              <a:t>statistik</a:t>
            </a:r>
            <a:r>
              <a:rPr lang="en-US" sz="2400" dirty="0">
                <a:latin typeface="Arial"/>
                <a:ea typeface="Arial"/>
                <a:cs typeface="Arial"/>
                <a:sym typeface="Arial"/>
              </a:rPr>
              <a:t> </a:t>
            </a:r>
            <a:r>
              <a:rPr lang="en-US" sz="2400" dirty="0" err="1">
                <a:latin typeface="Arial"/>
                <a:ea typeface="Arial"/>
                <a:cs typeface="Arial"/>
                <a:sym typeface="Arial"/>
              </a:rPr>
              <a:t>nilai</a:t>
            </a:r>
            <a:r>
              <a:rPr lang="en-US" sz="2400" dirty="0">
                <a:latin typeface="Arial"/>
                <a:ea typeface="Arial"/>
                <a:cs typeface="Arial"/>
                <a:sym typeface="Arial"/>
              </a:rPr>
              <a:t> </a:t>
            </a:r>
            <a:r>
              <a:rPr lang="en-US" sz="2400" dirty="0" err="1">
                <a:latin typeface="Arial"/>
                <a:ea typeface="Arial"/>
                <a:cs typeface="Arial"/>
                <a:sym typeface="Arial"/>
              </a:rPr>
              <a:t>skor</a:t>
            </a:r>
            <a:r>
              <a:rPr lang="en-US" sz="2400" dirty="0">
                <a:latin typeface="Arial"/>
                <a:ea typeface="Arial"/>
                <a:cs typeface="Arial"/>
                <a:sym typeface="Arial"/>
              </a:rPr>
              <a:t> yang </a:t>
            </a:r>
            <a:r>
              <a:rPr lang="en-US" sz="2400" dirty="0" err="1">
                <a:latin typeface="Arial"/>
                <a:ea typeface="Arial"/>
                <a:cs typeface="Arial"/>
                <a:sym typeface="Arial"/>
              </a:rPr>
              <a:t>dihitung</a:t>
            </a:r>
            <a:r>
              <a:rPr lang="en-US" sz="2400" dirty="0">
                <a:latin typeface="Arial"/>
                <a:ea typeface="Arial"/>
                <a:cs typeface="Arial"/>
                <a:sym typeface="Arial"/>
              </a:rPr>
              <a:t>.</a:t>
            </a:r>
          </a:p>
          <a:p>
            <a:pPr marL="139700" indent="0">
              <a:lnSpc>
                <a:spcPct val="115000"/>
              </a:lnSpc>
              <a:spcBef>
                <a:spcPts val="0"/>
              </a:spcBef>
              <a:buSzPts val="1400"/>
              <a:buNone/>
            </a:pPr>
            <a:endParaRPr lang="en-US" sz="2400" dirty="0">
              <a:latin typeface="Arial"/>
              <a:ea typeface="Arial"/>
              <a:cs typeface="Arial"/>
              <a:sym typeface="Arial"/>
            </a:endParaRPr>
          </a:p>
        </p:txBody>
      </p:sp>
    </p:spTree>
    <p:extLst>
      <p:ext uri="{BB962C8B-B14F-4D97-AF65-F5344CB8AC3E}">
        <p14:creationId xmlns:p14="http://schemas.microsoft.com/office/powerpoint/2010/main" val="346585236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D39B4-99D2-219C-7EA3-31C8D3B9CA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E1D23B-1D7F-E362-CB75-9E14209406FC}"/>
              </a:ext>
            </a:extLst>
          </p:cNvPr>
          <p:cNvSpPr>
            <a:spLocks noGrp="1"/>
          </p:cNvSpPr>
          <p:nvPr>
            <p:ph type="title"/>
          </p:nvPr>
        </p:nvSpPr>
        <p:spPr>
          <a:xfrm>
            <a:off x="838200" y="365125"/>
            <a:ext cx="10515600" cy="915035"/>
          </a:xfrm>
        </p:spPr>
        <p:txBody>
          <a:bodyPr>
            <a:normAutofit/>
          </a:bodyPr>
          <a:lstStyle/>
          <a:p>
            <a:r>
              <a:rPr lang="en-US" b="1" dirty="0"/>
              <a:t>ANOVA</a:t>
            </a:r>
            <a:endParaRPr lang="en-US" dirty="0"/>
          </a:p>
        </p:txBody>
      </p:sp>
      <p:sp>
        <p:nvSpPr>
          <p:cNvPr id="3" name="Content Placeholder 2">
            <a:extLst>
              <a:ext uri="{FF2B5EF4-FFF2-40B4-BE49-F238E27FC236}">
                <a16:creationId xmlns:a16="http://schemas.microsoft.com/office/drawing/2014/main" id="{F9205E60-64D7-4584-D27A-57564EDCB3C7}"/>
              </a:ext>
            </a:extLst>
          </p:cNvPr>
          <p:cNvSpPr>
            <a:spLocks noGrp="1"/>
          </p:cNvSpPr>
          <p:nvPr>
            <p:ph idx="1"/>
          </p:nvPr>
        </p:nvSpPr>
        <p:spPr>
          <a:xfrm>
            <a:off x="208281" y="1114425"/>
            <a:ext cx="8234680" cy="4351338"/>
          </a:xfrm>
        </p:spPr>
        <p:txBody>
          <a:bodyPr>
            <a:normAutofit/>
          </a:bodyPr>
          <a:lstStyle/>
          <a:p>
            <a:pPr marL="457200" lvl="0" indent="-317500">
              <a:lnSpc>
                <a:spcPct val="115000"/>
              </a:lnSpc>
              <a:spcBef>
                <a:spcPts val="0"/>
              </a:spcBef>
              <a:buClr>
                <a:schemeClr val="dk1"/>
              </a:buClr>
              <a:buSzPts val="1400"/>
              <a:buChar char="●"/>
            </a:pPr>
            <a:r>
              <a:rPr lang="en-US" sz="2400" dirty="0">
                <a:latin typeface="Arial"/>
                <a:ea typeface="Arial"/>
                <a:cs typeface="Arial"/>
                <a:sym typeface="Arial"/>
              </a:rPr>
              <a:t>Jika </a:t>
            </a:r>
            <a:r>
              <a:rPr lang="en-US" sz="2400" dirty="0" err="1">
                <a:latin typeface="Arial"/>
                <a:ea typeface="Arial"/>
                <a:cs typeface="Arial"/>
                <a:sym typeface="Arial"/>
              </a:rPr>
              <a:t>variabel</a:t>
            </a:r>
            <a:r>
              <a:rPr lang="en-US" sz="2400" dirty="0">
                <a:latin typeface="Arial"/>
                <a:ea typeface="Arial"/>
                <a:cs typeface="Arial"/>
                <a:sym typeface="Arial"/>
              </a:rPr>
              <a:t> </a:t>
            </a:r>
            <a:r>
              <a:rPr lang="en-US" sz="2400" dirty="0" err="1">
                <a:latin typeface="Arial"/>
                <a:ea typeface="Arial"/>
                <a:cs typeface="Arial"/>
                <a:sym typeface="Arial"/>
              </a:rPr>
              <a:t>harga</a:t>
            </a:r>
            <a:r>
              <a:rPr lang="en-US" sz="2400" dirty="0">
                <a:latin typeface="Arial"/>
                <a:ea typeface="Arial"/>
                <a:cs typeface="Arial"/>
                <a:sym typeface="Arial"/>
              </a:rPr>
              <a:t> pada dataset </a:t>
            </a:r>
            <a:r>
              <a:rPr lang="en-US" sz="2400" dirty="0" err="1">
                <a:latin typeface="Arial"/>
                <a:ea typeface="Arial"/>
                <a:cs typeface="Arial"/>
                <a:sym typeface="Arial"/>
              </a:rPr>
              <a:t>mobil</a:t>
            </a:r>
            <a:r>
              <a:rPr lang="en-US" sz="2400" dirty="0">
                <a:latin typeface="Arial"/>
                <a:ea typeface="Arial"/>
                <a:cs typeface="Arial"/>
                <a:sym typeface="Arial"/>
              </a:rPr>
              <a:t> sangat </a:t>
            </a:r>
            <a:r>
              <a:rPr lang="en-US" sz="2400" dirty="0" err="1">
                <a:latin typeface="Arial"/>
                <a:ea typeface="Arial"/>
                <a:cs typeface="Arial"/>
                <a:sym typeface="Arial"/>
              </a:rPr>
              <a:t>berkorelasi</a:t>
            </a:r>
            <a:r>
              <a:rPr lang="en-US" sz="2400" dirty="0">
                <a:latin typeface="Arial"/>
                <a:ea typeface="Arial"/>
                <a:cs typeface="Arial"/>
                <a:sym typeface="Arial"/>
              </a:rPr>
              <a:t> </a:t>
            </a:r>
            <a:r>
              <a:rPr lang="en-US" sz="2400" dirty="0" err="1">
                <a:latin typeface="Arial"/>
                <a:ea typeface="Arial"/>
                <a:cs typeface="Arial"/>
                <a:sym typeface="Arial"/>
              </a:rPr>
              <a:t>dengan</a:t>
            </a:r>
            <a:r>
              <a:rPr lang="en-US" sz="2400" dirty="0">
                <a:latin typeface="Arial"/>
                <a:ea typeface="Arial"/>
                <a:cs typeface="Arial"/>
                <a:sym typeface="Arial"/>
              </a:rPr>
              <a:t> </a:t>
            </a:r>
            <a:r>
              <a:rPr lang="en-US" sz="2400" dirty="0" err="1">
                <a:latin typeface="Arial"/>
                <a:ea typeface="Arial"/>
                <a:cs typeface="Arial"/>
                <a:sym typeface="Arial"/>
              </a:rPr>
              <a:t>variabel</a:t>
            </a:r>
            <a:r>
              <a:rPr lang="en-US" sz="2400" dirty="0">
                <a:latin typeface="Arial"/>
                <a:ea typeface="Arial"/>
                <a:cs typeface="Arial"/>
                <a:sym typeface="Arial"/>
              </a:rPr>
              <a:t> </a:t>
            </a:r>
            <a:r>
              <a:rPr lang="en-US" sz="2400" dirty="0" err="1">
                <a:latin typeface="Arial"/>
                <a:ea typeface="Arial"/>
                <a:cs typeface="Arial"/>
                <a:sym typeface="Arial"/>
              </a:rPr>
              <a:t>lainya</a:t>
            </a:r>
            <a:r>
              <a:rPr lang="en-US" sz="2400" dirty="0">
                <a:latin typeface="Arial"/>
                <a:ea typeface="Arial"/>
                <a:cs typeface="Arial"/>
                <a:sym typeface="Arial"/>
              </a:rPr>
              <a:t>, </a:t>
            </a:r>
            <a:r>
              <a:rPr lang="en-US" sz="2400" b="1" dirty="0">
                <a:latin typeface="Arial"/>
                <a:ea typeface="Arial"/>
                <a:cs typeface="Arial"/>
                <a:sym typeface="Arial"/>
              </a:rPr>
              <a:t>ANOVA </a:t>
            </a:r>
            <a:r>
              <a:rPr lang="en-US" sz="2400" dirty="0" err="1">
                <a:latin typeface="Arial"/>
                <a:ea typeface="Arial"/>
                <a:cs typeface="Arial"/>
                <a:sym typeface="Arial"/>
              </a:rPr>
              <a:t>akan</a:t>
            </a:r>
            <a:r>
              <a:rPr lang="en-US" sz="2400" dirty="0">
                <a:latin typeface="Arial"/>
                <a:ea typeface="Arial"/>
                <a:cs typeface="Arial"/>
                <a:sym typeface="Arial"/>
              </a:rPr>
              <a:t> </a:t>
            </a:r>
            <a:r>
              <a:rPr lang="en-US" sz="2400" dirty="0" err="1">
                <a:latin typeface="Arial"/>
                <a:ea typeface="Arial"/>
                <a:cs typeface="Arial"/>
                <a:sym typeface="Arial"/>
              </a:rPr>
              <a:t>mengembalikan</a:t>
            </a:r>
            <a:r>
              <a:rPr lang="en-US" sz="2400" dirty="0">
                <a:latin typeface="Arial"/>
                <a:ea typeface="Arial"/>
                <a:cs typeface="Arial"/>
                <a:sym typeface="Arial"/>
              </a:rPr>
              <a:t> </a:t>
            </a:r>
            <a:r>
              <a:rPr lang="en-US" sz="2400" dirty="0" err="1">
                <a:latin typeface="Arial"/>
                <a:ea typeface="Arial"/>
                <a:cs typeface="Arial"/>
                <a:sym typeface="Arial"/>
              </a:rPr>
              <a:t>skor</a:t>
            </a:r>
            <a:r>
              <a:rPr lang="en-US" sz="2400" dirty="0">
                <a:latin typeface="Arial"/>
                <a:ea typeface="Arial"/>
                <a:cs typeface="Arial"/>
                <a:sym typeface="Arial"/>
              </a:rPr>
              <a:t> F-Score yang </a:t>
            </a:r>
            <a:r>
              <a:rPr lang="en-US" sz="2400" dirty="0" err="1">
                <a:latin typeface="Arial"/>
                <a:ea typeface="Arial"/>
                <a:cs typeface="Arial"/>
                <a:sym typeface="Arial"/>
              </a:rPr>
              <a:t>cukup</a:t>
            </a:r>
            <a:r>
              <a:rPr lang="en-US" sz="2400" dirty="0">
                <a:latin typeface="Arial"/>
                <a:ea typeface="Arial"/>
                <a:cs typeface="Arial"/>
                <a:sym typeface="Arial"/>
              </a:rPr>
              <a:t> </a:t>
            </a:r>
            <a:r>
              <a:rPr lang="en-US" sz="2400" dirty="0" err="1">
                <a:latin typeface="Arial"/>
                <a:ea typeface="Arial"/>
                <a:cs typeface="Arial"/>
                <a:sym typeface="Arial"/>
              </a:rPr>
              <a:t>besar</a:t>
            </a:r>
            <a:r>
              <a:rPr lang="en-US" sz="2400" dirty="0">
                <a:latin typeface="Arial"/>
                <a:ea typeface="Arial"/>
                <a:cs typeface="Arial"/>
                <a:sym typeface="Arial"/>
              </a:rPr>
              <a:t> dan </a:t>
            </a:r>
            <a:r>
              <a:rPr lang="en-US" sz="2400" dirty="0" err="1">
                <a:latin typeface="Arial"/>
                <a:ea typeface="Arial"/>
                <a:cs typeface="Arial"/>
                <a:sym typeface="Arial"/>
              </a:rPr>
              <a:t>nilai</a:t>
            </a:r>
            <a:r>
              <a:rPr lang="en-US" sz="2400" dirty="0">
                <a:latin typeface="Arial"/>
                <a:ea typeface="Arial"/>
                <a:cs typeface="Arial"/>
                <a:sym typeface="Arial"/>
              </a:rPr>
              <a:t>-p yang </a:t>
            </a:r>
            <a:r>
              <a:rPr lang="en-US" sz="2400" dirty="0" err="1">
                <a:latin typeface="Arial"/>
                <a:ea typeface="Arial"/>
                <a:cs typeface="Arial"/>
                <a:sym typeface="Arial"/>
              </a:rPr>
              <a:t>kecil</a:t>
            </a:r>
            <a:r>
              <a:rPr lang="en-US" sz="2400" dirty="0">
                <a:latin typeface="Arial"/>
                <a:ea typeface="Arial"/>
                <a:cs typeface="Arial"/>
                <a:sym typeface="Arial"/>
              </a:rPr>
              <a:t>.</a:t>
            </a:r>
          </a:p>
          <a:p>
            <a:pPr marL="457200" lvl="0" indent="-317500">
              <a:lnSpc>
                <a:spcPct val="115000"/>
              </a:lnSpc>
              <a:spcBef>
                <a:spcPts val="0"/>
              </a:spcBef>
              <a:buClr>
                <a:schemeClr val="dk1"/>
              </a:buClr>
              <a:buSzPts val="1400"/>
              <a:buChar char="●"/>
            </a:pPr>
            <a:r>
              <a:rPr lang="en-US" sz="2400" dirty="0">
                <a:latin typeface="Arial"/>
                <a:ea typeface="Arial"/>
                <a:cs typeface="Arial"/>
                <a:sym typeface="Arial"/>
              </a:rPr>
              <a:t>ANOVA </a:t>
            </a:r>
            <a:r>
              <a:rPr lang="en-US" sz="2400" dirty="0" err="1">
                <a:latin typeface="Arial"/>
                <a:ea typeface="Arial"/>
                <a:cs typeface="Arial"/>
                <a:sym typeface="Arial"/>
              </a:rPr>
              <a:t>menganalisis</a:t>
            </a:r>
            <a:r>
              <a:rPr lang="en-US" sz="2400" dirty="0">
                <a:latin typeface="Arial"/>
                <a:ea typeface="Arial"/>
                <a:cs typeface="Arial"/>
                <a:sym typeface="Arial"/>
              </a:rPr>
              <a:t> </a:t>
            </a:r>
            <a:r>
              <a:rPr lang="en-US" sz="2400" dirty="0" err="1">
                <a:latin typeface="Arial"/>
                <a:ea typeface="Arial"/>
                <a:cs typeface="Arial"/>
                <a:sym typeface="Arial"/>
              </a:rPr>
              <a:t>perbedaan</a:t>
            </a:r>
            <a:r>
              <a:rPr lang="en-US" sz="2400" dirty="0">
                <a:latin typeface="Arial"/>
                <a:ea typeface="Arial"/>
                <a:cs typeface="Arial"/>
                <a:sym typeface="Arial"/>
              </a:rPr>
              <a:t> </a:t>
            </a:r>
            <a:r>
              <a:rPr lang="en-US" sz="2400" dirty="0" err="1">
                <a:latin typeface="Arial"/>
                <a:ea typeface="Arial"/>
                <a:cs typeface="Arial"/>
                <a:sym typeface="Arial"/>
              </a:rPr>
              <a:t>antara</a:t>
            </a:r>
            <a:r>
              <a:rPr lang="en-US" sz="2400" dirty="0">
                <a:latin typeface="Arial"/>
                <a:ea typeface="Arial"/>
                <a:cs typeface="Arial"/>
                <a:sym typeface="Arial"/>
              </a:rPr>
              <a:t> </a:t>
            </a:r>
            <a:r>
              <a:rPr lang="en-US" sz="2400" dirty="0" err="1">
                <a:latin typeface="Arial"/>
                <a:ea typeface="Arial"/>
                <a:cs typeface="Arial"/>
                <a:sym typeface="Arial"/>
              </a:rPr>
              <a:t>kelompok</a:t>
            </a:r>
            <a:r>
              <a:rPr lang="en-US" sz="2400" dirty="0">
                <a:latin typeface="Arial"/>
                <a:ea typeface="Arial"/>
                <a:cs typeface="Arial"/>
                <a:sym typeface="Arial"/>
              </a:rPr>
              <a:t> yang </a:t>
            </a:r>
            <a:r>
              <a:rPr lang="en-US" sz="2400" dirty="0" err="1">
                <a:latin typeface="Arial"/>
                <a:ea typeface="Arial"/>
                <a:cs typeface="Arial"/>
                <a:sym typeface="Arial"/>
              </a:rPr>
              <a:t>berbeda</a:t>
            </a:r>
            <a:r>
              <a:rPr lang="en-US" sz="2400" dirty="0">
                <a:latin typeface="Arial"/>
                <a:ea typeface="Arial"/>
                <a:cs typeface="Arial"/>
                <a:sym typeface="Arial"/>
              </a:rPr>
              <a:t> </a:t>
            </a:r>
            <a:r>
              <a:rPr lang="en-US" sz="2400" dirty="0" err="1">
                <a:latin typeface="Arial"/>
                <a:ea typeface="Arial"/>
                <a:cs typeface="Arial"/>
                <a:sym typeface="Arial"/>
              </a:rPr>
              <a:t>dari</a:t>
            </a:r>
            <a:r>
              <a:rPr lang="en-US" sz="2400" dirty="0">
                <a:latin typeface="Arial"/>
                <a:ea typeface="Arial"/>
                <a:cs typeface="Arial"/>
                <a:sym typeface="Arial"/>
              </a:rPr>
              <a:t> </a:t>
            </a:r>
            <a:r>
              <a:rPr lang="en-US" sz="2400" dirty="0" err="1">
                <a:latin typeface="Arial"/>
                <a:ea typeface="Arial"/>
                <a:cs typeface="Arial"/>
                <a:sym typeface="Arial"/>
              </a:rPr>
              <a:t>variabel</a:t>
            </a:r>
            <a:r>
              <a:rPr lang="en-US" sz="2400" dirty="0">
                <a:latin typeface="Arial"/>
                <a:ea typeface="Arial"/>
                <a:cs typeface="Arial"/>
                <a:sym typeface="Arial"/>
              </a:rPr>
              <a:t> yang </a:t>
            </a:r>
            <a:r>
              <a:rPr lang="en-US" sz="2400" dirty="0" err="1">
                <a:latin typeface="Arial"/>
                <a:ea typeface="Arial"/>
                <a:cs typeface="Arial"/>
                <a:sym typeface="Arial"/>
              </a:rPr>
              <a:t>sama</a:t>
            </a:r>
            <a:r>
              <a:rPr lang="en-US" sz="2400" dirty="0">
                <a:latin typeface="Arial"/>
                <a:ea typeface="Arial"/>
                <a:cs typeface="Arial"/>
                <a:sym typeface="Arial"/>
              </a:rPr>
              <a:t>, </a:t>
            </a:r>
            <a:r>
              <a:rPr lang="en-US" sz="2400" dirty="0" err="1">
                <a:latin typeface="Arial"/>
                <a:ea typeface="Arial"/>
                <a:cs typeface="Arial"/>
                <a:sym typeface="Arial"/>
              </a:rPr>
              <a:t>fungsi</a:t>
            </a:r>
            <a:r>
              <a:rPr lang="en-US" sz="2400" dirty="0">
                <a:latin typeface="Arial"/>
                <a:ea typeface="Arial"/>
                <a:cs typeface="Arial"/>
                <a:sym typeface="Arial"/>
              </a:rPr>
              <a:t> </a:t>
            </a:r>
            <a:r>
              <a:rPr lang="en-US" sz="2400" dirty="0" err="1">
                <a:latin typeface="Arial"/>
                <a:ea typeface="Arial"/>
                <a:cs typeface="Arial"/>
                <a:sym typeface="Arial"/>
              </a:rPr>
              <a:t>groupby</a:t>
            </a:r>
            <a:r>
              <a:rPr lang="en-US" sz="2400" dirty="0">
                <a:latin typeface="Arial"/>
                <a:ea typeface="Arial"/>
                <a:cs typeface="Arial"/>
                <a:sym typeface="Arial"/>
              </a:rPr>
              <a:t> </a:t>
            </a:r>
            <a:r>
              <a:rPr lang="en-US" sz="2400" dirty="0" err="1">
                <a:latin typeface="Arial"/>
                <a:ea typeface="Arial"/>
                <a:cs typeface="Arial"/>
                <a:sym typeface="Arial"/>
              </a:rPr>
              <a:t>akan</a:t>
            </a:r>
            <a:r>
              <a:rPr lang="en-US" sz="2400" dirty="0">
                <a:latin typeface="Arial"/>
                <a:ea typeface="Arial"/>
                <a:cs typeface="Arial"/>
                <a:sym typeface="Arial"/>
              </a:rPr>
              <a:t> </a:t>
            </a:r>
            <a:r>
              <a:rPr lang="en-US" sz="2400" dirty="0" err="1">
                <a:latin typeface="Arial"/>
                <a:ea typeface="Arial"/>
                <a:cs typeface="Arial"/>
                <a:sym typeface="Arial"/>
              </a:rPr>
              <a:t>berguna</a:t>
            </a:r>
            <a:r>
              <a:rPr lang="en-US" sz="2400" dirty="0">
                <a:latin typeface="Arial"/>
                <a:ea typeface="Arial"/>
                <a:cs typeface="Arial"/>
                <a:sym typeface="Arial"/>
              </a:rPr>
              <a:t> </a:t>
            </a:r>
            <a:r>
              <a:rPr lang="en-US" sz="2400" dirty="0" err="1">
                <a:latin typeface="Arial"/>
                <a:ea typeface="Arial"/>
                <a:cs typeface="Arial"/>
                <a:sym typeface="Arial"/>
              </a:rPr>
              <a:t>dalam</a:t>
            </a:r>
            <a:r>
              <a:rPr lang="en-US" sz="2400" dirty="0">
                <a:latin typeface="Arial"/>
                <a:ea typeface="Arial"/>
                <a:cs typeface="Arial"/>
                <a:sym typeface="Arial"/>
              </a:rPr>
              <a:t> </a:t>
            </a:r>
            <a:r>
              <a:rPr lang="en-US" sz="2400" dirty="0" err="1">
                <a:latin typeface="Arial"/>
                <a:ea typeface="Arial"/>
                <a:cs typeface="Arial"/>
                <a:sym typeface="Arial"/>
              </a:rPr>
              <a:t>kasus</a:t>
            </a:r>
            <a:r>
              <a:rPr lang="en-US" sz="2400" dirty="0">
                <a:latin typeface="Arial"/>
                <a:ea typeface="Arial"/>
                <a:cs typeface="Arial"/>
                <a:sym typeface="Arial"/>
              </a:rPr>
              <a:t> ANOVA. </a:t>
            </a:r>
          </a:p>
          <a:p>
            <a:pPr marL="457200" lvl="0" indent="-317500">
              <a:lnSpc>
                <a:spcPct val="115000"/>
              </a:lnSpc>
              <a:spcBef>
                <a:spcPts val="0"/>
              </a:spcBef>
              <a:buClr>
                <a:schemeClr val="dk1"/>
              </a:buClr>
              <a:buSzPts val="1400"/>
              <a:buChar char="●"/>
            </a:pPr>
            <a:r>
              <a:rPr lang="en-US" sz="2400" dirty="0">
                <a:latin typeface="Arial"/>
                <a:ea typeface="Arial"/>
                <a:cs typeface="Arial"/>
                <a:sym typeface="Arial"/>
              </a:rPr>
              <a:t>Mari </a:t>
            </a:r>
            <a:r>
              <a:rPr lang="en-US" sz="2400" dirty="0" err="1">
                <a:latin typeface="Arial"/>
                <a:ea typeface="Arial"/>
                <a:cs typeface="Arial"/>
                <a:sym typeface="Arial"/>
              </a:rPr>
              <a:t>kita</a:t>
            </a:r>
            <a:r>
              <a:rPr lang="en-US" sz="2400" dirty="0">
                <a:latin typeface="Arial"/>
                <a:ea typeface="Arial"/>
                <a:cs typeface="Arial"/>
                <a:sym typeface="Arial"/>
              </a:rPr>
              <a:t> </a:t>
            </a:r>
            <a:r>
              <a:rPr lang="en-US" sz="2400" dirty="0" err="1">
                <a:latin typeface="Arial"/>
                <a:ea typeface="Arial"/>
                <a:cs typeface="Arial"/>
                <a:sym typeface="Arial"/>
              </a:rPr>
              <a:t>lihat</a:t>
            </a:r>
            <a:r>
              <a:rPr lang="en-US" sz="2400" dirty="0">
                <a:latin typeface="Arial"/>
                <a:ea typeface="Arial"/>
                <a:cs typeface="Arial"/>
                <a:sym typeface="Arial"/>
              </a:rPr>
              <a:t> </a:t>
            </a:r>
            <a:r>
              <a:rPr lang="en-US" sz="2400" dirty="0" err="1">
                <a:latin typeface="Arial"/>
                <a:ea typeface="Arial"/>
                <a:cs typeface="Arial"/>
                <a:sym typeface="Arial"/>
              </a:rPr>
              <a:t>apakah</a:t>
            </a:r>
            <a:r>
              <a:rPr lang="en-US" sz="2400" dirty="0">
                <a:latin typeface="Arial"/>
                <a:ea typeface="Arial"/>
                <a:cs typeface="Arial"/>
                <a:sym typeface="Arial"/>
              </a:rPr>
              <a:t> </a:t>
            </a:r>
            <a:r>
              <a:rPr lang="en-US" sz="2400" dirty="0" err="1">
                <a:latin typeface="Arial"/>
                <a:ea typeface="Arial"/>
                <a:cs typeface="Arial"/>
                <a:sym typeface="Arial"/>
              </a:rPr>
              <a:t>jenis</a:t>
            </a:r>
            <a:r>
              <a:rPr lang="en-US" sz="2400" dirty="0">
                <a:latin typeface="Arial"/>
                <a:ea typeface="Arial"/>
                <a:cs typeface="Arial"/>
                <a:sym typeface="Arial"/>
              </a:rPr>
              <a:t> '</a:t>
            </a:r>
            <a:r>
              <a:rPr lang="en-US" sz="2400" dirty="0" err="1">
                <a:latin typeface="Arial"/>
                <a:ea typeface="Arial"/>
                <a:cs typeface="Arial"/>
                <a:sym typeface="Arial"/>
              </a:rPr>
              <a:t>roda</a:t>
            </a:r>
            <a:r>
              <a:rPr lang="en-US" sz="2400" dirty="0">
                <a:latin typeface="Arial"/>
                <a:ea typeface="Arial"/>
                <a:cs typeface="Arial"/>
                <a:sym typeface="Arial"/>
              </a:rPr>
              <a:t> </a:t>
            </a:r>
            <a:r>
              <a:rPr lang="en-US" sz="2400" dirty="0" err="1">
                <a:latin typeface="Arial"/>
                <a:ea typeface="Arial"/>
                <a:cs typeface="Arial"/>
                <a:sym typeface="Arial"/>
              </a:rPr>
              <a:t>penggerak</a:t>
            </a:r>
            <a:r>
              <a:rPr lang="en-US" sz="2400" dirty="0">
                <a:latin typeface="Arial"/>
                <a:ea typeface="Arial"/>
                <a:cs typeface="Arial"/>
                <a:sym typeface="Arial"/>
              </a:rPr>
              <a:t>' </a:t>
            </a:r>
            <a:r>
              <a:rPr lang="en-US" sz="2400" dirty="0" err="1">
                <a:latin typeface="Arial"/>
                <a:ea typeface="Arial"/>
                <a:cs typeface="Arial"/>
                <a:sym typeface="Arial"/>
              </a:rPr>
              <a:t>mempengaruhi</a:t>
            </a:r>
            <a:r>
              <a:rPr lang="en-US" sz="2400" dirty="0">
                <a:latin typeface="Arial"/>
                <a:ea typeface="Arial"/>
                <a:cs typeface="Arial"/>
                <a:sym typeface="Arial"/>
              </a:rPr>
              <a:t> '</a:t>
            </a:r>
            <a:r>
              <a:rPr lang="en-US" sz="2400" dirty="0" err="1">
                <a:latin typeface="Arial"/>
                <a:ea typeface="Arial"/>
                <a:cs typeface="Arial"/>
                <a:sym typeface="Arial"/>
              </a:rPr>
              <a:t>harga</a:t>
            </a:r>
            <a:r>
              <a:rPr lang="en-US" sz="2400" dirty="0">
                <a:latin typeface="Arial"/>
                <a:ea typeface="Arial"/>
                <a:cs typeface="Arial"/>
                <a:sym typeface="Arial"/>
              </a:rPr>
              <a:t>' </a:t>
            </a:r>
          </a:p>
        </p:txBody>
      </p:sp>
      <p:sp>
        <p:nvSpPr>
          <p:cNvPr id="7" name="Google Shape;672;p69">
            <a:extLst>
              <a:ext uri="{FF2B5EF4-FFF2-40B4-BE49-F238E27FC236}">
                <a16:creationId xmlns:a16="http://schemas.microsoft.com/office/drawing/2014/main" id="{D0B8DA32-4C3A-67FE-4AEF-81449F52E049}"/>
              </a:ext>
            </a:extLst>
          </p:cNvPr>
          <p:cNvSpPr/>
          <p:nvPr/>
        </p:nvSpPr>
        <p:spPr>
          <a:xfrm>
            <a:off x="452120" y="5075682"/>
            <a:ext cx="9504680" cy="1223518"/>
          </a:xfrm>
          <a:prstGeom prst="rect">
            <a:avLst/>
          </a:prstGeom>
          <a:solidFill>
            <a:schemeClr val="bg1">
              <a:lumMod val="85000"/>
            </a:schemeClr>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200"/>
              <a:buFont typeface="Arial"/>
              <a:buNone/>
            </a:pPr>
            <a:r>
              <a:rPr lang="id" sz="1400" b="0" i="0" u="none" strike="noStrike" cap="none" dirty="0">
                <a:solidFill>
                  <a:srgbClr val="008000"/>
                </a:solidFill>
                <a:latin typeface="Courier New"/>
                <a:ea typeface="Courier New"/>
                <a:cs typeface="Courier New"/>
                <a:sym typeface="Courier New"/>
              </a:rPr>
              <a:t># grouping results</a:t>
            </a:r>
            <a:endParaRPr sz="1400" b="0" i="0" u="none" strike="noStrike" cap="none" dirty="0">
              <a:solidFill>
                <a:schemeClr val="dk1"/>
              </a:solidFill>
              <a:latin typeface="Courier New"/>
              <a:ea typeface="Courier New"/>
              <a:cs typeface="Courier New"/>
              <a:sym typeface="Courier New"/>
            </a:endParaRPr>
          </a:p>
          <a:p>
            <a:pPr marL="0" marR="0" lvl="0" indent="0" algn="l" rtl="0">
              <a:lnSpc>
                <a:spcPct val="100000"/>
              </a:lnSpc>
              <a:spcBef>
                <a:spcPts val="0"/>
              </a:spcBef>
              <a:spcAft>
                <a:spcPts val="0"/>
              </a:spcAft>
              <a:buClr>
                <a:schemeClr val="dk1"/>
              </a:buClr>
              <a:buSzPts val="1200"/>
              <a:buFont typeface="Arial"/>
              <a:buNone/>
            </a:pPr>
            <a:r>
              <a:rPr lang="id" sz="1400" b="0" i="0" u="none" strike="noStrike" cap="none" dirty="0">
                <a:solidFill>
                  <a:schemeClr val="dk1"/>
                </a:solidFill>
                <a:latin typeface="Courier New"/>
                <a:ea typeface="Courier New"/>
                <a:cs typeface="Courier New"/>
                <a:sym typeface="Courier New"/>
              </a:rPr>
              <a:t>df_gptest = df[[</a:t>
            </a:r>
            <a:r>
              <a:rPr lang="id" sz="1400" b="0" i="0" u="none" strike="noStrike" cap="none" dirty="0">
                <a:solidFill>
                  <a:srgbClr val="A31515"/>
                </a:solidFill>
                <a:latin typeface="Courier New"/>
                <a:ea typeface="Courier New"/>
                <a:cs typeface="Courier New"/>
                <a:sym typeface="Courier New"/>
              </a:rPr>
              <a:t>'drive-wheels'</a:t>
            </a:r>
            <a:r>
              <a:rPr lang="id" sz="1400" b="0" i="0" u="none" strike="noStrike" cap="none" dirty="0">
                <a:solidFill>
                  <a:schemeClr val="dk1"/>
                </a:solidFill>
                <a:latin typeface="Courier New"/>
                <a:ea typeface="Courier New"/>
                <a:cs typeface="Courier New"/>
                <a:sym typeface="Courier New"/>
              </a:rPr>
              <a:t>,</a:t>
            </a:r>
            <a:r>
              <a:rPr lang="id" sz="1400" b="0" i="0" u="none" strike="noStrike" cap="none" dirty="0">
                <a:solidFill>
                  <a:srgbClr val="A31515"/>
                </a:solidFill>
                <a:latin typeface="Courier New"/>
                <a:ea typeface="Courier New"/>
                <a:cs typeface="Courier New"/>
                <a:sym typeface="Courier New"/>
              </a:rPr>
              <a:t>'body-style'</a:t>
            </a:r>
            <a:r>
              <a:rPr lang="id" sz="1400" b="0" i="0" u="none" strike="noStrike" cap="none" dirty="0">
                <a:solidFill>
                  <a:schemeClr val="dk1"/>
                </a:solidFill>
                <a:latin typeface="Courier New"/>
                <a:ea typeface="Courier New"/>
                <a:cs typeface="Courier New"/>
                <a:sym typeface="Courier New"/>
              </a:rPr>
              <a:t>,</a:t>
            </a:r>
            <a:r>
              <a:rPr lang="id" sz="1400" b="0" i="0" u="none" strike="noStrike" cap="none" dirty="0">
                <a:solidFill>
                  <a:srgbClr val="A31515"/>
                </a:solidFill>
                <a:latin typeface="Courier New"/>
                <a:ea typeface="Courier New"/>
                <a:cs typeface="Courier New"/>
                <a:sym typeface="Courier New"/>
              </a:rPr>
              <a:t>'price'</a:t>
            </a:r>
            <a:r>
              <a:rPr lang="id" sz="1400" b="0" i="0" u="none" strike="noStrike" cap="none" dirty="0">
                <a:solidFill>
                  <a:schemeClr val="dk1"/>
                </a:solidFill>
                <a:latin typeface="Courier New"/>
                <a:ea typeface="Courier New"/>
                <a:cs typeface="Courier New"/>
                <a:sym typeface="Courier New"/>
              </a:rPr>
              <a:t>]]</a:t>
            </a:r>
            <a:endParaRPr sz="16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Arial"/>
              <a:buNone/>
            </a:pPr>
            <a:r>
              <a:rPr lang="id" sz="1400" b="0" i="0" u="none" strike="noStrike" cap="none" dirty="0">
                <a:solidFill>
                  <a:schemeClr val="dk1"/>
                </a:solidFill>
                <a:latin typeface="Courier New"/>
                <a:ea typeface="Courier New"/>
                <a:cs typeface="Courier New"/>
                <a:sym typeface="Courier New"/>
              </a:rPr>
              <a:t>grouped_test1 = df_gptest.groupby([</a:t>
            </a:r>
            <a:r>
              <a:rPr lang="id" sz="1400" b="0" i="0" u="none" strike="noStrike" cap="none" dirty="0">
                <a:solidFill>
                  <a:srgbClr val="A31515"/>
                </a:solidFill>
                <a:latin typeface="Courier New"/>
                <a:ea typeface="Courier New"/>
                <a:cs typeface="Courier New"/>
                <a:sym typeface="Courier New"/>
              </a:rPr>
              <a:t>'drive-wheels'</a:t>
            </a:r>
            <a:r>
              <a:rPr lang="id" sz="1400" b="0" i="0" u="none" strike="noStrike" cap="none" dirty="0">
                <a:solidFill>
                  <a:schemeClr val="dk1"/>
                </a:solidFill>
                <a:latin typeface="Courier New"/>
                <a:ea typeface="Courier New"/>
                <a:cs typeface="Courier New"/>
                <a:sym typeface="Courier New"/>
              </a:rPr>
              <a:t>,</a:t>
            </a:r>
            <a:r>
              <a:rPr lang="id" sz="1400" b="0" i="0" u="none" strike="noStrike" cap="none" dirty="0">
                <a:solidFill>
                  <a:srgbClr val="A31515"/>
                </a:solidFill>
                <a:latin typeface="Courier New"/>
                <a:ea typeface="Courier New"/>
                <a:cs typeface="Courier New"/>
                <a:sym typeface="Courier New"/>
              </a:rPr>
              <a:t>'body-style'</a:t>
            </a:r>
            <a:r>
              <a:rPr lang="id" sz="1400" b="0" i="0" u="none" strike="noStrike" cap="none" dirty="0">
                <a:solidFill>
                  <a:schemeClr val="dk1"/>
                </a:solidFill>
                <a:latin typeface="Courier New"/>
                <a:ea typeface="Courier New"/>
                <a:cs typeface="Courier New"/>
                <a:sym typeface="Courier New"/>
              </a:rPr>
              <a:t>],as_index=</a:t>
            </a:r>
            <a:r>
              <a:rPr lang="id" sz="1400" b="0" i="0" u="none" strike="noStrike" cap="none" dirty="0">
                <a:solidFill>
                  <a:srgbClr val="0000FF"/>
                </a:solidFill>
                <a:latin typeface="Courier New"/>
                <a:ea typeface="Courier New"/>
                <a:cs typeface="Courier New"/>
                <a:sym typeface="Courier New"/>
              </a:rPr>
              <a:t>False</a:t>
            </a:r>
            <a:r>
              <a:rPr lang="id" sz="1400" b="0" i="0" u="none" strike="noStrike" cap="none" dirty="0">
                <a:solidFill>
                  <a:schemeClr val="dk1"/>
                </a:solidFill>
                <a:latin typeface="Courier New"/>
                <a:ea typeface="Courier New"/>
                <a:cs typeface="Courier New"/>
                <a:sym typeface="Courier New"/>
              </a:rPr>
              <a:t>).mean()</a:t>
            </a:r>
            <a:endParaRPr sz="16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Arial"/>
              <a:buNone/>
            </a:pPr>
            <a:r>
              <a:rPr lang="id" sz="1400" b="0" i="0" u="none" strike="noStrike" cap="none" dirty="0">
                <a:solidFill>
                  <a:schemeClr val="dk1"/>
                </a:solidFill>
                <a:latin typeface="Courier New"/>
                <a:ea typeface="Courier New"/>
                <a:cs typeface="Courier New"/>
                <a:sym typeface="Courier New"/>
              </a:rPr>
              <a:t>grouped_test1</a:t>
            </a:r>
            <a:endParaRPr sz="1600" b="0" i="0" u="none" strike="noStrike" cap="none" dirty="0">
              <a:solidFill>
                <a:schemeClr val="dk1"/>
              </a:solidFill>
              <a:latin typeface="Arial"/>
              <a:ea typeface="Arial"/>
              <a:cs typeface="Arial"/>
              <a:sym typeface="Arial"/>
            </a:endParaRPr>
          </a:p>
        </p:txBody>
      </p:sp>
      <p:pic>
        <p:nvPicPr>
          <p:cNvPr id="5" name="Google Shape;676;p69">
            <a:extLst>
              <a:ext uri="{FF2B5EF4-FFF2-40B4-BE49-F238E27FC236}">
                <a16:creationId xmlns:a16="http://schemas.microsoft.com/office/drawing/2014/main" id="{584AAB9F-34B1-4B97-92EA-4F5E6E11680B}"/>
              </a:ext>
            </a:extLst>
          </p:cNvPr>
          <p:cNvPicPr preferRelativeResize="0"/>
          <p:nvPr/>
        </p:nvPicPr>
        <p:blipFill rotWithShape="1">
          <a:blip r:embed="rId2">
            <a:alphaModFix/>
          </a:blip>
          <a:srcRect/>
          <a:stretch/>
        </p:blipFill>
        <p:spPr>
          <a:xfrm>
            <a:off x="8290560" y="1111386"/>
            <a:ext cx="3449319" cy="4476614"/>
          </a:xfrm>
          <a:prstGeom prst="rect">
            <a:avLst/>
          </a:prstGeom>
          <a:noFill/>
          <a:ln>
            <a:noFill/>
          </a:ln>
        </p:spPr>
      </p:pic>
    </p:spTree>
    <p:extLst>
      <p:ext uri="{BB962C8B-B14F-4D97-AF65-F5344CB8AC3E}">
        <p14:creationId xmlns:p14="http://schemas.microsoft.com/office/powerpoint/2010/main" val="102270463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5FDF4-1A87-6548-23AA-D4A007CDFD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641F5E-18B7-C066-1633-27400CE45E30}"/>
              </a:ext>
            </a:extLst>
          </p:cNvPr>
          <p:cNvSpPr>
            <a:spLocks noGrp="1"/>
          </p:cNvSpPr>
          <p:nvPr>
            <p:ph type="title"/>
          </p:nvPr>
        </p:nvSpPr>
        <p:spPr>
          <a:xfrm>
            <a:off x="838200" y="-635"/>
            <a:ext cx="10515600" cy="915035"/>
          </a:xfrm>
        </p:spPr>
        <p:txBody>
          <a:bodyPr>
            <a:normAutofit/>
          </a:bodyPr>
          <a:lstStyle/>
          <a:p>
            <a:r>
              <a:rPr lang="en-US" b="1" dirty="0"/>
              <a:t>ANOVA</a:t>
            </a:r>
            <a:endParaRPr lang="en-US" dirty="0"/>
          </a:p>
        </p:txBody>
      </p:sp>
      <p:sp>
        <p:nvSpPr>
          <p:cNvPr id="9" name="Google Shape;684;p70">
            <a:extLst>
              <a:ext uri="{FF2B5EF4-FFF2-40B4-BE49-F238E27FC236}">
                <a16:creationId xmlns:a16="http://schemas.microsoft.com/office/drawing/2014/main" id="{C3043026-9CB1-38C2-2557-7DC2FE200C77}"/>
              </a:ext>
            </a:extLst>
          </p:cNvPr>
          <p:cNvSpPr txBox="1">
            <a:spLocks/>
          </p:cNvSpPr>
          <p:nvPr/>
        </p:nvSpPr>
        <p:spPr>
          <a:xfrm>
            <a:off x="399649" y="5133887"/>
            <a:ext cx="10700650" cy="1104821"/>
          </a:xfrm>
          <a:prstGeom prst="rect">
            <a:avLst/>
          </a:prstGeom>
          <a:noFill/>
          <a:ln>
            <a:noFill/>
          </a:ln>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317500">
              <a:lnSpc>
                <a:spcPct val="115000"/>
              </a:lnSpc>
              <a:spcBef>
                <a:spcPts val="0"/>
              </a:spcBef>
              <a:buClr>
                <a:schemeClr val="dk1"/>
              </a:buClr>
              <a:buSzPts val="1400"/>
              <a:buFont typeface="Arial" panose="020B0604020202020204" pitchFamily="34" charset="0"/>
              <a:buChar char="●"/>
            </a:pPr>
            <a:r>
              <a:rPr lang="en-US" sz="1800" dirty="0">
                <a:latin typeface="Arial"/>
                <a:ea typeface="Arial"/>
                <a:cs typeface="Arial"/>
                <a:sym typeface="Arial"/>
              </a:rPr>
              <a:t>Hasil ANOVA </a:t>
            </a:r>
            <a:r>
              <a:rPr lang="en-US" sz="1800" dirty="0" err="1">
                <a:latin typeface="Arial"/>
                <a:ea typeface="Arial"/>
                <a:cs typeface="Arial"/>
                <a:sym typeface="Arial"/>
              </a:rPr>
              <a:t>ini</a:t>
            </a:r>
            <a:r>
              <a:rPr lang="en-US" sz="1800" dirty="0">
                <a:latin typeface="Arial"/>
                <a:ea typeface="Arial"/>
                <a:cs typeface="Arial"/>
                <a:sym typeface="Arial"/>
              </a:rPr>
              <a:t> </a:t>
            </a:r>
            <a:r>
              <a:rPr lang="en-US" sz="1800" dirty="0" err="1">
                <a:latin typeface="Arial"/>
                <a:ea typeface="Arial"/>
                <a:cs typeface="Arial"/>
                <a:sym typeface="Arial"/>
              </a:rPr>
              <a:t>termasuk</a:t>
            </a:r>
            <a:r>
              <a:rPr lang="en-US" sz="1800" dirty="0">
                <a:latin typeface="Arial"/>
                <a:ea typeface="Arial"/>
                <a:cs typeface="Arial"/>
                <a:sym typeface="Arial"/>
              </a:rPr>
              <a:t> </a:t>
            </a:r>
            <a:r>
              <a:rPr lang="en-US" sz="1800" dirty="0" err="1">
                <a:latin typeface="Arial"/>
                <a:ea typeface="Arial"/>
                <a:cs typeface="Arial"/>
                <a:sym typeface="Arial"/>
              </a:rPr>
              <a:t>hasil</a:t>
            </a:r>
            <a:r>
              <a:rPr lang="en-US" sz="1800" dirty="0">
                <a:latin typeface="Arial"/>
                <a:ea typeface="Arial"/>
                <a:cs typeface="Arial"/>
                <a:sym typeface="Arial"/>
              </a:rPr>
              <a:t> yang </a:t>
            </a:r>
            <a:r>
              <a:rPr lang="en-US" sz="1800" dirty="0" err="1">
                <a:latin typeface="Arial"/>
                <a:ea typeface="Arial"/>
                <a:cs typeface="Arial"/>
                <a:sym typeface="Arial"/>
              </a:rPr>
              <a:t>bagus</a:t>
            </a:r>
            <a:r>
              <a:rPr lang="en-US" sz="1800" dirty="0">
                <a:latin typeface="Arial"/>
                <a:ea typeface="Arial"/>
                <a:cs typeface="Arial"/>
                <a:sym typeface="Arial"/>
              </a:rPr>
              <a:t>, </a:t>
            </a:r>
            <a:r>
              <a:rPr lang="en-US" sz="1800" dirty="0" err="1">
                <a:latin typeface="Arial"/>
                <a:ea typeface="Arial"/>
                <a:cs typeface="Arial"/>
                <a:sym typeface="Arial"/>
              </a:rPr>
              <a:t>dengan</a:t>
            </a:r>
            <a:r>
              <a:rPr lang="en-US" sz="1800" dirty="0">
                <a:latin typeface="Arial"/>
                <a:ea typeface="Arial"/>
                <a:cs typeface="Arial"/>
                <a:sym typeface="Arial"/>
              </a:rPr>
              <a:t> F-Score yang </a:t>
            </a:r>
            <a:r>
              <a:rPr lang="en-US" sz="1800" dirty="0" err="1">
                <a:latin typeface="Arial"/>
                <a:ea typeface="Arial"/>
                <a:cs typeface="Arial"/>
                <a:sym typeface="Arial"/>
              </a:rPr>
              <a:t>besar</a:t>
            </a:r>
            <a:r>
              <a:rPr lang="en-US" sz="1800" dirty="0">
                <a:latin typeface="Arial"/>
                <a:ea typeface="Arial"/>
                <a:cs typeface="Arial"/>
                <a:sym typeface="Arial"/>
              </a:rPr>
              <a:t> </a:t>
            </a:r>
            <a:r>
              <a:rPr lang="en-US" sz="1800" dirty="0" err="1">
                <a:latin typeface="Arial"/>
                <a:ea typeface="Arial"/>
                <a:cs typeface="Arial"/>
                <a:sym typeface="Arial"/>
              </a:rPr>
              <a:t>menunjukkan</a:t>
            </a:r>
            <a:r>
              <a:rPr lang="en-US" sz="1800" dirty="0">
                <a:latin typeface="Arial"/>
                <a:ea typeface="Arial"/>
                <a:cs typeface="Arial"/>
                <a:sym typeface="Arial"/>
              </a:rPr>
              <a:t> </a:t>
            </a:r>
            <a:r>
              <a:rPr lang="en-US" sz="1800" dirty="0" err="1">
                <a:latin typeface="Arial"/>
                <a:ea typeface="Arial"/>
                <a:cs typeface="Arial"/>
                <a:sym typeface="Arial"/>
              </a:rPr>
              <a:t>korelasi</a:t>
            </a:r>
            <a:r>
              <a:rPr lang="en-US" sz="1800" dirty="0">
                <a:latin typeface="Arial"/>
                <a:ea typeface="Arial"/>
                <a:cs typeface="Arial"/>
                <a:sym typeface="Arial"/>
              </a:rPr>
              <a:t> yang </a:t>
            </a:r>
            <a:r>
              <a:rPr lang="en-US" sz="1800" dirty="0" err="1">
                <a:latin typeface="Arial"/>
                <a:ea typeface="Arial"/>
                <a:cs typeface="Arial"/>
                <a:sym typeface="Arial"/>
              </a:rPr>
              <a:t>kuat</a:t>
            </a:r>
            <a:r>
              <a:rPr lang="en-US" sz="1800" dirty="0">
                <a:latin typeface="Arial"/>
                <a:ea typeface="Arial"/>
                <a:cs typeface="Arial"/>
                <a:sym typeface="Arial"/>
              </a:rPr>
              <a:t> dan </a:t>
            </a:r>
            <a:r>
              <a:rPr lang="en-US" sz="1800" dirty="0" err="1">
                <a:latin typeface="Arial"/>
                <a:ea typeface="Arial"/>
                <a:cs typeface="Arial"/>
                <a:sym typeface="Arial"/>
              </a:rPr>
              <a:t>nilai</a:t>
            </a:r>
            <a:r>
              <a:rPr lang="en-US" sz="1800" dirty="0">
                <a:latin typeface="Arial"/>
                <a:ea typeface="Arial"/>
                <a:cs typeface="Arial"/>
                <a:sym typeface="Arial"/>
              </a:rPr>
              <a:t> P </a:t>
            </a:r>
            <a:r>
              <a:rPr lang="en-US" sz="1800" dirty="0" err="1">
                <a:latin typeface="Arial"/>
                <a:ea typeface="Arial"/>
                <a:cs typeface="Arial"/>
                <a:sym typeface="Arial"/>
              </a:rPr>
              <a:t>hampir</a:t>
            </a:r>
            <a:r>
              <a:rPr lang="en-US" sz="1800" dirty="0">
                <a:latin typeface="Arial"/>
                <a:ea typeface="Arial"/>
                <a:cs typeface="Arial"/>
                <a:sym typeface="Arial"/>
              </a:rPr>
              <a:t> 0 </a:t>
            </a:r>
            <a:r>
              <a:rPr lang="en-US" sz="1800" dirty="0" err="1">
                <a:latin typeface="Arial"/>
                <a:ea typeface="Arial"/>
                <a:cs typeface="Arial"/>
                <a:sym typeface="Arial"/>
              </a:rPr>
              <a:t>menyiratkan</a:t>
            </a:r>
            <a:r>
              <a:rPr lang="en-US" sz="1800" dirty="0">
                <a:latin typeface="Arial"/>
                <a:ea typeface="Arial"/>
                <a:cs typeface="Arial"/>
                <a:sym typeface="Arial"/>
              </a:rPr>
              <a:t> </a:t>
            </a:r>
            <a:r>
              <a:rPr lang="en-US" sz="1800" dirty="0" err="1">
                <a:latin typeface="Arial"/>
                <a:ea typeface="Arial"/>
                <a:cs typeface="Arial"/>
                <a:sym typeface="Arial"/>
              </a:rPr>
              <a:t>signifikansi</a:t>
            </a:r>
            <a:r>
              <a:rPr lang="en-US" sz="1800" dirty="0">
                <a:latin typeface="Arial"/>
                <a:ea typeface="Arial"/>
                <a:cs typeface="Arial"/>
                <a:sym typeface="Arial"/>
              </a:rPr>
              <a:t> </a:t>
            </a:r>
            <a:r>
              <a:rPr lang="en-US" sz="1800" dirty="0" err="1">
                <a:latin typeface="Arial"/>
                <a:ea typeface="Arial"/>
                <a:cs typeface="Arial"/>
                <a:sym typeface="Arial"/>
              </a:rPr>
              <a:t>statistik</a:t>
            </a:r>
            <a:r>
              <a:rPr lang="en-US" sz="1800" dirty="0">
                <a:latin typeface="Arial"/>
                <a:ea typeface="Arial"/>
                <a:cs typeface="Arial"/>
                <a:sym typeface="Arial"/>
              </a:rPr>
              <a:t> yang </a:t>
            </a:r>
            <a:r>
              <a:rPr lang="en-US" sz="1800" dirty="0" err="1">
                <a:latin typeface="Arial"/>
                <a:ea typeface="Arial"/>
                <a:cs typeface="Arial"/>
                <a:sym typeface="Arial"/>
              </a:rPr>
              <a:t>hampir</a:t>
            </a:r>
            <a:r>
              <a:rPr lang="en-US" sz="1800" dirty="0">
                <a:latin typeface="Arial"/>
                <a:ea typeface="Arial"/>
                <a:cs typeface="Arial"/>
                <a:sym typeface="Arial"/>
              </a:rPr>
              <a:t> </a:t>
            </a:r>
            <a:r>
              <a:rPr lang="en-US" sz="1800" dirty="0" err="1">
                <a:latin typeface="Arial"/>
                <a:ea typeface="Arial"/>
                <a:cs typeface="Arial"/>
                <a:sym typeface="Arial"/>
              </a:rPr>
              <a:t>pasti</a:t>
            </a:r>
            <a:r>
              <a:rPr lang="en-US" sz="1800" dirty="0">
                <a:latin typeface="Arial"/>
                <a:ea typeface="Arial"/>
                <a:cs typeface="Arial"/>
                <a:sym typeface="Arial"/>
              </a:rPr>
              <a:t>. </a:t>
            </a:r>
          </a:p>
          <a:p>
            <a:pPr marL="457200" indent="-317500">
              <a:lnSpc>
                <a:spcPct val="115000"/>
              </a:lnSpc>
              <a:spcBef>
                <a:spcPts val="0"/>
              </a:spcBef>
              <a:buClr>
                <a:schemeClr val="dk1"/>
              </a:buClr>
              <a:buSzPts val="1400"/>
              <a:buFont typeface="Arial" panose="020B0604020202020204" pitchFamily="34" charset="0"/>
              <a:buChar char="●"/>
            </a:pPr>
            <a:r>
              <a:rPr lang="en-US" sz="1800" dirty="0" err="1">
                <a:latin typeface="Arial"/>
                <a:ea typeface="Arial"/>
                <a:cs typeface="Arial"/>
                <a:sym typeface="Arial"/>
              </a:rPr>
              <a:t>Tetapi</a:t>
            </a:r>
            <a:r>
              <a:rPr lang="en-US" sz="1800" dirty="0">
                <a:latin typeface="Arial"/>
                <a:ea typeface="Arial"/>
                <a:cs typeface="Arial"/>
                <a:sym typeface="Arial"/>
              </a:rPr>
              <a:t> </a:t>
            </a:r>
            <a:r>
              <a:rPr lang="en-US" sz="1800" dirty="0" err="1">
                <a:latin typeface="Arial"/>
                <a:ea typeface="Arial"/>
                <a:cs typeface="Arial"/>
                <a:sym typeface="Arial"/>
              </a:rPr>
              <a:t>apakah</a:t>
            </a:r>
            <a:r>
              <a:rPr lang="en-US" sz="1800" dirty="0">
                <a:latin typeface="Arial"/>
                <a:ea typeface="Arial"/>
                <a:cs typeface="Arial"/>
                <a:sym typeface="Arial"/>
              </a:rPr>
              <a:t> </a:t>
            </a:r>
            <a:r>
              <a:rPr lang="en-US" sz="1800" dirty="0" err="1">
                <a:latin typeface="Arial"/>
                <a:ea typeface="Arial"/>
                <a:cs typeface="Arial"/>
                <a:sym typeface="Arial"/>
              </a:rPr>
              <a:t>ini</a:t>
            </a:r>
            <a:r>
              <a:rPr lang="en-US" sz="1800" dirty="0">
                <a:latin typeface="Arial"/>
                <a:ea typeface="Arial"/>
                <a:cs typeface="Arial"/>
                <a:sym typeface="Arial"/>
              </a:rPr>
              <a:t> </a:t>
            </a:r>
            <a:r>
              <a:rPr lang="en-US" sz="1800" dirty="0" err="1">
                <a:latin typeface="Arial"/>
                <a:ea typeface="Arial"/>
                <a:cs typeface="Arial"/>
                <a:sym typeface="Arial"/>
              </a:rPr>
              <a:t>berarti</a:t>
            </a:r>
            <a:r>
              <a:rPr lang="en-US" sz="1800" dirty="0">
                <a:latin typeface="Arial"/>
                <a:ea typeface="Arial"/>
                <a:cs typeface="Arial"/>
                <a:sym typeface="Arial"/>
              </a:rPr>
              <a:t> </a:t>
            </a:r>
            <a:r>
              <a:rPr lang="en-US" sz="1800" dirty="0" err="1">
                <a:latin typeface="Arial"/>
                <a:ea typeface="Arial"/>
                <a:cs typeface="Arial"/>
                <a:sym typeface="Arial"/>
              </a:rPr>
              <a:t>ketiga</a:t>
            </a:r>
            <a:r>
              <a:rPr lang="en-US" sz="1800" dirty="0">
                <a:latin typeface="Arial"/>
                <a:ea typeface="Arial"/>
                <a:cs typeface="Arial"/>
                <a:sym typeface="Arial"/>
              </a:rPr>
              <a:t> </a:t>
            </a:r>
            <a:r>
              <a:rPr lang="en-US" sz="1800" dirty="0" err="1">
                <a:latin typeface="Arial"/>
                <a:ea typeface="Arial"/>
                <a:cs typeface="Arial"/>
                <a:sym typeface="Arial"/>
              </a:rPr>
              <a:t>kelompok</a:t>
            </a:r>
            <a:r>
              <a:rPr lang="en-US" sz="1800" dirty="0">
                <a:latin typeface="Arial"/>
                <a:ea typeface="Arial"/>
                <a:cs typeface="Arial"/>
                <a:sym typeface="Arial"/>
              </a:rPr>
              <a:t> yang </a:t>
            </a:r>
            <a:r>
              <a:rPr lang="en-US" sz="1800" dirty="0" err="1">
                <a:latin typeface="Arial"/>
                <a:ea typeface="Arial"/>
                <a:cs typeface="Arial"/>
                <a:sym typeface="Arial"/>
              </a:rPr>
              <a:t>diuji</a:t>
            </a:r>
            <a:r>
              <a:rPr lang="en-US" sz="1800" dirty="0">
                <a:latin typeface="Arial"/>
                <a:ea typeface="Arial"/>
                <a:cs typeface="Arial"/>
                <a:sym typeface="Arial"/>
              </a:rPr>
              <a:t> </a:t>
            </a:r>
            <a:r>
              <a:rPr lang="en-US" sz="1800" dirty="0" err="1">
                <a:latin typeface="Arial"/>
                <a:ea typeface="Arial"/>
                <a:cs typeface="Arial"/>
                <a:sym typeface="Arial"/>
              </a:rPr>
              <a:t>semuanya</a:t>
            </a:r>
            <a:r>
              <a:rPr lang="en-US" sz="1800" dirty="0">
                <a:latin typeface="Arial"/>
                <a:ea typeface="Arial"/>
                <a:cs typeface="Arial"/>
                <a:sym typeface="Arial"/>
              </a:rPr>
              <a:t> </a:t>
            </a:r>
            <a:r>
              <a:rPr lang="en-US" sz="1800" dirty="0" err="1">
                <a:latin typeface="Arial"/>
                <a:ea typeface="Arial"/>
                <a:cs typeface="Arial"/>
                <a:sym typeface="Arial"/>
              </a:rPr>
              <a:t>berkorelasi</a:t>
            </a:r>
            <a:r>
              <a:rPr lang="en-US" sz="1800" dirty="0">
                <a:latin typeface="Arial"/>
                <a:ea typeface="Arial"/>
                <a:cs typeface="Arial"/>
                <a:sym typeface="Arial"/>
              </a:rPr>
              <a:t> </a:t>
            </a:r>
            <a:r>
              <a:rPr lang="en-US" sz="1800" dirty="0" err="1">
                <a:latin typeface="Arial"/>
                <a:ea typeface="Arial"/>
                <a:cs typeface="Arial"/>
                <a:sym typeface="Arial"/>
              </a:rPr>
              <a:t>tinggi</a:t>
            </a:r>
            <a:r>
              <a:rPr lang="en-US" sz="1800" dirty="0">
                <a:latin typeface="Arial"/>
                <a:ea typeface="Arial"/>
                <a:cs typeface="Arial"/>
                <a:sym typeface="Arial"/>
              </a:rPr>
              <a:t>?</a:t>
            </a:r>
          </a:p>
        </p:txBody>
      </p:sp>
      <p:sp>
        <p:nvSpPr>
          <p:cNvPr id="10" name="Google Shape;685;p70">
            <a:extLst>
              <a:ext uri="{FF2B5EF4-FFF2-40B4-BE49-F238E27FC236}">
                <a16:creationId xmlns:a16="http://schemas.microsoft.com/office/drawing/2014/main" id="{C24A8A51-A4C0-FC86-1132-625F2FDBD05C}"/>
              </a:ext>
            </a:extLst>
          </p:cNvPr>
          <p:cNvSpPr txBox="1"/>
          <p:nvPr/>
        </p:nvSpPr>
        <p:spPr>
          <a:xfrm>
            <a:off x="356976" y="3487742"/>
            <a:ext cx="11207150" cy="994526"/>
          </a:xfrm>
          <a:prstGeom prst="rect">
            <a:avLst/>
          </a:prstGeom>
          <a:solidFill>
            <a:schemeClr val="bg1">
              <a:lumMod val="85000"/>
            </a:schemeClr>
          </a:solidFill>
          <a:ln>
            <a:noFill/>
          </a:ln>
        </p:spPr>
        <p:txBody>
          <a:bodyPr spcFirstLastPara="1" wrap="square" lIns="91425" tIns="91425" rIns="91425" bIns="91425" anchor="t" anchorCtr="0">
            <a:noAutofit/>
          </a:bodyPr>
          <a:lstStyle/>
          <a:p>
            <a:pPr marL="0" marR="0" lvl="0" indent="0" algn="l" rtl="0">
              <a:lnSpc>
                <a:spcPct val="101785"/>
              </a:lnSpc>
              <a:spcBef>
                <a:spcPts val="0"/>
              </a:spcBef>
              <a:spcAft>
                <a:spcPts val="0"/>
              </a:spcAft>
              <a:buClr>
                <a:schemeClr val="dk2"/>
              </a:buClr>
              <a:buSzPts val="1800"/>
              <a:buFont typeface="Arial"/>
              <a:buNone/>
            </a:pPr>
            <a:r>
              <a:rPr lang="id" sz="1300" b="0" i="0" u="none" strike="noStrike" cap="none" dirty="0">
                <a:solidFill>
                  <a:srgbClr val="008000"/>
                </a:solidFill>
                <a:latin typeface="Courier New"/>
                <a:ea typeface="Courier New"/>
                <a:cs typeface="Courier New"/>
                <a:sym typeface="Courier New"/>
              </a:rPr>
              <a:t># ANOVA</a:t>
            </a:r>
            <a:endParaRPr sz="1300" b="0" i="0" u="none" strike="noStrike" cap="none" dirty="0">
              <a:solidFill>
                <a:schemeClr val="dk2"/>
              </a:solidFill>
              <a:latin typeface="Cambria"/>
              <a:ea typeface="Cambria"/>
              <a:cs typeface="Cambria"/>
              <a:sym typeface="Cambria"/>
            </a:endParaRPr>
          </a:p>
          <a:p>
            <a:pPr marL="0" marR="0" lvl="0" indent="0" algn="l" rtl="0">
              <a:lnSpc>
                <a:spcPct val="101785"/>
              </a:lnSpc>
              <a:spcBef>
                <a:spcPts val="0"/>
              </a:spcBef>
              <a:spcAft>
                <a:spcPts val="0"/>
              </a:spcAft>
              <a:buClr>
                <a:schemeClr val="dk2"/>
              </a:buClr>
              <a:buSzPts val="1800"/>
              <a:buFont typeface="Arial"/>
              <a:buNone/>
            </a:pPr>
            <a:r>
              <a:rPr lang="id" sz="1300" b="0" i="0" u="none" strike="noStrike" cap="none" dirty="0">
                <a:solidFill>
                  <a:srgbClr val="000000"/>
                </a:solidFill>
                <a:latin typeface="Courier New"/>
                <a:ea typeface="Courier New"/>
                <a:cs typeface="Courier New"/>
                <a:sym typeface="Courier New"/>
              </a:rPr>
              <a:t>f_val, p_val = stats.f_oneway(grouped_test2.get_group(</a:t>
            </a:r>
            <a:r>
              <a:rPr lang="id" sz="1300" b="0" i="0" u="none" strike="noStrike" cap="none" dirty="0">
                <a:solidFill>
                  <a:srgbClr val="A31515"/>
                </a:solidFill>
                <a:latin typeface="Courier New"/>
                <a:ea typeface="Courier New"/>
                <a:cs typeface="Courier New"/>
                <a:sym typeface="Courier New"/>
              </a:rPr>
              <a:t>'fwd'</a:t>
            </a:r>
            <a:r>
              <a:rPr lang="id" sz="1300" b="0" i="0" u="none" strike="noStrike" cap="none" dirty="0">
                <a:solidFill>
                  <a:srgbClr val="000000"/>
                </a:solidFill>
                <a:latin typeface="Courier New"/>
                <a:ea typeface="Courier New"/>
                <a:cs typeface="Courier New"/>
                <a:sym typeface="Courier New"/>
              </a:rPr>
              <a:t>)[</a:t>
            </a:r>
            <a:r>
              <a:rPr lang="id" sz="1300" b="0" i="0" u="none" strike="noStrike" cap="none" dirty="0">
                <a:solidFill>
                  <a:srgbClr val="A31515"/>
                </a:solidFill>
                <a:latin typeface="Courier New"/>
                <a:ea typeface="Courier New"/>
                <a:cs typeface="Courier New"/>
                <a:sym typeface="Courier New"/>
              </a:rPr>
              <a:t>'price'</a:t>
            </a:r>
            <a:r>
              <a:rPr lang="id" sz="1300" b="0" i="0" u="none" strike="noStrike" cap="none" dirty="0">
                <a:solidFill>
                  <a:srgbClr val="000000"/>
                </a:solidFill>
                <a:latin typeface="Courier New"/>
                <a:ea typeface="Courier New"/>
                <a:cs typeface="Courier New"/>
                <a:sym typeface="Courier New"/>
              </a:rPr>
              <a:t>], grouped_test2.get_group(</a:t>
            </a:r>
            <a:r>
              <a:rPr lang="id" sz="1300" b="0" i="0" u="none" strike="noStrike" cap="none" dirty="0">
                <a:solidFill>
                  <a:srgbClr val="A31515"/>
                </a:solidFill>
                <a:latin typeface="Courier New"/>
                <a:ea typeface="Courier New"/>
                <a:cs typeface="Courier New"/>
                <a:sym typeface="Courier New"/>
              </a:rPr>
              <a:t>'rwd'</a:t>
            </a:r>
            <a:r>
              <a:rPr lang="id" sz="1300" b="0" i="0" u="none" strike="noStrike" cap="none" dirty="0">
                <a:solidFill>
                  <a:srgbClr val="000000"/>
                </a:solidFill>
                <a:latin typeface="Courier New"/>
                <a:ea typeface="Courier New"/>
                <a:cs typeface="Courier New"/>
                <a:sym typeface="Courier New"/>
              </a:rPr>
              <a:t>)[</a:t>
            </a:r>
            <a:r>
              <a:rPr lang="id" sz="1300" b="0" i="0" u="none" strike="noStrike" cap="none" dirty="0">
                <a:solidFill>
                  <a:srgbClr val="A31515"/>
                </a:solidFill>
                <a:latin typeface="Courier New"/>
                <a:ea typeface="Courier New"/>
                <a:cs typeface="Courier New"/>
                <a:sym typeface="Courier New"/>
              </a:rPr>
              <a:t>'price'</a:t>
            </a:r>
            <a:r>
              <a:rPr lang="id" sz="1300" b="0" i="0" u="none" strike="noStrike" cap="none" dirty="0">
                <a:solidFill>
                  <a:srgbClr val="000000"/>
                </a:solidFill>
                <a:latin typeface="Courier New"/>
                <a:ea typeface="Courier New"/>
                <a:cs typeface="Courier New"/>
                <a:sym typeface="Courier New"/>
              </a:rPr>
              <a:t>], grouped_test2.get_group(</a:t>
            </a:r>
            <a:r>
              <a:rPr lang="id" sz="1300" b="0" i="0" u="none" strike="noStrike" cap="none" dirty="0">
                <a:solidFill>
                  <a:srgbClr val="A31515"/>
                </a:solidFill>
                <a:latin typeface="Courier New"/>
                <a:ea typeface="Courier New"/>
                <a:cs typeface="Courier New"/>
                <a:sym typeface="Courier New"/>
              </a:rPr>
              <a:t>'4wd'</a:t>
            </a:r>
            <a:r>
              <a:rPr lang="id" sz="1300" b="0" i="0" u="none" strike="noStrike" cap="none" dirty="0">
                <a:solidFill>
                  <a:srgbClr val="000000"/>
                </a:solidFill>
                <a:latin typeface="Courier New"/>
                <a:ea typeface="Courier New"/>
                <a:cs typeface="Courier New"/>
                <a:sym typeface="Courier New"/>
              </a:rPr>
              <a:t>)[</a:t>
            </a:r>
            <a:r>
              <a:rPr lang="id" sz="1300" b="0" i="0" u="none" strike="noStrike" cap="none" dirty="0">
                <a:solidFill>
                  <a:srgbClr val="A31515"/>
                </a:solidFill>
                <a:latin typeface="Courier New"/>
                <a:ea typeface="Courier New"/>
                <a:cs typeface="Courier New"/>
                <a:sym typeface="Courier New"/>
              </a:rPr>
              <a:t>'price'</a:t>
            </a:r>
            <a:r>
              <a:rPr lang="id" sz="1300" b="0" i="0" u="none" strike="noStrike" cap="none" dirty="0">
                <a:solidFill>
                  <a:srgbClr val="000000"/>
                </a:solidFill>
                <a:latin typeface="Courier New"/>
                <a:ea typeface="Courier New"/>
                <a:cs typeface="Courier New"/>
                <a:sym typeface="Courier New"/>
              </a:rPr>
              <a:t>])  </a:t>
            </a:r>
            <a:endParaRPr sz="1300" b="0" i="0" u="none" strike="noStrike" cap="none" dirty="0">
              <a:solidFill>
                <a:schemeClr val="dk2"/>
              </a:solidFill>
              <a:latin typeface="Cambria"/>
              <a:ea typeface="Cambria"/>
              <a:cs typeface="Cambria"/>
              <a:sym typeface="Cambria"/>
            </a:endParaRPr>
          </a:p>
          <a:p>
            <a:pPr marL="0" marR="0" lvl="0" indent="0" algn="l" rtl="0">
              <a:lnSpc>
                <a:spcPct val="101785"/>
              </a:lnSpc>
              <a:spcBef>
                <a:spcPts val="0"/>
              </a:spcBef>
              <a:spcAft>
                <a:spcPts val="0"/>
              </a:spcAft>
              <a:buClr>
                <a:schemeClr val="dk2"/>
              </a:buClr>
              <a:buSzPts val="1800"/>
              <a:buFont typeface="Arial"/>
              <a:buNone/>
            </a:pPr>
            <a:r>
              <a:rPr lang="id" sz="1300" b="0" i="0" u="none" strike="noStrike" cap="none" dirty="0">
                <a:solidFill>
                  <a:srgbClr val="795E26"/>
                </a:solidFill>
                <a:latin typeface="Courier New"/>
                <a:ea typeface="Courier New"/>
                <a:cs typeface="Courier New"/>
                <a:sym typeface="Courier New"/>
              </a:rPr>
              <a:t>print</a:t>
            </a:r>
            <a:r>
              <a:rPr lang="id" sz="1300" b="0" i="0" u="none" strike="noStrike" cap="none" dirty="0">
                <a:solidFill>
                  <a:srgbClr val="000000"/>
                </a:solidFill>
                <a:latin typeface="Courier New"/>
                <a:ea typeface="Courier New"/>
                <a:cs typeface="Courier New"/>
                <a:sym typeface="Courier New"/>
              </a:rPr>
              <a:t>( </a:t>
            </a:r>
            <a:r>
              <a:rPr lang="id" sz="1300" b="0" i="0" u="none" strike="noStrike" cap="none" dirty="0">
                <a:solidFill>
                  <a:srgbClr val="A31515"/>
                </a:solidFill>
                <a:latin typeface="Courier New"/>
                <a:ea typeface="Courier New"/>
                <a:cs typeface="Courier New"/>
                <a:sym typeface="Courier New"/>
              </a:rPr>
              <a:t>"ANOVA results: F="</a:t>
            </a:r>
            <a:r>
              <a:rPr lang="id" sz="1300" b="0" i="0" u="none" strike="noStrike" cap="none" dirty="0">
                <a:solidFill>
                  <a:srgbClr val="000000"/>
                </a:solidFill>
                <a:latin typeface="Courier New"/>
                <a:ea typeface="Courier New"/>
                <a:cs typeface="Courier New"/>
                <a:sym typeface="Courier New"/>
              </a:rPr>
              <a:t>, f_val, </a:t>
            </a:r>
            <a:r>
              <a:rPr lang="id" sz="1300" b="0" i="0" u="none" strike="noStrike" cap="none" dirty="0">
                <a:solidFill>
                  <a:srgbClr val="A31515"/>
                </a:solidFill>
                <a:latin typeface="Courier New"/>
                <a:ea typeface="Courier New"/>
                <a:cs typeface="Courier New"/>
                <a:sym typeface="Courier New"/>
              </a:rPr>
              <a:t>", P ="</a:t>
            </a:r>
            <a:r>
              <a:rPr lang="id" sz="1300" b="0" i="0" u="none" strike="noStrike" cap="none" dirty="0">
                <a:solidFill>
                  <a:srgbClr val="000000"/>
                </a:solidFill>
                <a:latin typeface="Courier New"/>
                <a:ea typeface="Courier New"/>
                <a:cs typeface="Courier New"/>
                <a:sym typeface="Courier New"/>
              </a:rPr>
              <a:t>, p_val)   </a:t>
            </a:r>
            <a:endParaRPr sz="1300" b="0" i="0" u="none" strike="noStrike" cap="none" dirty="0">
              <a:solidFill>
                <a:schemeClr val="dk2"/>
              </a:solidFill>
              <a:latin typeface="Cambria"/>
              <a:ea typeface="Cambria"/>
              <a:cs typeface="Cambria"/>
              <a:sym typeface="Cambria"/>
            </a:endParaRPr>
          </a:p>
        </p:txBody>
      </p:sp>
      <p:pic>
        <p:nvPicPr>
          <p:cNvPr id="11" name="Google Shape;686;p70">
            <a:extLst>
              <a:ext uri="{FF2B5EF4-FFF2-40B4-BE49-F238E27FC236}">
                <a16:creationId xmlns:a16="http://schemas.microsoft.com/office/drawing/2014/main" id="{7FD3BA29-8648-2D4C-F635-1F4EE6BB809F}"/>
              </a:ext>
            </a:extLst>
          </p:cNvPr>
          <p:cNvPicPr preferRelativeResize="0"/>
          <p:nvPr/>
        </p:nvPicPr>
        <p:blipFill rotWithShape="1">
          <a:blip r:embed="rId2">
            <a:alphaModFix/>
          </a:blip>
          <a:srcRect/>
          <a:stretch/>
        </p:blipFill>
        <p:spPr>
          <a:xfrm>
            <a:off x="518910" y="4552528"/>
            <a:ext cx="7748868" cy="581359"/>
          </a:xfrm>
          <a:prstGeom prst="rect">
            <a:avLst/>
          </a:prstGeom>
          <a:noFill/>
          <a:ln>
            <a:noFill/>
          </a:ln>
        </p:spPr>
      </p:pic>
      <p:pic>
        <p:nvPicPr>
          <p:cNvPr id="12" name="Google Shape;687;p70">
            <a:extLst>
              <a:ext uri="{FF2B5EF4-FFF2-40B4-BE49-F238E27FC236}">
                <a16:creationId xmlns:a16="http://schemas.microsoft.com/office/drawing/2014/main" id="{DC210E13-F8F9-9938-A816-0667F796819C}"/>
              </a:ext>
            </a:extLst>
          </p:cNvPr>
          <p:cNvPicPr preferRelativeResize="0"/>
          <p:nvPr/>
        </p:nvPicPr>
        <p:blipFill rotWithShape="1">
          <a:blip r:embed="rId3">
            <a:alphaModFix/>
          </a:blip>
          <a:srcRect/>
          <a:stretch/>
        </p:blipFill>
        <p:spPr>
          <a:xfrm>
            <a:off x="6941086" y="814547"/>
            <a:ext cx="3576401" cy="2614453"/>
          </a:xfrm>
          <a:prstGeom prst="rect">
            <a:avLst/>
          </a:prstGeom>
          <a:noFill/>
          <a:ln>
            <a:noFill/>
          </a:ln>
          <a:effectLst>
            <a:outerShdw blurRad="63500" sx="102000" sy="102000" algn="ctr" rotWithShape="0">
              <a:prstClr val="black">
                <a:alpha val="40000"/>
              </a:prstClr>
            </a:outerShdw>
          </a:effectLst>
        </p:spPr>
      </p:pic>
      <p:pic>
        <p:nvPicPr>
          <p:cNvPr id="13" name="Google Shape;688;p70">
            <a:extLst>
              <a:ext uri="{FF2B5EF4-FFF2-40B4-BE49-F238E27FC236}">
                <a16:creationId xmlns:a16="http://schemas.microsoft.com/office/drawing/2014/main" id="{B4091BF9-2027-84A8-AE3A-87035BACEB3B}"/>
              </a:ext>
            </a:extLst>
          </p:cNvPr>
          <p:cNvPicPr preferRelativeResize="0"/>
          <p:nvPr/>
        </p:nvPicPr>
        <p:blipFill rotWithShape="1">
          <a:blip r:embed="rId4">
            <a:alphaModFix/>
          </a:blip>
          <a:srcRect/>
          <a:stretch/>
        </p:blipFill>
        <p:spPr>
          <a:xfrm>
            <a:off x="3270847" y="806994"/>
            <a:ext cx="3576401" cy="2509509"/>
          </a:xfrm>
          <a:prstGeom prst="rect">
            <a:avLst/>
          </a:prstGeom>
          <a:noFill/>
          <a:ln>
            <a:noFill/>
          </a:ln>
          <a:effectLst>
            <a:outerShdw blurRad="63500" sx="102000" sy="102000" algn="ctr" rotWithShape="0">
              <a:prstClr val="black">
                <a:alpha val="40000"/>
              </a:prstClr>
            </a:outerShdw>
          </a:effectLst>
        </p:spPr>
      </p:pic>
      <p:pic>
        <p:nvPicPr>
          <p:cNvPr id="16" name="Google Shape;691;p70">
            <a:extLst>
              <a:ext uri="{FF2B5EF4-FFF2-40B4-BE49-F238E27FC236}">
                <a16:creationId xmlns:a16="http://schemas.microsoft.com/office/drawing/2014/main" id="{94A2C490-8D7B-0D98-F38E-F842A682D5C9}"/>
              </a:ext>
            </a:extLst>
          </p:cNvPr>
          <p:cNvPicPr preferRelativeResize="0"/>
          <p:nvPr/>
        </p:nvPicPr>
        <p:blipFill rotWithShape="1">
          <a:blip r:embed="rId5">
            <a:alphaModFix/>
          </a:blip>
          <a:srcRect/>
          <a:stretch/>
        </p:blipFill>
        <p:spPr>
          <a:xfrm>
            <a:off x="177993" y="812741"/>
            <a:ext cx="2999016" cy="2555923"/>
          </a:xfrm>
          <a:prstGeom prst="rect">
            <a:avLst/>
          </a:prstGeom>
          <a:noFill/>
          <a:ln>
            <a:no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73908299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A5707-6B48-D87D-8800-2B35D6324471}"/>
              </a:ext>
            </a:extLst>
          </p:cNvPr>
          <p:cNvSpPr>
            <a:spLocks noGrp="1"/>
          </p:cNvSpPr>
          <p:nvPr>
            <p:ph type="title"/>
          </p:nvPr>
        </p:nvSpPr>
        <p:spPr>
          <a:xfrm>
            <a:off x="838200" y="365125"/>
            <a:ext cx="10515600" cy="874395"/>
          </a:xfrm>
        </p:spPr>
        <p:txBody>
          <a:bodyPr>
            <a:normAutofit fontScale="90000"/>
          </a:bodyPr>
          <a:lstStyle/>
          <a:p>
            <a:r>
              <a:rPr lang="en-US" dirty="0"/>
              <a:t>Quiz – </a:t>
            </a:r>
            <a:br>
              <a:rPr lang="en-US" dirty="0"/>
            </a:br>
            <a:r>
              <a:rPr lang="en-US" dirty="0"/>
              <a:t>https://forms.gle/SmoR1XDEbbL3J39C9</a:t>
            </a:r>
          </a:p>
        </p:txBody>
      </p:sp>
      <p:sp>
        <p:nvSpPr>
          <p:cNvPr id="3" name="Content Placeholder 2">
            <a:extLst>
              <a:ext uri="{FF2B5EF4-FFF2-40B4-BE49-F238E27FC236}">
                <a16:creationId xmlns:a16="http://schemas.microsoft.com/office/drawing/2014/main" id="{C66AA207-26E9-21F1-0AFD-8FEB6DA095F9}"/>
              </a:ext>
            </a:extLst>
          </p:cNvPr>
          <p:cNvSpPr>
            <a:spLocks noGrp="1"/>
          </p:cNvSpPr>
          <p:nvPr>
            <p:ph idx="1"/>
          </p:nvPr>
        </p:nvSpPr>
        <p:spPr/>
        <p:txBody>
          <a:bodyPr>
            <a:normAutofit lnSpcReduction="10000"/>
          </a:bodyPr>
          <a:lstStyle/>
          <a:p>
            <a:pPr marL="514350" indent="-514350">
              <a:buFont typeface="+mj-lt"/>
              <a:buAutoNum type="arabicPeriod"/>
            </a:pPr>
            <a:r>
              <a:rPr lang="en-US" dirty="0">
                <a:latin typeface="Calibri" panose="020F0502020204030204" pitchFamily="34" charset="0"/>
                <a:ea typeface="Calibri" panose="020F0502020204030204" pitchFamily="34" charset="0"/>
                <a:cs typeface="Calibri" panose="020F0502020204030204" pitchFamily="34" charset="0"/>
              </a:rPr>
              <a:t>Apa </a:t>
            </a:r>
            <a:r>
              <a:rPr lang="en-US" dirty="0" err="1">
                <a:latin typeface="Calibri" panose="020F0502020204030204" pitchFamily="34" charset="0"/>
                <a:ea typeface="Calibri" panose="020F0502020204030204" pitchFamily="34" charset="0"/>
                <a:cs typeface="Calibri" panose="020F0502020204030204" pitchFamily="34" charset="0"/>
              </a:rPr>
              <a:t>itu</a:t>
            </a:r>
            <a:r>
              <a:rPr lang="en-US" dirty="0">
                <a:latin typeface="Calibri" panose="020F0502020204030204" pitchFamily="34" charset="0"/>
                <a:ea typeface="Calibri" panose="020F0502020204030204" pitchFamily="34" charset="0"/>
                <a:cs typeface="Calibri" panose="020F0502020204030204" pitchFamily="34" charset="0"/>
              </a:rPr>
              <a:t> Artificial Intelligence (AI)?</a:t>
            </a:r>
          </a:p>
          <a:p>
            <a:pPr marL="514350" indent="-514350">
              <a:buFont typeface="+mj-lt"/>
              <a:buAutoNum type="arabicPeriod"/>
            </a:pPr>
            <a:r>
              <a:rPr lang="it-IT" dirty="0">
                <a:latin typeface="Calibri" panose="020F0502020204030204" pitchFamily="34" charset="0"/>
                <a:ea typeface="Calibri" panose="020F0502020204030204" pitchFamily="34" charset="0"/>
                <a:cs typeface="Calibri" panose="020F0502020204030204" pitchFamily="34" charset="0"/>
              </a:rPr>
              <a:t>Kelebihan utama AI dibanding manusia dalam proses pembelajaran dan pengalaman adalah...</a:t>
            </a:r>
          </a:p>
          <a:p>
            <a:pPr marL="514350" indent="-514350">
              <a:buFont typeface="+mj-lt"/>
              <a:buAutoNum type="arabicPeriod"/>
            </a:pPr>
            <a:r>
              <a:rPr lang="en-US" dirty="0" err="1">
                <a:latin typeface="Calibri" panose="020F0502020204030204" pitchFamily="34" charset="0"/>
                <a:ea typeface="Calibri" panose="020F0502020204030204" pitchFamily="34" charset="0"/>
                <a:cs typeface="Calibri" panose="020F0502020204030204" pitchFamily="34" charset="0"/>
              </a:rPr>
              <a:t>Dalam</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tim</a:t>
            </a:r>
            <a:r>
              <a:rPr lang="en-US" dirty="0">
                <a:latin typeface="Calibri" panose="020F0502020204030204" pitchFamily="34" charset="0"/>
                <a:ea typeface="Calibri" panose="020F0502020204030204" pitchFamily="34" charset="0"/>
                <a:cs typeface="Calibri" panose="020F0502020204030204" pitchFamily="34" charset="0"/>
              </a:rPr>
              <a:t> Data Science, </a:t>
            </a:r>
            <a:r>
              <a:rPr lang="en-US" dirty="0" err="1">
                <a:latin typeface="Calibri" panose="020F0502020204030204" pitchFamily="34" charset="0"/>
                <a:ea typeface="Calibri" panose="020F0502020204030204" pitchFamily="34" charset="0"/>
                <a:cs typeface="Calibri" panose="020F0502020204030204" pitchFamily="34" charset="0"/>
              </a:rPr>
              <a:t>peran</a:t>
            </a:r>
            <a:r>
              <a:rPr lang="en-US" dirty="0">
                <a:latin typeface="Calibri" panose="020F0502020204030204" pitchFamily="34" charset="0"/>
                <a:ea typeface="Calibri" panose="020F0502020204030204" pitchFamily="34" charset="0"/>
                <a:cs typeface="Calibri" panose="020F0502020204030204" pitchFamily="34" charset="0"/>
              </a:rPr>
              <a:t> yang </a:t>
            </a:r>
            <a:r>
              <a:rPr lang="en-US" dirty="0" err="1">
                <a:latin typeface="Calibri" panose="020F0502020204030204" pitchFamily="34" charset="0"/>
                <a:ea typeface="Calibri" panose="020F0502020204030204" pitchFamily="34" charset="0"/>
                <a:cs typeface="Calibri" panose="020F0502020204030204" pitchFamily="34" charset="0"/>
              </a:rPr>
              <a:t>bertugas</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menganalisis</a:t>
            </a:r>
            <a:r>
              <a:rPr lang="en-US" dirty="0">
                <a:latin typeface="Calibri" panose="020F0502020204030204" pitchFamily="34" charset="0"/>
                <a:ea typeface="Calibri" panose="020F0502020204030204" pitchFamily="34" charset="0"/>
                <a:cs typeface="Calibri" panose="020F0502020204030204" pitchFamily="34" charset="0"/>
              </a:rPr>
              <a:t> data </a:t>
            </a:r>
            <a:r>
              <a:rPr lang="en-US" dirty="0" err="1">
                <a:latin typeface="Calibri" panose="020F0502020204030204" pitchFamily="34" charset="0"/>
                <a:ea typeface="Calibri" panose="020F0502020204030204" pitchFamily="34" charset="0"/>
                <a:cs typeface="Calibri" panose="020F0502020204030204" pitchFamily="34" charset="0"/>
              </a:rPr>
              <a:t>untuk</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mencari</a:t>
            </a:r>
            <a:r>
              <a:rPr lang="en-US" dirty="0">
                <a:latin typeface="Calibri" panose="020F0502020204030204" pitchFamily="34" charset="0"/>
                <a:ea typeface="Calibri" panose="020F0502020204030204" pitchFamily="34" charset="0"/>
                <a:cs typeface="Calibri" panose="020F0502020204030204" pitchFamily="34" charset="0"/>
              </a:rPr>
              <a:t> insight dan </a:t>
            </a:r>
            <a:r>
              <a:rPr lang="en-US" dirty="0" err="1">
                <a:latin typeface="Calibri" panose="020F0502020204030204" pitchFamily="34" charset="0"/>
                <a:ea typeface="Calibri" panose="020F0502020204030204" pitchFamily="34" charset="0"/>
                <a:cs typeface="Calibri" panose="020F0502020204030204" pitchFamily="34" charset="0"/>
              </a:rPr>
              <a:t>menyajikannya</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dalam</a:t>
            </a:r>
            <a:r>
              <a:rPr lang="en-US" dirty="0">
                <a:latin typeface="Calibri" panose="020F0502020204030204" pitchFamily="34" charset="0"/>
                <a:ea typeface="Calibri" panose="020F0502020204030204" pitchFamily="34" charset="0"/>
                <a:cs typeface="Calibri" panose="020F0502020204030204" pitchFamily="34" charset="0"/>
              </a:rPr>
              <a:t> dashboard </a:t>
            </a:r>
            <a:r>
              <a:rPr lang="en-US" dirty="0" err="1">
                <a:latin typeface="Calibri" panose="020F0502020204030204" pitchFamily="34" charset="0"/>
                <a:ea typeface="Calibri" panose="020F0502020204030204" pitchFamily="34" charset="0"/>
                <a:cs typeface="Calibri" panose="020F0502020204030204" pitchFamily="34" charset="0"/>
              </a:rPr>
              <a:t>adalah</a:t>
            </a:r>
            <a:r>
              <a:rPr lang="en-US" dirty="0">
                <a:latin typeface="Calibri" panose="020F0502020204030204" pitchFamily="34" charset="0"/>
                <a:ea typeface="Calibri" panose="020F0502020204030204" pitchFamily="34" charset="0"/>
                <a:cs typeface="Calibri" panose="020F0502020204030204" pitchFamily="34" charset="0"/>
              </a:rPr>
              <a:t>...</a:t>
            </a:r>
          </a:p>
          <a:p>
            <a:pPr marL="514350" indent="-514350">
              <a:buFont typeface="+mj-lt"/>
              <a:buAutoNum type="arabicPeriod"/>
            </a:pPr>
            <a:r>
              <a:rPr lang="en-US" dirty="0">
                <a:latin typeface="Calibri" panose="020F0502020204030204" pitchFamily="34" charset="0"/>
                <a:ea typeface="Calibri" panose="020F0502020204030204" pitchFamily="34" charset="0"/>
                <a:cs typeface="Calibri" panose="020F0502020204030204" pitchFamily="34" charset="0"/>
              </a:rPr>
              <a:t>Peran </a:t>
            </a:r>
            <a:r>
              <a:rPr lang="en-US" dirty="0" err="1">
                <a:latin typeface="Calibri" panose="020F0502020204030204" pitchFamily="34" charset="0"/>
                <a:ea typeface="Calibri" panose="020F0502020204030204" pitchFamily="34" charset="0"/>
                <a:cs typeface="Calibri" panose="020F0502020204030204" pitchFamily="34" charset="0"/>
              </a:rPr>
              <a:t>dalam</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tim</a:t>
            </a:r>
            <a:r>
              <a:rPr lang="en-US" dirty="0">
                <a:latin typeface="Calibri" panose="020F0502020204030204" pitchFamily="34" charset="0"/>
                <a:ea typeface="Calibri" panose="020F0502020204030204" pitchFamily="34" charset="0"/>
                <a:cs typeface="Calibri" panose="020F0502020204030204" pitchFamily="34" charset="0"/>
              </a:rPr>
              <a:t> Data Science yang </a:t>
            </a:r>
            <a:r>
              <a:rPr lang="en-US" dirty="0" err="1">
                <a:latin typeface="Calibri" panose="020F0502020204030204" pitchFamily="34" charset="0"/>
                <a:ea typeface="Calibri" panose="020F0502020204030204" pitchFamily="34" charset="0"/>
                <a:cs typeface="Calibri" panose="020F0502020204030204" pitchFamily="34" charset="0"/>
              </a:rPr>
              <a:t>bertanggung</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jawab</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menyiapkan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infrastruktur</a:t>
            </a:r>
            <a:r>
              <a:rPr lang="en-US" dirty="0">
                <a:latin typeface="Calibri" panose="020F0502020204030204" pitchFamily="34" charset="0"/>
                <a:ea typeface="Calibri" panose="020F0502020204030204" pitchFamily="34" charset="0"/>
                <a:cs typeface="Calibri" panose="020F0502020204030204" pitchFamily="34" charset="0"/>
              </a:rPr>
              <a:t> IT dan deployment model </a:t>
            </a:r>
            <a:r>
              <a:rPr lang="en-US" dirty="0" err="1">
                <a:latin typeface="Calibri" panose="020F0502020204030204" pitchFamily="34" charset="0"/>
                <a:ea typeface="Calibri" panose="020F0502020204030204" pitchFamily="34" charset="0"/>
                <a:cs typeface="Calibri" panose="020F0502020204030204" pitchFamily="34" charset="0"/>
              </a:rPr>
              <a:t>ke</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sistem</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produksi</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adalah</a:t>
            </a:r>
            <a:r>
              <a:rPr lang="en-US" dirty="0">
                <a:latin typeface="Calibri" panose="020F0502020204030204" pitchFamily="34" charset="0"/>
                <a:ea typeface="Calibri" panose="020F0502020204030204" pitchFamily="34" charset="0"/>
                <a:cs typeface="Calibri" panose="020F0502020204030204" pitchFamily="34" charset="0"/>
              </a:rPr>
              <a:t>...</a:t>
            </a:r>
          </a:p>
          <a:p>
            <a:pPr marL="514350" indent="-514350">
              <a:buFont typeface="+mj-lt"/>
              <a:buAutoNum type="arabicPeriod"/>
            </a:pPr>
            <a:r>
              <a:rPr lang="en-US" dirty="0">
                <a:latin typeface="Calibri" panose="020F0502020204030204" pitchFamily="34" charset="0"/>
                <a:ea typeface="Calibri" panose="020F0502020204030204" pitchFamily="34" charset="0"/>
                <a:cs typeface="Calibri" panose="020F0502020204030204" pitchFamily="34" charset="0"/>
              </a:rPr>
              <a:t>Isu </a:t>
            </a:r>
            <a:r>
              <a:rPr lang="en-US" dirty="0" err="1">
                <a:latin typeface="Calibri" panose="020F0502020204030204" pitchFamily="34" charset="0"/>
                <a:ea typeface="Calibri" panose="020F0502020204030204" pitchFamily="34" charset="0"/>
                <a:cs typeface="Calibri" panose="020F0502020204030204" pitchFamily="34" charset="0"/>
              </a:rPr>
              <a:t>etika</a:t>
            </a:r>
            <a:r>
              <a:rPr lang="en-US" dirty="0">
                <a:latin typeface="Calibri" panose="020F0502020204030204" pitchFamily="34" charset="0"/>
                <a:ea typeface="Calibri" panose="020F0502020204030204" pitchFamily="34" charset="0"/>
                <a:cs typeface="Calibri" panose="020F0502020204030204" pitchFamily="34" charset="0"/>
              </a:rPr>
              <a:t> AI di mana model AI </a:t>
            </a:r>
            <a:r>
              <a:rPr lang="en-US" dirty="0" err="1">
                <a:latin typeface="Calibri" panose="020F0502020204030204" pitchFamily="34" charset="0"/>
                <a:ea typeface="Calibri" panose="020F0502020204030204" pitchFamily="34" charset="0"/>
                <a:cs typeface="Calibri" panose="020F0502020204030204" pitchFamily="34" charset="0"/>
              </a:rPr>
              <a:t>memberikan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keputusan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diskriminatif</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akibat</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ketidakseimbangan</a:t>
            </a:r>
            <a:r>
              <a:rPr lang="en-US" dirty="0">
                <a:latin typeface="Calibri" panose="020F0502020204030204" pitchFamily="34" charset="0"/>
                <a:ea typeface="Calibri" panose="020F0502020204030204" pitchFamily="34" charset="0"/>
                <a:cs typeface="Calibri" panose="020F0502020204030204" pitchFamily="34" charset="0"/>
              </a:rPr>
              <a:t> data </a:t>
            </a:r>
            <a:r>
              <a:rPr lang="en-US" dirty="0" err="1">
                <a:latin typeface="Calibri" panose="020F0502020204030204" pitchFamily="34" charset="0"/>
                <a:ea typeface="Calibri" panose="020F0502020204030204" pitchFamily="34" charset="0"/>
                <a:cs typeface="Calibri" panose="020F0502020204030204" pitchFamily="34" charset="0"/>
              </a:rPr>
              <a:t>historis</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disebut</a:t>
            </a:r>
            <a:r>
              <a:rPr lang="en-US" dirty="0">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70400240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1BE94-B8DE-14CA-7839-4973E17057F7}"/>
              </a:ext>
            </a:extLst>
          </p:cNvPr>
          <p:cNvSpPr>
            <a:spLocks noGrp="1"/>
          </p:cNvSpPr>
          <p:nvPr>
            <p:ph type="title"/>
          </p:nvPr>
        </p:nvSpPr>
        <p:spPr/>
        <p:txBody>
          <a:bodyPr/>
          <a:lstStyle/>
          <a:p>
            <a:r>
              <a:rPr lang="en-US" dirty="0"/>
              <a:t>Next section</a:t>
            </a:r>
          </a:p>
        </p:txBody>
      </p:sp>
      <p:sp>
        <p:nvSpPr>
          <p:cNvPr id="3" name="Content Placeholder 2">
            <a:extLst>
              <a:ext uri="{FF2B5EF4-FFF2-40B4-BE49-F238E27FC236}">
                <a16:creationId xmlns:a16="http://schemas.microsoft.com/office/drawing/2014/main" id="{693058BC-DB52-8D7C-51FF-F780C1D2933F}"/>
              </a:ext>
            </a:extLst>
          </p:cNvPr>
          <p:cNvSpPr>
            <a:spLocks noGrp="1"/>
          </p:cNvSpPr>
          <p:nvPr>
            <p:ph idx="1"/>
          </p:nvPr>
        </p:nvSpPr>
        <p:spPr/>
        <p:txBody>
          <a:bodyPr>
            <a:normAutofit fontScale="92500"/>
          </a:bodyPr>
          <a:lstStyle/>
          <a:p>
            <a:pPr marL="514350" indent="-514350">
              <a:buFont typeface="+mj-lt"/>
              <a:buAutoNum type="arabicPeriod" startAt="6"/>
            </a:pPr>
            <a:r>
              <a:rPr lang="en-US" dirty="0" err="1">
                <a:latin typeface="Calibri" panose="020F0502020204030204" pitchFamily="34" charset="0"/>
                <a:ea typeface="Calibri" panose="020F0502020204030204" pitchFamily="34" charset="0"/>
                <a:cs typeface="Calibri" panose="020F0502020204030204" pitchFamily="34" charset="0"/>
              </a:rPr>
              <a:t>Urutan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hirarki</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dari</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tingkat</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terendah</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hingga</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tertinggi</a:t>
            </a:r>
            <a:r>
              <a:rPr lang="en-US" dirty="0">
                <a:latin typeface="Calibri" panose="020F0502020204030204" pitchFamily="34" charset="0"/>
                <a:ea typeface="Calibri" panose="020F0502020204030204" pitchFamily="34" charset="0"/>
                <a:cs typeface="Calibri" panose="020F0502020204030204" pitchFamily="34" charset="0"/>
              </a:rPr>
              <a:t> pada DIKW pyramid </a:t>
            </a:r>
            <a:r>
              <a:rPr lang="en-US" dirty="0" err="1">
                <a:latin typeface="Calibri" panose="020F0502020204030204" pitchFamily="34" charset="0"/>
                <a:ea typeface="Calibri" panose="020F0502020204030204" pitchFamily="34" charset="0"/>
                <a:cs typeface="Calibri" panose="020F0502020204030204" pitchFamily="34" charset="0"/>
              </a:rPr>
              <a:t>adalah</a:t>
            </a:r>
            <a:r>
              <a:rPr lang="en-US" dirty="0">
                <a:latin typeface="Calibri" panose="020F0502020204030204" pitchFamily="34" charset="0"/>
                <a:ea typeface="Calibri" panose="020F0502020204030204" pitchFamily="34" charset="0"/>
                <a:cs typeface="Calibri" panose="020F0502020204030204" pitchFamily="34" charset="0"/>
              </a:rPr>
              <a:t>...</a:t>
            </a:r>
          </a:p>
          <a:p>
            <a:pPr marL="514350" indent="-514350">
              <a:buFont typeface="+mj-lt"/>
              <a:buAutoNum type="arabicPeriod" startAt="6"/>
            </a:pPr>
            <a:r>
              <a:rPr lang="en-US" dirty="0">
                <a:latin typeface="Calibri" panose="020F0502020204030204" pitchFamily="34" charset="0"/>
                <a:ea typeface="Calibri" panose="020F0502020204030204" pitchFamily="34" charset="0"/>
                <a:cs typeface="Calibri" panose="020F0502020204030204" pitchFamily="34" charset="0"/>
              </a:rPr>
              <a:t>Pada </a:t>
            </a:r>
            <a:r>
              <a:rPr lang="en-US" dirty="0" err="1">
                <a:latin typeface="Calibri" panose="020F0502020204030204" pitchFamily="34" charset="0"/>
                <a:ea typeface="Calibri" panose="020F0502020204030204" pitchFamily="34" charset="0"/>
                <a:cs typeface="Calibri" panose="020F0502020204030204" pitchFamily="34" charset="0"/>
              </a:rPr>
              <a:t>piramida</a:t>
            </a:r>
            <a:r>
              <a:rPr lang="en-US" dirty="0">
                <a:latin typeface="Calibri" panose="020F0502020204030204" pitchFamily="34" charset="0"/>
                <a:ea typeface="Calibri" panose="020F0502020204030204" pitchFamily="34" charset="0"/>
                <a:cs typeface="Calibri" panose="020F0502020204030204" pitchFamily="34" charset="0"/>
              </a:rPr>
              <a:t> DIKW, </a:t>
            </a:r>
            <a:r>
              <a:rPr lang="en-US" dirty="0" err="1">
                <a:latin typeface="Calibri" panose="020F0502020204030204" pitchFamily="34" charset="0"/>
                <a:ea typeface="Calibri" panose="020F0502020204030204" pitchFamily="34" charset="0"/>
                <a:cs typeface="Calibri" panose="020F0502020204030204" pitchFamily="34" charset="0"/>
              </a:rPr>
              <a:t>kumpulan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angka</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acak</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atau</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fakta</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mentah</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tanpa</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konteks</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dikategorikan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sebagai</a:t>
            </a:r>
            <a:r>
              <a:rPr lang="en-US" dirty="0">
                <a:latin typeface="Calibri" panose="020F0502020204030204" pitchFamily="34" charset="0"/>
                <a:ea typeface="Calibri" panose="020F0502020204030204" pitchFamily="34" charset="0"/>
                <a:cs typeface="Calibri" panose="020F0502020204030204" pitchFamily="34" charset="0"/>
              </a:rPr>
              <a:t>...</a:t>
            </a:r>
          </a:p>
          <a:p>
            <a:pPr marL="514350" indent="-514350">
              <a:buFont typeface="+mj-lt"/>
              <a:buAutoNum type="arabicPeriod" startAt="6"/>
            </a:pPr>
            <a:r>
              <a:rPr lang="en-US" dirty="0" err="1">
                <a:latin typeface="Calibri" panose="020F0502020204030204" pitchFamily="34" charset="0"/>
                <a:ea typeface="Calibri" panose="020F0502020204030204" pitchFamily="34" charset="0"/>
                <a:cs typeface="Calibri" panose="020F0502020204030204" pitchFamily="34" charset="0"/>
              </a:rPr>
              <a:t>Metodologi</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pengembangan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perangkat</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lunak</a:t>
            </a:r>
            <a:r>
              <a:rPr lang="en-US" dirty="0">
                <a:latin typeface="Calibri" panose="020F0502020204030204" pitchFamily="34" charset="0"/>
                <a:ea typeface="Calibri" panose="020F0502020204030204" pitchFamily="34" charset="0"/>
                <a:cs typeface="Calibri" panose="020F0502020204030204" pitchFamily="34" charset="0"/>
              </a:rPr>
              <a:t> (SDLC) yang sangat </a:t>
            </a:r>
            <a:r>
              <a:rPr lang="en-US" dirty="0" err="1">
                <a:latin typeface="Calibri" panose="020F0502020204030204" pitchFamily="34" charset="0"/>
                <a:ea typeface="Calibri" panose="020F0502020204030204" pitchFamily="34" charset="0"/>
                <a:cs typeface="Calibri" panose="020F0502020204030204" pitchFamily="34" charset="0"/>
              </a:rPr>
              <a:t>cocok</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untuk</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kondisi</a:t>
            </a:r>
            <a:r>
              <a:rPr lang="en-US" dirty="0">
                <a:latin typeface="Calibri" panose="020F0502020204030204" pitchFamily="34" charset="0"/>
                <a:ea typeface="Calibri" panose="020F0502020204030204" pitchFamily="34" charset="0"/>
                <a:cs typeface="Calibri" panose="020F0502020204030204" pitchFamily="34" charset="0"/>
              </a:rPr>
              <a:t> di mana </a:t>
            </a:r>
            <a:r>
              <a:rPr lang="en-US" dirty="0" err="1">
                <a:latin typeface="Calibri" panose="020F0502020204030204" pitchFamily="34" charset="0"/>
                <a:ea typeface="Calibri" panose="020F0502020204030204" pitchFamily="34" charset="0"/>
                <a:cs typeface="Calibri" panose="020F0502020204030204" pitchFamily="34" charset="0"/>
              </a:rPr>
              <a:t>kebutuhan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pengguna</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belum</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jelas</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adalah</a:t>
            </a:r>
            <a:r>
              <a:rPr lang="en-US" dirty="0">
                <a:latin typeface="Calibri" panose="020F0502020204030204" pitchFamily="34" charset="0"/>
                <a:ea typeface="Calibri" panose="020F0502020204030204" pitchFamily="34" charset="0"/>
                <a:cs typeface="Calibri" panose="020F0502020204030204" pitchFamily="34" charset="0"/>
              </a:rPr>
              <a:t>...</a:t>
            </a:r>
          </a:p>
          <a:p>
            <a:pPr marL="514350" indent="-514350">
              <a:buFont typeface="+mj-lt"/>
              <a:buAutoNum type="arabicPeriod" startAt="6"/>
            </a:pPr>
            <a:r>
              <a:rPr lang="en-US" dirty="0" err="1">
                <a:latin typeface="Calibri" panose="020F0502020204030204" pitchFamily="34" charset="0"/>
                <a:ea typeface="Calibri" panose="020F0502020204030204" pitchFamily="34" charset="0"/>
                <a:cs typeface="Calibri" panose="020F0502020204030204" pitchFamily="34" charset="0"/>
              </a:rPr>
              <a:t>Notasi</a:t>
            </a:r>
            <a:r>
              <a:rPr lang="en-US" dirty="0">
                <a:latin typeface="Calibri" panose="020F0502020204030204" pitchFamily="34" charset="0"/>
                <a:ea typeface="Calibri" panose="020F0502020204030204" pitchFamily="34" charset="0"/>
                <a:cs typeface="Calibri" panose="020F0502020204030204" pitchFamily="34" charset="0"/>
              </a:rPr>
              <a:t> diagram </a:t>
            </a:r>
            <a:r>
              <a:rPr lang="en-US" dirty="0" err="1">
                <a:latin typeface="Calibri" panose="020F0502020204030204" pitchFamily="34" charset="0"/>
                <a:ea typeface="Calibri" panose="020F0502020204030204" pitchFamily="34" charset="0"/>
                <a:cs typeface="Calibri" panose="020F0502020204030204" pitchFamily="34" charset="0"/>
              </a:rPr>
              <a:t>standar</a:t>
            </a:r>
            <a:r>
              <a:rPr lang="en-US" dirty="0">
                <a:latin typeface="Calibri" panose="020F0502020204030204" pitchFamily="34" charset="0"/>
                <a:ea typeface="Calibri" panose="020F0502020204030204" pitchFamily="34" charset="0"/>
                <a:cs typeface="Calibri" panose="020F0502020204030204" pitchFamily="34" charset="0"/>
              </a:rPr>
              <a:t> yang </a:t>
            </a:r>
            <a:r>
              <a:rPr lang="en-US" dirty="0" err="1">
                <a:latin typeface="Calibri" panose="020F0502020204030204" pitchFamily="34" charset="0"/>
                <a:ea typeface="Calibri" panose="020F0502020204030204" pitchFamily="34" charset="0"/>
                <a:cs typeface="Calibri" panose="020F0502020204030204" pitchFamily="34" charset="0"/>
              </a:rPr>
              <a:t>umum</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digunakan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untuk</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memodelkan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alur</a:t>
            </a:r>
            <a:r>
              <a:rPr lang="en-US" dirty="0">
                <a:latin typeface="Calibri" panose="020F0502020204030204" pitchFamily="34" charset="0"/>
                <a:ea typeface="Calibri" panose="020F0502020204030204" pitchFamily="34" charset="0"/>
                <a:cs typeface="Calibri" panose="020F0502020204030204" pitchFamily="34" charset="0"/>
              </a:rPr>
              <a:t> proses </a:t>
            </a:r>
            <a:r>
              <a:rPr lang="en-US" dirty="0" err="1">
                <a:latin typeface="Calibri" panose="020F0502020204030204" pitchFamily="34" charset="0"/>
                <a:ea typeface="Calibri" panose="020F0502020204030204" pitchFamily="34" charset="0"/>
                <a:cs typeface="Calibri" panose="020F0502020204030204" pitchFamily="34" charset="0"/>
              </a:rPr>
              <a:t>bisnis</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dalam</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suatu</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organisasi</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adalah</a:t>
            </a:r>
            <a:r>
              <a:rPr lang="en-US" dirty="0">
                <a:latin typeface="Calibri" panose="020F0502020204030204" pitchFamily="34" charset="0"/>
                <a:ea typeface="Calibri" panose="020F0502020204030204" pitchFamily="34" charset="0"/>
                <a:cs typeface="Calibri" panose="020F0502020204030204" pitchFamily="34" charset="0"/>
              </a:rPr>
              <a:t>...</a:t>
            </a:r>
          </a:p>
          <a:p>
            <a:pPr marL="514350" indent="-514350">
              <a:buFont typeface="+mj-lt"/>
              <a:buAutoNum type="arabicPeriod" startAt="6"/>
            </a:pPr>
            <a:r>
              <a:rPr lang="en-US" dirty="0" err="1">
                <a:latin typeface="Calibri" panose="020F0502020204030204" pitchFamily="34" charset="0"/>
                <a:ea typeface="Calibri" panose="020F0502020204030204" pitchFamily="34" charset="0"/>
                <a:cs typeface="Calibri" panose="020F0502020204030204" pitchFamily="34" charset="0"/>
              </a:rPr>
              <a:t>Metodologi</a:t>
            </a:r>
            <a:r>
              <a:rPr lang="en-US" dirty="0">
                <a:latin typeface="Calibri" panose="020F0502020204030204" pitchFamily="34" charset="0"/>
                <a:ea typeface="Calibri" panose="020F0502020204030204" pitchFamily="34" charset="0"/>
                <a:cs typeface="Calibri" panose="020F0502020204030204" pitchFamily="34" charset="0"/>
              </a:rPr>
              <a:t> Data Science yang </a:t>
            </a:r>
            <a:r>
              <a:rPr lang="en-US" dirty="0" err="1">
                <a:latin typeface="Calibri" panose="020F0502020204030204" pitchFamily="34" charset="0"/>
                <a:ea typeface="Calibri" panose="020F0502020204030204" pitchFamily="34" charset="0"/>
                <a:cs typeface="Calibri" panose="020F0502020204030204" pitchFamily="34" charset="0"/>
              </a:rPr>
              <a:t>bersifat</a:t>
            </a:r>
            <a:r>
              <a:rPr lang="en-US" dirty="0">
                <a:latin typeface="Calibri" panose="020F0502020204030204" pitchFamily="34" charset="0"/>
                <a:ea typeface="Calibri" panose="020F0502020204030204" pitchFamily="34" charset="0"/>
                <a:cs typeface="Calibri" panose="020F0502020204030204" pitchFamily="34" charset="0"/>
              </a:rPr>
              <a:t> non-proprietary, </a:t>
            </a:r>
            <a:r>
              <a:rPr lang="en-US" dirty="0" err="1">
                <a:latin typeface="Calibri" panose="020F0502020204030204" pitchFamily="34" charset="0"/>
                <a:ea typeface="Calibri" panose="020F0502020204030204" pitchFamily="34" charset="0"/>
                <a:cs typeface="Calibri" panose="020F0502020204030204" pitchFamily="34" charset="0"/>
              </a:rPr>
              <a:t>netral</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terhadap</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aplikasi</a:t>
            </a:r>
            <a:r>
              <a:rPr lang="en-US" dirty="0">
                <a:latin typeface="Calibri" panose="020F0502020204030204" pitchFamily="34" charset="0"/>
                <a:ea typeface="Calibri" panose="020F0502020204030204" pitchFamily="34" charset="0"/>
                <a:cs typeface="Calibri" panose="020F0502020204030204" pitchFamily="34" charset="0"/>
              </a:rPr>
              <a:t>/</a:t>
            </a:r>
            <a:r>
              <a:rPr lang="en-US" dirty="0" err="1">
                <a:latin typeface="Calibri" panose="020F0502020204030204" pitchFamily="34" charset="0"/>
                <a:ea typeface="Calibri" panose="020F0502020204030204" pitchFamily="34" charset="0"/>
                <a:cs typeface="Calibri" panose="020F0502020204030204" pitchFamily="34" charset="0"/>
              </a:rPr>
              <a:t>alat</a:t>
            </a:r>
            <a:r>
              <a:rPr lang="en-US" dirty="0">
                <a:latin typeface="Calibri" panose="020F0502020204030204" pitchFamily="34" charset="0"/>
                <a:ea typeface="Calibri" panose="020F0502020204030204" pitchFamily="34" charset="0"/>
                <a:cs typeface="Calibri" panose="020F0502020204030204" pitchFamily="34" charset="0"/>
              </a:rPr>
              <a:t>, dan </a:t>
            </a:r>
            <a:r>
              <a:rPr lang="en-US" dirty="0" err="1">
                <a:latin typeface="Calibri" panose="020F0502020204030204" pitchFamily="34" charset="0"/>
                <a:ea typeface="Calibri" panose="020F0502020204030204" pitchFamily="34" charset="0"/>
                <a:cs typeface="Calibri" panose="020F0502020204030204" pitchFamily="34" charset="0"/>
              </a:rPr>
              <a:t>fokus</a:t>
            </a:r>
            <a:r>
              <a:rPr lang="en-US" dirty="0">
                <a:latin typeface="Calibri" panose="020F0502020204030204" pitchFamily="34" charset="0"/>
                <a:ea typeface="Calibri" panose="020F0502020204030204" pitchFamily="34" charset="0"/>
                <a:cs typeface="Calibri" panose="020F0502020204030204" pitchFamily="34" charset="0"/>
              </a:rPr>
              <a:t> pada </a:t>
            </a:r>
            <a:r>
              <a:rPr lang="en-US" dirty="0" err="1">
                <a:latin typeface="Calibri" panose="020F0502020204030204" pitchFamily="34" charset="0"/>
                <a:ea typeface="Calibri" panose="020F0502020204030204" pitchFamily="34" charset="0"/>
                <a:cs typeface="Calibri" panose="020F0502020204030204" pitchFamily="34" charset="0"/>
              </a:rPr>
              <a:t>masalah</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bisnis</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adalah</a:t>
            </a:r>
            <a:r>
              <a:rPr lang="en-US" dirty="0">
                <a:latin typeface="Calibri" panose="020F0502020204030204" pitchFamily="34" charset="0"/>
                <a:ea typeface="Calibri" panose="020F0502020204030204" pitchFamily="34" charset="0"/>
                <a:cs typeface="Calibri" panose="020F0502020204030204" pitchFamily="34" charset="0"/>
              </a:rPr>
              <a:t>...</a:t>
            </a:r>
          </a:p>
          <a:p>
            <a:pPr marL="0" indent="0">
              <a:buNone/>
            </a:pPr>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2331948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6767B-C3A9-BFF3-3FE0-7FFDFB78D1F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73AE2B2-BD27-7977-C383-209EDB05606A}"/>
              </a:ext>
            </a:extLst>
          </p:cNvPr>
          <p:cNvSpPr>
            <a:spLocks noGrp="1"/>
          </p:cNvSpPr>
          <p:nvPr>
            <p:ph idx="1"/>
          </p:nvPr>
        </p:nvSpPr>
        <p:spPr/>
        <p:txBody>
          <a:bodyPr>
            <a:normAutofit fontScale="92500" lnSpcReduction="10000"/>
          </a:bodyPr>
          <a:lstStyle/>
          <a:p>
            <a:pPr marL="514350" indent="-514350">
              <a:buFont typeface="+mj-lt"/>
              <a:buAutoNum type="arabicPeriod" startAt="11"/>
            </a:pPr>
            <a:r>
              <a:rPr lang="en-US" dirty="0" err="1">
                <a:latin typeface="Calibri" panose="020F0502020204030204" pitchFamily="34" charset="0"/>
                <a:ea typeface="Calibri" panose="020F0502020204030204" pitchFamily="34" charset="0"/>
                <a:cs typeface="Calibri" panose="020F0502020204030204" pitchFamily="34" charset="0"/>
              </a:rPr>
              <a:t>Kesalahan</a:t>
            </a:r>
            <a:r>
              <a:rPr lang="en-US" dirty="0">
                <a:latin typeface="Calibri" panose="020F0502020204030204" pitchFamily="34" charset="0"/>
                <a:ea typeface="Calibri" panose="020F0502020204030204" pitchFamily="34" charset="0"/>
                <a:cs typeface="Calibri" panose="020F0502020204030204" pitchFamily="34" charset="0"/>
              </a:rPr>
              <a:t> pada </a:t>
            </a:r>
            <a:r>
              <a:rPr lang="en-US" dirty="0" err="1">
                <a:latin typeface="Calibri" panose="020F0502020204030204" pitchFamily="34" charset="0"/>
                <a:ea typeface="Calibri" panose="020F0502020204030204" pitchFamily="34" charset="0"/>
                <a:cs typeface="Calibri" panose="020F0502020204030204" pitchFamily="34" charset="0"/>
              </a:rPr>
              <a:t>proyek</a:t>
            </a:r>
            <a:r>
              <a:rPr lang="en-US" dirty="0">
                <a:latin typeface="Calibri" panose="020F0502020204030204" pitchFamily="34" charset="0"/>
                <a:ea typeface="Calibri" panose="020F0502020204030204" pitchFamily="34" charset="0"/>
                <a:cs typeface="Calibri" panose="020F0502020204030204" pitchFamily="34" charset="0"/>
              </a:rPr>
              <a:t> AI di mana </a:t>
            </a:r>
            <a:r>
              <a:rPr lang="en-US" dirty="0" err="1">
                <a:latin typeface="Calibri" panose="020F0502020204030204" pitchFamily="34" charset="0"/>
                <a:ea typeface="Calibri" panose="020F0502020204030204" pitchFamily="34" charset="0"/>
                <a:cs typeface="Calibri" panose="020F0502020204030204" pitchFamily="34" charset="0"/>
              </a:rPr>
              <a:t>informasi</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dari</a:t>
            </a:r>
            <a:r>
              <a:rPr lang="en-US" dirty="0">
                <a:latin typeface="Calibri" panose="020F0502020204030204" pitchFamily="34" charset="0"/>
                <a:ea typeface="Calibri" panose="020F0502020204030204" pitchFamily="34" charset="0"/>
                <a:cs typeface="Calibri" panose="020F0502020204030204" pitchFamily="34" charset="0"/>
              </a:rPr>
              <a:t> data </a:t>
            </a:r>
            <a:r>
              <a:rPr lang="en-US" dirty="0" err="1">
                <a:latin typeface="Calibri" panose="020F0502020204030204" pitchFamily="34" charset="0"/>
                <a:ea typeface="Calibri" panose="020F0502020204030204" pitchFamily="34" charset="0"/>
                <a:cs typeface="Calibri" panose="020F0502020204030204" pitchFamily="34" charset="0"/>
              </a:rPr>
              <a:t>pengujian</a:t>
            </a:r>
            <a:r>
              <a:rPr lang="en-US" dirty="0">
                <a:latin typeface="Calibri" panose="020F0502020204030204" pitchFamily="34" charset="0"/>
                <a:ea typeface="Calibri" panose="020F0502020204030204" pitchFamily="34" charset="0"/>
                <a:cs typeface="Calibri" panose="020F0502020204030204" pitchFamily="34" charset="0"/>
              </a:rPr>
              <a:t> (test data) bocor </a:t>
            </a:r>
            <a:r>
              <a:rPr lang="en-US" dirty="0" err="1">
                <a:latin typeface="Calibri" panose="020F0502020204030204" pitchFamily="34" charset="0"/>
                <a:ea typeface="Calibri" panose="020F0502020204030204" pitchFamily="34" charset="0"/>
                <a:cs typeface="Calibri" panose="020F0502020204030204" pitchFamily="34" charset="0"/>
              </a:rPr>
              <a:t>ke</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dalam</a:t>
            </a:r>
            <a:r>
              <a:rPr lang="en-US" dirty="0">
                <a:latin typeface="Calibri" panose="020F0502020204030204" pitchFamily="34" charset="0"/>
                <a:ea typeface="Calibri" panose="020F0502020204030204" pitchFamily="34" charset="0"/>
                <a:cs typeface="Calibri" panose="020F0502020204030204" pitchFamily="34" charset="0"/>
              </a:rPr>
              <a:t> data </a:t>
            </a:r>
            <a:r>
              <a:rPr lang="en-US" dirty="0" err="1">
                <a:latin typeface="Calibri" panose="020F0502020204030204" pitchFamily="34" charset="0"/>
                <a:ea typeface="Calibri" panose="020F0502020204030204" pitchFamily="34" charset="0"/>
                <a:cs typeface="Calibri" panose="020F0502020204030204" pitchFamily="34" charset="0"/>
              </a:rPr>
              <a:t>pelatihan</a:t>
            </a:r>
            <a:r>
              <a:rPr lang="en-US" dirty="0">
                <a:latin typeface="Calibri" panose="020F0502020204030204" pitchFamily="34" charset="0"/>
                <a:ea typeface="Calibri" panose="020F0502020204030204" pitchFamily="34" charset="0"/>
                <a:cs typeface="Calibri" panose="020F0502020204030204" pitchFamily="34" charset="0"/>
              </a:rPr>
              <a:t> (training data) </a:t>
            </a:r>
            <a:r>
              <a:rPr lang="en-US" dirty="0" err="1">
                <a:latin typeface="Calibri" panose="020F0502020204030204" pitchFamily="34" charset="0"/>
                <a:ea typeface="Calibri" panose="020F0502020204030204" pitchFamily="34" charset="0"/>
                <a:cs typeface="Calibri" panose="020F0502020204030204" pitchFamily="34" charset="0"/>
              </a:rPr>
              <a:t>disebut</a:t>
            </a:r>
            <a:r>
              <a:rPr lang="en-US" dirty="0">
                <a:latin typeface="Calibri" panose="020F0502020204030204" pitchFamily="34" charset="0"/>
                <a:ea typeface="Calibri" panose="020F0502020204030204" pitchFamily="34" charset="0"/>
                <a:cs typeface="Calibri" panose="020F0502020204030204" pitchFamily="34" charset="0"/>
              </a:rPr>
              <a:t>...</a:t>
            </a:r>
          </a:p>
          <a:p>
            <a:pPr marL="514350" indent="-514350">
              <a:buFont typeface="+mj-lt"/>
              <a:buAutoNum type="arabicPeriod" startAt="11"/>
            </a:pPr>
            <a:r>
              <a:rPr lang="en-US" dirty="0">
                <a:latin typeface="Calibri" panose="020F0502020204030204" pitchFamily="34" charset="0"/>
                <a:ea typeface="Calibri" panose="020F0502020204030204" pitchFamily="34" charset="0"/>
                <a:cs typeface="Calibri" panose="020F0502020204030204" pitchFamily="34" charset="0"/>
              </a:rPr>
              <a:t>Istilah </a:t>
            </a:r>
            <a:r>
              <a:rPr lang="en-US" dirty="0" err="1">
                <a:latin typeface="Calibri" panose="020F0502020204030204" pitchFamily="34" charset="0"/>
                <a:ea typeface="Calibri" panose="020F0502020204030204" pitchFamily="34" charset="0"/>
                <a:cs typeface="Calibri" panose="020F0502020204030204" pitchFamily="34" charset="0"/>
              </a:rPr>
              <a:t>populer</a:t>
            </a:r>
            <a:r>
              <a:rPr lang="en-US" dirty="0">
                <a:latin typeface="Calibri" panose="020F0502020204030204" pitchFamily="34" charset="0"/>
                <a:ea typeface="Calibri" panose="020F0502020204030204" pitchFamily="34" charset="0"/>
                <a:cs typeface="Calibri" panose="020F0502020204030204" pitchFamily="34" charset="0"/>
              </a:rPr>
              <a:t> 'Garbage In, Garbage Out' </a:t>
            </a:r>
            <a:r>
              <a:rPr lang="en-US" dirty="0" err="1">
                <a:latin typeface="Calibri" panose="020F0502020204030204" pitchFamily="34" charset="0"/>
                <a:ea typeface="Calibri" panose="020F0502020204030204" pitchFamily="34" charset="0"/>
                <a:cs typeface="Calibri" panose="020F0502020204030204" pitchFamily="34" charset="0"/>
              </a:rPr>
              <a:t>dalam</a:t>
            </a:r>
            <a:r>
              <a:rPr lang="en-US" dirty="0">
                <a:latin typeface="Calibri" panose="020F0502020204030204" pitchFamily="34" charset="0"/>
                <a:ea typeface="Calibri" panose="020F0502020204030204" pitchFamily="34" charset="0"/>
                <a:cs typeface="Calibri" panose="020F0502020204030204" pitchFamily="34" charset="0"/>
              </a:rPr>
              <a:t> Data Science </a:t>
            </a:r>
            <a:r>
              <a:rPr lang="en-US" dirty="0" err="1">
                <a:latin typeface="Calibri" panose="020F0502020204030204" pitchFamily="34" charset="0"/>
                <a:ea typeface="Calibri" panose="020F0502020204030204" pitchFamily="34" charset="0"/>
                <a:cs typeface="Calibri" panose="020F0502020204030204" pitchFamily="34" charset="0"/>
              </a:rPr>
              <a:t>bermakna</a:t>
            </a:r>
            <a:r>
              <a:rPr lang="en-US" dirty="0">
                <a:latin typeface="Calibri" panose="020F0502020204030204" pitchFamily="34" charset="0"/>
                <a:ea typeface="Calibri" panose="020F0502020204030204" pitchFamily="34" charset="0"/>
                <a:cs typeface="Calibri" panose="020F0502020204030204" pitchFamily="34" charset="0"/>
              </a:rPr>
              <a:t>...</a:t>
            </a:r>
          </a:p>
          <a:p>
            <a:pPr marL="514350" indent="-514350">
              <a:buFont typeface="+mj-lt"/>
              <a:buAutoNum type="arabicPeriod" startAt="11"/>
            </a:pPr>
            <a:r>
              <a:rPr lang="en-US" dirty="0">
                <a:latin typeface="Calibri" panose="020F0502020204030204" pitchFamily="34" charset="0"/>
                <a:ea typeface="Calibri" panose="020F0502020204030204" pitchFamily="34" charset="0"/>
                <a:cs typeface="Calibri" panose="020F0502020204030204" pitchFamily="34" charset="0"/>
              </a:rPr>
              <a:t>Jenis </a:t>
            </a:r>
            <a:r>
              <a:rPr lang="en-US" dirty="0" err="1">
                <a:latin typeface="Calibri" panose="020F0502020204030204" pitchFamily="34" charset="0"/>
                <a:ea typeface="Calibri" panose="020F0502020204030204" pitchFamily="34" charset="0"/>
                <a:cs typeface="Calibri" panose="020F0502020204030204" pitchFamily="34" charset="0"/>
              </a:rPr>
              <a:t>tugas</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analitik</a:t>
            </a:r>
            <a:r>
              <a:rPr lang="en-US" dirty="0">
                <a:latin typeface="Calibri" panose="020F0502020204030204" pitchFamily="34" charset="0"/>
                <a:ea typeface="Calibri" panose="020F0502020204030204" pitchFamily="34" charset="0"/>
                <a:cs typeface="Calibri" panose="020F0502020204030204" pitchFamily="34" charset="0"/>
              </a:rPr>
              <a:t> data science yang </a:t>
            </a:r>
            <a:r>
              <a:rPr lang="en-US" dirty="0" err="1">
                <a:latin typeface="Calibri" panose="020F0502020204030204" pitchFamily="34" charset="0"/>
                <a:ea typeface="Calibri" panose="020F0502020204030204" pitchFamily="34" charset="0"/>
                <a:cs typeface="Calibri" panose="020F0502020204030204" pitchFamily="34" charset="0"/>
              </a:rPr>
              <a:t>bertujuan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memprediksi</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nilai</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numerik</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kontinu</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seperti</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harga</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rumah</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atau</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suhu</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adalah</a:t>
            </a:r>
            <a:r>
              <a:rPr lang="en-US" dirty="0">
                <a:latin typeface="Calibri" panose="020F0502020204030204" pitchFamily="34" charset="0"/>
                <a:ea typeface="Calibri" panose="020F0502020204030204" pitchFamily="34" charset="0"/>
                <a:cs typeface="Calibri" panose="020F0502020204030204" pitchFamily="34" charset="0"/>
              </a:rPr>
              <a:t>...</a:t>
            </a:r>
          </a:p>
          <a:p>
            <a:pPr marL="514350" indent="-514350">
              <a:buFont typeface="+mj-lt"/>
              <a:buAutoNum type="arabicPeriod" startAt="11"/>
            </a:pPr>
            <a:r>
              <a:rPr lang="en-US" dirty="0" err="1">
                <a:latin typeface="Calibri" panose="020F0502020204030204" pitchFamily="34" charset="0"/>
                <a:ea typeface="Calibri" panose="020F0502020204030204" pitchFamily="34" charset="0"/>
                <a:cs typeface="Calibri" panose="020F0502020204030204" pitchFamily="34" charset="0"/>
              </a:rPr>
              <a:t>Mengelompokkan</a:t>
            </a:r>
            <a:r>
              <a:rPr lang="en-US" dirty="0">
                <a:latin typeface="Calibri" panose="020F0502020204030204" pitchFamily="34" charset="0"/>
                <a:ea typeface="Calibri" panose="020F0502020204030204" pitchFamily="34" charset="0"/>
                <a:cs typeface="Calibri" panose="020F0502020204030204" pitchFamily="34" charset="0"/>
              </a:rPr>
              <a:t> data </a:t>
            </a:r>
            <a:r>
              <a:rPr lang="en-US" dirty="0" err="1">
                <a:latin typeface="Calibri" panose="020F0502020204030204" pitchFamily="34" charset="0"/>
                <a:ea typeface="Calibri" panose="020F0502020204030204" pitchFamily="34" charset="0"/>
                <a:cs typeface="Calibri" panose="020F0502020204030204" pitchFamily="34" charset="0"/>
              </a:rPr>
              <a:t>pelanggan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berdasarkan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kemiripan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pola</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tanpa</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adanya</a:t>
            </a:r>
            <a:r>
              <a:rPr lang="en-US" dirty="0">
                <a:latin typeface="Calibri" panose="020F0502020204030204" pitchFamily="34" charset="0"/>
                <a:ea typeface="Calibri" panose="020F0502020204030204" pitchFamily="34" charset="0"/>
                <a:cs typeface="Calibri" panose="020F0502020204030204" pitchFamily="34" charset="0"/>
              </a:rPr>
              <a:t> label target </a:t>
            </a:r>
            <a:r>
              <a:rPr lang="en-US" dirty="0" err="1">
                <a:latin typeface="Calibri" panose="020F0502020204030204" pitchFamily="34" charset="0"/>
                <a:ea typeface="Calibri" panose="020F0502020204030204" pitchFamily="34" charset="0"/>
                <a:cs typeface="Calibri" panose="020F0502020204030204" pitchFamily="34" charset="0"/>
              </a:rPr>
              <a:t>dinamakan</a:t>
            </a:r>
            <a:r>
              <a:rPr lang="en-US" dirty="0">
                <a:latin typeface="Calibri" panose="020F0502020204030204" pitchFamily="34" charset="0"/>
                <a:ea typeface="Calibri" panose="020F0502020204030204" pitchFamily="34" charset="0"/>
                <a:cs typeface="Calibri" panose="020F0502020204030204" pitchFamily="34" charset="0"/>
              </a:rPr>
              <a:t>...</a:t>
            </a:r>
          </a:p>
          <a:p>
            <a:pPr marL="514350" indent="-514350">
              <a:buFont typeface="+mj-lt"/>
              <a:buAutoNum type="arabicPeriod" startAt="11"/>
            </a:pPr>
            <a:r>
              <a:rPr lang="en-US" dirty="0" err="1">
                <a:latin typeface="Calibri" panose="020F0502020204030204" pitchFamily="34" charset="0"/>
                <a:ea typeface="Calibri" panose="020F0502020204030204" pitchFamily="34" charset="0"/>
                <a:cs typeface="Calibri" panose="020F0502020204030204" pitchFamily="34" charset="0"/>
              </a:rPr>
              <a:t>Kegiatan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mengintegrasikan</a:t>
            </a:r>
            <a:r>
              <a:rPr lang="en-US" dirty="0">
                <a:latin typeface="Calibri" panose="020F0502020204030204" pitchFamily="34" charset="0"/>
                <a:ea typeface="Calibri" panose="020F0502020204030204" pitchFamily="34" charset="0"/>
                <a:cs typeface="Calibri" panose="020F0502020204030204" pitchFamily="34" charset="0"/>
              </a:rPr>
              <a:t> model Machine Learning yang </a:t>
            </a:r>
            <a:r>
              <a:rPr lang="en-US" dirty="0" err="1">
                <a:latin typeface="Calibri" panose="020F0502020204030204" pitchFamily="34" charset="0"/>
                <a:ea typeface="Calibri" panose="020F0502020204030204" pitchFamily="34" charset="0"/>
                <a:cs typeface="Calibri" panose="020F0502020204030204" pitchFamily="34" charset="0"/>
              </a:rPr>
              <a:t>telah</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dilatih</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ke</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dalam</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aplikasi</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produksi</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atau</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sistem</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informasi</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berjalan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dilakukan</a:t>
            </a:r>
            <a:r>
              <a:rPr lang="en-US" dirty="0">
                <a:latin typeface="Calibri" panose="020F0502020204030204" pitchFamily="34" charset="0"/>
                <a:ea typeface="Calibri" panose="020F0502020204030204" pitchFamily="34" charset="0"/>
                <a:cs typeface="Calibri" panose="020F0502020204030204" pitchFamily="34" charset="0"/>
              </a:rPr>
              <a:t> pada </a:t>
            </a:r>
            <a:r>
              <a:rPr lang="en-US" dirty="0" err="1">
                <a:latin typeface="Calibri" panose="020F0502020204030204" pitchFamily="34" charset="0"/>
                <a:ea typeface="Calibri" panose="020F0502020204030204" pitchFamily="34" charset="0"/>
                <a:cs typeface="Calibri" panose="020F0502020204030204" pitchFamily="34" charset="0"/>
              </a:rPr>
              <a:t>tahap</a:t>
            </a:r>
            <a:r>
              <a:rPr lang="en-US" dirty="0">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372951839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D3881-F1FF-CA8C-DD32-1F9793F5FB37}"/>
              </a:ext>
            </a:extLst>
          </p:cNvPr>
          <p:cNvSpPr>
            <a:spLocks noGrp="1"/>
          </p:cNvSpPr>
          <p:nvPr>
            <p:ph type="title"/>
          </p:nvPr>
        </p:nvSpPr>
        <p:spPr/>
        <p:txBody>
          <a:bodyPr/>
          <a:lstStyle/>
          <a:p>
            <a:r>
              <a:rPr lang="en-US" dirty="0"/>
              <a:t>Next section</a:t>
            </a:r>
          </a:p>
        </p:txBody>
      </p:sp>
      <p:sp>
        <p:nvSpPr>
          <p:cNvPr id="3" name="Content Placeholder 2">
            <a:extLst>
              <a:ext uri="{FF2B5EF4-FFF2-40B4-BE49-F238E27FC236}">
                <a16:creationId xmlns:a16="http://schemas.microsoft.com/office/drawing/2014/main" id="{2AA39ABE-11A2-54AA-D80A-65BEEE0E1355}"/>
              </a:ext>
            </a:extLst>
          </p:cNvPr>
          <p:cNvSpPr>
            <a:spLocks noGrp="1"/>
          </p:cNvSpPr>
          <p:nvPr>
            <p:ph idx="1"/>
          </p:nvPr>
        </p:nvSpPr>
        <p:spPr/>
        <p:txBody>
          <a:bodyPr>
            <a:normAutofit fontScale="92500"/>
          </a:bodyPr>
          <a:lstStyle/>
          <a:p>
            <a:pPr marL="514350" indent="-514350">
              <a:buFont typeface="+mj-lt"/>
              <a:buAutoNum type="arabicPeriod" startAt="16"/>
            </a:pPr>
            <a:r>
              <a:rPr lang="en-US" dirty="0">
                <a:latin typeface="Calibri" panose="020F0502020204030204" pitchFamily="34" charset="0"/>
                <a:ea typeface="Calibri" panose="020F0502020204030204" pitchFamily="34" charset="0"/>
                <a:cs typeface="Calibri" panose="020F0502020204030204" pitchFamily="34" charset="0"/>
              </a:rPr>
              <a:t>Tujuan </a:t>
            </a:r>
            <a:r>
              <a:rPr lang="en-US" dirty="0" err="1">
                <a:latin typeface="Calibri" panose="020F0502020204030204" pitchFamily="34" charset="0"/>
                <a:ea typeface="Calibri" panose="020F0502020204030204" pitchFamily="34" charset="0"/>
                <a:cs typeface="Calibri" panose="020F0502020204030204" pitchFamily="34" charset="0"/>
              </a:rPr>
              <a:t>utama</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dari</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dilakukannya</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tahap</a:t>
            </a:r>
            <a:r>
              <a:rPr lang="en-US" dirty="0">
                <a:latin typeface="Calibri" panose="020F0502020204030204" pitchFamily="34" charset="0"/>
                <a:ea typeface="Calibri" panose="020F0502020204030204" pitchFamily="34" charset="0"/>
                <a:cs typeface="Calibri" panose="020F0502020204030204" pitchFamily="34" charset="0"/>
              </a:rPr>
              <a:t> Data Understanding </a:t>
            </a:r>
            <a:r>
              <a:rPr lang="en-US" dirty="0" err="1">
                <a:latin typeface="Calibri" panose="020F0502020204030204" pitchFamily="34" charset="0"/>
                <a:ea typeface="Calibri" panose="020F0502020204030204" pitchFamily="34" charset="0"/>
                <a:cs typeface="Calibri" panose="020F0502020204030204" pitchFamily="34" charset="0"/>
              </a:rPr>
              <a:t>setelah</a:t>
            </a:r>
            <a:r>
              <a:rPr lang="en-US" dirty="0">
                <a:latin typeface="Calibri" panose="020F0502020204030204" pitchFamily="34" charset="0"/>
                <a:ea typeface="Calibri" panose="020F0502020204030204" pitchFamily="34" charset="0"/>
                <a:cs typeface="Calibri" panose="020F0502020204030204" pitchFamily="34" charset="0"/>
              </a:rPr>
              <a:t> Business Understanding </a:t>
            </a:r>
            <a:r>
              <a:rPr lang="en-US" dirty="0" err="1">
                <a:latin typeface="Calibri" panose="020F0502020204030204" pitchFamily="34" charset="0"/>
                <a:ea typeface="Calibri" panose="020F0502020204030204" pitchFamily="34" charset="0"/>
                <a:cs typeface="Calibri" panose="020F0502020204030204" pitchFamily="34" charset="0"/>
              </a:rPr>
              <a:t>adalah</a:t>
            </a:r>
            <a:r>
              <a:rPr lang="en-US" dirty="0">
                <a:latin typeface="Calibri" panose="020F0502020204030204" pitchFamily="34" charset="0"/>
                <a:ea typeface="Calibri" panose="020F0502020204030204" pitchFamily="34" charset="0"/>
                <a:cs typeface="Calibri" panose="020F0502020204030204" pitchFamily="34" charset="0"/>
              </a:rPr>
              <a:t>...</a:t>
            </a:r>
          </a:p>
          <a:p>
            <a:pPr marL="514350" indent="-514350">
              <a:buFont typeface="+mj-lt"/>
              <a:buAutoNum type="arabicPeriod" startAt="16"/>
            </a:pPr>
            <a:r>
              <a:rPr lang="en-US" dirty="0" err="1">
                <a:latin typeface="Calibri" panose="020F0502020204030204" pitchFamily="34" charset="0"/>
                <a:ea typeface="Calibri" panose="020F0502020204030204" pitchFamily="34" charset="0"/>
                <a:cs typeface="Calibri" panose="020F0502020204030204" pitchFamily="34" charset="0"/>
              </a:rPr>
              <a:t>Dokumen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luaran</a:t>
            </a:r>
            <a:r>
              <a:rPr lang="en-US" dirty="0">
                <a:latin typeface="Calibri" panose="020F0502020204030204" pitchFamily="34" charset="0"/>
                <a:ea typeface="Calibri" panose="020F0502020204030204" pitchFamily="34" charset="0"/>
                <a:cs typeface="Calibri" panose="020F0502020204030204" pitchFamily="34" charset="0"/>
              </a:rPr>
              <a:t> Data Understanding yang </a:t>
            </a:r>
            <a:r>
              <a:rPr lang="en-US" dirty="0" err="1">
                <a:latin typeface="Calibri" panose="020F0502020204030204" pitchFamily="34" charset="0"/>
                <a:ea typeface="Calibri" panose="020F0502020204030204" pitchFamily="34" charset="0"/>
                <a:cs typeface="Calibri" panose="020F0502020204030204" pitchFamily="34" charset="0"/>
              </a:rPr>
              <a:t>melaporkan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masalah</a:t>
            </a:r>
            <a:r>
              <a:rPr lang="en-US" dirty="0">
                <a:latin typeface="Calibri" panose="020F0502020204030204" pitchFamily="34" charset="0"/>
                <a:ea typeface="Calibri" panose="020F0502020204030204" pitchFamily="34" charset="0"/>
                <a:cs typeface="Calibri" panose="020F0502020204030204" pitchFamily="34" charset="0"/>
              </a:rPr>
              <a:t> missing data, </a:t>
            </a:r>
            <a:r>
              <a:rPr lang="en-US" dirty="0" err="1">
                <a:latin typeface="Calibri" panose="020F0502020204030204" pitchFamily="34" charset="0"/>
                <a:ea typeface="Calibri" panose="020F0502020204030204" pitchFamily="34" charset="0"/>
                <a:cs typeface="Calibri" panose="020F0502020204030204" pitchFamily="34" charset="0"/>
              </a:rPr>
              <a:t>kesalahan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ejaan</a:t>
            </a:r>
            <a:r>
              <a:rPr lang="en-US" dirty="0">
                <a:latin typeface="Calibri" panose="020F0502020204030204" pitchFamily="34" charset="0"/>
                <a:ea typeface="Calibri" panose="020F0502020204030204" pitchFamily="34" charset="0"/>
                <a:cs typeface="Calibri" panose="020F0502020204030204" pitchFamily="34" charset="0"/>
              </a:rPr>
              <a:t>, dan </a:t>
            </a:r>
            <a:r>
              <a:rPr lang="en-US" dirty="0" err="1">
                <a:latin typeface="Calibri" panose="020F0502020204030204" pitchFamily="34" charset="0"/>
                <a:ea typeface="Calibri" panose="020F0502020204030204" pitchFamily="34" charset="0"/>
                <a:cs typeface="Calibri" panose="020F0502020204030204" pitchFamily="34" charset="0"/>
              </a:rPr>
              <a:t>nilai</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tidak</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wajar</a:t>
            </a:r>
            <a:r>
              <a:rPr lang="en-US" dirty="0">
                <a:latin typeface="Calibri" panose="020F0502020204030204" pitchFamily="34" charset="0"/>
                <a:ea typeface="Calibri" panose="020F0502020204030204" pitchFamily="34" charset="0"/>
                <a:cs typeface="Calibri" panose="020F0502020204030204" pitchFamily="34" charset="0"/>
              </a:rPr>
              <a:t> (outlier) </a:t>
            </a:r>
            <a:r>
              <a:rPr lang="en-US" dirty="0" err="1">
                <a:latin typeface="Calibri" panose="020F0502020204030204" pitchFamily="34" charset="0"/>
                <a:ea typeface="Calibri" panose="020F0502020204030204" pitchFamily="34" charset="0"/>
                <a:cs typeface="Calibri" panose="020F0502020204030204" pitchFamily="34" charset="0"/>
              </a:rPr>
              <a:t>adalah</a:t>
            </a:r>
            <a:r>
              <a:rPr lang="en-US" dirty="0">
                <a:latin typeface="Calibri" panose="020F0502020204030204" pitchFamily="34" charset="0"/>
                <a:ea typeface="Calibri" panose="020F0502020204030204" pitchFamily="34" charset="0"/>
                <a:cs typeface="Calibri" panose="020F0502020204030204" pitchFamily="34" charset="0"/>
              </a:rPr>
              <a:t>...</a:t>
            </a:r>
          </a:p>
          <a:p>
            <a:pPr marL="514350" indent="-514350">
              <a:buFont typeface="+mj-lt"/>
              <a:buAutoNum type="arabicPeriod" startAt="16"/>
            </a:pPr>
            <a:r>
              <a:rPr lang="nn-NO" dirty="0">
                <a:latin typeface="Calibri" panose="020F0502020204030204" pitchFamily="34" charset="0"/>
                <a:ea typeface="Calibri" panose="020F0502020204030204" pitchFamily="34" charset="0"/>
                <a:cs typeface="Calibri" panose="020F0502020204030204" pitchFamily="34" charset="0"/>
              </a:rPr>
              <a:t>Unit data terkecil yang merepresentasikan satu nilai tunggal dari satu variabel tertentu disebut...</a:t>
            </a:r>
          </a:p>
          <a:p>
            <a:pPr marL="514350" indent="-514350">
              <a:buFont typeface="+mj-lt"/>
              <a:buAutoNum type="arabicPeriod" startAt="16"/>
            </a:pPr>
            <a:r>
              <a:rPr lang="en-US" dirty="0" err="1">
                <a:latin typeface="Calibri" panose="020F0502020204030204" pitchFamily="34" charset="0"/>
                <a:ea typeface="Calibri" panose="020F0502020204030204" pitchFamily="34" charset="0"/>
                <a:cs typeface="Calibri" panose="020F0502020204030204" pitchFamily="34" charset="0"/>
              </a:rPr>
              <a:t>Dokumen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teks</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bebas</a:t>
            </a:r>
            <a:r>
              <a:rPr lang="en-US" dirty="0">
                <a:latin typeface="Calibri" panose="020F0502020204030204" pitchFamily="34" charset="0"/>
                <a:ea typeface="Calibri" panose="020F0502020204030204" pitchFamily="34" charset="0"/>
                <a:cs typeface="Calibri" panose="020F0502020204030204" pitchFamily="34" charset="0"/>
              </a:rPr>
              <a:t>, file </a:t>
            </a:r>
            <a:r>
              <a:rPr lang="en-US" dirty="0" err="1">
                <a:latin typeface="Calibri" panose="020F0502020204030204" pitchFamily="34" charset="0"/>
                <a:ea typeface="Calibri" panose="020F0502020204030204" pitchFamily="34" charset="0"/>
                <a:cs typeface="Calibri" panose="020F0502020204030204" pitchFamily="34" charset="0"/>
              </a:rPr>
              <a:t>rekaman</a:t>
            </a:r>
            <a:r>
              <a:rPr lang="en-US" dirty="0">
                <a:latin typeface="Calibri" panose="020F0502020204030204" pitchFamily="34" charset="0"/>
                <a:ea typeface="Calibri" panose="020F0502020204030204" pitchFamily="34" charset="0"/>
                <a:cs typeface="Calibri" panose="020F0502020204030204" pitchFamily="34" charset="0"/>
              </a:rPr>
              <a:t> audio, dan </a:t>
            </a:r>
            <a:r>
              <a:rPr lang="en-US" dirty="0" err="1">
                <a:latin typeface="Calibri" panose="020F0502020204030204" pitchFamily="34" charset="0"/>
                <a:ea typeface="Calibri" panose="020F0502020204030204" pitchFamily="34" charset="0"/>
                <a:cs typeface="Calibri" panose="020F0502020204030204" pitchFamily="34" charset="0"/>
              </a:rPr>
              <a:t>rekaman</a:t>
            </a:r>
            <a:r>
              <a:rPr lang="en-US" dirty="0">
                <a:latin typeface="Calibri" panose="020F0502020204030204" pitchFamily="34" charset="0"/>
                <a:ea typeface="Calibri" panose="020F0502020204030204" pitchFamily="34" charset="0"/>
                <a:cs typeface="Calibri" panose="020F0502020204030204" pitchFamily="34" charset="0"/>
              </a:rPr>
              <a:t> video </a:t>
            </a:r>
            <a:r>
              <a:rPr lang="en-US" dirty="0" err="1">
                <a:latin typeface="Calibri" panose="020F0502020204030204" pitchFamily="34" charset="0"/>
                <a:ea typeface="Calibri" panose="020F0502020204030204" pitchFamily="34" charset="0"/>
                <a:cs typeface="Calibri" panose="020F0502020204030204" pitchFamily="34" charset="0"/>
              </a:rPr>
              <a:t>dikategorikan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sebagai</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jenis</a:t>
            </a:r>
            <a:r>
              <a:rPr lang="en-US" dirty="0">
                <a:latin typeface="Calibri" panose="020F0502020204030204" pitchFamily="34" charset="0"/>
                <a:ea typeface="Calibri" panose="020F0502020204030204" pitchFamily="34" charset="0"/>
                <a:cs typeface="Calibri" panose="020F0502020204030204" pitchFamily="34" charset="0"/>
              </a:rPr>
              <a:t> data...</a:t>
            </a:r>
          </a:p>
          <a:p>
            <a:pPr marL="514350" indent="-514350">
              <a:buFont typeface="+mj-lt"/>
              <a:buAutoNum type="arabicPeriod" startAt="16"/>
            </a:pPr>
            <a:r>
              <a:rPr lang="en-US" dirty="0">
                <a:latin typeface="Calibri" panose="020F0502020204030204" pitchFamily="34" charset="0"/>
                <a:ea typeface="Calibri" panose="020F0502020204030204" pitchFamily="34" charset="0"/>
                <a:cs typeface="Calibri" panose="020F0502020204030204" pitchFamily="34" charset="0"/>
              </a:rPr>
              <a:t>Email </a:t>
            </a:r>
            <a:r>
              <a:rPr lang="en-US" dirty="0" err="1">
                <a:latin typeface="Calibri" panose="020F0502020204030204" pitchFamily="34" charset="0"/>
                <a:ea typeface="Calibri" panose="020F0502020204030204" pitchFamily="34" charset="0"/>
                <a:cs typeface="Calibri" panose="020F0502020204030204" pitchFamily="34" charset="0"/>
              </a:rPr>
              <a:t>memuat</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struktur</a:t>
            </a:r>
            <a:r>
              <a:rPr lang="en-US" dirty="0">
                <a:latin typeface="Calibri" panose="020F0502020204030204" pitchFamily="34" charset="0"/>
                <a:ea typeface="Calibri" panose="020F0502020204030204" pitchFamily="34" charset="0"/>
                <a:cs typeface="Calibri" panose="020F0502020204030204" pitchFamily="34" charset="0"/>
              </a:rPr>
              <a:t> header </a:t>
            </a:r>
            <a:r>
              <a:rPr lang="en-US" dirty="0" err="1">
                <a:latin typeface="Calibri" panose="020F0502020204030204" pitchFamily="34" charset="0"/>
                <a:ea typeface="Calibri" panose="020F0502020204030204" pitchFamily="34" charset="0"/>
                <a:cs typeface="Calibri" panose="020F0502020204030204" pitchFamily="34" charset="0"/>
              </a:rPr>
              <a:t>teratur</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pengirim</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tanggal</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namun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isi</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pesannya</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berupa</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teks</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bebas</a:t>
            </a:r>
            <a:r>
              <a:rPr lang="en-US" dirty="0">
                <a:latin typeface="Calibri" panose="020F0502020204030204" pitchFamily="34" charset="0"/>
                <a:ea typeface="Calibri" panose="020F0502020204030204" pitchFamily="34" charset="0"/>
                <a:cs typeface="Calibri" panose="020F0502020204030204" pitchFamily="34" charset="0"/>
              </a:rPr>
              <a:t>. Email </a:t>
            </a:r>
            <a:r>
              <a:rPr lang="en-US" dirty="0" err="1">
                <a:latin typeface="Calibri" panose="020F0502020204030204" pitchFamily="34" charset="0"/>
                <a:ea typeface="Calibri" panose="020F0502020204030204" pitchFamily="34" charset="0"/>
                <a:cs typeface="Calibri" panose="020F0502020204030204" pitchFamily="34" charset="0"/>
              </a:rPr>
              <a:t>tergolong</a:t>
            </a:r>
            <a:r>
              <a:rPr lang="en-US" dirty="0">
                <a:latin typeface="Calibri" panose="020F0502020204030204" pitchFamily="34" charset="0"/>
                <a:ea typeface="Calibri" panose="020F0502020204030204" pitchFamily="34" charset="0"/>
                <a:cs typeface="Calibri" panose="020F0502020204030204" pitchFamily="34" charset="0"/>
              </a:rPr>
              <a:t> data...</a:t>
            </a:r>
          </a:p>
        </p:txBody>
      </p:sp>
    </p:spTree>
    <p:extLst>
      <p:ext uri="{BB962C8B-B14F-4D97-AF65-F5344CB8AC3E}">
        <p14:creationId xmlns:p14="http://schemas.microsoft.com/office/powerpoint/2010/main" val="156687274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DF47F-B369-BE6F-A6AF-7589C09EAA0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9E39D94-C7A2-1562-F7F8-2859CAFABE86}"/>
              </a:ext>
            </a:extLst>
          </p:cNvPr>
          <p:cNvSpPr>
            <a:spLocks noGrp="1"/>
          </p:cNvSpPr>
          <p:nvPr>
            <p:ph idx="1"/>
          </p:nvPr>
        </p:nvSpPr>
        <p:spPr/>
        <p:txBody>
          <a:bodyPr/>
          <a:lstStyle/>
          <a:p>
            <a:pPr marL="514350" indent="-514350">
              <a:buFont typeface="+mj-lt"/>
              <a:buAutoNum type="arabicPeriod" startAt="21"/>
            </a:pPr>
            <a:r>
              <a:rPr lang="en-US" dirty="0">
                <a:latin typeface="Calibri" panose="020F0502020204030204" pitchFamily="34" charset="0"/>
                <a:ea typeface="Calibri" panose="020F0502020204030204" pitchFamily="34" charset="0"/>
                <a:cs typeface="Calibri" panose="020F0502020204030204" pitchFamily="34" charset="0"/>
              </a:rPr>
              <a:t>Jenis data </a:t>
            </a:r>
            <a:r>
              <a:rPr lang="en-US" dirty="0" err="1">
                <a:latin typeface="Calibri" panose="020F0502020204030204" pitchFamily="34" charset="0"/>
                <a:ea typeface="Calibri" panose="020F0502020204030204" pitchFamily="34" charset="0"/>
                <a:cs typeface="Calibri" panose="020F0502020204030204" pitchFamily="34" charset="0"/>
              </a:rPr>
              <a:t>kategorikal</a:t>
            </a:r>
            <a:r>
              <a:rPr lang="en-US" dirty="0">
                <a:latin typeface="Calibri" panose="020F0502020204030204" pitchFamily="34" charset="0"/>
                <a:ea typeface="Calibri" panose="020F0502020204030204" pitchFamily="34" charset="0"/>
                <a:cs typeface="Calibri" panose="020F0502020204030204" pitchFamily="34" charset="0"/>
              </a:rPr>
              <a:t> yang </a:t>
            </a:r>
            <a:r>
              <a:rPr lang="en-US" dirty="0" err="1">
                <a:latin typeface="Calibri" panose="020F0502020204030204" pitchFamily="34" charset="0"/>
                <a:ea typeface="Calibri" panose="020F0502020204030204" pitchFamily="34" charset="0"/>
                <a:cs typeface="Calibri" panose="020F0502020204030204" pitchFamily="34" charset="0"/>
              </a:rPr>
              <a:t>tepat</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hanya</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memiliki</a:t>
            </a:r>
            <a:r>
              <a:rPr lang="en-US" dirty="0">
                <a:latin typeface="Calibri" panose="020F0502020204030204" pitchFamily="34" charset="0"/>
                <a:ea typeface="Calibri" panose="020F0502020204030204" pitchFamily="34" charset="0"/>
                <a:cs typeface="Calibri" panose="020F0502020204030204" pitchFamily="34" charset="0"/>
              </a:rPr>
              <a:t> dua </a:t>
            </a:r>
            <a:r>
              <a:rPr lang="en-US" dirty="0" err="1">
                <a:latin typeface="Calibri" panose="020F0502020204030204" pitchFamily="34" charset="0"/>
                <a:ea typeface="Calibri" panose="020F0502020204030204" pitchFamily="34" charset="0"/>
                <a:cs typeface="Calibri" panose="020F0502020204030204" pitchFamily="34" charset="0"/>
              </a:rPr>
              <a:t>pilihan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kategori</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diskrit</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seperti</a:t>
            </a:r>
            <a:r>
              <a:rPr lang="en-US" dirty="0">
                <a:latin typeface="Calibri" panose="020F0502020204030204" pitchFamily="34" charset="0"/>
                <a:ea typeface="Calibri" panose="020F0502020204030204" pitchFamily="34" charset="0"/>
                <a:cs typeface="Calibri" panose="020F0502020204030204" pitchFamily="34" charset="0"/>
              </a:rPr>
              <a:t> Ya/Tidak </a:t>
            </a:r>
            <a:r>
              <a:rPr lang="en-US" dirty="0" err="1">
                <a:latin typeface="Calibri" panose="020F0502020204030204" pitchFamily="34" charset="0"/>
                <a:ea typeface="Calibri" panose="020F0502020204030204" pitchFamily="34" charset="0"/>
                <a:cs typeface="Calibri" panose="020F0502020204030204" pitchFamily="34" charset="0"/>
              </a:rPr>
              <a:t>atau</a:t>
            </a:r>
            <a:r>
              <a:rPr lang="en-US" dirty="0">
                <a:latin typeface="Calibri" panose="020F0502020204030204" pitchFamily="34" charset="0"/>
                <a:ea typeface="Calibri" panose="020F0502020204030204" pitchFamily="34" charset="0"/>
                <a:cs typeface="Calibri" panose="020F0502020204030204" pitchFamily="34" charset="0"/>
              </a:rPr>
              <a:t> Lulus/</a:t>
            </a:r>
            <a:r>
              <a:rPr lang="en-US" dirty="0" err="1">
                <a:latin typeface="Calibri" panose="020F0502020204030204" pitchFamily="34" charset="0"/>
                <a:ea typeface="Calibri" panose="020F0502020204030204" pitchFamily="34" charset="0"/>
                <a:cs typeface="Calibri" panose="020F0502020204030204" pitchFamily="34" charset="0"/>
              </a:rPr>
              <a:t>Gagal</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disebut</a:t>
            </a:r>
            <a:r>
              <a:rPr lang="en-US" dirty="0">
                <a:latin typeface="Calibri" panose="020F0502020204030204" pitchFamily="34" charset="0"/>
                <a:ea typeface="Calibri" panose="020F0502020204030204" pitchFamily="34" charset="0"/>
                <a:cs typeface="Calibri" panose="020F0502020204030204" pitchFamily="34" charset="0"/>
              </a:rPr>
              <a:t>...</a:t>
            </a:r>
          </a:p>
          <a:p>
            <a:pPr marL="514350" indent="-514350">
              <a:buFont typeface="+mj-lt"/>
              <a:buAutoNum type="arabicPeriod" startAt="21"/>
            </a:pPr>
            <a:r>
              <a:rPr lang="en-US" dirty="0">
                <a:latin typeface="Calibri" panose="020F0502020204030204" pitchFamily="34" charset="0"/>
                <a:ea typeface="Calibri" panose="020F0502020204030204" pitchFamily="34" charset="0"/>
                <a:cs typeface="Calibri" panose="020F0502020204030204" pitchFamily="34" charset="0"/>
              </a:rPr>
              <a:t>Data </a:t>
            </a:r>
            <a:r>
              <a:rPr lang="en-US" dirty="0" err="1">
                <a:latin typeface="Calibri" panose="020F0502020204030204" pitchFamily="34" charset="0"/>
                <a:ea typeface="Calibri" panose="020F0502020204030204" pitchFamily="34" charset="0"/>
                <a:cs typeface="Calibri" panose="020F0502020204030204" pitchFamily="34" charset="0"/>
              </a:rPr>
              <a:t>nilai</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tukar</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mata</a:t>
            </a:r>
            <a:r>
              <a:rPr lang="en-US" dirty="0">
                <a:latin typeface="Calibri" panose="020F0502020204030204" pitchFamily="34" charset="0"/>
                <a:ea typeface="Calibri" panose="020F0502020204030204" pitchFamily="34" charset="0"/>
                <a:cs typeface="Calibri" panose="020F0502020204030204" pitchFamily="34" charset="0"/>
              </a:rPr>
              <a:t> uang IDR/USD yang </a:t>
            </a:r>
            <a:r>
              <a:rPr lang="en-US" dirty="0" err="1">
                <a:latin typeface="Calibri" panose="020F0502020204030204" pitchFamily="34" charset="0"/>
                <a:ea typeface="Calibri" panose="020F0502020204030204" pitchFamily="34" charset="0"/>
                <a:cs typeface="Calibri" panose="020F0502020204030204" pitchFamily="34" charset="0"/>
              </a:rPr>
              <a:t>dicatat</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harian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dari</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tahun</a:t>
            </a:r>
            <a:r>
              <a:rPr lang="en-US" dirty="0">
                <a:latin typeface="Calibri" panose="020F0502020204030204" pitchFamily="34" charset="0"/>
                <a:ea typeface="Calibri" panose="020F0502020204030204" pitchFamily="34" charset="0"/>
                <a:cs typeface="Calibri" panose="020F0502020204030204" pitchFamily="34" charset="0"/>
              </a:rPr>
              <a:t> 2016 </a:t>
            </a:r>
            <a:r>
              <a:rPr lang="en-US" dirty="0" err="1">
                <a:latin typeface="Calibri" panose="020F0502020204030204" pitchFamily="34" charset="0"/>
                <a:ea typeface="Calibri" panose="020F0502020204030204" pitchFamily="34" charset="0"/>
                <a:cs typeface="Calibri" panose="020F0502020204030204" pitchFamily="34" charset="0"/>
              </a:rPr>
              <a:t>hingga</a:t>
            </a:r>
            <a:r>
              <a:rPr lang="en-US" dirty="0">
                <a:latin typeface="Calibri" panose="020F0502020204030204" pitchFamily="34" charset="0"/>
                <a:ea typeface="Calibri" panose="020F0502020204030204" pitchFamily="34" charset="0"/>
                <a:cs typeface="Calibri" panose="020F0502020204030204" pitchFamily="34" charset="0"/>
              </a:rPr>
              <a:t> 2020 </a:t>
            </a:r>
            <a:r>
              <a:rPr lang="en-US" dirty="0" err="1">
                <a:latin typeface="Calibri" panose="020F0502020204030204" pitchFamily="34" charset="0"/>
                <a:ea typeface="Calibri" panose="020F0502020204030204" pitchFamily="34" charset="0"/>
                <a:cs typeface="Calibri" panose="020F0502020204030204" pitchFamily="34" charset="0"/>
              </a:rPr>
              <a:t>dinamakan</a:t>
            </a:r>
            <a:r>
              <a:rPr lang="en-US" dirty="0">
                <a:latin typeface="Calibri" panose="020F0502020204030204" pitchFamily="34" charset="0"/>
                <a:ea typeface="Calibri" panose="020F0502020204030204" pitchFamily="34" charset="0"/>
                <a:cs typeface="Calibri" panose="020F0502020204030204" pitchFamily="34" charset="0"/>
              </a:rPr>
              <a:t>...</a:t>
            </a:r>
          </a:p>
          <a:p>
            <a:pPr marL="514350" indent="-514350">
              <a:buFont typeface="+mj-lt"/>
              <a:buAutoNum type="arabicPeriod" startAt="21"/>
            </a:pPr>
            <a:r>
              <a:rPr lang="en-US" dirty="0">
                <a:latin typeface="Calibri" panose="020F0502020204030204" pitchFamily="34" charset="0"/>
                <a:ea typeface="Calibri" panose="020F0502020204030204" pitchFamily="34" charset="0"/>
                <a:cs typeface="Calibri" panose="020F0502020204030204" pitchFamily="34" charset="0"/>
              </a:rPr>
              <a:t>Model data yang </a:t>
            </a:r>
            <a:r>
              <a:rPr lang="en-US" dirty="0" err="1">
                <a:latin typeface="Calibri" panose="020F0502020204030204" pitchFamily="34" charset="0"/>
                <a:ea typeface="Calibri" panose="020F0502020204030204" pitchFamily="34" charset="0"/>
                <a:cs typeface="Calibri" panose="020F0502020204030204" pitchFamily="34" charset="0"/>
              </a:rPr>
              <a:t>merepresentasikan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objek</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sebagai</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titik</a:t>
            </a:r>
            <a:r>
              <a:rPr lang="en-US" dirty="0">
                <a:latin typeface="Calibri" panose="020F0502020204030204" pitchFamily="34" charset="0"/>
                <a:ea typeface="Calibri" panose="020F0502020204030204" pitchFamily="34" charset="0"/>
                <a:cs typeface="Calibri" panose="020F0502020204030204" pitchFamily="34" charset="0"/>
              </a:rPr>
              <a:t> (node) dan </a:t>
            </a:r>
            <a:r>
              <a:rPr lang="en-US" dirty="0" err="1">
                <a:latin typeface="Calibri" panose="020F0502020204030204" pitchFamily="34" charset="0"/>
                <a:ea typeface="Calibri" panose="020F0502020204030204" pitchFamily="34" charset="0"/>
                <a:cs typeface="Calibri" panose="020F0502020204030204" pitchFamily="34" charset="0"/>
              </a:rPr>
              <a:t>hubungan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antar</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entitas</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sebagai</a:t>
            </a:r>
            <a:r>
              <a:rPr lang="en-US" dirty="0">
                <a:latin typeface="Calibri" panose="020F0502020204030204" pitchFamily="34" charset="0"/>
                <a:ea typeface="Calibri" panose="020F0502020204030204" pitchFamily="34" charset="0"/>
                <a:cs typeface="Calibri" panose="020F0502020204030204" pitchFamily="34" charset="0"/>
              </a:rPr>
              <a:t> garis (edge) </a:t>
            </a:r>
            <a:r>
              <a:rPr lang="en-US" dirty="0" err="1">
                <a:latin typeface="Calibri" panose="020F0502020204030204" pitchFamily="34" charset="0"/>
                <a:ea typeface="Calibri" panose="020F0502020204030204" pitchFamily="34" charset="0"/>
                <a:cs typeface="Calibri" panose="020F0502020204030204" pitchFamily="34" charset="0"/>
              </a:rPr>
              <a:t>dinamakan</a:t>
            </a:r>
            <a:r>
              <a:rPr lang="en-US" dirty="0">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143587954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D6BB2-CE4C-F6D4-4BAA-CD9A3F5B2316}"/>
              </a:ext>
            </a:extLst>
          </p:cNvPr>
          <p:cNvSpPr>
            <a:spLocks noGrp="1"/>
          </p:cNvSpPr>
          <p:nvPr>
            <p:ph type="title"/>
          </p:nvPr>
        </p:nvSpPr>
        <p:spPr/>
        <p:txBody>
          <a:bodyPr/>
          <a:lstStyle/>
          <a:p>
            <a:r>
              <a:rPr lang="en-US" dirty="0"/>
              <a:t>Next section</a:t>
            </a:r>
          </a:p>
        </p:txBody>
      </p:sp>
      <p:sp>
        <p:nvSpPr>
          <p:cNvPr id="3" name="Content Placeholder 2">
            <a:extLst>
              <a:ext uri="{FF2B5EF4-FFF2-40B4-BE49-F238E27FC236}">
                <a16:creationId xmlns:a16="http://schemas.microsoft.com/office/drawing/2014/main" id="{DF745816-2459-9344-1B58-6EBCA269055B}"/>
              </a:ext>
            </a:extLst>
          </p:cNvPr>
          <p:cNvSpPr>
            <a:spLocks noGrp="1"/>
          </p:cNvSpPr>
          <p:nvPr>
            <p:ph idx="1"/>
          </p:nvPr>
        </p:nvSpPr>
        <p:spPr/>
        <p:txBody>
          <a:bodyPr>
            <a:normAutofit fontScale="92500"/>
          </a:bodyPr>
          <a:lstStyle/>
          <a:p>
            <a:pPr marL="514350" indent="-514350">
              <a:buFont typeface="+mj-lt"/>
              <a:buAutoNum type="arabicPeriod" startAt="24"/>
            </a:pPr>
            <a:r>
              <a:rPr lang="nn-NO" dirty="0">
                <a:latin typeface="Calibri" panose="020F0502020204030204" pitchFamily="34" charset="0"/>
                <a:ea typeface="Calibri" panose="020F0502020204030204" pitchFamily="34" charset="0"/>
                <a:cs typeface="Calibri" panose="020F0502020204030204" pitchFamily="34" charset="0"/>
              </a:rPr>
              <a:t>Jenis diagram visualisasi yang cocok digunakan untuk menunjukkan persentase proporsi kategori terhadap keseluruhan data adalah...</a:t>
            </a:r>
          </a:p>
          <a:p>
            <a:pPr marL="514350" indent="-514350">
              <a:buFont typeface="+mj-lt"/>
              <a:buAutoNum type="arabicPeriod" startAt="24"/>
            </a:pPr>
            <a:r>
              <a:rPr lang="en-US" dirty="0" err="1">
                <a:latin typeface="Calibri" panose="020F0502020204030204" pitchFamily="34" charset="0"/>
                <a:ea typeface="Calibri" panose="020F0502020204030204" pitchFamily="34" charset="0"/>
                <a:cs typeface="Calibri" panose="020F0502020204030204" pitchFamily="34" charset="0"/>
              </a:rPr>
              <a:t>Visualisasi</a:t>
            </a:r>
            <a:r>
              <a:rPr lang="en-US" dirty="0">
                <a:latin typeface="Calibri" panose="020F0502020204030204" pitchFamily="34" charset="0"/>
                <a:ea typeface="Calibri" panose="020F0502020204030204" pitchFamily="34" charset="0"/>
                <a:cs typeface="Calibri" panose="020F0502020204030204" pitchFamily="34" charset="0"/>
              </a:rPr>
              <a:t> yang paling ideal </a:t>
            </a:r>
            <a:r>
              <a:rPr lang="en-US" dirty="0" err="1">
                <a:latin typeface="Calibri" panose="020F0502020204030204" pitchFamily="34" charset="0"/>
                <a:ea typeface="Calibri" panose="020F0502020204030204" pitchFamily="34" charset="0"/>
                <a:cs typeface="Calibri" panose="020F0502020204030204" pitchFamily="34" charset="0"/>
              </a:rPr>
              <a:t>untuk</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melihat</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tren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perkembangan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atau</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perubahan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nilai</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berkelanjutan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dari</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waktu</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ke</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waktu</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adalah</a:t>
            </a:r>
            <a:r>
              <a:rPr lang="en-US" dirty="0">
                <a:latin typeface="Calibri" panose="020F0502020204030204" pitchFamily="34" charset="0"/>
                <a:ea typeface="Calibri" panose="020F0502020204030204" pitchFamily="34" charset="0"/>
                <a:cs typeface="Calibri" panose="020F0502020204030204" pitchFamily="34" charset="0"/>
              </a:rPr>
              <a:t>...</a:t>
            </a:r>
          </a:p>
          <a:p>
            <a:pPr marL="514350" indent="-514350">
              <a:buFont typeface="+mj-lt"/>
              <a:buAutoNum type="arabicPeriod" startAt="24"/>
            </a:pPr>
            <a:r>
              <a:rPr lang="en-US" dirty="0">
                <a:latin typeface="Calibri" panose="020F0502020204030204" pitchFamily="34" charset="0"/>
                <a:ea typeface="Calibri" panose="020F0502020204030204" pitchFamily="34" charset="0"/>
                <a:cs typeface="Calibri" panose="020F0502020204030204" pitchFamily="34" charset="0"/>
              </a:rPr>
              <a:t>Plot </a:t>
            </a:r>
            <a:r>
              <a:rPr lang="en-US" dirty="0" err="1">
                <a:latin typeface="Calibri" panose="020F0502020204030204" pitchFamily="34" charset="0"/>
                <a:ea typeface="Calibri" panose="020F0502020204030204" pitchFamily="34" charset="0"/>
                <a:cs typeface="Calibri" panose="020F0502020204030204" pitchFamily="34" charset="0"/>
              </a:rPr>
              <a:t>visualisasi</a:t>
            </a:r>
            <a:r>
              <a:rPr lang="en-US" dirty="0">
                <a:latin typeface="Calibri" panose="020F0502020204030204" pitchFamily="34" charset="0"/>
                <a:ea typeface="Calibri" panose="020F0502020204030204" pitchFamily="34" charset="0"/>
                <a:cs typeface="Calibri" panose="020F0502020204030204" pitchFamily="34" charset="0"/>
              </a:rPr>
              <a:t> yang </a:t>
            </a:r>
            <a:r>
              <a:rPr lang="en-US" dirty="0" err="1">
                <a:latin typeface="Calibri" panose="020F0502020204030204" pitchFamily="34" charset="0"/>
                <a:ea typeface="Calibri" panose="020F0502020204030204" pitchFamily="34" charset="0"/>
                <a:cs typeface="Calibri" panose="020F0502020204030204" pitchFamily="34" charset="0"/>
              </a:rPr>
              <a:t>menampilkan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titik-titik</a:t>
            </a:r>
            <a:r>
              <a:rPr lang="en-US" dirty="0">
                <a:latin typeface="Calibri" panose="020F0502020204030204" pitchFamily="34" charset="0"/>
                <a:ea typeface="Calibri" panose="020F0502020204030204" pitchFamily="34" charset="0"/>
                <a:cs typeface="Calibri" panose="020F0502020204030204" pitchFamily="34" charset="0"/>
              </a:rPr>
              <a:t> data </a:t>
            </a:r>
            <a:r>
              <a:rPr lang="en-US" dirty="0" err="1">
                <a:latin typeface="Calibri" panose="020F0502020204030204" pitchFamily="34" charset="0"/>
                <a:ea typeface="Calibri" panose="020F0502020204030204" pitchFamily="34" charset="0"/>
                <a:cs typeface="Calibri" panose="020F0502020204030204" pitchFamily="34" charset="0"/>
              </a:rPr>
              <a:t>untuk</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melihat</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hubungan</a:t>
            </a:r>
            <a:r>
              <a:rPr lang="en-US" dirty="0">
                <a:latin typeface="Calibri" panose="020F0502020204030204" pitchFamily="34" charset="0"/>
                <a:ea typeface="Calibri" panose="020F0502020204030204" pitchFamily="34" charset="0"/>
                <a:cs typeface="Calibri" panose="020F0502020204030204" pitchFamily="34" charset="0"/>
              </a:rPr>
              <a:t> linier </a:t>
            </a:r>
            <a:r>
              <a:rPr lang="en-US" dirty="0" err="1">
                <a:latin typeface="Calibri" panose="020F0502020204030204" pitchFamily="34" charset="0"/>
                <a:ea typeface="Calibri" panose="020F0502020204030204" pitchFamily="34" charset="0"/>
                <a:cs typeface="Calibri" panose="020F0502020204030204" pitchFamily="34" charset="0"/>
              </a:rPr>
              <a:t>atau</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pola</a:t>
            </a:r>
            <a:r>
              <a:rPr lang="en-US" dirty="0">
                <a:latin typeface="Calibri" panose="020F0502020204030204" pitchFamily="34" charset="0"/>
                <a:ea typeface="Calibri" panose="020F0502020204030204" pitchFamily="34" charset="0"/>
                <a:cs typeface="Calibri" panose="020F0502020204030204" pitchFamily="34" charset="0"/>
              </a:rPr>
              <a:t> outlier </a:t>
            </a:r>
            <a:r>
              <a:rPr lang="en-US" dirty="0" err="1">
                <a:latin typeface="Calibri" panose="020F0502020204030204" pitchFamily="34" charset="0"/>
                <a:ea typeface="Calibri" panose="020F0502020204030204" pitchFamily="34" charset="0"/>
                <a:cs typeface="Calibri" panose="020F0502020204030204" pitchFamily="34" charset="0"/>
              </a:rPr>
              <a:t>antara</a:t>
            </a:r>
            <a:r>
              <a:rPr lang="en-US" dirty="0">
                <a:latin typeface="Calibri" panose="020F0502020204030204" pitchFamily="34" charset="0"/>
                <a:ea typeface="Calibri" panose="020F0502020204030204" pitchFamily="34" charset="0"/>
                <a:cs typeface="Calibri" panose="020F0502020204030204" pitchFamily="34" charset="0"/>
              </a:rPr>
              <a:t> dua </a:t>
            </a:r>
            <a:r>
              <a:rPr lang="en-US" dirty="0" err="1">
                <a:latin typeface="Calibri" panose="020F0502020204030204" pitchFamily="34" charset="0"/>
                <a:ea typeface="Calibri" panose="020F0502020204030204" pitchFamily="34" charset="0"/>
                <a:cs typeface="Calibri" panose="020F0502020204030204" pitchFamily="34" charset="0"/>
              </a:rPr>
              <a:t>variabel</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numerik</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adalah</a:t>
            </a:r>
            <a:r>
              <a:rPr lang="en-US" dirty="0">
                <a:latin typeface="Calibri" panose="020F0502020204030204" pitchFamily="34" charset="0"/>
                <a:ea typeface="Calibri" panose="020F0502020204030204" pitchFamily="34" charset="0"/>
                <a:cs typeface="Calibri" panose="020F0502020204030204" pitchFamily="34" charset="0"/>
              </a:rPr>
              <a:t>...</a:t>
            </a:r>
          </a:p>
          <a:p>
            <a:pPr marL="514350" indent="-514350">
              <a:buFont typeface="+mj-lt"/>
              <a:buAutoNum type="arabicPeriod" startAt="24"/>
            </a:pPr>
            <a:r>
              <a:rPr lang="sv-SE" dirty="0">
                <a:latin typeface="Calibri" panose="020F0502020204030204" pitchFamily="34" charset="0"/>
                <a:ea typeface="Calibri" panose="020F0502020204030204" pitchFamily="34" charset="0"/>
                <a:cs typeface="Calibri" panose="020F0502020204030204" pitchFamily="34" charset="0"/>
              </a:rPr>
              <a:t>Teknik visualisasi yang menggunakan matriks pemetaan warna (color code) untuk merepresentasikan kepadatan atau nilai variabel adalah...</a:t>
            </a:r>
          </a:p>
          <a:p>
            <a:pPr marL="514350" indent="-514350">
              <a:buFont typeface="+mj-lt"/>
              <a:buAutoNum type="arabicPeriod" startAt="24"/>
            </a:pPr>
            <a:r>
              <a:rPr lang="en-US" dirty="0" err="1">
                <a:latin typeface="Calibri" panose="020F0502020204030204" pitchFamily="34" charset="0"/>
                <a:ea typeface="Calibri" panose="020F0502020204030204" pitchFamily="34" charset="0"/>
                <a:cs typeface="Calibri" panose="020F0502020204030204" pitchFamily="34" charset="0"/>
              </a:rPr>
              <a:t>Grafik</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visualisasi</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satu</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dimensi</a:t>
            </a:r>
            <a:r>
              <a:rPr lang="en-US" dirty="0">
                <a:latin typeface="Calibri" panose="020F0502020204030204" pitchFamily="34" charset="0"/>
                <a:ea typeface="Calibri" panose="020F0502020204030204" pitchFamily="34" charset="0"/>
                <a:cs typeface="Calibri" panose="020F0502020204030204" pitchFamily="34" charset="0"/>
              </a:rPr>
              <a:t> yang </a:t>
            </a:r>
            <a:r>
              <a:rPr lang="en-US" dirty="0" err="1">
                <a:latin typeface="Calibri" panose="020F0502020204030204" pitchFamily="34" charset="0"/>
                <a:ea typeface="Calibri" panose="020F0502020204030204" pitchFamily="34" charset="0"/>
                <a:cs typeface="Calibri" panose="020F0502020204030204" pitchFamily="34" charset="0"/>
              </a:rPr>
              <a:t>digunakan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untuk</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menampilkan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distribusi</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frekuensi</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dari</a:t>
            </a:r>
            <a:r>
              <a:rPr lang="en-US" dirty="0">
                <a:latin typeface="Calibri" panose="020F0502020204030204" pitchFamily="34" charset="0"/>
                <a:ea typeface="Calibri" panose="020F0502020204030204" pitchFamily="34" charset="0"/>
                <a:cs typeface="Calibri" panose="020F0502020204030204" pitchFamily="34" charset="0"/>
              </a:rPr>
              <a:t> data </a:t>
            </a:r>
            <a:r>
              <a:rPr lang="en-US" dirty="0" err="1">
                <a:latin typeface="Calibri" panose="020F0502020204030204" pitchFamily="34" charset="0"/>
                <a:ea typeface="Calibri" panose="020F0502020204030204" pitchFamily="34" charset="0"/>
                <a:cs typeface="Calibri" panose="020F0502020204030204" pitchFamily="34" charset="0"/>
              </a:rPr>
              <a:t>numerik</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kontinu</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dinamakan</a:t>
            </a:r>
            <a:r>
              <a:rPr lang="en-US" dirty="0">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182169859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E7D87-D83E-7317-458E-0D9FA3F964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7F261E-BFF7-C13D-F4D9-14E5A6F562A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7A76DBF-EAE6-9B27-2D67-449C164BF84B}"/>
              </a:ext>
            </a:extLst>
          </p:cNvPr>
          <p:cNvSpPr>
            <a:spLocks noGrp="1"/>
          </p:cNvSpPr>
          <p:nvPr>
            <p:ph idx="1"/>
          </p:nvPr>
        </p:nvSpPr>
        <p:spPr/>
        <p:txBody>
          <a:bodyPr/>
          <a:lstStyle/>
          <a:p>
            <a:pPr marL="514350" indent="-514350">
              <a:buFont typeface="+mj-lt"/>
              <a:buAutoNum type="arabicPeriod" startAt="29"/>
            </a:pPr>
            <a:r>
              <a:rPr lang="en-US" dirty="0" err="1">
                <a:latin typeface="Calibri" panose="020F0502020204030204" pitchFamily="34" charset="0"/>
                <a:ea typeface="Calibri" panose="020F0502020204030204" pitchFamily="34" charset="0"/>
                <a:cs typeface="Calibri" panose="020F0502020204030204" pitchFamily="34" charset="0"/>
              </a:rPr>
              <a:t>Visualisasi</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statistik</a:t>
            </a:r>
            <a:r>
              <a:rPr lang="en-US" dirty="0">
                <a:latin typeface="Calibri" panose="020F0502020204030204" pitchFamily="34" charset="0"/>
                <a:ea typeface="Calibri" panose="020F0502020204030204" pitchFamily="34" charset="0"/>
                <a:cs typeface="Calibri" panose="020F0502020204030204" pitchFamily="34" charset="0"/>
              </a:rPr>
              <a:t> yang </a:t>
            </a:r>
            <a:r>
              <a:rPr lang="en-US" dirty="0" err="1">
                <a:latin typeface="Calibri" panose="020F0502020204030204" pitchFamily="34" charset="0"/>
                <a:ea typeface="Calibri" panose="020F0502020204030204" pitchFamily="34" charset="0"/>
                <a:cs typeface="Calibri" panose="020F0502020204030204" pitchFamily="34" charset="0"/>
              </a:rPr>
              <a:t>menyajikan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nilai</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Kuartil</a:t>
            </a:r>
            <a:r>
              <a:rPr lang="en-US" dirty="0">
                <a:latin typeface="Calibri" panose="020F0502020204030204" pitchFamily="34" charset="0"/>
                <a:ea typeface="Calibri" panose="020F0502020204030204" pitchFamily="34" charset="0"/>
                <a:cs typeface="Calibri" panose="020F0502020204030204" pitchFamily="34" charset="0"/>
              </a:rPr>
              <a:t> 1, Median (</a:t>
            </a:r>
            <a:r>
              <a:rPr lang="en-US" dirty="0" err="1">
                <a:latin typeface="Calibri" panose="020F0502020204030204" pitchFamily="34" charset="0"/>
                <a:ea typeface="Calibri" panose="020F0502020204030204" pitchFamily="34" charset="0"/>
                <a:cs typeface="Calibri" panose="020F0502020204030204" pitchFamily="34" charset="0"/>
              </a:rPr>
              <a:t>Kuartil</a:t>
            </a:r>
            <a:r>
              <a:rPr lang="en-US" dirty="0">
                <a:latin typeface="Calibri" panose="020F0502020204030204" pitchFamily="34" charset="0"/>
                <a:ea typeface="Calibri" panose="020F0502020204030204" pitchFamily="34" charset="0"/>
                <a:cs typeface="Calibri" panose="020F0502020204030204" pitchFamily="34" charset="0"/>
              </a:rPr>
              <a:t> 2), </a:t>
            </a:r>
            <a:r>
              <a:rPr lang="en-US" dirty="0" err="1">
                <a:latin typeface="Calibri" panose="020F0502020204030204" pitchFamily="34" charset="0"/>
                <a:ea typeface="Calibri" panose="020F0502020204030204" pitchFamily="34" charset="0"/>
                <a:cs typeface="Calibri" panose="020F0502020204030204" pitchFamily="34" charset="0"/>
              </a:rPr>
              <a:t>Kuartil</a:t>
            </a:r>
            <a:r>
              <a:rPr lang="en-US" dirty="0">
                <a:latin typeface="Calibri" panose="020F0502020204030204" pitchFamily="34" charset="0"/>
                <a:ea typeface="Calibri" panose="020F0502020204030204" pitchFamily="34" charset="0"/>
                <a:cs typeface="Calibri" panose="020F0502020204030204" pitchFamily="34" charset="0"/>
              </a:rPr>
              <a:t> 3, </a:t>
            </a:r>
            <a:r>
              <a:rPr lang="en-US" dirty="0" err="1">
                <a:latin typeface="Calibri" panose="020F0502020204030204" pitchFamily="34" charset="0"/>
                <a:ea typeface="Calibri" panose="020F0502020204030204" pitchFamily="34" charset="0"/>
                <a:cs typeface="Calibri" panose="020F0502020204030204" pitchFamily="34" charset="0"/>
              </a:rPr>
              <a:t>serta</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titik</a:t>
            </a:r>
            <a:r>
              <a:rPr lang="en-US" dirty="0">
                <a:latin typeface="Calibri" panose="020F0502020204030204" pitchFamily="34" charset="0"/>
                <a:ea typeface="Calibri" panose="020F0502020204030204" pitchFamily="34" charset="0"/>
                <a:cs typeface="Calibri" panose="020F0502020204030204" pitchFamily="34" charset="0"/>
              </a:rPr>
              <a:t> outlier </a:t>
            </a:r>
            <a:r>
              <a:rPr lang="en-US" dirty="0" err="1">
                <a:latin typeface="Calibri" panose="020F0502020204030204" pitchFamily="34" charset="0"/>
                <a:ea typeface="Calibri" panose="020F0502020204030204" pitchFamily="34" charset="0"/>
                <a:cs typeface="Calibri" panose="020F0502020204030204" pitchFamily="34" charset="0"/>
              </a:rPr>
              <a:t>dinamakan</a:t>
            </a:r>
            <a:r>
              <a:rPr lang="en-US" dirty="0">
                <a:latin typeface="Calibri" panose="020F0502020204030204" pitchFamily="34" charset="0"/>
                <a:ea typeface="Calibri" panose="020F0502020204030204" pitchFamily="34" charset="0"/>
                <a:cs typeface="Calibri" panose="020F0502020204030204" pitchFamily="34" charset="0"/>
              </a:rPr>
              <a:t>...</a:t>
            </a:r>
          </a:p>
          <a:p>
            <a:pPr marL="514350" indent="-514350">
              <a:buFont typeface="+mj-lt"/>
              <a:buAutoNum type="arabicPeriod" startAt="29"/>
            </a:pPr>
            <a:r>
              <a:rPr lang="en-US" dirty="0">
                <a:latin typeface="Calibri" panose="020F0502020204030204" pitchFamily="34" charset="0"/>
                <a:ea typeface="Calibri" panose="020F0502020204030204" pitchFamily="34" charset="0"/>
                <a:cs typeface="Calibri" panose="020F0502020204030204" pitchFamily="34" charset="0"/>
              </a:rPr>
              <a:t>10. Jika </a:t>
            </a:r>
            <a:r>
              <a:rPr lang="en-US" dirty="0" err="1">
                <a:latin typeface="Calibri" panose="020F0502020204030204" pitchFamily="34" charset="0"/>
                <a:ea typeface="Calibri" panose="020F0502020204030204" pitchFamily="34" charset="0"/>
                <a:cs typeface="Calibri" panose="020F0502020204030204" pitchFamily="34" charset="0"/>
              </a:rPr>
              <a:t>hasil</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pengujian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statistik</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korelasi</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menghasilkan</a:t>
            </a:r>
            <a:r>
              <a:rPr lang="en-US" dirty="0">
                <a:latin typeface="Calibri" panose="020F0502020204030204" pitchFamily="34" charset="0"/>
                <a:ea typeface="Calibri" panose="020F0502020204030204" pitchFamily="34" charset="0"/>
                <a:cs typeface="Calibri" panose="020F0502020204030204" pitchFamily="34" charset="0"/>
              </a:rPr>
              <a:t> p-value &lt; 0.001, </a:t>
            </a:r>
            <a:r>
              <a:rPr lang="en-US" dirty="0" err="1">
                <a:latin typeface="Calibri" panose="020F0502020204030204" pitchFamily="34" charset="0"/>
                <a:ea typeface="Calibri" panose="020F0502020204030204" pitchFamily="34" charset="0"/>
                <a:cs typeface="Calibri" panose="020F0502020204030204" pitchFamily="34" charset="0"/>
              </a:rPr>
              <a:t>hal</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ini</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berarti</a:t>
            </a:r>
            <a:r>
              <a:rPr lang="en-US" dirty="0">
                <a:latin typeface="Calibri" panose="020F0502020204030204" pitchFamily="34" charset="0"/>
                <a:ea typeface="Calibri" panose="020F0502020204030204" pitchFamily="34" charset="0"/>
                <a:cs typeface="Calibri" panose="020F0502020204030204" pitchFamily="34" charset="0"/>
              </a:rPr>
              <a:t>...</a:t>
            </a:r>
          </a:p>
          <a:p>
            <a:pPr marL="514350" indent="-514350">
              <a:buFont typeface="+mj-lt"/>
              <a:buAutoNum type="arabicPeriod" startAt="29"/>
            </a:pPr>
            <a:r>
              <a:rPr lang="en-US" dirty="0">
                <a:latin typeface="Calibri" panose="020F0502020204030204" pitchFamily="34" charset="0"/>
                <a:ea typeface="Calibri" panose="020F0502020204030204" pitchFamily="34" charset="0"/>
                <a:cs typeface="Calibri" panose="020F0502020204030204" pitchFamily="34" charset="0"/>
              </a:rPr>
              <a:t>Metode </a:t>
            </a:r>
            <a:r>
              <a:rPr lang="en-US" dirty="0" err="1">
                <a:latin typeface="Calibri" panose="020F0502020204030204" pitchFamily="34" charset="0"/>
                <a:ea typeface="Calibri" panose="020F0502020204030204" pitchFamily="34" charset="0"/>
                <a:cs typeface="Calibri" panose="020F0502020204030204" pitchFamily="34" charset="0"/>
              </a:rPr>
              <a:t>statistik</a:t>
            </a:r>
            <a:r>
              <a:rPr lang="en-US" dirty="0">
                <a:latin typeface="Calibri" panose="020F0502020204030204" pitchFamily="34" charset="0"/>
                <a:ea typeface="Calibri" panose="020F0502020204030204" pitchFamily="34" charset="0"/>
                <a:cs typeface="Calibri" panose="020F0502020204030204" pitchFamily="34" charset="0"/>
              </a:rPr>
              <a:t> ANOVA (Analysis of Variance) </a:t>
            </a:r>
            <a:r>
              <a:rPr lang="en-US" dirty="0" err="1">
                <a:latin typeface="Calibri" panose="020F0502020204030204" pitchFamily="34" charset="0"/>
                <a:ea typeface="Calibri" panose="020F0502020204030204" pitchFamily="34" charset="0"/>
                <a:cs typeface="Calibri" panose="020F0502020204030204" pitchFamily="34" charset="0"/>
              </a:rPr>
              <a:t>digunakan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untuk</a:t>
            </a:r>
            <a:r>
              <a:rPr lang="en-US" dirty="0">
                <a:latin typeface="Calibri" panose="020F0502020204030204" pitchFamily="34" charset="0"/>
                <a:ea typeface="Calibri" panose="020F0502020204030204" pitchFamily="34" charset="0"/>
                <a:cs typeface="Calibri" panose="020F0502020204030204" pitchFamily="34" charset="0"/>
              </a:rPr>
              <a:t>...</a:t>
            </a:r>
          </a:p>
          <a:p>
            <a:pPr marL="514350" indent="-514350">
              <a:buFont typeface="+mj-lt"/>
              <a:buAutoNum type="arabicPeriod" startAt="29"/>
            </a:pPr>
            <a:r>
              <a:rPr lang="en-US" dirty="0" err="1">
                <a:latin typeface="Calibri" panose="020F0502020204030204" pitchFamily="34" charset="0"/>
                <a:ea typeface="Calibri" panose="020F0502020204030204" pitchFamily="34" charset="0"/>
                <a:cs typeface="Calibri" panose="020F0502020204030204" pitchFamily="34" charset="0"/>
              </a:rPr>
              <a:t>Dalam</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analisis</a:t>
            </a:r>
            <a:r>
              <a:rPr lang="en-US" dirty="0">
                <a:latin typeface="Calibri" panose="020F0502020204030204" pitchFamily="34" charset="0"/>
                <a:ea typeface="Calibri" panose="020F0502020204030204" pitchFamily="34" charset="0"/>
                <a:cs typeface="Calibri" panose="020F0502020204030204" pitchFamily="34" charset="0"/>
              </a:rPr>
              <a:t> ANOVA, F-Score yang </a:t>
            </a:r>
            <a:r>
              <a:rPr lang="en-US" dirty="0" err="1">
                <a:latin typeface="Calibri" panose="020F0502020204030204" pitchFamily="34" charset="0"/>
                <a:ea typeface="Calibri" panose="020F0502020204030204" pitchFamily="34" charset="0"/>
                <a:cs typeface="Calibri" panose="020F0502020204030204" pitchFamily="34" charset="0"/>
              </a:rPr>
              <a:t>bernilai</a:t>
            </a:r>
            <a:r>
              <a:rPr lang="en-US" dirty="0">
                <a:latin typeface="Calibri" panose="020F0502020204030204" pitchFamily="34" charset="0"/>
                <a:ea typeface="Calibri" panose="020F0502020204030204" pitchFamily="34" charset="0"/>
                <a:cs typeface="Calibri" panose="020F0502020204030204" pitchFamily="34" charset="0"/>
              </a:rPr>
              <a:t> sangat </a:t>
            </a:r>
            <a:r>
              <a:rPr lang="en-US" dirty="0" err="1">
                <a:latin typeface="Calibri" panose="020F0502020204030204" pitchFamily="34" charset="0"/>
                <a:ea typeface="Calibri" panose="020F0502020204030204" pitchFamily="34" charset="0"/>
                <a:cs typeface="Calibri" panose="020F0502020204030204" pitchFamily="34" charset="0"/>
              </a:rPr>
              <a:t>besar</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mengindikasikan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bahwa</a:t>
            </a:r>
            <a:r>
              <a:rPr lang="en-US" dirty="0">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1393648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Segoe UI"/>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22200</TotalTime>
  <Words>4379</Words>
  <Application>Microsoft Office PowerPoint</Application>
  <PresentationFormat>Widescreen</PresentationFormat>
  <Paragraphs>574</Paragraphs>
  <Slides>83</Slides>
  <Notes>6</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83</vt:i4>
      </vt:variant>
    </vt:vector>
  </HeadingPairs>
  <TitlesOfParts>
    <vt:vector size="98" baseType="lpstr">
      <vt:lpstr>Arial</vt:lpstr>
      <vt:lpstr>Calibri</vt:lpstr>
      <vt:lpstr>Cambria</vt:lpstr>
      <vt:lpstr>Courier New</vt:lpstr>
      <vt:lpstr>Inter</vt:lpstr>
      <vt:lpstr>Inter Black</vt:lpstr>
      <vt:lpstr>Inter ExtraBold</vt:lpstr>
      <vt:lpstr>Inter Medium</vt:lpstr>
      <vt:lpstr>Inter SemiBold</vt:lpstr>
      <vt:lpstr>Plus Jakarta Sans</vt:lpstr>
      <vt:lpstr>Poppins</vt:lpstr>
      <vt:lpstr>Segoe UI</vt:lpstr>
      <vt:lpstr>Segoe UI Light</vt:lpstr>
      <vt:lpstr>Times New Roman</vt:lpstr>
      <vt:lpstr>Office Theme</vt:lpstr>
      <vt:lpstr>Applied Data Science – Week 4 Telaah Data</vt:lpstr>
      <vt:lpstr>Outline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Visualisasi Data</vt:lpstr>
      <vt:lpstr>Visualisasi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Visualization Overview</vt:lpstr>
      <vt:lpstr>Pie Chart</vt:lpstr>
      <vt:lpstr>Pie Chart</vt:lpstr>
      <vt:lpstr>Bar Chart</vt:lpstr>
      <vt:lpstr>Bar Chart</vt:lpstr>
      <vt:lpstr>Bar Chart</vt:lpstr>
      <vt:lpstr>Line Graph</vt:lpstr>
      <vt:lpstr>Line Graph</vt:lpstr>
      <vt:lpstr>Line Graph</vt:lpstr>
      <vt:lpstr>Line Graph</vt:lpstr>
      <vt:lpstr>Line Graph</vt:lpstr>
      <vt:lpstr>Scatter Plot</vt:lpstr>
      <vt:lpstr>Scatter Plot</vt:lpstr>
      <vt:lpstr>Heatmap</vt:lpstr>
      <vt:lpstr>Heatmap</vt:lpstr>
      <vt:lpstr>Heatmap</vt:lpstr>
      <vt:lpstr>Histogram</vt:lpstr>
      <vt:lpstr>Histogram</vt:lpstr>
      <vt:lpstr>Histogram</vt:lpstr>
      <vt:lpstr>Histogram</vt:lpstr>
      <vt:lpstr>Histogram</vt:lpstr>
      <vt:lpstr>Histogram</vt:lpstr>
      <vt:lpstr>Correlation &amp; Causation</vt:lpstr>
      <vt:lpstr>Correlation &amp; Causation</vt:lpstr>
      <vt:lpstr>Correlation &amp; Causation</vt:lpstr>
      <vt:lpstr>Correlation &amp; Causation</vt:lpstr>
      <vt:lpstr>Correlation &amp; Causation</vt:lpstr>
      <vt:lpstr>Correlation &amp; Causation</vt:lpstr>
      <vt:lpstr>Correlation &amp; Causation</vt:lpstr>
      <vt:lpstr>Correlation &amp; Causation</vt:lpstr>
      <vt:lpstr>Correlation &amp; Causation</vt:lpstr>
      <vt:lpstr>Variabel Kategori Statistik</vt:lpstr>
      <vt:lpstr>Descriptive Statistic</vt:lpstr>
      <vt:lpstr>Descriptive Statistic</vt:lpstr>
      <vt:lpstr>Grouping</vt:lpstr>
      <vt:lpstr>Grouping</vt:lpstr>
      <vt:lpstr>Grouping</vt:lpstr>
      <vt:lpstr>Grouping</vt:lpstr>
      <vt:lpstr>Grouping</vt:lpstr>
      <vt:lpstr>Grouping</vt:lpstr>
      <vt:lpstr>Grouping</vt:lpstr>
      <vt:lpstr>ANOVA</vt:lpstr>
      <vt:lpstr>ANOVA</vt:lpstr>
      <vt:lpstr>ANOVA</vt:lpstr>
      <vt:lpstr>Quiz –  https://forms.gle/SmoR1XDEbbL3J39C9</vt:lpstr>
      <vt:lpstr>Next section</vt:lpstr>
      <vt:lpstr>PowerPoint Presentation</vt:lpstr>
      <vt:lpstr>Next section</vt:lpstr>
      <vt:lpstr>PowerPoint Presentation</vt:lpstr>
      <vt:lpstr>Next section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My Windows</dc:creator>
  <cp:lastModifiedBy>Muhammad Fakhrurrifqi</cp:lastModifiedBy>
  <cp:revision>84</cp:revision>
  <dcterms:created xsi:type="dcterms:W3CDTF">2018-05-08T06:50:11Z</dcterms:created>
  <dcterms:modified xsi:type="dcterms:W3CDTF">2026-09-17T00:13:44Z</dcterms:modified>
</cp:coreProperties>
</file>