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501" r:id="rId3"/>
    <p:sldId id="657" r:id="rId4"/>
    <p:sldId id="658" r:id="rId5"/>
    <p:sldId id="659" r:id="rId6"/>
    <p:sldId id="661" r:id="rId7"/>
    <p:sldId id="662" r:id="rId8"/>
    <p:sldId id="663" r:id="rId9"/>
    <p:sldId id="665" r:id="rId10"/>
    <p:sldId id="667" r:id="rId11"/>
    <p:sldId id="668" r:id="rId12"/>
    <p:sldId id="669" r:id="rId13"/>
    <p:sldId id="670" r:id="rId14"/>
    <p:sldId id="671" r:id="rId15"/>
    <p:sldId id="672" r:id="rId16"/>
    <p:sldId id="673" r:id="rId17"/>
    <p:sldId id="674" r:id="rId18"/>
    <p:sldId id="675" r:id="rId19"/>
    <p:sldId id="677" r:id="rId20"/>
    <p:sldId id="679" r:id="rId21"/>
    <p:sldId id="678" r:id="rId22"/>
    <p:sldId id="680" r:id="rId23"/>
    <p:sldId id="681" r:id="rId24"/>
    <p:sldId id="682" r:id="rId25"/>
    <p:sldId id="683" r:id="rId26"/>
    <p:sldId id="36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152" y="6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D5B8C-23F7-4E91-B259-614B167A5F0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030B7-44DA-4342-8AD0-73CA5C2F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3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92548" y="1787703"/>
            <a:ext cx="6996700" cy="172226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92548" y="3602038"/>
            <a:ext cx="69967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4663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348790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8030" y="2414427"/>
            <a:ext cx="6549419" cy="2148048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6947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6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3pPr marL="1257300" indent="-34290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1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4C207-7A81-4737-8BB1-F773A1644F8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" TargetMode="External"/><Relationship Id="rId13" Type="http://schemas.openxmlformats.org/officeDocument/2006/relationships/hyperlink" Target="https://www.dbpedia.org/resources/" TargetMode="External"/><Relationship Id="rId3" Type="http://schemas.openxmlformats.org/officeDocument/2006/relationships/hyperlink" Target="https://data.jakarta.go.id/" TargetMode="External"/><Relationship Id="rId7" Type="http://schemas.openxmlformats.org/officeDocument/2006/relationships/hyperlink" Target="https://archive.ics.uci.edu/ml/index.php" TargetMode="External"/><Relationship Id="rId12" Type="http://schemas.openxmlformats.org/officeDocument/2006/relationships/hyperlink" Target="https://developer.ibm.com/exchanges/data/" TargetMode="External"/><Relationship Id="rId2" Type="http://schemas.openxmlformats.org/officeDocument/2006/relationships/hyperlink" Target="https://data.go.i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anahair.indonesia.go.id/" TargetMode="External"/><Relationship Id="rId11" Type="http://schemas.openxmlformats.org/officeDocument/2006/relationships/hyperlink" Target="https://www.who.int/data" TargetMode="External"/><Relationship Id="rId5" Type="http://schemas.openxmlformats.org/officeDocument/2006/relationships/hyperlink" Target="https://www.bps.go.id/" TargetMode="External"/><Relationship Id="rId10" Type="http://schemas.openxmlformats.org/officeDocument/2006/relationships/hyperlink" Target="https://data.unicef.org/" TargetMode="External"/><Relationship Id="rId4" Type="http://schemas.openxmlformats.org/officeDocument/2006/relationships/hyperlink" Target="http://data.bandung.go.id/" TargetMode="External"/><Relationship Id="rId9" Type="http://schemas.openxmlformats.org/officeDocument/2006/relationships/hyperlink" Target="https://data.worldbank.org/" TargetMode="External"/><Relationship Id="rId14" Type="http://schemas.openxmlformats.org/officeDocument/2006/relationships/hyperlink" Target="https://www.wikidata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atasetsearch.research.google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0772" y="1553787"/>
            <a:ext cx="6996700" cy="2123658"/>
          </a:xfrm>
        </p:spPr>
        <p:txBody>
          <a:bodyPr>
            <a:normAutofit/>
          </a:bodyPr>
          <a:lstStyle/>
          <a:p>
            <a:pPr algn="r"/>
            <a:r>
              <a:rPr lang="en-US" sz="3200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  <a:t>Applied Data Science – Week 3</a:t>
            </a:r>
            <a:br>
              <a:rPr lang="en-US" sz="3200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</a:br>
            <a:r>
              <a:rPr lang="en-US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  <a:t>Data Understanding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19929-5D50-4E5F-EB5C-5C6FAB814C4B}"/>
              </a:ext>
            </a:extLst>
          </p:cNvPr>
          <p:cNvSpPr txBox="1"/>
          <p:nvPr/>
        </p:nvSpPr>
        <p:spPr>
          <a:xfrm>
            <a:off x="6266893" y="4663222"/>
            <a:ext cx="48705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0070C0"/>
                </a:solidFill>
              </a:rPr>
              <a:t>Dr. Muhammad </a:t>
            </a:r>
            <a:r>
              <a:rPr lang="en-US" sz="2400" dirty="0" err="1">
                <a:solidFill>
                  <a:srgbClr val="0070C0"/>
                </a:solidFill>
              </a:rPr>
              <a:t>Fakhrurrifqi</a:t>
            </a:r>
            <a:endParaRPr lang="en-US" sz="2400" dirty="0">
              <a:solidFill>
                <a:srgbClr val="0070C0"/>
              </a:solidFill>
            </a:endParaRPr>
          </a:p>
          <a:p>
            <a:pPr algn="r"/>
            <a:r>
              <a:rPr lang="en-US" sz="2400" dirty="0">
                <a:solidFill>
                  <a:srgbClr val="0070C0"/>
                </a:solidFill>
              </a:rPr>
              <a:t>Anindita </a:t>
            </a:r>
            <a:r>
              <a:rPr lang="en-US" sz="2400" dirty="0" err="1">
                <a:solidFill>
                  <a:srgbClr val="0070C0"/>
                </a:solidFill>
              </a:rPr>
              <a:t>Suryarasmi</a:t>
            </a:r>
            <a:r>
              <a:rPr lang="en-US" sz="2400">
                <a:solidFill>
                  <a:srgbClr val="0070C0"/>
                </a:solidFill>
              </a:rPr>
              <a:t>, Ph</a:t>
            </a:r>
            <a:r>
              <a:rPr lang="en-US" sz="2400" dirty="0">
                <a:solidFill>
                  <a:srgbClr val="0070C0"/>
                </a:solidFill>
              </a:rPr>
              <a:t>.D.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44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DF01-5510-D305-4EFB-D18AD7C4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7C9ED-75B8-9AC4-A71C-5C4A9F92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review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323923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7D9B-EC55-CAFB-5008-C2D7760C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en-US" dirty="0"/>
              <a:t>What is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70B6-2C33-F3AF-CDA3-523E66529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9382" cy="4351338"/>
          </a:xfrm>
        </p:spPr>
        <p:txBody>
          <a:bodyPr/>
          <a:lstStyle/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after 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defined in the Business Understanding stage. </a:t>
            </a:r>
          </a:p>
          <a:p>
            <a:pPr lvl="0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Get a clear overview of the data.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data is well understood, move 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business problem needs to be revised, go back 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Understanding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oogle Shape;247;p44">
            <a:extLst>
              <a:ext uri="{FF2B5EF4-FFF2-40B4-BE49-F238E27FC236}">
                <a16:creationId xmlns:a16="http://schemas.microsoft.com/office/drawing/2014/main" id="{75199849-7EB6-2F93-D5D2-1B01E61EA8C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06514" y="1391920"/>
            <a:ext cx="4848606" cy="49628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8;p44">
            <a:extLst>
              <a:ext uri="{FF2B5EF4-FFF2-40B4-BE49-F238E27FC236}">
                <a16:creationId xmlns:a16="http://schemas.microsoft.com/office/drawing/2014/main" id="{859F8FDC-E007-5446-1742-7A10115C6A2B}"/>
              </a:ext>
            </a:extLst>
          </p:cNvPr>
          <p:cNvSpPr/>
          <p:nvPr/>
        </p:nvSpPr>
        <p:spPr>
          <a:xfrm rot="-4088056">
            <a:off x="10469976" y="1671340"/>
            <a:ext cx="1377929" cy="367765"/>
          </a:xfrm>
          <a:prstGeom prst="leftArrow">
            <a:avLst>
              <a:gd name="adj1" fmla="val 30409"/>
              <a:gd name="adj2" fmla="val 85080"/>
            </a:avLst>
          </a:prstGeom>
          <a:solidFill>
            <a:srgbClr val="FF0000"/>
          </a:soli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49;p44">
            <a:extLst>
              <a:ext uri="{FF2B5EF4-FFF2-40B4-BE49-F238E27FC236}">
                <a16:creationId xmlns:a16="http://schemas.microsoft.com/office/drawing/2014/main" id="{34D4CBDE-9D4F-F164-7EDD-E874DE05DA9A}"/>
              </a:ext>
            </a:extLst>
          </p:cNvPr>
          <p:cNvSpPr/>
          <p:nvPr/>
        </p:nvSpPr>
        <p:spPr>
          <a:xfrm>
            <a:off x="9937340" y="2368620"/>
            <a:ext cx="1221600" cy="10500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06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850B-F6CD-BEFF-9A6B-A68D3C94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030F-1DAA-A45E-39D9-EC01C539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Why data understanding is necessary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E9DB-7BE4-82E4-BB42-6079B35CB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2280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= raw material for an AI solution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from different sources may not be directly usable because: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different purposes and objectives.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may be separate or tightly integrated.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different levels of richness.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different levels of reliability.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 Helps Identify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strengths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limitations and weaknesses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suitability for the business problem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availability (open/closed, access cost, etc.)</a:t>
            </a:r>
          </a:p>
          <a:p>
            <a:pPr lvl="0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895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F518-B0D5-D2ED-BCFE-E594609D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11D9-E566-AE1B-34C2-5AE0DF7F5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193C5-C854-08F2-8FF8-9DADE47C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2280" cy="4351338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how data connects to the business process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main data sources and how to access them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the business value of the data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additional data sources for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510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3C921-36CE-36C4-C89A-10EEAB7A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2D01-A439-57AF-F101-2BB2F7C8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7" name="Google Shape;278;p47">
            <a:extLst>
              <a:ext uri="{FF2B5EF4-FFF2-40B4-BE49-F238E27FC236}">
                <a16:creationId xmlns:a16="http://schemas.microsoft.com/office/drawing/2014/main" id="{42676F2C-8853-C990-6113-C995E3BBE42A}"/>
              </a:ext>
            </a:extLst>
          </p:cNvPr>
          <p:cNvSpPr/>
          <p:nvPr/>
        </p:nvSpPr>
        <p:spPr>
          <a:xfrm>
            <a:off x="496040" y="1811319"/>
            <a:ext cx="4692600" cy="516240"/>
          </a:xfrm>
          <a:prstGeom prst="rect">
            <a:avLst/>
          </a:prstGeom>
          <a:solidFill>
            <a:srgbClr val="DEE6EF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79;p47">
            <a:extLst>
              <a:ext uri="{FF2B5EF4-FFF2-40B4-BE49-F238E27FC236}">
                <a16:creationId xmlns:a16="http://schemas.microsoft.com/office/drawing/2014/main" id="{4BC028A8-D2FA-437C-7278-C3BF5B7F5945}"/>
              </a:ext>
            </a:extLst>
          </p:cNvPr>
          <p:cNvSpPr/>
          <p:nvPr/>
        </p:nvSpPr>
        <p:spPr>
          <a:xfrm>
            <a:off x="496040" y="1577319"/>
            <a:ext cx="4692600" cy="23112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d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Collection Report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80;p47">
            <a:extLst>
              <a:ext uri="{FF2B5EF4-FFF2-40B4-BE49-F238E27FC236}">
                <a16:creationId xmlns:a16="http://schemas.microsoft.com/office/drawing/2014/main" id="{80C6ECF4-6F38-5A79-8978-7D7F6B3EE0A5}"/>
              </a:ext>
            </a:extLst>
          </p:cNvPr>
          <p:cNvSpPr/>
          <p:nvPr/>
        </p:nvSpPr>
        <p:spPr>
          <a:xfrm>
            <a:off x="496040" y="2659839"/>
            <a:ext cx="4692600" cy="516240"/>
          </a:xfrm>
          <a:prstGeom prst="rect">
            <a:avLst/>
          </a:prstGeom>
          <a:solidFill>
            <a:srgbClr val="DDE8CB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81;p47">
            <a:extLst>
              <a:ext uri="{FF2B5EF4-FFF2-40B4-BE49-F238E27FC236}">
                <a16:creationId xmlns:a16="http://schemas.microsoft.com/office/drawing/2014/main" id="{304B59C2-696C-5192-3CD4-63F3B3DAAA30}"/>
              </a:ext>
            </a:extLst>
          </p:cNvPr>
          <p:cNvSpPr/>
          <p:nvPr/>
        </p:nvSpPr>
        <p:spPr>
          <a:xfrm>
            <a:off x="496040" y="2425839"/>
            <a:ext cx="4692600" cy="23112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d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Description Report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82;p47">
            <a:extLst>
              <a:ext uri="{FF2B5EF4-FFF2-40B4-BE49-F238E27FC236}">
                <a16:creationId xmlns:a16="http://schemas.microsoft.com/office/drawing/2014/main" id="{2589055E-AC07-1008-6192-1D5D50F89E81}"/>
              </a:ext>
            </a:extLst>
          </p:cNvPr>
          <p:cNvSpPr/>
          <p:nvPr/>
        </p:nvSpPr>
        <p:spPr>
          <a:xfrm>
            <a:off x="510800" y="3517359"/>
            <a:ext cx="4685040" cy="516240"/>
          </a:xfrm>
          <a:prstGeom prst="rect">
            <a:avLst/>
          </a:prstGeom>
          <a:solidFill>
            <a:srgbClr val="FFDBB6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83;p47">
            <a:extLst>
              <a:ext uri="{FF2B5EF4-FFF2-40B4-BE49-F238E27FC236}">
                <a16:creationId xmlns:a16="http://schemas.microsoft.com/office/drawing/2014/main" id="{D156808B-3DAF-789C-A7D6-7EBC2FF47BCD}"/>
              </a:ext>
            </a:extLst>
          </p:cNvPr>
          <p:cNvSpPr/>
          <p:nvPr/>
        </p:nvSpPr>
        <p:spPr>
          <a:xfrm>
            <a:off x="510800" y="3283359"/>
            <a:ext cx="4685040" cy="23112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d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Exploration Report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84;p47">
            <a:extLst>
              <a:ext uri="{FF2B5EF4-FFF2-40B4-BE49-F238E27FC236}">
                <a16:creationId xmlns:a16="http://schemas.microsoft.com/office/drawing/2014/main" id="{04949AC5-A200-E73F-E435-2E49FCA9331D}"/>
              </a:ext>
            </a:extLst>
          </p:cNvPr>
          <p:cNvSpPr/>
          <p:nvPr/>
        </p:nvSpPr>
        <p:spPr>
          <a:xfrm>
            <a:off x="510800" y="4400439"/>
            <a:ext cx="4692600" cy="516240"/>
          </a:xfrm>
          <a:prstGeom prst="rect">
            <a:avLst/>
          </a:prstGeom>
          <a:solidFill>
            <a:srgbClr val="B7B3CA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85;p47">
            <a:extLst>
              <a:ext uri="{FF2B5EF4-FFF2-40B4-BE49-F238E27FC236}">
                <a16:creationId xmlns:a16="http://schemas.microsoft.com/office/drawing/2014/main" id="{BE239804-5C7D-A728-A6F9-4F40BAC06918}"/>
              </a:ext>
            </a:extLst>
          </p:cNvPr>
          <p:cNvSpPr/>
          <p:nvPr/>
        </p:nvSpPr>
        <p:spPr>
          <a:xfrm>
            <a:off x="510800" y="4166439"/>
            <a:ext cx="4692600" cy="231120"/>
          </a:xfrm>
          <a:prstGeom prst="rect">
            <a:avLst/>
          </a:prstGeom>
          <a:solidFill>
            <a:srgbClr val="CCCCC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d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Quality Report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86;p47">
            <a:extLst>
              <a:ext uri="{FF2B5EF4-FFF2-40B4-BE49-F238E27FC236}">
                <a16:creationId xmlns:a16="http://schemas.microsoft.com/office/drawing/2014/main" id="{70FA0A95-F1DB-E89C-2707-94377561234F}"/>
              </a:ext>
            </a:extLst>
          </p:cNvPr>
          <p:cNvSpPr/>
          <p:nvPr/>
        </p:nvSpPr>
        <p:spPr>
          <a:xfrm>
            <a:off x="565520" y="188043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87;p47">
            <a:extLst>
              <a:ext uri="{FF2B5EF4-FFF2-40B4-BE49-F238E27FC236}">
                <a16:creationId xmlns:a16="http://schemas.microsoft.com/office/drawing/2014/main" id="{DD87EE5F-B94F-68D9-6299-D6A5910833C2}"/>
              </a:ext>
            </a:extLst>
          </p:cNvPr>
          <p:cNvSpPr/>
          <p:nvPr/>
        </p:nvSpPr>
        <p:spPr>
          <a:xfrm>
            <a:off x="1490000" y="188043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88;p47">
            <a:extLst>
              <a:ext uri="{FF2B5EF4-FFF2-40B4-BE49-F238E27FC236}">
                <a16:creationId xmlns:a16="http://schemas.microsoft.com/office/drawing/2014/main" id="{4A0F4B39-3CF4-F7DF-7C45-C58124DFDF33}"/>
              </a:ext>
            </a:extLst>
          </p:cNvPr>
          <p:cNvSpPr/>
          <p:nvPr/>
        </p:nvSpPr>
        <p:spPr>
          <a:xfrm>
            <a:off x="2420240" y="187179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89;p47">
            <a:extLst>
              <a:ext uri="{FF2B5EF4-FFF2-40B4-BE49-F238E27FC236}">
                <a16:creationId xmlns:a16="http://schemas.microsoft.com/office/drawing/2014/main" id="{369F17E6-733C-6D57-1433-D582CA100DB5}"/>
              </a:ext>
            </a:extLst>
          </p:cNvPr>
          <p:cNvSpPr/>
          <p:nvPr/>
        </p:nvSpPr>
        <p:spPr>
          <a:xfrm>
            <a:off x="1484240" y="2720319"/>
            <a:ext cx="86688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90;p47">
            <a:extLst>
              <a:ext uri="{FF2B5EF4-FFF2-40B4-BE49-F238E27FC236}">
                <a16:creationId xmlns:a16="http://schemas.microsoft.com/office/drawing/2014/main" id="{56C8E961-2F16-2900-54F2-7C26868AD44B}"/>
              </a:ext>
            </a:extLst>
          </p:cNvPr>
          <p:cNvSpPr/>
          <p:nvPr/>
        </p:nvSpPr>
        <p:spPr>
          <a:xfrm>
            <a:off x="565520" y="272895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291;p47">
            <a:extLst>
              <a:ext uri="{FF2B5EF4-FFF2-40B4-BE49-F238E27FC236}">
                <a16:creationId xmlns:a16="http://schemas.microsoft.com/office/drawing/2014/main" id="{7481486B-0E62-2C48-CDB3-486376FB493C}"/>
              </a:ext>
            </a:extLst>
          </p:cNvPr>
          <p:cNvSpPr/>
          <p:nvPr/>
        </p:nvSpPr>
        <p:spPr>
          <a:xfrm>
            <a:off x="2410520" y="2720319"/>
            <a:ext cx="86688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292;p47">
            <a:extLst>
              <a:ext uri="{FF2B5EF4-FFF2-40B4-BE49-F238E27FC236}">
                <a16:creationId xmlns:a16="http://schemas.microsoft.com/office/drawing/2014/main" id="{1019373B-BFBB-B49C-F036-3BE5D11F33DD}"/>
              </a:ext>
            </a:extLst>
          </p:cNvPr>
          <p:cNvSpPr/>
          <p:nvPr/>
        </p:nvSpPr>
        <p:spPr>
          <a:xfrm>
            <a:off x="1507280" y="357747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293;p47">
            <a:extLst>
              <a:ext uri="{FF2B5EF4-FFF2-40B4-BE49-F238E27FC236}">
                <a16:creationId xmlns:a16="http://schemas.microsoft.com/office/drawing/2014/main" id="{819CD1B2-3B89-E284-77C1-BC1433E4BFF4}"/>
              </a:ext>
            </a:extLst>
          </p:cNvPr>
          <p:cNvSpPr/>
          <p:nvPr/>
        </p:nvSpPr>
        <p:spPr>
          <a:xfrm>
            <a:off x="588560" y="358611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294;p47">
            <a:extLst>
              <a:ext uri="{FF2B5EF4-FFF2-40B4-BE49-F238E27FC236}">
                <a16:creationId xmlns:a16="http://schemas.microsoft.com/office/drawing/2014/main" id="{3802D893-DE30-87CB-FF4E-78E852F94A8D}"/>
              </a:ext>
            </a:extLst>
          </p:cNvPr>
          <p:cNvSpPr/>
          <p:nvPr/>
        </p:nvSpPr>
        <p:spPr>
          <a:xfrm>
            <a:off x="1514840" y="4460559"/>
            <a:ext cx="99216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295;p47">
            <a:extLst>
              <a:ext uri="{FF2B5EF4-FFF2-40B4-BE49-F238E27FC236}">
                <a16:creationId xmlns:a16="http://schemas.microsoft.com/office/drawing/2014/main" id="{2CE405B5-A041-356B-ED21-9F8CE7C0CE87}"/>
              </a:ext>
            </a:extLst>
          </p:cNvPr>
          <p:cNvSpPr/>
          <p:nvPr/>
        </p:nvSpPr>
        <p:spPr>
          <a:xfrm>
            <a:off x="596120" y="4469199"/>
            <a:ext cx="866520" cy="3870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296;p47">
            <a:extLst>
              <a:ext uri="{FF2B5EF4-FFF2-40B4-BE49-F238E27FC236}">
                <a16:creationId xmlns:a16="http://schemas.microsoft.com/office/drawing/2014/main" id="{0773ADC6-B8C3-3577-908D-76DA86B371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16520" y="1328840"/>
            <a:ext cx="3642840" cy="278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97;p47">
            <a:extLst>
              <a:ext uri="{FF2B5EF4-FFF2-40B4-BE49-F238E27FC236}">
                <a16:creationId xmlns:a16="http://schemas.microsoft.com/office/drawing/2014/main" id="{F3778D90-38BB-2B1A-368D-75B5A25FDD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7520" y="4281999"/>
            <a:ext cx="5216240" cy="1946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75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E870-BB9D-151E-D2B5-255B3CA6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1A4C7-E533-A226-65AD-38616DFB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understanding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C80ED-F821-F0D8-465C-C74D7F7C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734185"/>
            <a:ext cx="3815080" cy="378269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 Report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Purchased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Data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 of data 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Enough data?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Merging various data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F88A6D-1002-525E-2BCA-AD31A23131FF}"/>
              </a:ext>
            </a:extLst>
          </p:cNvPr>
          <p:cNvSpPr txBox="1">
            <a:spLocks/>
          </p:cNvSpPr>
          <p:nvPr/>
        </p:nvSpPr>
        <p:spPr>
          <a:xfrm>
            <a:off x="4262120" y="1734184"/>
            <a:ext cx="7660640" cy="459549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Description Report</a:t>
            </a:r>
          </a:p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Describing Data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Amount of Data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Value Types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Coding Scheme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Data Quantity (Format, method to capture, how large)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Data Quality (characteristic, type of data)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Compute basic stati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 of key attributes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Priority of attributes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13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CB94-1E28-7600-6BC2-8A3EB120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9F66-AEEF-FEBB-D7B2-79604F5A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understanding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AE0E-B92E-F6C6-CD66-B6DD9E6B7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734185"/>
            <a:ext cx="3815080" cy="3782695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20000"/>
          </a:bodyPr>
          <a:lstStyle/>
          <a:p>
            <a:pPr marL="0" lv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Exploration Report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of data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Promising attributes for further analysis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of new characteristics of data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change initial hypothesis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subset of data for later use</a:t>
            </a:r>
          </a:p>
          <a:p>
            <a:pPr lvl="0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with goals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0BFA4C-8359-D647-D675-E0176D1989DA}"/>
              </a:ext>
            </a:extLst>
          </p:cNvPr>
          <p:cNvSpPr txBox="1">
            <a:spLocks/>
          </p:cNvSpPr>
          <p:nvPr/>
        </p:nvSpPr>
        <p:spPr>
          <a:xfrm>
            <a:off x="4262120" y="1734184"/>
            <a:ext cx="7660640" cy="464629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Quality Report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Missing Data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Data Errors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Measurement Errors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Missing attributes and blank fields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Spelling inconsistencies?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Noise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Plausibility check for values (conflict of values)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Considering to exclude data that has no impact to hypothesis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Are data stored in flat files? Are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delimeter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"/>
              </a:rPr>
              <a:t> consistent, How is each record</a:t>
            </a:r>
          </a:p>
        </p:txBody>
      </p:sp>
    </p:spTree>
    <p:extLst>
      <p:ext uri="{BB962C8B-B14F-4D97-AF65-F5344CB8AC3E}">
        <p14:creationId xmlns:p14="http://schemas.microsoft.com/office/powerpoint/2010/main" val="52710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57D9-5160-E37B-2E8F-8FE8BB02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340806"/>
            <a:ext cx="10515600" cy="1325563"/>
          </a:xfrm>
        </p:spPr>
        <p:txBody>
          <a:bodyPr/>
          <a:lstStyle/>
          <a:p>
            <a:r>
              <a:rPr lang="en-US" dirty="0"/>
              <a:t>Data Type Map</a:t>
            </a:r>
          </a:p>
        </p:txBody>
      </p:sp>
      <p:pic>
        <p:nvPicPr>
          <p:cNvPr id="5" name="Google Shape;321;p50">
            <a:extLst>
              <a:ext uri="{FF2B5EF4-FFF2-40B4-BE49-F238E27FC236}">
                <a16:creationId xmlns:a16="http://schemas.microsoft.com/office/drawing/2014/main" id="{D028AE1F-FB01-7DA3-20D6-4C3E2C7608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7706" y="181550"/>
            <a:ext cx="7699654" cy="621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752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3DDA-686E-6183-82FB-E34C7A526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6FA7-35C8-72B3-BBF3-71733CC6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sources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Spreadsheets (Excel, CSV, JSON, etc.)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Databases: can be queried via SQL, etc.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documents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Multimedia documents (audio, video)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sources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data repositories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web pages</a:t>
            </a:r>
          </a:p>
          <a:p>
            <a:pPr marL="457200" lvl="1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47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0104-35C8-2271-E1A3-E3AA97974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C962-28AE-76CD-67E2-4C9C3D93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/>
          <a:lstStyle/>
          <a:p>
            <a:r>
              <a:rPr lang="en-US" dirty="0"/>
              <a:t>Online 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DAFC4-D2BD-FC31-B620-75CF7AF7B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 Satu Data Indonesia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https://data.go.id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 Data Jakarta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https://data.jakarta.go.id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 Data Bandung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http://data.bandung.go.id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Badan Pusat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https://www.bps.go.id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Badan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Geospasial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https://tanahair.indonesia.go.id/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UCI Machine Learning repository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https://archive.ics.uci.edu/ml/index.php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https://www.kaggle.com/datasets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 Bank Open Data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https://data.worldbank.org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UNICEF Data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https://data.unicef.org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Open Data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1"/>
              </a:rPr>
              <a:t>https://www.who.int/data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IBM Data Asset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eXchange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https://developer.ibm.com/exchanges/data/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DBPedia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3"/>
              </a:rPr>
              <a:t>https://www.dbpedia.org/resources/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  <a:p>
            <a:pPr marL="457200" lvl="0" indent="-342900">
              <a:lnSpc>
                <a:spcPct val="115000"/>
              </a:lnSpc>
              <a:spcBef>
                <a:spcPts val="0"/>
              </a:spcBef>
              <a:buClr>
                <a:srgbClr val="262626"/>
              </a:buClr>
              <a:buSzPct val="110599"/>
              <a:buChar char="●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Wikidata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u="sng" dirty="0">
                <a:solidFill>
                  <a:schemeClr val="hlin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4"/>
              </a:rPr>
              <a:t>https://www.wikidata.org/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45670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7988-26C7-9800-1D5E-42E55D56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FE05-F90E-8D68-9B4C-140A1D70D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/>
          <a:lstStyle/>
          <a:p>
            <a:r>
              <a:rPr lang="en-US" dirty="0"/>
              <a:t>Online 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EA23-0F11-8175-286C-EB4D6B33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lvl="0" indent="0">
              <a:spcBef>
                <a:spcPts val="0"/>
              </a:spcBef>
              <a:buClr>
                <a:srgbClr val="262626"/>
              </a:buClr>
              <a:buSzPct val="110599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for datasets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Dataset Search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lvl="0" indent="0">
              <a:spcBef>
                <a:spcPts val="0"/>
              </a:spcBef>
              <a:buClr>
                <a:srgbClr val="262626"/>
              </a:buClr>
              <a:buSzPct val="110599"/>
              <a:buNone/>
            </a:pPr>
            <a:r>
              <a:rPr lang="id" dirty="0"/>
              <a:t> </a:t>
            </a:r>
            <a:r>
              <a:rPr lang="id" u="sng" dirty="0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https://datasetsearch.research.google.com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oogle Shape;367;p53">
            <a:extLst>
              <a:ext uri="{FF2B5EF4-FFF2-40B4-BE49-F238E27FC236}">
                <a16:creationId xmlns:a16="http://schemas.microsoft.com/office/drawing/2014/main" id="{2C0388CF-9B23-A88B-0F44-7E5F283FD7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6420" y="3001802"/>
            <a:ext cx="5127480" cy="2633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042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DAEF-6625-0E84-5D0E-0856B8C3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A921-26AD-9BD5-DC29-4B7EAF38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788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Datum (Data Item)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smallest unit of data.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value for one specific variable.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collection of data items that describes one specific object or entity.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collection of data.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that describes other data.</a:t>
            </a:r>
          </a:p>
        </p:txBody>
      </p:sp>
      <p:pic>
        <p:nvPicPr>
          <p:cNvPr id="4" name="Google Shape;375;p54">
            <a:extLst>
              <a:ext uri="{FF2B5EF4-FFF2-40B4-BE49-F238E27FC236}">
                <a16:creationId xmlns:a16="http://schemas.microsoft.com/office/drawing/2014/main" id="{D5BEF16D-16D2-7A98-65EB-B2EC1141EB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13268" y="2088205"/>
            <a:ext cx="4032636" cy="125164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76;p54">
            <a:extLst>
              <a:ext uri="{FF2B5EF4-FFF2-40B4-BE49-F238E27FC236}">
                <a16:creationId xmlns:a16="http://schemas.microsoft.com/office/drawing/2014/main" id="{AA60FF39-FF5A-25D0-FA99-904ED8574C87}"/>
              </a:ext>
            </a:extLst>
          </p:cNvPr>
          <p:cNvSpPr/>
          <p:nvPr/>
        </p:nvSpPr>
        <p:spPr>
          <a:xfrm>
            <a:off x="8289235" y="2946758"/>
            <a:ext cx="1264257" cy="182880"/>
          </a:xfrm>
          <a:prstGeom prst="rect">
            <a:avLst/>
          </a:prstGeom>
          <a:solidFill>
            <a:schemeClr val="accent4">
              <a:alpha val="4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" name="Google Shape;378;p54">
            <a:extLst>
              <a:ext uri="{FF2B5EF4-FFF2-40B4-BE49-F238E27FC236}">
                <a16:creationId xmlns:a16="http://schemas.microsoft.com/office/drawing/2014/main" id="{9E97C379-DA0A-CC6B-F4AA-6D652AF911E7}"/>
              </a:ext>
            </a:extLst>
          </p:cNvPr>
          <p:cNvCxnSpPr>
            <a:cxnSpLocks/>
          </p:cNvCxnSpPr>
          <p:nvPr/>
        </p:nvCxnSpPr>
        <p:spPr>
          <a:xfrm>
            <a:off x="4104640" y="2088205"/>
            <a:ext cx="4470923" cy="945926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4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379;p54">
            <a:extLst>
              <a:ext uri="{FF2B5EF4-FFF2-40B4-BE49-F238E27FC236}">
                <a16:creationId xmlns:a16="http://schemas.microsoft.com/office/drawing/2014/main" id="{76EC2097-C8B4-713E-BBAE-7B6EDCE5521D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164080" y="3271090"/>
            <a:ext cx="5249188" cy="9144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Google Shape;381;p54">
            <a:extLst>
              <a:ext uri="{FF2B5EF4-FFF2-40B4-BE49-F238E27FC236}">
                <a16:creationId xmlns:a16="http://schemas.microsoft.com/office/drawing/2014/main" id="{11B656A5-1928-404D-1695-288C3EDF7EE0}"/>
              </a:ext>
            </a:extLst>
          </p:cNvPr>
          <p:cNvSpPr/>
          <p:nvPr/>
        </p:nvSpPr>
        <p:spPr>
          <a:xfrm>
            <a:off x="7009075" y="1825625"/>
            <a:ext cx="4731026" cy="176519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77;p54">
            <a:extLst>
              <a:ext uri="{FF2B5EF4-FFF2-40B4-BE49-F238E27FC236}">
                <a16:creationId xmlns:a16="http://schemas.microsoft.com/office/drawing/2014/main" id="{41E7C17F-6E57-0C66-2411-50E49FCA5392}"/>
              </a:ext>
            </a:extLst>
          </p:cNvPr>
          <p:cNvSpPr/>
          <p:nvPr/>
        </p:nvSpPr>
        <p:spPr>
          <a:xfrm>
            <a:off x="7413268" y="3179650"/>
            <a:ext cx="4032636" cy="182880"/>
          </a:xfrm>
          <a:prstGeom prst="roundRect">
            <a:avLst>
              <a:gd name="adj" fmla="val 16667"/>
            </a:avLst>
          </a:prstGeom>
          <a:solidFill>
            <a:schemeClr val="accent1">
              <a:alpha val="49019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382;p54">
            <a:extLst>
              <a:ext uri="{FF2B5EF4-FFF2-40B4-BE49-F238E27FC236}">
                <a16:creationId xmlns:a16="http://schemas.microsoft.com/office/drawing/2014/main" id="{E8FA89DD-A961-3C9C-7122-00FCC793A576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104640" y="3590815"/>
            <a:ext cx="5269948" cy="1091445"/>
          </a:xfrm>
          <a:prstGeom prst="bentConnector2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" name="Google Shape;383;p54">
            <a:extLst>
              <a:ext uri="{FF2B5EF4-FFF2-40B4-BE49-F238E27FC236}">
                <a16:creationId xmlns:a16="http://schemas.microsoft.com/office/drawing/2014/main" id="{4BAE1F00-7300-B43B-55A3-CE3486592EC5}"/>
              </a:ext>
            </a:extLst>
          </p:cNvPr>
          <p:cNvSpPr txBox="1"/>
          <p:nvPr/>
        </p:nvSpPr>
        <p:spPr>
          <a:xfrm>
            <a:off x="6228080" y="4967706"/>
            <a:ext cx="5750559" cy="1015622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"make":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</a:t>
            </a:r>
            <a:r>
              <a:rPr lang="id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pe: string,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Description: Vehicle manufacturer/brand name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384;p54">
            <a:extLst>
              <a:ext uri="{FF2B5EF4-FFF2-40B4-BE49-F238E27FC236}">
                <a16:creationId xmlns:a16="http://schemas.microsoft.com/office/drawing/2014/main" id="{8DDE0FDE-A336-8612-1DC8-3EBDAC28D49C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2712720" y="5475517"/>
            <a:ext cx="3515360" cy="69385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0157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5474-4A02-6FCB-1639-A0859839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/>
          <a:lstStyle/>
          <a:p>
            <a:r>
              <a:rPr lang="en-US" dirty="0"/>
              <a:t>Data Types Based on Structure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27C00-2A9F-78C2-6808-5A73A5949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176280"/>
              </p:ext>
            </p:extLst>
          </p:nvPr>
        </p:nvGraphicFramePr>
        <p:xfrm>
          <a:off x="441960" y="1695026"/>
          <a:ext cx="113080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480">
                  <a:extLst>
                    <a:ext uri="{9D8B030D-6E8A-4147-A177-3AD203B41FA5}">
                      <a16:colId xmlns:a16="http://schemas.microsoft.com/office/drawing/2014/main" val="2636097279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382550333"/>
                    </a:ext>
                  </a:extLst>
                </a:gridCol>
                <a:gridCol w="5496560">
                  <a:extLst>
                    <a:ext uri="{9D8B030D-6E8A-4147-A177-3AD203B41FA5}">
                      <a16:colId xmlns:a16="http://schemas.microsoft.com/office/drawing/2014/main" val="2263938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Structured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Unstructured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79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Has a predefined data model.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items are usually in text format.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items are clearly separated.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Easy to extract and query.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have a predefined data model.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 include text, images, audio, video, and other formats.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items may be difficult to separate because of irregularity and ambiguity.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More difficult to extract and query.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6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Tabular data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Object-oriented data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Time-series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Free-text documents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Audio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Video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746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01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EAB8-18C7-7582-261C-4AA2D56D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Semi-structured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4E80-931F-A33C-D9B3-A321E535D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not follow a fixed tabular structure like a relational database.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Still contains tags or markers that separate meaningful data elements.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represent relationships and hierarchies between data items.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50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6C97-F438-5E3F-C9D0-AB9632717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en-US" dirty="0"/>
              <a:t>Structured vs unstructured</a:t>
            </a:r>
          </a:p>
        </p:txBody>
      </p:sp>
      <p:pic>
        <p:nvPicPr>
          <p:cNvPr id="5" name="Google Shape;399;p56">
            <a:extLst>
              <a:ext uri="{FF2B5EF4-FFF2-40B4-BE49-F238E27FC236}">
                <a16:creationId xmlns:a16="http://schemas.microsoft.com/office/drawing/2014/main" id="{3E8E9C4B-DFB9-2D98-132C-9E51647309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89345" y="1604890"/>
            <a:ext cx="6613309" cy="45520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320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413;p57">
            <a:extLst>
              <a:ext uri="{FF2B5EF4-FFF2-40B4-BE49-F238E27FC236}">
                <a16:creationId xmlns:a16="http://schemas.microsoft.com/office/drawing/2014/main" id="{6BCFB4C3-1B52-7CE9-0F34-28F3AC22EC0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16851" y="1161471"/>
            <a:ext cx="4852197" cy="280420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7D4366-D9E0-3B47-5ABB-1F3E2460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Unstructured data examples</a:t>
            </a:r>
          </a:p>
        </p:txBody>
      </p:sp>
      <p:pic>
        <p:nvPicPr>
          <p:cNvPr id="5" name="Google Shape;407;p57">
            <a:extLst>
              <a:ext uri="{FF2B5EF4-FFF2-40B4-BE49-F238E27FC236}">
                <a16:creationId xmlns:a16="http://schemas.microsoft.com/office/drawing/2014/main" id="{94DA357B-7B85-3FA9-5FD6-35076B9638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688" y="1588776"/>
            <a:ext cx="7006913" cy="96845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408;p57">
            <a:extLst>
              <a:ext uri="{FF2B5EF4-FFF2-40B4-BE49-F238E27FC236}">
                <a16:creationId xmlns:a16="http://schemas.microsoft.com/office/drawing/2014/main" id="{EAB92D7A-4FFD-BA00-7005-81FC974A526C}"/>
              </a:ext>
            </a:extLst>
          </p:cNvPr>
          <p:cNvSpPr txBox="1"/>
          <p:nvPr/>
        </p:nvSpPr>
        <p:spPr>
          <a:xfrm>
            <a:off x="160819" y="2593484"/>
            <a:ext cx="700690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email: semi-structured data; </a:t>
            </a:r>
            <a:r>
              <a:rPr lang="en-US" sz="1400" b="0" i="0" u="none" strike="noStrike" cap="none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content</a:t>
            </a:r>
            <a:r>
              <a:rPr lang="id" sz="1400" b="0" i="0" u="none" strike="noStrike" cap="none" dirty="0">
                <a:solidFill>
                  <a:srgbClr val="0F3570"/>
                </a:solidFill>
                <a:latin typeface="Overlock"/>
                <a:ea typeface="Overlock"/>
                <a:cs typeface="Overlock"/>
                <a:sym typeface="Overlock"/>
              </a:rPr>
              <a:t>: unstructured 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09;p57">
            <a:extLst>
              <a:ext uri="{FF2B5EF4-FFF2-40B4-BE49-F238E27FC236}">
                <a16:creationId xmlns:a16="http://schemas.microsoft.com/office/drawing/2014/main" id="{EA03C342-B9C1-39C8-B568-B28BD0AEDAB0}"/>
              </a:ext>
            </a:extLst>
          </p:cNvPr>
          <p:cNvSpPr/>
          <p:nvPr/>
        </p:nvSpPr>
        <p:spPr>
          <a:xfrm>
            <a:off x="1592940" y="1317524"/>
            <a:ext cx="1107040" cy="36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E</a:t>
            </a:r>
            <a:r>
              <a:rPr lang="id" sz="1800" b="1" i="0" u="none" strike="noStrike" cap="none" dirty="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mail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410;p57">
            <a:extLst>
              <a:ext uri="{FF2B5EF4-FFF2-40B4-BE49-F238E27FC236}">
                <a16:creationId xmlns:a16="http://schemas.microsoft.com/office/drawing/2014/main" id="{0DF515ED-F241-6273-D032-F9B092E7DB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338" y="4373657"/>
            <a:ext cx="5583422" cy="183202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411;p57">
            <a:extLst>
              <a:ext uri="{FF2B5EF4-FFF2-40B4-BE49-F238E27FC236}">
                <a16:creationId xmlns:a16="http://schemas.microsoft.com/office/drawing/2014/main" id="{02DEE239-1739-7457-E28C-4AC094C5EBC3}"/>
              </a:ext>
            </a:extLst>
          </p:cNvPr>
          <p:cNvSpPr/>
          <p:nvPr/>
        </p:nvSpPr>
        <p:spPr>
          <a:xfrm>
            <a:off x="8466163" y="4189011"/>
            <a:ext cx="1953572" cy="36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Social media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412;p57">
            <a:extLst>
              <a:ext uri="{FF2B5EF4-FFF2-40B4-BE49-F238E27FC236}">
                <a16:creationId xmlns:a16="http://schemas.microsoft.com/office/drawing/2014/main" id="{D8A21D3C-3003-9A19-582C-15445EE8A6E7}"/>
              </a:ext>
            </a:extLst>
          </p:cNvPr>
          <p:cNvSpPr/>
          <p:nvPr/>
        </p:nvSpPr>
        <p:spPr>
          <a:xfrm>
            <a:off x="6212338" y="2825191"/>
            <a:ext cx="1861569" cy="36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W</a:t>
            </a:r>
            <a:r>
              <a:rPr lang="id" sz="1800" b="1" i="0" u="none" strike="noStrike" cap="none" dirty="0">
                <a:solidFill>
                  <a:schemeClr val="accent2"/>
                </a:solidFill>
                <a:latin typeface="Overlock"/>
                <a:ea typeface="Overlock"/>
                <a:cs typeface="Overlock"/>
                <a:sym typeface="Overlock"/>
              </a:rPr>
              <a:t>eb pages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414;p57">
            <a:extLst>
              <a:ext uri="{FF2B5EF4-FFF2-40B4-BE49-F238E27FC236}">
                <a16:creationId xmlns:a16="http://schemas.microsoft.com/office/drawing/2014/main" id="{3863AC8C-6D7B-63E0-A40E-3BCF151B5E0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8538" t="9242" r="20115" b="10682"/>
          <a:stretch/>
        </p:blipFill>
        <p:spPr>
          <a:xfrm>
            <a:off x="522465" y="3644675"/>
            <a:ext cx="4306047" cy="256100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1" name="Google Shape;415;p57">
            <a:extLst>
              <a:ext uri="{FF2B5EF4-FFF2-40B4-BE49-F238E27FC236}">
                <a16:creationId xmlns:a16="http://schemas.microsoft.com/office/drawing/2014/main" id="{1FE20F07-BD4B-B790-1D40-D9D7907144F2}"/>
              </a:ext>
            </a:extLst>
          </p:cNvPr>
          <p:cNvSpPr/>
          <p:nvPr/>
        </p:nvSpPr>
        <p:spPr>
          <a:xfrm>
            <a:off x="311688" y="3194482"/>
            <a:ext cx="431384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1" dirty="0">
                <a:solidFill>
                  <a:schemeClr val="accent2"/>
                </a:solidFill>
                <a:latin typeface="Overlock"/>
                <a:ea typeface="Arial"/>
                <a:cs typeface="Arial"/>
                <a:sym typeface="Overlock"/>
              </a:rPr>
              <a:t>Customer review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605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9D8B-BE82-746F-D2B7-90256E4D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B5C7-8D79-46F0-1492-C942CAC2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Types Based on Their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BB37-2BCD-3A8F-C261-EBF2A4CD3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Dichotomous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with only two distinct categories.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Yes/No, Male/Female, Pass/Fail.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Discrete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by counting.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Number of children, population size, number of deaths.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by measurement using a specific scale.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Temperature, weight, height, intelligence score. </a:t>
            </a:r>
          </a:p>
        </p:txBody>
      </p:sp>
    </p:spTree>
    <p:extLst>
      <p:ext uri="{BB962C8B-B14F-4D97-AF65-F5344CB8AC3E}">
        <p14:creationId xmlns:p14="http://schemas.microsoft.com/office/powerpoint/2010/main" val="3428667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206F-9259-C2EE-BC40-E05E41717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A333-7FA9-71EF-9B8D-F9068110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Types Based on Collection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382A-296A-8B63-E3C4-1D1442173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directly by the researcher from the original source.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Interviews, surveys, questionnaires.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by other people or organizations and then used by the researcher.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Government statistics, published reports, existing databases.</a:t>
            </a:r>
          </a:p>
        </p:txBody>
      </p:sp>
    </p:spTree>
    <p:extLst>
      <p:ext uri="{BB962C8B-B14F-4D97-AF65-F5344CB8AC3E}">
        <p14:creationId xmlns:p14="http://schemas.microsoft.com/office/powerpoint/2010/main" val="2827163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C0FB-2AE3-C84F-5592-6E0EE38A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5F2D-5295-CEB2-5F79-89949730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Item Types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60268F-6B0D-2559-B7DD-AED0620B2369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859280"/>
          <a:ext cx="115824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219437525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666428347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465791748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774163069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4069335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the Data Represents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Mathematical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45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Nominal / Categorical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Discrete, unordered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Color: red, green, 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=, 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42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Ordinal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Discrete, ordered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Grades: A, B, C, D, 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Membership,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=, ≠, &lt;, 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83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Interval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Continuous/numeric, ordered; differences are meaningful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Temperature (°C), calendar 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Membership, comparison, difference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=, ≠, &lt;, &gt;, +, 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00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Ratio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Continuous/numeric, ordered; values represent ratios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Road length, temperature (Kelvin)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Membership, comparison, difference,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=, ≠, &lt;, &gt;, +, −, ×, 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21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812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CBB3-D0D6-5CAD-C6BC-B1228475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1529-5C23-B42B-8B1E-FB71ECF0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Item Types (cont.)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F99AA0-ECD6-644C-7190-FA97E1DFC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027009"/>
              </p:ext>
            </p:extLst>
          </p:nvPr>
        </p:nvGraphicFramePr>
        <p:xfrm>
          <a:off x="304800" y="1859280"/>
          <a:ext cx="926592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219437525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666428347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465791748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774163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Typical Value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Distribution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True 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45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Nominal / Categorical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426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Ordinal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Modus, 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Grouping, Range, Interquartile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383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Interval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Modus, median, arithmetic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Grouping, Range, Interquartile Range, Variance, 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00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Ratio</a:t>
                      </a:r>
                      <a:endParaRPr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Modus, median, arithmetic mean, geometric mean, harmonic 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Grouping, Range, Interquartile Range, Variance, Standard Deviation, Coefficient of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216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317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4BDE-091E-7D42-D5CA-8A1A6153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DDF3-5C16-1DE4-9188-48B7D9B6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Types Based 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BCAD-2453-BACD-9021-3BC4F2025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Cross-Sectional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at one specific point in time.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the condition of something at a particular time.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 Financial report as of December 31, 2020; customer data in May 2004.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Data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collected over multiple time periods.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something changes over time.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USD/IDR exchange rates from 2016–2020.</a:t>
            </a:r>
          </a:p>
        </p:txBody>
      </p:sp>
    </p:spTree>
    <p:extLst>
      <p:ext uri="{BB962C8B-B14F-4D97-AF65-F5344CB8AC3E}">
        <p14:creationId xmlns:p14="http://schemas.microsoft.com/office/powerpoint/2010/main" val="4010512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42E30-D356-5091-F8D0-F5121CFE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D002-A788-EB0F-3A59-322F57B6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pt-BR" dirty="0"/>
              <a:t>Data Model Example: Tabular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A179-AF30-1057-0E18-7B33C495F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378584"/>
            <a:ext cx="7456064" cy="481901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Consists of N records.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record contains D attributes.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= row, data point, instance, example, transaction, tuple, entity, object, or feature vector.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 = column, field, dimension, or feature.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attribute usually has the same data type for every record.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structure can be: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Strict: Relational databases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Loose: Excel spreadsheets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Formal query languages can be used depending on the structure.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SQL</a:t>
            </a:r>
          </a:p>
        </p:txBody>
      </p:sp>
      <p:pic>
        <p:nvPicPr>
          <p:cNvPr id="5" name="Google Shape;459;p63">
            <a:extLst>
              <a:ext uri="{FF2B5EF4-FFF2-40B4-BE49-F238E27FC236}">
                <a16:creationId xmlns:a16="http://schemas.microsoft.com/office/drawing/2014/main" id="{5F4E1073-5593-B08C-0E5C-3537788658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0901"/>
          <a:stretch/>
        </p:blipFill>
        <p:spPr>
          <a:xfrm>
            <a:off x="7725304" y="2651760"/>
            <a:ext cx="4197456" cy="1823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4335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C1CB-D51A-C0D8-5AA6-489EEA5F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29BD739-A32D-3890-4837-3547AD572B03}"/>
              </a:ext>
            </a:extLst>
          </p:cNvPr>
          <p:cNvSpPr/>
          <p:nvPr/>
        </p:nvSpPr>
        <p:spPr>
          <a:xfrm>
            <a:off x="7132320" y="4259714"/>
            <a:ext cx="4866640" cy="243572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CFD08-CC9B-3512-98F0-3C3A02650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Model Example: Graph /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0D13-5B04-1081-69D3-8AECA4B6A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378584"/>
            <a:ext cx="6863080" cy="481901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Consists of nodes and edges/connections.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node usually represents one record.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explicitly represent relationships between records.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Hierarchical/tree data models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Object-oriented data models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Modern graph data models include: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Graph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Description Framework (RDF)</a:t>
            </a:r>
          </a:p>
        </p:txBody>
      </p:sp>
      <p:pic>
        <p:nvPicPr>
          <p:cNvPr id="6" name="Google Shape;467;p64">
            <a:extLst>
              <a:ext uri="{FF2B5EF4-FFF2-40B4-BE49-F238E27FC236}">
                <a16:creationId xmlns:a16="http://schemas.microsoft.com/office/drawing/2014/main" id="{F40C9597-9CAB-7015-62A6-644A5C9432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20573"/>
          <a:stretch/>
        </p:blipFill>
        <p:spPr>
          <a:xfrm>
            <a:off x="6878680" y="1139243"/>
            <a:ext cx="5081803" cy="30436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468;p64">
            <a:extLst>
              <a:ext uri="{FF2B5EF4-FFF2-40B4-BE49-F238E27FC236}">
                <a16:creationId xmlns:a16="http://schemas.microsoft.com/office/drawing/2014/main" id="{6C0808A7-D8AC-A530-AD1C-921F95B71D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7926" y="4259714"/>
            <a:ext cx="4544834" cy="2478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69;p64">
            <a:extLst>
              <a:ext uri="{FF2B5EF4-FFF2-40B4-BE49-F238E27FC236}">
                <a16:creationId xmlns:a16="http://schemas.microsoft.com/office/drawing/2014/main" id="{04670284-FCDC-D961-2C99-9509DA57802C}"/>
              </a:ext>
            </a:extLst>
          </p:cNvPr>
          <p:cNvSpPr txBox="1"/>
          <p:nvPr/>
        </p:nvSpPr>
        <p:spPr>
          <a:xfrm>
            <a:off x="7020290" y="5571685"/>
            <a:ext cx="126133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RDF graph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470;p64">
            <a:extLst>
              <a:ext uri="{FF2B5EF4-FFF2-40B4-BE49-F238E27FC236}">
                <a16:creationId xmlns:a16="http://schemas.microsoft.com/office/drawing/2014/main" id="{89C6D46B-BA14-2ED1-8854-6EE5BB4F8921}"/>
              </a:ext>
            </a:extLst>
          </p:cNvPr>
          <p:cNvSpPr txBox="1"/>
          <p:nvPr/>
        </p:nvSpPr>
        <p:spPr>
          <a:xfrm>
            <a:off x="7557445" y="2375794"/>
            <a:ext cx="160690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Property graph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3262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7FEA-7CC9-716B-F842-D8847CBD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E6BF-881A-2A32-2FA2-0C2C1E57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Data Model Example: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65FF-2DFC-61B5-8454-DFFD9B56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40" y="1378584"/>
            <a:ext cx="6863080" cy="481901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Consists of records connected in a sequence.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Temperature sensor readings over a period of time.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structure is defined by the order of the records.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 and video can be viewed as sequence data, although each record may be unstructured.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Contextual attributes define the implicit dependency. Example: Timestamp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 attributes are values recorded within a specific context. Example: Temperature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contextual attribute is time/timestamp, the sequence data is called time-series data.</a:t>
            </a:r>
          </a:p>
        </p:txBody>
      </p:sp>
      <p:pic>
        <p:nvPicPr>
          <p:cNvPr id="5" name="Google Shape;475;p65">
            <a:extLst>
              <a:ext uri="{FF2B5EF4-FFF2-40B4-BE49-F238E27FC236}">
                <a16:creationId xmlns:a16="http://schemas.microsoft.com/office/drawing/2014/main" id="{2D4AE0D3-4DC3-C77F-DB8D-EAE3B7CA6D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32320" y="1518894"/>
            <a:ext cx="4790440" cy="3960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7284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2548" y="1475233"/>
            <a:ext cx="6996700" cy="341376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Any questions?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20704</TotalTime>
  <Words>1456</Words>
  <Application>Microsoft Office PowerPoint</Application>
  <PresentationFormat>Widescreen</PresentationFormat>
  <Paragraphs>246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Lato</vt:lpstr>
      <vt:lpstr>Overlock</vt:lpstr>
      <vt:lpstr>Segoe UI</vt:lpstr>
      <vt:lpstr>Segoe UI Light</vt:lpstr>
      <vt:lpstr>Times New Roman</vt:lpstr>
      <vt:lpstr>Wingdings</vt:lpstr>
      <vt:lpstr>Office Theme</vt:lpstr>
      <vt:lpstr>Applied Data Science – Week 3 Data Understanding</vt:lpstr>
      <vt:lpstr>Outline</vt:lpstr>
      <vt:lpstr>What is data understanding</vt:lpstr>
      <vt:lpstr>Why data understanding is necessary</vt:lpstr>
      <vt:lpstr>Data review process</vt:lpstr>
      <vt:lpstr>Data understanding</vt:lpstr>
      <vt:lpstr>Data understanding documentation</vt:lpstr>
      <vt:lpstr>Data understanding documentation</vt:lpstr>
      <vt:lpstr>Data Type Map</vt:lpstr>
      <vt:lpstr>Data source</vt:lpstr>
      <vt:lpstr>Online data source</vt:lpstr>
      <vt:lpstr>Online data source</vt:lpstr>
      <vt:lpstr>Data Structure</vt:lpstr>
      <vt:lpstr>Data Types Based on Structure</vt:lpstr>
      <vt:lpstr>Semi-structured data</vt:lpstr>
      <vt:lpstr>Structured vs unstructured</vt:lpstr>
      <vt:lpstr>Unstructured data examples</vt:lpstr>
      <vt:lpstr>Data Types Based on Their Properties</vt:lpstr>
      <vt:lpstr>Data Types Based on Collection Method</vt:lpstr>
      <vt:lpstr>Data Item Types</vt:lpstr>
      <vt:lpstr>Data Item Types (cont.)</vt:lpstr>
      <vt:lpstr>Data Types Based on Time</vt:lpstr>
      <vt:lpstr>Data Model Example: Tabular Data</vt:lpstr>
      <vt:lpstr>Data Model Example: Graph / Network</vt:lpstr>
      <vt:lpstr>Data Model Example: Sequence</vt:lpstr>
      <vt:lpstr>Thank you 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Windows</dc:creator>
  <cp:lastModifiedBy>Anindita</cp:lastModifiedBy>
  <cp:revision>79</cp:revision>
  <dcterms:created xsi:type="dcterms:W3CDTF">2018-05-08T06:50:11Z</dcterms:created>
  <dcterms:modified xsi:type="dcterms:W3CDTF">2026-09-07T09:43:15Z</dcterms:modified>
</cp:coreProperties>
</file>