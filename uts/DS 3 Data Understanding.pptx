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501" r:id="rId3"/>
    <p:sldId id="657" r:id="rId4"/>
    <p:sldId id="265" r:id="rId5"/>
    <p:sldId id="658" r:id="rId6"/>
    <p:sldId id="266" r:id="rId7"/>
    <p:sldId id="659" r:id="rId8"/>
    <p:sldId id="684" r:id="rId9"/>
    <p:sldId id="661" r:id="rId10"/>
    <p:sldId id="662" r:id="rId11"/>
    <p:sldId id="663" r:id="rId12"/>
    <p:sldId id="665" r:id="rId13"/>
    <p:sldId id="667" r:id="rId14"/>
    <p:sldId id="685" r:id="rId15"/>
    <p:sldId id="668" r:id="rId16"/>
    <p:sldId id="669" r:id="rId17"/>
    <p:sldId id="686" r:id="rId18"/>
    <p:sldId id="670" r:id="rId19"/>
    <p:sldId id="275" r:id="rId20"/>
    <p:sldId id="673" r:id="rId21"/>
    <p:sldId id="671" r:id="rId22"/>
    <p:sldId id="276" r:id="rId23"/>
    <p:sldId id="672" r:id="rId24"/>
    <p:sldId id="674" r:id="rId25"/>
    <p:sldId id="677" r:id="rId26"/>
    <p:sldId id="280" r:id="rId27"/>
    <p:sldId id="675" r:id="rId28"/>
    <p:sldId id="279" r:id="rId29"/>
    <p:sldId id="679" r:id="rId30"/>
    <p:sldId id="281" r:id="rId31"/>
    <p:sldId id="678" r:id="rId32"/>
    <p:sldId id="282" r:id="rId33"/>
    <p:sldId id="680" r:id="rId34"/>
    <p:sldId id="283" r:id="rId35"/>
    <p:sldId id="681" r:id="rId36"/>
    <p:sldId id="284" r:id="rId37"/>
    <p:sldId id="682" r:id="rId38"/>
    <p:sldId id="285" r:id="rId39"/>
    <p:sldId id="683" r:id="rId40"/>
    <p:sldId id="286" r:id="rId41"/>
    <p:sldId id="688" r:id="rId42"/>
    <p:sldId id="693" r:id="rId43"/>
    <p:sldId id="689" r:id="rId44"/>
    <p:sldId id="690" r:id="rId45"/>
    <p:sldId id="691" r:id="rId46"/>
    <p:sldId id="36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76863" autoAdjust="0"/>
  </p:normalViewPr>
  <p:slideViewPr>
    <p:cSldViewPr snapToGrid="0">
      <p:cViewPr varScale="1">
        <p:scale>
          <a:sx n="63" d="100"/>
          <a:sy n="63" d="100"/>
        </p:scale>
        <p:origin x="1454" y="62"/>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D5B8C-23F7-4E91-B259-614B167A5F09}"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030B7-44DA-4342-8AD0-73CA5C2F33F6}" type="slidenum">
              <a:rPr lang="en-US" smtClean="0"/>
              <a:t>‹#›</a:t>
            </a:fld>
            <a:endParaRPr lang="en-US"/>
          </a:p>
        </p:txBody>
      </p:sp>
    </p:spTree>
    <p:extLst>
      <p:ext uri="{BB962C8B-B14F-4D97-AF65-F5344CB8AC3E}">
        <p14:creationId xmlns:p14="http://schemas.microsoft.com/office/powerpoint/2010/main" val="310178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commons.wikimedia.org/wiki/File:Time_series_of_active_COVID-19_cases,_most_affected_countries_as_of_2020-03-21.svg"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creativecommons.org/licenses/by-sa/4.0"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id" sz="1100" dirty="0">
                <a:latin typeface="Calibri"/>
                <a:ea typeface="Calibri"/>
                <a:cs typeface="Calibri"/>
                <a:sym typeface="Calibri"/>
              </a:rPr>
              <a:t>Penerapan </a:t>
            </a:r>
            <a:r>
              <a:rPr lang="id" sz="1100" i="1" dirty="0">
                <a:latin typeface="Calibri"/>
                <a:ea typeface="Calibri"/>
                <a:cs typeface="Calibri"/>
                <a:sym typeface="Calibri"/>
              </a:rPr>
              <a:t>artificial intelligence </a:t>
            </a:r>
            <a:r>
              <a:rPr lang="id" sz="1100" dirty="0">
                <a:latin typeface="Calibri"/>
                <a:ea typeface="Calibri"/>
                <a:cs typeface="Calibri"/>
                <a:sym typeface="Calibri"/>
              </a:rPr>
              <a:t>(AI)</a:t>
            </a:r>
            <a:r>
              <a:rPr lang="id" sz="1100" i="1" dirty="0">
                <a:latin typeface="Calibri"/>
                <a:ea typeface="Calibri"/>
                <a:cs typeface="Calibri"/>
                <a:sym typeface="Calibri"/>
              </a:rPr>
              <a:t> </a:t>
            </a:r>
            <a:r>
              <a:rPr lang="id" sz="1100" dirty="0">
                <a:latin typeface="Calibri"/>
                <a:ea typeface="Calibri"/>
                <a:cs typeface="Calibri"/>
                <a:sym typeface="Calibri"/>
              </a:rPr>
              <a:t>d dunia nyata sering diletakkan dalam kerangka metodologi sains data yang juga lazim diadopsi sebagai langkah-langkah pengembangan solusi AI. Metodologi sains data tersebut bertujuan untuk secara sistematis mengekstraksi pengetahuan yang bermanfaat bagi pemecahan permasalahan-permasalahan bisnis yang dihadapi. Formulasi metodologi sains data mengadopsi </a:t>
            </a:r>
            <a:r>
              <a:rPr lang="id" sz="1100" i="1" dirty="0">
                <a:latin typeface="Calibri"/>
                <a:ea typeface="Calibri"/>
                <a:cs typeface="Calibri"/>
                <a:sym typeface="Calibri"/>
              </a:rPr>
              <a:t>Cross-Industry Standard Process for Data Mining</a:t>
            </a:r>
            <a:r>
              <a:rPr lang="id" sz="1100" dirty="0">
                <a:latin typeface="Calibri"/>
                <a:ea typeface="Calibri"/>
                <a:cs typeface="Calibri"/>
                <a:sym typeface="Calibri"/>
              </a:rPr>
              <a:t> (CRISP-DM) yang dapat dinyatakan dalam beberapa langkah yang tergambar pada Gambar. Secara umum, keseluruhan metodologi terdiri dari serangkaian proses yang bersifat iteratif. Penjelasan secara lebih terperinci mengenai metodologi sains data secara keseluruhan dapat dilihat pada modul “Metodologi Pengembangan AI Menggunakan Data”. Sementara itu, modul ini berfokus pada tahapan </a:t>
            </a:r>
            <a:r>
              <a:rPr lang="id" sz="1100" i="1" dirty="0">
                <a:latin typeface="Calibri"/>
                <a:ea typeface="Calibri"/>
                <a:cs typeface="Calibri"/>
                <a:sym typeface="Calibri"/>
              </a:rPr>
              <a:t>data understanding</a:t>
            </a:r>
            <a:r>
              <a:rPr lang="id" sz="1100" dirty="0">
                <a:latin typeface="Calibri"/>
                <a:ea typeface="Calibri"/>
                <a:cs typeface="Calibri"/>
                <a:sym typeface="Calibri"/>
              </a:rPr>
              <a:t> (pemahaman data). </a:t>
            </a:r>
            <a:endParaRPr dirty="0"/>
          </a:p>
          <a:p>
            <a:pPr marL="457200" marR="0" lvl="0" indent="-298450" algn="l" rtl="0">
              <a:lnSpc>
                <a:spcPct val="100000"/>
              </a:lnSpc>
              <a:spcBef>
                <a:spcPts val="0"/>
              </a:spcBef>
              <a:spcAft>
                <a:spcPts val="0"/>
              </a:spcAft>
              <a:buClr>
                <a:srgbClr val="000000"/>
              </a:buClr>
              <a:buSzPts val="1100"/>
              <a:buFont typeface="Arial"/>
              <a:buChar char="●"/>
            </a:pPr>
            <a:r>
              <a:rPr lang="id" sz="1100" dirty="0">
                <a:latin typeface="Calibri"/>
                <a:ea typeface="Calibri"/>
                <a:cs typeface="Calibri"/>
                <a:sym typeface="Calibri"/>
              </a:rPr>
              <a:t>Tahapan </a:t>
            </a:r>
            <a:r>
              <a:rPr lang="id" sz="1100" i="1" dirty="0">
                <a:latin typeface="Calibri"/>
                <a:ea typeface="Calibri"/>
                <a:cs typeface="Calibri"/>
                <a:sym typeface="Calibri"/>
              </a:rPr>
              <a:t>data understanding</a:t>
            </a:r>
            <a:r>
              <a:rPr lang="id" sz="1100" dirty="0">
                <a:latin typeface="Calibri"/>
                <a:ea typeface="Calibri"/>
                <a:cs typeface="Calibri"/>
                <a:sym typeface="Calibri"/>
              </a:rPr>
              <a:t> dilakukan setelah permasalahan bisnis yang mendasari pengembangan solusi AI didefinisikan dengan jelas pada tahapan </a:t>
            </a:r>
            <a:r>
              <a:rPr lang="id" sz="1100" i="1" dirty="0">
                <a:latin typeface="Calibri"/>
                <a:ea typeface="Calibri"/>
                <a:cs typeface="Calibri"/>
                <a:sym typeface="Calibri"/>
              </a:rPr>
              <a:t>business understanding</a:t>
            </a:r>
            <a:r>
              <a:rPr lang="id" sz="1100" dirty="0">
                <a:latin typeface="Calibri"/>
                <a:ea typeface="Calibri"/>
                <a:cs typeface="Calibri"/>
                <a:sym typeface="Calibri"/>
              </a:rPr>
              <a:t> yang rinciannya dibahas di modul “Business Understanding”.  Tahapan ini dilakukan dengan tujuan mendapatkan gambaran</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82880" marR="0" lvl="0" indent="-182880" algn="just" rtl="0">
              <a:lnSpc>
                <a:spcPct val="125000"/>
              </a:lnSpc>
              <a:spcBef>
                <a:spcPts val="0"/>
              </a:spcBef>
              <a:spcAft>
                <a:spcPts val="0"/>
              </a:spcAft>
              <a:buSzPts val="1100"/>
              <a:buChar char="●"/>
            </a:pPr>
            <a:r>
              <a:rPr lang="id" sz="1800">
                <a:latin typeface="Calibri"/>
                <a:ea typeface="Calibri"/>
                <a:cs typeface="Calibri"/>
                <a:sym typeface="Calibri"/>
              </a:rPr>
              <a:t>Data biasanya tersedia dalam bentuk kumpulan-kumpulan data yang dapat berada dalam keadaan terpisah-pisah, ataupun terintegrasi secara ketat dan rumit. Masing-masing kumpulan data tersebut pada awalnya dibuat dengan maksud dan tujuan tertentu yang tidak hanya berbeda satu sama lainnya, namun juga dapat berbeda dengan tujuan pengembangan yang tersirat dari definisi permasalahan bisnis yang dihadapi. Oleh sebab itu, setiap kumpulan data tersebut memiliki kekuatan dan batasannya masing-masing serta tingkat kesesuaian yang berbeda-beda dengan permasalahan bisnis yang akan dipecahkan. Akibatnya, pengembangan solusi AI untuk permasalahan bisnis tersebut mungkin saja membutuhkan perpaduan beberapa kumpulan data dari sumber-sumber yang berbeda. </a:t>
            </a:r>
            <a:endParaRPr sz="1800">
              <a:latin typeface="Calibri"/>
              <a:ea typeface="Calibri"/>
              <a:cs typeface="Calibri"/>
              <a:sym typeface="Calibri"/>
            </a:endParaRPr>
          </a:p>
          <a:p>
            <a:pPr marL="182880" marR="0" lvl="0" indent="-182880" algn="just" rtl="0">
              <a:lnSpc>
                <a:spcPct val="125000"/>
              </a:lnSpc>
              <a:spcBef>
                <a:spcPts val="600"/>
              </a:spcBef>
              <a:spcAft>
                <a:spcPts val="0"/>
              </a:spcAft>
              <a:buSzPts val="1100"/>
              <a:buChar char="●"/>
            </a:pPr>
            <a:r>
              <a:rPr lang="id" sz="1800">
                <a:latin typeface="Calibri"/>
                <a:ea typeface="Calibri"/>
                <a:cs typeface="Calibri"/>
                <a:sym typeface="Calibri"/>
              </a:rPr>
              <a:t>Sebagai contoh, data yang berada di dalam basis data pelanggan, basis data transaksi, dan basis data pemasaran dari sebuah perusahaan yang sama akan mencakup aspek informasi yang berbeda atas sebuah populasi pelanggan yang sama. Tidak hanya itu, masing-masing sumber data tersebut akan memiliki tingkat kekayaan (</a:t>
            </a:r>
            <a:r>
              <a:rPr lang="id" sz="1800" i="1">
                <a:latin typeface="Calibri"/>
                <a:ea typeface="Calibri"/>
                <a:cs typeface="Calibri"/>
                <a:sym typeface="Calibri"/>
              </a:rPr>
              <a:t>richness</a:t>
            </a:r>
            <a:r>
              <a:rPr lang="id" sz="1800">
                <a:latin typeface="Calibri"/>
                <a:ea typeface="Calibri"/>
                <a:cs typeface="Calibri"/>
                <a:sym typeface="Calibri"/>
              </a:rPr>
              <a:t>) data serta keandalan (</a:t>
            </a:r>
            <a:r>
              <a:rPr lang="id" sz="1800" i="1">
                <a:latin typeface="Calibri"/>
                <a:ea typeface="Calibri"/>
                <a:cs typeface="Calibri"/>
                <a:sym typeface="Calibri"/>
              </a:rPr>
              <a:t>reliability</a:t>
            </a:r>
            <a:r>
              <a:rPr lang="id" sz="1800">
                <a:latin typeface="Calibri"/>
                <a:ea typeface="Calibri"/>
                <a:cs typeface="Calibri"/>
                <a:sym typeface="Calibri"/>
              </a:rPr>
              <a:t>) data yang berbeda-beda pula. Di sini, tahapan </a:t>
            </a:r>
            <a:r>
              <a:rPr lang="id" sz="1800" i="1">
                <a:latin typeface="Calibri"/>
                <a:ea typeface="Calibri"/>
                <a:cs typeface="Calibri"/>
                <a:sym typeface="Calibri"/>
              </a:rPr>
              <a:t>data understanding</a:t>
            </a:r>
            <a:r>
              <a:rPr lang="id" sz="1800">
                <a:latin typeface="Calibri"/>
                <a:ea typeface="Calibri"/>
                <a:cs typeface="Calibri"/>
                <a:sym typeface="Calibri"/>
              </a:rPr>
              <a:t> dimaksudkan untuk memberikan gambaran awal tentang kekuatan dan batasan data serta tingkat kesesuaiannya dengan permasalahan bisnis sebelum langkah-langkah pengembangan solusi AI yang lebih lanjut dapat dilakukan dengan baik. </a:t>
            </a:r>
            <a:endParaRPr/>
          </a:p>
          <a:p>
            <a:pPr marL="182880" marR="0" lvl="0" indent="-182880" algn="just" rtl="0">
              <a:lnSpc>
                <a:spcPct val="125000"/>
              </a:lnSpc>
              <a:spcBef>
                <a:spcPts val="600"/>
              </a:spcBef>
              <a:spcAft>
                <a:spcPts val="600"/>
              </a:spcAft>
              <a:buSzPts val="1100"/>
              <a:buChar char="●"/>
            </a:pPr>
            <a:r>
              <a:rPr lang="id" sz="1800">
                <a:latin typeface="Calibri"/>
                <a:ea typeface="Calibri"/>
                <a:cs typeface="Calibri"/>
                <a:sym typeface="Calibri"/>
              </a:rPr>
              <a:t>Di samping untuk mendapatkan gambaran awal mengenai data, tahapan </a:t>
            </a:r>
            <a:r>
              <a:rPr lang="id" sz="1800" i="1">
                <a:latin typeface="Calibri"/>
                <a:ea typeface="Calibri"/>
                <a:cs typeface="Calibri"/>
                <a:sym typeface="Calibri"/>
              </a:rPr>
              <a:t>data understanding</a:t>
            </a:r>
            <a:r>
              <a:rPr lang="id" sz="1800">
                <a:latin typeface="Calibri"/>
                <a:ea typeface="Calibri"/>
                <a:cs typeface="Calibri"/>
                <a:sym typeface="Calibri"/>
              </a:rPr>
              <a:t> juga berguna untuk mengetahui ketersediaan data. Ada data yang tersedia secara terbuka dan bebas. Ada pula data yang untuk mendapatkannya, kita harus mengeluarkan biaya tertentu atau menyiapkan sumber daya dan usaha tersendiri. Bahkan, ada data yang justru belum tersedia pada saat dibutuhkan untuk pengembangan solusi AI sehingga kita harus menjalankan suatu proyek pembuatan atau pengumpulan data tersendiri untuk mendapatkannya.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yang </a:t>
            </a:r>
            <a:r>
              <a:rPr lang="en-US" dirty="0" err="1"/>
              <a:t>kita</a:t>
            </a:r>
            <a:r>
              <a:rPr lang="en-US" dirty="0"/>
              <a:t> </a:t>
            </a:r>
            <a:r>
              <a:rPr lang="en-US" dirty="0" err="1"/>
              <a:t>miliki</a:t>
            </a:r>
            <a:r>
              <a:rPr lang="en-US" dirty="0"/>
              <a:t> </a:t>
            </a:r>
            <a:r>
              <a:rPr lang="en-US" dirty="0" err="1"/>
              <a:t>bentuknya</a:t>
            </a:r>
            <a:r>
              <a:rPr lang="en-US" dirty="0"/>
              <a:t> </a:t>
            </a:r>
            <a:r>
              <a:rPr lang="en-US" dirty="0" err="1"/>
              <a:t>seperti</a:t>
            </a:r>
            <a:r>
              <a:rPr lang="en-US" dirty="0"/>
              <a:t> </a:t>
            </a:r>
            <a:r>
              <a:rPr lang="en-US" dirty="0" err="1"/>
              <a:t>apa</a:t>
            </a:r>
            <a:r>
              <a:rPr lang="en-US" dirty="0"/>
              <a:t>?”</a:t>
            </a:r>
          </a:p>
          <a:p>
            <a:r>
              <a:rPr lang="en-US" dirty="0"/>
              <a:t>Karena </a:t>
            </a:r>
            <a:r>
              <a:rPr lang="en-US" b="1" dirty="0" err="1"/>
              <a:t>jenis</a:t>
            </a:r>
            <a:r>
              <a:rPr lang="en-US" b="1" dirty="0"/>
              <a:t> data </a:t>
            </a:r>
            <a:r>
              <a:rPr lang="en-US" b="1" dirty="0" err="1"/>
              <a:t>menentukan</a:t>
            </a:r>
            <a:r>
              <a:rPr lang="en-US" b="1" dirty="0"/>
              <a:t> </a:t>
            </a:r>
            <a:r>
              <a:rPr lang="en-US" b="1" dirty="0" err="1"/>
              <a:t>bagaimana</a:t>
            </a:r>
            <a:r>
              <a:rPr lang="en-US" b="1" dirty="0"/>
              <a:t> data </a:t>
            </a:r>
            <a:r>
              <a:rPr lang="en-US" b="1" dirty="0" err="1"/>
              <a:t>akan</a:t>
            </a:r>
            <a:r>
              <a:rPr lang="en-US" b="1" dirty="0"/>
              <a:t> </a:t>
            </a:r>
            <a:r>
              <a:rPr lang="en-US" b="1" dirty="0" err="1"/>
              <a:t>dipahami</a:t>
            </a:r>
            <a:r>
              <a:rPr lang="en-US" b="1" dirty="0"/>
              <a:t> dan </a:t>
            </a:r>
            <a:r>
              <a:rPr lang="en-US" b="1" dirty="0" err="1"/>
              <a:t>diolah</a:t>
            </a:r>
            <a:r>
              <a:rPr lang="en-US" dirty="0"/>
              <a:t>.</a:t>
            </a:r>
          </a:p>
          <a:p>
            <a:r>
              <a:rPr lang="en-US" b="1" dirty="0"/>
              <a:t>“Data </a:t>
            </a:r>
            <a:r>
              <a:rPr lang="en-US" b="1" dirty="0" err="1"/>
              <a:t>apa</a:t>
            </a:r>
            <a:r>
              <a:rPr lang="en-US" b="1" dirty="0"/>
              <a:t> yang </a:t>
            </a:r>
            <a:r>
              <a:rPr lang="en-US" b="1" dirty="0" err="1"/>
              <a:t>kita</a:t>
            </a:r>
            <a:r>
              <a:rPr lang="en-US" b="1" dirty="0"/>
              <a:t> punya?”</a:t>
            </a:r>
            <a:br>
              <a:rPr lang="en-US" dirty="0"/>
            </a:br>
            <a:r>
              <a:rPr lang="en-US" b="1" dirty="0"/>
              <a:t>“</a:t>
            </a:r>
            <a:r>
              <a:rPr lang="en-US" b="1" dirty="0" err="1"/>
              <a:t>Bagaimana</a:t>
            </a:r>
            <a:r>
              <a:rPr lang="en-US" b="1" dirty="0"/>
              <a:t> </a:t>
            </a:r>
            <a:r>
              <a:rPr lang="en-US" b="1" dirty="0" err="1"/>
              <a:t>bentuknya</a:t>
            </a:r>
            <a:r>
              <a:rPr lang="en-US" b="1" dirty="0"/>
              <a:t>?”</a:t>
            </a:r>
            <a:br>
              <a:rPr lang="en-US" dirty="0"/>
            </a:br>
            <a:r>
              <a:rPr lang="en-US" b="1" dirty="0"/>
              <a:t>“</a:t>
            </a:r>
            <a:r>
              <a:rPr lang="en-US" b="1" dirty="0" err="1"/>
              <a:t>Berapa</a:t>
            </a:r>
            <a:r>
              <a:rPr lang="en-US" b="1" dirty="0"/>
              <a:t> </a:t>
            </a:r>
            <a:r>
              <a:rPr lang="en-US" b="1" dirty="0" err="1"/>
              <a:t>banyak</a:t>
            </a:r>
            <a:r>
              <a:rPr lang="en-US" b="1" dirty="0"/>
              <a:t>?”</a:t>
            </a:r>
            <a:br>
              <a:rPr lang="en-US" dirty="0"/>
            </a:br>
            <a:r>
              <a:rPr lang="en-US" b="1" dirty="0"/>
              <a:t>“Apa </a:t>
            </a:r>
            <a:r>
              <a:rPr lang="en-US" b="1" dirty="0" err="1"/>
              <a:t>karakteristiknya</a:t>
            </a:r>
            <a:r>
              <a:rPr lang="en-US" b="1" dirty="0"/>
              <a:t>?”</a:t>
            </a:r>
            <a:br>
              <a:rPr lang="en-US" dirty="0"/>
            </a:br>
            <a:r>
              <a:rPr lang="en-US" b="1" dirty="0"/>
              <a:t>“</a:t>
            </a:r>
            <a:r>
              <a:rPr lang="en-US" b="1" dirty="0" err="1"/>
              <a:t>Apakah</a:t>
            </a:r>
            <a:r>
              <a:rPr lang="en-US" b="1" dirty="0"/>
              <a:t> data </a:t>
            </a:r>
            <a:r>
              <a:rPr lang="en-US" b="1" dirty="0" err="1"/>
              <a:t>tersebut</a:t>
            </a:r>
            <a:r>
              <a:rPr lang="en-US" b="1" dirty="0"/>
              <a:t> </a:t>
            </a:r>
            <a:r>
              <a:rPr lang="en-US" b="1" dirty="0" err="1"/>
              <a:t>sesuai</a:t>
            </a:r>
            <a:r>
              <a:rPr lang="en-US" b="1" dirty="0"/>
              <a:t> </a:t>
            </a:r>
            <a:r>
              <a:rPr lang="en-US" b="1" dirty="0" err="1"/>
              <a:t>dengan</a:t>
            </a:r>
            <a:r>
              <a:rPr lang="en-US" b="1" dirty="0"/>
              <a:t> </a:t>
            </a:r>
            <a:r>
              <a:rPr lang="en-US" b="1" dirty="0" err="1"/>
              <a:t>masalah</a:t>
            </a:r>
            <a:r>
              <a:rPr lang="en-US" b="1" dirty="0"/>
              <a:t> yang </a:t>
            </a:r>
            <a:r>
              <a:rPr lang="en-US" b="1" dirty="0" err="1"/>
              <a:t>ingin</a:t>
            </a:r>
            <a:r>
              <a:rPr lang="en-US" b="1" dirty="0"/>
              <a:t> </a:t>
            </a:r>
            <a:r>
              <a:rPr lang="en-US" b="1" dirty="0" err="1"/>
              <a:t>diselesaikan</a:t>
            </a:r>
            <a:r>
              <a:rPr lang="en-US" b="1" dirty="0"/>
              <a:t>?”</a:t>
            </a:r>
          </a:p>
          <a:p>
            <a:endParaRPr lang="en-US" dirty="0"/>
          </a:p>
          <a:p>
            <a:endParaRPr lang="en-US" dirty="0"/>
          </a:p>
          <a:p>
            <a:r>
              <a:rPr lang="en-US" dirty="0" err="1"/>
              <a:t>Misalnya</a:t>
            </a:r>
            <a:r>
              <a:rPr lang="en-US" dirty="0"/>
              <a:t>:</a:t>
            </a:r>
          </a:p>
          <a:p>
            <a:r>
              <a:rPr lang="en-US" b="1" dirty="0"/>
              <a:t>Data </a:t>
            </a:r>
            <a:r>
              <a:rPr lang="en-US" b="1" dirty="0" err="1"/>
              <a:t>mahasiswa</a:t>
            </a:r>
            <a:r>
              <a:rPr lang="en-US" dirty="0"/>
              <a:t> → </a:t>
            </a:r>
            <a:r>
              <a:rPr lang="en-US" dirty="0" err="1"/>
              <a:t>kita</a:t>
            </a:r>
            <a:r>
              <a:rPr lang="en-US" dirty="0"/>
              <a:t> </a:t>
            </a:r>
            <a:r>
              <a:rPr lang="en-US" dirty="0" err="1"/>
              <a:t>dapat</a:t>
            </a:r>
            <a:r>
              <a:rPr lang="en-US" dirty="0"/>
              <a:t> </a:t>
            </a:r>
            <a:r>
              <a:rPr lang="en-US" dirty="0" err="1"/>
              <a:t>melihat</a:t>
            </a:r>
            <a:r>
              <a:rPr lang="en-US" dirty="0"/>
              <a:t> baris, </a:t>
            </a:r>
            <a:r>
              <a:rPr lang="en-US" dirty="0" err="1"/>
              <a:t>kolom</a:t>
            </a:r>
            <a:r>
              <a:rPr lang="en-US" dirty="0"/>
              <a:t>, dan </a:t>
            </a:r>
            <a:r>
              <a:rPr lang="en-US" dirty="0" err="1"/>
              <a:t>statistik</a:t>
            </a:r>
            <a:r>
              <a:rPr lang="en-US" dirty="0"/>
              <a:t>.</a:t>
            </a:r>
          </a:p>
          <a:p>
            <a:r>
              <a:rPr lang="en-US" dirty="0" err="1"/>
              <a:t>Sedangkan</a:t>
            </a:r>
            <a:r>
              <a:rPr lang="en-US" dirty="0"/>
              <a:t>:</a:t>
            </a:r>
          </a:p>
          <a:p>
            <a:r>
              <a:rPr lang="en-US" b="1" dirty="0"/>
              <a:t>Foto </a:t>
            </a:r>
            <a:r>
              <a:rPr lang="en-US" b="1" dirty="0" err="1"/>
              <a:t>rontgen</a:t>
            </a:r>
            <a:r>
              <a:rPr lang="en-US" dirty="0"/>
              <a:t> → </a:t>
            </a:r>
            <a:r>
              <a:rPr lang="en-US" dirty="0" err="1"/>
              <a:t>kita</a:t>
            </a:r>
            <a:r>
              <a:rPr lang="en-US" dirty="0"/>
              <a:t> </a:t>
            </a:r>
            <a:r>
              <a:rPr lang="en-US" dirty="0" err="1"/>
              <a:t>perlu</a:t>
            </a:r>
            <a:r>
              <a:rPr lang="en-US" dirty="0"/>
              <a:t> </a:t>
            </a:r>
            <a:r>
              <a:rPr lang="en-US" dirty="0" err="1"/>
              <a:t>melihat</a:t>
            </a:r>
            <a:r>
              <a:rPr lang="en-US" dirty="0"/>
              <a:t> </a:t>
            </a:r>
            <a:r>
              <a:rPr lang="en-US" dirty="0" err="1"/>
              <a:t>ukuran</a:t>
            </a:r>
            <a:r>
              <a:rPr lang="en-US" dirty="0"/>
              <a:t> </a:t>
            </a:r>
            <a:r>
              <a:rPr lang="en-US" dirty="0" err="1"/>
              <a:t>gambar</a:t>
            </a:r>
            <a:r>
              <a:rPr lang="en-US" dirty="0"/>
              <a:t>, </a:t>
            </a:r>
            <a:r>
              <a:rPr lang="en-US" dirty="0" err="1"/>
              <a:t>resolusi</a:t>
            </a:r>
            <a:r>
              <a:rPr lang="en-US" dirty="0"/>
              <a:t>, format file, </a:t>
            </a:r>
            <a:r>
              <a:rPr lang="en-US" dirty="0" err="1"/>
              <a:t>distribusi</a:t>
            </a:r>
            <a:r>
              <a:rPr lang="en-US" dirty="0"/>
              <a:t> pixel, </a:t>
            </a:r>
            <a:r>
              <a:rPr lang="en-US" dirty="0" err="1"/>
              <a:t>kualitas</a:t>
            </a:r>
            <a:r>
              <a:rPr lang="en-US" dirty="0"/>
              <a:t> </a:t>
            </a:r>
            <a:r>
              <a:rPr lang="en-US" dirty="0" err="1"/>
              <a:t>gambar</a:t>
            </a:r>
            <a:r>
              <a:rPr lang="en-US" dirty="0"/>
              <a:t>, dan </a:t>
            </a:r>
            <a:r>
              <a:rPr lang="en-US" dirty="0" err="1"/>
              <a:t>sebagainya</a:t>
            </a:r>
            <a:r>
              <a:rPr lang="en-US" dirty="0"/>
              <a:t>.</a:t>
            </a:r>
          </a:p>
          <a:p>
            <a:endParaRPr lang="en-US" dirty="0"/>
          </a:p>
          <a:p>
            <a:r>
              <a:rPr lang="en-US" dirty="0" err="1"/>
              <a:t>proporsi</a:t>
            </a:r>
            <a:r>
              <a:rPr lang="en-US" dirty="0"/>
              <a:t> data sangat </a:t>
            </a:r>
            <a:r>
              <a:rPr lang="en-US" dirty="0" err="1"/>
              <a:t>bergantung</a:t>
            </a:r>
            <a:r>
              <a:rPr lang="en-US" dirty="0"/>
              <a:t> pada </a:t>
            </a:r>
            <a:r>
              <a:rPr lang="en-US" dirty="0" err="1"/>
              <a:t>definisi</a:t>
            </a:r>
            <a:r>
              <a:rPr lang="en-US" dirty="0"/>
              <a:t>, </a:t>
            </a:r>
            <a:r>
              <a:rPr lang="en-US" dirty="0" err="1"/>
              <a:t>organisasi</a:t>
            </a:r>
            <a:r>
              <a:rPr lang="en-US" dirty="0"/>
              <a:t>, dan </a:t>
            </a:r>
            <a:r>
              <a:rPr lang="en-US" dirty="0" err="1"/>
              <a:t>sumber</a:t>
            </a:r>
            <a:r>
              <a:rPr lang="en-US" dirty="0"/>
              <a:t> data. </a:t>
            </a:r>
            <a:r>
              <a:rPr lang="en-US" dirty="0" err="1"/>
              <a:t>Fokuskan</a:t>
            </a:r>
            <a:r>
              <a:rPr lang="en-US" dirty="0"/>
              <a:t> </a:t>
            </a:r>
            <a:r>
              <a:rPr lang="en-US" dirty="0" err="1"/>
              <a:t>mahasiswa</a:t>
            </a:r>
            <a:r>
              <a:rPr lang="en-US" dirty="0"/>
              <a:t> pada </a:t>
            </a:r>
            <a:r>
              <a:rPr lang="en-US" b="1" dirty="0" err="1"/>
              <a:t>perbedaan</a:t>
            </a:r>
            <a:r>
              <a:rPr lang="en-US" b="1" dirty="0"/>
              <a:t> </a:t>
            </a:r>
            <a:r>
              <a:rPr lang="en-US" b="1" dirty="0" err="1"/>
              <a:t>karakteristik</a:t>
            </a:r>
            <a:r>
              <a:rPr lang="en-US" b="1" dirty="0"/>
              <a:t> dan </a:t>
            </a:r>
            <a:r>
              <a:rPr lang="en-US" b="1" dirty="0" err="1"/>
              <a:t>cara</a:t>
            </a:r>
            <a:r>
              <a:rPr lang="en-US" b="1" dirty="0"/>
              <a:t> </a:t>
            </a:r>
            <a:r>
              <a:rPr lang="en-US" b="1" dirty="0" err="1"/>
              <a:t>pengolahannya</a:t>
            </a:r>
            <a:r>
              <a:rPr lang="en-US" dirty="0"/>
              <a:t>.</a:t>
            </a:r>
          </a:p>
          <a:p>
            <a:endParaRPr lang="en-US" dirty="0"/>
          </a:p>
        </p:txBody>
      </p:sp>
      <p:sp>
        <p:nvSpPr>
          <p:cNvPr id="4" name="Slide Number Placeholder 3"/>
          <p:cNvSpPr>
            <a:spLocks noGrp="1"/>
          </p:cNvSpPr>
          <p:nvPr>
            <p:ph type="sldNum" sz="quarter" idx="5"/>
          </p:nvPr>
        </p:nvSpPr>
        <p:spPr/>
        <p:txBody>
          <a:bodyPr/>
          <a:lstStyle/>
          <a:p>
            <a:fld id="{A15030B7-44DA-4342-8AD0-73CA5C2F33F6}" type="slidenum">
              <a:rPr lang="en-US" smtClean="0"/>
              <a:t>20</a:t>
            </a:fld>
            <a:endParaRPr lang="en-US"/>
          </a:p>
        </p:txBody>
      </p:sp>
    </p:spTree>
    <p:extLst>
      <p:ext uri="{BB962C8B-B14F-4D97-AF65-F5344CB8AC3E}">
        <p14:creationId xmlns:p14="http://schemas.microsoft.com/office/powerpoint/2010/main" val="346719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7" name="Google Shape;38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Arial"/>
                <a:ea typeface="Arial"/>
                <a:cs typeface="Arial"/>
                <a:sym typeface="Arial"/>
              </a:rPr>
              <a:t>Data semi-</a:t>
            </a:r>
            <a:r>
              <a:rPr lang="en-US" sz="1200" b="1" dirty="0" err="1">
                <a:solidFill>
                  <a:srgbClr val="000000"/>
                </a:solidFill>
                <a:latin typeface="Arial"/>
                <a:ea typeface="Arial"/>
                <a:cs typeface="Arial"/>
                <a:sym typeface="Arial"/>
              </a:rPr>
              <a:t>terstruktur</a:t>
            </a:r>
            <a:r>
              <a:rPr lang="en-US" sz="1200" b="1" dirty="0">
                <a:solidFill>
                  <a:srgbClr val="000000"/>
                </a:solidFill>
                <a:latin typeface="Arial"/>
                <a:ea typeface="Arial"/>
                <a:cs typeface="Arial"/>
                <a:sym typeface="Arial"/>
              </a:rPr>
              <a:t> (</a:t>
            </a:r>
            <a:r>
              <a:rPr lang="en-US" sz="1200" b="1" i="1" dirty="0">
                <a:solidFill>
                  <a:srgbClr val="000000"/>
                </a:solidFill>
                <a:latin typeface="Arial"/>
                <a:ea typeface="Arial"/>
                <a:cs typeface="Arial"/>
                <a:sym typeface="Arial"/>
              </a:rPr>
              <a:t>semi-structured data</a:t>
            </a:r>
            <a:r>
              <a:rPr lang="en-US" sz="1200" b="1" dirty="0">
                <a:solidFill>
                  <a:srgbClr val="000000"/>
                </a:solidFill>
                <a:latin typeface="Arial"/>
                <a:ea typeface="Arial"/>
                <a:cs typeface="Arial"/>
                <a:sym typeface="Arial"/>
              </a:rPr>
              <a:t>)</a:t>
            </a:r>
            <a:r>
              <a:rPr lang="en-US" sz="1200" dirty="0">
                <a:solidFill>
                  <a:srgbClr val="000000"/>
                </a:solidFill>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Arial"/>
                <a:ea typeface="Arial"/>
                <a:cs typeface="Arial"/>
                <a:sym typeface="Arial"/>
              </a:rPr>
              <a:t>Data </a:t>
            </a:r>
            <a:r>
              <a:rPr lang="en-US" sz="1200" dirty="0" err="1">
                <a:solidFill>
                  <a:srgbClr val="000000"/>
                </a:solidFill>
                <a:latin typeface="Arial"/>
                <a:ea typeface="Arial"/>
                <a:cs typeface="Arial"/>
                <a:sym typeface="Arial"/>
              </a:rPr>
              <a:t>terstruktur</a:t>
            </a:r>
            <a:r>
              <a:rPr lang="en-US" sz="1200" dirty="0">
                <a:solidFill>
                  <a:srgbClr val="000000"/>
                </a:solidFill>
                <a:latin typeface="Arial"/>
                <a:ea typeface="Arial"/>
                <a:cs typeface="Arial"/>
                <a:sym typeface="Arial"/>
              </a:rPr>
              <a:t> yang </a:t>
            </a:r>
            <a:r>
              <a:rPr lang="en-US" sz="1200" dirty="0" err="1">
                <a:solidFill>
                  <a:srgbClr val="000000"/>
                </a:solidFill>
                <a:latin typeface="Arial"/>
                <a:ea typeface="Arial"/>
                <a:cs typeface="Arial"/>
                <a:sym typeface="Arial"/>
              </a:rPr>
              <a:t>tidak</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mengikuti</a:t>
            </a:r>
            <a:r>
              <a:rPr lang="en-US" sz="1200" dirty="0">
                <a:solidFill>
                  <a:srgbClr val="000000"/>
                </a:solidFill>
                <a:latin typeface="Arial"/>
                <a:ea typeface="Arial"/>
                <a:cs typeface="Arial"/>
                <a:sym typeface="Arial"/>
              </a:rPr>
              <a:t> model </a:t>
            </a:r>
            <a:r>
              <a:rPr lang="en-US" sz="1200" dirty="0" err="1">
                <a:solidFill>
                  <a:srgbClr val="000000"/>
                </a:solidFill>
                <a:latin typeface="Arial"/>
                <a:ea typeface="Arial"/>
                <a:cs typeface="Arial"/>
                <a:sym typeface="Arial"/>
              </a:rPr>
              <a:t>struktur</a:t>
            </a:r>
            <a:r>
              <a:rPr lang="en-US" sz="1200" dirty="0">
                <a:solidFill>
                  <a:srgbClr val="000000"/>
                </a:solidFill>
                <a:latin typeface="Arial"/>
                <a:ea typeface="Arial"/>
                <a:cs typeface="Arial"/>
                <a:sym typeface="Arial"/>
              </a:rPr>
              <a:t> tabular yang </a:t>
            </a:r>
            <a:r>
              <a:rPr lang="en-US" sz="1200" dirty="0" err="1">
                <a:solidFill>
                  <a:srgbClr val="000000"/>
                </a:solidFill>
                <a:latin typeface="Arial"/>
                <a:ea typeface="Arial"/>
                <a:cs typeface="Arial"/>
                <a:sym typeface="Arial"/>
              </a:rPr>
              <a:t>seperti</a:t>
            </a:r>
            <a:r>
              <a:rPr lang="en-US" sz="1200" dirty="0">
                <a:solidFill>
                  <a:srgbClr val="000000"/>
                </a:solidFill>
                <a:latin typeface="Arial"/>
                <a:ea typeface="Arial"/>
                <a:cs typeface="Arial"/>
                <a:sym typeface="Arial"/>
              </a:rPr>
              <a:t> pada basis data </a:t>
            </a:r>
            <a:r>
              <a:rPr lang="en-US" sz="1200" dirty="0" err="1">
                <a:solidFill>
                  <a:srgbClr val="000000"/>
                </a:solidFill>
                <a:latin typeface="Arial"/>
                <a:ea typeface="Arial"/>
                <a:cs typeface="Arial"/>
                <a:sym typeface="Arial"/>
              </a:rPr>
              <a:t>relasional</a:t>
            </a:r>
            <a:r>
              <a:rPr lang="en-US" sz="1200" dirty="0">
                <a:solidFill>
                  <a:srgbClr val="000000"/>
                </a:solidFill>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00"/>
                </a:solidFill>
                <a:latin typeface="Arial"/>
                <a:ea typeface="Arial"/>
                <a:cs typeface="Arial"/>
                <a:sym typeface="Arial"/>
              </a:rPr>
              <a:t>namun</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tetap</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mengandung</a:t>
            </a:r>
            <a:r>
              <a:rPr lang="en-US" sz="1200" dirty="0">
                <a:solidFill>
                  <a:srgbClr val="000000"/>
                </a:solidFill>
                <a:latin typeface="Arial"/>
                <a:ea typeface="Arial"/>
                <a:cs typeface="Arial"/>
                <a:sym typeface="Arial"/>
              </a:rPr>
              <a:t> </a:t>
            </a:r>
            <a:r>
              <a:rPr lang="en-US" sz="1200" i="1" dirty="0">
                <a:solidFill>
                  <a:srgbClr val="000000"/>
                </a:solidFill>
                <a:latin typeface="Arial"/>
                <a:ea typeface="Arial"/>
                <a:cs typeface="Arial"/>
                <a:sym typeface="Arial"/>
              </a:rPr>
              <a:t>tags</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atau</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penanda</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lainnya</a:t>
            </a:r>
            <a:r>
              <a:rPr lang="en-US" sz="1200" dirty="0">
                <a:solidFill>
                  <a:srgbClr val="000000"/>
                </a:solidFill>
                <a:latin typeface="Arial"/>
                <a:ea typeface="Arial"/>
                <a:cs typeface="Arial"/>
                <a:sym typeface="Arial"/>
              </a:rPr>
              <a:t> yang </a:t>
            </a:r>
            <a:r>
              <a:rPr lang="en-US" sz="1200" dirty="0" err="1">
                <a:solidFill>
                  <a:srgbClr val="000000"/>
                </a:solidFill>
                <a:latin typeface="Arial"/>
                <a:ea typeface="Arial"/>
                <a:cs typeface="Arial"/>
                <a:sym typeface="Arial"/>
              </a:rPr>
              <a:t>dapat</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memisahkan</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elemen-elemen</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semantik</a:t>
            </a:r>
            <a:r>
              <a:rPr lang="en-US" sz="1200" dirty="0">
                <a:solidFill>
                  <a:srgbClr val="000000"/>
                </a:solidFill>
                <a:latin typeface="Arial"/>
                <a:ea typeface="Arial"/>
                <a:cs typeface="Arial"/>
                <a:sym typeface="Arial"/>
              </a:rPr>
              <a:t> pada data </a:t>
            </a:r>
            <a:r>
              <a:rPr lang="en-US" sz="1200" dirty="0" err="1">
                <a:solidFill>
                  <a:srgbClr val="000000"/>
                </a:solidFill>
                <a:latin typeface="Arial"/>
                <a:ea typeface="Arial"/>
                <a:cs typeface="Arial"/>
                <a:sym typeface="Arial"/>
              </a:rPr>
              <a:t>serta</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mengatur</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hierarki</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antara</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butir-butir</a:t>
            </a:r>
            <a:r>
              <a:rPr lang="en-US" sz="1200" dirty="0">
                <a:solidFill>
                  <a:srgbClr val="000000"/>
                </a:solidFill>
                <a:latin typeface="Arial"/>
                <a:ea typeface="Arial"/>
                <a:cs typeface="Arial"/>
                <a:sym typeface="Arial"/>
              </a:rPr>
              <a:t> </a:t>
            </a:r>
            <a:r>
              <a:rPr lang="en-US" sz="1200" dirty="0" err="1">
                <a:solidFill>
                  <a:srgbClr val="000000"/>
                </a:solidFill>
                <a:latin typeface="Arial"/>
                <a:ea typeface="Arial"/>
                <a:cs typeface="Arial"/>
                <a:sym typeface="Arial"/>
              </a:rPr>
              <a:t>datanya</a:t>
            </a:r>
            <a:r>
              <a:rPr lang="en-US" sz="1200" dirty="0">
                <a:solidFill>
                  <a:srgbClr val="000000"/>
                </a:solidFill>
                <a:latin typeface="Arial"/>
                <a:ea typeface="Arial"/>
                <a:cs typeface="Arial"/>
                <a:sym typeface="Arial"/>
              </a:rPr>
              <a:t>.</a:t>
            </a:r>
          </a:p>
          <a:p>
            <a:endParaRPr lang="en-US" dirty="0"/>
          </a:p>
        </p:txBody>
      </p:sp>
      <p:sp>
        <p:nvSpPr>
          <p:cNvPr id="4" name="Slide Number Placeholder 3"/>
          <p:cNvSpPr>
            <a:spLocks noGrp="1"/>
          </p:cNvSpPr>
          <p:nvPr>
            <p:ph type="sldNum" sz="quarter" idx="5"/>
          </p:nvPr>
        </p:nvSpPr>
        <p:spPr/>
        <p:txBody>
          <a:bodyPr/>
          <a:lstStyle/>
          <a:p>
            <a:fld id="{A15030B7-44DA-4342-8AD0-73CA5C2F33F6}" type="slidenum">
              <a:rPr lang="en-US" smtClean="0"/>
              <a:t>23</a:t>
            </a:fld>
            <a:endParaRPr lang="en-US"/>
          </a:p>
        </p:txBody>
      </p:sp>
    </p:spTree>
    <p:extLst>
      <p:ext uri="{BB962C8B-B14F-4D97-AF65-F5344CB8AC3E}">
        <p14:creationId xmlns:p14="http://schemas.microsoft.com/office/powerpoint/2010/main" val="3443487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6" name="Google Shape;426;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a:t>
            </a:r>
            <a:r>
              <a:rPr lang="en-US" b="1" dirty="0" err="1"/>
              <a:t>dikotomi</a:t>
            </a:r>
            <a:r>
              <a:rPr lang="en-US" dirty="0"/>
              <a:t> </a:t>
            </a:r>
            <a:r>
              <a:rPr lang="en-US" dirty="0" err="1"/>
              <a:t>adalah</a:t>
            </a:r>
            <a:r>
              <a:rPr lang="en-US" dirty="0"/>
              <a:t> data yang </a:t>
            </a:r>
            <a:r>
              <a:rPr lang="en-US" dirty="0" err="1"/>
              <a:t>hanya</a:t>
            </a:r>
            <a:r>
              <a:rPr lang="en-US" dirty="0"/>
              <a:t> </a:t>
            </a:r>
            <a:r>
              <a:rPr lang="en-US" dirty="0" err="1"/>
              <a:t>memiliki</a:t>
            </a:r>
            <a:r>
              <a:rPr lang="en-US" dirty="0"/>
              <a:t> </a:t>
            </a:r>
            <a:r>
              <a:rPr lang="en-US" b="1" dirty="0"/>
              <a:t>dua </a:t>
            </a:r>
            <a:r>
              <a:rPr lang="en-US" b="1" dirty="0" err="1"/>
              <a:t>kemungkinan</a:t>
            </a:r>
            <a:r>
              <a:rPr lang="en-US" b="1" dirty="0"/>
              <a:t> </a:t>
            </a:r>
            <a:r>
              <a:rPr lang="en-US" b="1" dirty="0" err="1"/>
              <a:t>kategori</a:t>
            </a:r>
            <a:r>
              <a:rPr lang="en-US" b="1" dirty="0"/>
              <a:t> </a:t>
            </a:r>
            <a:r>
              <a:rPr lang="en-US" b="1" dirty="0" err="1"/>
              <a:t>atau</a:t>
            </a:r>
            <a:r>
              <a:rPr lang="en-US" b="1" dirty="0"/>
              <a:t> </a:t>
            </a:r>
            <a:r>
              <a:rPr lang="en-US" b="1" dirty="0" err="1"/>
              <a:t>pilihan</a:t>
            </a:r>
            <a:r>
              <a:rPr lang="en-US" dirty="0"/>
              <a:t>.</a:t>
            </a:r>
          </a:p>
        </p:txBody>
      </p:sp>
      <p:sp>
        <p:nvSpPr>
          <p:cNvPr id="4" name="Slide Number Placeholder 3"/>
          <p:cNvSpPr>
            <a:spLocks noGrp="1"/>
          </p:cNvSpPr>
          <p:nvPr>
            <p:ph type="sldNum" sz="quarter" idx="5"/>
          </p:nvPr>
        </p:nvSpPr>
        <p:spPr/>
        <p:txBody>
          <a:bodyPr/>
          <a:lstStyle/>
          <a:p>
            <a:fld id="{A15030B7-44DA-4342-8AD0-73CA5C2F33F6}" type="slidenum">
              <a:rPr lang="en-US" smtClean="0"/>
              <a:t>27</a:t>
            </a:fld>
            <a:endParaRPr lang="en-US"/>
          </a:p>
        </p:txBody>
      </p:sp>
    </p:spTree>
    <p:extLst>
      <p:ext uri="{BB962C8B-B14F-4D97-AF65-F5344CB8AC3E}">
        <p14:creationId xmlns:p14="http://schemas.microsoft.com/office/powerpoint/2010/main" val="3713601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9" name="Google Shape;419;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3" name="Google Shape;433;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0" name="Google Shape;440;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7" name="Google Shape;447;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id"/>
              <a:t>Image property graph by: М.Оюунболор, CC BY-SA 4.0 &lt;https://creativecommons.org/licenses/by-sa/4.0&gt;, via Wikimedia Commons, https://upload.wikimedia.org/wikipedia/commons/a/a6/Property_graph_model.png</a:t>
            </a:r>
            <a:endParaRPr/>
          </a:p>
          <a:p>
            <a:pPr marL="457200" marR="0" lvl="0" indent="-298450" algn="l" rtl="0">
              <a:lnSpc>
                <a:spcPct val="100000"/>
              </a:lnSpc>
              <a:spcBef>
                <a:spcPts val="0"/>
              </a:spcBef>
              <a:spcAft>
                <a:spcPts val="0"/>
              </a:spcAft>
              <a:buClr>
                <a:srgbClr val="000000"/>
              </a:buClr>
              <a:buSzPts val="1100"/>
              <a:buFont typeface="Arial"/>
              <a:buChar char="●"/>
            </a:pPr>
            <a:r>
              <a:rPr lang="id"/>
              <a:t>Image RDF graph by: Denny, CC0, via Wikimedia Commons, https://upload.wikimedia.org/wikipedia/commons/0/09/RDF_example.svg</a:t>
            </a:r>
            <a:endParaRPr/>
          </a:p>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3" name="Google Shape;473;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id"/>
              <a:t>Image source: </a:t>
            </a:r>
            <a:r>
              <a:rPr lang="id" b="0" i="0" u="none" strike="noStrike">
                <a:solidFill>
                  <a:srgbClr val="0645AD"/>
                </a:solidFill>
                <a:latin typeface="Arial"/>
                <a:ea typeface="Arial"/>
                <a:cs typeface="Arial"/>
                <a:sym typeface="Arial"/>
              </a:rPr>
              <a:t> </a:t>
            </a:r>
            <a:r>
              <a:rPr lang="id" b="0" i="0" u="sng" strike="noStrike">
                <a:solidFill>
                  <a:srgbClr val="0645AD"/>
                </a:solidFill>
                <a:latin typeface="Arial"/>
                <a:ea typeface="Arial"/>
                <a:cs typeface="Arial"/>
                <a:sym typeface="Arial"/>
                <a:hlinkClick r:id="rId3">
                  <a:extLst>
                    <a:ext uri="{A12FA001-AC4F-418D-AE19-62706E023703}">
                      <ahyp:hlinkClr xmlns:ahyp="http://schemas.microsoft.com/office/drawing/2018/hyperlinkcolor" val="tx"/>
                    </a:ext>
                  </a:extLst>
                </a:hlinkClick>
              </a:rPr>
              <a:t>Pascal Getreuer</a:t>
            </a:r>
            <a:r>
              <a:rPr lang="id" b="0" i="0">
                <a:solidFill>
                  <a:srgbClr val="362B36"/>
                </a:solidFill>
                <a:latin typeface="Arial"/>
                <a:ea typeface="Arial"/>
                <a:cs typeface="Arial"/>
                <a:sym typeface="Arial"/>
              </a:rPr>
              <a:t>, </a:t>
            </a:r>
            <a:r>
              <a:rPr lang="id" b="0" i="0" u="sng" strike="noStrike">
                <a:solidFill>
                  <a:srgbClr val="0645AD"/>
                </a:solidFill>
                <a:latin typeface="Arial"/>
                <a:ea typeface="Arial"/>
                <a:cs typeface="Arial"/>
                <a:sym typeface="Arial"/>
                <a:hlinkClick r:id="rId4">
                  <a:extLst>
                    <a:ext uri="{A12FA001-AC4F-418D-AE19-62706E023703}">
                      <ahyp:hlinkClr xmlns:ahyp="http://schemas.microsoft.com/office/drawing/2018/hyperlinkcolor" val="tx"/>
                    </a:ext>
                  </a:extLst>
                </a:hlinkClick>
              </a:rPr>
              <a:t>CC BY-SA 4.0</a:t>
            </a:r>
            <a:r>
              <a:rPr lang="id" b="0" i="0">
                <a:solidFill>
                  <a:srgbClr val="362B36"/>
                </a:solidFill>
                <a:latin typeface="Arial"/>
                <a:ea typeface="Arial"/>
                <a:cs typeface="Arial"/>
                <a:sym typeface="Arial"/>
              </a:rPr>
              <a:t>, via Wikimedia Commons, https://commons.wikimedia.org/wiki/File:Time_series_of_active_COVID-19_cases,_most_affected_countries_as_of_2020-03-21.svg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cara</a:t>
            </a:r>
            <a:r>
              <a:rPr lang="en-US" dirty="0"/>
              <a:t> </a:t>
            </a:r>
            <a:r>
              <a:rPr lang="en-US" dirty="0" err="1"/>
              <a:t>pengolahan</a:t>
            </a:r>
            <a:r>
              <a:rPr lang="en-US" dirty="0"/>
              <a:t> data </a:t>
            </a:r>
            <a:r>
              <a:rPr lang="en-US" dirty="0" err="1"/>
              <a:t>bergantung</a:t>
            </a:r>
            <a:r>
              <a:rPr lang="en-US" dirty="0"/>
              <a:t> pada </a:t>
            </a:r>
            <a:r>
              <a:rPr lang="en-US" dirty="0" err="1"/>
              <a:t>tipe</a:t>
            </a:r>
            <a:r>
              <a:rPr lang="en-US" dirty="0"/>
              <a:t> </a:t>
            </a:r>
            <a:r>
              <a:rPr lang="en-US" dirty="0" err="1"/>
              <a:t>datanya</a:t>
            </a:r>
            <a:endParaRPr lang="en-US" dirty="0"/>
          </a:p>
        </p:txBody>
      </p:sp>
      <p:sp>
        <p:nvSpPr>
          <p:cNvPr id="4" name="Slide Number Placeholder 3"/>
          <p:cNvSpPr>
            <a:spLocks noGrp="1"/>
          </p:cNvSpPr>
          <p:nvPr>
            <p:ph type="sldNum" sz="quarter" idx="5"/>
          </p:nvPr>
        </p:nvSpPr>
        <p:spPr/>
        <p:txBody>
          <a:bodyPr/>
          <a:lstStyle/>
          <a:p>
            <a:fld id="{A15030B7-44DA-4342-8AD0-73CA5C2F33F6}" type="slidenum">
              <a:rPr lang="en-US" smtClean="0"/>
              <a:t>42</a:t>
            </a:fld>
            <a:endParaRPr lang="en-US"/>
          </a:p>
        </p:txBody>
      </p:sp>
    </p:spTree>
    <p:extLst>
      <p:ext uri="{BB962C8B-B14F-4D97-AF65-F5344CB8AC3E}">
        <p14:creationId xmlns:p14="http://schemas.microsoft.com/office/powerpoint/2010/main" val="4225716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Contoh</a:t>
            </a:r>
            <a:r>
              <a:rPr lang="en-US" dirty="0"/>
              <a:t> </a:t>
            </a:r>
            <a:r>
              <a:rPr lang="en-US" dirty="0" err="1"/>
              <a:t>dari</a:t>
            </a:r>
            <a:r>
              <a:rPr lang="en-US" dirty="0"/>
              <a:t> </a:t>
            </a:r>
            <a:r>
              <a:rPr lang="en-US" sz="1200" kern="1200" dirty="0">
                <a:solidFill>
                  <a:schemeClr val="tx1"/>
                </a:solidFill>
                <a:latin typeface="+mn-lt"/>
                <a:ea typeface="+mn-ea"/>
                <a:cs typeface="+mn-cs"/>
              </a:rPr>
              <a:t>goals</a:t>
            </a:r>
            <a:r>
              <a:rPr lang="en-US" dirty="0"/>
              <a:t>:</a:t>
            </a:r>
          </a:p>
          <a:p>
            <a:pPr lvl="0"/>
            <a:r>
              <a:rPr lang="en-US" sz="1200" kern="1200" dirty="0">
                <a:solidFill>
                  <a:schemeClr val="tx1"/>
                </a:solidFill>
                <a:latin typeface="+mn-lt"/>
                <a:ea typeface="+mn-ea"/>
                <a:cs typeface="+mn-cs"/>
              </a:rPr>
              <a:t>mean</a:t>
            </a:r>
            <a:r>
              <a:rPr lang="en-US" dirty="0"/>
              <a:t> ≈ 1,86 </a:t>
            </a:r>
          </a:p>
          <a:p>
            <a:pPr lvl="0"/>
            <a:r>
              <a:rPr lang="en-US" sz="1200" kern="1200" dirty="0">
                <a:solidFill>
                  <a:schemeClr val="tx1"/>
                </a:solidFill>
                <a:latin typeface="+mn-lt"/>
                <a:ea typeface="+mn-ea"/>
                <a:cs typeface="+mn-cs"/>
              </a:rPr>
              <a:t>min</a:t>
            </a:r>
            <a:r>
              <a:rPr lang="en-US" dirty="0"/>
              <a:t> = 0 </a:t>
            </a:r>
          </a:p>
          <a:p>
            <a:pPr lvl="0"/>
            <a:r>
              <a:rPr lang="en-US" sz="1200" kern="1200" dirty="0">
                <a:solidFill>
                  <a:schemeClr val="tx1"/>
                </a:solidFill>
                <a:latin typeface="+mn-lt"/>
                <a:ea typeface="+mn-ea"/>
                <a:cs typeface="+mn-cs"/>
              </a:rPr>
              <a:t>median</a:t>
            </a:r>
            <a:r>
              <a:rPr lang="en-US" dirty="0"/>
              <a:t> = 1 </a:t>
            </a:r>
          </a:p>
          <a:p>
            <a:pPr lvl="0"/>
            <a:r>
              <a:rPr lang="en-US" sz="1200" kern="1200" dirty="0">
                <a:solidFill>
                  <a:schemeClr val="tx1"/>
                </a:solidFill>
                <a:latin typeface="+mn-lt"/>
                <a:ea typeface="+mn-ea"/>
                <a:cs typeface="+mn-cs"/>
              </a:rPr>
              <a:t>max</a:t>
            </a:r>
            <a:r>
              <a:rPr lang="en-US" dirty="0"/>
              <a:t> = 23 </a:t>
            </a:r>
          </a:p>
          <a:p>
            <a:r>
              <a:rPr lang="en-US" dirty="0"/>
              <a:t>Artinya </a:t>
            </a:r>
            <a:r>
              <a:rPr lang="en-US" dirty="0" err="1"/>
              <a:t>secara</a:t>
            </a:r>
            <a:r>
              <a:rPr lang="en-US" dirty="0"/>
              <a:t> </a:t>
            </a:r>
            <a:r>
              <a:rPr lang="en-US" dirty="0" err="1"/>
              <a:t>sederhana</a:t>
            </a:r>
            <a:r>
              <a:rPr lang="en-US" dirty="0"/>
              <a:t>:</a:t>
            </a:r>
          </a:p>
          <a:p>
            <a:r>
              <a:rPr lang="en-US" dirty="0"/>
              <a:t>Rata-rata </a:t>
            </a:r>
            <a:r>
              <a:rPr lang="en-US" dirty="0" err="1"/>
              <a:t>pemain</a:t>
            </a:r>
            <a:r>
              <a:rPr lang="en-US" dirty="0"/>
              <a:t> </a:t>
            </a:r>
            <a:r>
              <a:rPr lang="en-US" dirty="0" err="1"/>
              <a:t>mencetak</a:t>
            </a:r>
            <a:r>
              <a:rPr lang="en-US" dirty="0"/>
              <a:t> </a:t>
            </a:r>
            <a:r>
              <a:rPr lang="en-US" dirty="0" err="1"/>
              <a:t>sekitar</a:t>
            </a:r>
            <a:r>
              <a:rPr lang="en-US" dirty="0"/>
              <a:t> </a:t>
            </a:r>
            <a:r>
              <a:rPr lang="en-US" b="1" dirty="0"/>
              <a:t>1,86 </a:t>
            </a:r>
            <a:r>
              <a:rPr lang="en-US" b="1" dirty="0" err="1"/>
              <a:t>gol</a:t>
            </a:r>
            <a:r>
              <a:rPr lang="en-US" dirty="0"/>
              <a:t>, </a:t>
            </a:r>
            <a:r>
              <a:rPr lang="en-US" dirty="0" err="1"/>
              <a:t>tetapi</a:t>
            </a:r>
            <a:r>
              <a:rPr lang="en-US" dirty="0"/>
              <a:t> </a:t>
            </a:r>
            <a:r>
              <a:rPr lang="en-US" dirty="0" err="1"/>
              <a:t>ada</a:t>
            </a:r>
            <a:r>
              <a:rPr lang="en-US" dirty="0"/>
              <a:t> </a:t>
            </a:r>
            <a:r>
              <a:rPr lang="en-US" dirty="0" err="1"/>
              <a:t>pemain</a:t>
            </a:r>
            <a:r>
              <a:rPr lang="en-US" dirty="0"/>
              <a:t> yang </a:t>
            </a:r>
            <a:r>
              <a:rPr lang="en-US" dirty="0" err="1"/>
              <a:t>mencetak</a:t>
            </a:r>
            <a:r>
              <a:rPr lang="en-US" dirty="0"/>
              <a:t> </a:t>
            </a:r>
            <a:r>
              <a:rPr lang="en-US" dirty="0" err="1"/>
              <a:t>hingga</a:t>
            </a:r>
            <a:r>
              <a:rPr lang="en-US" dirty="0"/>
              <a:t> </a:t>
            </a:r>
            <a:r>
              <a:rPr lang="en-US" b="1" dirty="0"/>
              <a:t>23 </a:t>
            </a:r>
            <a:r>
              <a:rPr lang="en-US" b="1" dirty="0" err="1"/>
              <a:t>gol</a:t>
            </a:r>
            <a:r>
              <a:rPr lang="en-US" dirty="0"/>
              <a:t>.</a:t>
            </a:r>
          </a:p>
          <a:p>
            <a:endParaRPr lang="en-US" dirty="0"/>
          </a:p>
          <a:p>
            <a:r>
              <a:rPr lang="en-US" dirty="0" err="1"/>
              <a:t>Mengapa</a:t>
            </a:r>
            <a:r>
              <a:rPr lang="en-US" dirty="0"/>
              <a:t> </a:t>
            </a:r>
            <a:r>
              <a:rPr lang="en-US" dirty="0" err="1"/>
              <a:t>nilai</a:t>
            </a:r>
            <a:r>
              <a:rPr lang="en-US" dirty="0"/>
              <a:t> </a:t>
            </a:r>
            <a:r>
              <a:rPr lang="en-US" dirty="0" err="1"/>
              <a:t>maksimum</a:t>
            </a:r>
            <a:r>
              <a:rPr lang="en-US" dirty="0"/>
              <a:t> </a:t>
            </a:r>
            <a:r>
              <a:rPr lang="en-US" dirty="0" err="1"/>
              <a:t>jauh</a:t>
            </a:r>
            <a:r>
              <a:rPr lang="en-US" dirty="0"/>
              <a:t> </a:t>
            </a:r>
            <a:r>
              <a:rPr lang="en-US" dirty="0" err="1"/>
              <a:t>lebih</a:t>
            </a:r>
            <a:r>
              <a:rPr lang="en-US" dirty="0"/>
              <a:t> </a:t>
            </a:r>
            <a:r>
              <a:rPr lang="en-US" dirty="0" err="1"/>
              <a:t>besar</a:t>
            </a:r>
            <a:r>
              <a:rPr lang="en-US" dirty="0"/>
              <a:t> </a:t>
            </a:r>
            <a:r>
              <a:rPr lang="en-US" dirty="0" err="1"/>
              <a:t>daripada</a:t>
            </a:r>
            <a:r>
              <a:rPr lang="en-US" dirty="0"/>
              <a:t> </a:t>
            </a:r>
            <a:r>
              <a:rPr lang="en-US" dirty="0" err="1"/>
              <a:t>sebagian</a:t>
            </a:r>
            <a:r>
              <a:rPr lang="en-US" dirty="0"/>
              <a:t> </a:t>
            </a:r>
            <a:r>
              <a:rPr lang="en-US" dirty="0" err="1"/>
              <a:t>besar</a:t>
            </a:r>
            <a:r>
              <a:rPr lang="en-US" dirty="0"/>
              <a:t> data?</a:t>
            </a:r>
          </a:p>
          <a:p>
            <a:r>
              <a:rPr lang="en-US" dirty="0" err="1"/>
              <a:t>Mungkin</a:t>
            </a:r>
            <a:r>
              <a:rPr lang="en-US" dirty="0"/>
              <a:t>:</a:t>
            </a:r>
          </a:p>
          <a:p>
            <a:pPr lvl="0"/>
            <a:r>
              <a:rPr lang="en-US" dirty="0"/>
              <a:t>- </a:t>
            </a:r>
            <a:r>
              <a:rPr lang="en-US" dirty="0" err="1"/>
              <a:t>memang</a:t>
            </a:r>
            <a:r>
              <a:rPr lang="en-US" dirty="0"/>
              <a:t> </a:t>
            </a:r>
            <a:r>
              <a:rPr lang="en-US" dirty="0" err="1"/>
              <a:t>ada</a:t>
            </a:r>
            <a:r>
              <a:rPr lang="en-US" dirty="0"/>
              <a:t> </a:t>
            </a:r>
            <a:r>
              <a:rPr lang="en-US" dirty="0" err="1"/>
              <a:t>pemain</a:t>
            </a:r>
            <a:r>
              <a:rPr lang="en-US" dirty="0"/>
              <a:t> yang sangat </a:t>
            </a:r>
            <a:r>
              <a:rPr lang="en-US" dirty="0" err="1"/>
              <a:t>produktif</a:t>
            </a:r>
            <a:r>
              <a:rPr lang="en-US" dirty="0"/>
              <a:t>; </a:t>
            </a:r>
          </a:p>
          <a:p>
            <a:pPr lvl="0"/>
            <a:r>
              <a:rPr lang="en-US" dirty="0"/>
              <a:t>- </a:t>
            </a:r>
            <a:r>
              <a:rPr lang="en-US" dirty="0" err="1"/>
              <a:t>terdapat</a:t>
            </a:r>
            <a:r>
              <a:rPr lang="en-US" dirty="0"/>
              <a:t> outlier; </a:t>
            </a:r>
          </a:p>
          <a:p>
            <a:pPr lvl="0"/>
            <a:r>
              <a:rPr lang="en-US" dirty="0"/>
              <a:t>- </a:t>
            </a:r>
            <a:r>
              <a:rPr lang="en-US" dirty="0" err="1"/>
              <a:t>atau</a:t>
            </a:r>
            <a:r>
              <a:rPr lang="en-US" dirty="0"/>
              <a:t> </a:t>
            </a:r>
            <a:r>
              <a:rPr lang="en-US" dirty="0" err="1"/>
              <a:t>ada</a:t>
            </a:r>
            <a:r>
              <a:rPr lang="en-US" dirty="0"/>
              <a:t> </a:t>
            </a:r>
            <a:r>
              <a:rPr lang="en-US" dirty="0" err="1"/>
              <a:t>kesalahan</a:t>
            </a:r>
            <a:r>
              <a:rPr lang="en-US" dirty="0"/>
              <a:t> </a:t>
            </a:r>
            <a:r>
              <a:rPr lang="en-US" dirty="0" err="1"/>
              <a:t>pencatatan</a:t>
            </a:r>
            <a:r>
              <a:rPr lang="en-US" dirty="0"/>
              <a:t>.</a:t>
            </a:r>
          </a:p>
          <a:p>
            <a:endParaRPr lang="en-US" dirty="0"/>
          </a:p>
        </p:txBody>
      </p:sp>
      <p:sp>
        <p:nvSpPr>
          <p:cNvPr id="4" name="Slide Number Placeholder 3"/>
          <p:cNvSpPr>
            <a:spLocks noGrp="1"/>
          </p:cNvSpPr>
          <p:nvPr>
            <p:ph type="sldNum" sz="quarter" idx="5"/>
          </p:nvPr>
        </p:nvSpPr>
        <p:spPr/>
        <p:txBody>
          <a:bodyPr/>
          <a:lstStyle/>
          <a:p>
            <a:fld id="{A15030B7-44DA-4342-8AD0-73CA5C2F33F6}" type="slidenum">
              <a:rPr lang="en-US" smtClean="0"/>
              <a:t>43</a:t>
            </a:fld>
            <a:endParaRPr lang="en-US"/>
          </a:p>
        </p:txBody>
      </p:sp>
    </p:spTree>
    <p:extLst>
      <p:ext uri="{BB962C8B-B14F-4D97-AF65-F5344CB8AC3E}">
        <p14:creationId xmlns:p14="http://schemas.microsoft.com/office/powerpoint/2010/main" val="1259058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Pemain</a:t>
            </a:r>
            <a:r>
              <a:rPr lang="en-US" dirty="0"/>
              <a:t> yang </a:t>
            </a:r>
            <a:r>
              <a:rPr lang="en-US" dirty="0" err="1"/>
              <a:t>memiliki</a:t>
            </a:r>
            <a:r>
              <a:rPr lang="en-US" dirty="0"/>
              <a:t> </a:t>
            </a:r>
            <a:r>
              <a:rPr lang="en-US" dirty="0" err="1"/>
              <a:t>lebih</a:t>
            </a:r>
            <a:r>
              <a:rPr lang="en-US" dirty="0"/>
              <a:t> </a:t>
            </a:r>
            <a:r>
              <a:rPr lang="en-US" dirty="0" err="1"/>
              <a:t>banyak</a:t>
            </a:r>
            <a:r>
              <a:rPr lang="en-US" dirty="0"/>
              <a:t> </a:t>
            </a:r>
            <a:r>
              <a:rPr lang="en-US" dirty="0" err="1"/>
              <a:t>tembakan</a:t>
            </a:r>
            <a:r>
              <a:rPr lang="en-US" dirty="0"/>
              <a:t> </a:t>
            </a:r>
            <a:r>
              <a:rPr lang="en-US" dirty="0" err="1"/>
              <a:t>cenderung</a:t>
            </a:r>
            <a:r>
              <a:rPr lang="en-US" dirty="0"/>
              <a:t> </a:t>
            </a:r>
            <a:r>
              <a:rPr lang="en-US" dirty="0" err="1"/>
              <a:t>memiliki</a:t>
            </a:r>
            <a:r>
              <a:rPr lang="en-US" dirty="0"/>
              <a:t> </a:t>
            </a:r>
            <a:r>
              <a:rPr lang="en-US" dirty="0" err="1"/>
              <a:t>lebih</a:t>
            </a:r>
            <a:r>
              <a:rPr lang="en-US" dirty="0"/>
              <a:t> </a:t>
            </a:r>
            <a:r>
              <a:rPr lang="en-US" dirty="0" err="1"/>
              <a:t>banyak</a:t>
            </a:r>
            <a:r>
              <a:rPr lang="en-US" dirty="0"/>
              <a:t> </a:t>
            </a:r>
            <a:r>
              <a:rPr lang="en-US" dirty="0" err="1"/>
              <a:t>gol</a:t>
            </a:r>
            <a:r>
              <a:rPr lang="en-US" dirty="0"/>
              <a:t>.</a:t>
            </a:r>
          </a:p>
        </p:txBody>
      </p:sp>
      <p:sp>
        <p:nvSpPr>
          <p:cNvPr id="4" name="Slide Number Placeholder 3"/>
          <p:cNvSpPr>
            <a:spLocks noGrp="1"/>
          </p:cNvSpPr>
          <p:nvPr>
            <p:ph type="sldNum" sz="quarter" idx="5"/>
          </p:nvPr>
        </p:nvSpPr>
        <p:spPr/>
        <p:txBody>
          <a:bodyPr/>
          <a:lstStyle/>
          <a:p>
            <a:fld id="{A15030B7-44DA-4342-8AD0-73CA5C2F33F6}" type="slidenum">
              <a:rPr lang="en-US" smtClean="0"/>
              <a:t>44</a:t>
            </a:fld>
            <a:endParaRPr lang="en-US"/>
          </a:p>
        </p:txBody>
      </p:sp>
    </p:spTree>
    <p:extLst>
      <p:ext uri="{BB962C8B-B14F-4D97-AF65-F5344CB8AC3E}">
        <p14:creationId xmlns:p14="http://schemas.microsoft.com/office/powerpoint/2010/main" val="34752934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5030B7-44DA-4342-8AD0-73CA5C2F33F6}" type="slidenum">
              <a:rPr lang="en-US" smtClean="0"/>
              <a:t>46</a:t>
            </a:fld>
            <a:endParaRPr lang="en-US"/>
          </a:p>
        </p:txBody>
      </p:sp>
    </p:spTree>
    <p:extLst>
      <p:ext uri="{BB962C8B-B14F-4D97-AF65-F5344CB8AC3E}">
        <p14:creationId xmlns:p14="http://schemas.microsoft.com/office/powerpoint/2010/main" val="3004817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7374" cy="6858000"/>
          </a:xfrm>
          <a:prstGeom prst="rect">
            <a:avLst/>
          </a:prstGeom>
        </p:spPr>
      </p:pic>
      <p:sp>
        <p:nvSpPr>
          <p:cNvPr id="2" name="Title 1"/>
          <p:cNvSpPr>
            <a:spLocks noGrp="1"/>
          </p:cNvSpPr>
          <p:nvPr>
            <p:ph type="ctrTitle" hasCustomPrompt="1"/>
          </p:nvPr>
        </p:nvSpPr>
        <p:spPr>
          <a:xfrm>
            <a:off x="4592548" y="1787703"/>
            <a:ext cx="6996700" cy="1722260"/>
          </a:xfrm>
        </p:spPr>
        <p:txBody>
          <a:bodyPr anchor="b">
            <a:normAutofit/>
          </a:bodyPr>
          <a:lstStyle>
            <a:lvl1pPr algn="ctr">
              <a:defRPr sz="4000" baseline="0">
                <a:solidFill>
                  <a:schemeClr val="accent1">
                    <a:lumMod val="50000"/>
                  </a:schemeClr>
                </a:solidFill>
              </a:defRPr>
            </a:lvl1pPr>
          </a:lstStyle>
          <a:p>
            <a:r>
              <a:rPr lang="en-US" dirty="0"/>
              <a:t>Click to add title</a:t>
            </a:r>
          </a:p>
        </p:txBody>
      </p:sp>
      <p:sp>
        <p:nvSpPr>
          <p:cNvPr id="3" name="Subtitle 2"/>
          <p:cNvSpPr>
            <a:spLocks noGrp="1"/>
          </p:cNvSpPr>
          <p:nvPr>
            <p:ph type="subTitle" idx="1" hasCustomPrompt="1"/>
          </p:nvPr>
        </p:nvSpPr>
        <p:spPr>
          <a:xfrm>
            <a:off x="4592548" y="3602038"/>
            <a:ext cx="6996700" cy="1655762"/>
          </a:xfrm>
        </p:spPr>
        <p:txBody>
          <a:bodyPr>
            <a:normAutofit/>
          </a:bodyPr>
          <a:lstStyle>
            <a:lvl1pPr marL="0" indent="0" algn="r">
              <a:buNone/>
              <a:defRPr sz="20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746631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p:txBody>
          <a:bodyPr>
            <a:normAutofit/>
          </a:bodyPr>
          <a:lstStyle>
            <a:lvl1pPr>
              <a:defRPr sz="4000">
                <a:solidFill>
                  <a:schemeClr val="accent1">
                    <a:lumMod val="50000"/>
                  </a:schemeClr>
                </a:solidFill>
              </a:defRPr>
            </a:lvl1pPr>
          </a:lstStyle>
          <a:p>
            <a:r>
              <a:rPr lang="en-US" dirty="0"/>
              <a:t>Click to add title</a:t>
            </a:r>
          </a:p>
        </p:txBody>
      </p:sp>
      <p:sp>
        <p:nvSpPr>
          <p:cNvPr id="3" name="Content Placeholder 2"/>
          <p:cNvSpPr>
            <a:spLocks noGrp="1"/>
          </p:cNvSpPr>
          <p:nvPr>
            <p:ph idx="1" hasCustomPrompt="1"/>
          </p:nvPr>
        </p:nvSpPr>
        <p:spPr/>
        <p:txBody>
          <a:bodyPr/>
          <a:lstStyle>
            <a:lvl1pPr>
              <a:defRPr baseline="0"/>
            </a:lvl1pPr>
          </a:lstStyle>
          <a:p>
            <a:pPr lvl="0"/>
            <a:r>
              <a:rPr lang="en-US" dirty="0"/>
              <a:t>Click to add text </a:t>
            </a:r>
          </a:p>
        </p:txBody>
      </p:sp>
    </p:spTree>
    <p:extLst>
      <p:ext uri="{BB962C8B-B14F-4D97-AF65-F5344CB8AC3E}">
        <p14:creationId xmlns:p14="http://schemas.microsoft.com/office/powerpoint/2010/main" val="3487907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a:xfrm>
            <a:off x="4798030" y="2414427"/>
            <a:ext cx="6549419" cy="2148048"/>
          </a:xfrm>
        </p:spPr>
        <p:txBody>
          <a:bodyPr anchor="b">
            <a:normAutofit/>
          </a:bodyPr>
          <a:lstStyle>
            <a:lvl1pPr>
              <a:defRPr sz="4000" baseline="0">
                <a:solidFill>
                  <a:schemeClr val="accent1">
                    <a:lumMod val="50000"/>
                  </a:schemeClr>
                </a:solidFill>
              </a:defRPr>
            </a:lvl1pPr>
          </a:lstStyle>
          <a:p>
            <a:r>
              <a:rPr lang="en-US" dirty="0"/>
              <a:t>Click to add text</a:t>
            </a:r>
          </a:p>
        </p:txBody>
      </p:sp>
    </p:spTree>
    <p:extLst>
      <p:ext uri="{BB962C8B-B14F-4D97-AF65-F5344CB8AC3E}">
        <p14:creationId xmlns:p14="http://schemas.microsoft.com/office/powerpoint/2010/main" val="1469479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p:txBody>
          <a:bodyPr>
            <a:normAutofit/>
          </a:bodyPr>
          <a:lstStyle>
            <a:lvl1pPr>
              <a:defRPr sz="4000" baseline="0">
                <a:solidFill>
                  <a:schemeClr val="accent1">
                    <a:lumMod val="50000"/>
                  </a:schemeClr>
                </a:solidFill>
              </a:defRPr>
            </a:lvl1pPr>
          </a:lstStyle>
          <a:p>
            <a:r>
              <a:rPr lang="en-US" dirty="0"/>
              <a:t>Click to add text</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a:t>
            </a:r>
          </a:p>
        </p:txBody>
      </p:sp>
      <p:sp>
        <p:nvSpPr>
          <p:cNvPr id="5" name="Date Placeholder 4"/>
          <p:cNvSpPr>
            <a:spLocks noGrp="1"/>
          </p:cNvSpPr>
          <p:nvPr>
            <p:ph type="dt" sz="half" idx="10"/>
          </p:nvPr>
        </p:nvSpPr>
        <p:spPr/>
        <p:txBody>
          <a:bodyPr/>
          <a:lstStyle/>
          <a:p>
            <a:fld id="{5574C207-7A81-4737-8BB1-F773A1644F8F}"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140756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a:xfrm>
            <a:off x="839788" y="365125"/>
            <a:ext cx="10515600" cy="1325563"/>
          </a:xfrm>
        </p:spPr>
        <p:txBody>
          <a:bodyPr>
            <a:normAutofit/>
          </a:bodyPr>
          <a:lstStyle>
            <a:lvl1pPr>
              <a:defRPr sz="4000">
                <a:solidFill>
                  <a:schemeClr val="accent1">
                    <a:lumMod val="50000"/>
                  </a:schemeClr>
                </a:solidFill>
              </a:defRPr>
            </a:lvl1pPr>
          </a:lstStyle>
          <a:p>
            <a:r>
              <a:rPr lang="en-US" dirty="0"/>
              <a:t>Click to add text</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p:cNvSpPr>
            <a:spLocks noGrp="1"/>
          </p:cNvSpPr>
          <p:nvPr>
            <p:ph sz="half" idx="2"/>
          </p:nvPr>
        </p:nvSpPr>
        <p:spPr>
          <a:xfrm>
            <a:off x="839788" y="2505075"/>
            <a:ext cx="5157787" cy="3684588"/>
          </a:xfrm>
        </p:spPr>
        <p:txBody>
          <a:bodyPr/>
          <a:lstStyle>
            <a:lvl3pPr marL="1257300" indent="-342900">
              <a:buFont typeface="Arial" panose="020B0604020202020204" pitchFamily="34" charset="0"/>
              <a:buChar char="•"/>
              <a:defRPr/>
            </a:lvl3pPr>
          </a:lstStyle>
          <a:p>
            <a:pPr lvl="0"/>
            <a:r>
              <a:rPr lang="en-US" dirty="0"/>
              <a:t>Click to edit</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a:t>
            </a:r>
          </a:p>
        </p:txBody>
      </p:sp>
      <p:sp>
        <p:nvSpPr>
          <p:cNvPr id="7" name="Date Placeholder 6"/>
          <p:cNvSpPr>
            <a:spLocks noGrp="1"/>
          </p:cNvSpPr>
          <p:nvPr>
            <p:ph type="dt" sz="half" idx="10"/>
          </p:nvPr>
        </p:nvSpPr>
        <p:spPr/>
        <p:txBody>
          <a:bodyPr/>
          <a:lstStyle/>
          <a:p>
            <a:fld id="{5574C207-7A81-4737-8BB1-F773A1644F8F}"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759313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60419"/>
          </a:xfrm>
          <a:prstGeom prst="rect">
            <a:avLst/>
          </a:prstGeom>
        </p:spPr>
      </p:pic>
      <p:sp>
        <p:nvSpPr>
          <p:cNvPr id="2" name="Title 1"/>
          <p:cNvSpPr>
            <a:spLocks noGrp="1"/>
          </p:cNvSpPr>
          <p:nvPr>
            <p:ph type="title" hasCustomPrompt="1"/>
          </p:nvPr>
        </p:nvSpPr>
        <p:spPr/>
        <p:txBody>
          <a:bodyPr>
            <a:normAutofit/>
          </a:bodyPr>
          <a:lstStyle>
            <a:lvl1pPr>
              <a:defRPr sz="4000">
                <a:solidFill>
                  <a:schemeClr val="accent1">
                    <a:lumMod val="50000"/>
                  </a:schemeClr>
                </a:solidFill>
              </a:defRPr>
            </a:lvl1pPr>
          </a:lstStyle>
          <a:p>
            <a:r>
              <a:rPr lang="en-US" dirty="0"/>
              <a:t>Click to add text</a:t>
            </a:r>
          </a:p>
        </p:txBody>
      </p:sp>
      <p:sp>
        <p:nvSpPr>
          <p:cNvPr id="3" name="Date Placeholder 2"/>
          <p:cNvSpPr>
            <a:spLocks noGrp="1"/>
          </p:cNvSpPr>
          <p:nvPr>
            <p:ph type="dt" sz="half" idx="10"/>
          </p:nvPr>
        </p:nvSpPr>
        <p:spPr/>
        <p:txBody>
          <a:bodyPr/>
          <a:lstStyle/>
          <a:p>
            <a:fld id="{5574C207-7A81-4737-8BB1-F773A1644F8F}"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297646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74C207-7A81-4737-8BB1-F773A1644F8F}"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47626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a:t>
            </a:r>
          </a:p>
        </p:txBody>
      </p:sp>
      <p:sp>
        <p:nvSpPr>
          <p:cNvPr id="5" name="Date Placeholder 4"/>
          <p:cNvSpPr>
            <a:spLocks noGrp="1"/>
          </p:cNvSpPr>
          <p:nvPr>
            <p:ph type="dt" sz="half" idx="10"/>
          </p:nvPr>
        </p:nvSpPr>
        <p:spPr/>
        <p:txBody>
          <a:bodyPr/>
          <a:lstStyle/>
          <a:p>
            <a:fld id="{5574C207-7A81-4737-8BB1-F773A1644F8F}"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40063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lumMod val="50000"/>
                  </a:schemeClr>
                </a:solidFill>
              </a:defRPr>
            </a:lvl1pPr>
          </a:lstStyle>
          <a:p>
            <a:r>
              <a:rPr lang="en-US" dirty="0"/>
              <a:t>Click to add text</a:t>
            </a:r>
          </a:p>
        </p:txBody>
      </p:sp>
      <p:sp>
        <p:nvSpPr>
          <p:cNvPr id="3" name="Vertical Text Placeholder 2"/>
          <p:cNvSpPr>
            <a:spLocks noGrp="1"/>
          </p:cNvSpPr>
          <p:nvPr>
            <p:ph type="body" orient="vert" idx="1" hasCustomPrompt="1"/>
          </p:nvPr>
        </p:nvSpPr>
        <p:spPr/>
        <p:txBody>
          <a:bodyPr vert="eaVert"/>
          <a:lstStyle/>
          <a:p>
            <a:pPr lvl="0"/>
            <a:r>
              <a:rPr lang="en-US" dirty="0"/>
              <a:t>Click to edit 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74C207-7A81-4737-8BB1-F773A1644F8F}"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3418569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baseline="0"/>
            </a:lvl1pPr>
          </a:lstStyle>
          <a:p>
            <a:r>
              <a:rPr lang="en-US" dirty="0"/>
              <a:t>Click to edit title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74C207-7A81-4737-8BB1-F773A1644F8F}"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69561D-2BA4-460C-B7B9-A3AAE34D46B8}" type="slidenum">
              <a:rPr lang="en-US" smtClean="0"/>
              <a:t>‹#›</a:t>
            </a:fld>
            <a:endParaRPr lang="en-US"/>
          </a:p>
        </p:txBody>
      </p:sp>
    </p:spTree>
    <p:extLst>
      <p:ext uri="{BB962C8B-B14F-4D97-AF65-F5344CB8AC3E}">
        <p14:creationId xmlns:p14="http://schemas.microsoft.com/office/powerpoint/2010/main" val="2834384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262626"/>
              </a:buClr>
              <a:buSzPts val="2800"/>
              <a:buFont typeface="Arial"/>
              <a:buNone/>
              <a:defRPr>
                <a:solidFill>
                  <a:srgbClr val="262626"/>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7" name="Google Shape;57;p14"/>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Clr>
                <a:srgbClr val="262626"/>
              </a:buClr>
              <a:buSzPts val="1400"/>
              <a:buChar char="●"/>
              <a:defRPr sz="2133">
                <a:solidFill>
                  <a:srgbClr val="262626"/>
                </a:solidFill>
              </a:defRPr>
            </a:lvl1pPr>
            <a:lvl2pPr marL="1219170" lvl="1" indent="-406390" algn="l">
              <a:lnSpc>
                <a:spcPct val="115000"/>
              </a:lnSpc>
              <a:spcBef>
                <a:spcPts val="0"/>
              </a:spcBef>
              <a:spcAft>
                <a:spcPts val="0"/>
              </a:spcAft>
              <a:buClr>
                <a:schemeClr val="dk1"/>
              </a:buClr>
              <a:buSzPts val="1200"/>
              <a:buChar char="○"/>
              <a:defRPr sz="1867"/>
            </a:lvl2pPr>
            <a:lvl3pPr marL="1828754" lvl="2" indent="-406390" algn="l">
              <a:lnSpc>
                <a:spcPct val="115000"/>
              </a:lnSpc>
              <a:spcBef>
                <a:spcPts val="0"/>
              </a:spcBef>
              <a:spcAft>
                <a:spcPts val="0"/>
              </a:spcAft>
              <a:buClr>
                <a:schemeClr val="dk1"/>
              </a:buClr>
              <a:buSzPts val="1200"/>
              <a:buChar char="■"/>
              <a:defRPr sz="1600"/>
            </a:lvl3pPr>
            <a:lvl4pPr marL="2438339" lvl="3" indent="-406390" algn="l">
              <a:lnSpc>
                <a:spcPct val="115000"/>
              </a:lnSpc>
              <a:spcBef>
                <a:spcPts val="0"/>
              </a:spcBef>
              <a:spcAft>
                <a:spcPts val="0"/>
              </a:spcAft>
              <a:buClr>
                <a:schemeClr val="dk1"/>
              </a:buClr>
              <a:buSzPts val="1200"/>
              <a:buChar char="●"/>
              <a:defRPr sz="1600"/>
            </a:lvl4pPr>
            <a:lvl5pPr marL="3047924" lvl="4" indent="-406390" algn="l">
              <a:lnSpc>
                <a:spcPct val="115000"/>
              </a:lnSpc>
              <a:spcBef>
                <a:spcPts val="0"/>
              </a:spcBef>
              <a:spcAft>
                <a:spcPts val="0"/>
              </a:spcAft>
              <a:buClr>
                <a:schemeClr val="dk1"/>
              </a:buClr>
              <a:buSzPts val="1200"/>
              <a:buChar char="○"/>
              <a:defRPr sz="1600"/>
            </a:lvl5pPr>
            <a:lvl6pPr marL="3657509" lvl="5" indent="-406390" algn="l">
              <a:lnSpc>
                <a:spcPct val="115000"/>
              </a:lnSpc>
              <a:spcBef>
                <a:spcPts val="0"/>
              </a:spcBef>
              <a:spcAft>
                <a:spcPts val="0"/>
              </a:spcAft>
              <a:buClr>
                <a:schemeClr val="dk1"/>
              </a:buClr>
              <a:buSzPts val="1200"/>
              <a:buChar char="■"/>
              <a:defRPr sz="1600"/>
            </a:lvl6pPr>
            <a:lvl7pPr marL="4267093" lvl="6" indent="-406390" algn="l">
              <a:lnSpc>
                <a:spcPct val="115000"/>
              </a:lnSpc>
              <a:spcBef>
                <a:spcPts val="0"/>
              </a:spcBef>
              <a:spcAft>
                <a:spcPts val="0"/>
              </a:spcAft>
              <a:buClr>
                <a:schemeClr val="dk1"/>
              </a:buClr>
              <a:buSzPts val="1200"/>
              <a:buChar char="●"/>
              <a:defRPr sz="1600"/>
            </a:lvl7pPr>
            <a:lvl8pPr marL="4876678" lvl="7" indent="-406390" algn="l">
              <a:lnSpc>
                <a:spcPct val="115000"/>
              </a:lnSpc>
              <a:spcBef>
                <a:spcPts val="0"/>
              </a:spcBef>
              <a:spcAft>
                <a:spcPts val="0"/>
              </a:spcAft>
              <a:buClr>
                <a:schemeClr val="dk1"/>
              </a:buClr>
              <a:buSzPts val="1200"/>
              <a:buChar char="○"/>
              <a:defRPr sz="1600"/>
            </a:lvl8pPr>
            <a:lvl9pPr marL="5486263" lvl="8" indent="-406390" algn="l">
              <a:lnSpc>
                <a:spcPct val="115000"/>
              </a:lnSpc>
              <a:spcBef>
                <a:spcPts val="0"/>
              </a:spcBef>
              <a:spcAft>
                <a:spcPts val="0"/>
              </a:spcAft>
              <a:buClr>
                <a:schemeClr val="dk1"/>
              </a:buClr>
              <a:buSzPts val="1200"/>
              <a:buChar char="■"/>
              <a:defRPr sz="1600"/>
            </a:lvl9pPr>
          </a:lstStyle>
          <a:p>
            <a:endParaRPr/>
          </a:p>
        </p:txBody>
      </p:sp>
      <p:sp>
        <p:nvSpPr>
          <p:cNvPr id="58" name="Google Shape;58;p14"/>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Clr>
                <a:srgbClr val="262626"/>
              </a:buClr>
              <a:buSzPts val="1400"/>
              <a:buChar char="●"/>
              <a:defRPr sz="2133">
                <a:solidFill>
                  <a:srgbClr val="262626"/>
                </a:solidFill>
              </a:defRPr>
            </a:lvl1pPr>
            <a:lvl2pPr marL="1219170" lvl="1" indent="-406390" algn="l">
              <a:lnSpc>
                <a:spcPct val="115000"/>
              </a:lnSpc>
              <a:spcBef>
                <a:spcPts val="0"/>
              </a:spcBef>
              <a:spcAft>
                <a:spcPts val="0"/>
              </a:spcAft>
              <a:buClr>
                <a:schemeClr val="dk1"/>
              </a:buClr>
              <a:buSzPts val="1200"/>
              <a:buChar char="○"/>
              <a:defRPr sz="1867"/>
            </a:lvl2pPr>
            <a:lvl3pPr marL="1828754" lvl="2" indent="-406390" algn="l">
              <a:lnSpc>
                <a:spcPct val="115000"/>
              </a:lnSpc>
              <a:spcBef>
                <a:spcPts val="0"/>
              </a:spcBef>
              <a:spcAft>
                <a:spcPts val="0"/>
              </a:spcAft>
              <a:buClr>
                <a:schemeClr val="dk1"/>
              </a:buClr>
              <a:buSzPts val="1200"/>
              <a:buChar char="■"/>
              <a:defRPr sz="1600"/>
            </a:lvl3pPr>
            <a:lvl4pPr marL="2438339" lvl="3" indent="-406390" algn="l">
              <a:lnSpc>
                <a:spcPct val="115000"/>
              </a:lnSpc>
              <a:spcBef>
                <a:spcPts val="0"/>
              </a:spcBef>
              <a:spcAft>
                <a:spcPts val="0"/>
              </a:spcAft>
              <a:buClr>
                <a:schemeClr val="dk1"/>
              </a:buClr>
              <a:buSzPts val="1200"/>
              <a:buChar char="●"/>
              <a:defRPr sz="1600"/>
            </a:lvl4pPr>
            <a:lvl5pPr marL="3047924" lvl="4" indent="-406390" algn="l">
              <a:lnSpc>
                <a:spcPct val="115000"/>
              </a:lnSpc>
              <a:spcBef>
                <a:spcPts val="0"/>
              </a:spcBef>
              <a:spcAft>
                <a:spcPts val="0"/>
              </a:spcAft>
              <a:buClr>
                <a:schemeClr val="dk1"/>
              </a:buClr>
              <a:buSzPts val="1200"/>
              <a:buChar char="○"/>
              <a:defRPr sz="1600"/>
            </a:lvl5pPr>
            <a:lvl6pPr marL="3657509" lvl="5" indent="-406390" algn="l">
              <a:lnSpc>
                <a:spcPct val="115000"/>
              </a:lnSpc>
              <a:spcBef>
                <a:spcPts val="0"/>
              </a:spcBef>
              <a:spcAft>
                <a:spcPts val="0"/>
              </a:spcAft>
              <a:buClr>
                <a:schemeClr val="dk1"/>
              </a:buClr>
              <a:buSzPts val="1200"/>
              <a:buChar char="■"/>
              <a:defRPr sz="1600"/>
            </a:lvl6pPr>
            <a:lvl7pPr marL="4267093" lvl="6" indent="-406390" algn="l">
              <a:lnSpc>
                <a:spcPct val="115000"/>
              </a:lnSpc>
              <a:spcBef>
                <a:spcPts val="0"/>
              </a:spcBef>
              <a:spcAft>
                <a:spcPts val="0"/>
              </a:spcAft>
              <a:buClr>
                <a:schemeClr val="dk1"/>
              </a:buClr>
              <a:buSzPts val="1200"/>
              <a:buChar char="●"/>
              <a:defRPr sz="1600"/>
            </a:lvl7pPr>
            <a:lvl8pPr marL="4876678" lvl="7" indent="-406390" algn="l">
              <a:lnSpc>
                <a:spcPct val="115000"/>
              </a:lnSpc>
              <a:spcBef>
                <a:spcPts val="0"/>
              </a:spcBef>
              <a:spcAft>
                <a:spcPts val="0"/>
              </a:spcAft>
              <a:buClr>
                <a:schemeClr val="dk1"/>
              </a:buClr>
              <a:buSzPts val="1200"/>
              <a:buChar char="○"/>
              <a:defRPr sz="1600"/>
            </a:lvl8pPr>
            <a:lvl9pPr marL="5486263" lvl="8" indent="-406390" algn="l">
              <a:lnSpc>
                <a:spcPct val="115000"/>
              </a:lnSpc>
              <a:spcBef>
                <a:spcPts val="0"/>
              </a:spcBef>
              <a:spcAft>
                <a:spcPts val="0"/>
              </a:spcAft>
              <a:buClr>
                <a:schemeClr val="dk1"/>
              </a:buClr>
              <a:buSzPts val="1200"/>
              <a:buChar char="■"/>
              <a:defRPr sz="1600"/>
            </a:lvl9pPr>
          </a:lstStyle>
          <a:p>
            <a:endParaRPr/>
          </a:p>
        </p:txBody>
      </p:sp>
      <p:sp>
        <p:nvSpPr>
          <p:cNvPr id="59" name="Google Shape;59;p1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id" smtClean="0"/>
              <a:pPr/>
              <a:t>‹#›</a:t>
            </a:fld>
            <a:endParaRPr lang="id"/>
          </a:p>
        </p:txBody>
      </p:sp>
    </p:spTree>
    <p:extLst>
      <p:ext uri="{BB962C8B-B14F-4D97-AF65-F5344CB8AC3E}">
        <p14:creationId xmlns:p14="http://schemas.microsoft.com/office/powerpoint/2010/main" val="3821752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46"/>
        <p:cNvGrpSpPr/>
        <p:nvPr/>
      </p:nvGrpSpPr>
      <p:grpSpPr>
        <a:xfrm>
          <a:off x="0" y="0"/>
          <a:ext cx="0" cy="0"/>
          <a:chOff x="0" y="0"/>
          <a:chExt cx="0" cy="0"/>
        </a:xfrm>
      </p:grpSpPr>
      <p:sp>
        <p:nvSpPr>
          <p:cNvPr id="47" name="Google Shape;47;p1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1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Clr>
                <a:srgbClr val="262626"/>
              </a:buClr>
              <a:buSzPts val="1800"/>
              <a:buChar char="●"/>
              <a:defRPr>
                <a:solidFill>
                  <a:srgbClr val="262626"/>
                </a:solidFill>
              </a:defRPr>
            </a:lvl1pPr>
            <a:lvl2pPr marL="1219170" lvl="1" indent="-423323" algn="l">
              <a:lnSpc>
                <a:spcPct val="115000"/>
              </a:lnSpc>
              <a:spcBef>
                <a:spcPts val="0"/>
              </a:spcBef>
              <a:spcAft>
                <a:spcPts val="0"/>
              </a:spcAft>
              <a:buClr>
                <a:srgbClr val="262626"/>
              </a:buClr>
              <a:buSzPts val="1400"/>
              <a:buChar char="○"/>
              <a:defRPr sz="2133">
                <a:solidFill>
                  <a:srgbClr val="262626"/>
                </a:solidFill>
              </a:defRPr>
            </a:lvl2pPr>
            <a:lvl3pPr marL="1828754" lvl="2" indent="-423323" algn="l">
              <a:lnSpc>
                <a:spcPct val="115000"/>
              </a:lnSpc>
              <a:spcBef>
                <a:spcPts val="0"/>
              </a:spcBef>
              <a:spcAft>
                <a:spcPts val="0"/>
              </a:spcAft>
              <a:buClr>
                <a:srgbClr val="262626"/>
              </a:buClr>
              <a:buSzPts val="1400"/>
              <a:buChar char="■"/>
              <a:defRPr>
                <a:solidFill>
                  <a:srgbClr val="262626"/>
                </a:solidFill>
              </a:defRPr>
            </a:lvl3pPr>
            <a:lvl4pPr marL="2438339" lvl="3" indent="-423323" algn="l">
              <a:lnSpc>
                <a:spcPct val="115000"/>
              </a:lnSpc>
              <a:spcBef>
                <a:spcPts val="0"/>
              </a:spcBef>
              <a:spcAft>
                <a:spcPts val="0"/>
              </a:spcAft>
              <a:buClr>
                <a:schemeClr val="dk1"/>
              </a:buClr>
              <a:buSzPts val="1400"/>
              <a:buChar char="●"/>
              <a:defRPr/>
            </a:lvl4pPr>
            <a:lvl5pPr marL="3047924" lvl="4" indent="-423323" algn="l">
              <a:lnSpc>
                <a:spcPct val="115000"/>
              </a:lnSpc>
              <a:spcBef>
                <a:spcPts val="0"/>
              </a:spcBef>
              <a:spcAft>
                <a:spcPts val="0"/>
              </a:spcAft>
              <a:buClr>
                <a:schemeClr val="dk1"/>
              </a:buClr>
              <a:buSzPts val="1400"/>
              <a:buChar char="○"/>
              <a:defRPr/>
            </a:lvl5pPr>
            <a:lvl6pPr marL="3657509" lvl="5" indent="-423323" algn="l">
              <a:lnSpc>
                <a:spcPct val="115000"/>
              </a:lnSpc>
              <a:spcBef>
                <a:spcPts val="0"/>
              </a:spcBef>
              <a:spcAft>
                <a:spcPts val="0"/>
              </a:spcAft>
              <a:buClr>
                <a:schemeClr val="dk1"/>
              </a:buClr>
              <a:buSzPts val="1400"/>
              <a:buChar char="■"/>
              <a:defRPr/>
            </a:lvl6pPr>
            <a:lvl7pPr marL="4267093" lvl="6" indent="-423323" algn="l">
              <a:lnSpc>
                <a:spcPct val="115000"/>
              </a:lnSpc>
              <a:spcBef>
                <a:spcPts val="0"/>
              </a:spcBef>
              <a:spcAft>
                <a:spcPts val="0"/>
              </a:spcAft>
              <a:buClr>
                <a:schemeClr val="dk1"/>
              </a:buClr>
              <a:buSzPts val="1400"/>
              <a:buChar char="●"/>
              <a:defRPr/>
            </a:lvl7pPr>
            <a:lvl8pPr marL="4876678" lvl="7" indent="-423323" algn="l">
              <a:lnSpc>
                <a:spcPct val="115000"/>
              </a:lnSpc>
              <a:spcBef>
                <a:spcPts val="0"/>
              </a:spcBef>
              <a:spcAft>
                <a:spcPts val="0"/>
              </a:spcAft>
              <a:buClr>
                <a:schemeClr val="dk1"/>
              </a:buClr>
              <a:buSzPts val="1400"/>
              <a:buChar char="○"/>
              <a:defRPr/>
            </a:lvl8pPr>
            <a:lvl9pPr marL="5486263" lvl="8" indent="-423323" algn="l">
              <a:lnSpc>
                <a:spcPct val="115000"/>
              </a:lnSpc>
              <a:spcBef>
                <a:spcPts val="0"/>
              </a:spcBef>
              <a:spcAft>
                <a:spcPts val="0"/>
              </a:spcAft>
              <a:buClr>
                <a:schemeClr val="dk1"/>
              </a:buClr>
              <a:buSzPts val="1400"/>
              <a:buChar char="■"/>
              <a:defRPr/>
            </a:lvl9pPr>
          </a:lstStyle>
          <a:p>
            <a:endParaRPr/>
          </a:p>
        </p:txBody>
      </p:sp>
      <p:sp>
        <p:nvSpPr>
          <p:cNvPr id="49" name="Google Shape;49;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id" smtClean="0"/>
              <a:pPr/>
              <a:t>‹#›</a:t>
            </a:fld>
            <a:endParaRPr lang="id"/>
          </a:p>
        </p:txBody>
      </p:sp>
    </p:spTree>
    <p:extLst>
      <p:ext uri="{BB962C8B-B14F-4D97-AF65-F5344CB8AC3E}">
        <p14:creationId xmlns:p14="http://schemas.microsoft.com/office/powerpoint/2010/main" val="3285787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2400"/>
              <a:buFont typeface="Arial"/>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62" name="Google Shape;62;p16"/>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rmAutofit/>
          </a:bodyPr>
          <a:lstStyle>
            <a:lvl1pPr marL="609585" lvl="0" indent="-406390" algn="l">
              <a:lnSpc>
                <a:spcPct val="115000"/>
              </a:lnSpc>
              <a:spcBef>
                <a:spcPts val="0"/>
              </a:spcBef>
              <a:spcAft>
                <a:spcPts val="0"/>
              </a:spcAft>
              <a:buClr>
                <a:schemeClr val="dk1"/>
              </a:buClr>
              <a:buSzPts val="1200"/>
              <a:buChar char="●"/>
              <a:defRPr sz="1600"/>
            </a:lvl1pPr>
            <a:lvl2pPr marL="1219170" lvl="1" indent="-406390" algn="l">
              <a:lnSpc>
                <a:spcPct val="115000"/>
              </a:lnSpc>
              <a:spcBef>
                <a:spcPts val="0"/>
              </a:spcBef>
              <a:spcAft>
                <a:spcPts val="0"/>
              </a:spcAft>
              <a:buClr>
                <a:schemeClr val="dk1"/>
              </a:buClr>
              <a:buSzPts val="1200"/>
              <a:buChar char="○"/>
              <a:defRPr sz="1600"/>
            </a:lvl2pPr>
            <a:lvl3pPr marL="1828754" lvl="2" indent="-406390" algn="l">
              <a:lnSpc>
                <a:spcPct val="115000"/>
              </a:lnSpc>
              <a:spcBef>
                <a:spcPts val="0"/>
              </a:spcBef>
              <a:spcAft>
                <a:spcPts val="0"/>
              </a:spcAft>
              <a:buClr>
                <a:schemeClr val="dk1"/>
              </a:buClr>
              <a:buSzPts val="1200"/>
              <a:buChar char="■"/>
              <a:defRPr sz="1600"/>
            </a:lvl3pPr>
            <a:lvl4pPr marL="2438339" lvl="3" indent="-406390" algn="l">
              <a:lnSpc>
                <a:spcPct val="115000"/>
              </a:lnSpc>
              <a:spcBef>
                <a:spcPts val="0"/>
              </a:spcBef>
              <a:spcAft>
                <a:spcPts val="0"/>
              </a:spcAft>
              <a:buClr>
                <a:schemeClr val="dk1"/>
              </a:buClr>
              <a:buSzPts val="1200"/>
              <a:buChar char="●"/>
              <a:defRPr sz="1600"/>
            </a:lvl4pPr>
            <a:lvl5pPr marL="3047924" lvl="4" indent="-406390" algn="l">
              <a:lnSpc>
                <a:spcPct val="115000"/>
              </a:lnSpc>
              <a:spcBef>
                <a:spcPts val="0"/>
              </a:spcBef>
              <a:spcAft>
                <a:spcPts val="0"/>
              </a:spcAft>
              <a:buClr>
                <a:schemeClr val="dk1"/>
              </a:buClr>
              <a:buSzPts val="1200"/>
              <a:buChar char="○"/>
              <a:defRPr sz="1600"/>
            </a:lvl5pPr>
            <a:lvl6pPr marL="3657509" lvl="5" indent="-406390" algn="l">
              <a:lnSpc>
                <a:spcPct val="115000"/>
              </a:lnSpc>
              <a:spcBef>
                <a:spcPts val="0"/>
              </a:spcBef>
              <a:spcAft>
                <a:spcPts val="0"/>
              </a:spcAft>
              <a:buClr>
                <a:schemeClr val="dk1"/>
              </a:buClr>
              <a:buSzPts val="1200"/>
              <a:buChar char="■"/>
              <a:defRPr sz="1600"/>
            </a:lvl6pPr>
            <a:lvl7pPr marL="4267093" lvl="6" indent="-406390" algn="l">
              <a:lnSpc>
                <a:spcPct val="115000"/>
              </a:lnSpc>
              <a:spcBef>
                <a:spcPts val="0"/>
              </a:spcBef>
              <a:spcAft>
                <a:spcPts val="0"/>
              </a:spcAft>
              <a:buClr>
                <a:schemeClr val="dk1"/>
              </a:buClr>
              <a:buSzPts val="1200"/>
              <a:buChar char="●"/>
              <a:defRPr sz="1600"/>
            </a:lvl7pPr>
            <a:lvl8pPr marL="4876678" lvl="7" indent="-406390" algn="l">
              <a:lnSpc>
                <a:spcPct val="115000"/>
              </a:lnSpc>
              <a:spcBef>
                <a:spcPts val="0"/>
              </a:spcBef>
              <a:spcAft>
                <a:spcPts val="0"/>
              </a:spcAft>
              <a:buClr>
                <a:schemeClr val="dk1"/>
              </a:buClr>
              <a:buSzPts val="1200"/>
              <a:buChar char="○"/>
              <a:defRPr sz="1600"/>
            </a:lvl8pPr>
            <a:lvl9pPr marL="5486263" lvl="8" indent="-406390" algn="l">
              <a:lnSpc>
                <a:spcPct val="115000"/>
              </a:lnSpc>
              <a:spcBef>
                <a:spcPts val="0"/>
              </a:spcBef>
              <a:spcAft>
                <a:spcPts val="0"/>
              </a:spcAft>
              <a:buClr>
                <a:schemeClr val="dk1"/>
              </a:buClr>
              <a:buSzPts val="1200"/>
              <a:buChar char="■"/>
              <a:defRPr sz="1600"/>
            </a:lvl9pPr>
          </a:lstStyle>
          <a:p>
            <a:endParaRPr/>
          </a:p>
        </p:txBody>
      </p:sp>
      <p:sp>
        <p:nvSpPr>
          <p:cNvPr id="63" name="Google Shape;63;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id" smtClean="0"/>
              <a:pPr/>
              <a:t>‹#›</a:t>
            </a:fld>
            <a:endParaRPr lang="id"/>
          </a:p>
        </p:txBody>
      </p:sp>
    </p:spTree>
    <p:extLst>
      <p:ext uri="{BB962C8B-B14F-4D97-AF65-F5344CB8AC3E}">
        <p14:creationId xmlns:p14="http://schemas.microsoft.com/office/powerpoint/2010/main" val="2649834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74C207-7A81-4737-8BB1-F773A1644F8F}" type="datetimeFigureOut">
              <a:rPr lang="en-US" smtClean="0"/>
              <a:t>9/9/2026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9561D-2BA4-460C-B7B9-A3AAE34D46B8}" type="slidenum">
              <a:rPr lang="en-US" smtClean="0"/>
              <a:t>‹#›</a:t>
            </a:fld>
            <a:endParaRPr lang="en-US"/>
          </a:p>
        </p:txBody>
      </p:sp>
    </p:spTree>
    <p:extLst>
      <p:ext uri="{BB962C8B-B14F-4D97-AF65-F5344CB8AC3E}">
        <p14:creationId xmlns:p14="http://schemas.microsoft.com/office/powerpoint/2010/main" val="331490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kaggle.com/datasets" TargetMode="External"/><Relationship Id="rId13" Type="http://schemas.openxmlformats.org/officeDocument/2006/relationships/hyperlink" Target="https://www.dbpedia.org/resources/" TargetMode="External"/><Relationship Id="rId3" Type="http://schemas.openxmlformats.org/officeDocument/2006/relationships/hyperlink" Target="https://data.jakarta.go.id/" TargetMode="External"/><Relationship Id="rId7" Type="http://schemas.openxmlformats.org/officeDocument/2006/relationships/hyperlink" Target="https://archive.ics.uci.edu/ml/index.php" TargetMode="External"/><Relationship Id="rId12" Type="http://schemas.openxmlformats.org/officeDocument/2006/relationships/hyperlink" Target="https://developer.ibm.com/exchanges/data/" TargetMode="External"/><Relationship Id="rId2" Type="http://schemas.openxmlformats.org/officeDocument/2006/relationships/hyperlink" Target="https://data.go.id/" TargetMode="External"/><Relationship Id="rId1" Type="http://schemas.openxmlformats.org/officeDocument/2006/relationships/slideLayout" Target="../slideLayouts/slideLayout2.xml"/><Relationship Id="rId6" Type="http://schemas.openxmlformats.org/officeDocument/2006/relationships/hyperlink" Target="https://tanahair.indonesia.go.id/" TargetMode="External"/><Relationship Id="rId11" Type="http://schemas.openxmlformats.org/officeDocument/2006/relationships/hyperlink" Target="https://www.who.int/data" TargetMode="External"/><Relationship Id="rId5" Type="http://schemas.openxmlformats.org/officeDocument/2006/relationships/hyperlink" Target="https://www.bps.go.id/" TargetMode="External"/><Relationship Id="rId10" Type="http://schemas.openxmlformats.org/officeDocument/2006/relationships/hyperlink" Target="https://data.unicef.org/" TargetMode="External"/><Relationship Id="rId4" Type="http://schemas.openxmlformats.org/officeDocument/2006/relationships/hyperlink" Target="http://data.bandung.go.id/" TargetMode="External"/><Relationship Id="rId9" Type="http://schemas.openxmlformats.org/officeDocument/2006/relationships/hyperlink" Target="https://data.worldbank.org/" TargetMode="External"/><Relationship Id="rId14" Type="http://schemas.openxmlformats.org/officeDocument/2006/relationships/hyperlink" Target="https://www.wikidata.org/"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atasetsearch.research.google.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40772" y="1553787"/>
            <a:ext cx="6996700" cy="2123658"/>
          </a:xfrm>
        </p:spPr>
        <p:txBody>
          <a:bodyPr>
            <a:normAutofit/>
          </a:bodyPr>
          <a:lstStyle/>
          <a:p>
            <a:pPr algn="r"/>
            <a:r>
              <a:rPr lang="en-US" sz="3200" kern="50" dirty="0">
                <a:latin typeface="Times New Roman" panose="02020603050405020304" pitchFamily="18" charset="0"/>
                <a:ea typeface="Lucida Sans Unicode" panose="020B0602030504020204" pitchFamily="34" charset="0"/>
              </a:rPr>
              <a:t>Applied Data Science – Week 3</a:t>
            </a:r>
            <a:br>
              <a:rPr lang="en-US" sz="3200" kern="50" dirty="0">
                <a:latin typeface="Times New Roman" panose="02020603050405020304" pitchFamily="18" charset="0"/>
                <a:ea typeface="Lucida Sans Unicode" panose="020B0602030504020204" pitchFamily="34" charset="0"/>
              </a:rPr>
            </a:br>
            <a:r>
              <a:rPr lang="en-US" kern="50" dirty="0">
                <a:latin typeface="Times New Roman" panose="02020603050405020304" pitchFamily="18" charset="0"/>
                <a:ea typeface="Lucida Sans Unicode" panose="020B0602030504020204" pitchFamily="34" charset="0"/>
              </a:rPr>
              <a:t>Data Understanding</a:t>
            </a:r>
            <a:endParaRPr lang="en-US" dirty="0">
              <a:solidFill>
                <a:srgbClr val="00B050"/>
              </a:solidFill>
            </a:endParaRPr>
          </a:p>
        </p:txBody>
      </p:sp>
      <p:sp>
        <p:nvSpPr>
          <p:cNvPr id="5" name="TextBox 4">
            <a:extLst>
              <a:ext uri="{FF2B5EF4-FFF2-40B4-BE49-F238E27FC236}">
                <a16:creationId xmlns:a16="http://schemas.microsoft.com/office/drawing/2014/main" id="{0E019929-5D50-4E5F-EB5C-5C6FAB814C4B}"/>
              </a:ext>
            </a:extLst>
          </p:cNvPr>
          <p:cNvSpPr txBox="1"/>
          <p:nvPr/>
        </p:nvSpPr>
        <p:spPr>
          <a:xfrm>
            <a:off x="6266893" y="4663222"/>
            <a:ext cx="4870579" cy="830997"/>
          </a:xfrm>
          <a:prstGeom prst="rect">
            <a:avLst/>
          </a:prstGeom>
          <a:noFill/>
        </p:spPr>
        <p:txBody>
          <a:bodyPr wrap="square">
            <a:spAutoFit/>
          </a:bodyPr>
          <a:lstStyle/>
          <a:p>
            <a:pPr algn="r"/>
            <a:r>
              <a:rPr lang="en-US" sz="2400" dirty="0">
                <a:solidFill>
                  <a:srgbClr val="0070C0"/>
                </a:solidFill>
              </a:rPr>
              <a:t>Dr. Muhammad </a:t>
            </a:r>
            <a:r>
              <a:rPr lang="en-US" sz="2400" dirty="0" err="1">
                <a:solidFill>
                  <a:srgbClr val="0070C0"/>
                </a:solidFill>
              </a:rPr>
              <a:t>Fakhrurrifqi</a:t>
            </a:r>
            <a:endParaRPr lang="en-US" sz="2400" dirty="0">
              <a:solidFill>
                <a:srgbClr val="0070C0"/>
              </a:solidFill>
            </a:endParaRPr>
          </a:p>
          <a:p>
            <a:pPr algn="r"/>
            <a:r>
              <a:rPr lang="en-US" sz="2400" dirty="0">
                <a:solidFill>
                  <a:srgbClr val="0070C0"/>
                </a:solidFill>
              </a:rPr>
              <a:t>Anindita </a:t>
            </a:r>
            <a:r>
              <a:rPr lang="en-US" sz="2400" dirty="0" err="1">
                <a:solidFill>
                  <a:srgbClr val="0070C0"/>
                </a:solidFill>
              </a:rPr>
              <a:t>Suryarasmi</a:t>
            </a:r>
            <a:r>
              <a:rPr lang="en-US" sz="2400">
                <a:solidFill>
                  <a:srgbClr val="0070C0"/>
                </a:solidFill>
              </a:rPr>
              <a:t>, Ph</a:t>
            </a:r>
            <a:r>
              <a:rPr lang="en-US" sz="2400" dirty="0">
                <a:solidFill>
                  <a:srgbClr val="0070C0"/>
                </a:solidFill>
              </a:rPr>
              <a:t>.D.</a:t>
            </a:r>
            <a:endParaRPr lang="en-US" sz="2400" dirty="0"/>
          </a:p>
        </p:txBody>
      </p:sp>
    </p:spTree>
    <p:extLst>
      <p:ext uri="{BB962C8B-B14F-4D97-AF65-F5344CB8AC3E}">
        <p14:creationId xmlns:p14="http://schemas.microsoft.com/office/powerpoint/2010/main" val="84444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0DF01-5510-D305-4EFB-D18AD7C4095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6007C9ED-75B8-9AC4-A71C-5C4A9F92FED8}"/>
              </a:ext>
            </a:extLst>
          </p:cNvPr>
          <p:cNvSpPr>
            <a:spLocks noGrp="1"/>
          </p:cNvSpPr>
          <p:nvPr>
            <p:ph idx="1"/>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Data understanding</a:t>
            </a:r>
          </a:p>
          <a:p>
            <a:r>
              <a:rPr lang="en-US" dirty="0">
                <a:latin typeface="Calibri" panose="020F0502020204030204" pitchFamily="34" charset="0"/>
                <a:ea typeface="Calibri" panose="020F0502020204030204" pitchFamily="34" charset="0"/>
                <a:cs typeface="Calibri" panose="020F0502020204030204" pitchFamily="34" charset="0"/>
              </a:rPr>
              <a:t>Data review</a:t>
            </a:r>
          </a:p>
          <a:p>
            <a:r>
              <a:rPr lang="en-US" dirty="0">
                <a:latin typeface="Calibri" panose="020F0502020204030204" pitchFamily="34" charset="0"/>
                <a:ea typeface="Calibri" panose="020F0502020204030204" pitchFamily="34" charset="0"/>
                <a:cs typeface="Calibri" panose="020F0502020204030204" pitchFamily="34" charset="0"/>
              </a:rPr>
              <a:t>Data sources</a:t>
            </a:r>
          </a:p>
          <a:p>
            <a:r>
              <a:rPr lang="en-US" dirty="0">
                <a:latin typeface="Calibri" panose="020F0502020204030204" pitchFamily="34" charset="0"/>
                <a:ea typeface="Calibri" panose="020F0502020204030204" pitchFamily="34" charset="0"/>
                <a:cs typeface="Calibri" panose="020F0502020204030204" pitchFamily="34" charset="0"/>
              </a:rPr>
              <a:t>Data types</a:t>
            </a:r>
          </a:p>
        </p:txBody>
      </p:sp>
    </p:spTree>
    <p:extLst>
      <p:ext uri="{BB962C8B-B14F-4D97-AF65-F5344CB8AC3E}">
        <p14:creationId xmlns:p14="http://schemas.microsoft.com/office/powerpoint/2010/main" val="3239234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27D9B-EC55-CAFB-5008-C2D7760C141C}"/>
              </a:ext>
            </a:extLst>
          </p:cNvPr>
          <p:cNvSpPr>
            <a:spLocks noGrp="1"/>
          </p:cNvSpPr>
          <p:nvPr>
            <p:ph type="title"/>
          </p:nvPr>
        </p:nvSpPr>
        <p:spPr>
          <a:xfrm>
            <a:off x="838200" y="365125"/>
            <a:ext cx="10515600" cy="894715"/>
          </a:xfrm>
        </p:spPr>
        <p:txBody>
          <a:bodyPr/>
          <a:lstStyle/>
          <a:p>
            <a:r>
              <a:rPr lang="en-US" dirty="0"/>
              <a:t>What is data understanding</a:t>
            </a:r>
          </a:p>
        </p:txBody>
      </p:sp>
      <p:sp>
        <p:nvSpPr>
          <p:cNvPr id="3" name="Content Placeholder 2">
            <a:extLst>
              <a:ext uri="{FF2B5EF4-FFF2-40B4-BE49-F238E27FC236}">
                <a16:creationId xmlns:a16="http://schemas.microsoft.com/office/drawing/2014/main" id="{A67470B6-2C33-F3AF-CDA3-523E66529979}"/>
              </a:ext>
            </a:extLst>
          </p:cNvPr>
          <p:cNvSpPr>
            <a:spLocks noGrp="1"/>
          </p:cNvSpPr>
          <p:nvPr>
            <p:ph idx="1"/>
          </p:nvPr>
        </p:nvSpPr>
        <p:spPr>
          <a:xfrm>
            <a:off x="838200" y="1825625"/>
            <a:ext cx="5899382" cy="4351338"/>
          </a:xfrm>
        </p:spPr>
        <p:txBody>
          <a:bodyPr/>
          <a:lstStyle/>
          <a:p>
            <a:pPr lvl="0"/>
            <a:r>
              <a:rPr lang="en-US" dirty="0">
                <a:latin typeface="Calibri" panose="020F0502020204030204" pitchFamily="34" charset="0"/>
                <a:ea typeface="Calibri" panose="020F0502020204030204" pitchFamily="34" charset="0"/>
                <a:cs typeface="Calibri" panose="020F0502020204030204" pitchFamily="34" charset="0"/>
              </a:rPr>
              <a:t>Done after the </a:t>
            </a:r>
            <a:r>
              <a:rPr lang="en-US" b="1" dirty="0">
                <a:latin typeface="Calibri" panose="020F0502020204030204" pitchFamily="34" charset="0"/>
                <a:ea typeface="Calibri" panose="020F0502020204030204" pitchFamily="34" charset="0"/>
                <a:cs typeface="Calibri" panose="020F0502020204030204" pitchFamily="34" charset="0"/>
              </a:rPr>
              <a:t>business problem</a:t>
            </a:r>
            <a:r>
              <a:rPr lang="en-US" dirty="0">
                <a:latin typeface="Calibri" panose="020F0502020204030204" pitchFamily="34" charset="0"/>
                <a:ea typeface="Calibri" panose="020F0502020204030204" pitchFamily="34" charset="0"/>
                <a:cs typeface="Calibri" panose="020F0502020204030204" pitchFamily="34" charset="0"/>
              </a:rPr>
              <a:t> is defined in the Business Understanding stage. </a:t>
            </a:r>
          </a:p>
          <a:p>
            <a:pPr lvl="0"/>
            <a:r>
              <a:rPr lang="en-US" b="1" dirty="0">
                <a:latin typeface="Calibri" panose="020F0502020204030204" pitchFamily="34" charset="0"/>
                <a:ea typeface="Calibri" panose="020F0502020204030204" pitchFamily="34" charset="0"/>
                <a:cs typeface="Calibri" panose="020F0502020204030204" pitchFamily="34" charset="0"/>
              </a:rPr>
              <a:t>Goal:</a:t>
            </a:r>
            <a:r>
              <a:rPr lang="en-US" dirty="0">
                <a:latin typeface="Calibri" panose="020F0502020204030204" pitchFamily="34" charset="0"/>
                <a:ea typeface="Calibri" panose="020F0502020204030204" pitchFamily="34" charset="0"/>
                <a:cs typeface="Calibri" panose="020F0502020204030204" pitchFamily="34" charset="0"/>
              </a:rPr>
              <a:t> Get a clear overview of the data. </a:t>
            </a:r>
          </a:p>
          <a:p>
            <a:pPr lvl="0"/>
            <a:r>
              <a:rPr lang="en-US" dirty="0">
                <a:latin typeface="Calibri" panose="020F0502020204030204" pitchFamily="34" charset="0"/>
                <a:ea typeface="Calibri" panose="020F0502020204030204" pitchFamily="34" charset="0"/>
                <a:cs typeface="Calibri" panose="020F0502020204030204" pitchFamily="34" charset="0"/>
              </a:rPr>
              <a:t>If the data is well understood, move to </a:t>
            </a:r>
            <a:r>
              <a:rPr lang="en-US" b="1" dirty="0">
                <a:latin typeface="Calibri" panose="020F0502020204030204" pitchFamily="34" charset="0"/>
                <a:ea typeface="Calibri" panose="020F0502020204030204" pitchFamily="34" charset="0"/>
                <a:cs typeface="Calibri" panose="020F0502020204030204" pitchFamily="34" charset="0"/>
              </a:rPr>
              <a:t>Data Preparation</a:t>
            </a:r>
            <a:r>
              <a:rPr lang="en-US" dirty="0">
                <a:latin typeface="Calibri" panose="020F0502020204030204" pitchFamily="34" charset="0"/>
                <a:ea typeface="Calibri" panose="020F0502020204030204" pitchFamily="34" charset="0"/>
                <a:cs typeface="Calibri" panose="020F0502020204030204" pitchFamily="34" charset="0"/>
              </a:rPr>
              <a:t>. </a:t>
            </a:r>
          </a:p>
          <a:p>
            <a:pPr lvl="0"/>
            <a:r>
              <a:rPr lang="en-US" dirty="0">
                <a:latin typeface="Calibri" panose="020F0502020204030204" pitchFamily="34" charset="0"/>
                <a:ea typeface="Calibri" panose="020F0502020204030204" pitchFamily="34" charset="0"/>
                <a:cs typeface="Calibri" panose="020F0502020204030204" pitchFamily="34" charset="0"/>
              </a:rPr>
              <a:t>If the business problem needs to be revised, go back to </a:t>
            </a:r>
            <a:r>
              <a:rPr lang="en-US" b="1" dirty="0">
                <a:latin typeface="Calibri" panose="020F0502020204030204" pitchFamily="34" charset="0"/>
                <a:ea typeface="Calibri" panose="020F0502020204030204" pitchFamily="34" charset="0"/>
                <a:cs typeface="Calibri" panose="020F0502020204030204" pitchFamily="34" charset="0"/>
              </a:rPr>
              <a:t>Business Understanding</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Google Shape;247;p44">
            <a:extLst>
              <a:ext uri="{FF2B5EF4-FFF2-40B4-BE49-F238E27FC236}">
                <a16:creationId xmlns:a16="http://schemas.microsoft.com/office/drawing/2014/main" id="{75199849-7EB6-2F93-D5D2-1B01E61EA8C9}"/>
              </a:ext>
            </a:extLst>
          </p:cNvPr>
          <p:cNvPicPr preferRelativeResize="0"/>
          <p:nvPr/>
        </p:nvPicPr>
        <p:blipFill rotWithShape="1">
          <a:blip r:embed="rId2">
            <a:alphaModFix/>
          </a:blip>
          <a:srcRect/>
          <a:stretch/>
        </p:blipFill>
        <p:spPr>
          <a:xfrm>
            <a:off x="6906514" y="1391920"/>
            <a:ext cx="4848606" cy="4962843"/>
          </a:xfrm>
          <a:prstGeom prst="rect">
            <a:avLst/>
          </a:prstGeom>
          <a:noFill/>
          <a:ln>
            <a:noFill/>
          </a:ln>
        </p:spPr>
      </p:pic>
      <p:sp>
        <p:nvSpPr>
          <p:cNvPr id="7" name="Google Shape;248;p44">
            <a:extLst>
              <a:ext uri="{FF2B5EF4-FFF2-40B4-BE49-F238E27FC236}">
                <a16:creationId xmlns:a16="http://schemas.microsoft.com/office/drawing/2014/main" id="{859F8FDC-E007-5446-1742-7A10115C6A2B}"/>
              </a:ext>
            </a:extLst>
          </p:cNvPr>
          <p:cNvSpPr/>
          <p:nvPr/>
        </p:nvSpPr>
        <p:spPr>
          <a:xfrm rot="-4088056">
            <a:off x="10469976" y="1671340"/>
            <a:ext cx="1377929" cy="367765"/>
          </a:xfrm>
          <a:prstGeom prst="leftArrow">
            <a:avLst>
              <a:gd name="adj1" fmla="val 30409"/>
              <a:gd name="adj2" fmla="val 85080"/>
            </a:avLst>
          </a:prstGeom>
          <a:solidFill>
            <a:srgbClr val="FF0000"/>
          </a:soli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 name="Google Shape;249;p44">
            <a:extLst>
              <a:ext uri="{FF2B5EF4-FFF2-40B4-BE49-F238E27FC236}">
                <a16:creationId xmlns:a16="http://schemas.microsoft.com/office/drawing/2014/main" id="{34D4CBDE-9D4F-F164-7EDD-E874DE05DA9A}"/>
              </a:ext>
            </a:extLst>
          </p:cNvPr>
          <p:cNvSpPr/>
          <p:nvPr/>
        </p:nvSpPr>
        <p:spPr>
          <a:xfrm>
            <a:off x="9937340" y="2368620"/>
            <a:ext cx="1221600" cy="1050000"/>
          </a:xfrm>
          <a:prstGeom prst="ellipse">
            <a:avLst/>
          </a:prstGeom>
          <a:solidFill>
            <a:srgbClr val="000000">
              <a:alpha val="0"/>
            </a:srgbClr>
          </a:solid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6067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Apa itu telaah data (</a:t>
            </a:r>
            <a:r>
              <a:rPr lang="id" i="1"/>
              <a:t>data understanding</a:t>
            </a:r>
            <a:r>
              <a:rPr lang="id"/>
              <a:t>)?</a:t>
            </a:r>
            <a:endParaRPr/>
          </a:p>
        </p:txBody>
      </p:sp>
      <p:sp>
        <p:nvSpPr>
          <p:cNvPr id="245" name="Google Shape;245;p44"/>
          <p:cNvSpPr txBox="1">
            <a:spLocks noGrp="1"/>
          </p:cNvSpPr>
          <p:nvPr>
            <p:ph type="body" idx="1"/>
          </p:nvPr>
        </p:nvSpPr>
        <p:spPr>
          <a:xfrm>
            <a:off x="415600" y="1536633"/>
            <a:ext cx="5333200" cy="4555200"/>
          </a:xfrm>
          <a:prstGeom prst="rect">
            <a:avLst/>
          </a:prstGeom>
          <a:noFill/>
          <a:ln>
            <a:noFill/>
          </a:ln>
        </p:spPr>
        <p:txBody>
          <a:bodyPr spcFirstLastPara="1" vert="horz" wrap="square" lIns="121900" tIns="121900" rIns="121900" bIns="121900" rtlCol="0" anchor="t" anchorCtr="0">
            <a:normAutofit/>
          </a:bodyPr>
          <a:lstStyle/>
          <a:p>
            <a:r>
              <a:rPr lang="id" dirty="0"/>
              <a:t>Dilakukan setelah problem bisnis telah didefinisikan sebagai hasil tahapan business understanding.</a:t>
            </a:r>
            <a:endParaRPr dirty="0"/>
          </a:p>
          <a:p>
            <a:r>
              <a:rPr lang="id" dirty="0"/>
              <a:t>Tujuan: mendapatkan gambaran utuh atas data.</a:t>
            </a:r>
            <a:endParaRPr dirty="0"/>
          </a:p>
          <a:p>
            <a:r>
              <a:rPr lang="id" dirty="0"/>
              <a:t>Dilanjutkan ke persiapan data (data preparation), jika pemahaman awal data cukup atau kembali ke business understanding jika definisi permasalahan bisnis harus direvisi.</a:t>
            </a:r>
            <a:endParaRPr dirty="0"/>
          </a:p>
        </p:txBody>
      </p:sp>
      <p:pic>
        <p:nvPicPr>
          <p:cNvPr id="247" name="Google Shape;247;p44"/>
          <p:cNvPicPr preferRelativeResize="0"/>
          <p:nvPr/>
        </p:nvPicPr>
        <p:blipFill rotWithShape="1">
          <a:blip r:embed="rId3">
            <a:alphaModFix/>
          </a:blip>
          <a:srcRect/>
          <a:stretch/>
        </p:blipFill>
        <p:spPr>
          <a:xfrm>
            <a:off x="6580632" y="1349718"/>
            <a:ext cx="5114067" cy="4929033"/>
          </a:xfrm>
          <a:prstGeom prst="rect">
            <a:avLst/>
          </a:prstGeom>
          <a:noFill/>
          <a:ln>
            <a:noFill/>
          </a:ln>
        </p:spPr>
      </p:pic>
      <p:sp>
        <p:nvSpPr>
          <p:cNvPr id="248" name="Google Shape;248;p44"/>
          <p:cNvSpPr/>
          <p:nvPr/>
        </p:nvSpPr>
        <p:spPr>
          <a:xfrm rot="-4088056">
            <a:off x="10288118" y="1432258"/>
            <a:ext cx="1837239" cy="490353"/>
          </a:xfrm>
          <a:prstGeom prst="leftArrow">
            <a:avLst>
              <a:gd name="adj1" fmla="val 30409"/>
              <a:gd name="adj2" fmla="val 85080"/>
            </a:avLst>
          </a:prstGeom>
          <a:gradFill>
            <a:gsLst>
              <a:gs pos="0">
                <a:srgbClr val="8D8D8D"/>
              </a:gs>
              <a:gs pos="50000">
                <a:schemeClr val="accent4"/>
              </a:gs>
              <a:gs pos="100000">
                <a:srgbClr val="707070"/>
              </a:gs>
            </a:gsLst>
            <a:lin ang="5400000" scaled="0"/>
          </a:gradFill>
          <a:ln w="9525" cap="flat" cmpd="sng">
            <a:solidFill>
              <a:schemeClr val="accent4"/>
            </a:solidFill>
            <a:prstDash val="solid"/>
            <a:miter lim="800000"/>
            <a:headEnd type="none" w="sm" len="sm"/>
            <a:tailEnd type="none" w="sm" len="sm"/>
          </a:ln>
        </p:spPr>
        <p:txBody>
          <a:bodyPr spcFirstLastPara="1" wrap="square" lIns="121900" tIns="60933" rIns="121900" bIns="60933" anchor="ctr" anchorCtr="0">
            <a:noAutofit/>
          </a:bodyPr>
          <a:lstStyle/>
          <a:p>
            <a:pPr algn="ctr">
              <a:buClr>
                <a:srgbClr val="000000"/>
              </a:buClr>
              <a:buSzPts val="1400"/>
            </a:pPr>
            <a:endParaRPr sz="1867">
              <a:solidFill>
                <a:schemeClr val="lt1"/>
              </a:solidFill>
              <a:latin typeface="Arial"/>
              <a:ea typeface="Arial"/>
              <a:cs typeface="Arial"/>
              <a:sym typeface="Arial"/>
            </a:endParaRPr>
          </a:p>
        </p:txBody>
      </p:sp>
      <p:sp>
        <p:nvSpPr>
          <p:cNvPr id="249" name="Google Shape;249;p44"/>
          <p:cNvSpPr/>
          <p:nvPr/>
        </p:nvSpPr>
        <p:spPr>
          <a:xfrm>
            <a:off x="9658367" y="2143133"/>
            <a:ext cx="1628800" cy="1400000"/>
          </a:xfrm>
          <a:prstGeom prst="ellipse">
            <a:avLst/>
          </a:prstGeom>
          <a:solidFill>
            <a:srgbClr val="000000">
              <a:alpha val="0"/>
            </a:srgbClr>
          </a:solid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1850B-F6CD-BEFF-9A6B-A68D3C941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5030F-1DAA-A45E-39D9-EC01C5395FBC}"/>
              </a:ext>
            </a:extLst>
          </p:cNvPr>
          <p:cNvSpPr>
            <a:spLocks noGrp="1"/>
          </p:cNvSpPr>
          <p:nvPr>
            <p:ph type="title"/>
          </p:nvPr>
        </p:nvSpPr>
        <p:spPr>
          <a:xfrm>
            <a:off x="838200" y="365125"/>
            <a:ext cx="10515600" cy="904875"/>
          </a:xfrm>
        </p:spPr>
        <p:txBody>
          <a:bodyPr/>
          <a:lstStyle/>
          <a:p>
            <a:r>
              <a:rPr lang="en-US" dirty="0"/>
              <a:t>Why data understanding is necessary</a:t>
            </a:r>
          </a:p>
        </p:txBody>
      </p:sp>
      <p:sp>
        <p:nvSpPr>
          <p:cNvPr id="3" name="Content Placeholder 2">
            <a:extLst>
              <a:ext uri="{FF2B5EF4-FFF2-40B4-BE49-F238E27FC236}">
                <a16:creationId xmlns:a16="http://schemas.microsoft.com/office/drawing/2014/main" id="{EA05E9DB-7BE4-82E4-BB42-6079B35CB9F6}"/>
              </a:ext>
            </a:extLst>
          </p:cNvPr>
          <p:cNvSpPr>
            <a:spLocks noGrp="1"/>
          </p:cNvSpPr>
          <p:nvPr>
            <p:ph idx="1"/>
          </p:nvPr>
        </p:nvSpPr>
        <p:spPr>
          <a:xfrm>
            <a:off x="838200" y="1825625"/>
            <a:ext cx="10622280" cy="4351338"/>
          </a:xfrm>
        </p:spPr>
        <p:txBody>
          <a:bodyPr>
            <a:normAutofit lnSpcReduction="10000"/>
          </a:bodyPr>
          <a:lstStyle/>
          <a:p>
            <a:pPr lvl="0"/>
            <a:r>
              <a:rPr lang="en-US" dirty="0">
                <a:latin typeface="Calibri" panose="020F0502020204030204" pitchFamily="34" charset="0"/>
                <a:ea typeface="Calibri" panose="020F0502020204030204" pitchFamily="34" charset="0"/>
                <a:cs typeface="Calibri" panose="020F0502020204030204" pitchFamily="34" charset="0"/>
              </a:rPr>
              <a:t>Data = raw material for an AI solution</a:t>
            </a:r>
          </a:p>
          <a:p>
            <a:pPr lvl="0"/>
            <a:r>
              <a:rPr lang="en-US" dirty="0">
                <a:latin typeface="Calibri" panose="020F0502020204030204" pitchFamily="34" charset="0"/>
                <a:ea typeface="Calibri" panose="020F0502020204030204" pitchFamily="34" charset="0"/>
                <a:cs typeface="Calibri" panose="020F0502020204030204" pitchFamily="34" charset="0"/>
              </a:rPr>
              <a:t>Data from different sources may not be directly usable because:</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They have different purposes and objectives.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They may be separate or tightly integrated.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They have different levels of richness.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They have different levels of reliability.</a:t>
            </a:r>
          </a:p>
          <a:p>
            <a:pPr lvl="0"/>
            <a:r>
              <a:rPr lang="en-US" dirty="0">
                <a:latin typeface="Calibri" panose="020F0502020204030204" pitchFamily="34" charset="0"/>
                <a:ea typeface="Calibri" panose="020F0502020204030204" pitchFamily="34" charset="0"/>
                <a:cs typeface="Calibri" panose="020F0502020204030204" pitchFamily="34" charset="0"/>
              </a:rPr>
              <a:t>Data Understanding Helps Identify</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strengths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limitations and weaknesses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suitability for the business problem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availability (open/closed, access cost, etc.)</a:t>
            </a:r>
          </a:p>
          <a:p>
            <a:pPr lvl="0"/>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5895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Mengapa perlu data understanding?</a:t>
            </a:r>
            <a:endParaRPr/>
          </a:p>
        </p:txBody>
      </p:sp>
      <p:sp>
        <p:nvSpPr>
          <p:cNvPr id="255" name="Google Shape;255;p45"/>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fontScale="92500" lnSpcReduction="10000"/>
          </a:bodyPr>
          <a:lstStyle/>
          <a:p>
            <a:pPr indent="-457266">
              <a:buSzPct val="92664"/>
            </a:pPr>
            <a:r>
              <a:rPr lang="id"/>
              <a:t>Data = bahan mentah solusi AI</a:t>
            </a:r>
            <a:endParaRPr/>
          </a:p>
          <a:p>
            <a:pPr indent="-457266">
              <a:buSzPct val="92664"/>
            </a:pPr>
            <a:r>
              <a:rPr lang="id"/>
              <a:t>Data dari masing-masing sumber belum tentu dapat langsung dipakai karena:</a:t>
            </a:r>
            <a:endParaRPr/>
          </a:p>
          <a:p>
            <a:pPr lvl="1">
              <a:buSzPct val="94594"/>
            </a:pPr>
            <a:r>
              <a:rPr lang="id"/>
              <a:t>maksud dan tujuan data berbeda-beda</a:t>
            </a:r>
            <a:endParaRPr/>
          </a:p>
          <a:p>
            <a:pPr lvl="1">
              <a:buSzPct val="94594"/>
            </a:pPr>
            <a:r>
              <a:rPr lang="id"/>
              <a:t>keadaan asal terpisah-pisah atau justru terintegrasi secara ketat.</a:t>
            </a:r>
            <a:endParaRPr/>
          </a:p>
          <a:p>
            <a:pPr lvl="1">
              <a:buSzPct val="94594"/>
            </a:pPr>
            <a:r>
              <a:rPr lang="id"/>
              <a:t>tingkat kekayaan (</a:t>
            </a:r>
            <a:r>
              <a:rPr lang="id" i="1"/>
              <a:t>richness</a:t>
            </a:r>
            <a:r>
              <a:rPr lang="id"/>
              <a:t>) berbeda-beda</a:t>
            </a:r>
            <a:endParaRPr/>
          </a:p>
          <a:p>
            <a:pPr lvl="1">
              <a:buSzPct val="94594"/>
            </a:pPr>
            <a:r>
              <a:rPr lang="id"/>
              <a:t>tingkat keandalan (</a:t>
            </a:r>
            <a:r>
              <a:rPr lang="id" i="1"/>
              <a:t>reliability</a:t>
            </a:r>
            <a:r>
              <a:rPr lang="id"/>
              <a:t>) berbeda-beda</a:t>
            </a:r>
            <a:endParaRPr/>
          </a:p>
          <a:p>
            <a:pPr indent="-457266">
              <a:buSzPct val="92664"/>
            </a:pPr>
            <a:r>
              <a:rPr lang="id"/>
              <a:t>Data understanding memberikan gambaran awal tentang:</a:t>
            </a:r>
            <a:endParaRPr/>
          </a:p>
          <a:p>
            <a:pPr lvl="1">
              <a:buSzPct val="94594"/>
            </a:pPr>
            <a:r>
              <a:rPr lang="id"/>
              <a:t>kekuatan data</a:t>
            </a:r>
            <a:endParaRPr/>
          </a:p>
          <a:p>
            <a:pPr lvl="1">
              <a:buSzPct val="94594"/>
            </a:pPr>
            <a:r>
              <a:rPr lang="id"/>
              <a:t>kekurangan dan batasan penggunaan data</a:t>
            </a:r>
            <a:endParaRPr/>
          </a:p>
          <a:p>
            <a:pPr lvl="1">
              <a:buSzPct val="94594"/>
            </a:pPr>
            <a:r>
              <a:rPr lang="id"/>
              <a:t>tingkat kesesuaian data dengan masalah bisnis yang akan dipecahkan</a:t>
            </a:r>
            <a:endParaRPr/>
          </a:p>
          <a:p>
            <a:pPr lvl="1">
              <a:buSzPct val="94594"/>
            </a:pPr>
            <a:r>
              <a:rPr lang="id"/>
              <a:t>ketersediaan data (terbuka/tertutup, biaya akses, dsb.)</a:t>
            </a:r>
            <a:endParaRPr/>
          </a:p>
        </p:txBody>
      </p:sp>
      <p:sp>
        <p:nvSpPr>
          <p:cNvPr id="256" name="Google Shape;256;p45"/>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7F518-B0D5-D2ED-BCFE-E594609DB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A11D9-E566-AE1B-34C2-5AE0DF7F5E06}"/>
              </a:ext>
            </a:extLst>
          </p:cNvPr>
          <p:cNvSpPr>
            <a:spLocks noGrp="1"/>
          </p:cNvSpPr>
          <p:nvPr>
            <p:ph type="title"/>
          </p:nvPr>
        </p:nvSpPr>
        <p:spPr>
          <a:xfrm>
            <a:off x="838200" y="365125"/>
            <a:ext cx="10515600" cy="904875"/>
          </a:xfrm>
        </p:spPr>
        <p:txBody>
          <a:bodyPr/>
          <a:lstStyle/>
          <a:p>
            <a:r>
              <a:rPr lang="en-US" dirty="0"/>
              <a:t>Data review process</a:t>
            </a:r>
          </a:p>
        </p:txBody>
      </p:sp>
      <p:sp>
        <p:nvSpPr>
          <p:cNvPr id="3" name="Content Placeholder 2">
            <a:extLst>
              <a:ext uri="{FF2B5EF4-FFF2-40B4-BE49-F238E27FC236}">
                <a16:creationId xmlns:a16="http://schemas.microsoft.com/office/drawing/2014/main" id="{B6D193C5-C854-08F2-8FF8-9DADE47C6313}"/>
              </a:ext>
            </a:extLst>
          </p:cNvPr>
          <p:cNvSpPr>
            <a:spLocks noGrp="1"/>
          </p:cNvSpPr>
          <p:nvPr>
            <p:ph idx="1"/>
          </p:nvPr>
        </p:nvSpPr>
        <p:spPr>
          <a:xfrm>
            <a:off x="838200" y="1825625"/>
            <a:ext cx="10622280" cy="4351338"/>
          </a:xfrm>
        </p:spPr>
        <p:txBody>
          <a:bodyPr>
            <a:normAutofit/>
          </a:bodyPr>
          <a:lstStyle/>
          <a:p>
            <a:pPr lvl="0"/>
            <a:r>
              <a:rPr lang="en-US" dirty="0">
                <a:latin typeface="Calibri" panose="020F0502020204030204" pitchFamily="34" charset="0"/>
                <a:ea typeface="Calibri" panose="020F0502020204030204" pitchFamily="34" charset="0"/>
                <a:cs typeface="Calibri" panose="020F0502020204030204" pitchFamily="34" charset="0"/>
              </a:rPr>
              <a:t>Identify how data connects to the business process </a:t>
            </a:r>
          </a:p>
          <a:p>
            <a:pPr lvl="0"/>
            <a:r>
              <a:rPr lang="en-US" dirty="0">
                <a:latin typeface="Calibri" panose="020F0502020204030204" pitchFamily="34" charset="0"/>
                <a:ea typeface="Calibri" panose="020F0502020204030204" pitchFamily="34" charset="0"/>
                <a:cs typeface="Calibri" panose="020F0502020204030204" pitchFamily="34" charset="0"/>
              </a:rPr>
              <a:t>Identify the main data sources and how to access them </a:t>
            </a:r>
          </a:p>
          <a:p>
            <a:pPr lvl="0"/>
            <a:r>
              <a:rPr lang="en-US" dirty="0">
                <a:latin typeface="Calibri" panose="020F0502020204030204" pitchFamily="34" charset="0"/>
                <a:ea typeface="Calibri" panose="020F0502020204030204" pitchFamily="34" charset="0"/>
                <a:cs typeface="Calibri" panose="020F0502020204030204" pitchFamily="34" charset="0"/>
              </a:rPr>
              <a:t>Assess the business value of the data </a:t>
            </a:r>
          </a:p>
          <a:p>
            <a:pPr lvl="0"/>
            <a:r>
              <a:rPr lang="en-US" dirty="0">
                <a:latin typeface="Calibri" panose="020F0502020204030204" pitchFamily="34" charset="0"/>
                <a:ea typeface="Calibri" panose="020F0502020204030204" pitchFamily="34" charset="0"/>
                <a:cs typeface="Calibri" panose="020F0502020204030204" pitchFamily="34" charset="0"/>
              </a:rPr>
              <a:t>Identify additional data sources for improvement</a:t>
            </a:r>
          </a:p>
        </p:txBody>
      </p:sp>
    </p:spTree>
    <p:extLst>
      <p:ext uri="{BB962C8B-B14F-4D97-AF65-F5344CB8AC3E}">
        <p14:creationId xmlns:p14="http://schemas.microsoft.com/office/powerpoint/2010/main" val="2755100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83C38-B621-5C62-C75E-5D376B7F00F9}"/>
              </a:ext>
            </a:extLst>
          </p:cNvPr>
          <p:cNvSpPr>
            <a:spLocks noGrp="1"/>
          </p:cNvSpPr>
          <p:nvPr>
            <p:ph type="title"/>
          </p:nvPr>
        </p:nvSpPr>
        <p:spPr/>
        <p:txBody>
          <a:bodyPr/>
          <a:lstStyle/>
          <a:p>
            <a:r>
              <a:rPr lang="en-US" dirty="0"/>
              <a:t>Data review process</a:t>
            </a:r>
          </a:p>
        </p:txBody>
      </p:sp>
      <p:sp>
        <p:nvSpPr>
          <p:cNvPr id="3" name="Content Placeholder 2">
            <a:extLst>
              <a:ext uri="{FF2B5EF4-FFF2-40B4-BE49-F238E27FC236}">
                <a16:creationId xmlns:a16="http://schemas.microsoft.com/office/drawing/2014/main" id="{89776649-8483-4DC7-DDC1-3211FA92E6CB}"/>
              </a:ext>
            </a:extLst>
          </p:cNvPr>
          <p:cNvSpPr>
            <a:spLocks noGrp="1"/>
          </p:cNvSpPr>
          <p:nvPr>
            <p:ph idx="1"/>
          </p:nvPr>
        </p:nvSpPr>
        <p:spPr/>
        <p:txBody>
          <a:bodyPr>
            <a:normAutofit fontScale="47500" lnSpcReduction="20000"/>
          </a:bodyPr>
          <a:lstStyle/>
          <a:p>
            <a:pPr marL="182880" lvl="0" indent="-182880" algn="just">
              <a:lnSpc>
                <a:spcPct val="125000"/>
              </a:lnSpc>
              <a:spcBef>
                <a:spcPts val="0"/>
              </a:spcBef>
              <a:buSzPts val="1100"/>
              <a:buChar char="●"/>
            </a:pPr>
            <a:r>
              <a:rPr lang="en-US" i="1" u="sng" dirty="0" err="1">
                <a:latin typeface="Calibri"/>
                <a:ea typeface="Calibri"/>
                <a:cs typeface="Calibri"/>
                <a:sym typeface="Calibri"/>
              </a:rPr>
              <a:t>Pertama</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a:t>
            </a:r>
            <a:r>
              <a:rPr lang="en-US" dirty="0" err="1">
                <a:latin typeface="Calibri"/>
                <a:ea typeface="Calibri"/>
                <a:cs typeface="Calibri"/>
                <a:sym typeface="Calibri"/>
              </a:rPr>
              <a:t>melakukan</a:t>
            </a:r>
            <a:r>
              <a:rPr lang="en-US" dirty="0">
                <a:latin typeface="Calibri"/>
                <a:ea typeface="Calibri"/>
                <a:cs typeface="Calibri"/>
                <a:sym typeface="Calibri"/>
              </a:rPr>
              <a:t> </a:t>
            </a:r>
            <a:r>
              <a:rPr lang="en-US" b="1" dirty="0" err="1">
                <a:latin typeface="Calibri"/>
                <a:ea typeface="Calibri"/>
                <a:cs typeface="Calibri"/>
                <a:sym typeface="Calibri"/>
              </a:rPr>
              <a:t>identifikasi</a:t>
            </a:r>
            <a:r>
              <a:rPr lang="en-US" b="1" dirty="0">
                <a:latin typeface="Calibri"/>
                <a:ea typeface="Calibri"/>
                <a:cs typeface="Calibri"/>
                <a:sym typeface="Calibri"/>
              </a:rPr>
              <a:t> </a:t>
            </a:r>
            <a:r>
              <a:rPr lang="en-US" b="1" dirty="0" err="1">
                <a:latin typeface="Calibri"/>
                <a:ea typeface="Calibri"/>
                <a:cs typeface="Calibri"/>
                <a:sym typeface="Calibri"/>
              </a:rPr>
              <a:t>bagian-bagian</a:t>
            </a:r>
            <a:r>
              <a:rPr lang="en-US" b="1" dirty="0">
                <a:latin typeface="Calibri"/>
                <a:ea typeface="Calibri"/>
                <a:cs typeface="Calibri"/>
                <a:sym typeface="Calibri"/>
              </a:rPr>
              <a:t> di </a:t>
            </a:r>
            <a:r>
              <a:rPr lang="en-US" b="1" dirty="0" err="1">
                <a:latin typeface="Calibri"/>
                <a:ea typeface="Calibri"/>
                <a:cs typeface="Calibri"/>
                <a:sym typeface="Calibri"/>
              </a:rPr>
              <a:t>dalam</a:t>
            </a:r>
            <a:r>
              <a:rPr lang="en-US" b="1" dirty="0">
                <a:latin typeface="Calibri"/>
                <a:ea typeface="Calibri"/>
                <a:cs typeface="Calibri"/>
                <a:sym typeface="Calibri"/>
              </a:rPr>
              <a:t> proses </a:t>
            </a:r>
            <a:r>
              <a:rPr lang="en-US" b="1" dirty="0" err="1">
                <a:latin typeface="Calibri"/>
                <a:ea typeface="Calibri"/>
                <a:cs typeface="Calibri"/>
                <a:sym typeface="Calibri"/>
              </a:rPr>
              <a:t>bisnis</a:t>
            </a:r>
            <a:r>
              <a:rPr lang="en-US" b="1" dirty="0">
                <a:latin typeface="Calibri"/>
                <a:ea typeface="Calibri"/>
                <a:cs typeface="Calibri"/>
                <a:sym typeface="Calibri"/>
              </a:rPr>
              <a:t> yang mana data</a:t>
            </a:r>
            <a:r>
              <a:rPr lang="en-US" dirty="0">
                <a:latin typeface="Calibri"/>
                <a:ea typeface="Calibri"/>
                <a:cs typeface="Calibri"/>
                <a:sym typeface="Calibri"/>
              </a:rPr>
              <a:t> (yang </a:t>
            </a:r>
            <a:r>
              <a:rPr lang="en-US" dirty="0" err="1">
                <a:latin typeface="Calibri"/>
                <a:ea typeface="Calibri"/>
                <a:cs typeface="Calibri"/>
                <a:sym typeface="Calibri"/>
              </a:rPr>
              <a:t>sudah</a:t>
            </a:r>
            <a:r>
              <a:rPr lang="en-US" dirty="0">
                <a:latin typeface="Calibri"/>
                <a:ea typeface="Calibri"/>
                <a:cs typeface="Calibri"/>
                <a:sym typeface="Calibri"/>
              </a:rPr>
              <a:t> </a:t>
            </a:r>
            <a:r>
              <a:rPr lang="en-US" dirty="0" err="1">
                <a:latin typeface="Calibri"/>
                <a:ea typeface="Calibri"/>
                <a:cs typeface="Calibri"/>
                <a:sym typeface="Calibri"/>
              </a:rPr>
              <a:t>ada</a:t>
            </a:r>
            <a:r>
              <a:rPr lang="en-US" dirty="0">
                <a:latin typeface="Calibri"/>
                <a:ea typeface="Calibri"/>
                <a:cs typeface="Calibri"/>
                <a:sym typeface="Calibri"/>
              </a:rPr>
              <a:t> </a:t>
            </a:r>
            <a:r>
              <a:rPr lang="en-US" dirty="0" err="1">
                <a:latin typeface="Calibri"/>
                <a:ea typeface="Calibri"/>
                <a:cs typeface="Calibri"/>
                <a:sym typeface="Calibri"/>
              </a:rPr>
              <a:t>ataupun</a:t>
            </a:r>
            <a:r>
              <a:rPr lang="en-US" dirty="0">
                <a:latin typeface="Calibri"/>
                <a:ea typeface="Calibri"/>
                <a:cs typeface="Calibri"/>
                <a:sym typeface="Calibri"/>
              </a:rPr>
              <a:t> </a:t>
            </a:r>
            <a:r>
              <a:rPr lang="en-US" dirty="0" err="1">
                <a:latin typeface="Calibri"/>
                <a:ea typeface="Calibri"/>
                <a:cs typeface="Calibri"/>
                <a:sym typeface="Calibri"/>
              </a:rPr>
              <a:t>belum</a:t>
            </a:r>
            <a:r>
              <a:rPr lang="en-US" dirty="0">
                <a:latin typeface="Calibri"/>
                <a:ea typeface="Calibri"/>
                <a:cs typeface="Calibri"/>
                <a:sym typeface="Calibri"/>
              </a:rPr>
              <a:t>) </a:t>
            </a:r>
            <a:r>
              <a:rPr lang="en-US" b="1" dirty="0" err="1">
                <a:latin typeface="Calibri"/>
                <a:ea typeface="Calibri"/>
                <a:cs typeface="Calibri"/>
                <a:sym typeface="Calibri"/>
              </a:rPr>
              <a:t>dapat</a:t>
            </a:r>
            <a:r>
              <a:rPr lang="en-US" b="1" dirty="0">
                <a:latin typeface="Calibri"/>
                <a:ea typeface="Calibri"/>
                <a:cs typeface="Calibri"/>
                <a:sym typeface="Calibri"/>
              </a:rPr>
              <a:t> </a:t>
            </a:r>
            <a:r>
              <a:rPr lang="en-US" b="1" dirty="0" err="1">
                <a:latin typeface="Calibri"/>
                <a:ea typeface="Calibri"/>
                <a:cs typeface="Calibri"/>
                <a:sym typeface="Calibri"/>
              </a:rPr>
              <a:t>berpengaruh</a:t>
            </a:r>
            <a:r>
              <a:rPr lang="en-US" b="1" dirty="0">
                <a:latin typeface="Calibri"/>
                <a:ea typeface="Calibri"/>
                <a:cs typeface="Calibri"/>
                <a:sym typeface="Calibri"/>
              </a:rPr>
              <a:t> </a:t>
            </a:r>
            <a:r>
              <a:rPr lang="en-US" b="1" dirty="0" err="1">
                <a:latin typeface="Calibri"/>
                <a:ea typeface="Calibri"/>
                <a:cs typeface="Calibri"/>
                <a:sym typeface="Calibri"/>
              </a:rPr>
              <a:t>terhadap</a:t>
            </a:r>
            <a:r>
              <a:rPr lang="en-US" b="1" dirty="0">
                <a:latin typeface="Calibri"/>
                <a:ea typeface="Calibri"/>
                <a:cs typeface="Calibri"/>
                <a:sym typeface="Calibri"/>
              </a:rPr>
              <a:t> </a:t>
            </a:r>
            <a:r>
              <a:rPr lang="en-US" b="1" dirty="0" err="1">
                <a:latin typeface="Calibri"/>
                <a:ea typeface="Calibri"/>
                <a:cs typeface="Calibri"/>
                <a:sym typeface="Calibri"/>
              </a:rPr>
              <a:t>jalannya</a:t>
            </a:r>
            <a:r>
              <a:rPr lang="en-US" b="1" dirty="0">
                <a:latin typeface="Calibri"/>
                <a:ea typeface="Calibri"/>
                <a:cs typeface="Calibri"/>
                <a:sym typeface="Calibri"/>
              </a:rPr>
              <a:t> proses </a:t>
            </a:r>
            <a:r>
              <a:rPr lang="en-US" b="1" dirty="0" err="1">
                <a:latin typeface="Calibri"/>
                <a:ea typeface="Calibri"/>
                <a:cs typeface="Calibri"/>
                <a:sym typeface="Calibri"/>
              </a:rPr>
              <a:t>bisnis</a:t>
            </a:r>
            <a:r>
              <a:rPr lang="en-US" dirty="0">
                <a:latin typeface="Calibri"/>
                <a:ea typeface="Calibri"/>
                <a:cs typeface="Calibri"/>
                <a:sym typeface="Calibri"/>
              </a:rPr>
              <a:t> </a:t>
            </a:r>
            <a:r>
              <a:rPr lang="en-US" dirty="0" err="1">
                <a:latin typeface="Calibri"/>
                <a:ea typeface="Calibri"/>
                <a:cs typeface="Calibri"/>
                <a:sym typeface="Calibri"/>
              </a:rPr>
              <a:t>tersebut</a:t>
            </a:r>
            <a:r>
              <a:rPr lang="en-US" dirty="0">
                <a:latin typeface="Calibri"/>
                <a:ea typeface="Calibri"/>
                <a:cs typeface="Calibri"/>
                <a:sym typeface="Calibri"/>
              </a:rPr>
              <a:t>. Di </a:t>
            </a:r>
            <a:r>
              <a:rPr lang="en-US" dirty="0" err="1">
                <a:latin typeface="Calibri"/>
                <a:ea typeface="Calibri"/>
                <a:cs typeface="Calibri"/>
                <a:sym typeface="Calibri"/>
              </a:rPr>
              <a:t>samping</a:t>
            </a:r>
            <a:r>
              <a:rPr lang="en-US" dirty="0">
                <a:latin typeface="Calibri"/>
                <a:ea typeface="Calibri"/>
                <a:cs typeface="Calibri"/>
                <a:sym typeface="Calibri"/>
              </a:rPr>
              <a:t> </a:t>
            </a:r>
            <a:r>
              <a:rPr lang="en-US" dirty="0" err="1">
                <a:latin typeface="Calibri"/>
                <a:ea typeface="Calibri"/>
                <a:cs typeface="Calibri"/>
                <a:sym typeface="Calibri"/>
              </a:rPr>
              <a:t>itu</a:t>
            </a:r>
            <a:r>
              <a:rPr lang="en-US" dirty="0">
                <a:latin typeface="Calibri"/>
                <a:ea typeface="Calibri"/>
                <a:cs typeface="Calibri"/>
                <a:sym typeface="Calibri"/>
              </a:rPr>
              <a:t>, </a:t>
            </a:r>
            <a:r>
              <a:rPr lang="en-US" dirty="0" err="1">
                <a:latin typeface="Calibri"/>
                <a:ea typeface="Calibri"/>
                <a:cs typeface="Calibri"/>
                <a:sym typeface="Calibri"/>
              </a:rPr>
              <a:t>pengetahuan</a:t>
            </a:r>
            <a:r>
              <a:rPr lang="en-US" dirty="0">
                <a:latin typeface="Calibri"/>
                <a:ea typeface="Calibri"/>
                <a:cs typeface="Calibri"/>
                <a:sym typeface="Calibri"/>
              </a:rPr>
              <a:t> di </a:t>
            </a:r>
            <a:r>
              <a:rPr lang="en-US" dirty="0" err="1">
                <a:latin typeface="Calibri"/>
                <a:ea typeface="Calibri"/>
                <a:cs typeface="Calibri"/>
                <a:sym typeface="Calibri"/>
              </a:rPr>
              <a:t>dalam</a:t>
            </a:r>
            <a:r>
              <a:rPr lang="en-US" dirty="0">
                <a:latin typeface="Calibri"/>
                <a:ea typeface="Calibri"/>
                <a:cs typeface="Calibri"/>
                <a:sym typeface="Calibri"/>
              </a:rPr>
              <a:t> </a:t>
            </a:r>
            <a:r>
              <a:rPr lang="en-US" dirty="0" err="1">
                <a:latin typeface="Calibri"/>
                <a:ea typeface="Calibri"/>
                <a:cs typeface="Calibri"/>
                <a:sym typeface="Calibri"/>
              </a:rPr>
              <a:t>organisasi</a:t>
            </a:r>
            <a:r>
              <a:rPr lang="en-US" dirty="0">
                <a:latin typeface="Calibri"/>
                <a:ea typeface="Calibri"/>
                <a:cs typeface="Calibri"/>
                <a:sym typeface="Calibri"/>
              </a:rPr>
              <a:t> (</a:t>
            </a:r>
            <a:r>
              <a:rPr lang="en-US" dirty="0" err="1">
                <a:latin typeface="Calibri"/>
                <a:ea typeface="Calibri"/>
                <a:cs typeface="Calibri"/>
                <a:sym typeface="Calibri"/>
              </a:rPr>
              <a:t>baik</a:t>
            </a:r>
            <a:r>
              <a:rPr lang="en-US" dirty="0">
                <a:latin typeface="Calibri"/>
                <a:ea typeface="Calibri"/>
                <a:cs typeface="Calibri"/>
                <a:sym typeface="Calibri"/>
              </a:rPr>
              <a:t> </a:t>
            </a:r>
            <a:r>
              <a:rPr lang="en-US" dirty="0" err="1">
                <a:latin typeface="Calibri"/>
                <a:ea typeface="Calibri"/>
                <a:cs typeface="Calibri"/>
                <a:sym typeface="Calibri"/>
              </a:rPr>
              <a:t>dari</a:t>
            </a:r>
            <a:r>
              <a:rPr lang="en-US" dirty="0">
                <a:latin typeface="Calibri"/>
                <a:ea typeface="Calibri"/>
                <a:cs typeface="Calibri"/>
                <a:sym typeface="Calibri"/>
              </a:rPr>
              <a:t> </a:t>
            </a:r>
            <a:r>
              <a:rPr lang="en-US" dirty="0" err="1">
                <a:latin typeface="Calibri"/>
                <a:ea typeface="Calibri"/>
                <a:cs typeface="Calibri"/>
                <a:sym typeface="Calibri"/>
              </a:rPr>
              <a:t>individu-individu</a:t>
            </a:r>
            <a:r>
              <a:rPr lang="en-US" dirty="0">
                <a:latin typeface="Calibri"/>
                <a:ea typeface="Calibri"/>
                <a:cs typeface="Calibri"/>
                <a:sym typeface="Calibri"/>
              </a:rPr>
              <a:t> yang </a:t>
            </a:r>
            <a:r>
              <a:rPr lang="en-US" dirty="0" err="1">
                <a:latin typeface="Calibri"/>
                <a:ea typeface="Calibri"/>
                <a:cs typeface="Calibri"/>
                <a:sym typeface="Calibri"/>
              </a:rPr>
              <a:t>menguasai</a:t>
            </a:r>
            <a:r>
              <a:rPr lang="en-US" dirty="0">
                <a:latin typeface="Calibri"/>
                <a:ea typeface="Calibri"/>
                <a:cs typeface="Calibri"/>
                <a:sym typeface="Calibri"/>
              </a:rPr>
              <a:t> </a:t>
            </a:r>
            <a:r>
              <a:rPr lang="en-US" dirty="0" err="1">
                <a:latin typeface="Calibri"/>
                <a:ea typeface="Calibri"/>
                <a:cs typeface="Calibri"/>
                <a:sym typeface="Calibri"/>
              </a:rPr>
              <a:t>maupun</a:t>
            </a:r>
            <a:r>
              <a:rPr lang="en-US" dirty="0">
                <a:latin typeface="Calibri"/>
                <a:ea typeface="Calibri"/>
                <a:cs typeface="Calibri"/>
                <a:sym typeface="Calibri"/>
              </a:rPr>
              <a:t> </a:t>
            </a:r>
            <a:r>
              <a:rPr lang="en-US" dirty="0" err="1">
                <a:latin typeface="Calibri"/>
                <a:ea typeface="Calibri"/>
                <a:cs typeface="Calibri"/>
                <a:sym typeface="Calibri"/>
              </a:rPr>
              <a:t>dari</a:t>
            </a:r>
            <a:r>
              <a:rPr lang="en-US" dirty="0">
                <a:latin typeface="Calibri"/>
                <a:ea typeface="Calibri"/>
                <a:cs typeface="Calibri"/>
                <a:sym typeface="Calibri"/>
              </a:rPr>
              <a:t> </a:t>
            </a:r>
            <a:r>
              <a:rPr lang="en-US" dirty="0" err="1">
                <a:latin typeface="Calibri"/>
                <a:ea typeface="Calibri"/>
                <a:cs typeface="Calibri"/>
                <a:sym typeface="Calibri"/>
              </a:rPr>
              <a:t>suatu</a:t>
            </a:r>
            <a:r>
              <a:rPr lang="en-US" dirty="0">
                <a:latin typeface="Calibri"/>
                <a:ea typeface="Calibri"/>
                <a:cs typeface="Calibri"/>
                <a:sym typeface="Calibri"/>
              </a:rPr>
              <a:t> </a:t>
            </a:r>
            <a:r>
              <a:rPr lang="en-US" dirty="0" err="1">
                <a:latin typeface="Calibri"/>
                <a:ea typeface="Calibri"/>
                <a:cs typeface="Calibri"/>
                <a:sym typeface="Calibri"/>
              </a:rPr>
              <a:t>sistem</a:t>
            </a:r>
            <a:r>
              <a:rPr lang="en-US" dirty="0">
                <a:latin typeface="Calibri"/>
                <a:ea typeface="Calibri"/>
                <a:cs typeface="Calibri"/>
                <a:sym typeface="Calibri"/>
              </a:rPr>
              <a:t> </a:t>
            </a:r>
            <a:r>
              <a:rPr lang="en-US" dirty="0" err="1">
                <a:latin typeface="Calibri"/>
                <a:ea typeface="Calibri"/>
                <a:cs typeface="Calibri"/>
                <a:sym typeface="Calibri"/>
              </a:rPr>
              <a:t>manajemen</a:t>
            </a:r>
            <a:r>
              <a:rPr lang="en-US" dirty="0">
                <a:latin typeface="Calibri"/>
                <a:ea typeface="Calibri"/>
                <a:cs typeface="Calibri"/>
                <a:sym typeface="Calibri"/>
              </a:rPr>
              <a:t> </a:t>
            </a:r>
            <a:r>
              <a:rPr lang="en-US" dirty="0" err="1">
                <a:latin typeface="Calibri"/>
                <a:ea typeface="Calibri"/>
                <a:cs typeface="Calibri"/>
                <a:sym typeface="Calibri"/>
              </a:rPr>
              <a:t>pengetahuan</a:t>
            </a:r>
            <a:r>
              <a:rPr lang="en-US" dirty="0">
                <a:latin typeface="Calibri"/>
                <a:ea typeface="Calibri"/>
                <a:cs typeface="Calibri"/>
                <a:sym typeface="Calibri"/>
              </a:rPr>
              <a:t>) yang </a:t>
            </a:r>
            <a:r>
              <a:rPr lang="en-US" dirty="0" err="1">
                <a:latin typeface="Calibri"/>
                <a:ea typeface="Calibri"/>
                <a:cs typeface="Calibri"/>
                <a:sym typeface="Calibri"/>
              </a:rPr>
              <a:t>relevan</a:t>
            </a:r>
            <a:r>
              <a:rPr lang="en-US" dirty="0">
                <a:latin typeface="Calibri"/>
                <a:ea typeface="Calibri"/>
                <a:cs typeface="Calibri"/>
                <a:sym typeface="Calibri"/>
              </a:rPr>
              <a:t> </a:t>
            </a:r>
            <a:r>
              <a:rPr lang="en-US" dirty="0" err="1">
                <a:latin typeface="Calibri"/>
                <a:ea typeface="Calibri"/>
                <a:cs typeface="Calibri"/>
                <a:sym typeface="Calibri"/>
              </a:rPr>
              <a:t>terhadap</a:t>
            </a:r>
            <a:r>
              <a:rPr lang="en-US" dirty="0">
                <a:latin typeface="Calibri"/>
                <a:ea typeface="Calibri"/>
                <a:cs typeface="Calibri"/>
                <a:sym typeface="Calibri"/>
              </a:rPr>
              <a:t> </a:t>
            </a:r>
            <a:r>
              <a:rPr lang="en-US" dirty="0" err="1">
                <a:latin typeface="Calibri"/>
                <a:ea typeface="Calibri"/>
                <a:cs typeface="Calibri"/>
                <a:sym typeface="Calibri"/>
              </a:rPr>
              <a:t>bagian-bagian</a:t>
            </a:r>
            <a:r>
              <a:rPr lang="en-US" dirty="0">
                <a:latin typeface="Calibri"/>
                <a:ea typeface="Calibri"/>
                <a:cs typeface="Calibri"/>
                <a:sym typeface="Calibri"/>
              </a:rPr>
              <a:t> proses </a:t>
            </a:r>
            <a:r>
              <a:rPr lang="en-US" dirty="0" err="1">
                <a:latin typeface="Calibri"/>
                <a:ea typeface="Calibri"/>
                <a:cs typeface="Calibri"/>
                <a:sym typeface="Calibri"/>
              </a:rPr>
              <a:t>bisnis</a:t>
            </a:r>
            <a:r>
              <a:rPr lang="en-US" dirty="0">
                <a:latin typeface="Calibri"/>
                <a:ea typeface="Calibri"/>
                <a:cs typeface="Calibri"/>
                <a:sym typeface="Calibri"/>
              </a:rPr>
              <a:t> </a:t>
            </a:r>
            <a:r>
              <a:rPr lang="en-US" dirty="0" err="1">
                <a:latin typeface="Calibri"/>
                <a:ea typeface="Calibri"/>
                <a:cs typeface="Calibri"/>
                <a:sym typeface="Calibri"/>
              </a:rPr>
              <a:t>tersebut</a:t>
            </a:r>
            <a:r>
              <a:rPr lang="en-US" dirty="0">
                <a:latin typeface="Calibri"/>
                <a:ea typeface="Calibri"/>
                <a:cs typeface="Calibri"/>
                <a:sym typeface="Calibri"/>
              </a:rPr>
              <a:t> juga </a:t>
            </a:r>
            <a:r>
              <a:rPr lang="en-US" dirty="0" err="1">
                <a:latin typeface="Calibri"/>
                <a:ea typeface="Calibri"/>
                <a:cs typeface="Calibri"/>
                <a:sym typeface="Calibri"/>
              </a:rPr>
              <a:t>diidentifikasi</a:t>
            </a:r>
            <a:r>
              <a:rPr lang="en-US" dirty="0">
                <a:latin typeface="Calibri"/>
                <a:ea typeface="Calibri"/>
                <a:cs typeface="Calibri"/>
                <a:sym typeface="Calibri"/>
              </a:rPr>
              <a:t>. Hal </a:t>
            </a:r>
            <a:r>
              <a:rPr lang="en-US" dirty="0" err="1">
                <a:latin typeface="Calibri"/>
                <a:ea typeface="Calibri"/>
                <a:cs typeface="Calibri"/>
                <a:sym typeface="Calibri"/>
              </a:rPr>
              <a:t>ini</a:t>
            </a:r>
            <a:r>
              <a:rPr lang="en-US" dirty="0">
                <a:latin typeface="Calibri"/>
                <a:ea typeface="Calibri"/>
                <a:cs typeface="Calibri"/>
                <a:sym typeface="Calibri"/>
              </a:rPr>
              <a:t> </a:t>
            </a:r>
            <a:r>
              <a:rPr lang="en-US" dirty="0" err="1">
                <a:latin typeface="Calibri"/>
                <a:ea typeface="Calibri"/>
                <a:cs typeface="Calibri"/>
                <a:sym typeface="Calibri"/>
              </a:rPr>
              <a:t>akan</a:t>
            </a:r>
            <a:r>
              <a:rPr lang="en-US" dirty="0">
                <a:latin typeface="Calibri"/>
                <a:ea typeface="Calibri"/>
                <a:cs typeface="Calibri"/>
                <a:sym typeface="Calibri"/>
              </a:rPr>
              <a:t> </a:t>
            </a:r>
            <a:r>
              <a:rPr lang="en-US" dirty="0" err="1">
                <a:latin typeface="Calibri"/>
                <a:ea typeface="Calibri"/>
                <a:cs typeface="Calibri"/>
                <a:sym typeface="Calibri"/>
              </a:rPr>
              <a:t>membantu</a:t>
            </a:r>
            <a:r>
              <a:rPr lang="en-US" dirty="0">
                <a:latin typeface="Calibri"/>
                <a:ea typeface="Calibri"/>
                <a:cs typeface="Calibri"/>
                <a:sym typeface="Calibri"/>
              </a:rPr>
              <a:t> </a:t>
            </a:r>
            <a:r>
              <a:rPr lang="en-US" dirty="0" err="1">
                <a:latin typeface="Calibri"/>
                <a:ea typeface="Calibri"/>
                <a:cs typeface="Calibri"/>
                <a:sym typeface="Calibri"/>
              </a:rPr>
              <a:t>penentuan</a:t>
            </a:r>
            <a:r>
              <a:rPr lang="en-US" dirty="0">
                <a:latin typeface="Calibri"/>
                <a:ea typeface="Calibri"/>
                <a:cs typeface="Calibri"/>
                <a:sym typeface="Calibri"/>
              </a:rPr>
              <a:t> </a:t>
            </a:r>
            <a:r>
              <a:rPr lang="en-US" dirty="0" err="1">
                <a:latin typeface="Calibri"/>
                <a:ea typeface="Calibri"/>
                <a:cs typeface="Calibri"/>
                <a:sym typeface="Calibri"/>
              </a:rPr>
              <a:t>ruang</a:t>
            </a:r>
            <a:r>
              <a:rPr lang="en-US" dirty="0">
                <a:latin typeface="Calibri"/>
                <a:ea typeface="Calibri"/>
                <a:cs typeface="Calibri"/>
                <a:sym typeface="Calibri"/>
              </a:rPr>
              <a:t> </a:t>
            </a:r>
            <a:r>
              <a:rPr lang="en-US" dirty="0" err="1">
                <a:latin typeface="Calibri"/>
                <a:ea typeface="Calibri"/>
                <a:cs typeface="Calibri"/>
                <a:sym typeface="Calibri"/>
              </a:rPr>
              <a:t>lingkup</a:t>
            </a:r>
            <a:r>
              <a:rPr lang="en-US" dirty="0">
                <a:latin typeface="Calibri"/>
                <a:ea typeface="Calibri"/>
                <a:cs typeface="Calibri"/>
                <a:sym typeface="Calibri"/>
              </a:rPr>
              <a:t> </a:t>
            </a:r>
            <a:r>
              <a:rPr lang="en-US" dirty="0" err="1">
                <a:latin typeface="Calibri"/>
                <a:ea typeface="Calibri"/>
                <a:cs typeface="Calibri"/>
                <a:sym typeface="Calibri"/>
              </a:rPr>
              <a:t>pengembangan</a:t>
            </a:r>
            <a:r>
              <a:rPr lang="en-US" dirty="0">
                <a:latin typeface="Calibri"/>
                <a:ea typeface="Calibri"/>
                <a:cs typeface="Calibri"/>
                <a:sym typeface="Calibri"/>
              </a:rPr>
              <a:t> </a:t>
            </a:r>
            <a:r>
              <a:rPr lang="en-US" dirty="0" err="1">
                <a:latin typeface="Calibri"/>
                <a:ea typeface="Calibri"/>
                <a:cs typeface="Calibri"/>
                <a:sym typeface="Calibri"/>
              </a:rPr>
              <a:t>solusi</a:t>
            </a:r>
            <a:r>
              <a:rPr lang="en-US" dirty="0">
                <a:latin typeface="Calibri"/>
                <a:ea typeface="Calibri"/>
                <a:cs typeface="Calibri"/>
                <a:sym typeface="Calibri"/>
              </a:rPr>
              <a:t> AI dan </a:t>
            </a:r>
            <a:r>
              <a:rPr lang="en-US" dirty="0" err="1">
                <a:latin typeface="Calibri"/>
                <a:ea typeface="Calibri"/>
                <a:cs typeface="Calibri"/>
                <a:sym typeface="Calibri"/>
              </a:rPr>
              <a:t>sains</a:t>
            </a:r>
            <a:r>
              <a:rPr lang="en-US" dirty="0">
                <a:latin typeface="Calibri"/>
                <a:ea typeface="Calibri"/>
                <a:cs typeface="Calibri"/>
                <a:sym typeface="Calibri"/>
              </a:rPr>
              <a:t> data yang </a:t>
            </a:r>
            <a:r>
              <a:rPr lang="en-US" dirty="0" err="1">
                <a:latin typeface="Calibri"/>
                <a:ea typeface="Calibri"/>
                <a:cs typeface="Calibri"/>
                <a:sym typeface="Calibri"/>
              </a:rPr>
              <a:t>dilakukan</a:t>
            </a:r>
            <a:r>
              <a:rPr lang="en-US" dirty="0">
                <a:latin typeface="Calibri"/>
                <a:ea typeface="Calibri"/>
                <a:cs typeface="Calibri"/>
                <a:sym typeface="Calibri"/>
              </a:rPr>
              <a:t>.</a:t>
            </a:r>
            <a:endParaRPr lang="en-US" dirty="0"/>
          </a:p>
          <a:p>
            <a:pPr marL="182880" lvl="0" indent="-182880" algn="just">
              <a:lnSpc>
                <a:spcPct val="125000"/>
              </a:lnSpc>
              <a:spcBef>
                <a:spcPts val="600"/>
              </a:spcBef>
              <a:buSzPts val="1100"/>
              <a:buChar char="●"/>
            </a:pPr>
            <a:r>
              <a:rPr lang="en-US" i="1" u="sng" dirty="0" err="1">
                <a:latin typeface="Calibri"/>
                <a:ea typeface="Calibri"/>
                <a:cs typeface="Calibri"/>
                <a:sym typeface="Calibri"/>
              </a:rPr>
              <a:t>Kedua</a:t>
            </a:r>
            <a:r>
              <a:rPr lang="en-US" dirty="0">
                <a:latin typeface="Calibri"/>
                <a:ea typeface="Calibri"/>
                <a:cs typeface="Calibri"/>
                <a:sym typeface="Calibri"/>
              </a:rPr>
              <a:t>, </a:t>
            </a:r>
            <a:r>
              <a:rPr lang="en-US" dirty="0" err="1">
                <a:latin typeface="Calibri"/>
                <a:ea typeface="Calibri"/>
                <a:cs typeface="Calibri"/>
                <a:sym typeface="Calibri"/>
              </a:rPr>
              <a:t>untuk</a:t>
            </a:r>
            <a:r>
              <a:rPr lang="en-US" dirty="0">
                <a:latin typeface="Calibri"/>
                <a:ea typeface="Calibri"/>
                <a:cs typeface="Calibri"/>
                <a:sym typeface="Calibri"/>
              </a:rPr>
              <a:t> </a:t>
            </a:r>
            <a:r>
              <a:rPr lang="en-US" dirty="0" err="1">
                <a:latin typeface="Calibri"/>
                <a:ea typeface="Calibri"/>
                <a:cs typeface="Calibri"/>
                <a:sym typeface="Calibri"/>
              </a:rPr>
              <a:t>setiap</a:t>
            </a:r>
            <a:r>
              <a:rPr lang="en-US" dirty="0">
                <a:latin typeface="Calibri"/>
                <a:ea typeface="Calibri"/>
                <a:cs typeface="Calibri"/>
                <a:sym typeface="Calibri"/>
              </a:rPr>
              <a:t> </a:t>
            </a:r>
            <a:r>
              <a:rPr lang="en-US" dirty="0" err="1">
                <a:latin typeface="Calibri"/>
                <a:ea typeface="Calibri"/>
                <a:cs typeface="Calibri"/>
                <a:sym typeface="Calibri"/>
              </a:rPr>
              <a:t>bagian</a:t>
            </a:r>
            <a:r>
              <a:rPr lang="en-US" dirty="0">
                <a:latin typeface="Calibri"/>
                <a:ea typeface="Calibri"/>
                <a:cs typeface="Calibri"/>
                <a:sym typeface="Calibri"/>
              </a:rPr>
              <a:t> </a:t>
            </a:r>
            <a:r>
              <a:rPr lang="en-US" dirty="0" err="1">
                <a:latin typeface="Calibri"/>
                <a:ea typeface="Calibri"/>
                <a:cs typeface="Calibri"/>
                <a:sym typeface="Calibri"/>
              </a:rPr>
              <a:t>dalam</a:t>
            </a:r>
            <a:r>
              <a:rPr lang="en-US" dirty="0">
                <a:latin typeface="Calibri"/>
                <a:ea typeface="Calibri"/>
                <a:cs typeface="Calibri"/>
                <a:sym typeface="Calibri"/>
              </a:rPr>
              <a:t> proses </a:t>
            </a:r>
            <a:r>
              <a:rPr lang="en-US" dirty="0" err="1">
                <a:latin typeface="Calibri"/>
                <a:ea typeface="Calibri"/>
                <a:cs typeface="Calibri"/>
                <a:sym typeface="Calibri"/>
              </a:rPr>
              <a:t>bisnis</a:t>
            </a:r>
            <a:r>
              <a:rPr lang="en-US" dirty="0">
                <a:latin typeface="Calibri"/>
                <a:ea typeface="Calibri"/>
                <a:cs typeface="Calibri"/>
                <a:sym typeface="Calibri"/>
              </a:rPr>
              <a:t> yang mana data </a:t>
            </a:r>
            <a:r>
              <a:rPr lang="en-US" dirty="0" err="1">
                <a:latin typeface="Calibri"/>
                <a:ea typeface="Calibri"/>
                <a:cs typeface="Calibri"/>
                <a:sym typeface="Calibri"/>
              </a:rPr>
              <a:t>mutlak</a:t>
            </a:r>
            <a:r>
              <a:rPr lang="en-US" dirty="0">
                <a:latin typeface="Calibri"/>
                <a:ea typeface="Calibri"/>
                <a:cs typeface="Calibri"/>
                <a:sym typeface="Calibri"/>
              </a:rPr>
              <a:t> </a:t>
            </a:r>
            <a:r>
              <a:rPr lang="en-US" dirty="0" err="1">
                <a:latin typeface="Calibri"/>
                <a:ea typeface="Calibri"/>
                <a:cs typeface="Calibri"/>
                <a:sym typeface="Calibri"/>
              </a:rPr>
              <a:t>dibutuhkan</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a:t>
            </a:r>
            <a:r>
              <a:rPr lang="en-US" b="1" dirty="0" err="1">
                <a:latin typeface="Calibri"/>
                <a:ea typeface="Calibri"/>
                <a:cs typeface="Calibri"/>
                <a:sym typeface="Calibri"/>
              </a:rPr>
              <a:t>menentukan</a:t>
            </a:r>
            <a:r>
              <a:rPr lang="en-US" b="1" dirty="0">
                <a:latin typeface="Calibri"/>
                <a:ea typeface="Calibri"/>
                <a:cs typeface="Calibri"/>
                <a:sym typeface="Calibri"/>
              </a:rPr>
              <a:t> </a:t>
            </a:r>
            <a:r>
              <a:rPr lang="en-US" b="1" dirty="0" err="1">
                <a:latin typeface="Calibri"/>
                <a:ea typeface="Calibri"/>
                <a:cs typeface="Calibri"/>
                <a:sym typeface="Calibri"/>
              </a:rPr>
              <a:t>sumber-sumber</a:t>
            </a:r>
            <a:r>
              <a:rPr lang="en-US" b="1" dirty="0">
                <a:latin typeface="Calibri"/>
                <a:ea typeface="Calibri"/>
                <a:cs typeface="Calibri"/>
                <a:sym typeface="Calibri"/>
              </a:rPr>
              <a:t> data internal dan </a:t>
            </a:r>
            <a:r>
              <a:rPr lang="en-US" b="1" dirty="0" err="1">
                <a:latin typeface="Calibri"/>
                <a:ea typeface="Calibri"/>
                <a:cs typeface="Calibri"/>
                <a:sym typeface="Calibri"/>
              </a:rPr>
              <a:t>eksternal</a:t>
            </a:r>
            <a:r>
              <a:rPr lang="en-US" b="1" dirty="0">
                <a:latin typeface="Calibri"/>
                <a:ea typeface="Calibri"/>
                <a:cs typeface="Calibri"/>
                <a:sym typeface="Calibri"/>
              </a:rPr>
              <a:t> </a:t>
            </a:r>
            <a:r>
              <a:rPr lang="en-US" b="1" dirty="0" err="1">
                <a:latin typeface="Calibri"/>
                <a:ea typeface="Calibri"/>
                <a:cs typeface="Calibri"/>
                <a:sym typeface="Calibri"/>
              </a:rPr>
              <a:t>organisasi</a:t>
            </a:r>
            <a:r>
              <a:rPr lang="en-US" b="1" dirty="0">
                <a:latin typeface="Calibri"/>
                <a:ea typeface="Calibri"/>
                <a:cs typeface="Calibri"/>
                <a:sym typeface="Calibri"/>
              </a:rPr>
              <a:t>, </a:t>
            </a:r>
            <a:r>
              <a:rPr lang="en-US" b="1" dirty="0" err="1">
                <a:latin typeface="Calibri"/>
                <a:ea typeface="Calibri"/>
                <a:cs typeface="Calibri"/>
                <a:sym typeface="Calibri"/>
              </a:rPr>
              <a:t>mekanisme</a:t>
            </a:r>
            <a:r>
              <a:rPr lang="en-US" b="1" dirty="0">
                <a:latin typeface="Calibri"/>
                <a:ea typeface="Calibri"/>
                <a:cs typeface="Calibri"/>
                <a:sym typeface="Calibri"/>
              </a:rPr>
              <a:t> </a:t>
            </a:r>
            <a:r>
              <a:rPr lang="en-US" b="1" dirty="0" err="1">
                <a:latin typeface="Calibri"/>
                <a:ea typeface="Calibri"/>
                <a:cs typeface="Calibri"/>
                <a:sym typeface="Calibri"/>
              </a:rPr>
              <a:t>aksesnya</a:t>
            </a:r>
            <a:r>
              <a:rPr lang="en-US" b="1" dirty="0">
                <a:latin typeface="Calibri"/>
                <a:ea typeface="Calibri"/>
                <a:cs typeface="Calibri"/>
                <a:sym typeface="Calibri"/>
              </a:rPr>
              <a:t>, </a:t>
            </a:r>
            <a:r>
              <a:rPr lang="en-US" b="1" dirty="0" err="1">
                <a:latin typeface="Calibri"/>
                <a:ea typeface="Calibri"/>
                <a:cs typeface="Calibri"/>
                <a:sym typeface="Calibri"/>
              </a:rPr>
              <a:t>beserta</a:t>
            </a:r>
            <a:r>
              <a:rPr lang="en-US" b="1" dirty="0">
                <a:latin typeface="Calibri"/>
                <a:ea typeface="Calibri"/>
                <a:cs typeface="Calibri"/>
                <a:sym typeface="Calibri"/>
              </a:rPr>
              <a:t> </a:t>
            </a:r>
            <a:r>
              <a:rPr lang="en-US" b="1" dirty="0" err="1">
                <a:latin typeface="Calibri"/>
                <a:ea typeface="Calibri"/>
                <a:cs typeface="Calibri"/>
                <a:sym typeface="Calibri"/>
              </a:rPr>
              <a:t>hal-hal</a:t>
            </a:r>
            <a:r>
              <a:rPr lang="en-US" b="1" dirty="0">
                <a:latin typeface="Calibri"/>
                <a:ea typeface="Calibri"/>
                <a:cs typeface="Calibri"/>
                <a:sym typeface="Calibri"/>
              </a:rPr>
              <a:t> lain yang </a:t>
            </a:r>
            <a:r>
              <a:rPr lang="en-US" b="1" dirty="0" err="1">
                <a:latin typeface="Calibri"/>
                <a:ea typeface="Calibri"/>
                <a:cs typeface="Calibri"/>
                <a:sym typeface="Calibri"/>
              </a:rPr>
              <a:t>dapat</a:t>
            </a:r>
            <a:r>
              <a:rPr lang="en-US" b="1" dirty="0">
                <a:latin typeface="Calibri"/>
                <a:ea typeface="Calibri"/>
                <a:cs typeface="Calibri"/>
                <a:sym typeface="Calibri"/>
              </a:rPr>
              <a:t> </a:t>
            </a:r>
            <a:r>
              <a:rPr lang="en-US" b="1" dirty="0" err="1">
                <a:latin typeface="Calibri"/>
                <a:ea typeface="Calibri"/>
                <a:cs typeface="Calibri"/>
                <a:sym typeface="Calibri"/>
              </a:rPr>
              <a:t>membantu</a:t>
            </a:r>
            <a:r>
              <a:rPr lang="en-US" b="1" dirty="0">
                <a:latin typeface="Calibri"/>
                <a:ea typeface="Calibri"/>
                <a:cs typeface="Calibri"/>
                <a:sym typeface="Calibri"/>
              </a:rPr>
              <a:t> </a:t>
            </a:r>
            <a:r>
              <a:rPr lang="en-US" b="1" dirty="0" err="1">
                <a:latin typeface="Calibri"/>
                <a:ea typeface="Calibri"/>
                <a:cs typeface="Calibri"/>
                <a:sym typeface="Calibri"/>
              </a:rPr>
              <a:t>atau</a:t>
            </a:r>
            <a:r>
              <a:rPr lang="en-US" b="1" dirty="0">
                <a:latin typeface="Calibri"/>
                <a:ea typeface="Calibri"/>
                <a:cs typeface="Calibri"/>
                <a:sym typeface="Calibri"/>
              </a:rPr>
              <a:t> </a:t>
            </a:r>
            <a:r>
              <a:rPr lang="en-US" b="1" dirty="0" err="1">
                <a:latin typeface="Calibri"/>
                <a:ea typeface="Calibri"/>
                <a:cs typeface="Calibri"/>
                <a:sym typeface="Calibri"/>
              </a:rPr>
              <a:t>justru</a:t>
            </a:r>
            <a:r>
              <a:rPr lang="en-US" b="1" dirty="0">
                <a:latin typeface="Calibri"/>
                <a:ea typeface="Calibri"/>
                <a:cs typeface="Calibri"/>
                <a:sym typeface="Calibri"/>
              </a:rPr>
              <a:t> </a:t>
            </a:r>
            <a:r>
              <a:rPr lang="en-US" b="1" dirty="0" err="1">
                <a:latin typeface="Calibri"/>
                <a:ea typeface="Calibri"/>
                <a:cs typeface="Calibri"/>
                <a:sym typeface="Calibri"/>
              </a:rPr>
              <a:t>menghalangi</a:t>
            </a:r>
            <a:r>
              <a:rPr lang="en-US" b="1" dirty="0">
                <a:latin typeface="Calibri"/>
                <a:ea typeface="Calibri"/>
                <a:cs typeface="Calibri"/>
                <a:sym typeface="Calibri"/>
              </a:rPr>
              <a:t> </a:t>
            </a:r>
            <a:r>
              <a:rPr lang="en-US" b="1" dirty="0" err="1">
                <a:latin typeface="Calibri"/>
                <a:ea typeface="Calibri"/>
                <a:cs typeface="Calibri"/>
                <a:sym typeface="Calibri"/>
              </a:rPr>
              <a:t>kita</a:t>
            </a:r>
            <a:r>
              <a:rPr lang="en-US" b="1" dirty="0">
                <a:latin typeface="Calibri"/>
                <a:ea typeface="Calibri"/>
                <a:cs typeface="Calibri"/>
                <a:sym typeface="Calibri"/>
              </a:rPr>
              <a:t> </a:t>
            </a:r>
            <a:r>
              <a:rPr lang="en-US" b="1" dirty="0" err="1">
                <a:latin typeface="Calibri"/>
                <a:ea typeface="Calibri"/>
                <a:cs typeface="Calibri"/>
                <a:sym typeface="Calibri"/>
              </a:rPr>
              <a:t>mendapatkan</a:t>
            </a:r>
            <a:r>
              <a:rPr lang="en-US" b="1" dirty="0">
                <a:latin typeface="Calibri"/>
                <a:ea typeface="Calibri"/>
                <a:cs typeface="Calibri"/>
                <a:sym typeface="Calibri"/>
              </a:rPr>
              <a:t> data </a:t>
            </a:r>
            <a:r>
              <a:rPr lang="en-US" b="1" dirty="0" err="1">
                <a:latin typeface="Calibri"/>
                <a:ea typeface="Calibri"/>
                <a:cs typeface="Calibri"/>
                <a:sym typeface="Calibri"/>
              </a:rPr>
              <a:t>tersebut</a:t>
            </a:r>
            <a:r>
              <a:rPr lang="en-US" b="1" dirty="0">
                <a:latin typeface="Calibri"/>
                <a:ea typeface="Calibri"/>
                <a:cs typeface="Calibri"/>
                <a:sym typeface="Calibri"/>
              </a:rPr>
              <a:t>.</a:t>
            </a:r>
            <a:r>
              <a:rPr lang="en-US" dirty="0">
                <a:latin typeface="Calibri"/>
                <a:ea typeface="Calibri"/>
                <a:cs typeface="Calibri"/>
                <a:sym typeface="Calibri"/>
              </a:rPr>
              <a:t> Di </a:t>
            </a:r>
            <a:r>
              <a:rPr lang="en-US" dirty="0" err="1">
                <a:latin typeface="Calibri"/>
                <a:ea typeface="Calibri"/>
                <a:cs typeface="Calibri"/>
                <a:sym typeface="Calibri"/>
              </a:rPr>
              <a:t>sini</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juga </a:t>
            </a:r>
            <a:r>
              <a:rPr lang="en-US" dirty="0" err="1">
                <a:latin typeface="Calibri"/>
                <a:ea typeface="Calibri"/>
                <a:cs typeface="Calibri"/>
                <a:sym typeface="Calibri"/>
              </a:rPr>
              <a:t>perlu</a:t>
            </a:r>
            <a:r>
              <a:rPr lang="en-US" dirty="0">
                <a:latin typeface="Calibri"/>
                <a:ea typeface="Calibri"/>
                <a:cs typeface="Calibri"/>
                <a:sym typeface="Calibri"/>
              </a:rPr>
              <a:t> </a:t>
            </a:r>
            <a:r>
              <a:rPr lang="en-US" dirty="0" err="1">
                <a:latin typeface="Calibri"/>
                <a:ea typeface="Calibri"/>
                <a:cs typeface="Calibri"/>
                <a:sym typeface="Calibri"/>
              </a:rPr>
              <a:t>menentukan</a:t>
            </a:r>
            <a:r>
              <a:rPr lang="en-US" dirty="0">
                <a:latin typeface="Calibri"/>
                <a:ea typeface="Calibri"/>
                <a:cs typeface="Calibri"/>
                <a:sym typeface="Calibri"/>
              </a:rPr>
              <a:t> </a:t>
            </a:r>
            <a:r>
              <a:rPr lang="en-US" dirty="0" err="1">
                <a:latin typeface="Calibri"/>
                <a:ea typeface="Calibri"/>
                <a:cs typeface="Calibri"/>
                <a:sym typeface="Calibri"/>
              </a:rPr>
              <a:t>apakah</a:t>
            </a:r>
            <a:r>
              <a:rPr lang="en-US" dirty="0">
                <a:latin typeface="Calibri"/>
                <a:ea typeface="Calibri"/>
                <a:cs typeface="Calibri"/>
                <a:sym typeface="Calibri"/>
              </a:rPr>
              <a:t> data yang </a:t>
            </a:r>
            <a:r>
              <a:rPr lang="en-US" dirty="0" err="1">
                <a:latin typeface="Calibri"/>
                <a:ea typeface="Calibri"/>
                <a:cs typeface="Calibri"/>
                <a:sym typeface="Calibri"/>
              </a:rPr>
              <a:t>dibutuhkan</a:t>
            </a:r>
            <a:r>
              <a:rPr lang="en-US" dirty="0">
                <a:latin typeface="Calibri"/>
                <a:ea typeface="Calibri"/>
                <a:cs typeface="Calibri"/>
                <a:sym typeface="Calibri"/>
              </a:rPr>
              <a:t> </a:t>
            </a:r>
            <a:r>
              <a:rPr lang="en-US" dirty="0" err="1">
                <a:latin typeface="Calibri"/>
                <a:ea typeface="Calibri"/>
                <a:cs typeface="Calibri"/>
                <a:sym typeface="Calibri"/>
              </a:rPr>
              <a:t>tidak</a:t>
            </a:r>
            <a:r>
              <a:rPr lang="en-US" dirty="0">
                <a:latin typeface="Calibri"/>
                <a:ea typeface="Calibri"/>
                <a:cs typeface="Calibri"/>
                <a:sym typeface="Calibri"/>
              </a:rPr>
              <a:t> </a:t>
            </a:r>
            <a:r>
              <a:rPr lang="en-US" dirty="0" err="1">
                <a:latin typeface="Calibri"/>
                <a:ea typeface="Calibri"/>
                <a:cs typeface="Calibri"/>
                <a:sym typeface="Calibri"/>
              </a:rPr>
              <a:t>dapat</a:t>
            </a:r>
            <a:r>
              <a:rPr lang="en-US" dirty="0">
                <a:latin typeface="Calibri"/>
                <a:ea typeface="Calibri"/>
                <a:cs typeface="Calibri"/>
                <a:sym typeface="Calibri"/>
              </a:rPr>
              <a:t> </a:t>
            </a:r>
            <a:r>
              <a:rPr lang="en-US" dirty="0" err="1">
                <a:latin typeface="Calibri"/>
                <a:ea typeface="Calibri"/>
                <a:cs typeface="Calibri"/>
                <a:sym typeface="Calibri"/>
              </a:rPr>
              <a:t>diperoleh</a:t>
            </a:r>
            <a:r>
              <a:rPr lang="en-US" dirty="0">
                <a:latin typeface="Calibri"/>
                <a:ea typeface="Calibri"/>
                <a:cs typeface="Calibri"/>
                <a:sym typeface="Calibri"/>
              </a:rPr>
              <a:t> </a:t>
            </a:r>
            <a:r>
              <a:rPr lang="en-US" dirty="0" err="1">
                <a:latin typeface="Calibri"/>
                <a:ea typeface="Calibri"/>
                <a:cs typeface="Calibri"/>
                <a:sym typeface="Calibri"/>
              </a:rPr>
              <a:t>atau</a:t>
            </a:r>
            <a:r>
              <a:rPr lang="en-US" dirty="0">
                <a:latin typeface="Calibri"/>
                <a:ea typeface="Calibri"/>
                <a:cs typeface="Calibri"/>
                <a:sym typeface="Calibri"/>
              </a:rPr>
              <a:t> </a:t>
            </a:r>
            <a:r>
              <a:rPr lang="en-US" dirty="0" err="1">
                <a:latin typeface="Calibri"/>
                <a:ea typeface="Calibri"/>
                <a:cs typeface="Calibri"/>
                <a:sym typeface="Calibri"/>
              </a:rPr>
              <a:t>tidak</a:t>
            </a:r>
            <a:r>
              <a:rPr lang="en-US" dirty="0">
                <a:latin typeface="Calibri"/>
                <a:ea typeface="Calibri"/>
                <a:cs typeface="Calibri"/>
                <a:sym typeface="Calibri"/>
              </a:rPr>
              <a:t> </a:t>
            </a:r>
            <a:r>
              <a:rPr lang="en-US" dirty="0" err="1">
                <a:latin typeface="Calibri"/>
                <a:ea typeface="Calibri"/>
                <a:cs typeface="Calibri"/>
                <a:sym typeface="Calibri"/>
              </a:rPr>
              <a:t>tersedia</a:t>
            </a:r>
            <a:r>
              <a:rPr lang="en-US" dirty="0">
                <a:latin typeface="Calibri"/>
                <a:ea typeface="Calibri"/>
                <a:cs typeface="Calibri"/>
                <a:sym typeface="Calibri"/>
              </a:rPr>
              <a:t> di </a:t>
            </a:r>
            <a:r>
              <a:rPr lang="en-US" dirty="0" err="1">
                <a:latin typeface="Calibri"/>
                <a:ea typeface="Calibri"/>
                <a:cs typeface="Calibri"/>
                <a:sym typeface="Calibri"/>
              </a:rPr>
              <a:t>sumber</a:t>
            </a:r>
            <a:r>
              <a:rPr lang="en-US" dirty="0">
                <a:latin typeface="Calibri"/>
                <a:ea typeface="Calibri"/>
                <a:cs typeface="Calibri"/>
                <a:sym typeface="Calibri"/>
              </a:rPr>
              <a:t> </a:t>
            </a:r>
            <a:r>
              <a:rPr lang="en-US" dirty="0" err="1">
                <a:latin typeface="Calibri"/>
                <a:ea typeface="Calibri"/>
                <a:cs typeface="Calibri"/>
                <a:sym typeface="Calibri"/>
              </a:rPr>
              <a:t>manapun</a:t>
            </a:r>
            <a:r>
              <a:rPr lang="en-US" dirty="0">
                <a:latin typeface="Calibri"/>
                <a:ea typeface="Calibri"/>
                <a:cs typeface="Calibri"/>
                <a:sym typeface="Calibri"/>
              </a:rPr>
              <a:t>. </a:t>
            </a:r>
            <a:r>
              <a:rPr lang="en-US" dirty="0" err="1">
                <a:latin typeface="Calibri"/>
                <a:ea typeface="Calibri"/>
                <a:cs typeface="Calibri"/>
                <a:sym typeface="Calibri"/>
              </a:rPr>
              <a:t>Untuk</a:t>
            </a:r>
            <a:r>
              <a:rPr lang="en-US" dirty="0">
                <a:latin typeface="Calibri"/>
                <a:ea typeface="Calibri"/>
                <a:cs typeface="Calibri"/>
                <a:sym typeface="Calibri"/>
              </a:rPr>
              <a:t> </a:t>
            </a:r>
            <a:r>
              <a:rPr lang="en-US" dirty="0" err="1">
                <a:latin typeface="Calibri"/>
                <a:ea typeface="Calibri"/>
                <a:cs typeface="Calibri"/>
                <a:sym typeface="Calibri"/>
              </a:rPr>
              <a:t>setiap</a:t>
            </a:r>
            <a:r>
              <a:rPr lang="en-US" dirty="0">
                <a:latin typeface="Calibri"/>
                <a:ea typeface="Calibri"/>
                <a:cs typeface="Calibri"/>
                <a:sym typeface="Calibri"/>
              </a:rPr>
              <a:t> data yang </a:t>
            </a:r>
            <a:r>
              <a:rPr lang="en-US" dirty="0" err="1">
                <a:latin typeface="Calibri"/>
                <a:ea typeface="Calibri"/>
                <a:cs typeface="Calibri"/>
                <a:sym typeface="Calibri"/>
              </a:rPr>
              <a:t>dapat</a:t>
            </a:r>
            <a:r>
              <a:rPr lang="en-US" dirty="0">
                <a:latin typeface="Calibri"/>
                <a:ea typeface="Calibri"/>
                <a:cs typeface="Calibri"/>
                <a:sym typeface="Calibri"/>
              </a:rPr>
              <a:t> </a:t>
            </a:r>
            <a:r>
              <a:rPr lang="en-US" dirty="0" err="1">
                <a:latin typeface="Calibri"/>
                <a:ea typeface="Calibri"/>
                <a:cs typeface="Calibri"/>
                <a:sym typeface="Calibri"/>
              </a:rPr>
              <a:t>diperoleh</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a:t>
            </a:r>
            <a:r>
              <a:rPr lang="en-US" dirty="0" err="1">
                <a:latin typeface="Calibri"/>
                <a:ea typeface="Calibri"/>
                <a:cs typeface="Calibri"/>
                <a:sym typeface="Calibri"/>
              </a:rPr>
              <a:t>dapat</a:t>
            </a:r>
            <a:r>
              <a:rPr lang="en-US" dirty="0">
                <a:latin typeface="Calibri"/>
                <a:ea typeface="Calibri"/>
                <a:cs typeface="Calibri"/>
                <a:sym typeface="Calibri"/>
              </a:rPr>
              <a:t> </a:t>
            </a:r>
            <a:endParaRPr lang="en-US" dirty="0"/>
          </a:p>
          <a:p>
            <a:pPr marL="182880" lvl="0" indent="-182880" algn="just">
              <a:lnSpc>
                <a:spcPct val="125000"/>
              </a:lnSpc>
              <a:spcBef>
                <a:spcPts val="600"/>
              </a:spcBef>
              <a:buSzPts val="1100"/>
              <a:buChar char="●"/>
            </a:pPr>
            <a:r>
              <a:rPr lang="en-US" i="1" u="sng" dirty="0" err="1">
                <a:latin typeface="Calibri"/>
                <a:ea typeface="Calibri"/>
                <a:cs typeface="Calibri"/>
                <a:sym typeface="Calibri"/>
              </a:rPr>
              <a:t>Ketiga</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a:t>
            </a:r>
            <a:r>
              <a:rPr lang="en-US" dirty="0" err="1">
                <a:latin typeface="Calibri"/>
                <a:ea typeface="Calibri"/>
                <a:cs typeface="Calibri"/>
                <a:sym typeface="Calibri"/>
              </a:rPr>
              <a:t>melakukan</a:t>
            </a:r>
            <a:r>
              <a:rPr lang="en-US" dirty="0">
                <a:latin typeface="Calibri"/>
                <a:ea typeface="Calibri"/>
                <a:cs typeface="Calibri"/>
                <a:sym typeface="Calibri"/>
              </a:rPr>
              <a:t> </a:t>
            </a:r>
            <a:r>
              <a:rPr lang="en-US" b="1" dirty="0" err="1">
                <a:latin typeface="Calibri"/>
                <a:ea typeface="Calibri"/>
                <a:cs typeface="Calibri"/>
                <a:sym typeface="Calibri"/>
              </a:rPr>
              <a:t>asesmen</a:t>
            </a:r>
            <a:r>
              <a:rPr lang="en-US" b="1" dirty="0">
                <a:latin typeface="Calibri"/>
                <a:ea typeface="Calibri"/>
                <a:cs typeface="Calibri"/>
                <a:sym typeface="Calibri"/>
              </a:rPr>
              <a:t> (</a:t>
            </a:r>
            <a:r>
              <a:rPr lang="en-US" b="1" i="1" dirty="0">
                <a:latin typeface="Calibri"/>
                <a:ea typeface="Calibri"/>
                <a:cs typeface="Calibri"/>
                <a:sym typeface="Calibri"/>
              </a:rPr>
              <a:t>assessment</a:t>
            </a:r>
            <a:r>
              <a:rPr lang="en-US" b="1" dirty="0">
                <a:latin typeface="Calibri"/>
                <a:ea typeface="Calibri"/>
                <a:cs typeface="Calibri"/>
                <a:sym typeface="Calibri"/>
              </a:rPr>
              <a:t>) pada </a:t>
            </a:r>
            <a:r>
              <a:rPr lang="en-US" b="1" dirty="0" err="1">
                <a:latin typeface="Calibri"/>
                <a:ea typeface="Calibri"/>
                <a:cs typeface="Calibri"/>
                <a:sym typeface="Calibri"/>
              </a:rPr>
              <a:t>setiap</a:t>
            </a:r>
            <a:r>
              <a:rPr lang="en-US" b="1" dirty="0">
                <a:latin typeface="Calibri"/>
                <a:ea typeface="Calibri"/>
                <a:cs typeface="Calibri"/>
                <a:sym typeface="Calibri"/>
              </a:rPr>
              <a:t> </a:t>
            </a:r>
            <a:r>
              <a:rPr lang="en-US" b="1" dirty="0" err="1">
                <a:latin typeface="Calibri"/>
                <a:ea typeface="Calibri"/>
                <a:cs typeface="Calibri"/>
                <a:sym typeface="Calibri"/>
              </a:rPr>
              <a:t>kumpulan</a:t>
            </a:r>
            <a:r>
              <a:rPr lang="en-US" b="1" dirty="0">
                <a:latin typeface="Calibri"/>
                <a:ea typeface="Calibri"/>
                <a:cs typeface="Calibri"/>
                <a:sym typeface="Calibri"/>
              </a:rPr>
              <a:t> data</a:t>
            </a:r>
            <a:r>
              <a:rPr lang="en-US" dirty="0">
                <a:latin typeface="Calibri"/>
                <a:ea typeface="Calibri"/>
                <a:cs typeface="Calibri"/>
                <a:sym typeface="Calibri"/>
              </a:rPr>
              <a:t> yang </a:t>
            </a:r>
            <a:r>
              <a:rPr lang="en-US" dirty="0" err="1">
                <a:latin typeface="Calibri"/>
                <a:ea typeface="Calibri"/>
                <a:cs typeface="Calibri"/>
                <a:sym typeface="Calibri"/>
              </a:rPr>
              <a:t>ditentukan</a:t>
            </a:r>
            <a:r>
              <a:rPr lang="en-US" dirty="0">
                <a:latin typeface="Calibri"/>
                <a:ea typeface="Calibri"/>
                <a:cs typeface="Calibri"/>
                <a:sym typeface="Calibri"/>
              </a:rPr>
              <a:t> di </a:t>
            </a:r>
            <a:r>
              <a:rPr lang="en-US" dirty="0" err="1">
                <a:latin typeface="Calibri"/>
                <a:ea typeface="Calibri"/>
                <a:cs typeface="Calibri"/>
                <a:sym typeface="Calibri"/>
              </a:rPr>
              <a:t>atas</a:t>
            </a:r>
            <a:r>
              <a:rPr lang="en-US" dirty="0">
                <a:latin typeface="Calibri"/>
                <a:ea typeface="Calibri"/>
                <a:cs typeface="Calibri"/>
                <a:sym typeface="Calibri"/>
              </a:rPr>
              <a:t> </a:t>
            </a:r>
            <a:r>
              <a:rPr lang="en-US" b="1" dirty="0" err="1">
                <a:latin typeface="Calibri"/>
                <a:ea typeface="Calibri"/>
                <a:cs typeface="Calibri"/>
                <a:sym typeface="Calibri"/>
              </a:rPr>
              <a:t>untuk</a:t>
            </a:r>
            <a:r>
              <a:rPr lang="en-US" b="1" dirty="0">
                <a:latin typeface="Calibri"/>
                <a:ea typeface="Calibri"/>
                <a:cs typeface="Calibri"/>
                <a:sym typeface="Calibri"/>
              </a:rPr>
              <a:t> </a:t>
            </a:r>
            <a:r>
              <a:rPr lang="en-US" b="1" dirty="0" err="1">
                <a:latin typeface="Calibri"/>
                <a:ea typeface="Calibri"/>
                <a:cs typeface="Calibri"/>
                <a:sym typeface="Calibri"/>
              </a:rPr>
              <a:t>menentukan</a:t>
            </a:r>
            <a:r>
              <a:rPr lang="en-US" b="1" dirty="0">
                <a:latin typeface="Calibri"/>
                <a:ea typeface="Calibri"/>
                <a:cs typeface="Calibri"/>
                <a:sym typeface="Calibri"/>
              </a:rPr>
              <a:t> </a:t>
            </a:r>
            <a:r>
              <a:rPr lang="en-US" b="1" dirty="0" err="1">
                <a:latin typeface="Calibri"/>
                <a:ea typeface="Calibri"/>
                <a:cs typeface="Calibri"/>
                <a:sym typeface="Calibri"/>
              </a:rPr>
              <a:t>nilai</a:t>
            </a:r>
            <a:r>
              <a:rPr lang="en-US" b="1" dirty="0">
                <a:latin typeface="Calibri"/>
                <a:ea typeface="Calibri"/>
                <a:cs typeface="Calibri"/>
                <a:sym typeface="Calibri"/>
              </a:rPr>
              <a:t> </a:t>
            </a:r>
            <a:r>
              <a:rPr lang="en-US" b="1" dirty="0" err="1">
                <a:latin typeface="Calibri"/>
                <a:ea typeface="Calibri"/>
                <a:cs typeface="Calibri"/>
                <a:sym typeface="Calibri"/>
              </a:rPr>
              <a:t>tambah</a:t>
            </a:r>
            <a:r>
              <a:rPr lang="en-US" b="1" dirty="0">
                <a:latin typeface="Calibri"/>
                <a:ea typeface="Calibri"/>
                <a:cs typeface="Calibri"/>
                <a:sym typeface="Calibri"/>
              </a:rPr>
              <a:t> </a:t>
            </a:r>
            <a:r>
              <a:rPr lang="en-US" b="1" dirty="0" err="1">
                <a:latin typeface="Calibri"/>
                <a:ea typeface="Calibri"/>
                <a:cs typeface="Calibri"/>
                <a:sym typeface="Calibri"/>
              </a:rPr>
              <a:t>bisnis</a:t>
            </a:r>
            <a:r>
              <a:rPr lang="en-US" b="1" dirty="0">
                <a:latin typeface="Calibri"/>
                <a:ea typeface="Calibri"/>
                <a:cs typeface="Calibri"/>
                <a:sym typeface="Calibri"/>
              </a:rPr>
              <a:t> yang </a:t>
            </a:r>
            <a:r>
              <a:rPr lang="en-US" b="1" dirty="0" err="1">
                <a:latin typeface="Calibri"/>
                <a:ea typeface="Calibri"/>
                <a:cs typeface="Calibri"/>
                <a:sym typeface="Calibri"/>
              </a:rPr>
              <a:t>dapat</a:t>
            </a:r>
            <a:r>
              <a:rPr lang="en-US" b="1" dirty="0">
                <a:latin typeface="Calibri"/>
                <a:ea typeface="Calibri"/>
                <a:cs typeface="Calibri"/>
                <a:sym typeface="Calibri"/>
              </a:rPr>
              <a:t> </a:t>
            </a:r>
            <a:r>
              <a:rPr lang="en-US" b="1" dirty="0" err="1">
                <a:latin typeface="Calibri"/>
                <a:ea typeface="Calibri"/>
                <a:cs typeface="Calibri"/>
                <a:sym typeface="Calibri"/>
              </a:rPr>
              <a:t>diraih</a:t>
            </a:r>
            <a:r>
              <a:rPr lang="en-US" dirty="0">
                <a:latin typeface="Calibri"/>
                <a:ea typeface="Calibri"/>
                <a:cs typeface="Calibri"/>
                <a:sym typeface="Calibri"/>
              </a:rPr>
              <a:t> </a:t>
            </a:r>
            <a:r>
              <a:rPr lang="en-US" dirty="0" err="1">
                <a:latin typeface="Calibri"/>
                <a:ea typeface="Calibri"/>
                <a:cs typeface="Calibri"/>
                <a:sym typeface="Calibri"/>
              </a:rPr>
              <a:t>apabila</a:t>
            </a:r>
            <a:r>
              <a:rPr lang="en-US" dirty="0">
                <a:latin typeface="Calibri"/>
                <a:ea typeface="Calibri"/>
                <a:cs typeface="Calibri"/>
                <a:sym typeface="Calibri"/>
              </a:rPr>
              <a:t> </a:t>
            </a:r>
            <a:r>
              <a:rPr lang="en-US" dirty="0" err="1">
                <a:latin typeface="Calibri"/>
                <a:ea typeface="Calibri"/>
                <a:cs typeface="Calibri"/>
                <a:sym typeface="Calibri"/>
              </a:rPr>
              <a:t>solusi</a:t>
            </a:r>
            <a:r>
              <a:rPr lang="en-US" dirty="0">
                <a:latin typeface="Calibri"/>
                <a:ea typeface="Calibri"/>
                <a:cs typeface="Calibri"/>
                <a:sym typeface="Calibri"/>
              </a:rPr>
              <a:t> AI dan </a:t>
            </a:r>
            <a:r>
              <a:rPr lang="en-US" dirty="0" err="1">
                <a:latin typeface="Calibri"/>
                <a:ea typeface="Calibri"/>
                <a:cs typeface="Calibri"/>
                <a:sym typeface="Calibri"/>
              </a:rPr>
              <a:t>sains</a:t>
            </a:r>
            <a:r>
              <a:rPr lang="en-US" dirty="0">
                <a:latin typeface="Calibri"/>
                <a:ea typeface="Calibri"/>
                <a:cs typeface="Calibri"/>
                <a:sym typeface="Calibri"/>
              </a:rPr>
              <a:t> data </a:t>
            </a:r>
            <a:r>
              <a:rPr lang="en-US" dirty="0" err="1">
                <a:latin typeface="Calibri"/>
                <a:ea typeface="Calibri"/>
                <a:cs typeface="Calibri"/>
                <a:sym typeface="Calibri"/>
              </a:rPr>
              <a:t>dapat</a:t>
            </a:r>
            <a:r>
              <a:rPr lang="en-US" dirty="0">
                <a:latin typeface="Calibri"/>
                <a:ea typeface="Calibri"/>
                <a:cs typeface="Calibri"/>
                <a:sym typeface="Calibri"/>
              </a:rPr>
              <a:t> </a:t>
            </a:r>
            <a:r>
              <a:rPr lang="en-US" dirty="0" err="1">
                <a:latin typeface="Calibri"/>
                <a:ea typeface="Calibri"/>
                <a:cs typeface="Calibri"/>
                <a:sym typeface="Calibri"/>
              </a:rPr>
              <a:t>direalisasikan</a:t>
            </a:r>
            <a:r>
              <a:rPr lang="en-US" dirty="0">
                <a:latin typeface="Calibri"/>
                <a:ea typeface="Calibri"/>
                <a:cs typeface="Calibri"/>
                <a:sym typeface="Calibri"/>
              </a:rPr>
              <a:t> </a:t>
            </a:r>
            <a:r>
              <a:rPr lang="en-US" dirty="0" err="1">
                <a:latin typeface="Calibri"/>
                <a:ea typeface="Calibri"/>
                <a:cs typeface="Calibri"/>
                <a:sym typeface="Calibri"/>
              </a:rPr>
              <a:t>dengan</a:t>
            </a:r>
            <a:r>
              <a:rPr lang="en-US" dirty="0">
                <a:latin typeface="Calibri"/>
                <a:ea typeface="Calibri"/>
                <a:cs typeface="Calibri"/>
                <a:sym typeface="Calibri"/>
              </a:rPr>
              <a:t> data </a:t>
            </a:r>
            <a:r>
              <a:rPr lang="en-US" dirty="0" err="1">
                <a:latin typeface="Calibri"/>
                <a:ea typeface="Calibri"/>
                <a:cs typeface="Calibri"/>
                <a:sym typeface="Calibri"/>
              </a:rPr>
              <a:t>tersebut</a:t>
            </a:r>
            <a:r>
              <a:rPr lang="en-US" dirty="0">
                <a:latin typeface="Calibri"/>
                <a:ea typeface="Calibri"/>
                <a:cs typeface="Calibri"/>
                <a:sym typeface="Calibri"/>
              </a:rPr>
              <a:t>. Di </a:t>
            </a:r>
            <a:r>
              <a:rPr lang="en-US" dirty="0" err="1">
                <a:latin typeface="Calibri"/>
                <a:ea typeface="Calibri"/>
                <a:cs typeface="Calibri"/>
                <a:sym typeface="Calibri"/>
              </a:rPr>
              <a:t>sini</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juga </a:t>
            </a:r>
            <a:r>
              <a:rPr lang="en-US" dirty="0" err="1">
                <a:latin typeface="Calibri"/>
                <a:ea typeface="Calibri"/>
                <a:cs typeface="Calibri"/>
                <a:sym typeface="Calibri"/>
              </a:rPr>
              <a:t>perlu</a:t>
            </a:r>
            <a:r>
              <a:rPr lang="en-US" dirty="0">
                <a:latin typeface="Calibri"/>
                <a:ea typeface="Calibri"/>
                <a:cs typeface="Calibri"/>
                <a:sym typeface="Calibri"/>
              </a:rPr>
              <a:t> </a:t>
            </a:r>
            <a:r>
              <a:rPr lang="en-US" dirty="0" err="1">
                <a:latin typeface="Calibri"/>
                <a:ea typeface="Calibri"/>
                <a:cs typeface="Calibri"/>
                <a:sym typeface="Calibri"/>
              </a:rPr>
              <a:t>memutuskan</a:t>
            </a:r>
            <a:r>
              <a:rPr lang="en-US" dirty="0">
                <a:latin typeface="Calibri"/>
                <a:ea typeface="Calibri"/>
                <a:cs typeface="Calibri"/>
                <a:sym typeface="Calibri"/>
              </a:rPr>
              <a:t> </a:t>
            </a:r>
            <a:r>
              <a:rPr lang="en-US" dirty="0" err="1">
                <a:latin typeface="Calibri"/>
                <a:ea typeface="Calibri"/>
                <a:cs typeface="Calibri"/>
                <a:sym typeface="Calibri"/>
              </a:rPr>
              <a:t>untuk</a:t>
            </a:r>
            <a:r>
              <a:rPr lang="en-US" dirty="0">
                <a:latin typeface="Calibri"/>
                <a:ea typeface="Calibri"/>
                <a:cs typeface="Calibri"/>
                <a:sym typeface="Calibri"/>
              </a:rPr>
              <a:t> data yang </a:t>
            </a:r>
            <a:r>
              <a:rPr lang="en-US" dirty="0" err="1">
                <a:latin typeface="Calibri"/>
                <a:ea typeface="Calibri"/>
                <a:cs typeface="Calibri"/>
                <a:sym typeface="Calibri"/>
              </a:rPr>
              <a:t>tidak</a:t>
            </a:r>
            <a:r>
              <a:rPr lang="en-US" dirty="0">
                <a:latin typeface="Calibri"/>
                <a:ea typeface="Calibri"/>
                <a:cs typeface="Calibri"/>
                <a:sym typeface="Calibri"/>
              </a:rPr>
              <a:t> </a:t>
            </a:r>
            <a:r>
              <a:rPr lang="en-US" dirty="0" err="1">
                <a:latin typeface="Calibri"/>
                <a:ea typeface="Calibri"/>
                <a:cs typeface="Calibri"/>
                <a:sym typeface="Calibri"/>
              </a:rPr>
              <a:t>tersedia</a:t>
            </a:r>
            <a:r>
              <a:rPr lang="en-US" dirty="0">
                <a:latin typeface="Calibri"/>
                <a:ea typeface="Calibri"/>
                <a:cs typeface="Calibri"/>
                <a:sym typeface="Calibri"/>
              </a:rPr>
              <a:t> </a:t>
            </a:r>
            <a:r>
              <a:rPr lang="en-US" dirty="0" err="1">
                <a:latin typeface="Calibri"/>
                <a:ea typeface="Calibri"/>
                <a:cs typeface="Calibri"/>
                <a:sym typeface="Calibri"/>
              </a:rPr>
              <a:t>atau</a:t>
            </a:r>
            <a:r>
              <a:rPr lang="en-US" dirty="0">
                <a:latin typeface="Calibri"/>
                <a:ea typeface="Calibri"/>
                <a:cs typeface="Calibri"/>
                <a:sym typeface="Calibri"/>
              </a:rPr>
              <a:t> </a:t>
            </a:r>
            <a:r>
              <a:rPr lang="en-US" dirty="0" err="1">
                <a:latin typeface="Calibri"/>
                <a:ea typeface="Calibri"/>
                <a:cs typeface="Calibri"/>
                <a:sym typeface="Calibri"/>
              </a:rPr>
              <a:t>tidak</a:t>
            </a:r>
            <a:r>
              <a:rPr lang="en-US" dirty="0">
                <a:latin typeface="Calibri"/>
                <a:ea typeface="Calibri"/>
                <a:cs typeface="Calibri"/>
                <a:sym typeface="Calibri"/>
              </a:rPr>
              <a:t> </a:t>
            </a:r>
            <a:r>
              <a:rPr lang="en-US" dirty="0" err="1">
                <a:latin typeface="Calibri"/>
                <a:ea typeface="Calibri"/>
                <a:cs typeface="Calibri"/>
                <a:sym typeface="Calibri"/>
              </a:rPr>
              <a:t>dapat</a:t>
            </a:r>
            <a:r>
              <a:rPr lang="en-US" dirty="0">
                <a:latin typeface="Calibri"/>
                <a:ea typeface="Calibri"/>
                <a:cs typeface="Calibri"/>
                <a:sym typeface="Calibri"/>
              </a:rPr>
              <a:t> </a:t>
            </a:r>
            <a:r>
              <a:rPr lang="en-US" dirty="0" err="1">
                <a:latin typeface="Calibri"/>
                <a:ea typeface="Calibri"/>
                <a:cs typeface="Calibri"/>
                <a:sym typeface="Calibri"/>
              </a:rPr>
              <a:t>diperoleh</a:t>
            </a:r>
            <a:r>
              <a:rPr lang="en-US" dirty="0">
                <a:latin typeface="Calibri"/>
                <a:ea typeface="Calibri"/>
                <a:cs typeface="Calibri"/>
                <a:sym typeface="Calibri"/>
              </a:rPr>
              <a:t> </a:t>
            </a:r>
            <a:r>
              <a:rPr lang="en-US" dirty="0" err="1">
                <a:latin typeface="Calibri"/>
                <a:ea typeface="Calibri"/>
                <a:cs typeface="Calibri"/>
                <a:sym typeface="Calibri"/>
              </a:rPr>
              <a:t>dari</a:t>
            </a:r>
            <a:r>
              <a:rPr lang="en-US" dirty="0">
                <a:latin typeface="Calibri"/>
                <a:ea typeface="Calibri"/>
                <a:cs typeface="Calibri"/>
                <a:sym typeface="Calibri"/>
              </a:rPr>
              <a:t> </a:t>
            </a:r>
            <a:r>
              <a:rPr lang="en-US" dirty="0" err="1">
                <a:latin typeface="Calibri"/>
                <a:ea typeface="Calibri"/>
                <a:cs typeface="Calibri"/>
                <a:sym typeface="Calibri"/>
              </a:rPr>
              <a:t>sumber</a:t>
            </a:r>
            <a:r>
              <a:rPr lang="en-US" dirty="0">
                <a:latin typeface="Calibri"/>
                <a:ea typeface="Calibri"/>
                <a:cs typeface="Calibri"/>
                <a:sym typeface="Calibri"/>
              </a:rPr>
              <a:t> </a:t>
            </a:r>
            <a:r>
              <a:rPr lang="en-US" dirty="0" err="1">
                <a:latin typeface="Calibri"/>
                <a:ea typeface="Calibri"/>
                <a:cs typeface="Calibri"/>
                <a:sym typeface="Calibri"/>
              </a:rPr>
              <a:t>manapun</a:t>
            </a:r>
            <a:r>
              <a:rPr lang="en-US" dirty="0">
                <a:latin typeface="Calibri"/>
                <a:ea typeface="Calibri"/>
                <a:cs typeface="Calibri"/>
                <a:sym typeface="Calibri"/>
              </a:rPr>
              <a:t> </a:t>
            </a:r>
            <a:r>
              <a:rPr lang="en-US" dirty="0" err="1">
                <a:latin typeface="Calibri"/>
                <a:ea typeface="Calibri"/>
                <a:cs typeface="Calibri"/>
                <a:sym typeface="Calibri"/>
              </a:rPr>
              <a:t>apakah</a:t>
            </a:r>
            <a:r>
              <a:rPr lang="en-US" dirty="0">
                <a:latin typeface="Calibri"/>
                <a:ea typeface="Calibri"/>
                <a:cs typeface="Calibri"/>
                <a:sym typeface="Calibri"/>
              </a:rPr>
              <a:t> </a:t>
            </a:r>
            <a:r>
              <a:rPr lang="en-US" dirty="0" err="1">
                <a:latin typeface="Calibri"/>
                <a:ea typeface="Calibri"/>
                <a:cs typeface="Calibri"/>
                <a:sym typeface="Calibri"/>
              </a:rPr>
              <a:t>usaha</a:t>
            </a:r>
            <a:r>
              <a:rPr lang="en-US" dirty="0">
                <a:latin typeface="Calibri"/>
                <a:ea typeface="Calibri"/>
                <a:cs typeface="Calibri"/>
                <a:sym typeface="Calibri"/>
              </a:rPr>
              <a:t> </a:t>
            </a:r>
            <a:r>
              <a:rPr lang="en-US" dirty="0" err="1">
                <a:latin typeface="Calibri"/>
                <a:ea typeface="Calibri"/>
                <a:cs typeface="Calibri"/>
                <a:sym typeface="Calibri"/>
              </a:rPr>
              <a:t>pengumpulan</a:t>
            </a:r>
            <a:r>
              <a:rPr lang="en-US" dirty="0">
                <a:latin typeface="Calibri"/>
                <a:ea typeface="Calibri"/>
                <a:cs typeface="Calibri"/>
                <a:sym typeface="Calibri"/>
              </a:rPr>
              <a:t> data yang </a:t>
            </a:r>
            <a:r>
              <a:rPr lang="en-US" dirty="0" err="1">
                <a:latin typeface="Calibri"/>
                <a:ea typeface="Calibri"/>
                <a:cs typeface="Calibri"/>
                <a:sym typeface="Calibri"/>
              </a:rPr>
              <a:t>terpisah</a:t>
            </a:r>
            <a:r>
              <a:rPr lang="en-US" dirty="0">
                <a:latin typeface="Calibri"/>
                <a:ea typeface="Calibri"/>
                <a:cs typeface="Calibri"/>
                <a:sym typeface="Calibri"/>
              </a:rPr>
              <a:t> </a:t>
            </a:r>
            <a:r>
              <a:rPr lang="en-US" dirty="0" err="1">
                <a:latin typeface="Calibri"/>
                <a:ea typeface="Calibri"/>
                <a:cs typeface="Calibri"/>
                <a:sym typeface="Calibri"/>
              </a:rPr>
              <a:t>perlu</a:t>
            </a:r>
            <a:r>
              <a:rPr lang="en-US" dirty="0">
                <a:latin typeface="Calibri"/>
                <a:ea typeface="Calibri"/>
                <a:cs typeface="Calibri"/>
                <a:sym typeface="Calibri"/>
              </a:rPr>
              <a:t> </a:t>
            </a:r>
            <a:r>
              <a:rPr lang="en-US" dirty="0" err="1">
                <a:latin typeface="Calibri"/>
                <a:ea typeface="Calibri"/>
                <a:cs typeface="Calibri"/>
                <a:sym typeface="Calibri"/>
              </a:rPr>
              <a:t>dilakukan</a:t>
            </a:r>
            <a:r>
              <a:rPr lang="en-US" dirty="0">
                <a:latin typeface="Calibri"/>
                <a:ea typeface="Calibri"/>
                <a:cs typeface="Calibri"/>
                <a:sym typeface="Calibri"/>
              </a:rPr>
              <a:t>, </a:t>
            </a:r>
            <a:r>
              <a:rPr lang="en-US" dirty="0" err="1">
                <a:latin typeface="Calibri"/>
                <a:ea typeface="Calibri"/>
                <a:cs typeface="Calibri"/>
                <a:sym typeface="Calibri"/>
              </a:rPr>
              <a:t>misalnya</a:t>
            </a:r>
            <a:r>
              <a:rPr lang="en-US" dirty="0">
                <a:latin typeface="Calibri"/>
                <a:ea typeface="Calibri"/>
                <a:cs typeface="Calibri"/>
                <a:sym typeface="Calibri"/>
              </a:rPr>
              <a:t> </a:t>
            </a:r>
            <a:r>
              <a:rPr lang="en-US" dirty="0" err="1">
                <a:latin typeface="Calibri"/>
                <a:ea typeface="Calibri"/>
                <a:cs typeface="Calibri"/>
                <a:sym typeface="Calibri"/>
              </a:rPr>
              <a:t>survei</a:t>
            </a:r>
            <a:r>
              <a:rPr lang="en-US" dirty="0">
                <a:latin typeface="Calibri"/>
                <a:ea typeface="Calibri"/>
                <a:cs typeface="Calibri"/>
                <a:sym typeface="Calibri"/>
              </a:rPr>
              <a:t> </a:t>
            </a:r>
            <a:r>
              <a:rPr lang="en-US" dirty="0" err="1">
                <a:latin typeface="Calibri"/>
                <a:ea typeface="Calibri"/>
                <a:cs typeface="Calibri"/>
                <a:sym typeface="Calibri"/>
              </a:rPr>
              <a:t>lapangan</a:t>
            </a:r>
            <a:r>
              <a:rPr lang="en-US" dirty="0">
                <a:latin typeface="Calibri"/>
                <a:ea typeface="Calibri"/>
                <a:cs typeface="Calibri"/>
                <a:sym typeface="Calibri"/>
              </a:rPr>
              <a:t> </a:t>
            </a:r>
            <a:r>
              <a:rPr lang="en-US" dirty="0" err="1">
                <a:latin typeface="Calibri"/>
                <a:ea typeface="Calibri"/>
                <a:cs typeface="Calibri"/>
                <a:sym typeface="Calibri"/>
              </a:rPr>
              <a:t>atau</a:t>
            </a:r>
            <a:r>
              <a:rPr lang="en-US" dirty="0">
                <a:latin typeface="Calibri"/>
                <a:ea typeface="Calibri"/>
                <a:cs typeface="Calibri"/>
                <a:sym typeface="Calibri"/>
              </a:rPr>
              <a:t> </a:t>
            </a:r>
            <a:r>
              <a:rPr lang="en-US" dirty="0" err="1">
                <a:latin typeface="Calibri"/>
                <a:ea typeface="Calibri"/>
                <a:cs typeface="Calibri"/>
                <a:sym typeface="Calibri"/>
              </a:rPr>
              <a:t>simulasi</a:t>
            </a:r>
            <a:r>
              <a:rPr lang="en-US" dirty="0">
                <a:latin typeface="Calibri"/>
                <a:ea typeface="Calibri"/>
                <a:cs typeface="Calibri"/>
                <a:sym typeface="Calibri"/>
              </a:rPr>
              <a:t> </a:t>
            </a:r>
            <a:r>
              <a:rPr lang="en-US" dirty="0" err="1">
                <a:latin typeface="Calibri"/>
                <a:ea typeface="Calibri"/>
                <a:cs typeface="Calibri"/>
                <a:sym typeface="Calibri"/>
              </a:rPr>
              <a:t>tambahan</a:t>
            </a:r>
            <a:r>
              <a:rPr lang="en-US" dirty="0">
                <a:latin typeface="Calibri"/>
                <a:ea typeface="Calibri"/>
                <a:cs typeface="Calibri"/>
                <a:sym typeface="Calibri"/>
              </a:rPr>
              <a:t>. </a:t>
            </a:r>
            <a:r>
              <a:rPr lang="en-US" dirty="0" err="1">
                <a:latin typeface="Calibri"/>
                <a:ea typeface="Calibri"/>
                <a:cs typeface="Calibri"/>
                <a:sym typeface="Calibri"/>
              </a:rPr>
              <a:t>Asesmen</a:t>
            </a:r>
            <a:r>
              <a:rPr lang="en-US" dirty="0">
                <a:latin typeface="Calibri"/>
                <a:ea typeface="Calibri"/>
                <a:cs typeface="Calibri"/>
                <a:sym typeface="Calibri"/>
              </a:rPr>
              <a:t> </a:t>
            </a:r>
            <a:endParaRPr lang="en-US" dirty="0"/>
          </a:p>
          <a:p>
            <a:pPr marL="182880" lvl="0" indent="-182880" algn="just">
              <a:lnSpc>
                <a:spcPct val="125000"/>
              </a:lnSpc>
              <a:spcBef>
                <a:spcPts val="600"/>
              </a:spcBef>
              <a:buSzPts val="1100"/>
              <a:buChar char="●"/>
            </a:pPr>
            <a:r>
              <a:rPr lang="en-US" i="1" u="sng" dirty="0" err="1">
                <a:latin typeface="Calibri"/>
                <a:ea typeface="Calibri"/>
                <a:cs typeface="Calibri"/>
                <a:sym typeface="Calibri"/>
              </a:rPr>
              <a:t>Keempat</a:t>
            </a:r>
            <a:r>
              <a:rPr lang="en-US" dirty="0">
                <a:latin typeface="Calibri"/>
                <a:ea typeface="Calibri"/>
                <a:cs typeface="Calibri"/>
                <a:sym typeface="Calibri"/>
              </a:rPr>
              <a:t>, di </a:t>
            </a:r>
            <a:r>
              <a:rPr lang="en-US" dirty="0" err="1">
                <a:latin typeface="Calibri"/>
                <a:ea typeface="Calibri"/>
                <a:cs typeface="Calibri"/>
                <a:sym typeface="Calibri"/>
              </a:rPr>
              <a:t>samping</a:t>
            </a:r>
            <a:r>
              <a:rPr lang="en-US" dirty="0">
                <a:latin typeface="Calibri"/>
                <a:ea typeface="Calibri"/>
                <a:cs typeface="Calibri"/>
                <a:sym typeface="Calibri"/>
              </a:rPr>
              <a:t> data yang </a:t>
            </a:r>
            <a:r>
              <a:rPr lang="en-US" dirty="0" err="1">
                <a:latin typeface="Calibri"/>
                <a:ea typeface="Calibri"/>
                <a:cs typeface="Calibri"/>
                <a:sym typeface="Calibri"/>
              </a:rPr>
              <a:t>mutlak</a:t>
            </a:r>
            <a:r>
              <a:rPr lang="en-US" dirty="0">
                <a:latin typeface="Calibri"/>
                <a:ea typeface="Calibri"/>
                <a:cs typeface="Calibri"/>
                <a:sym typeface="Calibri"/>
              </a:rPr>
              <a:t> </a:t>
            </a:r>
            <a:r>
              <a:rPr lang="en-US" dirty="0" err="1">
                <a:latin typeface="Calibri"/>
                <a:ea typeface="Calibri"/>
                <a:cs typeface="Calibri"/>
                <a:sym typeface="Calibri"/>
              </a:rPr>
              <a:t>dibutuhkan</a:t>
            </a:r>
            <a:r>
              <a:rPr lang="en-US" dirty="0">
                <a:latin typeface="Calibri"/>
                <a:ea typeface="Calibri"/>
                <a:cs typeface="Calibri"/>
                <a:sym typeface="Calibri"/>
              </a:rPr>
              <a:t> </a:t>
            </a:r>
            <a:r>
              <a:rPr lang="en-US" dirty="0" err="1">
                <a:latin typeface="Calibri"/>
                <a:ea typeface="Calibri"/>
                <a:cs typeface="Calibri"/>
                <a:sym typeface="Calibri"/>
              </a:rPr>
              <a:t>untuk</a:t>
            </a:r>
            <a:r>
              <a:rPr lang="en-US" dirty="0">
                <a:latin typeface="Calibri"/>
                <a:ea typeface="Calibri"/>
                <a:cs typeface="Calibri"/>
                <a:sym typeface="Calibri"/>
              </a:rPr>
              <a:t> </a:t>
            </a:r>
            <a:r>
              <a:rPr lang="en-US" dirty="0" err="1">
                <a:latin typeface="Calibri"/>
                <a:ea typeface="Calibri"/>
                <a:cs typeface="Calibri"/>
                <a:sym typeface="Calibri"/>
              </a:rPr>
              <a:t>mendapatkan</a:t>
            </a:r>
            <a:r>
              <a:rPr lang="en-US" dirty="0">
                <a:latin typeface="Calibri"/>
                <a:ea typeface="Calibri"/>
                <a:cs typeface="Calibri"/>
                <a:sym typeface="Calibri"/>
              </a:rPr>
              <a:t> </a:t>
            </a:r>
            <a:r>
              <a:rPr lang="en-US" dirty="0" err="1">
                <a:latin typeface="Calibri"/>
                <a:ea typeface="Calibri"/>
                <a:cs typeface="Calibri"/>
                <a:sym typeface="Calibri"/>
              </a:rPr>
              <a:t>solusi</a:t>
            </a:r>
            <a:r>
              <a:rPr lang="en-US" dirty="0">
                <a:latin typeface="Calibri"/>
                <a:ea typeface="Calibri"/>
                <a:cs typeface="Calibri"/>
                <a:sym typeface="Calibri"/>
              </a:rPr>
              <a:t> AI </a:t>
            </a:r>
            <a:r>
              <a:rPr lang="en-US" dirty="0" err="1">
                <a:latin typeface="Calibri"/>
                <a:ea typeface="Calibri"/>
                <a:cs typeface="Calibri"/>
                <a:sym typeface="Calibri"/>
              </a:rPr>
              <a:t>untuk</a:t>
            </a:r>
            <a:r>
              <a:rPr lang="en-US" dirty="0">
                <a:latin typeface="Calibri"/>
                <a:ea typeface="Calibri"/>
                <a:cs typeface="Calibri"/>
                <a:sym typeface="Calibri"/>
              </a:rPr>
              <a:t> </a:t>
            </a:r>
            <a:r>
              <a:rPr lang="en-US" dirty="0" err="1">
                <a:latin typeface="Calibri"/>
                <a:ea typeface="Calibri"/>
                <a:cs typeface="Calibri"/>
                <a:sym typeface="Calibri"/>
              </a:rPr>
              <a:t>permasalahan</a:t>
            </a:r>
            <a:r>
              <a:rPr lang="en-US" dirty="0">
                <a:latin typeface="Calibri"/>
                <a:ea typeface="Calibri"/>
                <a:cs typeface="Calibri"/>
                <a:sym typeface="Calibri"/>
              </a:rPr>
              <a:t> </a:t>
            </a:r>
            <a:r>
              <a:rPr lang="en-US" dirty="0" err="1">
                <a:latin typeface="Calibri"/>
                <a:ea typeface="Calibri"/>
                <a:cs typeface="Calibri"/>
                <a:sym typeface="Calibri"/>
              </a:rPr>
              <a:t>bisnis</a:t>
            </a:r>
            <a:r>
              <a:rPr lang="en-US" dirty="0">
                <a:latin typeface="Calibri"/>
                <a:ea typeface="Calibri"/>
                <a:cs typeface="Calibri"/>
                <a:sym typeface="Calibri"/>
              </a:rPr>
              <a:t> di </a:t>
            </a:r>
            <a:r>
              <a:rPr lang="en-US" dirty="0" err="1">
                <a:latin typeface="Calibri"/>
                <a:ea typeface="Calibri"/>
                <a:cs typeface="Calibri"/>
                <a:sym typeface="Calibri"/>
              </a:rPr>
              <a:t>atas</a:t>
            </a:r>
            <a:r>
              <a:rPr lang="en-US" dirty="0">
                <a:latin typeface="Calibri"/>
                <a:ea typeface="Calibri"/>
                <a:cs typeface="Calibri"/>
                <a:sym typeface="Calibri"/>
              </a:rPr>
              <a:t>, </a:t>
            </a:r>
            <a:r>
              <a:rPr lang="en-US" dirty="0" err="1">
                <a:latin typeface="Calibri"/>
                <a:ea typeface="Calibri"/>
                <a:cs typeface="Calibri"/>
                <a:sym typeface="Calibri"/>
              </a:rPr>
              <a:t>kita</a:t>
            </a:r>
            <a:r>
              <a:rPr lang="en-US" dirty="0">
                <a:latin typeface="Calibri"/>
                <a:ea typeface="Calibri"/>
                <a:cs typeface="Calibri"/>
                <a:sym typeface="Calibri"/>
              </a:rPr>
              <a:t> juga </a:t>
            </a:r>
            <a:r>
              <a:rPr lang="en-US" dirty="0" err="1">
                <a:latin typeface="Calibri"/>
                <a:ea typeface="Calibri"/>
                <a:cs typeface="Calibri"/>
                <a:sym typeface="Calibri"/>
              </a:rPr>
              <a:t>dapat</a:t>
            </a:r>
            <a:r>
              <a:rPr lang="en-US" dirty="0">
                <a:latin typeface="Calibri"/>
                <a:ea typeface="Calibri"/>
                <a:cs typeface="Calibri"/>
                <a:sym typeface="Calibri"/>
              </a:rPr>
              <a:t> </a:t>
            </a:r>
            <a:r>
              <a:rPr lang="en-US" b="1" dirty="0" err="1">
                <a:latin typeface="Calibri"/>
                <a:ea typeface="Calibri"/>
                <a:cs typeface="Calibri"/>
                <a:sym typeface="Calibri"/>
              </a:rPr>
              <a:t>mengidentifikasi</a:t>
            </a:r>
            <a:r>
              <a:rPr lang="en-US" b="1" dirty="0">
                <a:latin typeface="Calibri"/>
                <a:ea typeface="Calibri"/>
                <a:cs typeface="Calibri"/>
                <a:sym typeface="Calibri"/>
              </a:rPr>
              <a:t> data lain </a:t>
            </a:r>
            <a:r>
              <a:rPr lang="en-US" b="1" dirty="0" err="1">
                <a:latin typeface="Calibri"/>
                <a:ea typeface="Calibri"/>
                <a:cs typeface="Calibri"/>
                <a:sym typeface="Calibri"/>
              </a:rPr>
              <a:t>baik</a:t>
            </a:r>
            <a:r>
              <a:rPr lang="en-US" b="1" dirty="0">
                <a:latin typeface="Calibri"/>
                <a:ea typeface="Calibri"/>
                <a:cs typeface="Calibri"/>
                <a:sym typeface="Calibri"/>
              </a:rPr>
              <a:t> </a:t>
            </a:r>
            <a:r>
              <a:rPr lang="en-US" b="1" dirty="0" err="1">
                <a:latin typeface="Calibri"/>
                <a:ea typeface="Calibri"/>
                <a:cs typeface="Calibri"/>
                <a:sym typeface="Calibri"/>
              </a:rPr>
              <a:t>dari</a:t>
            </a:r>
            <a:r>
              <a:rPr lang="en-US" b="1" dirty="0">
                <a:latin typeface="Calibri"/>
                <a:ea typeface="Calibri"/>
                <a:cs typeface="Calibri"/>
                <a:sym typeface="Calibri"/>
              </a:rPr>
              <a:t> </a:t>
            </a:r>
            <a:r>
              <a:rPr lang="en-US" b="1" dirty="0" err="1">
                <a:latin typeface="Calibri"/>
                <a:ea typeface="Calibri"/>
                <a:cs typeface="Calibri"/>
                <a:sym typeface="Calibri"/>
              </a:rPr>
              <a:t>sumber</a:t>
            </a:r>
            <a:r>
              <a:rPr lang="en-US" b="1" dirty="0">
                <a:latin typeface="Calibri"/>
                <a:ea typeface="Calibri"/>
                <a:cs typeface="Calibri"/>
                <a:sym typeface="Calibri"/>
              </a:rPr>
              <a:t> internal </a:t>
            </a:r>
            <a:r>
              <a:rPr lang="en-US" b="1" dirty="0" err="1">
                <a:latin typeface="Calibri"/>
                <a:ea typeface="Calibri"/>
                <a:cs typeface="Calibri"/>
                <a:sym typeface="Calibri"/>
              </a:rPr>
              <a:t>maupun</a:t>
            </a:r>
            <a:r>
              <a:rPr lang="en-US" b="1" dirty="0">
                <a:latin typeface="Calibri"/>
                <a:ea typeface="Calibri"/>
                <a:cs typeface="Calibri"/>
                <a:sym typeface="Calibri"/>
              </a:rPr>
              <a:t> </a:t>
            </a:r>
            <a:r>
              <a:rPr lang="en-US" b="1" dirty="0" err="1">
                <a:latin typeface="Calibri"/>
                <a:ea typeface="Calibri"/>
                <a:cs typeface="Calibri"/>
                <a:sym typeface="Calibri"/>
              </a:rPr>
              <a:t>eksternal</a:t>
            </a:r>
            <a:r>
              <a:rPr lang="en-US" b="1" dirty="0">
                <a:latin typeface="Calibri"/>
                <a:ea typeface="Calibri"/>
                <a:cs typeface="Calibri"/>
                <a:sym typeface="Calibri"/>
              </a:rPr>
              <a:t> </a:t>
            </a:r>
            <a:r>
              <a:rPr lang="en-US" b="1" dirty="0" err="1">
                <a:latin typeface="Calibri"/>
                <a:ea typeface="Calibri"/>
                <a:cs typeface="Calibri"/>
                <a:sym typeface="Calibri"/>
              </a:rPr>
              <a:t>organisasi</a:t>
            </a:r>
            <a:r>
              <a:rPr lang="en-US" b="1" dirty="0">
                <a:latin typeface="Calibri"/>
                <a:ea typeface="Calibri"/>
                <a:cs typeface="Calibri"/>
                <a:sym typeface="Calibri"/>
              </a:rPr>
              <a:t> yang </a:t>
            </a:r>
            <a:r>
              <a:rPr lang="en-US" b="1" dirty="0" err="1">
                <a:latin typeface="Calibri"/>
                <a:ea typeface="Calibri"/>
                <a:cs typeface="Calibri"/>
                <a:sym typeface="Calibri"/>
              </a:rPr>
              <a:t>dapat</a:t>
            </a:r>
            <a:r>
              <a:rPr lang="en-US" b="1" dirty="0">
                <a:latin typeface="Calibri"/>
                <a:ea typeface="Calibri"/>
                <a:cs typeface="Calibri"/>
                <a:sym typeface="Calibri"/>
              </a:rPr>
              <a:t> </a:t>
            </a:r>
            <a:r>
              <a:rPr lang="en-US" b="1" dirty="0" err="1">
                <a:latin typeface="Calibri"/>
                <a:ea typeface="Calibri"/>
                <a:cs typeface="Calibri"/>
                <a:sym typeface="Calibri"/>
              </a:rPr>
              <a:t>membawa</a:t>
            </a:r>
            <a:r>
              <a:rPr lang="en-US" b="1" dirty="0">
                <a:latin typeface="Calibri"/>
                <a:ea typeface="Calibri"/>
                <a:cs typeface="Calibri"/>
                <a:sym typeface="Calibri"/>
              </a:rPr>
              <a:t> </a:t>
            </a:r>
            <a:r>
              <a:rPr lang="en-US" b="1" dirty="0" err="1">
                <a:latin typeface="Calibri"/>
                <a:ea typeface="Calibri"/>
                <a:cs typeface="Calibri"/>
                <a:sym typeface="Calibri"/>
              </a:rPr>
              <a:t>perbaikan</a:t>
            </a:r>
            <a:r>
              <a:rPr lang="en-US" b="1" dirty="0">
                <a:latin typeface="Calibri"/>
                <a:ea typeface="Calibri"/>
                <a:cs typeface="Calibri"/>
                <a:sym typeface="Calibri"/>
              </a:rPr>
              <a:t> pada proses </a:t>
            </a:r>
            <a:r>
              <a:rPr lang="en-US" b="1" dirty="0" err="1">
                <a:latin typeface="Calibri"/>
                <a:ea typeface="Calibri"/>
                <a:cs typeface="Calibri"/>
                <a:sym typeface="Calibri"/>
              </a:rPr>
              <a:t>bisnis</a:t>
            </a:r>
            <a:r>
              <a:rPr lang="en-US" b="1" dirty="0">
                <a:latin typeface="Calibri"/>
                <a:ea typeface="Calibri"/>
                <a:cs typeface="Calibri"/>
                <a:sym typeface="Calibri"/>
              </a:rPr>
              <a:t> </a:t>
            </a:r>
            <a:r>
              <a:rPr lang="en-US" b="1" dirty="0" err="1">
                <a:latin typeface="Calibri"/>
                <a:ea typeface="Calibri"/>
                <a:cs typeface="Calibri"/>
                <a:sym typeface="Calibri"/>
              </a:rPr>
              <a:t>melalui</a:t>
            </a:r>
            <a:r>
              <a:rPr lang="en-US" b="1" dirty="0">
                <a:latin typeface="Calibri"/>
                <a:ea typeface="Calibri"/>
                <a:cs typeface="Calibri"/>
                <a:sym typeface="Calibri"/>
              </a:rPr>
              <a:t> </a:t>
            </a:r>
            <a:r>
              <a:rPr lang="en-US" b="1" dirty="0" err="1">
                <a:latin typeface="Calibri"/>
                <a:ea typeface="Calibri"/>
                <a:cs typeface="Calibri"/>
                <a:sym typeface="Calibri"/>
              </a:rPr>
              <a:t>solusi</a:t>
            </a:r>
            <a:r>
              <a:rPr lang="en-US" b="1" dirty="0">
                <a:latin typeface="Calibri"/>
                <a:ea typeface="Calibri"/>
                <a:cs typeface="Calibri"/>
                <a:sym typeface="Calibri"/>
              </a:rPr>
              <a:t> AI yang </a:t>
            </a:r>
            <a:r>
              <a:rPr lang="en-US" b="1" dirty="0" err="1">
                <a:latin typeface="Calibri"/>
                <a:ea typeface="Calibri"/>
                <a:cs typeface="Calibri"/>
                <a:sym typeface="Calibri"/>
              </a:rPr>
              <a:t>dibangun</a:t>
            </a:r>
            <a:r>
              <a:rPr lang="en-US" b="1" dirty="0">
                <a:latin typeface="Calibri"/>
                <a:ea typeface="Calibri"/>
                <a:cs typeface="Calibri"/>
                <a:sym typeface="Calibri"/>
              </a:rPr>
              <a:t>.</a:t>
            </a:r>
            <a:r>
              <a:rPr lang="en-US" dirty="0">
                <a:latin typeface="Calibri"/>
                <a:ea typeface="Calibri"/>
                <a:cs typeface="Calibri"/>
                <a:sym typeface="Calibri"/>
              </a:rPr>
              <a:t> Data-data </a:t>
            </a:r>
            <a:r>
              <a:rPr lang="en-US" dirty="0" err="1">
                <a:latin typeface="Calibri"/>
                <a:ea typeface="Calibri"/>
                <a:cs typeface="Calibri"/>
                <a:sym typeface="Calibri"/>
              </a:rPr>
              <a:t>ini</a:t>
            </a:r>
            <a:r>
              <a:rPr lang="en-US" dirty="0">
                <a:latin typeface="Calibri"/>
                <a:ea typeface="Calibri"/>
                <a:cs typeface="Calibri"/>
                <a:sym typeface="Calibri"/>
              </a:rPr>
              <a:t> </a:t>
            </a:r>
            <a:r>
              <a:rPr lang="en-US" dirty="0" err="1">
                <a:latin typeface="Calibri"/>
                <a:ea typeface="Calibri"/>
                <a:cs typeface="Calibri"/>
                <a:sym typeface="Calibri"/>
              </a:rPr>
              <a:t>kemudian</a:t>
            </a:r>
            <a:r>
              <a:rPr lang="en-US" dirty="0">
                <a:latin typeface="Calibri"/>
                <a:ea typeface="Calibri"/>
                <a:cs typeface="Calibri"/>
                <a:sym typeface="Calibri"/>
              </a:rPr>
              <a:t> </a:t>
            </a:r>
            <a:r>
              <a:rPr lang="en-US" dirty="0" err="1">
                <a:latin typeface="Calibri"/>
                <a:ea typeface="Calibri"/>
                <a:cs typeface="Calibri"/>
                <a:sym typeface="Calibri"/>
              </a:rPr>
              <a:t>dapat</a:t>
            </a:r>
            <a:r>
              <a:rPr lang="en-US" dirty="0">
                <a:latin typeface="Calibri"/>
                <a:ea typeface="Calibri"/>
                <a:cs typeface="Calibri"/>
                <a:sym typeface="Calibri"/>
              </a:rPr>
              <a:t> pula </a:t>
            </a:r>
            <a:r>
              <a:rPr lang="en-US" dirty="0" err="1">
                <a:latin typeface="Calibri"/>
                <a:ea typeface="Calibri"/>
                <a:cs typeface="Calibri"/>
                <a:sym typeface="Calibri"/>
              </a:rPr>
              <a:t>dikumpulkan</a:t>
            </a:r>
            <a:r>
              <a:rPr lang="en-US" dirty="0">
                <a:latin typeface="Calibri"/>
                <a:ea typeface="Calibri"/>
                <a:cs typeface="Calibri"/>
                <a:sym typeface="Calibri"/>
              </a:rPr>
              <a:t> dan </a:t>
            </a:r>
            <a:r>
              <a:rPr lang="en-US" dirty="0" err="1">
                <a:latin typeface="Calibri"/>
                <a:ea typeface="Calibri"/>
                <a:cs typeface="Calibri"/>
                <a:sym typeface="Calibri"/>
              </a:rPr>
              <a:t>dijadikan</a:t>
            </a:r>
            <a:r>
              <a:rPr lang="en-US" dirty="0">
                <a:latin typeface="Calibri"/>
                <a:ea typeface="Calibri"/>
                <a:cs typeface="Calibri"/>
                <a:sym typeface="Calibri"/>
              </a:rPr>
              <a:t> </a:t>
            </a:r>
            <a:r>
              <a:rPr lang="en-US" dirty="0" err="1">
                <a:latin typeface="Calibri"/>
                <a:ea typeface="Calibri"/>
                <a:cs typeface="Calibri"/>
                <a:sym typeface="Calibri"/>
              </a:rPr>
              <a:t>bahan</a:t>
            </a:r>
            <a:r>
              <a:rPr lang="en-US" dirty="0">
                <a:latin typeface="Calibri"/>
                <a:ea typeface="Calibri"/>
                <a:cs typeface="Calibri"/>
                <a:sym typeface="Calibri"/>
              </a:rPr>
              <a:t> </a:t>
            </a:r>
            <a:r>
              <a:rPr lang="en-US" dirty="0" err="1">
                <a:latin typeface="Calibri"/>
                <a:ea typeface="Calibri"/>
                <a:cs typeface="Calibri"/>
                <a:sym typeface="Calibri"/>
              </a:rPr>
              <a:t>pengembangan</a:t>
            </a:r>
            <a:r>
              <a:rPr lang="en-US" dirty="0">
                <a:latin typeface="Calibri"/>
                <a:ea typeface="Calibri"/>
                <a:cs typeface="Calibri"/>
                <a:sym typeface="Calibri"/>
              </a:rPr>
              <a:t> </a:t>
            </a:r>
            <a:r>
              <a:rPr lang="en-US" dirty="0" err="1">
                <a:latin typeface="Calibri"/>
                <a:ea typeface="Calibri"/>
                <a:cs typeface="Calibri"/>
                <a:sym typeface="Calibri"/>
              </a:rPr>
              <a:t>solusi</a:t>
            </a:r>
            <a:r>
              <a:rPr lang="en-US" dirty="0">
                <a:latin typeface="Calibri"/>
                <a:ea typeface="Calibri"/>
                <a:cs typeface="Calibri"/>
                <a:sym typeface="Calibri"/>
              </a:rPr>
              <a:t> AI </a:t>
            </a:r>
            <a:r>
              <a:rPr lang="en-US" dirty="0" err="1">
                <a:latin typeface="Calibri"/>
                <a:ea typeface="Calibri"/>
                <a:cs typeface="Calibri"/>
                <a:sym typeface="Calibri"/>
              </a:rPr>
              <a:t>tersebut</a:t>
            </a:r>
            <a:r>
              <a:rPr lang="en-US" dirty="0">
                <a:latin typeface="Calibri"/>
                <a:ea typeface="Calibri"/>
                <a:cs typeface="Calibri"/>
                <a:sym typeface="Calibri"/>
              </a:rPr>
              <a:t> </a:t>
            </a:r>
            <a:r>
              <a:rPr lang="en-US" dirty="0" err="1">
                <a:latin typeface="Calibri"/>
                <a:ea typeface="Calibri"/>
                <a:cs typeface="Calibri"/>
                <a:sym typeface="Calibri"/>
              </a:rPr>
              <a:t>apabila</a:t>
            </a:r>
            <a:r>
              <a:rPr lang="en-US" dirty="0">
                <a:latin typeface="Calibri"/>
                <a:ea typeface="Calibri"/>
                <a:cs typeface="Calibri"/>
                <a:sym typeface="Calibri"/>
              </a:rPr>
              <a:t> </a:t>
            </a:r>
            <a:r>
              <a:rPr lang="en-US" dirty="0" err="1">
                <a:latin typeface="Calibri"/>
                <a:ea typeface="Calibri"/>
                <a:cs typeface="Calibri"/>
                <a:sym typeface="Calibri"/>
              </a:rPr>
              <a:t>manfaat</a:t>
            </a:r>
            <a:r>
              <a:rPr lang="en-US" dirty="0">
                <a:latin typeface="Calibri"/>
                <a:ea typeface="Calibri"/>
                <a:cs typeface="Calibri"/>
                <a:sym typeface="Calibri"/>
              </a:rPr>
              <a:t> </a:t>
            </a:r>
            <a:r>
              <a:rPr lang="en-US" dirty="0" err="1">
                <a:latin typeface="Calibri"/>
                <a:ea typeface="Calibri"/>
                <a:cs typeface="Calibri"/>
                <a:sym typeface="Calibri"/>
              </a:rPr>
              <a:t>penggunaannya</a:t>
            </a:r>
            <a:r>
              <a:rPr lang="en-US" dirty="0">
                <a:latin typeface="Calibri"/>
                <a:ea typeface="Calibri"/>
                <a:cs typeface="Calibri"/>
                <a:sym typeface="Calibri"/>
              </a:rPr>
              <a:t> </a:t>
            </a:r>
            <a:r>
              <a:rPr lang="en-US" dirty="0" err="1">
                <a:latin typeface="Calibri"/>
                <a:ea typeface="Calibri"/>
                <a:cs typeface="Calibri"/>
                <a:sym typeface="Calibri"/>
              </a:rPr>
              <a:t>melebihi</a:t>
            </a:r>
            <a:r>
              <a:rPr lang="en-US" dirty="0">
                <a:latin typeface="Calibri"/>
                <a:ea typeface="Calibri"/>
                <a:cs typeface="Calibri"/>
                <a:sym typeface="Calibri"/>
              </a:rPr>
              <a:t> </a:t>
            </a:r>
            <a:r>
              <a:rPr lang="en-US" dirty="0" err="1">
                <a:latin typeface="Calibri"/>
                <a:ea typeface="Calibri"/>
                <a:cs typeface="Calibri"/>
                <a:sym typeface="Calibri"/>
              </a:rPr>
              <a:t>biaya</a:t>
            </a:r>
            <a:r>
              <a:rPr lang="en-US" dirty="0">
                <a:latin typeface="Calibri"/>
                <a:ea typeface="Calibri"/>
                <a:cs typeface="Calibri"/>
                <a:sym typeface="Calibri"/>
              </a:rPr>
              <a:t> dan </a:t>
            </a:r>
            <a:r>
              <a:rPr lang="en-US" dirty="0" err="1">
                <a:latin typeface="Calibri"/>
                <a:ea typeface="Calibri"/>
                <a:cs typeface="Calibri"/>
                <a:sym typeface="Calibri"/>
              </a:rPr>
              <a:t>usaha</a:t>
            </a:r>
            <a:r>
              <a:rPr lang="en-US" dirty="0">
                <a:latin typeface="Calibri"/>
                <a:ea typeface="Calibri"/>
                <a:cs typeface="Calibri"/>
                <a:sym typeface="Calibri"/>
              </a:rPr>
              <a:t> yang </a:t>
            </a:r>
            <a:r>
              <a:rPr lang="en-US" dirty="0" err="1">
                <a:latin typeface="Calibri"/>
                <a:ea typeface="Calibri"/>
                <a:cs typeface="Calibri"/>
                <a:sym typeface="Calibri"/>
              </a:rPr>
              <a:t>harus</a:t>
            </a:r>
            <a:r>
              <a:rPr lang="en-US" dirty="0">
                <a:latin typeface="Calibri"/>
                <a:ea typeface="Calibri"/>
                <a:cs typeface="Calibri"/>
                <a:sym typeface="Calibri"/>
              </a:rPr>
              <a:t> </a:t>
            </a:r>
            <a:r>
              <a:rPr lang="en-US" dirty="0" err="1">
                <a:latin typeface="Calibri"/>
                <a:ea typeface="Calibri"/>
                <a:cs typeface="Calibri"/>
                <a:sym typeface="Calibri"/>
              </a:rPr>
              <a:t>dikeluarkan</a:t>
            </a:r>
            <a:r>
              <a:rPr lang="en-US" dirty="0">
                <a:latin typeface="Calibri"/>
                <a:ea typeface="Calibri"/>
                <a:cs typeface="Calibri"/>
                <a:sym typeface="Calibri"/>
              </a:rPr>
              <a:t> </a:t>
            </a:r>
            <a:r>
              <a:rPr lang="en-US" dirty="0" err="1">
                <a:latin typeface="Calibri"/>
                <a:ea typeface="Calibri"/>
                <a:cs typeface="Calibri"/>
                <a:sym typeface="Calibri"/>
              </a:rPr>
              <a:t>untuk</a:t>
            </a:r>
            <a:r>
              <a:rPr lang="en-US" dirty="0">
                <a:latin typeface="Calibri"/>
                <a:ea typeface="Calibri"/>
                <a:cs typeface="Calibri"/>
                <a:sym typeface="Calibri"/>
              </a:rPr>
              <a:t> </a:t>
            </a:r>
            <a:r>
              <a:rPr lang="en-US" dirty="0" err="1">
                <a:latin typeface="Calibri"/>
                <a:ea typeface="Calibri"/>
                <a:cs typeface="Calibri"/>
                <a:sym typeface="Calibri"/>
              </a:rPr>
              <a:t>mendapatkannya</a:t>
            </a:r>
            <a:r>
              <a:rPr lang="en-US" dirty="0">
                <a:latin typeface="Calibri"/>
                <a:ea typeface="Calibri"/>
                <a:cs typeface="Calibri"/>
                <a:sym typeface="Calibri"/>
              </a:rPr>
              <a:t>.</a:t>
            </a:r>
            <a:endParaRPr lang="en-US" dirty="0"/>
          </a:p>
          <a:p>
            <a:pPr marL="182880" lvl="0" indent="-182880" algn="just">
              <a:lnSpc>
                <a:spcPct val="125000"/>
              </a:lnSpc>
              <a:spcBef>
                <a:spcPts val="600"/>
              </a:spcBef>
              <a:spcAft>
                <a:spcPts val="600"/>
              </a:spcAft>
              <a:buSzPts val="1100"/>
              <a:buChar char="●"/>
            </a:pPr>
            <a:r>
              <a:rPr lang="en-US" dirty="0" err="1">
                <a:latin typeface="Calibri"/>
                <a:ea typeface="Calibri"/>
                <a:cs typeface="Calibri"/>
                <a:sym typeface="Calibri"/>
              </a:rPr>
              <a:t>Realisasi</a:t>
            </a:r>
            <a:r>
              <a:rPr lang="en-US" dirty="0">
                <a:latin typeface="Calibri"/>
                <a:ea typeface="Calibri"/>
                <a:cs typeface="Calibri"/>
                <a:sym typeface="Calibri"/>
              </a:rPr>
              <a:t> </a:t>
            </a:r>
            <a:r>
              <a:rPr lang="en-US" dirty="0" err="1">
                <a:latin typeface="Calibri"/>
                <a:ea typeface="Calibri"/>
                <a:cs typeface="Calibri"/>
                <a:sym typeface="Calibri"/>
              </a:rPr>
              <a:t>keempat</a:t>
            </a:r>
            <a:r>
              <a:rPr lang="en-US" dirty="0">
                <a:latin typeface="Calibri"/>
                <a:ea typeface="Calibri"/>
                <a:cs typeface="Calibri"/>
                <a:sym typeface="Calibri"/>
              </a:rPr>
              <a:t> </a:t>
            </a:r>
            <a:r>
              <a:rPr lang="en-US" dirty="0" err="1">
                <a:latin typeface="Calibri"/>
                <a:ea typeface="Calibri"/>
                <a:cs typeface="Calibri"/>
                <a:sym typeface="Calibri"/>
              </a:rPr>
              <a:t>langkah</a:t>
            </a:r>
            <a:r>
              <a:rPr lang="en-US" dirty="0">
                <a:latin typeface="Calibri"/>
                <a:ea typeface="Calibri"/>
                <a:cs typeface="Calibri"/>
                <a:sym typeface="Calibri"/>
              </a:rPr>
              <a:t> di </a:t>
            </a:r>
            <a:r>
              <a:rPr lang="en-US" dirty="0" err="1">
                <a:latin typeface="Calibri"/>
                <a:ea typeface="Calibri"/>
                <a:cs typeface="Calibri"/>
                <a:sym typeface="Calibri"/>
              </a:rPr>
              <a:t>atas</a:t>
            </a:r>
            <a:r>
              <a:rPr lang="en-US" dirty="0">
                <a:latin typeface="Calibri"/>
                <a:ea typeface="Calibri"/>
                <a:cs typeface="Calibri"/>
                <a:sym typeface="Calibri"/>
              </a:rPr>
              <a:t> </a:t>
            </a:r>
            <a:r>
              <a:rPr lang="en-US" dirty="0" err="1">
                <a:latin typeface="Calibri"/>
                <a:ea typeface="Calibri"/>
                <a:cs typeface="Calibri"/>
                <a:sym typeface="Calibri"/>
              </a:rPr>
              <a:t>membutuhkan</a:t>
            </a:r>
            <a:r>
              <a:rPr lang="en-US" dirty="0">
                <a:latin typeface="Calibri"/>
                <a:ea typeface="Calibri"/>
                <a:cs typeface="Calibri"/>
                <a:sym typeface="Calibri"/>
              </a:rPr>
              <a:t> </a:t>
            </a:r>
            <a:r>
              <a:rPr lang="en-US" dirty="0" err="1">
                <a:latin typeface="Calibri"/>
                <a:ea typeface="Calibri"/>
                <a:cs typeface="Calibri"/>
                <a:sym typeface="Calibri"/>
              </a:rPr>
              <a:t>penguasaan</a:t>
            </a:r>
            <a:r>
              <a:rPr lang="en-US" dirty="0">
                <a:latin typeface="Calibri"/>
                <a:ea typeface="Calibri"/>
                <a:cs typeface="Calibri"/>
                <a:sym typeface="Calibri"/>
              </a:rPr>
              <a:t> </a:t>
            </a:r>
            <a:r>
              <a:rPr lang="en-US" dirty="0" err="1">
                <a:latin typeface="Calibri"/>
                <a:ea typeface="Calibri"/>
                <a:cs typeface="Calibri"/>
                <a:sym typeface="Calibri"/>
              </a:rPr>
              <a:t>teknik-teknik</a:t>
            </a:r>
            <a:r>
              <a:rPr lang="en-US" dirty="0">
                <a:latin typeface="Calibri"/>
                <a:ea typeface="Calibri"/>
                <a:cs typeface="Calibri"/>
                <a:sym typeface="Calibri"/>
              </a:rPr>
              <a:t> </a:t>
            </a:r>
            <a:r>
              <a:rPr lang="en-US" i="1" dirty="0" err="1">
                <a:latin typeface="Calibri"/>
                <a:ea typeface="Calibri"/>
                <a:cs typeface="Calibri"/>
                <a:sym typeface="Calibri"/>
              </a:rPr>
              <a:t>pengambilan</a:t>
            </a:r>
            <a:r>
              <a:rPr lang="en-US" i="1" dirty="0">
                <a:latin typeface="Calibri"/>
                <a:ea typeface="Calibri"/>
                <a:cs typeface="Calibri"/>
                <a:sym typeface="Calibri"/>
              </a:rPr>
              <a:t> data</a:t>
            </a:r>
            <a:r>
              <a:rPr lang="en-US" dirty="0">
                <a:latin typeface="Calibri"/>
                <a:ea typeface="Calibri"/>
                <a:cs typeface="Calibri"/>
                <a:sym typeface="Calibri"/>
              </a:rPr>
              <a:t> </a:t>
            </a:r>
            <a:r>
              <a:rPr lang="en-US" dirty="0" err="1">
                <a:latin typeface="Calibri"/>
                <a:ea typeface="Calibri"/>
                <a:cs typeface="Calibri"/>
                <a:sym typeface="Calibri"/>
              </a:rPr>
              <a:t>serta</a:t>
            </a:r>
            <a:r>
              <a:rPr lang="en-US" dirty="0">
                <a:latin typeface="Calibri"/>
                <a:ea typeface="Calibri"/>
                <a:cs typeface="Calibri"/>
                <a:sym typeface="Calibri"/>
              </a:rPr>
              <a:t> </a:t>
            </a:r>
            <a:r>
              <a:rPr lang="en-US" i="1" dirty="0" err="1">
                <a:latin typeface="Calibri"/>
                <a:ea typeface="Calibri"/>
                <a:cs typeface="Calibri"/>
                <a:sym typeface="Calibri"/>
              </a:rPr>
              <a:t>telaah</a:t>
            </a:r>
            <a:r>
              <a:rPr lang="en-US" i="1" dirty="0">
                <a:latin typeface="Calibri"/>
                <a:ea typeface="Calibri"/>
                <a:cs typeface="Calibri"/>
                <a:sym typeface="Calibri"/>
              </a:rPr>
              <a:t> data</a:t>
            </a:r>
            <a:r>
              <a:rPr lang="en-US" dirty="0">
                <a:latin typeface="Calibri"/>
                <a:ea typeface="Calibri"/>
                <a:cs typeface="Calibri"/>
                <a:sym typeface="Calibri"/>
              </a:rPr>
              <a:t>. Langkah </a:t>
            </a:r>
            <a:r>
              <a:rPr lang="en-US" dirty="0" err="1">
                <a:latin typeface="Calibri"/>
                <a:ea typeface="Calibri"/>
                <a:cs typeface="Calibri"/>
                <a:sym typeface="Calibri"/>
              </a:rPr>
              <a:t>pertama</a:t>
            </a:r>
            <a:r>
              <a:rPr lang="en-US" dirty="0">
                <a:latin typeface="Calibri"/>
                <a:ea typeface="Calibri"/>
                <a:cs typeface="Calibri"/>
                <a:sym typeface="Calibri"/>
              </a:rPr>
              <a:t>, </a:t>
            </a:r>
            <a:r>
              <a:rPr lang="en-US" dirty="0" err="1">
                <a:latin typeface="Calibri"/>
                <a:ea typeface="Calibri"/>
                <a:cs typeface="Calibri"/>
                <a:sym typeface="Calibri"/>
              </a:rPr>
              <a:t>kedua</a:t>
            </a:r>
            <a:r>
              <a:rPr lang="en-US" dirty="0">
                <a:latin typeface="Calibri"/>
                <a:ea typeface="Calibri"/>
                <a:cs typeface="Calibri"/>
                <a:sym typeface="Calibri"/>
              </a:rPr>
              <a:t>, dan </a:t>
            </a:r>
            <a:r>
              <a:rPr lang="en-US" dirty="0" err="1">
                <a:latin typeface="Calibri"/>
                <a:ea typeface="Calibri"/>
                <a:cs typeface="Calibri"/>
                <a:sym typeface="Calibri"/>
              </a:rPr>
              <a:t>keempat</a:t>
            </a:r>
            <a:r>
              <a:rPr lang="en-US" dirty="0">
                <a:latin typeface="Calibri"/>
                <a:ea typeface="Calibri"/>
                <a:cs typeface="Calibri"/>
                <a:sym typeface="Calibri"/>
              </a:rPr>
              <a:t> </a:t>
            </a:r>
            <a:r>
              <a:rPr lang="en-US" dirty="0" err="1">
                <a:latin typeface="Calibri"/>
                <a:ea typeface="Calibri"/>
                <a:cs typeface="Calibri"/>
                <a:sym typeface="Calibri"/>
              </a:rPr>
              <a:t>banyak</a:t>
            </a:r>
            <a:r>
              <a:rPr lang="en-US" dirty="0">
                <a:latin typeface="Calibri"/>
                <a:ea typeface="Calibri"/>
                <a:cs typeface="Calibri"/>
                <a:sym typeface="Calibri"/>
              </a:rPr>
              <a:t> </a:t>
            </a:r>
            <a:r>
              <a:rPr lang="en-US" dirty="0" err="1">
                <a:latin typeface="Calibri"/>
                <a:ea typeface="Calibri"/>
                <a:cs typeface="Calibri"/>
                <a:sym typeface="Calibri"/>
              </a:rPr>
              <a:t>melibatkan</a:t>
            </a:r>
            <a:r>
              <a:rPr lang="en-US" dirty="0">
                <a:latin typeface="Calibri"/>
                <a:ea typeface="Calibri"/>
                <a:cs typeface="Calibri"/>
                <a:sym typeface="Calibri"/>
              </a:rPr>
              <a:t> </a:t>
            </a:r>
            <a:r>
              <a:rPr lang="en-US" dirty="0" err="1">
                <a:latin typeface="Calibri"/>
                <a:ea typeface="Calibri"/>
                <a:cs typeface="Calibri"/>
                <a:sym typeface="Calibri"/>
              </a:rPr>
              <a:t>teknik-teknik</a:t>
            </a:r>
            <a:r>
              <a:rPr lang="en-US" dirty="0">
                <a:latin typeface="Calibri"/>
                <a:ea typeface="Calibri"/>
                <a:cs typeface="Calibri"/>
                <a:sym typeface="Calibri"/>
              </a:rPr>
              <a:t> </a:t>
            </a:r>
            <a:r>
              <a:rPr lang="en-US" dirty="0" err="1">
                <a:latin typeface="Calibri"/>
                <a:ea typeface="Calibri"/>
                <a:cs typeface="Calibri"/>
                <a:sym typeface="Calibri"/>
              </a:rPr>
              <a:t>pengambilan</a:t>
            </a:r>
            <a:r>
              <a:rPr lang="en-US" dirty="0">
                <a:latin typeface="Calibri"/>
                <a:ea typeface="Calibri"/>
                <a:cs typeface="Calibri"/>
                <a:sym typeface="Calibri"/>
              </a:rPr>
              <a:t> data, </a:t>
            </a:r>
            <a:r>
              <a:rPr lang="en-US" dirty="0" err="1">
                <a:latin typeface="Calibri"/>
                <a:ea typeface="Calibri"/>
                <a:cs typeface="Calibri"/>
                <a:sym typeface="Calibri"/>
              </a:rPr>
              <a:t>sementara</a:t>
            </a:r>
            <a:r>
              <a:rPr lang="en-US" dirty="0">
                <a:latin typeface="Calibri"/>
                <a:ea typeface="Calibri"/>
                <a:cs typeface="Calibri"/>
                <a:sym typeface="Calibri"/>
              </a:rPr>
              <a:t> </a:t>
            </a:r>
            <a:r>
              <a:rPr lang="en-US" dirty="0" err="1">
                <a:latin typeface="Calibri"/>
                <a:ea typeface="Calibri"/>
                <a:cs typeface="Calibri"/>
                <a:sym typeface="Calibri"/>
              </a:rPr>
              <a:t>langkah</a:t>
            </a:r>
            <a:r>
              <a:rPr lang="en-US" dirty="0">
                <a:latin typeface="Calibri"/>
                <a:ea typeface="Calibri"/>
                <a:cs typeface="Calibri"/>
                <a:sym typeface="Calibri"/>
              </a:rPr>
              <a:t> </a:t>
            </a:r>
            <a:r>
              <a:rPr lang="en-US" dirty="0" err="1">
                <a:latin typeface="Calibri"/>
                <a:ea typeface="Calibri"/>
                <a:cs typeface="Calibri"/>
                <a:sym typeface="Calibri"/>
              </a:rPr>
              <a:t>ketiga</a:t>
            </a:r>
            <a:r>
              <a:rPr lang="en-US" dirty="0">
                <a:latin typeface="Calibri"/>
                <a:ea typeface="Calibri"/>
                <a:cs typeface="Calibri"/>
                <a:sym typeface="Calibri"/>
              </a:rPr>
              <a:t> </a:t>
            </a:r>
            <a:r>
              <a:rPr lang="en-US" dirty="0" err="1">
                <a:latin typeface="Calibri"/>
                <a:ea typeface="Calibri"/>
                <a:cs typeface="Calibri"/>
                <a:sym typeface="Calibri"/>
              </a:rPr>
              <a:t>dapat</a:t>
            </a:r>
            <a:r>
              <a:rPr lang="en-US" dirty="0">
                <a:latin typeface="Calibri"/>
                <a:ea typeface="Calibri"/>
                <a:cs typeface="Calibri"/>
                <a:sym typeface="Calibri"/>
              </a:rPr>
              <a:t> </a:t>
            </a:r>
            <a:r>
              <a:rPr lang="en-US" dirty="0" err="1">
                <a:latin typeface="Calibri"/>
                <a:ea typeface="Calibri"/>
                <a:cs typeface="Calibri"/>
                <a:sym typeface="Calibri"/>
              </a:rPr>
              <a:t>direalisasikan</a:t>
            </a:r>
            <a:r>
              <a:rPr lang="en-US" dirty="0">
                <a:latin typeface="Calibri"/>
                <a:ea typeface="Calibri"/>
                <a:cs typeface="Calibri"/>
                <a:sym typeface="Calibri"/>
              </a:rPr>
              <a:t> </a:t>
            </a:r>
            <a:r>
              <a:rPr lang="en-US" dirty="0" err="1">
                <a:latin typeface="Calibri"/>
                <a:ea typeface="Calibri"/>
                <a:cs typeface="Calibri"/>
                <a:sym typeface="Calibri"/>
              </a:rPr>
              <a:t>dengan</a:t>
            </a:r>
            <a:r>
              <a:rPr lang="en-US" dirty="0">
                <a:latin typeface="Calibri"/>
                <a:ea typeface="Calibri"/>
                <a:cs typeface="Calibri"/>
                <a:sym typeface="Calibri"/>
              </a:rPr>
              <a:t> </a:t>
            </a:r>
            <a:r>
              <a:rPr lang="en-US" dirty="0" err="1">
                <a:latin typeface="Calibri"/>
                <a:ea typeface="Calibri"/>
                <a:cs typeface="Calibri"/>
                <a:sym typeface="Calibri"/>
              </a:rPr>
              <a:t>bantuan</a:t>
            </a:r>
            <a:r>
              <a:rPr lang="en-US" dirty="0">
                <a:latin typeface="Calibri"/>
                <a:ea typeface="Calibri"/>
                <a:cs typeface="Calibri"/>
                <a:sym typeface="Calibri"/>
              </a:rPr>
              <a:t> </a:t>
            </a:r>
            <a:r>
              <a:rPr lang="en-US" dirty="0" err="1">
                <a:latin typeface="Calibri"/>
                <a:ea typeface="Calibri"/>
                <a:cs typeface="Calibri"/>
                <a:sym typeface="Calibri"/>
              </a:rPr>
              <a:t>teknik-teknik</a:t>
            </a:r>
            <a:r>
              <a:rPr lang="en-US" dirty="0">
                <a:latin typeface="Calibri"/>
                <a:ea typeface="Calibri"/>
                <a:cs typeface="Calibri"/>
                <a:sym typeface="Calibri"/>
              </a:rPr>
              <a:t> </a:t>
            </a:r>
            <a:r>
              <a:rPr lang="en-US" dirty="0" err="1">
                <a:latin typeface="Calibri"/>
                <a:ea typeface="Calibri"/>
                <a:cs typeface="Calibri"/>
                <a:sym typeface="Calibri"/>
              </a:rPr>
              <a:t>telaah</a:t>
            </a:r>
            <a:r>
              <a:rPr lang="en-US" dirty="0">
                <a:latin typeface="Calibri"/>
                <a:ea typeface="Calibri"/>
                <a:cs typeface="Calibri"/>
                <a:sym typeface="Calibri"/>
              </a:rPr>
              <a:t> data. Teknik-</a:t>
            </a:r>
            <a:r>
              <a:rPr lang="en-US" dirty="0" err="1">
                <a:latin typeface="Calibri"/>
                <a:ea typeface="Calibri"/>
                <a:cs typeface="Calibri"/>
                <a:sym typeface="Calibri"/>
              </a:rPr>
              <a:t>teknik</a:t>
            </a:r>
            <a:r>
              <a:rPr lang="en-US" dirty="0">
                <a:latin typeface="Calibri"/>
                <a:ea typeface="Calibri"/>
                <a:cs typeface="Calibri"/>
                <a:sym typeface="Calibri"/>
              </a:rPr>
              <a:t> </a:t>
            </a:r>
            <a:r>
              <a:rPr lang="en-US" dirty="0" err="1">
                <a:latin typeface="Calibri"/>
                <a:ea typeface="Calibri"/>
                <a:cs typeface="Calibri"/>
                <a:sym typeface="Calibri"/>
              </a:rPr>
              <a:t>telaah</a:t>
            </a:r>
            <a:r>
              <a:rPr lang="en-US" dirty="0">
                <a:latin typeface="Calibri"/>
                <a:ea typeface="Calibri"/>
                <a:cs typeface="Calibri"/>
                <a:sym typeface="Calibri"/>
              </a:rPr>
              <a:t> data </a:t>
            </a:r>
            <a:r>
              <a:rPr lang="en-US" dirty="0" err="1">
                <a:latin typeface="Calibri"/>
                <a:ea typeface="Calibri"/>
                <a:cs typeface="Calibri"/>
                <a:sym typeface="Calibri"/>
              </a:rPr>
              <a:t>menggunakan</a:t>
            </a:r>
            <a:r>
              <a:rPr lang="en-US" dirty="0">
                <a:latin typeface="Calibri"/>
                <a:ea typeface="Calibri"/>
                <a:cs typeface="Calibri"/>
                <a:sym typeface="Calibri"/>
              </a:rPr>
              <a:t> </a:t>
            </a:r>
            <a:r>
              <a:rPr lang="en-US" dirty="0" err="1">
                <a:latin typeface="Calibri"/>
                <a:ea typeface="Calibri"/>
                <a:cs typeface="Calibri"/>
                <a:sym typeface="Calibri"/>
              </a:rPr>
              <a:t>metode-metode</a:t>
            </a:r>
            <a:r>
              <a:rPr lang="en-US" dirty="0">
                <a:latin typeface="Calibri"/>
                <a:ea typeface="Calibri"/>
                <a:cs typeface="Calibri"/>
                <a:sym typeface="Calibri"/>
              </a:rPr>
              <a:t> </a:t>
            </a:r>
            <a:r>
              <a:rPr lang="en-US" dirty="0" err="1">
                <a:latin typeface="Calibri"/>
                <a:ea typeface="Calibri"/>
                <a:cs typeface="Calibri"/>
                <a:sym typeface="Calibri"/>
              </a:rPr>
              <a:t>statistika</a:t>
            </a:r>
            <a:r>
              <a:rPr lang="en-US" dirty="0">
                <a:latin typeface="Calibri"/>
                <a:ea typeface="Calibri"/>
                <a:cs typeface="Calibri"/>
                <a:sym typeface="Calibri"/>
              </a:rPr>
              <a:t> </a:t>
            </a:r>
            <a:r>
              <a:rPr lang="en-US" dirty="0" err="1">
                <a:latin typeface="Calibri"/>
                <a:ea typeface="Calibri"/>
                <a:cs typeface="Calibri"/>
                <a:sym typeface="Calibri"/>
              </a:rPr>
              <a:t>serta</a:t>
            </a:r>
            <a:r>
              <a:rPr lang="en-US" dirty="0">
                <a:latin typeface="Calibri"/>
                <a:ea typeface="Calibri"/>
                <a:cs typeface="Calibri"/>
                <a:sym typeface="Calibri"/>
              </a:rPr>
              <a:t> </a:t>
            </a:r>
            <a:r>
              <a:rPr lang="en-US" dirty="0" err="1">
                <a:latin typeface="Calibri"/>
                <a:ea typeface="Calibri"/>
                <a:cs typeface="Calibri"/>
                <a:sym typeface="Calibri"/>
              </a:rPr>
              <a:t>visualisasi</a:t>
            </a:r>
            <a:r>
              <a:rPr lang="en-US" dirty="0">
                <a:latin typeface="Calibri"/>
                <a:ea typeface="Calibri"/>
                <a:cs typeface="Calibri"/>
                <a:sym typeface="Calibri"/>
              </a:rPr>
              <a:t>. </a:t>
            </a:r>
            <a:endParaRPr lang="en-US" dirty="0"/>
          </a:p>
        </p:txBody>
      </p:sp>
    </p:spTree>
    <p:extLst>
      <p:ext uri="{BB962C8B-B14F-4D97-AF65-F5344CB8AC3E}">
        <p14:creationId xmlns:p14="http://schemas.microsoft.com/office/powerpoint/2010/main" val="955737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3C921-36CE-36C4-C89A-10EEAB7A7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12D01-A439-57AF-F101-2BB2F7C8FA36}"/>
              </a:ext>
            </a:extLst>
          </p:cNvPr>
          <p:cNvSpPr>
            <a:spLocks noGrp="1"/>
          </p:cNvSpPr>
          <p:nvPr>
            <p:ph type="title"/>
          </p:nvPr>
        </p:nvSpPr>
        <p:spPr>
          <a:xfrm>
            <a:off x="838200" y="365125"/>
            <a:ext cx="10515600" cy="904875"/>
          </a:xfrm>
        </p:spPr>
        <p:txBody>
          <a:bodyPr/>
          <a:lstStyle/>
          <a:p>
            <a:r>
              <a:rPr lang="en-US" dirty="0"/>
              <a:t>Data understanding</a:t>
            </a:r>
          </a:p>
        </p:txBody>
      </p:sp>
      <p:sp>
        <p:nvSpPr>
          <p:cNvPr id="7" name="Google Shape;278;p47">
            <a:extLst>
              <a:ext uri="{FF2B5EF4-FFF2-40B4-BE49-F238E27FC236}">
                <a16:creationId xmlns:a16="http://schemas.microsoft.com/office/drawing/2014/main" id="{42676F2C-8853-C990-6113-C995E3BBE42A}"/>
              </a:ext>
            </a:extLst>
          </p:cNvPr>
          <p:cNvSpPr/>
          <p:nvPr/>
        </p:nvSpPr>
        <p:spPr>
          <a:xfrm>
            <a:off x="496040" y="1811319"/>
            <a:ext cx="4692600" cy="516240"/>
          </a:xfrm>
          <a:prstGeom prst="rect">
            <a:avLst/>
          </a:prstGeom>
          <a:solidFill>
            <a:srgbClr val="DEE6EF"/>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279;p47">
            <a:extLst>
              <a:ext uri="{FF2B5EF4-FFF2-40B4-BE49-F238E27FC236}">
                <a16:creationId xmlns:a16="http://schemas.microsoft.com/office/drawing/2014/main" id="{4BC028A8-D2FA-437C-7278-C3BF5B7F5945}"/>
              </a:ext>
            </a:extLst>
          </p:cNvPr>
          <p:cNvSpPr/>
          <p:nvPr/>
        </p:nvSpPr>
        <p:spPr>
          <a:xfrm>
            <a:off x="496040" y="1577319"/>
            <a:ext cx="4692600" cy="231120"/>
          </a:xfrm>
          <a:prstGeom prst="rect">
            <a:avLst/>
          </a:prstGeom>
          <a:solidFill>
            <a:srgbClr val="CCCCCC"/>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rgbClr val="000000"/>
                </a:solidFill>
                <a:latin typeface="Lato"/>
                <a:ea typeface="Lato"/>
                <a:cs typeface="Lato"/>
                <a:sym typeface="Lato"/>
              </a:rPr>
              <a:t>Data Collection Report</a:t>
            </a:r>
            <a:endParaRPr sz="1200" b="0" i="0" u="none" strike="noStrike" cap="none">
              <a:solidFill>
                <a:srgbClr val="000000"/>
              </a:solidFill>
              <a:latin typeface="Arial"/>
              <a:ea typeface="Arial"/>
              <a:cs typeface="Arial"/>
              <a:sym typeface="Arial"/>
            </a:endParaRPr>
          </a:p>
        </p:txBody>
      </p:sp>
      <p:sp>
        <p:nvSpPr>
          <p:cNvPr id="11" name="Google Shape;280;p47">
            <a:extLst>
              <a:ext uri="{FF2B5EF4-FFF2-40B4-BE49-F238E27FC236}">
                <a16:creationId xmlns:a16="http://schemas.microsoft.com/office/drawing/2014/main" id="{80C6ECF4-6F38-5A79-8978-7D7F6B3EE0A5}"/>
              </a:ext>
            </a:extLst>
          </p:cNvPr>
          <p:cNvSpPr/>
          <p:nvPr/>
        </p:nvSpPr>
        <p:spPr>
          <a:xfrm>
            <a:off x="496040" y="2659839"/>
            <a:ext cx="4692600" cy="516240"/>
          </a:xfrm>
          <a:prstGeom prst="rect">
            <a:avLst/>
          </a:prstGeom>
          <a:solidFill>
            <a:srgbClr val="DDE8CB"/>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281;p47">
            <a:extLst>
              <a:ext uri="{FF2B5EF4-FFF2-40B4-BE49-F238E27FC236}">
                <a16:creationId xmlns:a16="http://schemas.microsoft.com/office/drawing/2014/main" id="{304B59C2-696C-5192-3CD4-63F3B3DAAA30}"/>
              </a:ext>
            </a:extLst>
          </p:cNvPr>
          <p:cNvSpPr/>
          <p:nvPr/>
        </p:nvSpPr>
        <p:spPr>
          <a:xfrm>
            <a:off x="496040" y="2425839"/>
            <a:ext cx="4692600" cy="231120"/>
          </a:xfrm>
          <a:prstGeom prst="rect">
            <a:avLst/>
          </a:prstGeom>
          <a:solidFill>
            <a:srgbClr val="CCCCCC"/>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rgbClr val="000000"/>
                </a:solidFill>
                <a:latin typeface="Lato"/>
                <a:ea typeface="Lato"/>
                <a:cs typeface="Lato"/>
                <a:sym typeface="Lato"/>
              </a:rPr>
              <a:t>Data Description Report</a:t>
            </a:r>
            <a:endParaRPr sz="1200" b="0" i="0" u="none" strike="noStrike" cap="none">
              <a:solidFill>
                <a:srgbClr val="000000"/>
              </a:solidFill>
              <a:latin typeface="Arial"/>
              <a:ea typeface="Arial"/>
              <a:cs typeface="Arial"/>
              <a:sym typeface="Arial"/>
            </a:endParaRPr>
          </a:p>
        </p:txBody>
      </p:sp>
      <p:sp>
        <p:nvSpPr>
          <p:cNvPr id="15" name="Google Shape;282;p47">
            <a:extLst>
              <a:ext uri="{FF2B5EF4-FFF2-40B4-BE49-F238E27FC236}">
                <a16:creationId xmlns:a16="http://schemas.microsoft.com/office/drawing/2014/main" id="{2589055E-AC07-1008-6192-1D5D50F89E81}"/>
              </a:ext>
            </a:extLst>
          </p:cNvPr>
          <p:cNvSpPr/>
          <p:nvPr/>
        </p:nvSpPr>
        <p:spPr>
          <a:xfrm>
            <a:off x="510800" y="3517359"/>
            <a:ext cx="4685040" cy="516240"/>
          </a:xfrm>
          <a:prstGeom prst="rect">
            <a:avLst/>
          </a:prstGeom>
          <a:solidFill>
            <a:srgbClr val="FFDBB6"/>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283;p47">
            <a:extLst>
              <a:ext uri="{FF2B5EF4-FFF2-40B4-BE49-F238E27FC236}">
                <a16:creationId xmlns:a16="http://schemas.microsoft.com/office/drawing/2014/main" id="{D156808B-3DAF-789C-A7D6-7EBC2FF47BCD}"/>
              </a:ext>
            </a:extLst>
          </p:cNvPr>
          <p:cNvSpPr/>
          <p:nvPr/>
        </p:nvSpPr>
        <p:spPr>
          <a:xfrm>
            <a:off x="510800" y="3283359"/>
            <a:ext cx="4685040" cy="231120"/>
          </a:xfrm>
          <a:prstGeom prst="rect">
            <a:avLst/>
          </a:prstGeom>
          <a:solidFill>
            <a:srgbClr val="CCCCCC"/>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rgbClr val="000000"/>
                </a:solidFill>
                <a:latin typeface="Lato"/>
                <a:ea typeface="Lato"/>
                <a:cs typeface="Lato"/>
                <a:sym typeface="Lato"/>
              </a:rPr>
              <a:t>Data Exploration Report</a:t>
            </a:r>
            <a:endParaRPr sz="1200" b="0" i="0" u="none" strike="noStrike" cap="none">
              <a:solidFill>
                <a:srgbClr val="000000"/>
              </a:solidFill>
              <a:latin typeface="Arial"/>
              <a:ea typeface="Arial"/>
              <a:cs typeface="Arial"/>
              <a:sym typeface="Arial"/>
            </a:endParaRPr>
          </a:p>
        </p:txBody>
      </p:sp>
      <p:sp>
        <p:nvSpPr>
          <p:cNvPr id="19" name="Google Shape;284;p47">
            <a:extLst>
              <a:ext uri="{FF2B5EF4-FFF2-40B4-BE49-F238E27FC236}">
                <a16:creationId xmlns:a16="http://schemas.microsoft.com/office/drawing/2014/main" id="{04949AC5-A200-E73F-E435-2E49FCA9331D}"/>
              </a:ext>
            </a:extLst>
          </p:cNvPr>
          <p:cNvSpPr/>
          <p:nvPr/>
        </p:nvSpPr>
        <p:spPr>
          <a:xfrm>
            <a:off x="510800" y="4400439"/>
            <a:ext cx="4692600" cy="516240"/>
          </a:xfrm>
          <a:prstGeom prst="rect">
            <a:avLst/>
          </a:prstGeom>
          <a:solidFill>
            <a:srgbClr val="B7B3CA"/>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85;p47">
            <a:extLst>
              <a:ext uri="{FF2B5EF4-FFF2-40B4-BE49-F238E27FC236}">
                <a16:creationId xmlns:a16="http://schemas.microsoft.com/office/drawing/2014/main" id="{BE239804-5C7D-A728-A6F9-4F40BAC06918}"/>
              </a:ext>
            </a:extLst>
          </p:cNvPr>
          <p:cNvSpPr/>
          <p:nvPr/>
        </p:nvSpPr>
        <p:spPr>
          <a:xfrm>
            <a:off x="510800" y="4166439"/>
            <a:ext cx="4692600" cy="231120"/>
          </a:xfrm>
          <a:prstGeom prst="rect">
            <a:avLst/>
          </a:prstGeom>
          <a:solidFill>
            <a:srgbClr val="CCCCCC"/>
          </a:solidFill>
          <a:ln w="9525" cap="flat" cmpd="sng">
            <a:solidFill>
              <a:srgbClr val="3465A4"/>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id" sz="1200" b="0" i="0" u="none" strike="noStrike" cap="none">
                <a:solidFill>
                  <a:srgbClr val="000000"/>
                </a:solidFill>
                <a:latin typeface="Lato"/>
                <a:ea typeface="Lato"/>
                <a:cs typeface="Lato"/>
                <a:sym typeface="Lato"/>
              </a:rPr>
              <a:t>Data Quality Report</a:t>
            </a:r>
            <a:endParaRPr sz="1200" b="0" i="0" u="none" strike="noStrike" cap="none">
              <a:solidFill>
                <a:srgbClr val="000000"/>
              </a:solidFill>
              <a:latin typeface="Arial"/>
              <a:ea typeface="Arial"/>
              <a:cs typeface="Arial"/>
              <a:sym typeface="Arial"/>
            </a:endParaRPr>
          </a:p>
        </p:txBody>
      </p:sp>
      <p:sp>
        <p:nvSpPr>
          <p:cNvPr id="23" name="Google Shape;286;p47">
            <a:extLst>
              <a:ext uri="{FF2B5EF4-FFF2-40B4-BE49-F238E27FC236}">
                <a16:creationId xmlns:a16="http://schemas.microsoft.com/office/drawing/2014/main" id="{70FA0A95-F1DB-E89C-2707-94377561234F}"/>
              </a:ext>
            </a:extLst>
          </p:cNvPr>
          <p:cNvSpPr/>
          <p:nvPr/>
        </p:nvSpPr>
        <p:spPr>
          <a:xfrm>
            <a:off x="565520" y="188043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87;p47">
            <a:extLst>
              <a:ext uri="{FF2B5EF4-FFF2-40B4-BE49-F238E27FC236}">
                <a16:creationId xmlns:a16="http://schemas.microsoft.com/office/drawing/2014/main" id="{DD87EE5F-B94F-68D9-6299-D6A5910833C2}"/>
              </a:ext>
            </a:extLst>
          </p:cNvPr>
          <p:cNvSpPr/>
          <p:nvPr/>
        </p:nvSpPr>
        <p:spPr>
          <a:xfrm>
            <a:off x="1490000" y="188043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88;p47">
            <a:extLst>
              <a:ext uri="{FF2B5EF4-FFF2-40B4-BE49-F238E27FC236}">
                <a16:creationId xmlns:a16="http://schemas.microsoft.com/office/drawing/2014/main" id="{4A0F4B39-3CF4-F7DF-7C45-C58124DFDF33}"/>
              </a:ext>
            </a:extLst>
          </p:cNvPr>
          <p:cNvSpPr/>
          <p:nvPr/>
        </p:nvSpPr>
        <p:spPr>
          <a:xfrm>
            <a:off x="2420240" y="187179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89;p47">
            <a:extLst>
              <a:ext uri="{FF2B5EF4-FFF2-40B4-BE49-F238E27FC236}">
                <a16:creationId xmlns:a16="http://schemas.microsoft.com/office/drawing/2014/main" id="{369F17E6-733C-6D57-1433-D582CA100DB5}"/>
              </a:ext>
            </a:extLst>
          </p:cNvPr>
          <p:cNvSpPr/>
          <p:nvPr/>
        </p:nvSpPr>
        <p:spPr>
          <a:xfrm>
            <a:off x="1484240" y="2720319"/>
            <a:ext cx="86688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290;p47">
            <a:extLst>
              <a:ext uri="{FF2B5EF4-FFF2-40B4-BE49-F238E27FC236}">
                <a16:creationId xmlns:a16="http://schemas.microsoft.com/office/drawing/2014/main" id="{56C8E961-2F16-2900-54F2-7C26868AD44B}"/>
              </a:ext>
            </a:extLst>
          </p:cNvPr>
          <p:cNvSpPr/>
          <p:nvPr/>
        </p:nvSpPr>
        <p:spPr>
          <a:xfrm>
            <a:off x="565520" y="272895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291;p47">
            <a:extLst>
              <a:ext uri="{FF2B5EF4-FFF2-40B4-BE49-F238E27FC236}">
                <a16:creationId xmlns:a16="http://schemas.microsoft.com/office/drawing/2014/main" id="{7481486B-0E62-2C48-CDB3-486376FB493C}"/>
              </a:ext>
            </a:extLst>
          </p:cNvPr>
          <p:cNvSpPr/>
          <p:nvPr/>
        </p:nvSpPr>
        <p:spPr>
          <a:xfrm>
            <a:off x="2410520" y="2720319"/>
            <a:ext cx="86688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292;p47">
            <a:extLst>
              <a:ext uri="{FF2B5EF4-FFF2-40B4-BE49-F238E27FC236}">
                <a16:creationId xmlns:a16="http://schemas.microsoft.com/office/drawing/2014/main" id="{1019373B-BFBB-B49C-F036-3BE5D11F33DD}"/>
              </a:ext>
            </a:extLst>
          </p:cNvPr>
          <p:cNvSpPr/>
          <p:nvPr/>
        </p:nvSpPr>
        <p:spPr>
          <a:xfrm>
            <a:off x="1507280" y="357747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293;p47">
            <a:extLst>
              <a:ext uri="{FF2B5EF4-FFF2-40B4-BE49-F238E27FC236}">
                <a16:creationId xmlns:a16="http://schemas.microsoft.com/office/drawing/2014/main" id="{819CD1B2-3B89-E284-77C1-BC1433E4BFF4}"/>
              </a:ext>
            </a:extLst>
          </p:cNvPr>
          <p:cNvSpPr/>
          <p:nvPr/>
        </p:nvSpPr>
        <p:spPr>
          <a:xfrm>
            <a:off x="588560" y="358611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294;p47">
            <a:extLst>
              <a:ext uri="{FF2B5EF4-FFF2-40B4-BE49-F238E27FC236}">
                <a16:creationId xmlns:a16="http://schemas.microsoft.com/office/drawing/2014/main" id="{3802D893-DE30-87CB-FF4E-78E852F94A8D}"/>
              </a:ext>
            </a:extLst>
          </p:cNvPr>
          <p:cNvSpPr/>
          <p:nvPr/>
        </p:nvSpPr>
        <p:spPr>
          <a:xfrm>
            <a:off x="1514840" y="4460559"/>
            <a:ext cx="99216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295;p47">
            <a:extLst>
              <a:ext uri="{FF2B5EF4-FFF2-40B4-BE49-F238E27FC236}">
                <a16:creationId xmlns:a16="http://schemas.microsoft.com/office/drawing/2014/main" id="{2CE405B5-A041-356B-ED21-9F8CE7C0CE87}"/>
              </a:ext>
            </a:extLst>
          </p:cNvPr>
          <p:cNvSpPr/>
          <p:nvPr/>
        </p:nvSpPr>
        <p:spPr>
          <a:xfrm>
            <a:off x="596120" y="4469199"/>
            <a:ext cx="866520" cy="387000"/>
          </a:xfrm>
          <a:prstGeom prst="rect">
            <a:avLst/>
          </a:prstGeom>
          <a:solidFill>
            <a:srgbClr val="EEEEEE"/>
          </a:solidFill>
          <a:ln w="9525" cap="flat" cmpd="sng">
            <a:solidFill>
              <a:srgbClr val="3465A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 name="Google Shape;296;p47">
            <a:extLst>
              <a:ext uri="{FF2B5EF4-FFF2-40B4-BE49-F238E27FC236}">
                <a16:creationId xmlns:a16="http://schemas.microsoft.com/office/drawing/2014/main" id="{0773ADC6-B8C3-3577-908D-76DA86B371B6}"/>
              </a:ext>
            </a:extLst>
          </p:cNvPr>
          <p:cNvPicPr preferRelativeResize="0"/>
          <p:nvPr/>
        </p:nvPicPr>
        <p:blipFill rotWithShape="1">
          <a:blip r:embed="rId2">
            <a:alphaModFix/>
          </a:blip>
          <a:srcRect/>
          <a:stretch/>
        </p:blipFill>
        <p:spPr>
          <a:xfrm>
            <a:off x="6316520" y="1328840"/>
            <a:ext cx="3642840" cy="2781720"/>
          </a:xfrm>
          <a:prstGeom prst="rect">
            <a:avLst/>
          </a:prstGeom>
          <a:noFill/>
          <a:ln>
            <a:noFill/>
          </a:ln>
        </p:spPr>
      </p:pic>
      <p:pic>
        <p:nvPicPr>
          <p:cNvPr id="45" name="Google Shape;297;p47">
            <a:extLst>
              <a:ext uri="{FF2B5EF4-FFF2-40B4-BE49-F238E27FC236}">
                <a16:creationId xmlns:a16="http://schemas.microsoft.com/office/drawing/2014/main" id="{F3778D90-38BB-2B1A-368D-75B5A25FDDD4}"/>
              </a:ext>
            </a:extLst>
          </p:cNvPr>
          <p:cNvPicPr preferRelativeResize="0"/>
          <p:nvPr/>
        </p:nvPicPr>
        <p:blipFill rotWithShape="1">
          <a:blip r:embed="rId3">
            <a:alphaModFix/>
          </a:blip>
          <a:srcRect/>
          <a:stretch/>
        </p:blipFill>
        <p:spPr>
          <a:xfrm>
            <a:off x="5817520" y="4281999"/>
            <a:ext cx="5216240" cy="1946715"/>
          </a:xfrm>
          <a:prstGeom prst="rect">
            <a:avLst/>
          </a:prstGeom>
          <a:noFill/>
          <a:ln>
            <a:noFill/>
          </a:ln>
        </p:spPr>
      </p:pic>
    </p:spTree>
    <p:extLst>
      <p:ext uri="{BB962C8B-B14F-4D97-AF65-F5344CB8AC3E}">
        <p14:creationId xmlns:p14="http://schemas.microsoft.com/office/powerpoint/2010/main" val="114775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EE870-BB9D-151E-D2B5-255B3CA60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1A4C7-E533-A226-65AD-38616DFB2E1C}"/>
              </a:ext>
            </a:extLst>
          </p:cNvPr>
          <p:cNvSpPr>
            <a:spLocks noGrp="1"/>
          </p:cNvSpPr>
          <p:nvPr>
            <p:ph type="title"/>
          </p:nvPr>
        </p:nvSpPr>
        <p:spPr>
          <a:xfrm>
            <a:off x="838200" y="365125"/>
            <a:ext cx="10515600" cy="904875"/>
          </a:xfrm>
        </p:spPr>
        <p:txBody>
          <a:bodyPr/>
          <a:lstStyle/>
          <a:p>
            <a:r>
              <a:rPr lang="en-US" dirty="0"/>
              <a:t>Data understanding documentation</a:t>
            </a:r>
          </a:p>
        </p:txBody>
      </p:sp>
      <p:sp>
        <p:nvSpPr>
          <p:cNvPr id="3" name="Content Placeholder 2">
            <a:extLst>
              <a:ext uri="{FF2B5EF4-FFF2-40B4-BE49-F238E27FC236}">
                <a16:creationId xmlns:a16="http://schemas.microsoft.com/office/drawing/2014/main" id="{73BC80ED-F821-F0D8-465C-C74D7F7C80B5}"/>
              </a:ext>
            </a:extLst>
          </p:cNvPr>
          <p:cNvSpPr>
            <a:spLocks noGrp="1"/>
          </p:cNvSpPr>
          <p:nvPr>
            <p:ph idx="1"/>
          </p:nvPr>
        </p:nvSpPr>
        <p:spPr>
          <a:xfrm>
            <a:off x="269240" y="1734185"/>
            <a:ext cx="3815080" cy="3782695"/>
          </a:xfrm>
          <a:solidFill>
            <a:schemeClr val="bg1"/>
          </a:solidFill>
          <a:effectLst>
            <a:outerShdw blurRad="63500" sx="102000" sy="102000" algn="ctr" rotWithShape="0">
              <a:prstClr val="black">
                <a:alpha val="40000"/>
              </a:prstClr>
            </a:outerShdw>
          </a:effectLst>
        </p:spPr>
        <p:txBody>
          <a:bodyPr>
            <a:normAutofit/>
          </a:bodyPr>
          <a:lstStyle/>
          <a:p>
            <a:pPr marL="0" lvl="0" indent="0" algn="ctr">
              <a:buNone/>
            </a:pPr>
            <a:r>
              <a:rPr lang="en-US" b="1" dirty="0">
                <a:solidFill>
                  <a:schemeClr val="accent2"/>
                </a:solidFill>
                <a:latin typeface="Calibri" panose="020F0502020204030204" pitchFamily="34" charset="0"/>
                <a:ea typeface="Calibri" panose="020F0502020204030204" pitchFamily="34" charset="0"/>
                <a:cs typeface="Calibri" panose="020F0502020204030204" pitchFamily="34" charset="0"/>
              </a:rPr>
              <a:t>Data Collection Report</a:t>
            </a:r>
          </a:p>
          <a:p>
            <a:pPr lvl="0"/>
            <a:r>
              <a:rPr lang="en-US" dirty="0">
                <a:latin typeface="Calibri" panose="020F0502020204030204" pitchFamily="34" charset="0"/>
                <a:ea typeface="Calibri" panose="020F0502020204030204" pitchFamily="34" charset="0"/>
                <a:cs typeface="Calibri" panose="020F0502020204030204" pitchFamily="34" charset="0"/>
              </a:rPr>
              <a:t>Data Sources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Existing data</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Purchased Data</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Additional Data</a:t>
            </a:r>
          </a:p>
          <a:p>
            <a:pPr lvl="0"/>
            <a:r>
              <a:rPr lang="en-US" dirty="0">
                <a:latin typeface="Calibri" panose="020F0502020204030204" pitchFamily="34" charset="0"/>
                <a:ea typeface="Calibri" panose="020F0502020204030204" pitchFamily="34" charset="0"/>
                <a:cs typeface="Calibri" panose="020F0502020204030204" pitchFamily="34" charset="0"/>
              </a:rPr>
              <a:t>Attribute of data </a:t>
            </a:r>
          </a:p>
          <a:p>
            <a:pPr lvl="0"/>
            <a:r>
              <a:rPr lang="en-US" dirty="0">
                <a:latin typeface="Calibri" panose="020F0502020204030204" pitchFamily="34" charset="0"/>
                <a:ea typeface="Calibri" panose="020F0502020204030204" pitchFamily="34" charset="0"/>
                <a:cs typeface="Calibri" panose="020F0502020204030204" pitchFamily="34" charset="0"/>
              </a:rPr>
              <a:t>Enough data?</a:t>
            </a:r>
          </a:p>
          <a:p>
            <a:pPr lvl="0"/>
            <a:r>
              <a:rPr lang="en-US" dirty="0">
                <a:latin typeface="Calibri" panose="020F0502020204030204" pitchFamily="34" charset="0"/>
                <a:ea typeface="Calibri" panose="020F0502020204030204" pitchFamily="34" charset="0"/>
                <a:cs typeface="Calibri" panose="020F0502020204030204" pitchFamily="34" charset="0"/>
              </a:rPr>
              <a:t>Merging various data</a:t>
            </a:r>
          </a:p>
        </p:txBody>
      </p:sp>
      <p:sp>
        <p:nvSpPr>
          <p:cNvPr id="4" name="Content Placeholder 2">
            <a:extLst>
              <a:ext uri="{FF2B5EF4-FFF2-40B4-BE49-F238E27FC236}">
                <a16:creationId xmlns:a16="http://schemas.microsoft.com/office/drawing/2014/main" id="{39F88A6D-1002-525E-2BCA-AD31A23131FF}"/>
              </a:ext>
            </a:extLst>
          </p:cNvPr>
          <p:cNvSpPr txBox="1">
            <a:spLocks/>
          </p:cNvSpPr>
          <p:nvPr/>
        </p:nvSpPr>
        <p:spPr>
          <a:xfrm>
            <a:off x="4262120" y="1734184"/>
            <a:ext cx="7660640" cy="4595496"/>
          </a:xfrm>
          <a:prstGeom prst="rect">
            <a:avLst/>
          </a:prstGeom>
          <a:solidFill>
            <a:schemeClr val="bg1"/>
          </a:solidFill>
          <a:effectLst>
            <a:outerShdw blurRad="63500" sx="102000" sy="102000" algn="ctr" rotWithShape="0">
              <a:prstClr val="black">
                <a:alpha val="40000"/>
              </a:prst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solidFill>
                  <a:schemeClr val="accent2"/>
                </a:solidFill>
                <a:latin typeface="Calibri" panose="020F0502020204030204" pitchFamily="34" charset="0"/>
                <a:ea typeface="Calibri" panose="020F0502020204030204" pitchFamily="34" charset="0"/>
                <a:cs typeface="Calibri" panose="020F0502020204030204" pitchFamily="34" charset="0"/>
              </a:rPr>
              <a:t>Data Description Report</a:t>
            </a:r>
          </a:p>
          <a:p>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Describing Data</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lvl="1"/>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Amount of Data</a:t>
            </a:r>
          </a:p>
          <a:p>
            <a:pPr lvl="1"/>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Value Types</a:t>
            </a:r>
          </a:p>
          <a:p>
            <a:pPr lvl="1"/>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Coding Scheme</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Data Quantity (Format, method to capture, how large)</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Data Quality (characteristic, type of data)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Compute basic stati</a:t>
            </a:r>
            <a:r>
              <a:rPr lang="en-US" sz="2800" dirty="0">
                <a:latin typeface="Calibri" panose="020F0502020204030204" pitchFamily="34" charset="0"/>
                <a:ea typeface="Calibri" panose="020F0502020204030204" pitchFamily="34" charset="0"/>
                <a:cs typeface="Calibri" panose="020F0502020204030204" pitchFamily="34" charset="0"/>
                <a:sym typeface="Lato"/>
              </a:rPr>
              <a:t>s</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 of key attributes</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Priority of attributes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9138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BCB94-1E28-7600-6BC2-8A3EB1206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89F66-AEEF-FEBB-D7B2-79604F5AFBBF}"/>
              </a:ext>
            </a:extLst>
          </p:cNvPr>
          <p:cNvSpPr>
            <a:spLocks noGrp="1"/>
          </p:cNvSpPr>
          <p:nvPr>
            <p:ph type="title"/>
          </p:nvPr>
        </p:nvSpPr>
        <p:spPr>
          <a:xfrm>
            <a:off x="838200" y="365125"/>
            <a:ext cx="10515600" cy="904875"/>
          </a:xfrm>
        </p:spPr>
        <p:txBody>
          <a:bodyPr/>
          <a:lstStyle/>
          <a:p>
            <a:r>
              <a:rPr lang="en-US" dirty="0"/>
              <a:t>Data understanding documentation</a:t>
            </a:r>
          </a:p>
        </p:txBody>
      </p:sp>
      <p:sp>
        <p:nvSpPr>
          <p:cNvPr id="3" name="Content Placeholder 2">
            <a:extLst>
              <a:ext uri="{FF2B5EF4-FFF2-40B4-BE49-F238E27FC236}">
                <a16:creationId xmlns:a16="http://schemas.microsoft.com/office/drawing/2014/main" id="{40AAAE0E-B92E-F6C6-CD66-B6DD9E6B7F64}"/>
              </a:ext>
            </a:extLst>
          </p:cNvPr>
          <p:cNvSpPr>
            <a:spLocks noGrp="1"/>
          </p:cNvSpPr>
          <p:nvPr>
            <p:ph idx="1"/>
          </p:nvPr>
        </p:nvSpPr>
        <p:spPr>
          <a:xfrm>
            <a:off x="269240" y="1734185"/>
            <a:ext cx="3815080" cy="3782695"/>
          </a:xfrm>
          <a:solidFill>
            <a:schemeClr val="bg1"/>
          </a:solidFill>
          <a:effectLst>
            <a:outerShdw blurRad="63500" sx="102000" sy="102000" algn="ctr" rotWithShape="0">
              <a:prstClr val="black">
                <a:alpha val="40000"/>
              </a:prstClr>
            </a:outerShdw>
          </a:effectLst>
        </p:spPr>
        <p:txBody>
          <a:bodyPr>
            <a:normAutofit fontScale="85000" lnSpcReduction="20000"/>
          </a:bodyPr>
          <a:lstStyle/>
          <a:p>
            <a:pPr marL="0" lvl="0" indent="0" algn="ctr">
              <a:buNone/>
            </a:pPr>
            <a:r>
              <a:rPr lang="en-US" b="1" dirty="0">
                <a:solidFill>
                  <a:schemeClr val="accent2"/>
                </a:solidFill>
                <a:latin typeface="Calibri" panose="020F0502020204030204" pitchFamily="34" charset="0"/>
                <a:ea typeface="Calibri" panose="020F0502020204030204" pitchFamily="34" charset="0"/>
                <a:cs typeface="Calibri" panose="020F0502020204030204" pitchFamily="34" charset="0"/>
              </a:rPr>
              <a:t>Data Exploration Report</a:t>
            </a:r>
          </a:p>
          <a:p>
            <a:pPr lvl="0"/>
            <a:r>
              <a:rPr lang="en-US" dirty="0">
                <a:latin typeface="Calibri" panose="020F0502020204030204" pitchFamily="34" charset="0"/>
                <a:ea typeface="Calibri" panose="020F0502020204030204" pitchFamily="34" charset="0"/>
                <a:cs typeface="Calibri" panose="020F0502020204030204" pitchFamily="34" charset="0"/>
              </a:rPr>
              <a:t>Hypothesis of data</a:t>
            </a:r>
          </a:p>
          <a:p>
            <a:pPr lvl="0"/>
            <a:r>
              <a:rPr lang="en-US" dirty="0">
                <a:latin typeface="Calibri" panose="020F0502020204030204" pitchFamily="34" charset="0"/>
                <a:ea typeface="Calibri" panose="020F0502020204030204" pitchFamily="34" charset="0"/>
                <a:cs typeface="Calibri" panose="020F0502020204030204" pitchFamily="34" charset="0"/>
              </a:rPr>
              <a:t>Promising attributes for further analysis</a:t>
            </a:r>
          </a:p>
          <a:p>
            <a:pPr lvl="0"/>
            <a:r>
              <a:rPr lang="en-US" dirty="0">
                <a:latin typeface="Calibri" panose="020F0502020204030204" pitchFamily="34" charset="0"/>
                <a:ea typeface="Calibri" panose="020F0502020204030204" pitchFamily="34" charset="0"/>
                <a:cs typeface="Calibri" panose="020F0502020204030204" pitchFamily="34" charset="0"/>
              </a:rPr>
              <a:t>Exploration of new characteristics of data</a:t>
            </a:r>
          </a:p>
          <a:p>
            <a:pPr lvl="0"/>
            <a:r>
              <a:rPr lang="en-US" dirty="0">
                <a:latin typeface="Calibri" panose="020F0502020204030204" pitchFamily="34" charset="0"/>
                <a:ea typeface="Calibri" panose="020F0502020204030204" pitchFamily="34" charset="0"/>
                <a:cs typeface="Calibri" panose="020F0502020204030204" pitchFamily="34" charset="0"/>
              </a:rPr>
              <a:t>How change initial hypothesis</a:t>
            </a:r>
          </a:p>
          <a:p>
            <a:pPr lvl="0"/>
            <a:r>
              <a:rPr lang="en-US" dirty="0">
                <a:latin typeface="Calibri" panose="020F0502020204030204" pitchFamily="34" charset="0"/>
                <a:ea typeface="Calibri" panose="020F0502020204030204" pitchFamily="34" charset="0"/>
                <a:cs typeface="Calibri" panose="020F0502020204030204" pitchFamily="34" charset="0"/>
              </a:rPr>
              <a:t>Identify subset of data for later use</a:t>
            </a:r>
          </a:p>
          <a:p>
            <a:pPr lvl="0"/>
            <a:r>
              <a:rPr lang="en-US" dirty="0">
                <a:latin typeface="Calibri" panose="020F0502020204030204" pitchFamily="34" charset="0"/>
                <a:ea typeface="Calibri" panose="020F0502020204030204" pitchFamily="34" charset="0"/>
                <a:cs typeface="Calibri" panose="020F0502020204030204" pitchFamily="34" charset="0"/>
              </a:rPr>
              <a:t>Compare with goals</a:t>
            </a:r>
          </a:p>
        </p:txBody>
      </p:sp>
      <p:sp>
        <p:nvSpPr>
          <p:cNvPr id="4" name="Content Placeholder 2">
            <a:extLst>
              <a:ext uri="{FF2B5EF4-FFF2-40B4-BE49-F238E27FC236}">
                <a16:creationId xmlns:a16="http://schemas.microsoft.com/office/drawing/2014/main" id="{B00BFA4C-8359-D647-D675-E0176D1989DA}"/>
              </a:ext>
            </a:extLst>
          </p:cNvPr>
          <p:cNvSpPr txBox="1">
            <a:spLocks/>
          </p:cNvSpPr>
          <p:nvPr/>
        </p:nvSpPr>
        <p:spPr>
          <a:xfrm>
            <a:off x="4262120" y="1734184"/>
            <a:ext cx="7660640" cy="4646296"/>
          </a:xfrm>
          <a:prstGeom prst="rect">
            <a:avLst/>
          </a:prstGeom>
          <a:solidFill>
            <a:schemeClr val="bg1"/>
          </a:solidFill>
          <a:effectLst>
            <a:outerShdw blurRad="63500" sx="102000" sy="102000" algn="ctr" rotWithShape="0">
              <a:prstClr val="black">
                <a:alpha val="40000"/>
              </a:prstClr>
            </a:outerShdw>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solidFill>
                  <a:schemeClr val="accent2"/>
                </a:solidFill>
                <a:latin typeface="Calibri" panose="020F0502020204030204" pitchFamily="34" charset="0"/>
                <a:ea typeface="Calibri" panose="020F0502020204030204" pitchFamily="34" charset="0"/>
                <a:cs typeface="Calibri" panose="020F0502020204030204" pitchFamily="34" charset="0"/>
              </a:rPr>
              <a:t>Data Quality Report</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Missing Data</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Data Errors</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Measurement Errors</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Missing attributes and blank fields</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Spelling inconsistencies?</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Noise </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Plausibility check for values (conflict of values)</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Considering to exclude data that has no impact to hypothesis</a:t>
            </a:r>
          </a:p>
          <a:p>
            <a:pPr>
              <a:spcBef>
                <a:spcPts val="0"/>
              </a:spcBef>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Are data stored in flat files? Are </a:t>
            </a:r>
            <a:r>
              <a:rPr lang="en-US" sz="28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delimeter</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rPr>
              <a:t> consistent, How is each record</a:t>
            </a:r>
          </a:p>
        </p:txBody>
      </p:sp>
    </p:spTree>
    <p:extLst>
      <p:ext uri="{BB962C8B-B14F-4D97-AF65-F5344CB8AC3E}">
        <p14:creationId xmlns:p14="http://schemas.microsoft.com/office/powerpoint/2010/main" val="527102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A57D9-5160-E37B-2E8F-8FE8BB0256B5}"/>
              </a:ext>
            </a:extLst>
          </p:cNvPr>
          <p:cNvSpPr>
            <a:spLocks noGrp="1"/>
          </p:cNvSpPr>
          <p:nvPr>
            <p:ph type="title"/>
          </p:nvPr>
        </p:nvSpPr>
        <p:spPr>
          <a:xfrm>
            <a:off x="340360" y="340806"/>
            <a:ext cx="10515600" cy="1325563"/>
          </a:xfrm>
        </p:spPr>
        <p:txBody>
          <a:bodyPr/>
          <a:lstStyle/>
          <a:p>
            <a:r>
              <a:rPr lang="en-US" dirty="0"/>
              <a:t>Data Type Map</a:t>
            </a:r>
          </a:p>
        </p:txBody>
      </p:sp>
      <p:pic>
        <p:nvPicPr>
          <p:cNvPr id="5" name="Google Shape;321;p50">
            <a:extLst>
              <a:ext uri="{FF2B5EF4-FFF2-40B4-BE49-F238E27FC236}">
                <a16:creationId xmlns:a16="http://schemas.microsoft.com/office/drawing/2014/main" id="{D028AE1F-FB01-7DA3-20D6-4C3E2C760873}"/>
              </a:ext>
            </a:extLst>
          </p:cNvPr>
          <p:cNvPicPr preferRelativeResize="0"/>
          <p:nvPr/>
        </p:nvPicPr>
        <p:blipFill rotWithShape="1">
          <a:blip r:embed="rId2">
            <a:alphaModFix/>
          </a:blip>
          <a:srcRect/>
          <a:stretch/>
        </p:blipFill>
        <p:spPr>
          <a:xfrm>
            <a:off x="4197706" y="181550"/>
            <a:ext cx="7699654" cy="6219250"/>
          </a:xfrm>
          <a:prstGeom prst="rect">
            <a:avLst/>
          </a:prstGeom>
          <a:noFill/>
          <a:ln>
            <a:noFill/>
          </a:ln>
        </p:spPr>
      </p:pic>
    </p:spTree>
    <p:extLst>
      <p:ext uri="{BB962C8B-B14F-4D97-AF65-F5344CB8AC3E}">
        <p14:creationId xmlns:p14="http://schemas.microsoft.com/office/powerpoint/2010/main" val="4085752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3DDA-686E-6183-82FB-E34C7A526871}"/>
              </a:ext>
            </a:extLst>
          </p:cNvPr>
          <p:cNvSpPr>
            <a:spLocks noGrp="1"/>
          </p:cNvSpPr>
          <p:nvPr>
            <p:ph type="title"/>
          </p:nvPr>
        </p:nvSpPr>
        <p:spPr>
          <a:xfrm>
            <a:off x="838200" y="365125"/>
            <a:ext cx="10515600" cy="925195"/>
          </a:xfrm>
        </p:spPr>
        <p:txBody>
          <a:bodyPr/>
          <a:lstStyle/>
          <a:p>
            <a:r>
              <a:rPr lang="en-US" dirty="0"/>
              <a:t>Data source</a:t>
            </a:r>
          </a:p>
        </p:txBody>
      </p:sp>
      <p:sp>
        <p:nvSpPr>
          <p:cNvPr id="3" name="Content Placeholder 2">
            <a:extLst>
              <a:ext uri="{FF2B5EF4-FFF2-40B4-BE49-F238E27FC236}">
                <a16:creationId xmlns:a16="http://schemas.microsoft.com/office/drawing/2014/main" id="{D3EA6FA7-35C8-72B3-BBF3-71733CC6220E}"/>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Internal sources</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Spreadsheets (Excel, CSV, JSON, etc.)</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Databases: can be queried via SQL, etc.</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Text documents</a:t>
            </a:r>
          </a:p>
          <a:p>
            <a:pPr lvl="1">
              <a:buFont typeface="Wingdings" panose="05000000000000000000" pitchFamily="2" charset="2"/>
              <a:buChar char="Ø"/>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Multimedia documents (audio, video)</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External sources</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Open data repositories</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Public domain web pages</a:t>
            </a:r>
          </a:p>
          <a:p>
            <a:pPr marL="457200" lvl="1"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4473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A629-7B82-6EB7-20F9-40B789AEE7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90443A-EC2E-1B72-44B6-9989DC893857}"/>
              </a:ext>
            </a:extLst>
          </p:cNvPr>
          <p:cNvSpPr>
            <a:spLocks noGrp="1"/>
          </p:cNvSpPr>
          <p:nvPr>
            <p:ph idx="1"/>
          </p:nvPr>
        </p:nvSpPr>
        <p:spPr/>
        <p:txBody>
          <a:bodyPr>
            <a:normAutofit fontScale="92500" lnSpcReduction="10000"/>
          </a:bodyPr>
          <a:lstStyle/>
          <a:p>
            <a:pPr marL="0" lvl="0" indent="-69850" algn="just">
              <a:lnSpc>
                <a:spcPct val="125000"/>
              </a:lnSpc>
              <a:spcBef>
                <a:spcPts val="0"/>
              </a:spcBef>
              <a:buSzPts val="1100"/>
              <a:buChar char="●"/>
            </a:pPr>
            <a:r>
              <a:rPr lang="en-US" sz="1800" dirty="0">
                <a:latin typeface="Calibri"/>
                <a:ea typeface="Calibri"/>
                <a:cs typeface="Calibri"/>
                <a:sym typeface="Calibri"/>
              </a:rPr>
              <a:t>Data </a:t>
            </a:r>
            <a:r>
              <a:rPr lang="en-US" sz="1800" dirty="0" err="1">
                <a:latin typeface="Calibri"/>
                <a:ea typeface="Calibri"/>
                <a:cs typeface="Calibri"/>
                <a:sym typeface="Calibri"/>
              </a:rPr>
              <a:t>dapat</a:t>
            </a:r>
            <a:r>
              <a:rPr lang="en-US" sz="1800" dirty="0">
                <a:latin typeface="Calibri"/>
                <a:ea typeface="Calibri"/>
                <a:cs typeface="Calibri"/>
                <a:sym typeface="Calibri"/>
              </a:rPr>
              <a:t> </a:t>
            </a:r>
            <a:r>
              <a:rPr lang="en-US" sz="1800" dirty="0" err="1">
                <a:latin typeface="Calibri"/>
                <a:ea typeface="Calibri"/>
                <a:cs typeface="Calibri"/>
                <a:sym typeface="Calibri"/>
              </a:rPr>
              <a:t>diperoleh</a:t>
            </a:r>
            <a:r>
              <a:rPr lang="en-US" sz="1800" dirty="0">
                <a:latin typeface="Calibri"/>
                <a:ea typeface="Calibri"/>
                <a:cs typeface="Calibri"/>
                <a:sym typeface="Calibri"/>
              </a:rPr>
              <a:t> </a:t>
            </a:r>
            <a:r>
              <a:rPr lang="en-US" sz="1800" dirty="0" err="1">
                <a:latin typeface="Calibri"/>
                <a:ea typeface="Calibri"/>
                <a:cs typeface="Calibri"/>
                <a:sym typeface="Calibri"/>
              </a:rPr>
              <a:t>dari</a:t>
            </a:r>
            <a:r>
              <a:rPr lang="en-US" sz="1800" dirty="0">
                <a:latin typeface="Calibri"/>
                <a:ea typeface="Calibri"/>
                <a:cs typeface="Calibri"/>
                <a:sym typeface="Calibri"/>
              </a:rPr>
              <a:t> </a:t>
            </a:r>
            <a:r>
              <a:rPr lang="en-US" sz="1800" dirty="0" err="1">
                <a:latin typeface="Calibri"/>
                <a:ea typeface="Calibri"/>
                <a:cs typeface="Calibri"/>
                <a:sym typeface="Calibri"/>
              </a:rPr>
              <a:t>sumber</a:t>
            </a:r>
            <a:r>
              <a:rPr lang="en-US" sz="1800" dirty="0">
                <a:latin typeface="Calibri"/>
                <a:ea typeface="Calibri"/>
                <a:cs typeface="Calibri"/>
                <a:sym typeface="Calibri"/>
              </a:rPr>
              <a:t> internal </a:t>
            </a:r>
            <a:r>
              <a:rPr lang="en-US" sz="1800" dirty="0" err="1">
                <a:latin typeface="Calibri"/>
                <a:ea typeface="Calibri"/>
                <a:cs typeface="Calibri"/>
                <a:sym typeface="Calibri"/>
              </a:rPr>
              <a:t>maupun</a:t>
            </a:r>
            <a:r>
              <a:rPr lang="en-US" sz="1800" dirty="0">
                <a:latin typeface="Calibri"/>
                <a:ea typeface="Calibri"/>
                <a:cs typeface="Calibri"/>
                <a:sym typeface="Calibri"/>
              </a:rPr>
              <a:t> </a:t>
            </a:r>
            <a:r>
              <a:rPr lang="en-US" sz="1800" dirty="0" err="1">
                <a:latin typeface="Calibri"/>
                <a:ea typeface="Calibri"/>
                <a:cs typeface="Calibri"/>
                <a:sym typeface="Calibri"/>
              </a:rPr>
              <a:t>eksternal</a:t>
            </a:r>
            <a:r>
              <a:rPr lang="en-US" sz="1800" dirty="0">
                <a:latin typeface="Calibri"/>
                <a:ea typeface="Calibri"/>
                <a:cs typeface="Calibri"/>
                <a:sym typeface="Calibri"/>
              </a:rPr>
              <a:t> </a:t>
            </a:r>
            <a:r>
              <a:rPr lang="en-US" sz="1800" dirty="0" err="1">
                <a:latin typeface="Calibri"/>
                <a:ea typeface="Calibri"/>
                <a:cs typeface="Calibri"/>
                <a:sym typeface="Calibri"/>
              </a:rPr>
              <a:t>organisasi</a:t>
            </a:r>
            <a:r>
              <a:rPr lang="en-US" sz="1800" dirty="0">
                <a:latin typeface="Calibri"/>
                <a:ea typeface="Calibri"/>
                <a:cs typeface="Calibri"/>
                <a:sym typeface="Calibri"/>
              </a:rPr>
              <a:t>. </a:t>
            </a:r>
            <a:r>
              <a:rPr lang="en-US" sz="1800" dirty="0" err="1">
                <a:latin typeface="Calibri"/>
                <a:ea typeface="Calibri"/>
                <a:cs typeface="Calibri"/>
                <a:sym typeface="Calibri"/>
              </a:rPr>
              <a:t>Sumber-sumber</a:t>
            </a:r>
            <a:r>
              <a:rPr lang="en-US" sz="1800" dirty="0">
                <a:latin typeface="Calibri"/>
                <a:ea typeface="Calibri"/>
                <a:cs typeface="Calibri"/>
                <a:sym typeface="Calibri"/>
              </a:rPr>
              <a:t> data internal </a:t>
            </a:r>
            <a:r>
              <a:rPr lang="en-US" sz="1800" dirty="0" err="1">
                <a:latin typeface="Calibri"/>
                <a:ea typeface="Calibri"/>
                <a:cs typeface="Calibri"/>
                <a:sym typeface="Calibri"/>
              </a:rPr>
              <a:t>organisasi</a:t>
            </a:r>
            <a:r>
              <a:rPr lang="en-US" sz="1800" dirty="0">
                <a:latin typeface="Calibri"/>
                <a:ea typeface="Calibri"/>
                <a:cs typeface="Calibri"/>
                <a:sym typeface="Calibri"/>
              </a:rPr>
              <a:t> </a:t>
            </a:r>
            <a:r>
              <a:rPr lang="en-US" sz="1800" dirty="0" err="1">
                <a:latin typeface="Calibri"/>
                <a:ea typeface="Calibri"/>
                <a:cs typeface="Calibri"/>
                <a:sym typeface="Calibri"/>
              </a:rPr>
              <a:t>dapat</a:t>
            </a:r>
            <a:r>
              <a:rPr lang="en-US" sz="1800" dirty="0">
                <a:latin typeface="Calibri"/>
                <a:ea typeface="Calibri"/>
                <a:cs typeface="Calibri"/>
                <a:sym typeface="Calibri"/>
              </a:rPr>
              <a:t> </a:t>
            </a:r>
            <a:r>
              <a:rPr lang="en-US" sz="1800" dirty="0" err="1">
                <a:latin typeface="Calibri"/>
                <a:ea typeface="Calibri"/>
                <a:cs typeface="Calibri"/>
                <a:sym typeface="Calibri"/>
              </a:rPr>
              <a:t>berupa</a:t>
            </a:r>
            <a:r>
              <a:rPr lang="en-US" sz="1800" dirty="0">
                <a:latin typeface="Calibri"/>
                <a:ea typeface="Calibri"/>
                <a:cs typeface="Calibri"/>
                <a:sym typeface="Calibri"/>
              </a:rPr>
              <a:t>, </a:t>
            </a:r>
            <a:r>
              <a:rPr lang="en-US" sz="1800" dirty="0" err="1">
                <a:latin typeface="Calibri"/>
                <a:ea typeface="Calibri"/>
                <a:cs typeface="Calibri"/>
                <a:sym typeface="Calibri"/>
              </a:rPr>
              <a:t>namun</a:t>
            </a:r>
            <a:r>
              <a:rPr lang="en-US" sz="1800" dirty="0">
                <a:latin typeface="Calibri"/>
                <a:ea typeface="Calibri"/>
                <a:cs typeface="Calibri"/>
                <a:sym typeface="Calibri"/>
              </a:rPr>
              <a:t> </a:t>
            </a:r>
            <a:r>
              <a:rPr lang="en-US" sz="1800" dirty="0" err="1">
                <a:latin typeface="Calibri"/>
                <a:ea typeface="Calibri"/>
                <a:cs typeface="Calibri"/>
                <a:sym typeface="Calibri"/>
              </a:rPr>
              <a:t>tidak</a:t>
            </a:r>
            <a:r>
              <a:rPr lang="en-US" sz="1800" dirty="0">
                <a:latin typeface="Calibri"/>
                <a:ea typeface="Calibri"/>
                <a:cs typeface="Calibri"/>
                <a:sym typeface="Calibri"/>
              </a:rPr>
              <a:t> </a:t>
            </a:r>
            <a:r>
              <a:rPr lang="en-US" sz="1800" dirty="0" err="1">
                <a:latin typeface="Calibri"/>
                <a:ea typeface="Calibri"/>
                <a:cs typeface="Calibri"/>
                <a:sym typeface="Calibri"/>
              </a:rPr>
              <a:t>terbatas</a:t>
            </a:r>
            <a:r>
              <a:rPr lang="en-US" sz="1800" dirty="0">
                <a:latin typeface="Calibri"/>
                <a:ea typeface="Calibri"/>
                <a:cs typeface="Calibri"/>
                <a:sym typeface="Calibri"/>
              </a:rPr>
              <a:t> pada, </a:t>
            </a:r>
            <a:r>
              <a:rPr lang="en-US" sz="1800" dirty="0" err="1">
                <a:latin typeface="Calibri"/>
                <a:ea typeface="Calibri"/>
                <a:cs typeface="Calibri"/>
                <a:sym typeface="Calibri"/>
              </a:rPr>
              <a:t>bentuk-bentuk</a:t>
            </a:r>
            <a:r>
              <a:rPr lang="en-US" sz="1800" dirty="0">
                <a:latin typeface="Calibri"/>
                <a:ea typeface="Calibri"/>
                <a:cs typeface="Calibri"/>
                <a:sym typeface="Calibri"/>
              </a:rPr>
              <a:t> </a:t>
            </a:r>
            <a:r>
              <a:rPr lang="en-US" sz="1800" dirty="0" err="1">
                <a:latin typeface="Calibri"/>
                <a:ea typeface="Calibri"/>
                <a:cs typeface="Calibri"/>
                <a:sym typeface="Calibri"/>
              </a:rPr>
              <a:t>berikut</a:t>
            </a:r>
            <a:r>
              <a:rPr lang="en-US" sz="1800" dirty="0">
                <a:latin typeface="Calibri"/>
                <a:ea typeface="Calibri"/>
                <a:cs typeface="Calibri"/>
                <a:sym typeface="Calibri"/>
              </a:rPr>
              <a:t>: </a:t>
            </a:r>
            <a:endParaRPr lang="en-US" dirty="0"/>
          </a:p>
          <a:p>
            <a:pPr marL="457200" lvl="1" indent="-298450" algn="just">
              <a:lnSpc>
                <a:spcPct val="125000"/>
              </a:lnSpc>
              <a:spcBef>
                <a:spcPts val="600"/>
              </a:spcBef>
              <a:buSzPts val="1100"/>
              <a:buChar char="○"/>
            </a:pPr>
            <a:r>
              <a:rPr lang="en-US" sz="1800" dirty="0" err="1">
                <a:latin typeface="Calibri"/>
                <a:ea typeface="Calibri"/>
                <a:cs typeface="Calibri"/>
                <a:sym typeface="Calibri"/>
              </a:rPr>
              <a:t>berkas-berkas</a:t>
            </a:r>
            <a:r>
              <a:rPr lang="en-US" sz="1800" dirty="0">
                <a:latin typeface="Calibri"/>
                <a:ea typeface="Calibri"/>
                <a:cs typeface="Calibri"/>
                <a:sym typeface="Calibri"/>
              </a:rPr>
              <a:t> </a:t>
            </a:r>
            <a:r>
              <a:rPr lang="en-US" sz="1800" i="1" dirty="0">
                <a:latin typeface="Calibri"/>
                <a:ea typeface="Calibri"/>
                <a:cs typeface="Calibri"/>
                <a:sym typeface="Calibri"/>
              </a:rPr>
              <a:t>spreadsheets</a:t>
            </a:r>
            <a:r>
              <a:rPr lang="en-US" sz="1800" dirty="0">
                <a:latin typeface="Calibri"/>
                <a:ea typeface="Calibri"/>
                <a:cs typeface="Calibri"/>
                <a:sym typeface="Calibri"/>
              </a:rPr>
              <a:t> (Excel, </a:t>
            </a:r>
            <a:r>
              <a:rPr lang="en-US" sz="1800" i="1" dirty="0">
                <a:latin typeface="Calibri"/>
                <a:ea typeface="Calibri"/>
                <a:cs typeface="Calibri"/>
                <a:sym typeface="Calibri"/>
              </a:rPr>
              <a:t>comma-separated values</a:t>
            </a:r>
            <a:r>
              <a:rPr lang="en-US" sz="1800" dirty="0">
                <a:latin typeface="Calibri"/>
                <a:ea typeface="Calibri"/>
                <a:cs typeface="Calibri"/>
                <a:sym typeface="Calibri"/>
              </a:rPr>
              <a:t> (CSV), JSON, </a:t>
            </a:r>
            <a:r>
              <a:rPr lang="en-US" sz="1800" dirty="0" err="1">
                <a:latin typeface="Calibri"/>
                <a:ea typeface="Calibri"/>
                <a:cs typeface="Calibri"/>
                <a:sym typeface="Calibri"/>
              </a:rPr>
              <a:t>dll</a:t>
            </a:r>
            <a:r>
              <a:rPr lang="en-US" sz="1800" dirty="0">
                <a:latin typeface="Calibri"/>
                <a:ea typeface="Calibri"/>
                <a:cs typeface="Calibri"/>
                <a:sym typeface="Calibri"/>
              </a:rPr>
              <a:t>.),</a:t>
            </a:r>
            <a:endParaRPr lang="en-US" dirty="0"/>
          </a:p>
          <a:p>
            <a:pPr marL="457200" lvl="1" indent="-298450" algn="just">
              <a:lnSpc>
                <a:spcPct val="125000"/>
              </a:lnSpc>
              <a:spcBef>
                <a:spcPts val="600"/>
              </a:spcBef>
              <a:buSzPts val="1100"/>
              <a:buChar char="○"/>
            </a:pPr>
            <a:r>
              <a:rPr lang="en-US" sz="1800" dirty="0">
                <a:latin typeface="Calibri"/>
                <a:ea typeface="Calibri"/>
                <a:cs typeface="Calibri"/>
                <a:sym typeface="Calibri"/>
              </a:rPr>
              <a:t>basis data internal </a:t>
            </a:r>
            <a:r>
              <a:rPr lang="en-US" sz="1800" dirty="0" err="1">
                <a:latin typeface="Calibri"/>
                <a:ea typeface="Calibri"/>
                <a:cs typeface="Calibri"/>
                <a:sym typeface="Calibri"/>
              </a:rPr>
              <a:t>organisasi</a:t>
            </a:r>
            <a:r>
              <a:rPr lang="en-US" sz="1800" dirty="0">
                <a:latin typeface="Calibri"/>
                <a:ea typeface="Calibri"/>
                <a:cs typeface="Calibri"/>
                <a:sym typeface="Calibri"/>
              </a:rPr>
              <a:t> yang </a:t>
            </a:r>
            <a:r>
              <a:rPr lang="en-US" sz="1800" dirty="0" err="1">
                <a:latin typeface="Calibri"/>
                <a:ea typeface="Calibri"/>
                <a:cs typeface="Calibri"/>
                <a:sym typeface="Calibri"/>
              </a:rPr>
              <a:t>dapat</a:t>
            </a:r>
            <a:r>
              <a:rPr lang="en-US" sz="1800" dirty="0">
                <a:latin typeface="Calibri"/>
                <a:ea typeface="Calibri"/>
                <a:cs typeface="Calibri"/>
                <a:sym typeface="Calibri"/>
              </a:rPr>
              <a:t> </a:t>
            </a:r>
            <a:r>
              <a:rPr lang="en-US" sz="1800" dirty="0" err="1">
                <a:latin typeface="Calibri"/>
                <a:ea typeface="Calibri"/>
                <a:cs typeface="Calibri"/>
                <a:sym typeface="Calibri"/>
              </a:rPr>
              <a:t>diakses</a:t>
            </a:r>
            <a:r>
              <a:rPr lang="en-US" sz="1800" dirty="0">
                <a:latin typeface="Calibri"/>
                <a:ea typeface="Calibri"/>
                <a:cs typeface="Calibri"/>
                <a:sym typeface="Calibri"/>
              </a:rPr>
              <a:t> </a:t>
            </a:r>
            <a:r>
              <a:rPr lang="en-US" sz="1800" dirty="0" err="1">
                <a:latin typeface="Calibri"/>
                <a:ea typeface="Calibri"/>
                <a:cs typeface="Calibri"/>
                <a:sym typeface="Calibri"/>
              </a:rPr>
              <a:t>dengan</a:t>
            </a:r>
            <a:r>
              <a:rPr lang="en-US" sz="1800" dirty="0">
                <a:latin typeface="Calibri"/>
                <a:ea typeface="Calibri"/>
                <a:cs typeface="Calibri"/>
                <a:sym typeface="Calibri"/>
              </a:rPr>
              <a:t> </a:t>
            </a:r>
            <a:r>
              <a:rPr lang="en-US" sz="1800" dirty="0" err="1">
                <a:latin typeface="Calibri"/>
                <a:ea typeface="Calibri"/>
                <a:cs typeface="Calibri"/>
                <a:sym typeface="Calibri"/>
              </a:rPr>
              <a:t>kueri</a:t>
            </a:r>
            <a:r>
              <a:rPr lang="en-US" sz="1800" dirty="0">
                <a:latin typeface="Calibri"/>
                <a:ea typeface="Calibri"/>
                <a:cs typeface="Calibri"/>
                <a:sym typeface="Calibri"/>
              </a:rPr>
              <a:t> (SQL, </a:t>
            </a:r>
            <a:r>
              <a:rPr lang="en-US" sz="1800" dirty="0" err="1">
                <a:latin typeface="Calibri"/>
                <a:ea typeface="Calibri"/>
                <a:cs typeface="Calibri"/>
                <a:sym typeface="Calibri"/>
              </a:rPr>
              <a:t>atau</a:t>
            </a:r>
            <a:r>
              <a:rPr lang="en-US" sz="1800" dirty="0">
                <a:latin typeface="Calibri"/>
                <a:ea typeface="Calibri"/>
                <a:cs typeface="Calibri"/>
                <a:sym typeface="Calibri"/>
              </a:rPr>
              <a:t> </a:t>
            </a:r>
            <a:r>
              <a:rPr lang="en-US" sz="1800" dirty="0" err="1">
                <a:latin typeface="Calibri"/>
                <a:ea typeface="Calibri"/>
                <a:cs typeface="Calibri"/>
                <a:sym typeface="Calibri"/>
              </a:rPr>
              <a:t>bahasa</a:t>
            </a:r>
            <a:r>
              <a:rPr lang="en-US" sz="1800" dirty="0">
                <a:latin typeface="Calibri"/>
                <a:ea typeface="Calibri"/>
                <a:cs typeface="Calibri"/>
                <a:sym typeface="Calibri"/>
              </a:rPr>
              <a:t> </a:t>
            </a:r>
            <a:r>
              <a:rPr lang="en-US" sz="1800" dirty="0" err="1">
                <a:latin typeface="Calibri"/>
                <a:ea typeface="Calibri"/>
                <a:cs typeface="Calibri"/>
                <a:sym typeface="Calibri"/>
              </a:rPr>
              <a:t>kueri</a:t>
            </a:r>
            <a:r>
              <a:rPr lang="en-US" sz="1800" dirty="0">
                <a:latin typeface="Calibri"/>
                <a:ea typeface="Calibri"/>
                <a:cs typeface="Calibri"/>
                <a:sym typeface="Calibri"/>
              </a:rPr>
              <a:t> </a:t>
            </a:r>
            <a:r>
              <a:rPr lang="en-US" sz="1800" dirty="0" err="1">
                <a:latin typeface="Calibri"/>
                <a:ea typeface="Calibri"/>
                <a:cs typeface="Calibri"/>
                <a:sym typeface="Calibri"/>
              </a:rPr>
              <a:t>lainnya</a:t>
            </a:r>
            <a:r>
              <a:rPr lang="en-US" sz="1800" dirty="0">
                <a:latin typeface="Calibri"/>
                <a:ea typeface="Calibri"/>
                <a:cs typeface="Calibri"/>
                <a:sym typeface="Calibri"/>
              </a:rPr>
              <a:t>), </a:t>
            </a:r>
            <a:endParaRPr lang="en-US" dirty="0"/>
          </a:p>
          <a:p>
            <a:pPr marL="457200" lvl="1" indent="-298450" algn="just">
              <a:lnSpc>
                <a:spcPct val="125000"/>
              </a:lnSpc>
              <a:spcBef>
                <a:spcPts val="600"/>
              </a:spcBef>
              <a:buSzPts val="1100"/>
              <a:buChar char="○"/>
            </a:pPr>
            <a:r>
              <a:rPr lang="en-US" sz="1800" dirty="0" err="1">
                <a:latin typeface="Calibri"/>
                <a:ea typeface="Calibri"/>
                <a:cs typeface="Calibri"/>
                <a:sym typeface="Calibri"/>
              </a:rPr>
              <a:t>dokumen-dokumen</a:t>
            </a:r>
            <a:r>
              <a:rPr lang="en-US" sz="1800" dirty="0">
                <a:latin typeface="Calibri"/>
                <a:ea typeface="Calibri"/>
                <a:cs typeface="Calibri"/>
                <a:sym typeface="Calibri"/>
              </a:rPr>
              <a:t> </a:t>
            </a:r>
            <a:r>
              <a:rPr lang="en-US" sz="1800" dirty="0" err="1">
                <a:latin typeface="Calibri"/>
                <a:ea typeface="Calibri"/>
                <a:cs typeface="Calibri"/>
                <a:sym typeface="Calibri"/>
              </a:rPr>
              <a:t>teks</a:t>
            </a:r>
            <a:r>
              <a:rPr lang="en-US" sz="1800" dirty="0">
                <a:latin typeface="Calibri"/>
                <a:ea typeface="Calibri"/>
                <a:cs typeface="Calibri"/>
                <a:sym typeface="Calibri"/>
              </a:rPr>
              <a:t> internal </a:t>
            </a:r>
            <a:r>
              <a:rPr lang="en-US" sz="1800" dirty="0" err="1">
                <a:latin typeface="Calibri"/>
                <a:ea typeface="Calibri"/>
                <a:cs typeface="Calibri"/>
                <a:sym typeface="Calibri"/>
              </a:rPr>
              <a:t>organisasi</a:t>
            </a:r>
            <a:r>
              <a:rPr lang="en-US" sz="1800" dirty="0">
                <a:latin typeface="Calibri"/>
                <a:ea typeface="Calibri"/>
                <a:cs typeface="Calibri"/>
                <a:sym typeface="Calibri"/>
              </a:rPr>
              <a:t>, </a:t>
            </a:r>
            <a:endParaRPr lang="en-US" dirty="0"/>
          </a:p>
          <a:p>
            <a:pPr marL="457200" lvl="1" indent="-298450" algn="just">
              <a:lnSpc>
                <a:spcPct val="125000"/>
              </a:lnSpc>
              <a:spcBef>
                <a:spcPts val="600"/>
              </a:spcBef>
              <a:buSzPts val="1100"/>
              <a:buChar char="○"/>
            </a:pPr>
            <a:r>
              <a:rPr lang="en-US" sz="1800" dirty="0" err="1">
                <a:latin typeface="Calibri"/>
                <a:ea typeface="Calibri"/>
                <a:cs typeface="Calibri"/>
                <a:sym typeface="Calibri"/>
              </a:rPr>
              <a:t>berkas-berkas</a:t>
            </a:r>
            <a:r>
              <a:rPr lang="en-US" sz="1800" dirty="0">
                <a:latin typeface="Calibri"/>
                <a:ea typeface="Calibri"/>
                <a:cs typeface="Calibri"/>
                <a:sym typeface="Calibri"/>
              </a:rPr>
              <a:t> multimedia (audio dan/</a:t>
            </a:r>
            <a:r>
              <a:rPr lang="en-US" sz="1800" dirty="0" err="1">
                <a:latin typeface="Calibri"/>
                <a:ea typeface="Calibri"/>
                <a:cs typeface="Calibri"/>
                <a:sym typeface="Calibri"/>
              </a:rPr>
              <a:t>atau</a:t>
            </a:r>
            <a:r>
              <a:rPr lang="en-US" sz="1800" dirty="0">
                <a:latin typeface="Calibri"/>
                <a:ea typeface="Calibri"/>
                <a:cs typeface="Calibri"/>
                <a:sym typeface="Calibri"/>
              </a:rPr>
              <a:t> video).</a:t>
            </a:r>
            <a:endParaRPr lang="en-US" dirty="0"/>
          </a:p>
          <a:p>
            <a:pPr marL="0" lvl="0" indent="-69850" algn="just">
              <a:lnSpc>
                <a:spcPct val="125000"/>
              </a:lnSpc>
              <a:spcBef>
                <a:spcPts val="600"/>
              </a:spcBef>
              <a:spcAft>
                <a:spcPts val="600"/>
              </a:spcAft>
              <a:buSzPts val="1100"/>
              <a:buChar char="●"/>
            </a:pPr>
            <a:r>
              <a:rPr lang="en-US" sz="1800" dirty="0" err="1">
                <a:latin typeface="Calibri"/>
                <a:ea typeface="Calibri"/>
                <a:cs typeface="Calibri"/>
                <a:sym typeface="Calibri"/>
              </a:rPr>
              <a:t>Sumber-sumber</a:t>
            </a:r>
            <a:r>
              <a:rPr lang="en-US" sz="1800" dirty="0">
                <a:latin typeface="Calibri"/>
                <a:ea typeface="Calibri"/>
                <a:cs typeface="Calibri"/>
                <a:sym typeface="Calibri"/>
              </a:rPr>
              <a:t> data </a:t>
            </a:r>
            <a:r>
              <a:rPr lang="en-US" sz="1800" dirty="0" err="1">
                <a:latin typeface="Calibri"/>
                <a:ea typeface="Calibri"/>
                <a:cs typeface="Calibri"/>
                <a:sym typeface="Calibri"/>
              </a:rPr>
              <a:t>eksternal</a:t>
            </a:r>
            <a:r>
              <a:rPr lang="en-US" sz="1800" dirty="0">
                <a:latin typeface="Calibri"/>
                <a:ea typeface="Calibri"/>
                <a:cs typeface="Calibri"/>
                <a:sym typeface="Calibri"/>
              </a:rPr>
              <a:t> </a:t>
            </a:r>
            <a:r>
              <a:rPr lang="en-US" sz="1800" dirty="0" err="1">
                <a:latin typeface="Calibri"/>
                <a:ea typeface="Calibri"/>
                <a:cs typeface="Calibri"/>
                <a:sym typeface="Calibri"/>
              </a:rPr>
              <a:t>organisasi</a:t>
            </a:r>
            <a:r>
              <a:rPr lang="en-US" sz="1800" dirty="0">
                <a:latin typeface="Calibri"/>
                <a:ea typeface="Calibri"/>
                <a:cs typeface="Calibri"/>
                <a:sym typeface="Calibri"/>
              </a:rPr>
              <a:t> </a:t>
            </a:r>
            <a:r>
              <a:rPr lang="en-US" sz="1800" dirty="0" err="1">
                <a:latin typeface="Calibri"/>
                <a:ea typeface="Calibri"/>
                <a:cs typeface="Calibri"/>
                <a:sym typeface="Calibri"/>
              </a:rPr>
              <a:t>dapat</a:t>
            </a:r>
            <a:r>
              <a:rPr lang="en-US" sz="1800" dirty="0">
                <a:latin typeface="Calibri"/>
                <a:ea typeface="Calibri"/>
                <a:cs typeface="Calibri"/>
                <a:sym typeface="Calibri"/>
              </a:rPr>
              <a:t> </a:t>
            </a:r>
            <a:r>
              <a:rPr lang="en-US" sz="1800" dirty="0" err="1">
                <a:latin typeface="Calibri"/>
                <a:ea typeface="Calibri"/>
                <a:cs typeface="Calibri"/>
                <a:sym typeface="Calibri"/>
              </a:rPr>
              <a:t>berasal</a:t>
            </a:r>
            <a:r>
              <a:rPr lang="en-US" sz="1800" dirty="0">
                <a:latin typeface="Calibri"/>
                <a:ea typeface="Calibri"/>
                <a:cs typeface="Calibri"/>
                <a:sym typeface="Calibri"/>
              </a:rPr>
              <a:t> </a:t>
            </a:r>
            <a:r>
              <a:rPr lang="en-US" sz="1800" dirty="0" err="1">
                <a:latin typeface="Calibri"/>
                <a:ea typeface="Calibri"/>
                <a:cs typeface="Calibri"/>
                <a:sym typeface="Calibri"/>
              </a:rPr>
              <a:t>dari</a:t>
            </a:r>
            <a:r>
              <a:rPr lang="en-US" sz="1800" dirty="0">
                <a:latin typeface="Calibri"/>
                <a:ea typeface="Calibri"/>
                <a:cs typeface="Calibri"/>
                <a:sym typeface="Calibri"/>
              </a:rPr>
              <a:t> </a:t>
            </a:r>
            <a:r>
              <a:rPr lang="en-US" sz="1800" dirty="0" err="1">
                <a:latin typeface="Calibri"/>
                <a:ea typeface="Calibri"/>
                <a:cs typeface="Calibri"/>
                <a:sym typeface="Calibri"/>
              </a:rPr>
              <a:t>organisasi-organisasi</a:t>
            </a:r>
            <a:r>
              <a:rPr lang="en-US" sz="1800" dirty="0">
                <a:latin typeface="Calibri"/>
                <a:ea typeface="Calibri"/>
                <a:cs typeface="Calibri"/>
                <a:sym typeface="Calibri"/>
              </a:rPr>
              <a:t> lain yang </a:t>
            </a:r>
            <a:r>
              <a:rPr lang="en-US" sz="1800" dirty="0" err="1">
                <a:latin typeface="Calibri"/>
                <a:ea typeface="Calibri"/>
                <a:cs typeface="Calibri"/>
                <a:sym typeface="Calibri"/>
              </a:rPr>
              <a:t>memberikan</a:t>
            </a:r>
            <a:r>
              <a:rPr lang="en-US" sz="1800" dirty="0">
                <a:latin typeface="Calibri"/>
                <a:ea typeface="Calibri"/>
                <a:cs typeface="Calibri"/>
                <a:sym typeface="Calibri"/>
              </a:rPr>
              <a:t> </a:t>
            </a:r>
            <a:r>
              <a:rPr lang="en-US" sz="1800" dirty="0" err="1">
                <a:latin typeface="Calibri"/>
                <a:ea typeface="Calibri"/>
                <a:cs typeface="Calibri"/>
                <a:sym typeface="Calibri"/>
              </a:rPr>
              <a:t>kita</a:t>
            </a:r>
            <a:r>
              <a:rPr lang="en-US" sz="1800" dirty="0">
                <a:latin typeface="Calibri"/>
                <a:ea typeface="Calibri"/>
                <a:cs typeface="Calibri"/>
                <a:sym typeface="Calibri"/>
              </a:rPr>
              <a:t> </a:t>
            </a:r>
            <a:r>
              <a:rPr lang="en-US" sz="1800" dirty="0" err="1">
                <a:latin typeface="Calibri"/>
                <a:ea typeface="Calibri"/>
                <a:cs typeface="Calibri"/>
                <a:sym typeface="Calibri"/>
              </a:rPr>
              <a:t>akses</a:t>
            </a:r>
            <a:r>
              <a:rPr lang="en-US" sz="1800" dirty="0">
                <a:latin typeface="Calibri"/>
                <a:ea typeface="Calibri"/>
                <a:cs typeface="Calibri"/>
                <a:sym typeface="Calibri"/>
              </a:rPr>
              <a:t> </a:t>
            </a:r>
            <a:r>
              <a:rPr lang="en-US" sz="1800" dirty="0" err="1">
                <a:latin typeface="Calibri"/>
                <a:ea typeface="Calibri"/>
                <a:cs typeface="Calibri"/>
                <a:sym typeface="Calibri"/>
              </a:rPr>
              <a:t>khusus</a:t>
            </a:r>
            <a:r>
              <a:rPr lang="en-US" sz="1800" dirty="0">
                <a:latin typeface="Calibri"/>
                <a:ea typeface="Calibri"/>
                <a:cs typeface="Calibri"/>
                <a:sym typeface="Calibri"/>
              </a:rPr>
              <a:t> </a:t>
            </a:r>
            <a:r>
              <a:rPr lang="en-US" sz="1800" dirty="0" err="1">
                <a:latin typeface="Calibri"/>
                <a:ea typeface="Calibri"/>
                <a:cs typeface="Calibri"/>
                <a:sym typeface="Calibri"/>
              </a:rPr>
              <a:t>terhadap</a:t>
            </a:r>
            <a:r>
              <a:rPr lang="en-US" sz="1800" dirty="0">
                <a:latin typeface="Calibri"/>
                <a:ea typeface="Calibri"/>
                <a:cs typeface="Calibri"/>
                <a:sym typeface="Calibri"/>
              </a:rPr>
              <a:t> data-data yang </a:t>
            </a:r>
            <a:r>
              <a:rPr lang="en-US" sz="1800" dirty="0" err="1">
                <a:latin typeface="Calibri"/>
                <a:ea typeface="Calibri"/>
                <a:cs typeface="Calibri"/>
                <a:sym typeface="Calibri"/>
              </a:rPr>
              <a:t>mereka</a:t>
            </a:r>
            <a:r>
              <a:rPr lang="en-US" sz="1800" dirty="0">
                <a:latin typeface="Calibri"/>
                <a:ea typeface="Calibri"/>
                <a:cs typeface="Calibri"/>
                <a:sym typeface="Calibri"/>
              </a:rPr>
              <a:t> </a:t>
            </a:r>
            <a:r>
              <a:rPr lang="en-US" sz="1800" dirty="0" err="1">
                <a:latin typeface="Calibri"/>
                <a:ea typeface="Calibri"/>
                <a:cs typeface="Calibri"/>
                <a:sym typeface="Calibri"/>
              </a:rPr>
              <a:t>miliki</a:t>
            </a:r>
            <a:r>
              <a:rPr lang="en-US" sz="1800" dirty="0">
                <a:latin typeface="Calibri"/>
                <a:ea typeface="Calibri"/>
                <a:cs typeface="Calibri"/>
                <a:sym typeface="Calibri"/>
              </a:rPr>
              <a:t>, </a:t>
            </a:r>
            <a:r>
              <a:rPr lang="en-US" sz="1800" dirty="0" err="1">
                <a:latin typeface="Calibri"/>
                <a:ea typeface="Calibri"/>
                <a:cs typeface="Calibri"/>
                <a:sym typeface="Calibri"/>
              </a:rPr>
              <a:t>atau</a:t>
            </a:r>
            <a:r>
              <a:rPr lang="en-US" sz="1800" dirty="0">
                <a:latin typeface="Calibri"/>
                <a:ea typeface="Calibri"/>
                <a:cs typeface="Calibri"/>
                <a:sym typeface="Calibri"/>
              </a:rPr>
              <a:t> </a:t>
            </a:r>
            <a:r>
              <a:rPr lang="en-US" sz="1800" dirty="0" err="1">
                <a:latin typeface="Calibri"/>
                <a:ea typeface="Calibri"/>
                <a:cs typeface="Calibri"/>
                <a:sym typeface="Calibri"/>
              </a:rPr>
              <a:t>dari</a:t>
            </a:r>
            <a:r>
              <a:rPr lang="en-US" sz="1800" dirty="0">
                <a:latin typeface="Calibri"/>
                <a:ea typeface="Calibri"/>
                <a:cs typeface="Calibri"/>
                <a:sym typeface="Calibri"/>
              </a:rPr>
              <a:t> situs-situs Web yang </a:t>
            </a:r>
            <a:r>
              <a:rPr lang="en-US" sz="1800" dirty="0" err="1">
                <a:latin typeface="Calibri"/>
                <a:ea typeface="Calibri"/>
                <a:cs typeface="Calibri"/>
                <a:sym typeface="Calibri"/>
              </a:rPr>
              <a:t>membagi</a:t>
            </a:r>
            <a:r>
              <a:rPr lang="en-US" sz="1800" dirty="0">
                <a:latin typeface="Calibri"/>
                <a:ea typeface="Calibri"/>
                <a:cs typeface="Calibri"/>
                <a:sym typeface="Calibri"/>
              </a:rPr>
              <a:t> data </a:t>
            </a:r>
            <a:r>
              <a:rPr lang="en-US" sz="1800" dirty="0" err="1">
                <a:latin typeface="Calibri"/>
                <a:ea typeface="Calibri"/>
                <a:cs typeface="Calibri"/>
                <a:sym typeface="Calibri"/>
              </a:rPr>
              <a:t>dalam</a:t>
            </a:r>
            <a:r>
              <a:rPr lang="en-US" sz="1800" dirty="0">
                <a:latin typeface="Calibri"/>
                <a:ea typeface="Calibri"/>
                <a:cs typeface="Calibri"/>
                <a:sym typeface="Calibri"/>
              </a:rPr>
              <a:t> </a:t>
            </a:r>
            <a:r>
              <a:rPr lang="en-US" sz="1800" dirty="0" err="1">
                <a:latin typeface="Calibri"/>
                <a:ea typeface="Calibri"/>
                <a:cs typeface="Calibri"/>
                <a:sym typeface="Calibri"/>
              </a:rPr>
              <a:t>berbagai</a:t>
            </a:r>
            <a:r>
              <a:rPr lang="en-US" sz="1800" dirty="0">
                <a:latin typeface="Calibri"/>
                <a:ea typeface="Calibri"/>
                <a:cs typeface="Calibri"/>
                <a:sym typeface="Calibri"/>
              </a:rPr>
              <a:t> format, </a:t>
            </a:r>
            <a:r>
              <a:rPr lang="en-US" sz="1800" dirty="0" err="1">
                <a:latin typeface="Calibri"/>
                <a:ea typeface="Calibri"/>
                <a:cs typeface="Calibri"/>
                <a:sym typeface="Calibri"/>
              </a:rPr>
              <a:t>moda</a:t>
            </a:r>
            <a:r>
              <a:rPr lang="en-US" sz="1800" dirty="0">
                <a:latin typeface="Calibri"/>
                <a:ea typeface="Calibri"/>
                <a:cs typeface="Calibri"/>
                <a:sym typeface="Calibri"/>
              </a:rPr>
              <a:t> </a:t>
            </a:r>
            <a:r>
              <a:rPr lang="en-US" sz="1800" dirty="0" err="1">
                <a:latin typeface="Calibri"/>
                <a:ea typeface="Calibri"/>
                <a:cs typeface="Calibri"/>
                <a:sym typeface="Calibri"/>
              </a:rPr>
              <a:t>akses</a:t>
            </a:r>
            <a:r>
              <a:rPr lang="en-US" sz="1800" dirty="0">
                <a:latin typeface="Calibri"/>
                <a:ea typeface="Calibri"/>
                <a:cs typeface="Calibri"/>
                <a:sym typeface="Calibri"/>
              </a:rPr>
              <a:t>, dan </a:t>
            </a:r>
            <a:r>
              <a:rPr lang="en-US" sz="1800" dirty="0" err="1">
                <a:latin typeface="Calibri"/>
                <a:ea typeface="Calibri"/>
                <a:cs typeface="Calibri"/>
                <a:sym typeface="Calibri"/>
              </a:rPr>
              <a:t>lisensi</a:t>
            </a:r>
            <a:r>
              <a:rPr lang="en-US" sz="1800" dirty="0">
                <a:latin typeface="Calibri"/>
                <a:ea typeface="Calibri"/>
                <a:cs typeface="Calibri"/>
                <a:sym typeface="Calibri"/>
              </a:rPr>
              <a:t>. Sebagian situs-situs Web </a:t>
            </a:r>
            <a:r>
              <a:rPr lang="en-US" sz="1800" dirty="0" err="1">
                <a:latin typeface="Calibri"/>
                <a:ea typeface="Calibri"/>
                <a:cs typeface="Calibri"/>
                <a:sym typeface="Calibri"/>
              </a:rPr>
              <a:t>tersebut</a:t>
            </a:r>
            <a:r>
              <a:rPr lang="en-US" sz="1800" dirty="0">
                <a:latin typeface="Calibri"/>
                <a:ea typeface="Calibri"/>
                <a:cs typeface="Calibri"/>
                <a:sym typeface="Calibri"/>
              </a:rPr>
              <a:t> </a:t>
            </a:r>
            <a:r>
              <a:rPr lang="en-US" sz="1800" dirty="0" err="1">
                <a:latin typeface="Calibri"/>
                <a:ea typeface="Calibri"/>
                <a:cs typeface="Calibri"/>
                <a:sym typeface="Calibri"/>
              </a:rPr>
              <a:t>merupakan</a:t>
            </a:r>
            <a:r>
              <a:rPr lang="en-US" sz="1800" dirty="0">
                <a:latin typeface="Calibri"/>
                <a:ea typeface="Calibri"/>
                <a:cs typeface="Calibri"/>
                <a:sym typeface="Calibri"/>
              </a:rPr>
              <a:t> </a:t>
            </a:r>
            <a:r>
              <a:rPr lang="en-US" sz="1800" dirty="0" err="1">
                <a:latin typeface="Calibri"/>
                <a:ea typeface="Calibri"/>
                <a:cs typeface="Calibri"/>
                <a:sym typeface="Calibri"/>
              </a:rPr>
              <a:t>repositori</a:t>
            </a:r>
            <a:r>
              <a:rPr lang="en-US" sz="1800" dirty="0">
                <a:latin typeface="Calibri"/>
                <a:ea typeface="Calibri"/>
                <a:cs typeface="Calibri"/>
                <a:sym typeface="Calibri"/>
              </a:rPr>
              <a:t> data </a:t>
            </a:r>
            <a:r>
              <a:rPr lang="en-US" sz="1800" dirty="0" err="1">
                <a:latin typeface="Calibri"/>
                <a:ea typeface="Calibri"/>
                <a:cs typeface="Calibri"/>
                <a:sym typeface="Calibri"/>
              </a:rPr>
              <a:t>terbuka</a:t>
            </a:r>
            <a:r>
              <a:rPr lang="en-US" sz="1800" dirty="0">
                <a:latin typeface="Calibri"/>
                <a:ea typeface="Calibri"/>
                <a:cs typeface="Calibri"/>
                <a:sym typeface="Calibri"/>
              </a:rPr>
              <a:t> (</a:t>
            </a:r>
            <a:r>
              <a:rPr lang="en-US" sz="1800" i="1" dirty="0">
                <a:latin typeface="Calibri"/>
                <a:ea typeface="Calibri"/>
                <a:cs typeface="Calibri"/>
                <a:sym typeface="Calibri"/>
              </a:rPr>
              <a:t>open data repository</a:t>
            </a:r>
            <a:r>
              <a:rPr lang="en-US" sz="1800" dirty="0">
                <a:latin typeface="Calibri"/>
                <a:ea typeface="Calibri"/>
                <a:cs typeface="Calibri"/>
                <a:sym typeface="Calibri"/>
              </a:rPr>
              <a:t>) </a:t>
            </a:r>
            <a:r>
              <a:rPr lang="en-US" sz="1800" dirty="0" err="1">
                <a:latin typeface="Calibri"/>
                <a:ea typeface="Calibri"/>
                <a:cs typeface="Calibri"/>
                <a:sym typeface="Calibri"/>
              </a:rPr>
              <a:t>memberikan</a:t>
            </a:r>
            <a:r>
              <a:rPr lang="en-US" sz="1800" dirty="0">
                <a:latin typeface="Calibri"/>
                <a:ea typeface="Calibri"/>
                <a:cs typeface="Calibri"/>
                <a:sym typeface="Calibri"/>
              </a:rPr>
              <a:t> </a:t>
            </a:r>
            <a:r>
              <a:rPr lang="en-US" sz="1800" dirty="0" err="1">
                <a:latin typeface="Calibri"/>
                <a:ea typeface="Calibri"/>
                <a:cs typeface="Calibri"/>
                <a:sym typeface="Calibri"/>
              </a:rPr>
              <a:t>akses</a:t>
            </a:r>
            <a:r>
              <a:rPr lang="en-US" sz="1800" dirty="0">
                <a:latin typeface="Calibri"/>
                <a:ea typeface="Calibri"/>
                <a:cs typeface="Calibri"/>
                <a:sym typeface="Calibri"/>
              </a:rPr>
              <a:t> </a:t>
            </a:r>
            <a:r>
              <a:rPr lang="en-US" sz="1800" dirty="0" err="1">
                <a:latin typeface="Calibri"/>
                <a:ea typeface="Calibri"/>
                <a:cs typeface="Calibri"/>
                <a:sym typeface="Calibri"/>
              </a:rPr>
              <a:t>terhadap</a:t>
            </a:r>
            <a:r>
              <a:rPr lang="en-US" sz="1800" dirty="0">
                <a:latin typeface="Calibri"/>
                <a:ea typeface="Calibri"/>
                <a:cs typeface="Calibri"/>
                <a:sym typeface="Calibri"/>
              </a:rPr>
              <a:t> </a:t>
            </a:r>
            <a:r>
              <a:rPr lang="en-US" sz="1800" dirty="0" err="1">
                <a:latin typeface="Calibri"/>
                <a:ea typeface="Calibri"/>
                <a:cs typeface="Calibri"/>
                <a:sym typeface="Calibri"/>
              </a:rPr>
              <a:t>himpunan-himpunan</a:t>
            </a:r>
            <a:r>
              <a:rPr lang="en-US" sz="1800" dirty="0">
                <a:latin typeface="Calibri"/>
                <a:ea typeface="Calibri"/>
                <a:cs typeface="Calibri"/>
                <a:sym typeface="Calibri"/>
              </a:rPr>
              <a:t> data yang </a:t>
            </a:r>
            <a:r>
              <a:rPr lang="en-US" sz="1800" dirty="0" err="1">
                <a:latin typeface="Calibri"/>
                <a:ea typeface="Calibri"/>
                <a:cs typeface="Calibri"/>
                <a:sym typeface="Calibri"/>
              </a:rPr>
              <a:t>dapat</a:t>
            </a:r>
            <a:r>
              <a:rPr lang="en-US" sz="1800" dirty="0">
                <a:latin typeface="Calibri"/>
                <a:ea typeface="Calibri"/>
                <a:cs typeface="Calibri"/>
                <a:sym typeface="Calibri"/>
              </a:rPr>
              <a:t> </a:t>
            </a:r>
            <a:r>
              <a:rPr lang="en-US" sz="1800" dirty="0" err="1">
                <a:latin typeface="Calibri"/>
                <a:ea typeface="Calibri"/>
                <a:cs typeface="Calibri"/>
                <a:sym typeface="Calibri"/>
              </a:rPr>
              <a:t>secara</a:t>
            </a:r>
            <a:r>
              <a:rPr lang="en-US" sz="1800" dirty="0">
                <a:latin typeface="Calibri"/>
                <a:ea typeface="Calibri"/>
                <a:cs typeface="Calibri"/>
                <a:sym typeface="Calibri"/>
              </a:rPr>
              <a:t> </a:t>
            </a:r>
            <a:r>
              <a:rPr lang="en-US" sz="1800" dirty="0" err="1">
                <a:latin typeface="Calibri"/>
                <a:ea typeface="Calibri"/>
                <a:cs typeface="Calibri"/>
                <a:sym typeface="Calibri"/>
              </a:rPr>
              <a:t>bebas</a:t>
            </a:r>
            <a:r>
              <a:rPr lang="en-US" sz="1800" dirty="0">
                <a:latin typeface="Calibri"/>
                <a:ea typeface="Calibri"/>
                <a:cs typeface="Calibri"/>
                <a:sym typeface="Calibri"/>
              </a:rPr>
              <a:t> </a:t>
            </a:r>
            <a:r>
              <a:rPr lang="en-US" sz="1800" dirty="0" err="1">
                <a:latin typeface="Calibri"/>
                <a:ea typeface="Calibri"/>
                <a:cs typeface="Calibri"/>
                <a:sym typeface="Calibri"/>
              </a:rPr>
              <a:t>digunakan</a:t>
            </a:r>
            <a:r>
              <a:rPr lang="en-US" sz="1800" dirty="0">
                <a:latin typeface="Calibri"/>
                <a:ea typeface="Calibri"/>
                <a:cs typeface="Calibri"/>
                <a:sym typeface="Calibri"/>
              </a:rPr>
              <a:t> </a:t>
            </a:r>
            <a:r>
              <a:rPr lang="en-US" sz="1800" dirty="0" err="1">
                <a:latin typeface="Calibri"/>
                <a:ea typeface="Calibri"/>
                <a:cs typeface="Calibri"/>
                <a:sym typeface="Calibri"/>
              </a:rPr>
              <a:t>kembali</a:t>
            </a:r>
            <a:r>
              <a:rPr lang="en-US" sz="1800" dirty="0">
                <a:latin typeface="Calibri"/>
                <a:ea typeface="Calibri"/>
                <a:cs typeface="Calibri"/>
                <a:sym typeface="Calibri"/>
              </a:rPr>
              <a:t> (</a:t>
            </a:r>
            <a:r>
              <a:rPr lang="en-US" sz="1800" i="1" dirty="0">
                <a:latin typeface="Calibri"/>
                <a:ea typeface="Calibri"/>
                <a:cs typeface="Calibri"/>
                <a:sym typeface="Calibri"/>
              </a:rPr>
              <a:t>reuse</a:t>
            </a:r>
            <a:r>
              <a:rPr lang="en-US" sz="1800" dirty="0">
                <a:latin typeface="Calibri"/>
                <a:ea typeface="Calibri"/>
                <a:cs typeface="Calibri"/>
                <a:sym typeface="Calibri"/>
              </a:rPr>
              <a:t>), </a:t>
            </a:r>
            <a:r>
              <a:rPr lang="en-US" sz="1800" dirty="0" err="1">
                <a:latin typeface="Calibri"/>
                <a:ea typeface="Calibri"/>
                <a:cs typeface="Calibri"/>
                <a:sym typeface="Calibri"/>
              </a:rPr>
              <a:t>dimodifikasi</a:t>
            </a:r>
            <a:r>
              <a:rPr lang="en-US" sz="1800" dirty="0">
                <a:latin typeface="Calibri"/>
                <a:ea typeface="Calibri"/>
                <a:cs typeface="Calibri"/>
                <a:sym typeface="Calibri"/>
              </a:rPr>
              <a:t>, dan </a:t>
            </a:r>
            <a:r>
              <a:rPr lang="en-US" sz="1800" dirty="0" err="1">
                <a:latin typeface="Calibri"/>
                <a:ea typeface="Calibri"/>
                <a:cs typeface="Calibri"/>
                <a:sym typeface="Calibri"/>
              </a:rPr>
              <a:t>dibagikan</a:t>
            </a:r>
            <a:r>
              <a:rPr lang="en-US" sz="1800" dirty="0">
                <a:latin typeface="Calibri"/>
                <a:ea typeface="Calibri"/>
                <a:cs typeface="Calibri"/>
                <a:sym typeface="Calibri"/>
              </a:rPr>
              <a:t> </a:t>
            </a:r>
            <a:r>
              <a:rPr lang="en-US" sz="1800" dirty="0" err="1">
                <a:latin typeface="Calibri"/>
                <a:ea typeface="Calibri"/>
                <a:cs typeface="Calibri"/>
                <a:sym typeface="Calibri"/>
              </a:rPr>
              <a:t>kembali</a:t>
            </a:r>
            <a:r>
              <a:rPr lang="en-US" sz="1800" dirty="0">
                <a:latin typeface="Calibri"/>
                <a:ea typeface="Calibri"/>
                <a:cs typeface="Calibri"/>
                <a:sym typeface="Calibri"/>
              </a:rPr>
              <a:t> oleh </a:t>
            </a:r>
            <a:r>
              <a:rPr lang="en-US" sz="1800" dirty="0" err="1">
                <a:latin typeface="Calibri"/>
                <a:ea typeface="Calibri"/>
                <a:cs typeface="Calibri"/>
                <a:sym typeface="Calibri"/>
              </a:rPr>
              <a:t>semua</a:t>
            </a:r>
            <a:r>
              <a:rPr lang="en-US" sz="1800" dirty="0">
                <a:latin typeface="Calibri"/>
                <a:ea typeface="Calibri"/>
                <a:cs typeface="Calibri"/>
                <a:sym typeface="Calibri"/>
              </a:rPr>
              <a:t> orang </a:t>
            </a:r>
            <a:r>
              <a:rPr lang="en-US" sz="1800" dirty="0" err="1">
                <a:latin typeface="Calibri"/>
                <a:ea typeface="Calibri"/>
                <a:cs typeface="Calibri"/>
                <a:sym typeface="Calibri"/>
              </a:rPr>
              <a:t>untuk</a:t>
            </a:r>
            <a:r>
              <a:rPr lang="en-US" sz="1800" dirty="0">
                <a:latin typeface="Calibri"/>
                <a:ea typeface="Calibri"/>
                <a:cs typeface="Calibri"/>
                <a:sym typeface="Calibri"/>
              </a:rPr>
              <a:t> </a:t>
            </a:r>
            <a:r>
              <a:rPr lang="en-US" sz="1800" dirty="0" err="1">
                <a:latin typeface="Calibri"/>
                <a:ea typeface="Calibri"/>
                <a:cs typeface="Calibri"/>
                <a:sym typeface="Calibri"/>
              </a:rPr>
              <a:t>kebutuhan</a:t>
            </a:r>
            <a:r>
              <a:rPr lang="en-US" sz="1800" dirty="0">
                <a:latin typeface="Calibri"/>
                <a:ea typeface="Calibri"/>
                <a:cs typeface="Calibri"/>
                <a:sym typeface="Calibri"/>
              </a:rPr>
              <a:t> </a:t>
            </a:r>
            <a:r>
              <a:rPr lang="en-US" sz="1800" dirty="0" err="1">
                <a:latin typeface="Calibri"/>
                <a:ea typeface="Calibri"/>
                <a:cs typeface="Calibri"/>
                <a:sym typeface="Calibri"/>
              </a:rPr>
              <a:t>apapun</a:t>
            </a:r>
            <a:r>
              <a:rPr lang="en-US" sz="1800" dirty="0">
                <a:latin typeface="Calibri"/>
                <a:ea typeface="Calibri"/>
                <a:cs typeface="Calibri"/>
                <a:sym typeface="Calibri"/>
              </a:rPr>
              <a:t>. Sebagian yang lain </a:t>
            </a:r>
            <a:r>
              <a:rPr lang="en-US" sz="1800" dirty="0" err="1">
                <a:latin typeface="Calibri"/>
                <a:ea typeface="Calibri"/>
                <a:cs typeface="Calibri"/>
                <a:sym typeface="Calibri"/>
              </a:rPr>
              <a:t>menyediakan</a:t>
            </a:r>
            <a:r>
              <a:rPr lang="en-US" sz="1800" dirty="0">
                <a:latin typeface="Calibri"/>
                <a:ea typeface="Calibri"/>
                <a:cs typeface="Calibri"/>
                <a:sym typeface="Calibri"/>
              </a:rPr>
              <a:t> data di </a:t>
            </a:r>
            <a:r>
              <a:rPr lang="en-US" sz="1800" dirty="0" err="1">
                <a:latin typeface="Calibri"/>
                <a:ea typeface="Calibri"/>
                <a:cs typeface="Calibri"/>
                <a:sym typeface="Calibri"/>
              </a:rPr>
              <a:t>ranah</a:t>
            </a:r>
            <a:r>
              <a:rPr lang="en-US" sz="1800" dirty="0">
                <a:latin typeface="Calibri"/>
                <a:ea typeface="Calibri"/>
                <a:cs typeface="Calibri"/>
                <a:sym typeface="Calibri"/>
              </a:rPr>
              <a:t> </a:t>
            </a:r>
            <a:r>
              <a:rPr lang="en-US" sz="1800" dirty="0" err="1">
                <a:latin typeface="Calibri"/>
                <a:ea typeface="Calibri"/>
                <a:cs typeface="Calibri"/>
                <a:sym typeface="Calibri"/>
              </a:rPr>
              <a:t>publik</a:t>
            </a:r>
            <a:r>
              <a:rPr lang="en-US" sz="1800" dirty="0">
                <a:latin typeface="Calibri"/>
                <a:ea typeface="Calibri"/>
                <a:cs typeface="Calibri"/>
                <a:sym typeface="Calibri"/>
              </a:rPr>
              <a:t> (</a:t>
            </a:r>
            <a:r>
              <a:rPr lang="en-US" sz="1800" i="1" dirty="0">
                <a:latin typeface="Calibri"/>
                <a:ea typeface="Calibri"/>
                <a:cs typeface="Calibri"/>
                <a:sym typeface="Calibri"/>
              </a:rPr>
              <a:t>public domain</a:t>
            </a:r>
            <a:r>
              <a:rPr lang="en-US" sz="1800" dirty="0">
                <a:latin typeface="Calibri"/>
                <a:ea typeface="Calibri"/>
                <a:cs typeface="Calibri"/>
                <a:sym typeface="Calibri"/>
              </a:rPr>
              <a:t>) </a:t>
            </a:r>
            <a:r>
              <a:rPr lang="en-US" sz="1800" dirty="0" err="1">
                <a:latin typeface="Calibri"/>
                <a:ea typeface="Calibri"/>
                <a:cs typeface="Calibri"/>
                <a:sym typeface="Calibri"/>
              </a:rPr>
              <a:t>namun</a:t>
            </a:r>
            <a:r>
              <a:rPr lang="en-US" sz="1800" dirty="0">
                <a:latin typeface="Calibri"/>
                <a:ea typeface="Calibri"/>
                <a:cs typeface="Calibri"/>
                <a:sym typeface="Calibri"/>
              </a:rPr>
              <a:t> </a:t>
            </a:r>
            <a:r>
              <a:rPr lang="en-US" sz="1800" dirty="0" err="1">
                <a:latin typeface="Calibri"/>
                <a:ea typeface="Calibri"/>
                <a:cs typeface="Calibri"/>
                <a:sym typeface="Calibri"/>
              </a:rPr>
              <a:t>aksesnya</a:t>
            </a:r>
            <a:r>
              <a:rPr lang="en-US" sz="1800" dirty="0">
                <a:latin typeface="Calibri"/>
                <a:ea typeface="Calibri"/>
                <a:cs typeface="Calibri"/>
                <a:sym typeface="Calibri"/>
              </a:rPr>
              <a:t> </a:t>
            </a:r>
            <a:r>
              <a:rPr lang="en-US" sz="1800" dirty="0" err="1">
                <a:latin typeface="Calibri"/>
                <a:ea typeface="Calibri"/>
                <a:cs typeface="Calibri"/>
                <a:sym typeface="Calibri"/>
              </a:rPr>
              <a:t>hanya</a:t>
            </a:r>
            <a:r>
              <a:rPr lang="en-US" sz="1800" dirty="0">
                <a:latin typeface="Calibri"/>
                <a:ea typeface="Calibri"/>
                <a:cs typeface="Calibri"/>
                <a:sym typeface="Calibri"/>
              </a:rPr>
              <a:t> </a:t>
            </a:r>
            <a:r>
              <a:rPr lang="en-US" sz="1800" dirty="0" err="1">
                <a:latin typeface="Calibri"/>
                <a:ea typeface="Calibri"/>
                <a:cs typeface="Calibri"/>
                <a:sym typeface="Calibri"/>
              </a:rPr>
              <a:t>dapat</a:t>
            </a:r>
            <a:r>
              <a:rPr lang="en-US" sz="1800" dirty="0">
                <a:latin typeface="Calibri"/>
                <a:ea typeface="Calibri"/>
                <a:cs typeface="Calibri"/>
                <a:sym typeface="Calibri"/>
              </a:rPr>
              <a:t> </a:t>
            </a:r>
            <a:r>
              <a:rPr lang="en-US" sz="1800" dirty="0" err="1">
                <a:latin typeface="Calibri"/>
                <a:ea typeface="Calibri"/>
                <a:cs typeface="Calibri"/>
                <a:sym typeface="Calibri"/>
              </a:rPr>
              <a:t>diperoleh</a:t>
            </a:r>
            <a:r>
              <a:rPr lang="en-US" sz="1800" dirty="0">
                <a:latin typeface="Calibri"/>
                <a:ea typeface="Calibri"/>
                <a:cs typeface="Calibri"/>
                <a:sym typeface="Calibri"/>
              </a:rPr>
              <a:t> </a:t>
            </a:r>
            <a:r>
              <a:rPr lang="en-US" sz="1800" dirty="0" err="1">
                <a:latin typeface="Calibri"/>
                <a:ea typeface="Calibri"/>
                <a:cs typeface="Calibri"/>
                <a:sym typeface="Calibri"/>
              </a:rPr>
              <a:t>melalui</a:t>
            </a:r>
            <a:r>
              <a:rPr lang="en-US" sz="1800" dirty="0">
                <a:latin typeface="Calibri"/>
                <a:ea typeface="Calibri"/>
                <a:cs typeface="Calibri"/>
                <a:sym typeface="Calibri"/>
              </a:rPr>
              <a:t> </a:t>
            </a:r>
            <a:r>
              <a:rPr lang="en-US" sz="1800" dirty="0" err="1">
                <a:latin typeface="Calibri"/>
                <a:ea typeface="Calibri"/>
                <a:cs typeface="Calibri"/>
                <a:sym typeface="Calibri"/>
              </a:rPr>
              <a:t>prosedur</a:t>
            </a:r>
            <a:r>
              <a:rPr lang="en-US" sz="1800" dirty="0">
                <a:latin typeface="Calibri"/>
                <a:ea typeface="Calibri"/>
                <a:cs typeface="Calibri"/>
                <a:sym typeface="Calibri"/>
              </a:rPr>
              <a:t> </a:t>
            </a:r>
            <a:r>
              <a:rPr lang="en-US" sz="1800" dirty="0" err="1">
                <a:latin typeface="Calibri"/>
                <a:ea typeface="Calibri"/>
                <a:cs typeface="Calibri"/>
                <a:sym typeface="Calibri"/>
              </a:rPr>
              <a:t>permintaan</a:t>
            </a:r>
            <a:r>
              <a:rPr lang="en-US" sz="1800" dirty="0">
                <a:latin typeface="Calibri"/>
                <a:ea typeface="Calibri"/>
                <a:cs typeface="Calibri"/>
                <a:sym typeface="Calibri"/>
              </a:rPr>
              <a:t> (</a:t>
            </a:r>
            <a:r>
              <a:rPr lang="en-US" sz="1800" i="1" dirty="0">
                <a:latin typeface="Calibri"/>
                <a:ea typeface="Calibri"/>
                <a:cs typeface="Calibri"/>
                <a:sym typeface="Calibri"/>
              </a:rPr>
              <a:t>request</a:t>
            </a:r>
            <a:r>
              <a:rPr lang="en-US" sz="1800" dirty="0">
                <a:latin typeface="Calibri"/>
                <a:ea typeface="Calibri"/>
                <a:cs typeface="Calibri"/>
                <a:sym typeface="Calibri"/>
              </a:rPr>
              <a:t>) </a:t>
            </a:r>
            <a:r>
              <a:rPr lang="en-US" sz="1800" dirty="0" err="1">
                <a:latin typeface="Calibri"/>
                <a:ea typeface="Calibri"/>
                <a:cs typeface="Calibri"/>
                <a:sym typeface="Calibri"/>
              </a:rPr>
              <a:t>tertentu</a:t>
            </a:r>
            <a:r>
              <a:rPr lang="en-US" sz="1800" dirty="0">
                <a:latin typeface="Calibri"/>
                <a:ea typeface="Calibri"/>
                <a:cs typeface="Calibri"/>
                <a:sym typeface="Calibri"/>
              </a:rPr>
              <a:t> dan </a:t>
            </a:r>
            <a:r>
              <a:rPr lang="en-US" sz="1800" dirty="0" err="1">
                <a:latin typeface="Calibri"/>
                <a:ea typeface="Calibri"/>
                <a:cs typeface="Calibri"/>
                <a:sym typeface="Calibri"/>
              </a:rPr>
              <a:t>lisensinya</a:t>
            </a:r>
            <a:r>
              <a:rPr lang="en-US" sz="1800" dirty="0">
                <a:latin typeface="Calibri"/>
                <a:ea typeface="Calibri"/>
                <a:cs typeface="Calibri"/>
                <a:sym typeface="Calibri"/>
              </a:rPr>
              <a:t> </a:t>
            </a:r>
            <a:r>
              <a:rPr lang="en-US" sz="1800" dirty="0" err="1">
                <a:latin typeface="Calibri"/>
                <a:ea typeface="Calibri"/>
                <a:cs typeface="Calibri"/>
                <a:sym typeface="Calibri"/>
              </a:rPr>
              <a:t>lebih</a:t>
            </a:r>
            <a:r>
              <a:rPr lang="en-US" sz="1800" dirty="0">
                <a:latin typeface="Calibri"/>
                <a:ea typeface="Calibri"/>
                <a:cs typeface="Calibri"/>
                <a:sym typeface="Calibri"/>
              </a:rPr>
              <a:t> </a:t>
            </a:r>
            <a:r>
              <a:rPr lang="en-US" sz="1800" dirty="0" err="1">
                <a:latin typeface="Calibri"/>
                <a:ea typeface="Calibri"/>
                <a:cs typeface="Calibri"/>
                <a:sym typeface="Calibri"/>
              </a:rPr>
              <a:t>terbatas</a:t>
            </a:r>
            <a:r>
              <a:rPr lang="en-US" sz="1800" dirty="0">
                <a:latin typeface="Calibri"/>
                <a:ea typeface="Calibri"/>
                <a:cs typeface="Calibri"/>
                <a:sym typeface="Calibri"/>
              </a:rPr>
              <a:t> (</a:t>
            </a:r>
            <a:r>
              <a:rPr lang="en-US" sz="1800" dirty="0" err="1">
                <a:latin typeface="Calibri"/>
                <a:ea typeface="Calibri"/>
                <a:cs typeface="Calibri"/>
                <a:sym typeface="Calibri"/>
              </a:rPr>
              <a:t>bukan</a:t>
            </a:r>
            <a:r>
              <a:rPr lang="en-US" sz="1800" dirty="0">
                <a:latin typeface="Calibri"/>
                <a:ea typeface="Calibri"/>
                <a:cs typeface="Calibri"/>
                <a:sym typeface="Calibri"/>
              </a:rPr>
              <a:t> </a:t>
            </a:r>
            <a:r>
              <a:rPr lang="en-US" sz="1800" i="1" dirty="0">
                <a:latin typeface="Calibri"/>
                <a:ea typeface="Calibri"/>
                <a:cs typeface="Calibri"/>
                <a:sym typeface="Calibri"/>
              </a:rPr>
              <a:t>open license</a:t>
            </a:r>
            <a:r>
              <a:rPr lang="en-US" sz="1800" dirty="0">
                <a:latin typeface="Calibri"/>
                <a:ea typeface="Calibri"/>
                <a:cs typeface="Calibri"/>
                <a:sym typeface="Calibri"/>
              </a:rPr>
              <a:t>). </a:t>
            </a:r>
            <a:endParaRPr lang="en-US" dirty="0"/>
          </a:p>
        </p:txBody>
      </p:sp>
    </p:spTree>
    <p:extLst>
      <p:ext uri="{BB962C8B-B14F-4D97-AF65-F5344CB8AC3E}">
        <p14:creationId xmlns:p14="http://schemas.microsoft.com/office/powerpoint/2010/main" val="701279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00104-35C8-2271-E1A3-E3AA97974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DC962-28AE-76CD-67E2-4C9C3D93F98D}"/>
              </a:ext>
            </a:extLst>
          </p:cNvPr>
          <p:cNvSpPr>
            <a:spLocks noGrp="1"/>
          </p:cNvSpPr>
          <p:nvPr>
            <p:ph type="title"/>
          </p:nvPr>
        </p:nvSpPr>
        <p:spPr>
          <a:xfrm>
            <a:off x="838200" y="365125"/>
            <a:ext cx="10515600" cy="925195"/>
          </a:xfrm>
        </p:spPr>
        <p:txBody>
          <a:bodyPr/>
          <a:lstStyle/>
          <a:p>
            <a:r>
              <a:rPr lang="en-US" dirty="0"/>
              <a:t>Online data source</a:t>
            </a:r>
          </a:p>
        </p:txBody>
      </p:sp>
      <p:sp>
        <p:nvSpPr>
          <p:cNvPr id="3" name="Content Placeholder 2">
            <a:extLst>
              <a:ext uri="{FF2B5EF4-FFF2-40B4-BE49-F238E27FC236}">
                <a16:creationId xmlns:a16="http://schemas.microsoft.com/office/drawing/2014/main" id="{764DAFC4-D2BD-FC31-B620-75CF7AF7BB02}"/>
              </a:ext>
            </a:extLst>
          </p:cNvPr>
          <p:cNvSpPr>
            <a:spLocks noGrp="1"/>
          </p:cNvSpPr>
          <p:nvPr>
            <p:ph idx="1"/>
          </p:nvPr>
        </p:nvSpPr>
        <p:spPr/>
        <p:txBody>
          <a:bodyPr>
            <a:normAutofit fontScale="77500" lnSpcReduction="20000"/>
          </a:bodyPr>
          <a:lstStyle/>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Portal Satu Data Indonesia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2"/>
              </a:rPr>
              <a:t>https://data.go.id</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Portal Data Jakarta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3"/>
              </a:rPr>
              <a:t>https://data.jakarta.go.id</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Portal Data Bandung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4"/>
              </a:rPr>
              <a:t>http://data.bandung.go.id</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Badan Pusat </a:t>
            </a:r>
            <a:r>
              <a:rPr lang="en-US" dirty="0" err="1">
                <a:latin typeface="Calibri" panose="020F0502020204030204" pitchFamily="34" charset="0"/>
                <a:ea typeface="Calibri" panose="020F0502020204030204" pitchFamily="34" charset="0"/>
                <a:cs typeface="Calibri" panose="020F0502020204030204" pitchFamily="34" charset="0"/>
              </a:rPr>
              <a:t>Statistik</a:t>
            </a:r>
            <a:r>
              <a:rPr lang="en-US" dirty="0">
                <a:latin typeface="Calibri" panose="020F0502020204030204" pitchFamily="34" charset="0"/>
                <a:ea typeface="Calibri" panose="020F0502020204030204" pitchFamily="34" charset="0"/>
                <a:cs typeface="Calibri" panose="020F0502020204030204" pitchFamily="34" charset="0"/>
              </a:rPr>
              <a:t>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5"/>
              </a:rPr>
              <a:t>https://www.bps.go.id</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Badan </a:t>
            </a:r>
            <a:r>
              <a:rPr lang="en-US" dirty="0" err="1">
                <a:latin typeface="Calibri" panose="020F0502020204030204" pitchFamily="34" charset="0"/>
                <a:ea typeface="Calibri" panose="020F0502020204030204" pitchFamily="34" charset="0"/>
                <a:cs typeface="Calibri" panose="020F0502020204030204" pitchFamily="34" charset="0"/>
              </a:rPr>
              <a:t>Informasi</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Geospasial</a:t>
            </a:r>
            <a:r>
              <a:rPr lang="en-US" dirty="0">
                <a:latin typeface="Calibri" panose="020F0502020204030204" pitchFamily="34" charset="0"/>
                <a:ea typeface="Calibri" panose="020F0502020204030204" pitchFamily="34" charset="0"/>
                <a:cs typeface="Calibri" panose="020F0502020204030204" pitchFamily="34" charset="0"/>
              </a:rPr>
              <a:t>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6"/>
              </a:rPr>
              <a:t>https://tanahair.indonesia.go.id/</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UCI Machine Learning repository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7"/>
              </a:rPr>
              <a:t>https://archive.ics.uci.edu/ml/index.php</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Kaggle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8"/>
              </a:rPr>
              <a:t>https://www.kaggle.com/datasets</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World Bank Open Data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9"/>
              </a:rPr>
              <a:t>https://data.worldbank.org</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UNICEF Data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10"/>
              </a:rPr>
              <a:t>https://data.unicef.org</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WHO Open Data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11"/>
              </a:rPr>
              <a:t>https://www.who.int/data</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a:latin typeface="Calibri" panose="020F0502020204030204" pitchFamily="34" charset="0"/>
                <a:ea typeface="Calibri" panose="020F0502020204030204" pitchFamily="34" charset="0"/>
                <a:cs typeface="Calibri" panose="020F0502020204030204" pitchFamily="34" charset="0"/>
              </a:rPr>
              <a:t>IBM Data Asset </a:t>
            </a:r>
            <a:r>
              <a:rPr lang="en-US" dirty="0" err="1">
                <a:latin typeface="Calibri" panose="020F0502020204030204" pitchFamily="34" charset="0"/>
                <a:ea typeface="Calibri" panose="020F0502020204030204" pitchFamily="34" charset="0"/>
                <a:cs typeface="Calibri" panose="020F0502020204030204" pitchFamily="34" charset="0"/>
              </a:rPr>
              <a:t>eXchange</a:t>
            </a:r>
            <a:r>
              <a:rPr lang="en-US" dirty="0">
                <a:latin typeface="Calibri" panose="020F0502020204030204" pitchFamily="34" charset="0"/>
                <a:ea typeface="Calibri" panose="020F0502020204030204" pitchFamily="34" charset="0"/>
                <a:cs typeface="Calibri" panose="020F0502020204030204" pitchFamily="34" charset="0"/>
              </a:rPr>
              <a:t>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12"/>
              </a:rPr>
              <a:t>https://developer.ibm.com/exchanges/data/</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err="1">
                <a:latin typeface="Calibri" panose="020F0502020204030204" pitchFamily="34" charset="0"/>
                <a:ea typeface="Calibri" panose="020F0502020204030204" pitchFamily="34" charset="0"/>
                <a:cs typeface="Calibri" panose="020F0502020204030204" pitchFamily="34" charset="0"/>
              </a:rPr>
              <a:t>DBPedia</a:t>
            </a:r>
            <a:r>
              <a:rPr lang="en-US" dirty="0">
                <a:latin typeface="Calibri" panose="020F0502020204030204" pitchFamily="34" charset="0"/>
                <a:ea typeface="Calibri" panose="020F0502020204030204" pitchFamily="34" charset="0"/>
                <a:cs typeface="Calibri" panose="020F0502020204030204" pitchFamily="34" charset="0"/>
              </a:rPr>
              <a:t>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13"/>
              </a:rPr>
              <a:t>https://www.dbpedia.org/resources/</a:t>
            </a:r>
            <a:r>
              <a:rPr lang="en-US" dirty="0">
                <a:latin typeface="Calibri" panose="020F0502020204030204" pitchFamily="34" charset="0"/>
                <a:ea typeface="Calibri" panose="020F0502020204030204" pitchFamily="34" charset="0"/>
                <a:cs typeface="Calibri" panose="020F0502020204030204" pitchFamily="34" charset="0"/>
              </a:rPr>
              <a:t>)  </a:t>
            </a:r>
          </a:p>
          <a:p>
            <a:pPr marL="457200" lvl="0" indent="-342900">
              <a:lnSpc>
                <a:spcPct val="115000"/>
              </a:lnSpc>
              <a:spcBef>
                <a:spcPts val="0"/>
              </a:spcBef>
              <a:buClr>
                <a:srgbClr val="262626"/>
              </a:buClr>
              <a:buSzPct val="110599"/>
              <a:buChar char="●"/>
            </a:pPr>
            <a:r>
              <a:rPr lang="en-US" dirty="0" err="1">
                <a:latin typeface="Calibri" panose="020F0502020204030204" pitchFamily="34" charset="0"/>
                <a:ea typeface="Calibri" panose="020F0502020204030204" pitchFamily="34" charset="0"/>
                <a:cs typeface="Calibri" panose="020F0502020204030204" pitchFamily="34" charset="0"/>
              </a:rPr>
              <a:t>Wikidata</a:t>
            </a:r>
            <a:r>
              <a:rPr lang="en-US" dirty="0">
                <a:latin typeface="Calibri" panose="020F0502020204030204" pitchFamily="34" charset="0"/>
                <a:ea typeface="Calibri" panose="020F0502020204030204" pitchFamily="34" charset="0"/>
                <a:cs typeface="Calibri" panose="020F0502020204030204" pitchFamily="34" charset="0"/>
              </a:rPr>
              <a:t> (</a:t>
            </a:r>
            <a:r>
              <a:rPr lang="en-US" u="sng" dirty="0">
                <a:solidFill>
                  <a:schemeClr val="hlink"/>
                </a:solidFill>
                <a:latin typeface="Calibri" panose="020F0502020204030204" pitchFamily="34" charset="0"/>
                <a:ea typeface="Calibri" panose="020F0502020204030204" pitchFamily="34" charset="0"/>
                <a:cs typeface="Calibri" panose="020F0502020204030204" pitchFamily="34" charset="0"/>
                <a:hlinkClick r:id="rId14"/>
              </a:rPr>
              <a:t>https://www.wikidata.org/</a:t>
            </a:r>
            <a:r>
              <a:rPr lang="en-US"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456707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37988-26C7-9800-1D5E-42E55D56C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5FE05-F90E-8D68-9B4C-140A1D70D320}"/>
              </a:ext>
            </a:extLst>
          </p:cNvPr>
          <p:cNvSpPr>
            <a:spLocks noGrp="1"/>
          </p:cNvSpPr>
          <p:nvPr>
            <p:ph type="title"/>
          </p:nvPr>
        </p:nvSpPr>
        <p:spPr>
          <a:xfrm>
            <a:off x="838200" y="365125"/>
            <a:ext cx="10515600" cy="925195"/>
          </a:xfrm>
        </p:spPr>
        <p:txBody>
          <a:bodyPr/>
          <a:lstStyle/>
          <a:p>
            <a:r>
              <a:rPr lang="en-US" dirty="0"/>
              <a:t>Online data source</a:t>
            </a:r>
          </a:p>
        </p:txBody>
      </p:sp>
      <p:sp>
        <p:nvSpPr>
          <p:cNvPr id="3" name="Content Placeholder 2">
            <a:extLst>
              <a:ext uri="{FF2B5EF4-FFF2-40B4-BE49-F238E27FC236}">
                <a16:creationId xmlns:a16="http://schemas.microsoft.com/office/drawing/2014/main" id="{2020EA23-0F11-8175-286C-EB4D6B33D0B4}"/>
              </a:ext>
            </a:extLst>
          </p:cNvPr>
          <p:cNvSpPr>
            <a:spLocks noGrp="1"/>
          </p:cNvSpPr>
          <p:nvPr>
            <p:ph idx="1"/>
          </p:nvPr>
        </p:nvSpPr>
        <p:spPr/>
        <p:txBody>
          <a:bodyPr>
            <a:normAutofit/>
          </a:bodyPr>
          <a:lstStyle/>
          <a:p>
            <a:pPr marL="114300" lvl="0" indent="0">
              <a:spcBef>
                <a:spcPts val="0"/>
              </a:spcBef>
              <a:buClr>
                <a:srgbClr val="262626"/>
              </a:buClr>
              <a:buSzPct val="110599"/>
              <a:buNone/>
            </a:pPr>
            <a:r>
              <a:rPr lang="en-US" dirty="0">
                <a:latin typeface="Calibri" panose="020F0502020204030204" pitchFamily="34" charset="0"/>
                <a:ea typeface="Calibri" panose="020F0502020204030204" pitchFamily="34" charset="0"/>
                <a:cs typeface="Calibri" panose="020F0502020204030204" pitchFamily="34" charset="0"/>
              </a:rPr>
              <a:t>Search for datasets using </a:t>
            </a:r>
            <a:r>
              <a:rPr lang="en-US" b="1" dirty="0">
                <a:latin typeface="Calibri" panose="020F0502020204030204" pitchFamily="34" charset="0"/>
                <a:ea typeface="Calibri" panose="020F0502020204030204" pitchFamily="34" charset="0"/>
                <a:cs typeface="Calibri" panose="020F0502020204030204" pitchFamily="34" charset="0"/>
              </a:rPr>
              <a:t>Google Dataset Search</a:t>
            </a:r>
            <a:r>
              <a:rPr lang="en-US" dirty="0">
                <a:latin typeface="Calibri" panose="020F0502020204030204" pitchFamily="34" charset="0"/>
                <a:ea typeface="Calibri" panose="020F0502020204030204" pitchFamily="34" charset="0"/>
                <a:cs typeface="Calibri" panose="020F0502020204030204" pitchFamily="34" charset="0"/>
              </a:rPr>
              <a:t>.</a:t>
            </a:r>
          </a:p>
          <a:p>
            <a:pPr marL="114300" lvl="0" indent="0">
              <a:spcBef>
                <a:spcPts val="0"/>
              </a:spcBef>
              <a:buClr>
                <a:srgbClr val="262626"/>
              </a:buClr>
              <a:buSzPct val="110599"/>
              <a:buNone/>
            </a:pPr>
            <a:r>
              <a:rPr lang="id" dirty="0"/>
              <a:t> </a:t>
            </a:r>
            <a:r>
              <a:rPr lang="id" u="sng" dirty="0">
                <a:solidFill>
                  <a:srgbClr val="0563C1"/>
                </a:solidFill>
                <a:latin typeface="Calibri"/>
                <a:ea typeface="Calibri"/>
                <a:cs typeface="Calibri"/>
                <a:sym typeface="Calibri"/>
                <a:hlinkClick r:id="rId2">
                  <a:extLst>
                    <a:ext uri="{A12FA001-AC4F-418D-AE19-62706E023703}">
                      <ahyp:hlinkClr xmlns:ahyp="http://schemas.microsoft.com/office/drawing/2018/hyperlinkcolor" val="tx"/>
                    </a:ext>
                  </a:extLst>
                </a:hlinkClick>
              </a:rPr>
              <a:t>https://datasetsearch.research.google.com</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Google Shape;367;p53">
            <a:extLst>
              <a:ext uri="{FF2B5EF4-FFF2-40B4-BE49-F238E27FC236}">
                <a16:creationId xmlns:a16="http://schemas.microsoft.com/office/drawing/2014/main" id="{2C0388CF-9B23-A88B-0F44-7E5F283FD701}"/>
              </a:ext>
            </a:extLst>
          </p:cNvPr>
          <p:cNvPicPr preferRelativeResize="0"/>
          <p:nvPr/>
        </p:nvPicPr>
        <p:blipFill rotWithShape="1">
          <a:blip r:embed="rId3">
            <a:alphaModFix/>
          </a:blip>
          <a:srcRect/>
          <a:stretch/>
        </p:blipFill>
        <p:spPr>
          <a:xfrm>
            <a:off x="3796420" y="3001802"/>
            <a:ext cx="5127480" cy="2633873"/>
          </a:xfrm>
          <a:prstGeom prst="rect">
            <a:avLst/>
          </a:prstGeom>
          <a:noFill/>
          <a:ln>
            <a:noFill/>
          </a:ln>
        </p:spPr>
      </p:pic>
    </p:spTree>
    <p:extLst>
      <p:ext uri="{BB962C8B-B14F-4D97-AF65-F5344CB8AC3E}">
        <p14:creationId xmlns:p14="http://schemas.microsoft.com/office/powerpoint/2010/main" val="2590427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4FAB-351B-E26C-A624-5CD31F413559}"/>
              </a:ext>
            </a:extLst>
          </p:cNvPr>
          <p:cNvSpPr>
            <a:spLocks noGrp="1"/>
          </p:cNvSpPr>
          <p:nvPr>
            <p:ph type="title"/>
          </p:nvPr>
        </p:nvSpPr>
        <p:spPr/>
        <p:txBody>
          <a:bodyPr/>
          <a:lstStyle/>
          <a:p>
            <a:r>
              <a:rPr lang="id" dirty="0"/>
              <a:t>Pengambilan Data</a:t>
            </a:r>
            <a:endParaRPr lang="en-US" dirty="0"/>
          </a:p>
        </p:txBody>
      </p:sp>
      <p:sp>
        <p:nvSpPr>
          <p:cNvPr id="3" name="Content Placeholder 2">
            <a:extLst>
              <a:ext uri="{FF2B5EF4-FFF2-40B4-BE49-F238E27FC236}">
                <a16:creationId xmlns:a16="http://schemas.microsoft.com/office/drawing/2014/main" id="{0D238395-0A5B-C031-E3CB-AD743B02DDE1}"/>
              </a:ext>
            </a:extLst>
          </p:cNvPr>
          <p:cNvSpPr>
            <a:spLocks noGrp="1"/>
          </p:cNvSpPr>
          <p:nvPr>
            <p:ph idx="1"/>
          </p:nvPr>
        </p:nvSpPr>
        <p:spPr/>
        <p:txBody>
          <a:bodyPr/>
          <a:lstStyle/>
          <a:p>
            <a:pPr marL="457200" lvl="0" indent="-342900">
              <a:lnSpc>
                <a:spcPct val="115000"/>
              </a:lnSpc>
              <a:spcBef>
                <a:spcPts val="0"/>
              </a:spcBef>
              <a:buClr>
                <a:srgbClr val="262626"/>
              </a:buClr>
              <a:buSzPts val="1800"/>
              <a:buChar char="●"/>
            </a:pPr>
            <a:r>
              <a:rPr lang="en-US" sz="2400" dirty="0" err="1"/>
              <a:t>Pengambilan</a:t>
            </a:r>
            <a:r>
              <a:rPr lang="en-US" sz="2400" dirty="0"/>
              <a:t> data </a:t>
            </a:r>
            <a:r>
              <a:rPr lang="en-US" sz="2400" dirty="0" err="1"/>
              <a:t>secara</a:t>
            </a:r>
            <a:r>
              <a:rPr lang="en-US" sz="2400" dirty="0"/>
              <a:t> manual.</a:t>
            </a:r>
            <a:endParaRPr lang="en-US" dirty="0"/>
          </a:p>
          <a:p>
            <a:pPr marL="457200" lvl="0" indent="-342900">
              <a:lnSpc>
                <a:spcPct val="115000"/>
              </a:lnSpc>
              <a:spcBef>
                <a:spcPts val="0"/>
              </a:spcBef>
              <a:buClr>
                <a:srgbClr val="262626"/>
              </a:buClr>
              <a:buSzPts val="1800"/>
              <a:buChar char="●"/>
            </a:pPr>
            <a:r>
              <a:rPr lang="en-US" sz="2400" dirty="0" err="1"/>
              <a:t>Pengambilan</a:t>
            </a:r>
            <a:r>
              <a:rPr lang="en-US" sz="2400" dirty="0"/>
              <a:t> data </a:t>
            </a:r>
            <a:r>
              <a:rPr lang="en-US" sz="2400" dirty="0" err="1"/>
              <a:t>melalui</a:t>
            </a:r>
            <a:r>
              <a:rPr lang="en-US" sz="2400" dirty="0"/>
              <a:t> API</a:t>
            </a:r>
            <a:endParaRPr lang="en-US" dirty="0"/>
          </a:p>
          <a:p>
            <a:pPr marL="914400" lvl="1" indent="-317500">
              <a:lnSpc>
                <a:spcPct val="115000"/>
              </a:lnSpc>
              <a:spcBef>
                <a:spcPts val="0"/>
              </a:spcBef>
              <a:buClr>
                <a:srgbClr val="262626"/>
              </a:buClr>
              <a:buSzPts val="1400"/>
              <a:buChar char="○"/>
            </a:pPr>
            <a:r>
              <a:rPr lang="en-US" sz="2200" dirty="0" err="1"/>
              <a:t>Contoh</a:t>
            </a:r>
            <a:r>
              <a:rPr lang="en-US" sz="2200" dirty="0"/>
              <a:t> </a:t>
            </a:r>
            <a:r>
              <a:rPr lang="en-US" sz="2200" dirty="0" err="1"/>
              <a:t>melalui</a:t>
            </a:r>
            <a:r>
              <a:rPr lang="en-US" sz="2200" dirty="0"/>
              <a:t> API Kaggle</a:t>
            </a:r>
            <a:endParaRPr lang="en-US" dirty="0"/>
          </a:p>
          <a:p>
            <a:pPr marL="914400" lvl="1" indent="-317500">
              <a:lnSpc>
                <a:spcPct val="115000"/>
              </a:lnSpc>
              <a:spcBef>
                <a:spcPts val="0"/>
              </a:spcBef>
              <a:buClr>
                <a:srgbClr val="262626"/>
              </a:buClr>
              <a:buSzPts val="1400"/>
              <a:buChar char="○"/>
            </a:pPr>
            <a:r>
              <a:rPr lang="en-US" sz="2200" dirty="0" err="1"/>
              <a:t>Contoh</a:t>
            </a:r>
            <a:r>
              <a:rPr lang="en-US" sz="2200" dirty="0"/>
              <a:t> </a:t>
            </a:r>
            <a:r>
              <a:rPr lang="en-US" sz="2200" dirty="0" err="1"/>
              <a:t>melalui</a:t>
            </a:r>
            <a:r>
              <a:rPr lang="en-US" sz="2200" dirty="0"/>
              <a:t> API Portal Data Bandung</a:t>
            </a:r>
            <a:endParaRPr lang="en-US" dirty="0"/>
          </a:p>
          <a:p>
            <a:pPr marL="457200" lvl="0" indent="-342900">
              <a:lnSpc>
                <a:spcPct val="115000"/>
              </a:lnSpc>
              <a:spcBef>
                <a:spcPts val="0"/>
              </a:spcBef>
              <a:buClr>
                <a:srgbClr val="262626"/>
              </a:buClr>
              <a:buSzPts val="1800"/>
              <a:buChar char="●"/>
            </a:pPr>
            <a:r>
              <a:rPr lang="en-US" sz="2400" dirty="0" err="1"/>
              <a:t>Pengambilan</a:t>
            </a:r>
            <a:r>
              <a:rPr lang="en-US" sz="2400" dirty="0"/>
              <a:t> data </a:t>
            </a:r>
            <a:r>
              <a:rPr lang="en-US" sz="2400" dirty="0" err="1"/>
              <a:t>melalui</a:t>
            </a:r>
            <a:r>
              <a:rPr lang="en-US" sz="2400" dirty="0"/>
              <a:t> </a:t>
            </a:r>
            <a:r>
              <a:rPr lang="en-US" sz="2400" i="1" dirty="0"/>
              <a:t>web scraping</a:t>
            </a:r>
          </a:p>
          <a:p>
            <a:pPr marL="914400" lvl="1" indent="-342900">
              <a:lnSpc>
                <a:spcPct val="115000"/>
              </a:lnSpc>
              <a:spcBef>
                <a:spcPts val="0"/>
              </a:spcBef>
              <a:buClr>
                <a:srgbClr val="262626"/>
              </a:buClr>
              <a:buSzPts val="1800"/>
              <a:buFont typeface="Arial" panose="020B0604020202020204" pitchFamily="34" charset="0"/>
              <a:buChar char="●"/>
            </a:pPr>
            <a:r>
              <a:rPr lang="en-US" sz="2000" dirty="0" err="1"/>
              <a:t>mengekstraksi</a:t>
            </a:r>
            <a:r>
              <a:rPr lang="en-US" sz="2000" dirty="0"/>
              <a:t> data </a:t>
            </a:r>
            <a:r>
              <a:rPr lang="en-US" sz="2000" dirty="0" err="1"/>
              <a:t>secara</a:t>
            </a:r>
            <a:r>
              <a:rPr lang="en-US" sz="2000" dirty="0"/>
              <a:t> </a:t>
            </a:r>
            <a:r>
              <a:rPr lang="en-US" sz="2000" dirty="0" err="1"/>
              <a:t>langsung</a:t>
            </a:r>
            <a:r>
              <a:rPr lang="en-US" sz="2000" dirty="0"/>
              <a:t> </a:t>
            </a:r>
            <a:r>
              <a:rPr lang="en-US" sz="2000" dirty="0" err="1"/>
              <a:t>dari</a:t>
            </a:r>
            <a:r>
              <a:rPr lang="en-US" sz="2000" dirty="0"/>
              <a:t> </a:t>
            </a:r>
            <a:r>
              <a:rPr lang="en-US" sz="2000" dirty="0" err="1"/>
              <a:t>suatu</a:t>
            </a:r>
            <a:r>
              <a:rPr lang="en-US" sz="2000" dirty="0"/>
              <a:t> </a:t>
            </a:r>
            <a:r>
              <a:rPr lang="en-US" sz="2000" dirty="0" err="1"/>
              <a:t>halaman</a:t>
            </a:r>
            <a:r>
              <a:rPr lang="en-US" sz="2000" dirty="0"/>
              <a:t> web.</a:t>
            </a:r>
          </a:p>
          <a:p>
            <a:pPr marL="457200" lvl="0" indent="-342900">
              <a:lnSpc>
                <a:spcPct val="115000"/>
              </a:lnSpc>
              <a:spcBef>
                <a:spcPts val="0"/>
              </a:spcBef>
              <a:buClr>
                <a:srgbClr val="262626"/>
              </a:buClr>
              <a:buSzPts val="1800"/>
              <a:buChar char="●"/>
            </a:pPr>
            <a:r>
              <a:rPr lang="en-US" sz="2400" dirty="0" err="1"/>
              <a:t>Pengambilan</a:t>
            </a:r>
            <a:r>
              <a:rPr lang="en-US" sz="2400" dirty="0"/>
              <a:t> data </a:t>
            </a:r>
            <a:r>
              <a:rPr lang="en-US" sz="2400" dirty="0" err="1"/>
              <a:t>melalui</a:t>
            </a:r>
            <a:r>
              <a:rPr lang="en-US" sz="2400" dirty="0"/>
              <a:t> </a:t>
            </a:r>
            <a:r>
              <a:rPr lang="en-US" sz="2400" dirty="0" err="1"/>
              <a:t>akses</a:t>
            </a:r>
            <a:r>
              <a:rPr lang="en-US" sz="2400" dirty="0"/>
              <a:t> </a:t>
            </a:r>
            <a:r>
              <a:rPr lang="en-US" sz="2400" dirty="0" err="1"/>
              <a:t>langsung</a:t>
            </a:r>
            <a:r>
              <a:rPr lang="en-US" sz="2400" dirty="0"/>
              <a:t> </a:t>
            </a:r>
            <a:r>
              <a:rPr lang="en-US" sz="2400" dirty="0" err="1"/>
              <a:t>ke</a:t>
            </a:r>
            <a:r>
              <a:rPr lang="en-US" sz="2400" dirty="0"/>
              <a:t> basis data </a:t>
            </a:r>
            <a:r>
              <a:rPr lang="en-US" sz="2400" dirty="0" err="1"/>
              <a:t>relasional</a:t>
            </a:r>
            <a:r>
              <a:rPr lang="en-US" sz="2400" dirty="0"/>
              <a:t> yang </a:t>
            </a:r>
            <a:r>
              <a:rPr lang="en-US" sz="2400" dirty="0" err="1"/>
              <a:t>ada</a:t>
            </a:r>
            <a:r>
              <a:rPr lang="en-US" sz="2400" dirty="0"/>
              <a:t>.</a:t>
            </a:r>
            <a:endParaRPr lang="en-US" dirty="0"/>
          </a:p>
        </p:txBody>
      </p:sp>
    </p:spTree>
    <p:extLst>
      <p:ext uri="{BB962C8B-B14F-4D97-AF65-F5344CB8AC3E}">
        <p14:creationId xmlns:p14="http://schemas.microsoft.com/office/powerpoint/2010/main" val="1762504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DAEF-6625-0E84-5D0E-0856B8C39E29}"/>
              </a:ext>
            </a:extLst>
          </p:cNvPr>
          <p:cNvSpPr>
            <a:spLocks noGrp="1"/>
          </p:cNvSpPr>
          <p:nvPr>
            <p:ph type="title"/>
          </p:nvPr>
        </p:nvSpPr>
        <p:spPr>
          <a:xfrm>
            <a:off x="838200" y="365125"/>
            <a:ext cx="10515600" cy="915035"/>
          </a:xfrm>
        </p:spPr>
        <p:txBody>
          <a:bodyPr/>
          <a:lstStyle/>
          <a:p>
            <a:r>
              <a:rPr lang="en-US" dirty="0"/>
              <a:t>Data Structure</a:t>
            </a:r>
          </a:p>
        </p:txBody>
      </p:sp>
      <p:sp>
        <p:nvSpPr>
          <p:cNvPr id="3" name="Content Placeholder 2">
            <a:extLst>
              <a:ext uri="{FF2B5EF4-FFF2-40B4-BE49-F238E27FC236}">
                <a16:creationId xmlns:a16="http://schemas.microsoft.com/office/drawing/2014/main" id="{E4D6A921-26AD-9BD5-DC29-4B7EAF38725C}"/>
              </a:ext>
            </a:extLst>
          </p:cNvPr>
          <p:cNvSpPr>
            <a:spLocks noGrp="1"/>
          </p:cNvSpPr>
          <p:nvPr>
            <p:ph idx="1"/>
          </p:nvPr>
        </p:nvSpPr>
        <p:spPr>
          <a:xfrm>
            <a:off x="838200" y="1825625"/>
            <a:ext cx="5897880" cy="4351338"/>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Datum (Data Item)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 smallest unit of data.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One value for one specific variable. </a:t>
            </a:r>
          </a:p>
          <a:p>
            <a:r>
              <a:rPr lang="en-US" b="1" dirty="0">
                <a:latin typeface="Calibri" panose="020F0502020204030204" pitchFamily="34" charset="0"/>
                <a:ea typeface="Calibri" panose="020F0502020204030204" pitchFamily="34" charset="0"/>
                <a:cs typeface="Calibri" panose="020F0502020204030204" pitchFamily="34" charset="0"/>
              </a:rPr>
              <a:t>Data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 collection of data items that describes one specific object or entity. </a:t>
            </a:r>
          </a:p>
          <a:p>
            <a:r>
              <a:rPr lang="en-US" b="1" dirty="0">
                <a:latin typeface="Calibri" panose="020F0502020204030204" pitchFamily="34" charset="0"/>
                <a:ea typeface="Calibri" panose="020F0502020204030204" pitchFamily="34" charset="0"/>
                <a:cs typeface="Calibri" panose="020F0502020204030204" pitchFamily="34" charset="0"/>
              </a:rPr>
              <a:t>Dataset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A collection of data. </a:t>
            </a:r>
          </a:p>
          <a:p>
            <a:r>
              <a:rPr lang="en-US" b="1" dirty="0">
                <a:latin typeface="Calibri" panose="020F0502020204030204" pitchFamily="34" charset="0"/>
                <a:ea typeface="Calibri" panose="020F0502020204030204" pitchFamily="34" charset="0"/>
                <a:cs typeface="Calibri" panose="020F0502020204030204" pitchFamily="34" charset="0"/>
              </a:rPr>
              <a:t>Metadata</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that describes other data.</a:t>
            </a:r>
          </a:p>
        </p:txBody>
      </p:sp>
      <p:pic>
        <p:nvPicPr>
          <p:cNvPr id="4" name="Google Shape;375;p54">
            <a:extLst>
              <a:ext uri="{FF2B5EF4-FFF2-40B4-BE49-F238E27FC236}">
                <a16:creationId xmlns:a16="http://schemas.microsoft.com/office/drawing/2014/main" id="{D5BEF16D-16D2-7A98-65EB-B2EC1141EB52}"/>
              </a:ext>
            </a:extLst>
          </p:cNvPr>
          <p:cNvPicPr preferRelativeResize="0"/>
          <p:nvPr/>
        </p:nvPicPr>
        <p:blipFill rotWithShape="1">
          <a:blip r:embed="rId2">
            <a:alphaModFix/>
          </a:blip>
          <a:srcRect/>
          <a:stretch/>
        </p:blipFill>
        <p:spPr>
          <a:xfrm>
            <a:off x="7413268" y="2088205"/>
            <a:ext cx="4032636" cy="1251646"/>
          </a:xfrm>
          <a:prstGeom prst="rect">
            <a:avLst/>
          </a:prstGeom>
          <a:noFill/>
          <a:ln>
            <a:noFill/>
          </a:ln>
        </p:spPr>
      </p:pic>
      <p:sp>
        <p:nvSpPr>
          <p:cNvPr id="5" name="Google Shape;376;p54">
            <a:extLst>
              <a:ext uri="{FF2B5EF4-FFF2-40B4-BE49-F238E27FC236}">
                <a16:creationId xmlns:a16="http://schemas.microsoft.com/office/drawing/2014/main" id="{AA60FF39-FF5A-25D0-FA99-904ED8574C87}"/>
              </a:ext>
            </a:extLst>
          </p:cNvPr>
          <p:cNvSpPr/>
          <p:nvPr/>
        </p:nvSpPr>
        <p:spPr>
          <a:xfrm>
            <a:off x="8289235" y="2946758"/>
            <a:ext cx="1264257" cy="182880"/>
          </a:xfrm>
          <a:prstGeom prst="rect">
            <a:avLst/>
          </a:prstGeom>
          <a:solidFill>
            <a:schemeClr val="accent4">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6" name="Google Shape;378;p54">
            <a:extLst>
              <a:ext uri="{FF2B5EF4-FFF2-40B4-BE49-F238E27FC236}">
                <a16:creationId xmlns:a16="http://schemas.microsoft.com/office/drawing/2014/main" id="{9E97C379-DA0A-CC6B-F4AA-6D652AF911E7}"/>
              </a:ext>
            </a:extLst>
          </p:cNvPr>
          <p:cNvCxnSpPr>
            <a:cxnSpLocks/>
          </p:cNvCxnSpPr>
          <p:nvPr/>
        </p:nvCxnSpPr>
        <p:spPr>
          <a:xfrm>
            <a:off x="4104640" y="2088205"/>
            <a:ext cx="4470923" cy="945926"/>
          </a:xfrm>
          <a:prstGeom prst="bentConnector3">
            <a:avLst>
              <a:gd name="adj1" fmla="val 50000"/>
            </a:avLst>
          </a:prstGeom>
          <a:noFill/>
          <a:ln w="28575" cap="flat" cmpd="sng">
            <a:solidFill>
              <a:schemeClr val="accent4"/>
            </a:solidFill>
            <a:prstDash val="solid"/>
            <a:miter lim="800000"/>
            <a:headEnd type="none" w="sm" len="sm"/>
            <a:tailEnd type="triangle" w="med" len="med"/>
          </a:ln>
        </p:spPr>
      </p:cxnSp>
      <p:cxnSp>
        <p:nvCxnSpPr>
          <p:cNvPr id="7" name="Google Shape;379;p54">
            <a:extLst>
              <a:ext uri="{FF2B5EF4-FFF2-40B4-BE49-F238E27FC236}">
                <a16:creationId xmlns:a16="http://schemas.microsoft.com/office/drawing/2014/main" id="{76EC2097-C8B4-713E-BBAE-7B6EDCE5521D}"/>
              </a:ext>
            </a:extLst>
          </p:cNvPr>
          <p:cNvCxnSpPr>
            <a:cxnSpLocks/>
            <a:endCxn id="11" idx="1"/>
          </p:cNvCxnSpPr>
          <p:nvPr/>
        </p:nvCxnSpPr>
        <p:spPr>
          <a:xfrm flipV="1">
            <a:off x="2164080" y="3271090"/>
            <a:ext cx="5249188" cy="91440"/>
          </a:xfrm>
          <a:prstGeom prst="bentConnector3">
            <a:avLst>
              <a:gd name="adj1" fmla="val 50000"/>
            </a:avLst>
          </a:prstGeom>
          <a:noFill/>
          <a:ln w="28575" cap="flat" cmpd="sng">
            <a:solidFill>
              <a:schemeClr val="accent1"/>
            </a:solidFill>
            <a:prstDash val="solid"/>
            <a:miter lim="800000"/>
            <a:headEnd type="none" w="sm" len="sm"/>
            <a:tailEnd type="triangle" w="med" len="med"/>
          </a:ln>
        </p:spPr>
      </p:cxnSp>
      <p:sp>
        <p:nvSpPr>
          <p:cNvPr id="8" name="Google Shape;381;p54">
            <a:extLst>
              <a:ext uri="{FF2B5EF4-FFF2-40B4-BE49-F238E27FC236}">
                <a16:creationId xmlns:a16="http://schemas.microsoft.com/office/drawing/2014/main" id="{11B656A5-1928-404D-1695-288C3EDF7EE0}"/>
              </a:ext>
            </a:extLst>
          </p:cNvPr>
          <p:cNvSpPr/>
          <p:nvPr/>
        </p:nvSpPr>
        <p:spPr>
          <a:xfrm>
            <a:off x="7009075" y="1825625"/>
            <a:ext cx="4731026" cy="1765190"/>
          </a:xfrm>
          <a:prstGeom prst="roundRect">
            <a:avLst>
              <a:gd name="adj" fmla="val 16667"/>
            </a:avLst>
          </a:prstGeom>
          <a:noFill/>
          <a:ln w="28575" cap="flat" cmpd="sng">
            <a:solidFill>
              <a:schemeClr val="dk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 name="Google Shape;377;p54">
            <a:extLst>
              <a:ext uri="{FF2B5EF4-FFF2-40B4-BE49-F238E27FC236}">
                <a16:creationId xmlns:a16="http://schemas.microsoft.com/office/drawing/2014/main" id="{41E7C17F-6E57-0C66-2411-50E49FCA5392}"/>
              </a:ext>
            </a:extLst>
          </p:cNvPr>
          <p:cNvSpPr/>
          <p:nvPr/>
        </p:nvSpPr>
        <p:spPr>
          <a:xfrm>
            <a:off x="7413268" y="3179650"/>
            <a:ext cx="4032636" cy="182880"/>
          </a:xfrm>
          <a:prstGeom prst="roundRect">
            <a:avLst>
              <a:gd name="adj" fmla="val 16667"/>
            </a:avLst>
          </a:prstGeom>
          <a:solidFill>
            <a:schemeClr val="accent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4" name="Google Shape;382;p54">
            <a:extLst>
              <a:ext uri="{FF2B5EF4-FFF2-40B4-BE49-F238E27FC236}">
                <a16:creationId xmlns:a16="http://schemas.microsoft.com/office/drawing/2014/main" id="{E8FA89DD-A961-3C9C-7122-00FCC793A576}"/>
              </a:ext>
            </a:extLst>
          </p:cNvPr>
          <p:cNvCxnSpPr>
            <a:cxnSpLocks/>
            <a:endCxn id="8" idx="2"/>
          </p:cNvCxnSpPr>
          <p:nvPr/>
        </p:nvCxnSpPr>
        <p:spPr>
          <a:xfrm flipV="1">
            <a:off x="4104640" y="3590815"/>
            <a:ext cx="5269948" cy="1091445"/>
          </a:xfrm>
          <a:prstGeom prst="bentConnector2">
            <a:avLst/>
          </a:prstGeom>
          <a:noFill/>
          <a:ln w="38100" cap="flat" cmpd="sng">
            <a:solidFill>
              <a:schemeClr val="dk1"/>
            </a:solidFill>
            <a:prstDash val="solid"/>
            <a:miter lim="800000"/>
            <a:headEnd type="none" w="sm" len="sm"/>
            <a:tailEnd type="triangle" w="med" len="med"/>
          </a:ln>
        </p:spPr>
      </p:cxnSp>
      <p:sp>
        <p:nvSpPr>
          <p:cNvPr id="15" name="Google Shape;383;p54">
            <a:extLst>
              <a:ext uri="{FF2B5EF4-FFF2-40B4-BE49-F238E27FC236}">
                <a16:creationId xmlns:a16="http://schemas.microsoft.com/office/drawing/2014/main" id="{4BAE1F00-7300-B43B-55A3-CE3486592EC5}"/>
              </a:ext>
            </a:extLst>
          </p:cNvPr>
          <p:cNvSpPr txBox="1"/>
          <p:nvPr/>
        </p:nvSpPr>
        <p:spPr>
          <a:xfrm>
            <a:off x="6228080" y="4967706"/>
            <a:ext cx="5750559" cy="101562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d" sz="2000" b="0" i="0" u="none" strike="noStrike" cap="none" dirty="0">
                <a:solidFill>
                  <a:schemeClr val="dk1"/>
                </a:solidFill>
                <a:latin typeface="Arial"/>
                <a:ea typeface="Arial"/>
                <a:cs typeface="Arial"/>
                <a:sym typeface="Arial"/>
              </a:rPr>
              <a:t>"make": </a:t>
            </a: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sz="2000" b="0" i="0" u="none" strike="noStrike" cap="none" dirty="0">
                <a:solidFill>
                  <a:schemeClr val="dk1"/>
                </a:solidFill>
                <a:latin typeface="Arial"/>
                <a:ea typeface="Arial"/>
                <a:cs typeface="Arial"/>
                <a:sym typeface="Arial"/>
              </a:rPr>
              <a:t>Ty</a:t>
            </a:r>
            <a:r>
              <a:rPr lang="id" sz="2000" b="0" i="0" u="none" strike="noStrike" cap="none" dirty="0">
                <a:solidFill>
                  <a:schemeClr val="dk1"/>
                </a:solidFill>
                <a:latin typeface="Arial"/>
                <a:ea typeface="Arial"/>
                <a:cs typeface="Arial"/>
                <a:sym typeface="Arial"/>
              </a:rPr>
              <a:t>pe: string, </a:t>
            </a: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sz="2000" b="0" i="0" u="none" strike="noStrike" cap="none" dirty="0">
                <a:solidFill>
                  <a:schemeClr val="dk1"/>
                </a:solidFill>
                <a:latin typeface="Arial"/>
                <a:ea typeface="Arial"/>
                <a:cs typeface="Arial"/>
                <a:sym typeface="Arial"/>
              </a:rPr>
              <a:t>Description: Vehicle manufacturer/brand name</a:t>
            </a:r>
            <a:endParaRPr sz="2000" b="0" i="0" u="none" strike="noStrike" cap="none" dirty="0">
              <a:solidFill>
                <a:schemeClr val="dk1"/>
              </a:solidFill>
              <a:latin typeface="Arial"/>
              <a:ea typeface="Arial"/>
              <a:cs typeface="Arial"/>
              <a:sym typeface="Arial"/>
            </a:endParaRPr>
          </a:p>
        </p:txBody>
      </p:sp>
      <p:cxnSp>
        <p:nvCxnSpPr>
          <p:cNvPr id="16" name="Google Shape;384;p54">
            <a:extLst>
              <a:ext uri="{FF2B5EF4-FFF2-40B4-BE49-F238E27FC236}">
                <a16:creationId xmlns:a16="http://schemas.microsoft.com/office/drawing/2014/main" id="{8DDE0FDE-A336-8612-1DC8-3EBDAC28D49C}"/>
              </a:ext>
            </a:extLst>
          </p:cNvPr>
          <p:cNvCxnSpPr>
            <a:cxnSpLocks/>
            <a:endCxn id="15" idx="1"/>
          </p:cNvCxnSpPr>
          <p:nvPr/>
        </p:nvCxnSpPr>
        <p:spPr>
          <a:xfrm flipV="1">
            <a:off x="2712720" y="5475517"/>
            <a:ext cx="3515360" cy="69385"/>
          </a:xfrm>
          <a:prstGeom prst="bentConnector3">
            <a:avLst>
              <a:gd name="adj1" fmla="val 50000"/>
            </a:avLst>
          </a:prstGeom>
          <a:noFill/>
          <a:ln w="38100" cap="flat" cmpd="sng">
            <a:solidFill>
              <a:schemeClr val="dk1"/>
            </a:solidFill>
            <a:prstDash val="solid"/>
            <a:miter lim="800000"/>
            <a:headEnd type="none" w="sm" len="sm"/>
            <a:tailEnd type="triangle" w="med" len="med"/>
          </a:ln>
        </p:spPr>
      </p:cxnSp>
    </p:spTree>
    <p:extLst>
      <p:ext uri="{BB962C8B-B14F-4D97-AF65-F5344CB8AC3E}">
        <p14:creationId xmlns:p14="http://schemas.microsoft.com/office/powerpoint/2010/main" val="3001578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371"/>
        <p:cNvGrpSpPr/>
        <p:nvPr/>
      </p:nvGrpSpPr>
      <p:grpSpPr>
        <a:xfrm>
          <a:off x="0" y="0"/>
          <a:ext cx="0" cy="0"/>
          <a:chOff x="0" y="0"/>
          <a:chExt cx="0" cy="0"/>
        </a:xfrm>
      </p:grpSpPr>
      <p:sp>
        <p:nvSpPr>
          <p:cNvPr id="372" name="Google Shape;372;p54"/>
          <p:cNvSpPr txBox="1">
            <a:spLocks noGrp="1"/>
          </p:cNvSpPr>
          <p:nvPr>
            <p:ph type="title"/>
          </p:nvPr>
        </p:nvSpPr>
        <p:spPr>
          <a:xfrm>
            <a:off x="415600" y="740800"/>
            <a:ext cx="3744000" cy="1007600"/>
          </a:xfrm>
          <a:prstGeom prst="rect">
            <a:avLst/>
          </a:prstGeom>
          <a:noFill/>
          <a:ln>
            <a:noFill/>
          </a:ln>
        </p:spPr>
        <p:txBody>
          <a:bodyPr spcFirstLastPara="1" vert="horz" wrap="square" lIns="121900" tIns="121900" rIns="121900" bIns="121900" rtlCol="0" anchor="b" anchorCtr="0">
            <a:normAutofit/>
          </a:bodyPr>
          <a:lstStyle/>
          <a:p>
            <a:r>
              <a:rPr lang="id"/>
              <a:t>Susunan data</a:t>
            </a:r>
            <a:endParaRPr/>
          </a:p>
        </p:txBody>
      </p:sp>
      <p:sp>
        <p:nvSpPr>
          <p:cNvPr id="373" name="Google Shape;373;p54"/>
          <p:cNvSpPr txBox="1">
            <a:spLocks noGrp="1"/>
          </p:cNvSpPr>
          <p:nvPr>
            <p:ph type="body" idx="1"/>
          </p:nvPr>
        </p:nvSpPr>
        <p:spPr>
          <a:xfrm>
            <a:off x="415599" y="1852800"/>
            <a:ext cx="4567219" cy="4264401"/>
          </a:xfrm>
          <a:prstGeom prst="rect">
            <a:avLst/>
          </a:prstGeom>
          <a:noFill/>
          <a:ln>
            <a:noFill/>
          </a:ln>
        </p:spPr>
        <p:txBody>
          <a:bodyPr spcFirstLastPara="1" vert="horz" wrap="square" lIns="121900" tIns="121900" rIns="121900" bIns="121900" rtlCol="0" anchor="t" anchorCtr="0">
            <a:normAutofit/>
          </a:bodyPr>
          <a:lstStyle/>
          <a:p>
            <a:pPr marL="203195" indent="0">
              <a:buNone/>
            </a:pPr>
            <a:r>
              <a:rPr lang="id" sz="1867" b="1"/>
              <a:t>Butir data</a:t>
            </a:r>
            <a:r>
              <a:rPr lang="id" sz="1867"/>
              <a:t> (</a:t>
            </a:r>
            <a:r>
              <a:rPr lang="id" sz="1867" i="1"/>
              <a:t>datum</a:t>
            </a:r>
            <a:r>
              <a:rPr lang="id" sz="1867"/>
              <a:t>): satuan terkecil data; satu nilai untuk satu variable tertentu</a:t>
            </a:r>
            <a:endParaRPr sz="1867"/>
          </a:p>
          <a:p>
            <a:pPr marL="203195" indent="0">
              <a:buNone/>
            </a:pPr>
            <a:endParaRPr sz="1867"/>
          </a:p>
          <a:p>
            <a:pPr marL="203195" indent="0">
              <a:buNone/>
            </a:pPr>
            <a:r>
              <a:rPr lang="id" sz="1867" b="1"/>
              <a:t>Data</a:t>
            </a:r>
            <a:r>
              <a:rPr lang="id" sz="1867"/>
              <a:t>: kumpulan butir data yang membawa satu kesatuan makna (mendeskripsikan satu objek) tertentu.</a:t>
            </a:r>
            <a:endParaRPr/>
          </a:p>
          <a:p>
            <a:pPr marL="203195" indent="0">
              <a:buNone/>
            </a:pPr>
            <a:endParaRPr sz="1867"/>
          </a:p>
          <a:p>
            <a:pPr marL="203195" indent="0">
              <a:buNone/>
            </a:pPr>
            <a:r>
              <a:rPr lang="id" sz="1867" b="1"/>
              <a:t>Himpunan data</a:t>
            </a:r>
            <a:r>
              <a:rPr lang="id" sz="1867"/>
              <a:t> (</a:t>
            </a:r>
            <a:r>
              <a:rPr lang="id" sz="1867" i="1"/>
              <a:t>dataset</a:t>
            </a:r>
            <a:r>
              <a:rPr lang="id" sz="1867"/>
              <a:t>): kumpulan data.</a:t>
            </a:r>
            <a:endParaRPr/>
          </a:p>
          <a:p>
            <a:pPr marL="203195" indent="0">
              <a:buNone/>
            </a:pPr>
            <a:endParaRPr sz="1867" b="1"/>
          </a:p>
          <a:p>
            <a:pPr marL="203195" indent="0">
              <a:buNone/>
            </a:pPr>
            <a:r>
              <a:rPr lang="id" sz="1867" b="1"/>
              <a:t>Metadata</a:t>
            </a:r>
            <a:r>
              <a:rPr lang="id" sz="1867"/>
              <a:t>: data yang menjelaskan data yang lain.</a:t>
            </a:r>
            <a:endParaRPr sz="1867" b="1"/>
          </a:p>
        </p:txBody>
      </p:sp>
      <p:sp>
        <p:nvSpPr>
          <p:cNvPr id="374" name="Google Shape;374;p54"/>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19</a:t>
            </a:fld>
            <a:endParaRPr/>
          </a:p>
        </p:txBody>
      </p:sp>
      <p:pic>
        <p:nvPicPr>
          <p:cNvPr id="375" name="Google Shape;375;p54"/>
          <p:cNvPicPr preferRelativeResize="0"/>
          <p:nvPr/>
        </p:nvPicPr>
        <p:blipFill rotWithShape="1">
          <a:blip r:embed="rId3">
            <a:alphaModFix/>
          </a:blip>
          <a:srcRect/>
          <a:stretch/>
        </p:blipFill>
        <p:spPr>
          <a:xfrm>
            <a:off x="5860997" y="1760139"/>
            <a:ext cx="5376848" cy="1668861"/>
          </a:xfrm>
          <a:prstGeom prst="rect">
            <a:avLst/>
          </a:prstGeom>
          <a:noFill/>
          <a:ln>
            <a:noFill/>
          </a:ln>
        </p:spPr>
      </p:pic>
      <p:sp>
        <p:nvSpPr>
          <p:cNvPr id="376" name="Google Shape;376;p54"/>
          <p:cNvSpPr/>
          <p:nvPr/>
        </p:nvSpPr>
        <p:spPr>
          <a:xfrm>
            <a:off x="7028954" y="2904876"/>
            <a:ext cx="1685676" cy="243840"/>
          </a:xfrm>
          <a:prstGeom prst="rect">
            <a:avLst/>
          </a:prstGeom>
          <a:solidFill>
            <a:schemeClr val="accent4">
              <a:alpha val="49019"/>
            </a:schemeClr>
          </a:solidFill>
          <a:ln>
            <a:noFill/>
          </a:ln>
        </p:spPr>
        <p:txBody>
          <a:bodyPr spcFirstLastPara="1" wrap="square" lIns="121900" tIns="60933" rIns="121900" bIns="60933" anchor="ctr" anchorCtr="0">
            <a:noAutofit/>
          </a:bodyPr>
          <a:lstStyle/>
          <a:p>
            <a:pPr algn="ctr">
              <a:buClr>
                <a:srgbClr val="000000"/>
              </a:buClr>
              <a:buSzPts val="1400"/>
            </a:pPr>
            <a:endParaRPr sz="1867">
              <a:solidFill>
                <a:schemeClr val="lt1"/>
              </a:solidFill>
              <a:latin typeface="Arial"/>
              <a:ea typeface="Arial"/>
              <a:cs typeface="Arial"/>
              <a:sym typeface="Arial"/>
            </a:endParaRPr>
          </a:p>
        </p:txBody>
      </p:sp>
      <p:sp>
        <p:nvSpPr>
          <p:cNvPr id="377" name="Google Shape;377;p54"/>
          <p:cNvSpPr/>
          <p:nvPr/>
        </p:nvSpPr>
        <p:spPr>
          <a:xfrm>
            <a:off x="5860997" y="2597427"/>
            <a:ext cx="5376848" cy="243840"/>
          </a:xfrm>
          <a:prstGeom prst="roundRect">
            <a:avLst>
              <a:gd name="adj" fmla="val 16667"/>
            </a:avLst>
          </a:prstGeom>
          <a:solidFill>
            <a:schemeClr val="accent1">
              <a:alpha val="49019"/>
            </a:schemeClr>
          </a:solidFill>
          <a:ln>
            <a:noFill/>
          </a:ln>
        </p:spPr>
        <p:txBody>
          <a:bodyPr spcFirstLastPara="1" wrap="square" lIns="121900" tIns="60933" rIns="121900" bIns="60933" anchor="ctr" anchorCtr="0">
            <a:noAutofit/>
          </a:bodyPr>
          <a:lstStyle/>
          <a:p>
            <a:pPr algn="ctr">
              <a:buClr>
                <a:srgbClr val="000000"/>
              </a:buClr>
              <a:buSzPts val="1400"/>
            </a:pPr>
            <a:endParaRPr sz="1867">
              <a:solidFill>
                <a:schemeClr val="lt1"/>
              </a:solidFill>
              <a:latin typeface="Arial"/>
              <a:ea typeface="Arial"/>
              <a:cs typeface="Arial"/>
              <a:sym typeface="Arial"/>
            </a:endParaRPr>
          </a:p>
        </p:txBody>
      </p:sp>
      <p:cxnSp>
        <p:nvCxnSpPr>
          <p:cNvPr id="378" name="Google Shape;378;p54"/>
          <p:cNvCxnSpPr/>
          <p:nvPr/>
        </p:nvCxnSpPr>
        <p:spPr>
          <a:xfrm>
            <a:off x="4410324" y="2279373"/>
            <a:ext cx="3000400" cy="742000"/>
          </a:xfrm>
          <a:prstGeom prst="bentConnector3">
            <a:avLst>
              <a:gd name="adj1" fmla="val 20317"/>
            </a:avLst>
          </a:prstGeom>
          <a:noFill/>
          <a:ln w="28575" cap="flat" cmpd="sng">
            <a:solidFill>
              <a:schemeClr val="accent4"/>
            </a:solidFill>
            <a:prstDash val="solid"/>
            <a:miter lim="800000"/>
            <a:headEnd type="none" w="sm" len="sm"/>
            <a:tailEnd type="triangle" w="med" len="med"/>
          </a:ln>
        </p:spPr>
      </p:cxnSp>
      <p:cxnSp>
        <p:nvCxnSpPr>
          <p:cNvPr id="379" name="Google Shape;379;p54"/>
          <p:cNvCxnSpPr/>
          <p:nvPr/>
        </p:nvCxnSpPr>
        <p:spPr>
          <a:xfrm rot="10800000" flipH="1">
            <a:off x="4242460" y="2713931"/>
            <a:ext cx="1450800" cy="826800"/>
          </a:xfrm>
          <a:prstGeom prst="bentConnector3">
            <a:avLst>
              <a:gd name="adj1" fmla="val 18573"/>
            </a:avLst>
          </a:prstGeom>
          <a:noFill/>
          <a:ln w="28575" cap="flat" cmpd="sng">
            <a:solidFill>
              <a:schemeClr val="accent1"/>
            </a:solidFill>
            <a:prstDash val="solid"/>
            <a:miter lim="800000"/>
            <a:headEnd type="none" w="sm" len="sm"/>
            <a:tailEnd type="triangle" w="med" len="med"/>
          </a:ln>
        </p:spPr>
      </p:cxnSp>
      <p:sp>
        <p:nvSpPr>
          <p:cNvPr id="380" name="Google Shape;380;p54"/>
          <p:cNvSpPr/>
          <p:nvPr/>
        </p:nvSpPr>
        <p:spPr>
          <a:xfrm>
            <a:off x="289871" y="2374789"/>
            <a:ext cx="207264" cy="1219200"/>
          </a:xfrm>
          <a:prstGeom prst="leftBrace">
            <a:avLst>
              <a:gd name="adj1" fmla="val 8333"/>
              <a:gd name="adj2" fmla="val 50000"/>
            </a:avLst>
          </a:prstGeom>
          <a:noFill/>
          <a:ln w="9525" cap="flat" cmpd="sng">
            <a:solidFill>
              <a:schemeClr val="accent1"/>
            </a:solidFill>
            <a:prstDash val="solid"/>
            <a:miter lim="800000"/>
            <a:headEnd type="none" w="sm" len="sm"/>
            <a:tailEnd type="none" w="sm" len="sm"/>
          </a:ln>
        </p:spPr>
        <p:txBody>
          <a:bodyPr spcFirstLastPara="1" wrap="square" lIns="121900" tIns="60933" rIns="121900" bIns="60933" anchor="ctr" anchorCtr="0">
            <a:noAutofit/>
          </a:bodyPr>
          <a:lstStyle/>
          <a:p>
            <a:pPr algn="ctr">
              <a:buClr>
                <a:srgbClr val="000000"/>
              </a:buClr>
              <a:buSzPts val="1400"/>
            </a:pPr>
            <a:endParaRPr sz="1867">
              <a:solidFill>
                <a:schemeClr val="dk1"/>
              </a:solidFill>
              <a:latin typeface="Arial"/>
              <a:ea typeface="Arial"/>
              <a:cs typeface="Arial"/>
              <a:sym typeface="Arial"/>
            </a:endParaRPr>
          </a:p>
        </p:txBody>
      </p:sp>
      <p:sp>
        <p:nvSpPr>
          <p:cNvPr id="381" name="Google Shape;381;p54"/>
          <p:cNvSpPr/>
          <p:nvPr/>
        </p:nvSpPr>
        <p:spPr>
          <a:xfrm>
            <a:off x="5322073" y="1410032"/>
            <a:ext cx="6308035" cy="2353587"/>
          </a:xfrm>
          <a:prstGeom prst="roundRect">
            <a:avLst>
              <a:gd name="adj" fmla="val 16667"/>
            </a:avLst>
          </a:prstGeom>
          <a:noFill/>
          <a:ln w="28575" cap="flat" cmpd="sng">
            <a:solidFill>
              <a:schemeClr val="dk1"/>
            </a:solidFill>
            <a:prstDash val="dash"/>
            <a:round/>
            <a:headEnd type="none" w="sm" len="sm"/>
            <a:tailEnd type="none" w="sm" len="sm"/>
          </a:ln>
        </p:spPr>
        <p:txBody>
          <a:bodyPr spcFirstLastPara="1" wrap="square" lIns="121900" tIns="60933" rIns="121900" bIns="60933" anchor="ctr" anchorCtr="0">
            <a:noAutofit/>
          </a:bodyPr>
          <a:lstStyle/>
          <a:p>
            <a:pPr algn="ctr">
              <a:buClr>
                <a:srgbClr val="000000"/>
              </a:buClr>
              <a:buSzPts val="1400"/>
            </a:pPr>
            <a:endParaRPr sz="1867">
              <a:solidFill>
                <a:schemeClr val="dk1"/>
              </a:solidFill>
              <a:latin typeface="Arial"/>
              <a:ea typeface="Arial"/>
              <a:cs typeface="Arial"/>
              <a:sym typeface="Arial"/>
            </a:endParaRPr>
          </a:p>
        </p:txBody>
      </p:sp>
      <p:cxnSp>
        <p:nvCxnSpPr>
          <p:cNvPr id="382" name="Google Shape;382;p54"/>
          <p:cNvCxnSpPr>
            <a:endCxn id="381" idx="2"/>
          </p:cNvCxnSpPr>
          <p:nvPr/>
        </p:nvCxnSpPr>
        <p:spPr>
          <a:xfrm rot="10800000" flipH="1">
            <a:off x="4159691" y="3763619"/>
            <a:ext cx="4316400" cy="1060000"/>
          </a:xfrm>
          <a:prstGeom prst="bentConnector2">
            <a:avLst/>
          </a:prstGeom>
          <a:noFill/>
          <a:ln w="38100" cap="flat" cmpd="sng">
            <a:solidFill>
              <a:schemeClr val="dk1"/>
            </a:solidFill>
            <a:prstDash val="solid"/>
            <a:miter lim="800000"/>
            <a:headEnd type="none" w="sm" len="sm"/>
            <a:tailEnd type="triangle" w="med" len="med"/>
          </a:ln>
        </p:spPr>
      </p:cxnSp>
      <p:sp>
        <p:nvSpPr>
          <p:cNvPr id="383" name="Google Shape;383;p54"/>
          <p:cNvSpPr txBox="1"/>
          <p:nvPr/>
        </p:nvSpPr>
        <p:spPr>
          <a:xfrm>
            <a:off x="5693133" y="5088835"/>
            <a:ext cx="5544800" cy="985023"/>
          </a:xfrm>
          <a:prstGeom prst="rect">
            <a:avLst/>
          </a:prstGeom>
          <a:noFill/>
          <a:ln w="12700" cap="flat" cmpd="sng">
            <a:solidFill>
              <a:srgbClr val="FF0000"/>
            </a:solidFill>
            <a:prstDash val="solid"/>
            <a:miter lim="800000"/>
            <a:headEnd type="none" w="sm" len="sm"/>
            <a:tailEnd type="none" w="sm" len="sm"/>
          </a:ln>
        </p:spPr>
        <p:txBody>
          <a:bodyPr spcFirstLastPara="1" wrap="square" lIns="121900" tIns="60933" rIns="121900" bIns="60933" anchor="t" anchorCtr="0">
            <a:spAutoFit/>
          </a:bodyPr>
          <a:lstStyle/>
          <a:p>
            <a:pPr>
              <a:buClr>
                <a:srgbClr val="000000"/>
              </a:buClr>
              <a:buSzPts val="1400"/>
            </a:pPr>
            <a:r>
              <a:rPr lang="id" sz="1867">
                <a:solidFill>
                  <a:schemeClr val="dk1"/>
                </a:solidFill>
                <a:latin typeface="Arial"/>
                <a:ea typeface="Arial"/>
                <a:cs typeface="Arial"/>
                <a:sym typeface="Arial"/>
              </a:rPr>
              <a:t>"make": </a:t>
            </a:r>
            <a:endParaRPr sz="1867">
              <a:solidFill>
                <a:srgbClr val="000000"/>
              </a:solidFill>
              <a:latin typeface="Arial"/>
              <a:ea typeface="Arial"/>
              <a:cs typeface="Arial"/>
              <a:sym typeface="Arial"/>
            </a:endParaRPr>
          </a:p>
          <a:p>
            <a:pPr marL="380990" indent="-380990">
              <a:buClr>
                <a:srgbClr val="000000"/>
              </a:buClr>
              <a:buSzPts val="1400"/>
              <a:buFont typeface="Arial"/>
              <a:buChar char="•"/>
            </a:pPr>
            <a:r>
              <a:rPr lang="id" sz="1867">
                <a:solidFill>
                  <a:schemeClr val="dk1"/>
                </a:solidFill>
                <a:latin typeface="Arial"/>
                <a:ea typeface="Arial"/>
                <a:cs typeface="Arial"/>
                <a:sym typeface="Arial"/>
              </a:rPr>
              <a:t>tipe: string, </a:t>
            </a:r>
            <a:endParaRPr sz="1867">
              <a:solidFill>
                <a:srgbClr val="000000"/>
              </a:solidFill>
              <a:latin typeface="Arial"/>
              <a:ea typeface="Arial"/>
              <a:cs typeface="Arial"/>
              <a:sym typeface="Arial"/>
            </a:endParaRPr>
          </a:p>
          <a:p>
            <a:pPr marL="380990" indent="-380990">
              <a:buClr>
                <a:srgbClr val="000000"/>
              </a:buClr>
              <a:buSzPts val="1400"/>
              <a:buFont typeface="Arial"/>
              <a:buChar char="•"/>
            </a:pPr>
            <a:r>
              <a:rPr lang="id" sz="1867">
                <a:solidFill>
                  <a:schemeClr val="dk1"/>
                </a:solidFill>
                <a:latin typeface="Arial"/>
                <a:ea typeface="Arial"/>
                <a:cs typeface="Arial"/>
                <a:sym typeface="Arial"/>
              </a:rPr>
              <a:t>deskripsi: nama pabrikan merek kendaraan</a:t>
            </a:r>
            <a:endParaRPr sz="1867">
              <a:solidFill>
                <a:schemeClr val="dk1"/>
              </a:solidFill>
              <a:latin typeface="Arial"/>
              <a:ea typeface="Arial"/>
              <a:cs typeface="Arial"/>
              <a:sym typeface="Arial"/>
            </a:endParaRPr>
          </a:p>
        </p:txBody>
      </p:sp>
      <p:cxnSp>
        <p:nvCxnSpPr>
          <p:cNvPr id="384" name="Google Shape;384;p54"/>
          <p:cNvCxnSpPr/>
          <p:nvPr/>
        </p:nvCxnSpPr>
        <p:spPr>
          <a:xfrm>
            <a:off x="2703444" y="5661329"/>
            <a:ext cx="2873200" cy="201600"/>
          </a:xfrm>
          <a:prstGeom prst="bentConnector3">
            <a:avLst>
              <a:gd name="adj1" fmla="val 554"/>
            </a:avLst>
          </a:prstGeom>
          <a:noFill/>
          <a:ln w="38100" cap="flat" cmpd="sng">
            <a:solidFill>
              <a:schemeClr val="dk1"/>
            </a:solidFill>
            <a:prstDash val="solid"/>
            <a:miter lim="800000"/>
            <a:headEnd type="none" w="sm" len="sm"/>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6C97-F438-5E3F-C9D0-AB9632717224}"/>
              </a:ext>
            </a:extLst>
          </p:cNvPr>
          <p:cNvSpPr>
            <a:spLocks noGrp="1"/>
          </p:cNvSpPr>
          <p:nvPr>
            <p:ph type="title"/>
          </p:nvPr>
        </p:nvSpPr>
        <p:spPr>
          <a:xfrm>
            <a:off x="838200" y="365125"/>
            <a:ext cx="10515600" cy="935355"/>
          </a:xfrm>
        </p:spPr>
        <p:txBody>
          <a:bodyPr/>
          <a:lstStyle/>
          <a:p>
            <a:r>
              <a:rPr lang="en-US" dirty="0"/>
              <a:t>Structured vs unstructured</a:t>
            </a:r>
          </a:p>
        </p:txBody>
      </p:sp>
      <p:pic>
        <p:nvPicPr>
          <p:cNvPr id="5" name="Google Shape;399;p56">
            <a:extLst>
              <a:ext uri="{FF2B5EF4-FFF2-40B4-BE49-F238E27FC236}">
                <a16:creationId xmlns:a16="http://schemas.microsoft.com/office/drawing/2014/main" id="{3E8E9C4B-DFB9-2D98-132C-9E51647309C0}"/>
              </a:ext>
            </a:extLst>
          </p:cNvPr>
          <p:cNvPicPr preferRelativeResize="0"/>
          <p:nvPr/>
        </p:nvPicPr>
        <p:blipFill rotWithShape="1">
          <a:blip r:embed="rId3">
            <a:alphaModFix/>
          </a:blip>
          <a:srcRect/>
          <a:stretch/>
        </p:blipFill>
        <p:spPr>
          <a:xfrm>
            <a:off x="2789345" y="1604890"/>
            <a:ext cx="6613309" cy="4552070"/>
          </a:xfrm>
          <a:prstGeom prst="rect">
            <a:avLst/>
          </a:prstGeom>
          <a:noFill/>
          <a:ln>
            <a:noFill/>
          </a:ln>
        </p:spPr>
      </p:pic>
    </p:spTree>
    <p:extLst>
      <p:ext uri="{BB962C8B-B14F-4D97-AF65-F5344CB8AC3E}">
        <p14:creationId xmlns:p14="http://schemas.microsoft.com/office/powerpoint/2010/main" val="1343203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5474-4A02-6FCB-1639-A08598393DFD}"/>
              </a:ext>
            </a:extLst>
          </p:cNvPr>
          <p:cNvSpPr>
            <a:spLocks noGrp="1"/>
          </p:cNvSpPr>
          <p:nvPr>
            <p:ph type="title"/>
          </p:nvPr>
        </p:nvSpPr>
        <p:spPr>
          <a:xfrm>
            <a:off x="838200" y="365125"/>
            <a:ext cx="10515600" cy="925195"/>
          </a:xfrm>
        </p:spPr>
        <p:txBody>
          <a:bodyPr/>
          <a:lstStyle/>
          <a:p>
            <a:r>
              <a:rPr lang="en-US" dirty="0"/>
              <a:t>Data Types Based on Structure</a:t>
            </a:r>
          </a:p>
        </p:txBody>
      </p:sp>
      <p:graphicFrame>
        <p:nvGraphicFramePr>
          <p:cNvPr id="4" name="Table 3">
            <a:extLst>
              <a:ext uri="{FF2B5EF4-FFF2-40B4-BE49-F238E27FC236}">
                <a16:creationId xmlns:a16="http://schemas.microsoft.com/office/drawing/2014/main" id="{E6627C00-2A9F-78C2-6808-5A73A59491BD}"/>
              </a:ext>
            </a:extLst>
          </p:cNvPr>
          <p:cNvGraphicFramePr>
            <a:graphicFrameLocks noGrp="1"/>
          </p:cNvGraphicFramePr>
          <p:nvPr>
            <p:extLst>
              <p:ext uri="{D42A27DB-BD31-4B8C-83A1-F6EECF244321}">
                <p14:modId xmlns:p14="http://schemas.microsoft.com/office/powerpoint/2010/main" val="1414176280"/>
              </p:ext>
            </p:extLst>
          </p:nvPr>
        </p:nvGraphicFramePr>
        <p:xfrm>
          <a:off x="441960" y="1695026"/>
          <a:ext cx="11308080" cy="4297680"/>
        </p:xfrm>
        <a:graphic>
          <a:graphicData uri="http://schemas.openxmlformats.org/drawingml/2006/table">
            <a:tbl>
              <a:tblPr firstRow="1" bandRow="1">
                <a:tableStyleId>{5C22544A-7EE6-4342-B048-85BDC9FD1C3A}</a:tableStyleId>
              </a:tblPr>
              <a:tblGrid>
                <a:gridCol w="2062480">
                  <a:extLst>
                    <a:ext uri="{9D8B030D-6E8A-4147-A177-3AD203B41FA5}">
                      <a16:colId xmlns:a16="http://schemas.microsoft.com/office/drawing/2014/main" val="2636097279"/>
                    </a:ext>
                  </a:extLst>
                </a:gridCol>
                <a:gridCol w="3749040">
                  <a:extLst>
                    <a:ext uri="{9D8B030D-6E8A-4147-A177-3AD203B41FA5}">
                      <a16:colId xmlns:a16="http://schemas.microsoft.com/office/drawing/2014/main" val="2382550333"/>
                    </a:ext>
                  </a:extLst>
                </a:gridCol>
                <a:gridCol w="5496560">
                  <a:extLst>
                    <a:ext uri="{9D8B030D-6E8A-4147-A177-3AD203B41FA5}">
                      <a16:colId xmlns:a16="http://schemas.microsoft.com/office/drawing/2014/main" val="2263938730"/>
                    </a:ext>
                  </a:extLst>
                </a:gridCol>
              </a:tblGrid>
              <a:tr h="370840">
                <a:tc>
                  <a:txBody>
                    <a:bodyPr/>
                    <a:lstStyle/>
                    <a:p>
                      <a:endParaRPr lang="en-US"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Structured data</a:t>
                      </a: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Unstructured data</a:t>
                      </a:r>
                    </a:p>
                  </a:txBody>
                  <a:tcPr/>
                </a:tc>
                <a:extLst>
                  <a:ext uri="{0D108BD9-81ED-4DB2-BD59-A6C34878D82A}">
                    <a16:rowId xmlns:a16="http://schemas.microsoft.com/office/drawing/2014/main" val="2345799542"/>
                  </a:ext>
                </a:extLst>
              </a:tr>
              <a:tr h="37084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Characteristics</a:t>
                      </a:r>
                    </a:p>
                  </a:txBody>
                  <a:tcPr/>
                </a:tc>
                <a:tc>
                  <a:txBody>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Has a predefined data model.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Data items are usually in text format.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Data items are clearly separated.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Easy to extract and query.</a:t>
                      </a:r>
                    </a:p>
                  </a:txBody>
                  <a:tcPr/>
                </a:tc>
                <a:tc>
                  <a:txBody>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Does not have a predefined data model.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Can include text, images, audio, video, and other formats.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Data items may be difficult to separate because of irregularity and ambiguity.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More difficult to extract and query.</a:t>
                      </a:r>
                    </a:p>
                  </a:txBody>
                  <a:tcPr/>
                </a:tc>
                <a:extLst>
                  <a:ext uri="{0D108BD9-81ED-4DB2-BD59-A6C34878D82A}">
                    <a16:rowId xmlns:a16="http://schemas.microsoft.com/office/drawing/2014/main" val="326661149"/>
                  </a:ext>
                </a:extLst>
              </a:tr>
              <a:tr h="370840">
                <a:tc>
                  <a:txBody>
                    <a:bodyPr/>
                    <a:lstStyle/>
                    <a:p>
                      <a:r>
                        <a:rPr lang="en-US" sz="2400" dirty="0">
                          <a:latin typeface="Calibri" panose="020F0502020204030204" pitchFamily="34" charset="0"/>
                          <a:ea typeface="Calibri" panose="020F0502020204030204" pitchFamily="34" charset="0"/>
                          <a:cs typeface="Calibri" panose="020F0502020204030204" pitchFamily="34" charset="0"/>
                        </a:rPr>
                        <a:t>Examples</a:t>
                      </a:r>
                    </a:p>
                  </a:txBody>
                  <a:tcPr/>
                </a:tc>
                <a:tc>
                  <a:txBody>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Tabular data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Object-oriented data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Time-series data</a:t>
                      </a:r>
                    </a:p>
                  </a:txBody>
                  <a:tcPr/>
                </a:tc>
                <a:tc>
                  <a:txBody>
                    <a:bodyPr/>
                    <a:lstStyle/>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Free-text documents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Audio </a:t>
                      </a:r>
                    </a:p>
                    <a:p>
                      <a:pPr marL="285750" indent="-28575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Video</a:t>
                      </a:r>
                    </a:p>
                  </a:txBody>
                  <a:tcPr/>
                </a:tc>
                <a:extLst>
                  <a:ext uri="{0D108BD9-81ED-4DB2-BD59-A6C34878D82A}">
                    <a16:rowId xmlns:a16="http://schemas.microsoft.com/office/drawing/2014/main" val="2367746272"/>
                  </a:ext>
                </a:extLst>
              </a:tr>
            </a:tbl>
          </a:graphicData>
        </a:graphic>
      </p:graphicFrame>
    </p:spTree>
    <p:extLst>
      <p:ext uri="{BB962C8B-B14F-4D97-AF65-F5344CB8AC3E}">
        <p14:creationId xmlns:p14="http://schemas.microsoft.com/office/powerpoint/2010/main" val="1989013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388"/>
        <p:cNvGrpSpPr/>
        <p:nvPr/>
      </p:nvGrpSpPr>
      <p:grpSpPr>
        <a:xfrm>
          <a:off x="0" y="0"/>
          <a:ext cx="0" cy="0"/>
          <a:chOff x="0" y="0"/>
          <a:chExt cx="0" cy="0"/>
        </a:xfrm>
      </p:grpSpPr>
      <p:sp>
        <p:nvSpPr>
          <p:cNvPr id="389" name="Google Shape;389;p55"/>
          <p:cNvSpPr txBox="1">
            <a:spLocks noGrp="1"/>
          </p:cNvSpPr>
          <p:nvPr>
            <p:ph type="title"/>
          </p:nvPr>
        </p:nvSpPr>
        <p:spPr>
          <a:xfrm>
            <a:off x="218498" y="926802"/>
            <a:ext cx="11135303" cy="705255"/>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spcBef>
                <a:spcPts val="0"/>
              </a:spcBef>
              <a:buClr>
                <a:schemeClr val="lt1"/>
              </a:buClr>
              <a:buSzPct val="115225"/>
            </a:pPr>
            <a:r>
              <a:rPr lang="id"/>
              <a:t>Tipe data berdasarkan susunannya</a:t>
            </a:r>
            <a:endParaRPr/>
          </a:p>
        </p:txBody>
      </p:sp>
      <p:sp>
        <p:nvSpPr>
          <p:cNvPr id="390" name="Google Shape;390;p55"/>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pPr>
              <a:buSzPts val="900"/>
            </a:pPr>
            <a:fld id="{00000000-1234-1234-1234-123412341234}" type="slidenum">
              <a:rPr lang="id"/>
              <a:pPr>
                <a:buSzPts val="900"/>
              </a:pPr>
              <a:t>22</a:t>
            </a:fld>
            <a:endParaRPr/>
          </a:p>
        </p:txBody>
      </p:sp>
      <p:graphicFrame>
        <p:nvGraphicFramePr>
          <p:cNvPr id="391" name="Google Shape;391;p55"/>
          <p:cNvGraphicFramePr/>
          <p:nvPr/>
        </p:nvGraphicFramePr>
        <p:xfrm>
          <a:off x="415599" y="1517507"/>
          <a:ext cx="11267500" cy="3193168"/>
        </p:xfrm>
        <a:graphic>
          <a:graphicData uri="http://schemas.openxmlformats.org/drawingml/2006/table">
            <a:tbl>
              <a:tblPr firstRow="1" bandRow="1">
                <a:noFill/>
              </a:tblPr>
              <a:tblGrid>
                <a:gridCol w="1174667">
                  <a:extLst>
                    <a:ext uri="{9D8B030D-6E8A-4147-A177-3AD203B41FA5}">
                      <a16:colId xmlns:a16="http://schemas.microsoft.com/office/drawing/2014/main" val="20000"/>
                    </a:ext>
                  </a:extLst>
                </a:gridCol>
                <a:gridCol w="4569333">
                  <a:extLst>
                    <a:ext uri="{9D8B030D-6E8A-4147-A177-3AD203B41FA5}">
                      <a16:colId xmlns:a16="http://schemas.microsoft.com/office/drawing/2014/main" val="20001"/>
                    </a:ext>
                  </a:extLst>
                </a:gridCol>
                <a:gridCol w="5523500">
                  <a:extLst>
                    <a:ext uri="{9D8B030D-6E8A-4147-A177-3AD203B41FA5}">
                      <a16:colId xmlns:a16="http://schemas.microsoft.com/office/drawing/2014/main" val="20002"/>
                    </a:ext>
                  </a:extLst>
                </a:gridCol>
              </a:tblGrid>
              <a:tr h="510900">
                <a:tc>
                  <a:txBody>
                    <a:bodyPr/>
                    <a:lstStyle/>
                    <a:p>
                      <a:pPr marL="0" marR="0" lvl="0" indent="0" algn="l" rtl="0">
                        <a:lnSpc>
                          <a:spcPct val="100000"/>
                        </a:lnSpc>
                        <a:spcBef>
                          <a:spcPts val="0"/>
                        </a:spcBef>
                        <a:spcAft>
                          <a:spcPts val="0"/>
                        </a:spcAft>
                        <a:buClr>
                          <a:schemeClr val="dk1"/>
                        </a:buClr>
                        <a:buSzPts val="1500"/>
                        <a:buFont typeface="Corbel"/>
                        <a:buNone/>
                      </a:pPr>
                      <a:endParaRPr sz="2000" u="none" strike="noStrike" cap="none"/>
                    </a:p>
                  </a:txBody>
                  <a:tcPr marL="121933" marR="121933" marT="60967" marB="60967">
                    <a:solidFill>
                      <a:srgbClr val="4285F4"/>
                    </a:solidFill>
                  </a:tcPr>
                </a:tc>
                <a:tc>
                  <a:txBody>
                    <a:bodyPr/>
                    <a:lstStyle/>
                    <a:p>
                      <a:pPr marL="0" marR="0" lvl="0" indent="0" algn="l" rtl="0">
                        <a:lnSpc>
                          <a:spcPct val="100000"/>
                        </a:lnSpc>
                        <a:spcBef>
                          <a:spcPts val="0"/>
                        </a:spcBef>
                        <a:spcAft>
                          <a:spcPts val="0"/>
                        </a:spcAft>
                        <a:buClr>
                          <a:schemeClr val="dk1"/>
                        </a:buClr>
                        <a:buSzPts val="1500"/>
                        <a:buFont typeface="Corbel"/>
                        <a:buNone/>
                      </a:pPr>
                      <a:r>
                        <a:rPr lang="id" sz="2000" u="none" strike="noStrike" cap="none"/>
                        <a:t>Data terstruktur (structured data)</a:t>
                      </a:r>
                      <a:endParaRPr sz="1800" u="none" strike="noStrike" cap="none"/>
                    </a:p>
                  </a:txBody>
                  <a:tcPr marL="121933" marR="121933" marT="60967" marB="60967">
                    <a:solidFill>
                      <a:srgbClr val="4285F4"/>
                    </a:solidFill>
                  </a:tcPr>
                </a:tc>
                <a:tc>
                  <a:txBody>
                    <a:bodyPr/>
                    <a:lstStyle/>
                    <a:p>
                      <a:pPr marL="0" marR="0" lvl="0" indent="0" algn="l" rtl="0">
                        <a:lnSpc>
                          <a:spcPct val="100000"/>
                        </a:lnSpc>
                        <a:spcBef>
                          <a:spcPts val="0"/>
                        </a:spcBef>
                        <a:spcAft>
                          <a:spcPts val="0"/>
                        </a:spcAft>
                        <a:buClr>
                          <a:schemeClr val="dk1"/>
                        </a:buClr>
                        <a:buSzPts val="1500"/>
                        <a:buFont typeface="Corbel"/>
                        <a:buNone/>
                      </a:pPr>
                      <a:r>
                        <a:rPr lang="id" sz="2000" u="none" strike="noStrike" cap="none"/>
                        <a:t>Data tak terstruktur (unstructured data)</a:t>
                      </a:r>
                      <a:endParaRPr sz="1800" u="none" strike="noStrike" cap="none"/>
                    </a:p>
                  </a:txBody>
                  <a:tcPr marL="121933" marR="121933" marT="60967" marB="60967">
                    <a:solidFill>
                      <a:srgbClr val="4285F4"/>
                    </a:solidFill>
                  </a:tcPr>
                </a:tc>
                <a:extLst>
                  <a:ext uri="{0D108BD9-81ED-4DB2-BD59-A6C34878D82A}">
                    <a16:rowId xmlns:a16="http://schemas.microsoft.com/office/drawing/2014/main" val="10000"/>
                  </a:ext>
                </a:extLst>
              </a:tr>
              <a:tr h="1950733">
                <a:tc>
                  <a:txBody>
                    <a:bodyPr/>
                    <a:lstStyle/>
                    <a:p>
                      <a:pPr marL="0" marR="0" lvl="0" indent="0" algn="l" rtl="0">
                        <a:lnSpc>
                          <a:spcPct val="100000"/>
                        </a:lnSpc>
                        <a:spcBef>
                          <a:spcPts val="0"/>
                        </a:spcBef>
                        <a:spcAft>
                          <a:spcPts val="0"/>
                        </a:spcAft>
                        <a:buClr>
                          <a:schemeClr val="dk1"/>
                        </a:buClr>
                        <a:buSzPts val="1500"/>
                        <a:buFont typeface="Corbel"/>
                        <a:buNone/>
                      </a:pPr>
                      <a:r>
                        <a:rPr lang="id" sz="2000" b="1" u="none" strike="noStrike" cap="none"/>
                        <a:t>Sifat</a:t>
                      </a:r>
                      <a:endParaRPr sz="1800" b="1" u="none" strike="noStrike" cap="none"/>
                    </a:p>
                  </a:txBody>
                  <a:tcPr marL="121933" marR="121933" marT="60967" marB="60967">
                    <a:solidFill>
                      <a:srgbClr val="F3F3F3"/>
                    </a:solidFill>
                  </a:tcPr>
                </a:tc>
                <a:tc>
                  <a:txBody>
                    <a:bodyPr/>
                    <a:lstStyle/>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Model data terdefinisikan sebelumnya</a:t>
                      </a:r>
                      <a:endParaRPr sz="2000" u="none" strike="noStrike" cap="none"/>
                    </a:p>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Format butir data (biasanya) teks.</a:t>
                      </a:r>
                      <a:endParaRPr sz="1800" u="none" strike="noStrike" cap="none"/>
                    </a:p>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Antar butir data </a:t>
                      </a:r>
                      <a:r>
                        <a:rPr lang="id" sz="2000"/>
                        <a:t>di</a:t>
                      </a:r>
                      <a:r>
                        <a:rPr lang="id" sz="2000" u="none" strike="noStrike" cap="none"/>
                        <a:t>bedakan dengan jelas.</a:t>
                      </a:r>
                      <a:endParaRPr sz="1800" u="none" strike="noStrike" cap="none"/>
                    </a:p>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Ekstraksi/kueri langsung cukup mudah.</a:t>
                      </a:r>
                      <a:endParaRPr sz="1800" u="none" strike="noStrike" cap="none"/>
                    </a:p>
                  </a:txBody>
                  <a:tcPr marL="121933" marR="121933" marT="60967" marB="60967">
                    <a:solidFill>
                      <a:srgbClr val="F3F3F3"/>
                    </a:solidFill>
                  </a:tcPr>
                </a:tc>
                <a:tc>
                  <a:txBody>
                    <a:bodyPr/>
                    <a:lstStyle/>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Model data tidak terdefinisikan sebelumnya</a:t>
                      </a:r>
                      <a:endParaRPr sz="2000" u="none" strike="noStrike" cap="none"/>
                    </a:p>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Format butir data (biasanya) teks, citra, suara, video, dan format lainnya.</a:t>
                      </a:r>
                      <a:endParaRPr sz="1800" u="none" strike="noStrike" cap="none"/>
                    </a:p>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Antar butir data tidak cukup jelas terbedakan karena ketidakteraturan dan ambiguitas.</a:t>
                      </a:r>
                      <a:endParaRPr sz="1800" u="none" strike="noStrike" cap="none"/>
                    </a:p>
                    <a:p>
                      <a:pPr marL="91440" marR="0" lvl="0" indent="-95250" algn="l" rtl="0">
                        <a:lnSpc>
                          <a:spcPct val="100000"/>
                        </a:lnSpc>
                        <a:spcBef>
                          <a:spcPts val="0"/>
                        </a:spcBef>
                        <a:spcAft>
                          <a:spcPts val="0"/>
                        </a:spcAft>
                        <a:buClr>
                          <a:schemeClr val="dk1"/>
                        </a:buClr>
                        <a:buSzPts val="1500"/>
                        <a:buFont typeface="Arial"/>
                        <a:buChar char="•"/>
                      </a:pPr>
                      <a:r>
                        <a:rPr lang="id" sz="2000" u="none" strike="noStrike" cap="none"/>
                        <a:t>Ekstraksi/kueri langsung cukup sulit.</a:t>
                      </a:r>
                      <a:endParaRPr sz="1800" u="none" strike="noStrike" cap="none"/>
                    </a:p>
                  </a:txBody>
                  <a:tcPr marL="121933" marR="121933" marT="60967" marB="60967">
                    <a:solidFill>
                      <a:srgbClr val="F3F3F3"/>
                    </a:solidFill>
                  </a:tcPr>
                </a:tc>
                <a:extLst>
                  <a:ext uri="{0D108BD9-81ED-4DB2-BD59-A6C34878D82A}">
                    <a16:rowId xmlns:a16="http://schemas.microsoft.com/office/drawing/2014/main" val="10001"/>
                  </a:ext>
                </a:extLst>
              </a:tr>
              <a:tr h="731533">
                <a:tc>
                  <a:txBody>
                    <a:bodyPr/>
                    <a:lstStyle/>
                    <a:p>
                      <a:pPr marL="0" marR="0" lvl="0" indent="0" algn="l" rtl="0">
                        <a:lnSpc>
                          <a:spcPct val="100000"/>
                        </a:lnSpc>
                        <a:spcBef>
                          <a:spcPts val="0"/>
                        </a:spcBef>
                        <a:spcAft>
                          <a:spcPts val="0"/>
                        </a:spcAft>
                        <a:buClr>
                          <a:schemeClr val="dk1"/>
                        </a:buClr>
                        <a:buSzPts val="1500"/>
                        <a:buFont typeface="Corbel"/>
                        <a:buNone/>
                      </a:pPr>
                      <a:r>
                        <a:rPr lang="id" sz="2000" b="1" u="none" strike="noStrike" cap="none"/>
                        <a:t>Contoh</a:t>
                      </a:r>
                      <a:endParaRPr sz="2000" b="1" u="none" strike="noStrike" cap="none"/>
                    </a:p>
                  </a:txBody>
                  <a:tcPr marL="121933" marR="121933" marT="60967" marB="60967">
                    <a:solidFill>
                      <a:srgbClr val="F3F3F3"/>
                    </a:solidFill>
                  </a:tcPr>
                </a:tc>
                <a:tc>
                  <a:txBody>
                    <a:bodyPr/>
                    <a:lstStyle/>
                    <a:p>
                      <a:pPr marL="0" marR="0" lvl="0" indent="0" algn="l" rtl="0">
                        <a:lnSpc>
                          <a:spcPct val="100000"/>
                        </a:lnSpc>
                        <a:spcBef>
                          <a:spcPts val="0"/>
                        </a:spcBef>
                        <a:spcAft>
                          <a:spcPts val="0"/>
                        </a:spcAft>
                        <a:buClr>
                          <a:schemeClr val="dk1"/>
                        </a:buClr>
                        <a:buSzPts val="1500"/>
                        <a:buFont typeface="Corbel"/>
                        <a:buNone/>
                      </a:pPr>
                      <a:r>
                        <a:rPr lang="id" sz="2000" u="none" strike="noStrike" cap="none"/>
                        <a:t>Data tabular, data berorientasi objek, </a:t>
                      </a:r>
                      <a:r>
                        <a:rPr lang="id" sz="2000" i="1" u="none" strike="noStrike" cap="none"/>
                        <a:t>time series</a:t>
                      </a:r>
                      <a:endParaRPr sz="2000" u="none" strike="noStrike" cap="none"/>
                    </a:p>
                  </a:txBody>
                  <a:tcPr marL="121933" marR="121933" marT="60967" marB="60967">
                    <a:solidFill>
                      <a:srgbClr val="F3F3F3"/>
                    </a:solidFill>
                  </a:tcPr>
                </a:tc>
                <a:tc>
                  <a:txBody>
                    <a:bodyPr/>
                    <a:lstStyle/>
                    <a:p>
                      <a:pPr marL="0" marR="0" lvl="0" indent="0" algn="l" rtl="0">
                        <a:lnSpc>
                          <a:spcPct val="100000"/>
                        </a:lnSpc>
                        <a:spcBef>
                          <a:spcPts val="0"/>
                        </a:spcBef>
                        <a:spcAft>
                          <a:spcPts val="0"/>
                        </a:spcAft>
                        <a:buClr>
                          <a:schemeClr val="dk1"/>
                        </a:buClr>
                        <a:buSzPts val="1500"/>
                        <a:buFont typeface="Corbel"/>
                        <a:buNone/>
                      </a:pPr>
                      <a:r>
                        <a:rPr lang="id" sz="2000" u="none" strike="noStrike" cap="none"/>
                        <a:t>Data teks dalam dokumen teks bebas, data audio, data video.</a:t>
                      </a:r>
                      <a:endParaRPr sz="1800" u="none" strike="noStrike" cap="none"/>
                    </a:p>
                  </a:txBody>
                  <a:tcPr marL="121933" marR="121933" marT="60967" marB="60967">
                    <a:solidFill>
                      <a:srgbClr val="F3F3F3"/>
                    </a:solidFill>
                  </a:tcPr>
                </a:tc>
                <a:extLst>
                  <a:ext uri="{0D108BD9-81ED-4DB2-BD59-A6C34878D82A}">
                    <a16:rowId xmlns:a16="http://schemas.microsoft.com/office/drawing/2014/main" val="10002"/>
                  </a:ext>
                </a:extLst>
              </a:tr>
            </a:tbl>
          </a:graphicData>
        </a:graphic>
      </p:graphicFrame>
      <p:sp>
        <p:nvSpPr>
          <p:cNvPr id="392" name="Google Shape;392;p55"/>
          <p:cNvSpPr txBox="1"/>
          <p:nvPr/>
        </p:nvSpPr>
        <p:spPr>
          <a:xfrm>
            <a:off x="415600" y="4931933"/>
            <a:ext cx="11267600" cy="1272345"/>
          </a:xfrm>
          <a:prstGeom prst="rect">
            <a:avLst/>
          </a:prstGeom>
          <a:noFill/>
          <a:ln>
            <a:noFill/>
          </a:ln>
        </p:spPr>
        <p:txBody>
          <a:bodyPr spcFirstLastPara="1" wrap="square" lIns="121900" tIns="60933" rIns="121900" bIns="60933" anchor="t" anchorCtr="0">
            <a:spAutoFit/>
          </a:bodyPr>
          <a:lstStyle/>
          <a:p>
            <a:pPr>
              <a:buClr>
                <a:srgbClr val="000000"/>
              </a:buClr>
              <a:buSzPts val="1400"/>
            </a:pPr>
            <a:r>
              <a:rPr lang="id" sz="1867" b="1" dirty="0">
                <a:solidFill>
                  <a:srgbClr val="000000"/>
                </a:solidFill>
                <a:latin typeface="Arial"/>
                <a:ea typeface="Arial"/>
                <a:cs typeface="Arial"/>
                <a:sym typeface="Arial"/>
              </a:rPr>
              <a:t>Data semi-terstruktur (</a:t>
            </a:r>
            <a:r>
              <a:rPr lang="id" sz="1867" b="1" i="1" dirty="0">
                <a:solidFill>
                  <a:srgbClr val="000000"/>
                </a:solidFill>
                <a:latin typeface="Arial"/>
                <a:ea typeface="Arial"/>
                <a:cs typeface="Arial"/>
                <a:sym typeface="Arial"/>
              </a:rPr>
              <a:t>semi-structured data</a:t>
            </a:r>
            <a:r>
              <a:rPr lang="id" sz="1867" b="1" dirty="0">
                <a:solidFill>
                  <a:srgbClr val="000000"/>
                </a:solidFill>
                <a:latin typeface="Arial"/>
                <a:ea typeface="Arial"/>
                <a:cs typeface="Arial"/>
                <a:sym typeface="Arial"/>
              </a:rPr>
              <a:t>)</a:t>
            </a:r>
            <a:r>
              <a:rPr lang="id" sz="1867" dirty="0">
                <a:solidFill>
                  <a:srgbClr val="000000"/>
                </a:solidFill>
                <a:latin typeface="Arial"/>
                <a:ea typeface="Arial"/>
                <a:cs typeface="Arial"/>
                <a:sym typeface="Arial"/>
              </a:rPr>
              <a:t>: Data terstruktur yang tidak mengikuti model struktur tabular yang seperti pada basis data relasional, namun tetap mengandung </a:t>
            </a:r>
            <a:r>
              <a:rPr lang="id" sz="1867" i="1" dirty="0">
                <a:solidFill>
                  <a:srgbClr val="000000"/>
                </a:solidFill>
                <a:latin typeface="Arial"/>
                <a:ea typeface="Arial"/>
                <a:cs typeface="Arial"/>
                <a:sym typeface="Arial"/>
              </a:rPr>
              <a:t>tags</a:t>
            </a:r>
            <a:r>
              <a:rPr lang="id" sz="1867" dirty="0">
                <a:solidFill>
                  <a:srgbClr val="000000"/>
                </a:solidFill>
                <a:latin typeface="Arial"/>
                <a:ea typeface="Arial"/>
                <a:cs typeface="Arial"/>
                <a:sym typeface="Arial"/>
              </a:rPr>
              <a:t> atau penanda lainnya yang dapat memisahkan elemen-elemen semantik pada data serta mengatur hierarki antara butir-butir datanya.</a:t>
            </a:r>
            <a:endParaRPr sz="1867" dirty="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4EAB8-18C7-7582-261C-4AA2D56D6FB3}"/>
              </a:ext>
            </a:extLst>
          </p:cNvPr>
          <p:cNvSpPr>
            <a:spLocks noGrp="1"/>
          </p:cNvSpPr>
          <p:nvPr>
            <p:ph type="title"/>
          </p:nvPr>
        </p:nvSpPr>
        <p:spPr>
          <a:xfrm>
            <a:off x="838200" y="365125"/>
            <a:ext cx="10515600" cy="915035"/>
          </a:xfrm>
        </p:spPr>
        <p:txBody>
          <a:bodyPr/>
          <a:lstStyle/>
          <a:p>
            <a:r>
              <a:rPr lang="en-US" dirty="0"/>
              <a:t>Semi-structured data</a:t>
            </a:r>
          </a:p>
        </p:txBody>
      </p:sp>
      <p:sp>
        <p:nvSpPr>
          <p:cNvPr id="3" name="Content Placeholder 2">
            <a:extLst>
              <a:ext uri="{FF2B5EF4-FFF2-40B4-BE49-F238E27FC236}">
                <a16:creationId xmlns:a16="http://schemas.microsoft.com/office/drawing/2014/main" id="{C7524E80-931F-A33C-D9B3-A321E535DEE4}"/>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Does not follow a fixed tabular structure like a relational database. </a:t>
            </a:r>
          </a:p>
          <a:p>
            <a:r>
              <a:rPr lang="en-US" dirty="0">
                <a:latin typeface="Calibri" panose="020F0502020204030204" pitchFamily="34" charset="0"/>
                <a:ea typeface="Calibri" panose="020F0502020204030204" pitchFamily="34" charset="0"/>
                <a:cs typeface="Calibri" panose="020F0502020204030204" pitchFamily="34" charset="0"/>
              </a:rPr>
              <a:t>Still contains tags or markers that separate meaningful data elements. </a:t>
            </a:r>
          </a:p>
          <a:p>
            <a:r>
              <a:rPr lang="en-US" dirty="0">
                <a:latin typeface="Calibri" panose="020F0502020204030204" pitchFamily="34" charset="0"/>
                <a:ea typeface="Calibri" panose="020F0502020204030204" pitchFamily="34" charset="0"/>
                <a:cs typeface="Calibri" panose="020F0502020204030204" pitchFamily="34" charset="0"/>
              </a:rPr>
              <a:t>Can represent relationships and hierarchies between data items.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54E29B89-552D-B878-3BF5-5B43BD50B611}"/>
              </a:ext>
            </a:extLst>
          </p:cNvPr>
          <p:cNvPicPr>
            <a:picLocks noChangeAspect="1"/>
          </p:cNvPicPr>
          <p:nvPr/>
        </p:nvPicPr>
        <p:blipFill>
          <a:blip r:embed="rId3"/>
          <a:stretch>
            <a:fillRect/>
          </a:stretch>
        </p:blipFill>
        <p:spPr>
          <a:xfrm>
            <a:off x="1812718" y="3304298"/>
            <a:ext cx="2466674" cy="2886316"/>
          </a:xfrm>
          <a:prstGeom prst="rect">
            <a:avLst/>
          </a:prstGeom>
        </p:spPr>
      </p:pic>
      <p:pic>
        <p:nvPicPr>
          <p:cNvPr id="7" name="Picture 6">
            <a:extLst>
              <a:ext uri="{FF2B5EF4-FFF2-40B4-BE49-F238E27FC236}">
                <a16:creationId xmlns:a16="http://schemas.microsoft.com/office/drawing/2014/main" id="{6060DEBA-D5D0-8313-F043-29621AC504EF}"/>
              </a:ext>
            </a:extLst>
          </p:cNvPr>
          <p:cNvPicPr>
            <a:picLocks noChangeAspect="1"/>
          </p:cNvPicPr>
          <p:nvPr/>
        </p:nvPicPr>
        <p:blipFill>
          <a:blip r:embed="rId4"/>
          <a:stretch>
            <a:fillRect/>
          </a:stretch>
        </p:blipFill>
        <p:spPr>
          <a:xfrm>
            <a:off x="5080173" y="3379779"/>
            <a:ext cx="3539571" cy="2810835"/>
          </a:xfrm>
          <a:prstGeom prst="rect">
            <a:avLst/>
          </a:prstGeom>
        </p:spPr>
      </p:pic>
    </p:spTree>
    <p:extLst>
      <p:ext uri="{BB962C8B-B14F-4D97-AF65-F5344CB8AC3E}">
        <p14:creationId xmlns:p14="http://schemas.microsoft.com/office/powerpoint/2010/main" val="771504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oogle Shape;413;p57">
            <a:extLst>
              <a:ext uri="{FF2B5EF4-FFF2-40B4-BE49-F238E27FC236}">
                <a16:creationId xmlns:a16="http://schemas.microsoft.com/office/drawing/2014/main" id="{6BCFB4C3-1B52-7CE9-0F34-28F3AC22EC01}"/>
              </a:ext>
            </a:extLst>
          </p:cNvPr>
          <p:cNvPicPr preferRelativeResize="0"/>
          <p:nvPr/>
        </p:nvPicPr>
        <p:blipFill rotWithShape="1">
          <a:blip r:embed="rId2">
            <a:alphaModFix/>
          </a:blip>
          <a:srcRect/>
          <a:stretch/>
        </p:blipFill>
        <p:spPr>
          <a:xfrm>
            <a:off x="7016851" y="1161471"/>
            <a:ext cx="4852197" cy="2804205"/>
          </a:xfrm>
          <a:prstGeom prst="rect">
            <a:avLst/>
          </a:prstGeom>
          <a:noFill/>
          <a:ln>
            <a:noFill/>
          </a:ln>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A57D4366-D9E0-3B47-5ABB-1F3E24604B4A}"/>
              </a:ext>
            </a:extLst>
          </p:cNvPr>
          <p:cNvSpPr>
            <a:spLocks noGrp="1"/>
          </p:cNvSpPr>
          <p:nvPr>
            <p:ph type="title"/>
          </p:nvPr>
        </p:nvSpPr>
        <p:spPr>
          <a:xfrm>
            <a:off x="838200" y="365125"/>
            <a:ext cx="10515600" cy="915035"/>
          </a:xfrm>
        </p:spPr>
        <p:txBody>
          <a:bodyPr/>
          <a:lstStyle/>
          <a:p>
            <a:r>
              <a:rPr lang="en-US" dirty="0"/>
              <a:t>Unstructured data examples</a:t>
            </a:r>
          </a:p>
        </p:txBody>
      </p:sp>
      <p:pic>
        <p:nvPicPr>
          <p:cNvPr id="5" name="Google Shape;407;p57">
            <a:extLst>
              <a:ext uri="{FF2B5EF4-FFF2-40B4-BE49-F238E27FC236}">
                <a16:creationId xmlns:a16="http://schemas.microsoft.com/office/drawing/2014/main" id="{94DA357B-7B85-3FA9-5FD6-35076B963805}"/>
              </a:ext>
            </a:extLst>
          </p:cNvPr>
          <p:cNvPicPr preferRelativeResize="0"/>
          <p:nvPr/>
        </p:nvPicPr>
        <p:blipFill rotWithShape="1">
          <a:blip r:embed="rId3">
            <a:alphaModFix/>
          </a:blip>
          <a:srcRect/>
          <a:stretch/>
        </p:blipFill>
        <p:spPr>
          <a:xfrm>
            <a:off x="311688" y="1588776"/>
            <a:ext cx="7006913" cy="968454"/>
          </a:xfrm>
          <a:prstGeom prst="rect">
            <a:avLst/>
          </a:prstGeom>
          <a:noFill/>
          <a:ln>
            <a:noFill/>
          </a:ln>
          <a:effectLst>
            <a:outerShdw blurRad="63500" sx="102000" sy="102000" algn="ctr" rotWithShape="0">
              <a:prstClr val="black">
                <a:alpha val="40000"/>
              </a:prstClr>
            </a:outerShdw>
          </a:effectLst>
        </p:spPr>
      </p:pic>
      <p:sp>
        <p:nvSpPr>
          <p:cNvPr id="7" name="Google Shape;408;p57">
            <a:extLst>
              <a:ext uri="{FF2B5EF4-FFF2-40B4-BE49-F238E27FC236}">
                <a16:creationId xmlns:a16="http://schemas.microsoft.com/office/drawing/2014/main" id="{EAB92D7A-4FFD-BA00-7005-81FC974A526C}"/>
              </a:ext>
            </a:extLst>
          </p:cNvPr>
          <p:cNvSpPr txBox="1"/>
          <p:nvPr/>
        </p:nvSpPr>
        <p:spPr>
          <a:xfrm>
            <a:off x="160819" y="2593484"/>
            <a:ext cx="700690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d" sz="1400" b="0" i="0" u="none" strike="noStrike" cap="none" dirty="0">
                <a:solidFill>
                  <a:srgbClr val="0F3570"/>
                </a:solidFill>
                <a:latin typeface="Overlock"/>
                <a:ea typeface="Overlock"/>
                <a:cs typeface="Overlock"/>
                <a:sym typeface="Overlock"/>
              </a:rPr>
              <a:t>email: semi-structured data; </a:t>
            </a:r>
            <a:r>
              <a:rPr lang="en-US" sz="1400" b="0" i="0" u="none" strike="noStrike" cap="none" dirty="0">
                <a:solidFill>
                  <a:srgbClr val="0F3570"/>
                </a:solidFill>
                <a:latin typeface="Overlock"/>
                <a:ea typeface="Overlock"/>
                <a:cs typeface="Overlock"/>
                <a:sym typeface="Overlock"/>
              </a:rPr>
              <a:t>content</a:t>
            </a:r>
            <a:r>
              <a:rPr lang="id" sz="1400" b="0" i="0" u="none" strike="noStrike" cap="none" dirty="0">
                <a:solidFill>
                  <a:srgbClr val="0F3570"/>
                </a:solidFill>
                <a:latin typeface="Overlock"/>
                <a:ea typeface="Overlock"/>
                <a:cs typeface="Overlock"/>
                <a:sym typeface="Overlock"/>
              </a:rPr>
              <a:t>: unstructured data</a:t>
            </a:r>
            <a:endParaRPr sz="1400" b="0" i="0" u="none" strike="noStrike" cap="none" dirty="0">
              <a:solidFill>
                <a:srgbClr val="000000"/>
              </a:solidFill>
              <a:latin typeface="Arial"/>
              <a:ea typeface="Arial"/>
              <a:cs typeface="Arial"/>
              <a:sym typeface="Arial"/>
            </a:endParaRPr>
          </a:p>
        </p:txBody>
      </p:sp>
      <p:sp>
        <p:nvSpPr>
          <p:cNvPr id="9" name="Google Shape;409;p57">
            <a:extLst>
              <a:ext uri="{FF2B5EF4-FFF2-40B4-BE49-F238E27FC236}">
                <a16:creationId xmlns:a16="http://schemas.microsoft.com/office/drawing/2014/main" id="{EA03C342-B9C1-39C8-B568-B28BD0AEDAB0}"/>
              </a:ext>
            </a:extLst>
          </p:cNvPr>
          <p:cNvSpPr/>
          <p:nvPr/>
        </p:nvSpPr>
        <p:spPr>
          <a:xfrm>
            <a:off x="1592940" y="1317524"/>
            <a:ext cx="1107040" cy="369291"/>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accent2"/>
                </a:solidFill>
                <a:latin typeface="Overlock"/>
                <a:ea typeface="Overlock"/>
                <a:cs typeface="Overlock"/>
                <a:sym typeface="Overlock"/>
              </a:rPr>
              <a:t>E</a:t>
            </a:r>
            <a:r>
              <a:rPr lang="id" sz="1800" b="1" i="0" u="none" strike="noStrike" cap="none" dirty="0">
                <a:solidFill>
                  <a:schemeClr val="accent2"/>
                </a:solidFill>
                <a:latin typeface="Overlock"/>
                <a:ea typeface="Overlock"/>
                <a:cs typeface="Overlock"/>
                <a:sym typeface="Overlock"/>
              </a:rPr>
              <a:t>mail</a:t>
            </a:r>
            <a:endParaRPr sz="1400" b="0" i="0" u="none" strike="noStrike" cap="none" dirty="0">
              <a:solidFill>
                <a:schemeClr val="accent2"/>
              </a:solidFill>
              <a:latin typeface="Arial"/>
              <a:ea typeface="Arial"/>
              <a:cs typeface="Arial"/>
              <a:sym typeface="Arial"/>
            </a:endParaRPr>
          </a:p>
        </p:txBody>
      </p:sp>
      <p:pic>
        <p:nvPicPr>
          <p:cNvPr id="11" name="Google Shape;410;p57">
            <a:extLst>
              <a:ext uri="{FF2B5EF4-FFF2-40B4-BE49-F238E27FC236}">
                <a16:creationId xmlns:a16="http://schemas.microsoft.com/office/drawing/2014/main" id="{0DF515ED-F241-6273-D032-F9B092E7DB8C}"/>
              </a:ext>
            </a:extLst>
          </p:cNvPr>
          <p:cNvPicPr preferRelativeResize="0"/>
          <p:nvPr/>
        </p:nvPicPr>
        <p:blipFill rotWithShape="1">
          <a:blip r:embed="rId4">
            <a:alphaModFix/>
          </a:blip>
          <a:srcRect/>
          <a:stretch/>
        </p:blipFill>
        <p:spPr>
          <a:xfrm>
            <a:off x="6212338" y="4373657"/>
            <a:ext cx="5583422" cy="1832026"/>
          </a:xfrm>
          <a:prstGeom prst="rect">
            <a:avLst/>
          </a:prstGeom>
          <a:noFill/>
          <a:ln>
            <a:noFill/>
          </a:ln>
          <a:effectLst>
            <a:outerShdw blurRad="63500" sx="102000" sy="102000" algn="ctr" rotWithShape="0">
              <a:prstClr val="black">
                <a:alpha val="40000"/>
              </a:prstClr>
            </a:outerShdw>
          </a:effectLst>
        </p:spPr>
      </p:pic>
      <p:sp>
        <p:nvSpPr>
          <p:cNvPr id="13" name="Google Shape;411;p57">
            <a:extLst>
              <a:ext uri="{FF2B5EF4-FFF2-40B4-BE49-F238E27FC236}">
                <a16:creationId xmlns:a16="http://schemas.microsoft.com/office/drawing/2014/main" id="{02DEE239-1739-7457-E28C-4AC094C5EBC3}"/>
              </a:ext>
            </a:extLst>
          </p:cNvPr>
          <p:cNvSpPr/>
          <p:nvPr/>
        </p:nvSpPr>
        <p:spPr>
          <a:xfrm>
            <a:off x="8466163" y="4189011"/>
            <a:ext cx="1953572" cy="369291"/>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accent2"/>
                </a:solidFill>
                <a:latin typeface="Overlock"/>
                <a:ea typeface="Overlock"/>
                <a:cs typeface="Overlock"/>
                <a:sym typeface="Overlock"/>
              </a:rPr>
              <a:t>Social media</a:t>
            </a:r>
            <a:endParaRPr sz="1400" b="0" i="0" u="none" strike="noStrike" cap="none" dirty="0">
              <a:solidFill>
                <a:schemeClr val="accent2"/>
              </a:solidFill>
              <a:latin typeface="Arial"/>
              <a:ea typeface="Arial"/>
              <a:cs typeface="Arial"/>
              <a:sym typeface="Arial"/>
            </a:endParaRPr>
          </a:p>
        </p:txBody>
      </p:sp>
      <p:sp>
        <p:nvSpPr>
          <p:cNvPr id="15" name="Google Shape;412;p57">
            <a:extLst>
              <a:ext uri="{FF2B5EF4-FFF2-40B4-BE49-F238E27FC236}">
                <a16:creationId xmlns:a16="http://schemas.microsoft.com/office/drawing/2014/main" id="{D8A21D3C-3003-9A19-582C-15445EE8A6E7}"/>
              </a:ext>
            </a:extLst>
          </p:cNvPr>
          <p:cNvSpPr/>
          <p:nvPr/>
        </p:nvSpPr>
        <p:spPr>
          <a:xfrm>
            <a:off x="6212338" y="2825191"/>
            <a:ext cx="1861569" cy="369291"/>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accent2"/>
                </a:solidFill>
                <a:latin typeface="Overlock"/>
                <a:ea typeface="Overlock"/>
                <a:cs typeface="Overlock"/>
                <a:sym typeface="Overlock"/>
              </a:rPr>
              <a:t>W</a:t>
            </a:r>
            <a:r>
              <a:rPr lang="id" sz="1800" b="1" i="0" u="none" strike="noStrike" cap="none" dirty="0">
                <a:solidFill>
                  <a:schemeClr val="accent2"/>
                </a:solidFill>
                <a:latin typeface="Overlock"/>
                <a:ea typeface="Overlock"/>
                <a:cs typeface="Overlock"/>
                <a:sym typeface="Overlock"/>
              </a:rPr>
              <a:t>eb pages</a:t>
            </a:r>
            <a:endParaRPr sz="1400" b="0" i="0" u="none" strike="noStrike" cap="none" dirty="0">
              <a:solidFill>
                <a:schemeClr val="accent2"/>
              </a:solidFill>
              <a:latin typeface="Arial"/>
              <a:ea typeface="Arial"/>
              <a:cs typeface="Arial"/>
              <a:sym typeface="Arial"/>
            </a:endParaRPr>
          </a:p>
        </p:txBody>
      </p:sp>
      <p:pic>
        <p:nvPicPr>
          <p:cNvPr id="19" name="Google Shape;414;p57">
            <a:extLst>
              <a:ext uri="{FF2B5EF4-FFF2-40B4-BE49-F238E27FC236}">
                <a16:creationId xmlns:a16="http://schemas.microsoft.com/office/drawing/2014/main" id="{3863AC8C-6D7B-63E0-A40E-3BCF151B5E05}"/>
              </a:ext>
            </a:extLst>
          </p:cNvPr>
          <p:cNvPicPr preferRelativeResize="0"/>
          <p:nvPr/>
        </p:nvPicPr>
        <p:blipFill rotWithShape="1">
          <a:blip r:embed="rId5">
            <a:alphaModFix/>
          </a:blip>
          <a:srcRect l="8538" t="9242" r="20115" b="10682"/>
          <a:stretch/>
        </p:blipFill>
        <p:spPr>
          <a:xfrm>
            <a:off x="522465" y="3644675"/>
            <a:ext cx="4306047" cy="2561008"/>
          </a:xfrm>
          <a:prstGeom prst="rect">
            <a:avLst/>
          </a:prstGeom>
          <a:noFill/>
          <a:ln>
            <a:noFill/>
          </a:ln>
          <a:effectLst>
            <a:outerShdw blurRad="63500" sx="102000" sy="102000" algn="ctr" rotWithShape="0">
              <a:prstClr val="black">
                <a:alpha val="40000"/>
              </a:prstClr>
            </a:outerShdw>
          </a:effectLst>
        </p:spPr>
      </p:pic>
      <p:sp>
        <p:nvSpPr>
          <p:cNvPr id="21" name="Google Shape;415;p57">
            <a:extLst>
              <a:ext uri="{FF2B5EF4-FFF2-40B4-BE49-F238E27FC236}">
                <a16:creationId xmlns:a16="http://schemas.microsoft.com/office/drawing/2014/main" id="{1FE20F07-BD4B-B790-1D40-D9D7907144F2}"/>
              </a:ext>
            </a:extLst>
          </p:cNvPr>
          <p:cNvSpPr/>
          <p:nvPr/>
        </p:nvSpPr>
        <p:spPr>
          <a:xfrm>
            <a:off x="311688" y="3194482"/>
            <a:ext cx="431384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b="1" dirty="0">
                <a:solidFill>
                  <a:schemeClr val="accent2"/>
                </a:solidFill>
                <a:latin typeface="Overlock"/>
                <a:ea typeface="Arial"/>
                <a:cs typeface="Arial"/>
                <a:sym typeface="Overlock"/>
              </a:rPr>
              <a:t>Customer review</a:t>
            </a:r>
            <a:endParaRPr sz="1400" b="0" i="0" u="none" strike="noStrike" cap="none" dirty="0">
              <a:solidFill>
                <a:schemeClr val="accent2"/>
              </a:solidFill>
              <a:latin typeface="Arial"/>
              <a:ea typeface="Arial"/>
              <a:cs typeface="Arial"/>
              <a:sym typeface="Arial"/>
            </a:endParaRPr>
          </a:p>
        </p:txBody>
      </p:sp>
    </p:spTree>
    <p:extLst>
      <p:ext uri="{BB962C8B-B14F-4D97-AF65-F5344CB8AC3E}">
        <p14:creationId xmlns:p14="http://schemas.microsoft.com/office/powerpoint/2010/main" val="1746605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6206F-9259-C2EE-BC40-E05E41717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1A333-7FA9-71EF-9B8D-F90681101BA8}"/>
              </a:ext>
            </a:extLst>
          </p:cNvPr>
          <p:cNvSpPr>
            <a:spLocks noGrp="1"/>
          </p:cNvSpPr>
          <p:nvPr>
            <p:ph type="title"/>
          </p:nvPr>
        </p:nvSpPr>
        <p:spPr>
          <a:xfrm>
            <a:off x="838200" y="365125"/>
            <a:ext cx="10515600" cy="915035"/>
          </a:xfrm>
        </p:spPr>
        <p:txBody>
          <a:bodyPr/>
          <a:lstStyle/>
          <a:p>
            <a:r>
              <a:rPr lang="en-US" dirty="0"/>
              <a:t>Data Types Based on Collection Method</a:t>
            </a:r>
          </a:p>
        </p:txBody>
      </p:sp>
      <p:sp>
        <p:nvSpPr>
          <p:cNvPr id="3" name="Content Placeholder 2">
            <a:extLst>
              <a:ext uri="{FF2B5EF4-FFF2-40B4-BE49-F238E27FC236}">
                <a16:creationId xmlns:a16="http://schemas.microsoft.com/office/drawing/2014/main" id="{8A98382A-296A-8B63-E3C4-1D1442173D02}"/>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Primary data</a:t>
            </a:r>
          </a:p>
          <a:p>
            <a:pPr lvl="1"/>
            <a:r>
              <a:rPr lang="en-US" dirty="0">
                <a:latin typeface="Calibri" panose="020F0502020204030204" pitchFamily="34" charset="0"/>
                <a:ea typeface="Calibri" panose="020F0502020204030204" pitchFamily="34" charset="0"/>
                <a:cs typeface="Calibri" panose="020F0502020204030204" pitchFamily="34" charset="0"/>
              </a:rPr>
              <a:t>Data collected directly by the researcher from the original source.</a:t>
            </a:r>
          </a:p>
          <a:p>
            <a:pPr lvl="1"/>
            <a:r>
              <a:rPr lang="en-US" dirty="0">
                <a:latin typeface="Calibri" panose="020F0502020204030204" pitchFamily="34" charset="0"/>
                <a:ea typeface="Calibri" panose="020F0502020204030204" pitchFamily="34" charset="0"/>
                <a:cs typeface="Calibri" panose="020F0502020204030204" pitchFamily="34" charset="0"/>
              </a:rPr>
              <a:t>Examples: Interviews, surveys, questionnaires. </a:t>
            </a:r>
          </a:p>
          <a:p>
            <a:r>
              <a:rPr lang="en-US" dirty="0">
                <a:latin typeface="Calibri" panose="020F0502020204030204" pitchFamily="34" charset="0"/>
                <a:ea typeface="Calibri" panose="020F0502020204030204" pitchFamily="34" charset="0"/>
                <a:cs typeface="Calibri" panose="020F0502020204030204" pitchFamily="34" charset="0"/>
              </a:rPr>
              <a:t>Secondary data</a:t>
            </a:r>
          </a:p>
          <a:p>
            <a:pPr lvl="1"/>
            <a:r>
              <a:rPr lang="en-US" dirty="0">
                <a:latin typeface="Calibri" panose="020F0502020204030204" pitchFamily="34" charset="0"/>
                <a:ea typeface="Calibri" panose="020F0502020204030204" pitchFamily="34" charset="0"/>
                <a:cs typeface="Calibri" panose="020F0502020204030204" pitchFamily="34" charset="0"/>
              </a:rPr>
              <a:t>Data collected by other people or organizations and then used by the researcher.</a:t>
            </a:r>
          </a:p>
          <a:p>
            <a:pPr lvl="1"/>
            <a:r>
              <a:rPr lang="en-US" dirty="0">
                <a:latin typeface="Calibri" panose="020F0502020204030204" pitchFamily="34" charset="0"/>
                <a:ea typeface="Calibri" panose="020F0502020204030204" pitchFamily="34" charset="0"/>
                <a:cs typeface="Calibri" panose="020F0502020204030204" pitchFamily="34" charset="0"/>
              </a:rPr>
              <a:t>Examples: Government statistics, published reports, existing databases.</a:t>
            </a:r>
          </a:p>
        </p:txBody>
      </p:sp>
    </p:spTree>
    <p:extLst>
      <p:ext uri="{BB962C8B-B14F-4D97-AF65-F5344CB8AC3E}">
        <p14:creationId xmlns:p14="http://schemas.microsoft.com/office/powerpoint/2010/main" val="2827163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427"/>
        <p:cNvGrpSpPr/>
        <p:nvPr/>
      </p:nvGrpSpPr>
      <p:grpSpPr>
        <a:xfrm>
          <a:off x="0" y="0"/>
          <a:ext cx="0" cy="0"/>
          <a:chOff x="0" y="0"/>
          <a:chExt cx="0" cy="0"/>
        </a:xfrm>
      </p:grpSpPr>
      <p:sp>
        <p:nvSpPr>
          <p:cNvPr id="428" name="Google Shape;428;p59"/>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Tipe data berdasarkan Cara Pengumpulan</a:t>
            </a:r>
            <a:endParaRPr/>
          </a:p>
        </p:txBody>
      </p:sp>
      <p:sp>
        <p:nvSpPr>
          <p:cNvPr id="429" name="Google Shape;429;p59"/>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lnSpcReduction="10000"/>
          </a:bodyPr>
          <a:lstStyle/>
          <a:p>
            <a:r>
              <a:rPr lang="id" b="1"/>
              <a:t>Data primer</a:t>
            </a:r>
            <a:r>
              <a:rPr lang="id"/>
              <a:t>, merupakan data yang didapatkan dari sumber pertama, atau dapat dikatakan pengumpulannya dilakukan sendiri oleh si peneliti secara langsung, seperti hasil wawancara dan hasil pengisian kuesioner (angket). </a:t>
            </a:r>
            <a:endParaRPr/>
          </a:p>
          <a:p>
            <a:r>
              <a:rPr lang="id" b="1"/>
              <a:t>Data sekunder</a:t>
            </a:r>
            <a:r>
              <a:rPr lang="id"/>
              <a:t>, merupakan data yang didapatkan dari sumber kedua. Menurut </a:t>
            </a:r>
            <a:r>
              <a:rPr lang="id" sz="1600"/>
              <a:t>Purwanto (2007)</a:t>
            </a:r>
            <a:r>
              <a:rPr lang="id"/>
              <a:t>, data sekunder yaitu data yang dikumpulkan oleh orang atau lembaga lain. Data sekunder adalah data yang digunakan atau diterbitkan oleh organisasi yang bukan pengolahnya </a:t>
            </a:r>
            <a:r>
              <a:rPr lang="id" sz="1867"/>
              <a:t>(Soeratno dan Arsyad (2003;76)</a:t>
            </a:r>
            <a:r>
              <a:rPr lang="id"/>
              <a:t>.</a:t>
            </a:r>
            <a:endParaRPr/>
          </a:p>
        </p:txBody>
      </p:sp>
      <p:sp>
        <p:nvSpPr>
          <p:cNvPr id="430" name="Google Shape;430;p59"/>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9D8B-BE82-746F-D2B7-90256E4DE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6B5C7-8D79-46F0-1492-C942CAC28679}"/>
              </a:ext>
            </a:extLst>
          </p:cNvPr>
          <p:cNvSpPr>
            <a:spLocks noGrp="1"/>
          </p:cNvSpPr>
          <p:nvPr>
            <p:ph type="title"/>
          </p:nvPr>
        </p:nvSpPr>
        <p:spPr>
          <a:xfrm>
            <a:off x="838200" y="365125"/>
            <a:ext cx="10515600" cy="915035"/>
          </a:xfrm>
        </p:spPr>
        <p:txBody>
          <a:bodyPr/>
          <a:lstStyle/>
          <a:p>
            <a:r>
              <a:rPr lang="en-US" dirty="0"/>
              <a:t>Data Types Based on Their Properties</a:t>
            </a:r>
          </a:p>
        </p:txBody>
      </p:sp>
      <p:sp>
        <p:nvSpPr>
          <p:cNvPr id="3" name="Content Placeholder 2">
            <a:extLst>
              <a:ext uri="{FF2B5EF4-FFF2-40B4-BE49-F238E27FC236}">
                <a16:creationId xmlns:a16="http://schemas.microsoft.com/office/drawing/2014/main" id="{FC04BB37-2BCD-3A8F-C261-EBF2A4CD3EFC}"/>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Dichotomous data</a:t>
            </a:r>
          </a:p>
          <a:p>
            <a:pPr lvl="1"/>
            <a:r>
              <a:rPr lang="en-US" dirty="0">
                <a:latin typeface="Calibri" panose="020F0502020204030204" pitchFamily="34" charset="0"/>
                <a:ea typeface="Calibri" panose="020F0502020204030204" pitchFamily="34" charset="0"/>
                <a:cs typeface="Calibri" panose="020F0502020204030204" pitchFamily="34" charset="0"/>
              </a:rPr>
              <a:t>Data with only two distinct categories.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Examples: Yes/No, Male/Female, Pass/Fail. </a:t>
            </a:r>
          </a:p>
          <a:p>
            <a:r>
              <a:rPr lang="en-US" dirty="0">
                <a:latin typeface="Calibri" panose="020F0502020204030204" pitchFamily="34" charset="0"/>
                <a:ea typeface="Calibri" panose="020F0502020204030204" pitchFamily="34" charset="0"/>
                <a:cs typeface="Calibri" panose="020F0502020204030204" pitchFamily="34" charset="0"/>
              </a:rPr>
              <a:t>Discrete data</a:t>
            </a:r>
          </a:p>
          <a:p>
            <a:pPr lvl="1"/>
            <a:r>
              <a:rPr lang="en-US" dirty="0">
                <a:latin typeface="Calibri" panose="020F0502020204030204" pitchFamily="34" charset="0"/>
                <a:ea typeface="Calibri" panose="020F0502020204030204" pitchFamily="34" charset="0"/>
                <a:cs typeface="Calibri" panose="020F0502020204030204" pitchFamily="34" charset="0"/>
              </a:rPr>
              <a:t>Data collected by counting.</a:t>
            </a:r>
          </a:p>
          <a:p>
            <a:pPr lvl="1"/>
            <a:r>
              <a:rPr lang="en-US" dirty="0">
                <a:latin typeface="Calibri" panose="020F0502020204030204" pitchFamily="34" charset="0"/>
                <a:ea typeface="Calibri" panose="020F0502020204030204" pitchFamily="34" charset="0"/>
                <a:cs typeface="Calibri" panose="020F0502020204030204" pitchFamily="34" charset="0"/>
              </a:rPr>
              <a:t>Examples: Number of children, population size, number of deaths. </a:t>
            </a:r>
          </a:p>
          <a:p>
            <a:r>
              <a:rPr lang="en-US" dirty="0">
                <a:latin typeface="Calibri" panose="020F0502020204030204" pitchFamily="34" charset="0"/>
                <a:ea typeface="Calibri" panose="020F0502020204030204" pitchFamily="34" charset="0"/>
                <a:cs typeface="Calibri" panose="020F0502020204030204" pitchFamily="34" charset="0"/>
              </a:rPr>
              <a:t>Continuous data</a:t>
            </a:r>
          </a:p>
          <a:p>
            <a:pPr lvl="1"/>
            <a:r>
              <a:rPr lang="en-US" dirty="0">
                <a:latin typeface="Calibri" panose="020F0502020204030204" pitchFamily="34" charset="0"/>
                <a:ea typeface="Calibri" panose="020F0502020204030204" pitchFamily="34" charset="0"/>
                <a:cs typeface="Calibri" panose="020F0502020204030204" pitchFamily="34" charset="0"/>
              </a:rPr>
              <a:t>Data collected by measurement using a specific scale.</a:t>
            </a:r>
          </a:p>
          <a:p>
            <a:pPr lvl="1"/>
            <a:r>
              <a:rPr lang="en-US" dirty="0">
                <a:latin typeface="Calibri" panose="020F0502020204030204" pitchFamily="34" charset="0"/>
                <a:ea typeface="Calibri" panose="020F0502020204030204" pitchFamily="34" charset="0"/>
                <a:cs typeface="Calibri" panose="020F0502020204030204" pitchFamily="34" charset="0"/>
              </a:rPr>
              <a:t>Examples: Temperature, weight, height, intelligence score. </a:t>
            </a:r>
          </a:p>
        </p:txBody>
      </p:sp>
    </p:spTree>
    <p:extLst>
      <p:ext uri="{BB962C8B-B14F-4D97-AF65-F5344CB8AC3E}">
        <p14:creationId xmlns:p14="http://schemas.microsoft.com/office/powerpoint/2010/main" val="3428667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420"/>
        <p:cNvGrpSpPr/>
        <p:nvPr/>
      </p:nvGrpSpPr>
      <p:grpSpPr>
        <a:xfrm>
          <a:off x="0" y="0"/>
          <a:ext cx="0" cy="0"/>
          <a:chOff x="0" y="0"/>
          <a:chExt cx="0" cy="0"/>
        </a:xfrm>
      </p:grpSpPr>
      <p:sp>
        <p:nvSpPr>
          <p:cNvPr id="421" name="Google Shape;421;p58"/>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Tipe data berdasarkan Sifatnya</a:t>
            </a:r>
            <a:endParaRPr/>
          </a:p>
        </p:txBody>
      </p:sp>
      <p:sp>
        <p:nvSpPr>
          <p:cNvPr id="422" name="Google Shape;422;p58"/>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a:bodyPr>
          <a:lstStyle/>
          <a:p>
            <a:r>
              <a:rPr lang="id" b="1" dirty="0"/>
              <a:t>Data dikotomi</a:t>
            </a:r>
            <a:r>
              <a:rPr lang="id" dirty="0"/>
              <a:t>, merupakan data yang bersifat pilah satu sama lain, misalnya suku, agama, jenis kelamin, pendidikan, dan lain sebagainya.</a:t>
            </a:r>
            <a:endParaRPr dirty="0"/>
          </a:p>
          <a:p>
            <a:r>
              <a:rPr lang="id" b="1" dirty="0"/>
              <a:t>Data diskrit</a:t>
            </a:r>
            <a:r>
              <a:rPr lang="id" dirty="0"/>
              <a:t>, merupakan data yang proses pengumpulan datanya dijalankan dengan cara menghitung atau membilang. Seperti, jumlah anak, jumlah penduduk, jumlah kematian dan sebagainya.</a:t>
            </a:r>
            <a:endParaRPr dirty="0"/>
          </a:p>
          <a:p>
            <a:r>
              <a:rPr lang="id" b="1" dirty="0"/>
              <a:t>Data kontinum</a:t>
            </a:r>
            <a:r>
              <a:rPr lang="id" dirty="0"/>
              <a:t>, merupakan data pengumpulan datanya didapatkan dengan cara mengukur dengan alat ukur yang memakai skala tertentu. Seperti misalnya, Suhu, berat, bakat, kecerdasan, dan lainnya.</a:t>
            </a:r>
            <a:endParaRPr dirty="0"/>
          </a:p>
        </p:txBody>
      </p:sp>
      <p:sp>
        <p:nvSpPr>
          <p:cNvPr id="423" name="Google Shape;423;p58"/>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0C0FB-2AE3-C84F-5592-6E0EE38AB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F5F2D-5295-CEB2-5F79-89949730BA2F}"/>
              </a:ext>
            </a:extLst>
          </p:cNvPr>
          <p:cNvSpPr>
            <a:spLocks noGrp="1"/>
          </p:cNvSpPr>
          <p:nvPr>
            <p:ph type="title"/>
          </p:nvPr>
        </p:nvSpPr>
        <p:spPr>
          <a:xfrm>
            <a:off x="838200" y="365125"/>
            <a:ext cx="10515600" cy="915035"/>
          </a:xfrm>
        </p:spPr>
        <p:txBody>
          <a:bodyPr/>
          <a:lstStyle/>
          <a:p>
            <a:r>
              <a:rPr lang="en-US" dirty="0"/>
              <a:t>Data Item Types</a:t>
            </a:r>
          </a:p>
        </p:txBody>
      </p:sp>
      <p:graphicFrame>
        <p:nvGraphicFramePr>
          <p:cNvPr id="6" name="Table 5">
            <a:extLst>
              <a:ext uri="{FF2B5EF4-FFF2-40B4-BE49-F238E27FC236}">
                <a16:creationId xmlns:a16="http://schemas.microsoft.com/office/drawing/2014/main" id="{B760268F-6B0D-2559-B7DD-AED0620B2369}"/>
              </a:ext>
            </a:extLst>
          </p:cNvPr>
          <p:cNvGraphicFramePr>
            <a:graphicFrameLocks noGrp="1"/>
          </p:cNvGraphicFramePr>
          <p:nvPr/>
        </p:nvGraphicFramePr>
        <p:xfrm>
          <a:off x="304800" y="1859280"/>
          <a:ext cx="11582400" cy="3479800"/>
        </p:xfrm>
        <a:graphic>
          <a:graphicData uri="http://schemas.openxmlformats.org/drawingml/2006/table">
            <a:tbl>
              <a:tblPr firstRow="1" bandRow="1">
                <a:tableStyleId>{5C22544A-7EE6-4342-B048-85BDC9FD1C3A}</a:tableStyleId>
              </a:tblPr>
              <a:tblGrid>
                <a:gridCol w="2316480">
                  <a:extLst>
                    <a:ext uri="{9D8B030D-6E8A-4147-A177-3AD203B41FA5}">
                      <a16:colId xmlns:a16="http://schemas.microsoft.com/office/drawing/2014/main" val="2219437525"/>
                    </a:ext>
                  </a:extLst>
                </a:gridCol>
                <a:gridCol w="2316480">
                  <a:extLst>
                    <a:ext uri="{9D8B030D-6E8A-4147-A177-3AD203B41FA5}">
                      <a16:colId xmlns:a16="http://schemas.microsoft.com/office/drawing/2014/main" val="666428347"/>
                    </a:ext>
                  </a:extLst>
                </a:gridCol>
                <a:gridCol w="2316480">
                  <a:extLst>
                    <a:ext uri="{9D8B030D-6E8A-4147-A177-3AD203B41FA5}">
                      <a16:colId xmlns:a16="http://schemas.microsoft.com/office/drawing/2014/main" val="465791748"/>
                    </a:ext>
                  </a:extLst>
                </a:gridCol>
                <a:gridCol w="2316480">
                  <a:extLst>
                    <a:ext uri="{9D8B030D-6E8A-4147-A177-3AD203B41FA5}">
                      <a16:colId xmlns:a16="http://schemas.microsoft.com/office/drawing/2014/main" val="774163069"/>
                    </a:ext>
                  </a:extLst>
                </a:gridCol>
                <a:gridCol w="2316480">
                  <a:extLst>
                    <a:ext uri="{9D8B030D-6E8A-4147-A177-3AD203B41FA5}">
                      <a16:colId xmlns:a16="http://schemas.microsoft.com/office/drawing/2014/main" val="4069335528"/>
                    </a:ext>
                  </a:extLst>
                </a:gridCol>
              </a:tblGrid>
              <a:tr h="370840">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Type</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Nature</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Example</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What the Data Represents</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Mathematical Operations</a:t>
                      </a:r>
                    </a:p>
                  </a:txBody>
                  <a:tcPr anchor="ctr"/>
                </a:tc>
                <a:extLst>
                  <a:ext uri="{0D108BD9-81ED-4DB2-BD59-A6C34878D82A}">
                    <a16:rowId xmlns:a16="http://schemas.microsoft.com/office/drawing/2014/main" val="1883451885"/>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Nominal / Categorical</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Discrete, unordered</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Color: red, green, blue</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Membership</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 ≠</a:t>
                      </a:r>
                    </a:p>
                  </a:txBody>
                  <a:tcPr anchor="ctr"/>
                </a:tc>
                <a:extLst>
                  <a:ext uri="{0D108BD9-81ED-4DB2-BD59-A6C34878D82A}">
                    <a16:rowId xmlns:a16="http://schemas.microsoft.com/office/drawing/2014/main" val="3374426453"/>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Ordinal</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Discrete, ordered</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Grades: A, B, C, D, E</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Membership, comparison</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 ≠, &lt;, &gt;</a:t>
                      </a:r>
                    </a:p>
                  </a:txBody>
                  <a:tcPr anchor="ctr"/>
                </a:tc>
                <a:extLst>
                  <a:ext uri="{0D108BD9-81ED-4DB2-BD59-A6C34878D82A}">
                    <a16:rowId xmlns:a16="http://schemas.microsoft.com/office/drawing/2014/main" val="1563838642"/>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Interval</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Continuous/numeric, ordered; differences are meaningful</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Temperature (°C), calendar dates</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Membership, comparison, difference</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 ≠, &lt;, &gt;, +, −</a:t>
                      </a:r>
                    </a:p>
                  </a:txBody>
                  <a:tcPr anchor="ctr"/>
                </a:tc>
                <a:extLst>
                  <a:ext uri="{0D108BD9-81ED-4DB2-BD59-A6C34878D82A}">
                    <a16:rowId xmlns:a16="http://schemas.microsoft.com/office/drawing/2014/main" val="660005161"/>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Ratio</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Continuous/numeric, ordered; values represent ratios</a:t>
                      </a:r>
                    </a:p>
                  </a:txBody>
                  <a:tcPr anchor="ctr"/>
                </a:tc>
                <a:tc>
                  <a:txBody>
                    <a:bodyPr/>
                    <a:lstStyle/>
                    <a:p>
                      <a:pPr>
                        <a:buNone/>
                      </a:pPr>
                      <a:r>
                        <a:rPr lang="en-US">
                          <a:latin typeface="Calibri" panose="020F0502020204030204" pitchFamily="34" charset="0"/>
                          <a:ea typeface="Calibri" panose="020F0502020204030204" pitchFamily="34" charset="0"/>
                          <a:cs typeface="Calibri" panose="020F0502020204030204" pitchFamily="34" charset="0"/>
                        </a:rPr>
                        <a:t>Road length, temperature (Kelvin)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Membership, comparison, difference, magnitude</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 ≠, &lt;, &gt;, +, −, ×, ÷</a:t>
                      </a:r>
                    </a:p>
                  </a:txBody>
                  <a:tcPr anchor="ctr"/>
                </a:tc>
                <a:extLst>
                  <a:ext uri="{0D108BD9-81ED-4DB2-BD59-A6C34878D82A}">
                    <a16:rowId xmlns:a16="http://schemas.microsoft.com/office/drawing/2014/main" val="3067216704"/>
                  </a:ext>
                </a:extLst>
              </a:tr>
            </a:tbl>
          </a:graphicData>
        </a:graphic>
      </p:graphicFrame>
    </p:spTree>
    <p:extLst>
      <p:ext uri="{BB962C8B-B14F-4D97-AF65-F5344CB8AC3E}">
        <p14:creationId xmlns:p14="http://schemas.microsoft.com/office/powerpoint/2010/main" val="931812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434"/>
        <p:cNvGrpSpPr/>
        <p:nvPr/>
      </p:nvGrpSpPr>
      <p:grpSpPr>
        <a:xfrm>
          <a:off x="0" y="0"/>
          <a:ext cx="0" cy="0"/>
          <a:chOff x="0" y="0"/>
          <a:chExt cx="0" cy="0"/>
        </a:xfrm>
      </p:grpSpPr>
      <p:sp>
        <p:nvSpPr>
          <p:cNvPr id="435" name="Google Shape;435;p60"/>
          <p:cNvSpPr txBox="1">
            <a:spLocks noGrp="1"/>
          </p:cNvSpPr>
          <p:nvPr>
            <p:ph type="title"/>
          </p:nvPr>
        </p:nvSpPr>
        <p:spPr>
          <a:xfrm>
            <a:off x="218498" y="926802"/>
            <a:ext cx="11135303" cy="705255"/>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spcBef>
                <a:spcPts val="0"/>
              </a:spcBef>
              <a:buClr>
                <a:schemeClr val="lt1"/>
              </a:buClr>
              <a:buSzPct val="115225"/>
            </a:pPr>
            <a:r>
              <a:rPr lang="id"/>
              <a:t>Tipe butir data (1)</a:t>
            </a:r>
            <a:endParaRPr/>
          </a:p>
        </p:txBody>
      </p:sp>
      <p:sp>
        <p:nvSpPr>
          <p:cNvPr id="436" name="Google Shape;436;p60"/>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pPr>
              <a:buSzPts val="900"/>
            </a:pPr>
            <a:fld id="{00000000-1234-1234-1234-123412341234}" type="slidenum">
              <a:rPr lang="id"/>
              <a:pPr>
                <a:buSzPts val="900"/>
              </a:pPr>
              <a:t>30</a:t>
            </a:fld>
            <a:endParaRPr/>
          </a:p>
        </p:txBody>
      </p:sp>
      <p:graphicFrame>
        <p:nvGraphicFramePr>
          <p:cNvPr id="437" name="Google Shape;437;p60"/>
          <p:cNvGraphicFramePr/>
          <p:nvPr/>
        </p:nvGraphicFramePr>
        <p:xfrm>
          <a:off x="254219" y="1857587"/>
          <a:ext cx="11522200" cy="4280816"/>
        </p:xfrm>
        <a:graphic>
          <a:graphicData uri="http://schemas.openxmlformats.org/drawingml/2006/table">
            <a:tbl>
              <a:tblPr firstRow="1" bandRow="1">
                <a:noFill/>
              </a:tblPr>
              <a:tblGrid>
                <a:gridCol w="2116900">
                  <a:extLst>
                    <a:ext uri="{9D8B030D-6E8A-4147-A177-3AD203B41FA5}">
                      <a16:colId xmlns:a16="http://schemas.microsoft.com/office/drawing/2014/main" val="20000"/>
                    </a:ext>
                  </a:extLst>
                </a:gridCol>
                <a:gridCol w="2177033">
                  <a:extLst>
                    <a:ext uri="{9D8B030D-6E8A-4147-A177-3AD203B41FA5}">
                      <a16:colId xmlns:a16="http://schemas.microsoft.com/office/drawing/2014/main" val="20001"/>
                    </a:ext>
                  </a:extLst>
                </a:gridCol>
                <a:gridCol w="2353600">
                  <a:extLst>
                    <a:ext uri="{9D8B030D-6E8A-4147-A177-3AD203B41FA5}">
                      <a16:colId xmlns:a16="http://schemas.microsoft.com/office/drawing/2014/main" val="20002"/>
                    </a:ext>
                  </a:extLst>
                </a:gridCol>
                <a:gridCol w="2624700">
                  <a:extLst>
                    <a:ext uri="{9D8B030D-6E8A-4147-A177-3AD203B41FA5}">
                      <a16:colId xmlns:a16="http://schemas.microsoft.com/office/drawing/2014/main" val="20003"/>
                    </a:ext>
                  </a:extLst>
                </a:gridCol>
                <a:gridCol w="2249967">
                  <a:extLst>
                    <a:ext uri="{9D8B030D-6E8A-4147-A177-3AD203B41FA5}">
                      <a16:colId xmlns:a16="http://schemas.microsoft.com/office/drawing/2014/main" val="20004"/>
                    </a:ext>
                  </a:extLst>
                </a:gridCol>
              </a:tblGrid>
              <a:tr h="494467">
                <a:tc>
                  <a:txBody>
                    <a:bodyPr/>
                    <a:lstStyle/>
                    <a:p>
                      <a:pPr marL="0" marR="0" lvl="0" indent="0" algn="l" rtl="0">
                        <a:lnSpc>
                          <a:spcPct val="100000"/>
                        </a:lnSpc>
                        <a:spcBef>
                          <a:spcPts val="0"/>
                        </a:spcBef>
                        <a:spcAft>
                          <a:spcPts val="0"/>
                        </a:spcAft>
                        <a:buClr>
                          <a:schemeClr val="dk1"/>
                        </a:buClr>
                        <a:buSzPts val="1200"/>
                        <a:buFont typeface="Corbel"/>
                        <a:buNone/>
                      </a:pP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Nominal/kategorikal</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Ordinal</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Interval</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Rasio</a:t>
                      </a:r>
                      <a:endParaRPr sz="1600" u="none" strike="noStrike" cap="none"/>
                    </a:p>
                  </a:txBody>
                  <a:tcPr marL="121933" marR="121933" marT="60967" marB="60967"/>
                </a:tc>
                <a:extLst>
                  <a:ext uri="{0D108BD9-81ED-4DB2-BD59-A6C34878D82A}">
                    <a16:rowId xmlns:a16="http://schemas.microsoft.com/office/drawing/2014/main" val="10000"/>
                  </a:ext>
                </a:extLst>
              </a:tr>
              <a:tr h="1584973">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Sifat himpunan asal</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Diskret, tidak terurut</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Diskret, terurut</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Kontinu/numerik, terurut, perbedaan menunjukkan selisih</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Kontinu/numerik, terurut, nilai menunjukkan rasio terhadap kuantitas satuan/unit di jenis yang sama</a:t>
                      </a:r>
                      <a:endParaRPr sz="1600" u="none" strike="noStrike" cap="none"/>
                    </a:p>
                  </a:txBody>
                  <a:tcPr marL="121933" marR="121933" marT="60967" marB="60967"/>
                </a:tc>
                <a:extLst>
                  <a:ext uri="{0D108BD9-81ED-4DB2-BD59-A6C34878D82A}">
                    <a16:rowId xmlns:a16="http://schemas.microsoft.com/office/drawing/2014/main" val="10001"/>
                  </a:ext>
                </a:extLst>
              </a:tr>
              <a:tr h="853453">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Contoh</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Warna (merah, hijau, biru)</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Nilai huruf mahasiswa (A, B, C, D, E)</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Suhu dalam Celcius, tanggal dalam kalender tertentu</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Panjang jalan, suhu dalam Kelvin</a:t>
                      </a:r>
                      <a:endParaRPr sz="1800" u="none" strike="noStrike" cap="none"/>
                    </a:p>
                  </a:txBody>
                  <a:tcPr marL="121933" marR="121933" marT="60967" marB="60967"/>
                </a:tc>
                <a:extLst>
                  <a:ext uri="{0D108BD9-81ED-4DB2-BD59-A6C34878D82A}">
                    <a16:rowId xmlns:a16="http://schemas.microsoft.com/office/drawing/2014/main" val="10002"/>
                  </a:ext>
                </a:extLst>
              </a:tr>
              <a:tr h="853453">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Ukuran data menyatakan …</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Membership</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Membership, comparison</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Membership, comparison, difference</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Membership, comparison, difference, magnitude</a:t>
                      </a:r>
                      <a:endParaRPr sz="1800" u="none" strike="noStrike" cap="none"/>
                    </a:p>
                  </a:txBody>
                  <a:tcPr marL="121933" marR="121933" marT="60967" marB="60967"/>
                </a:tc>
                <a:extLst>
                  <a:ext uri="{0D108BD9-81ED-4DB2-BD59-A6C34878D82A}">
                    <a16:rowId xmlns:a16="http://schemas.microsoft.com/office/drawing/2014/main" val="10003"/>
                  </a:ext>
                </a:extLst>
              </a:tr>
              <a:tr h="494467">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Operasi matematika</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1" u="none" strike="noStrike" cap="none"/>
                        <a:t>=, ≠</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1" u="none" strike="noStrike" cap="none"/>
                        <a:t>=, ≠, </a:t>
                      </a:r>
                      <a:r>
                        <a:rPr lang="id" sz="1600" u="none" strike="noStrike" cap="none"/>
                        <a:t>&lt;, &gt;</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1" u="none" strike="noStrike" cap="none"/>
                        <a:t>=, ≠, </a:t>
                      </a:r>
                      <a:r>
                        <a:rPr lang="id" sz="1600" u="none" strike="noStrike" cap="none"/>
                        <a:t>&lt;, &gt;, +, -</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rgbClr val="000000"/>
                        </a:buClr>
                        <a:buSzPts val="1200"/>
                        <a:buFont typeface="Arial"/>
                        <a:buNone/>
                      </a:pPr>
                      <a:r>
                        <a:rPr lang="id" sz="1600" i="1" u="none" strike="noStrike" cap="none"/>
                        <a:t>=, ≠, </a:t>
                      </a:r>
                      <a:r>
                        <a:rPr lang="id" sz="1600" u="none" strike="noStrike" cap="none"/>
                        <a:t>&lt;, &gt;, +, -, ×, ÷</a:t>
                      </a:r>
                      <a:endParaRPr sz="1600" u="none" strike="noStrike" cap="none"/>
                    </a:p>
                  </a:txBody>
                  <a:tcPr marL="121933" marR="121933" marT="60967" marB="60967"/>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1CBB3-D0D6-5CAD-C6BC-B1228475A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01529-5C23-B42B-8B1E-FB71ECF03C53}"/>
              </a:ext>
            </a:extLst>
          </p:cNvPr>
          <p:cNvSpPr>
            <a:spLocks noGrp="1"/>
          </p:cNvSpPr>
          <p:nvPr>
            <p:ph type="title"/>
          </p:nvPr>
        </p:nvSpPr>
        <p:spPr>
          <a:xfrm>
            <a:off x="838200" y="365125"/>
            <a:ext cx="10515600" cy="915035"/>
          </a:xfrm>
        </p:spPr>
        <p:txBody>
          <a:bodyPr/>
          <a:lstStyle/>
          <a:p>
            <a:r>
              <a:rPr lang="en-US" dirty="0"/>
              <a:t>Data Item Types (cont.)</a:t>
            </a:r>
          </a:p>
        </p:txBody>
      </p:sp>
      <p:graphicFrame>
        <p:nvGraphicFramePr>
          <p:cNvPr id="6" name="Table 5">
            <a:extLst>
              <a:ext uri="{FF2B5EF4-FFF2-40B4-BE49-F238E27FC236}">
                <a16:creationId xmlns:a16="http://schemas.microsoft.com/office/drawing/2014/main" id="{59F99AA0-ECD6-644C-7190-FA97E1DFC1F0}"/>
              </a:ext>
            </a:extLst>
          </p:cNvPr>
          <p:cNvGraphicFramePr>
            <a:graphicFrameLocks noGrp="1"/>
          </p:cNvGraphicFramePr>
          <p:nvPr>
            <p:extLst>
              <p:ext uri="{D42A27DB-BD31-4B8C-83A1-F6EECF244321}">
                <p14:modId xmlns:p14="http://schemas.microsoft.com/office/powerpoint/2010/main" val="689027009"/>
              </p:ext>
            </p:extLst>
          </p:nvPr>
        </p:nvGraphicFramePr>
        <p:xfrm>
          <a:off x="304800" y="1859280"/>
          <a:ext cx="9265920" cy="4302760"/>
        </p:xfrm>
        <a:graphic>
          <a:graphicData uri="http://schemas.openxmlformats.org/drawingml/2006/table">
            <a:tbl>
              <a:tblPr firstRow="1" bandRow="1">
                <a:tableStyleId>{5C22544A-7EE6-4342-B048-85BDC9FD1C3A}</a:tableStyleId>
              </a:tblPr>
              <a:tblGrid>
                <a:gridCol w="2316480">
                  <a:extLst>
                    <a:ext uri="{9D8B030D-6E8A-4147-A177-3AD203B41FA5}">
                      <a16:colId xmlns:a16="http://schemas.microsoft.com/office/drawing/2014/main" val="2219437525"/>
                    </a:ext>
                  </a:extLst>
                </a:gridCol>
                <a:gridCol w="2316480">
                  <a:extLst>
                    <a:ext uri="{9D8B030D-6E8A-4147-A177-3AD203B41FA5}">
                      <a16:colId xmlns:a16="http://schemas.microsoft.com/office/drawing/2014/main" val="666428347"/>
                    </a:ext>
                  </a:extLst>
                </a:gridCol>
                <a:gridCol w="2316480">
                  <a:extLst>
                    <a:ext uri="{9D8B030D-6E8A-4147-A177-3AD203B41FA5}">
                      <a16:colId xmlns:a16="http://schemas.microsoft.com/office/drawing/2014/main" val="465791748"/>
                    </a:ext>
                  </a:extLst>
                </a:gridCol>
                <a:gridCol w="2316480">
                  <a:extLst>
                    <a:ext uri="{9D8B030D-6E8A-4147-A177-3AD203B41FA5}">
                      <a16:colId xmlns:a16="http://schemas.microsoft.com/office/drawing/2014/main" val="774163069"/>
                    </a:ext>
                  </a:extLst>
                </a:gridCol>
              </a:tblGrid>
              <a:tr h="370840">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Type</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Typical Value Representation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Distribution Representation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True Zero</a:t>
                      </a:r>
                    </a:p>
                  </a:txBody>
                  <a:tcPr anchor="ctr"/>
                </a:tc>
                <a:extLst>
                  <a:ext uri="{0D108BD9-81ED-4DB2-BD59-A6C34878D82A}">
                    <a16:rowId xmlns:a16="http://schemas.microsoft.com/office/drawing/2014/main" val="1883451885"/>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Nominal / Categorical</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Modus</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Grouping</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No</a:t>
                      </a:r>
                    </a:p>
                  </a:txBody>
                  <a:tcPr anchor="ctr"/>
                </a:tc>
                <a:extLst>
                  <a:ext uri="{0D108BD9-81ED-4DB2-BD59-A6C34878D82A}">
                    <a16:rowId xmlns:a16="http://schemas.microsoft.com/office/drawing/2014/main" val="3374426453"/>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Ordinal</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Modus, median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Grouping, Range, Interquartile Range</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No</a:t>
                      </a:r>
                    </a:p>
                  </a:txBody>
                  <a:tcPr anchor="ctr"/>
                </a:tc>
                <a:extLst>
                  <a:ext uri="{0D108BD9-81ED-4DB2-BD59-A6C34878D82A}">
                    <a16:rowId xmlns:a16="http://schemas.microsoft.com/office/drawing/2014/main" val="1563838642"/>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Interval</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Modus, median, arithmetic mean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Grouping, Range, Interquartile Range, Variance, Standard Deviation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No</a:t>
                      </a:r>
                    </a:p>
                  </a:txBody>
                  <a:tcPr anchor="ctr"/>
                </a:tc>
                <a:extLst>
                  <a:ext uri="{0D108BD9-81ED-4DB2-BD59-A6C34878D82A}">
                    <a16:rowId xmlns:a16="http://schemas.microsoft.com/office/drawing/2014/main" val="660005161"/>
                  </a:ext>
                </a:extLst>
              </a:tr>
              <a:tr h="370840">
                <a:tc>
                  <a:txBody>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Ratio</a:t>
                      </a:r>
                      <a:endParaRPr lang="en-US">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ea typeface="Calibri" panose="020F0502020204030204" pitchFamily="34" charset="0"/>
                          <a:cs typeface="Calibri" panose="020F0502020204030204" pitchFamily="34" charset="0"/>
                        </a:rPr>
                        <a:t>Modus, median, arithmetic mean, geometric mean, harmonic mean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Grouping, Range, Interquartile Range, Variance, Standard Deviation, Coefficient of Variation</a:t>
                      </a:r>
                    </a:p>
                  </a:txBody>
                  <a:tcPr anchor="ctr"/>
                </a:tc>
                <a:tc>
                  <a:txBody>
                    <a:bodyPr/>
                    <a:lstStyle/>
                    <a:p>
                      <a:pPr>
                        <a:buNone/>
                      </a:pPr>
                      <a:r>
                        <a:rPr lang="en-US" dirty="0">
                          <a:latin typeface="Calibri" panose="020F0502020204030204" pitchFamily="34" charset="0"/>
                          <a:ea typeface="Calibri" panose="020F0502020204030204" pitchFamily="34" charset="0"/>
                          <a:cs typeface="Calibri" panose="020F0502020204030204" pitchFamily="34" charset="0"/>
                        </a:rPr>
                        <a:t>Yes</a:t>
                      </a:r>
                    </a:p>
                  </a:txBody>
                  <a:tcPr anchor="ctr"/>
                </a:tc>
                <a:extLst>
                  <a:ext uri="{0D108BD9-81ED-4DB2-BD59-A6C34878D82A}">
                    <a16:rowId xmlns:a16="http://schemas.microsoft.com/office/drawing/2014/main" val="3067216704"/>
                  </a:ext>
                </a:extLst>
              </a:tr>
            </a:tbl>
          </a:graphicData>
        </a:graphic>
      </p:graphicFrame>
    </p:spTree>
    <p:extLst>
      <p:ext uri="{BB962C8B-B14F-4D97-AF65-F5344CB8AC3E}">
        <p14:creationId xmlns:p14="http://schemas.microsoft.com/office/powerpoint/2010/main" val="3913317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441"/>
        <p:cNvGrpSpPr/>
        <p:nvPr/>
      </p:nvGrpSpPr>
      <p:grpSpPr>
        <a:xfrm>
          <a:off x="0" y="0"/>
          <a:ext cx="0" cy="0"/>
          <a:chOff x="0" y="0"/>
          <a:chExt cx="0" cy="0"/>
        </a:xfrm>
      </p:grpSpPr>
      <p:sp>
        <p:nvSpPr>
          <p:cNvPr id="442" name="Google Shape;442;p61"/>
          <p:cNvSpPr txBox="1">
            <a:spLocks noGrp="1"/>
          </p:cNvSpPr>
          <p:nvPr>
            <p:ph type="title"/>
          </p:nvPr>
        </p:nvSpPr>
        <p:spPr>
          <a:xfrm>
            <a:off x="218497" y="622001"/>
            <a:ext cx="11135200" cy="705200"/>
          </a:xfrm>
          <a:prstGeom prst="rect">
            <a:avLst/>
          </a:prstGeom>
          <a:noFill/>
          <a:ln>
            <a:noFill/>
          </a:ln>
        </p:spPr>
        <p:txBody>
          <a:bodyPr spcFirstLastPara="1" vert="horz" wrap="square" lIns="121900" tIns="121900" rIns="121900" bIns="121900" rtlCol="0" anchor="t" anchorCtr="0">
            <a:normAutofit fontScale="90000"/>
          </a:bodyPr>
          <a:lstStyle/>
          <a:p>
            <a:pPr>
              <a:lnSpc>
                <a:spcPct val="100000"/>
              </a:lnSpc>
              <a:spcBef>
                <a:spcPts val="0"/>
              </a:spcBef>
              <a:buClr>
                <a:schemeClr val="lt1"/>
              </a:buClr>
              <a:buSzPct val="115225"/>
            </a:pPr>
            <a:r>
              <a:rPr lang="id"/>
              <a:t>Tipe butir data (2)</a:t>
            </a:r>
            <a:endParaRPr/>
          </a:p>
        </p:txBody>
      </p:sp>
      <p:sp>
        <p:nvSpPr>
          <p:cNvPr id="443" name="Google Shape;443;p61"/>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pPr>
              <a:buSzPts val="900"/>
            </a:pPr>
            <a:fld id="{00000000-1234-1234-1234-123412341234}" type="slidenum">
              <a:rPr lang="id"/>
              <a:pPr>
                <a:buSzPts val="900"/>
              </a:pPr>
              <a:t>32</a:t>
            </a:fld>
            <a:endParaRPr/>
          </a:p>
        </p:txBody>
      </p:sp>
      <p:graphicFrame>
        <p:nvGraphicFramePr>
          <p:cNvPr id="444" name="Google Shape;444;p61"/>
          <p:cNvGraphicFramePr/>
          <p:nvPr/>
        </p:nvGraphicFramePr>
        <p:xfrm>
          <a:off x="526553" y="1451187"/>
          <a:ext cx="11249834" cy="3901496"/>
        </p:xfrm>
        <a:graphic>
          <a:graphicData uri="http://schemas.openxmlformats.org/drawingml/2006/table">
            <a:tbl>
              <a:tblPr firstRow="1" bandRow="1">
                <a:noFill/>
              </a:tblPr>
              <a:tblGrid>
                <a:gridCol w="3025033">
                  <a:extLst>
                    <a:ext uri="{9D8B030D-6E8A-4147-A177-3AD203B41FA5}">
                      <a16:colId xmlns:a16="http://schemas.microsoft.com/office/drawing/2014/main" val="20000"/>
                    </a:ext>
                  </a:extLst>
                </a:gridCol>
                <a:gridCol w="1664467">
                  <a:extLst>
                    <a:ext uri="{9D8B030D-6E8A-4147-A177-3AD203B41FA5}">
                      <a16:colId xmlns:a16="http://schemas.microsoft.com/office/drawing/2014/main" val="20001"/>
                    </a:ext>
                  </a:extLst>
                </a:gridCol>
                <a:gridCol w="2060400">
                  <a:extLst>
                    <a:ext uri="{9D8B030D-6E8A-4147-A177-3AD203B41FA5}">
                      <a16:colId xmlns:a16="http://schemas.microsoft.com/office/drawing/2014/main" val="20002"/>
                    </a:ext>
                  </a:extLst>
                </a:gridCol>
                <a:gridCol w="2249967">
                  <a:extLst>
                    <a:ext uri="{9D8B030D-6E8A-4147-A177-3AD203B41FA5}">
                      <a16:colId xmlns:a16="http://schemas.microsoft.com/office/drawing/2014/main" val="20003"/>
                    </a:ext>
                  </a:extLst>
                </a:gridCol>
                <a:gridCol w="2249967">
                  <a:extLst>
                    <a:ext uri="{9D8B030D-6E8A-4147-A177-3AD203B41FA5}">
                      <a16:colId xmlns:a16="http://schemas.microsoft.com/office/drawing/2014/main" val="20004"/>
                    </a:ext>
                  </a:extLst>
                </a:gridCol>
              </a:tblGrid>
              <a:tr h="609613">
                <a:tc>
                  <a:txBody>
                    <a:bodyPr/>
                    <a:lstStyle/>
                    <a:p>
                      <a:pPr marL="0" marR="0" lvl="0" indent="0" algn="l" rtl="0">
                        <a:lnSpc>
                          <a:spcPct val="100000"/>
                        </a:lnSpc>
                        <a:spcBef>
                          <a:spcPts val="0"/>
                        </a:spcBef>
                        <a:spcAft>
                          <a:spcPts val="0"/>
                        </a:spcAft>
                        <a:buClr>
                          <a:schemeClr val="dk1"/>
                        </a:buClr>
                        <a:buSzPts val="1200"/>
                        <a:buFont typeface="Corbel"/>
                        <a:buNone/>
                      </a:pP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Nominal/kategorikal</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Ordinal</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Interval</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Rasio</a:t>
                      </a:r>
                      <a:endParaRPr sz="1600" u="none" strike="noStrike" cap="none"/>
                    </a:p>
                  </a:txBody>
                  <a:tcPr marL="121933" marR="121933" marT="60967" marB="60967"/>
                </a:tc>
                <a:extLst>
                  <a:ext uri="{0D108BD9-81ED-4DB2-BD59-A6C34878D82A}">
                    <a16:rowId xmlns:a16="http://schemas.microsoft.com/office/drawing/2014/main" val="10000"/>
                  </a:ext>
                </a:extLst>
              </a:tr>
              <a:tr h="1097293">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Representasi nilai tipikal</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0" u="none" strike="noStrike" cap="none"/>
                        <a:t>Modus</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Modus, median</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Modus, median, rerata aritmet</a:t>
                      </a:r>
                      <a:r>
                        <a:rPr lang="id" sz="1600"/>
                        <a:t>ik</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Modus, median, rerata aritm</a:t>
                      </a:r>
                      <a:r>
                        <a:rPr lang="id" sz="1600"/>
                        <a:t>atik</a:t>
                      </a:r>
                      <a:r>
                        <a:rPr lang="id" sz="1600" u="none" strike="noStrike" cap="none"/>
                        <a:t>, rerata geometris, rerata harmonis</a:t>
                      </a:r>
                      <a:endParaRPr sz="1600" u="none" strike="noStrike" cap="none"/>
                    </a:p>
                  </a:txBody>
                  <a:tcPr marL="121933" marR="121933" marT="60967" marB="60967"/>
                </a:tc>
                <a:extLst>
                  <a:ext uri="{0D108BD9-81ED-4DB2-BD59-A6C34878D82A}">
                    <a16:rowId xmlns:a16="http://schemas.microsoft.com/office/drawing/2014/main" val="10001"/>
                  </a:ext>
                </a:extLst>
              </a:tr>
              <a:tr h="1341133">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Representasi sebaran</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0" u="none" strike="noStrike" cap="none"/>
                        <a:t>Grouping</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rgbClr val="000000"/>
                        </a:buClr>
                        <a:buSzPts val="1200"/>
                        <a:buFont typeface="Arial"/>
                        <a:buNone/>
                      </a:pPr>
                      <a:r>
                        <a:rPr lang="id" sz="1600" i="0" u="none" strike="noStrike" cap="none"/>
                        <a:t>Grouping, </a:t>
                      </a:r>
                      <a:r>
                        <a:rPr lang="id" sz="1600" u="none" strike="noStrike" cap="none"/>
                        <a:t>rentang (</a:t>
                      </a:r>
                      <a:r>
                        <a:rPr lang="id" sz="1600" i="1" u="none" strike="noStrike" cap="none"/>
                        <a:t>range</a:t>
                      </a:r>
                      <a:r>
                        <a:rPr lang="id" sz="1600" i="0" u="none" strike="noStrike" cap="none"/>
                        <a:t>), rentang antar kuartil</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0" u="none" strike="noStrike" cap="none"/>
                        <a:t>Grouping, </a:t>
                      </a:r>
                      <a:r>
                        <a:rPr lang="id" sz="1600" u="none" strike="noStrike" cap="none"/>
                        <a:t>rentang (</a:t>
                      </a:r>
                      <a:r>
                        <a:rPr lang="id" sz="1600" i="1" u="none" strike="noStrike" cap="none"/>
                        <a:t>range</a:t>
                      </a:r>
                      <a:r>
                        <a:rPr lang="id" sz="1600" i="0" u="none" strike="noStrike" cap="none"/>
                        <a:t>), rentang antar kuartil, varians, simpangan baku</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0" u="none" strike="noStrike" cap="none"/>
                        <a:t>Grouping, </a:t>
                      </a:r>
                      <a:r>
                        <a:rPr lang="id" sz="1600" u="none" strike="noStrike" cap="none"/>
                        <a:t>rentang (</a:t>
                      </a:r>
                      <a:r>
                        <a:rPr lang="id" sz="1600" i="1" u="none" strike="noStrike" cap="none"/>
                        <a:t>range</a:t>
                      </a:r>
                      <a:r>
                        <a:rPr lang="id" sz="1600" i="0" u="none" strike="noStrike" cap="none"/>
                        <a:t>), rentang antar kuartil, varians, simpangan baku, koefisien variasi</a:t>
                      </a:r>
                      <a:endParaRPr sz="1600" u="none" strike="noStrike" cap="none"/>
                    </a:p>
                  </a:txBody>
                  <a:tcPr marL="121933" marR="121933" marT="60967" marB="60967"/>
                </a:tc>
                <a:extLst>
                  <a:ext uri="{0D108BD9-81ED-4DB2-BD59-A6C34878D82A}">
                    <a16:rowId xmlns:a16="http://schemas.microsoft.com/office/drawing/2014/main" val="10002"/>
                  </a:ext>
                </a:extLst>
              </a:tr>
              <a:tr h="853453">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Memiliki nol sejati yang menyatakan nilai mutlak terbawah.</a:t>
                      </a:r>
                      <a:endParaRPr sz="18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i="0" u="none" strike="noStrike" cap="none"/>
                        <a:t>Tidak</a:t>
                      </a:r>
                      <a:endParaRPr sz="1600" i="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Tidak</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Tidak</a:t>
                      </a:r>
                      <a:endParaRPr sz="1600" u="none" strike="noStrike" cap="none"/>
                    </a:p>
                  </a:txBody>
                  <a:tcPr marL="121933" marR="121933" marT="60967" marB="60967"/>
                </a:tc>
                <a:tc>
                  <a:txBody>
                    <a:bodyPr/>
                    <a:lstStyle/>
                    <a:p>
                      <a:pPr marL="0" marR="0" lvl="0" indent="0" algn="l" rtl="0">
                        <a:lnSpc>
                          <a:spcPct val="100000"/>
                        </a:lnSpc>
                        <a:spcBef>
                          <a:spcPts val="0"/>
                        </a:spcBef>
                        <a:spcAft>
                          <a:spcPts val="0"/>
                        </a:spcAft>
                        <a:buClr>
                          <a:schemeClr val="dk1"/>
                        </a:buClr>
                        <a:buSzPts val="1200"/>
                        <a:buFont typeface="Corbel"/>
                        <a:buNone/>
                      </a:pPr>
                      <a:r>
                        <a:rPr lang="id" sz="1600" u="none" strike="noStrike" cap="none"/>
                        <a:t>Ya</a:t>
                      </a:r>
                      <a:endParaRPr sz="1600" u="none" strike="noStrike" cap="none"/>
                    </a:p>
                  </a:txBody>
                  <a:tcPr marL="121933" marR="121933" marT="60967" marB="60967"/>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34BDE-091E-7D42-D5CA-8A1A6153E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6DDF3-5C16-1DE4-9188-48B7D9B69431}"/>
              </a:ext>
            </a:extLst>
          </p:cNvPr>
          <p:cNvSpPr>
            <a:spLocks noGrp="1"/>
          </p:cNvSpPr>
          <p:nvPr>
            <p:ph type="title"/>
          </p:nvPr>
        </p:nvSpPr>
        <p:spPr>
          <a:xfrm>
            <a:off x="838200" y="365125"/>
            <a:ext cx="10515600" cy="915035"/>
          </a:xfrm>
        </p:spPr>
        <p:txBody>
          <a:bodyPr/>
          <a:lstStyle/>
          <a:p>
            <a:r>
              <a:rPr lang="en-US" dirty="0"/>
              <a:t>Data Types Based on Time</a:t>
            </a:r>
          </a:p>
        </p:txBody>
      </p:sp>
      <p:sp>
        <p:nvSpPr>
          <p:cNvPr id="3" name="Content Placeholder 2">
            <a:extLst>
              <a:ext uri="{FF2B5EF4-FFF2-40B4-BE49-F238E27FC236}">
                <a16:creationId xmlns:a16="http://schemas.microsoft.com/office/drawing/2014/main" id="{F301BCAD-2453-BACD-9021-3BC4F20254B3}"/>
              </a:ext>
            </a:extLst>
          </p:cNvPr>
          <p:cNvSpPr>
            <a:spLocks noGrp="1"/>
          </p:cNvSpPr>
          <p:nvPr>
            <p:ph idx="1"/>
          </p:nvPr>
        </p:nvSpPr>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Cross-Sectional Data</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collected at one specific point in time.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Shows the condition of something at a particular time.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Examples: Financial report as of December 31, 2020; customer data in May 2004. </a:t>
            </a:r>
          </a:p>
          <a:p>
            <a:r>
              <a:rPr lang="en-US" dirty="0">
                <a:latin typeface="Calibri" panose="020F0502020204030204" pitchFamily="34" charset="0"/>
                <a:ea typeface="Calibri" panose="020F0502020204030204" pitchFamily="34" charset="0"/>
                <a:cs typeface="Calibri" panose="020F0502020204030204" pitchFamily="34" charset="0"/>
              </a:rPr>
              <a:t>Time-Series Data</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Data collected over multiple time periods.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Shows how something changes over time. </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Example: USD/IDR exchange rates from 2016–2020.</a:t>
            </a:r>
          </a:p>
        </p:txBody>
      </p:sp>
    </p:spTree>
    <p:extLst>
      <p:ext uri="{BB962C8B-B14F-4D97-AF65-F5344CB8AC3E}">
        <p14:creationId xmlns:p14="http://schemas.microsoft.com/office/powerpoint/2010/main" val="4010512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48"/>
        <p:cNvGrpSpPr/>
        <p:nvPr/>
      </p:nvGrpSpPr>
      <p:grpSpPr>
        <a:xfrm>
          <a:off x="0" y="0"/>
          <a:ext cx="0" cy="0"/>
          <a:chOff x="0" y="0"/>
          <a:chExt cx="0" cy="0"/>
        </a:xfrm>
      </p:grpSpPr>
      <p:sp>
        <p:nvSpPr>
          <p:cNvPr id="449" name="Google Shape;449;p62"/>
          <p:cNvSpPr txBox="1">
            <a:spLocks noGrp="1"/>
          </p:cNvSpPr>
          <p:nvPr>
            <p:ph type="title"/>
          </p:nvPr>
        </p:nvSpPr>
        <p:spPr>
          <a:xfrm>
            <a:off x="517200" y="7965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Tipe data berdasarkan Waktunya</a:t>
            </a:r>
            <a:endParaRPr/>
          </a:p>
        </p:txBody>
      </p:sp>
      <p:sp>
        <p:nvSpPr>
          <p:cNvPr id="450" name="Google Shape;450;p62"/>
          <p:cNvSpPr txBox="1">
            <a:spLocks noGrp="1"/>
          </p:cNvSpPr>
          <p:nvPr>
            <p:ph type="body" idx="1"/>
          </p:nvPr>
        </p:nvSpPr>
        <p:spPr>
          <a:xfrm>
            <a:off x="415600" y="1536633"/>
            <a:ext cx="11360800" cy="4555200"/>
          </a:xfrm>
          <a:prstGeom prst="rect">
            <a:avLst/>
          </a:prstGeom>
          <a:noFill/>
          <a:ln>
            <a:noFill/>
          </a:ln>
        </p:spPr>
        <p:txBody>
          <a:bodyPr spcFirstLastPara="1" vert="horz" wrap="square" lIns="121900" tIns="121900" rIns="121900" bIns="121900" rtlCol="0" anchor="t" anchorCtr="0">
            <a:normAutofit fontScale="92500"/>
          </a:bodyPr>
          <a:lstStyle/>
          <a:p>
            <a:pPr indent="-457266">
              <a:buSzPct val="92664"/>
            </a:pPr>
            <a:r>
              <a:rPr lang="id"/>
              <a:t>Data Cross Section</a:t>
            </a:r>
            <a:endParaRPr/>
          </a:p>
          <a:p>
            <a:pPr marL="152396" indent="0">
              <a:buSzPct val="92664"/>
              <a:buNone/>
            </a:pPr>
            <a:r>
              <a:rPr lang="id"/>
              <a:t>      Data cross-section adalah data yang menunjukkan titik waktu tertentu.       </a:t>
            </a:r>
            <a:endParaRPr/>
          </a:p>
          <a:p>
            <a:pPr marL="152396" indent="0">
              <a:buSzPct val="92664"/>
              <a:buNone/>
            </a:pPr>
            <a:r>
              <a:rPr lang="id"/>
              <a:t>      Contohnya laporan keuangan per 31 Desember 2020, data pelanggan PT.   </a:t>
            </a:r>
            <a:endParaRPr/>
          </a:p>
          <a:p>
            <a:pPr marL="152396" indent="0">
              <a:buSzPct val="92664"/>
              <a:buNone/>
            </a:pPr>
            <a:r>
              <a:rPr lang="id"/>
              <a:t>      Data Indah bulan mei 2004, dan lain sebagainya.</a:t>
            </a:r>
            <a:endParaRPr/>
          </a:p>
          <a:p>
            <a:pPr indent="-457266">
              <a:buSzPct val="92664"/>
            </a:pPr>
            <a:r>
              <a:rPr lang="id"/>
              <a:t>Data Time Series / Berkala</a:t>
            </a:r>
            <a:endParaRPr/>
          </a:p>
          <a:p>
            <a:pPr marL="152396" indent="0">
              <a:buSzPct val="92664"/>
              <a:buNone/>
            </a:pPr>
            <a:r>
              <a:rPr lang="id"/>
              <a:t>     Data berkala adalah data yang datanya menggambarkan sesuatu dari waktu </a:t>
            </a:r>
            <a:endParaRPr/>
          </a:p>
          <a:p>
            <a:pPr marL="152396" indent="0">
              <a:buSzPct val="92664"/>
              <a:buNone/>
            </a:pPr>
            <a:r>
              <a:rPr lang="id"/>
              <a:t>     ke waktu atau periode secara historis. Contoh data time series adalah data</a:t>
            </a:r>
            <a:endParaRPr/>
          </a:p>
          <a:p>
            <a:pPr marL="152396" indent="0">
              <a:buSzPct val="92664"/>
              <a:buNone/>
            </a:pPr>
            <a:r>
              <a:rPr lang="id"/>
              <a:t>      perkembangan nilai tukar dollar amerika terhadap rupiah tahun 2016 - 2020</a:t>
            </a:r>
            <a:endParaRPr/>
          </a:p>
        </p:txBody>
      </p:sp>
      <p:sp>
        <p:nvSpPr>
          <p:cNvPr id="451" name="Google Shape;451;p62"/>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42E30-D356-5091-F8D0-F5121CFEE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D002-A788-EB0F-3A59-322F57B65BC2}"/>
              </a:ext>
            </a:extLst>
          </p:cNvPr>
          <p:cNvSpPr>
            <a:spLocks noGrp="1"/>
          </p:cNvSpPr>
          <p:nvPr>
            <p:ph type="title"/>
          </p:nvPr>
        </p:nvSpPr>
        <p:spPr>
          <a:xfrm>
            <a:off x="838200" y="365125"/>
            <a:ext cx="10515600" cy="915035"/>
          </a:xfrm>
        </p:spPr>
        <p:txBody>
          <a:bodyPr/>
          <a:lstStyle/>
          <a:p>
            <a:r>
              <a:rPr lang="pt-BR" dirty="0"/>
              <a:t>Data Model Example: Tabular Data</a:t>
            </a:r>
            <a:endParaRPr lang="en-US" dirty="0"/>
          </a:p>
        </p:txBody>
      </p:sp>
      <p:sp>
        <p:nvSpPr>
          <p:cNvPr id="3" name="Content Placeholder 2">
            <a:extLst>
              <a:ext uri="{FF2B5EF4-FFF2-40B4-BE49-F238E27FC236}">
                <a16:creationId xmlns:a16="http://schemas.microsoft.com/office/drawing/2014/main" id="{61DDA179-AF30-1057-0E18-7B33C495FF16}"/>
              </a:ext>
            </a:extLst>
          </p:cNvPr>
          <p:cNvSpPr>
            <a:spLocks noGrp="1"/>
          </p:cNvSpPr>
          <p:nvPr>
            <p:ph idx="1"/>
          </p:nvPr>
        </p:nvSpPr>
        <p:spPr>
          <a:xfrm>
            <a:off x="269240" y="1378584"/>
            <a:ext cx="7456064" cy="4819015"/>
          </a:xfrm>
        </p:spPr>
        <p:txBody>
          <a:bodyPr>
            <a:normAutofit fontScale="92500" lnSpcReduction="20000"/>
          </a:bodyPr>
          <a:lstStyle/>
          <a:p>
            <a:r>
              <a:rPr lang="en-US" dirty="0">
                <a:latin typeface="Calibri" panose="020F0502020204030204" pitchFamily="34" charset="0"/>
                <a:ea typeface="Calibri" panose="020F0502020204030204" pitchFamily="34" charset="0"/>
                <a:cs typeface="Calibri" panose="020F0502020204030204" pitchFamily="34" charset="0"/>
              </a:rPr>
              <a:t>Consists of N records. </a:t>
            </a:r>
          </a:p>
          <a:p>
            <a:r>
              <a:rPr lang="en-US" dirty="0">
                <a:latin typeface="Calibri" panose="020F0502020204030204" pitchFamily="34" charset="0"/>
                <a:ea typeface="Calibri" panose="020F0502020204030204" pitchFamily="34" charset="0"/>
                <a:cs typeface="Calibri" panose="020F0502020204030204" pitchFamily="34" charset="0"/>
              </a:rPr>
              <a:t>Each record contains D attributes. </a:t>
            </a:r>
          </a:p>
          <a:p>
            <a:r>
              <a:rPr lang="en-US" dirty="0">
                <a:latin typeface="Calibri" panose="020F0502020204030204" pitchFamily="34" charset="0"/>
                <a:ea typeface="Calibri" panose="020F0502020204030204" pitchFamily="34" charset="0"/>
                <a:cs typeface="Calibri" panose="020F0502020204030204" pitchFamily="34" charset="0"/>
              </a:rPr>
              <a:t>Record = row, data point, instance, example, transaction, tuple, entity, object, or feature vector. </a:t>
            </a:r>
          </a:p>
          <a:p>
            <a:r>
              <a:rPr lang="en-US" dirty="0">
                <a:latin typeface="Calibri" panose="020F0502020204030204" pitchFamily="34" charset="0"/>
                <a:ea typeface="Calibri" panose="020F0502020204030204" pitchFamily="34" charset="0"/>
                <a:cs typeface="Calibri" panose="020F0502020204030204" pitchFamily="34" charset="0"/>
              </a:rPr>
              <a:t>Attribute = column, field, dimension, or feature. </a:t>
            </a:r>
          </a:p>
          <a:p>
            <a:r>
              <a:rPr lang="en-US" dirty="0">
                <a:latin typeface="Calibri" panose="020F0502020204030204" pitchFamily="34" charset="0"/>
                <a:ea typeface="Calibri" panose="020F0502020204030204" pitchFamily="34" charset="0"/>
                <a:cs typeface="Calibri" panose="020F0502020204030204" pitchFamily="34" charset="0"/>
              </a:rPr>
              <a:t>The same attribute usually has the same data type for every record. </a:t>
            </a:r>
          </a:p>
          <a:p>
            <a:r>
              <a:rPr lang="en-US" dirty="0">
                <a:latin typeface="Calibri" panose="020F0502020204030204" pitchFamily="34" charset="0"/>
                <a:ea typeface="Calibri" panose="020F0502020204030204" pitchFamily="34" charset="0"/>
                <a:cs typeface="Calibri" panose="020F0502020204030204" pitchFamily="34" charset="0"/>
              </a:rPr>
              <a:t>The structure can be: </a:t>
            </a:r>
          </a:p>
          <a:p>
            <a:pPr lvl="1"/>
            <a:r>
              <a:rPr lang="en-US" dirty="0">
                <a:latin typeface="Calibri" panose="020F0502020204030204" pitchFamily="34" charset="0"/>
                <a:ea typeface="Calibri" panose="020F0502020204030204" pitchFamily="34" charset="0"/>
                <a:cs typeface="Calibri" panose="020F0502020204030204" pitchFamily="34" charset="0"/>
              </a:rPr>
              <a:t>Strict: Relational databases </a:t>
            </a:r>
          </a:p>
          <a:p>
            <a:pPr lvl="1"/>
            <a:r>
              <a:rPr lang="en-US" dirty="0">
                <a:latin typeface="Calibri" panose="020F0502020204030204" pitchFamily="34" charset="0"/>
                <a:ea typeface="Calibri" panose="020F0502020204030204" pitchFamily="34" charset="0"/>
                <a:cs typeface="Calibri" panose="020F0502020204030204" pitchFamily="34" charset="0"/>
              </a:rPr>
              <a:t>Loose: Excel spreadsheets </a:t>
            </a:r>
          </a:p>
          <a:p>
            <a:r>
              <a:rPr lang="en-US" dirty="0">
                <a:latin typeface="Calibri" panose="020F0502020204030204" pitchFamily="34" charset="0"/>
                <a:ea typeface="Calibri" panose="020F0502020204030204" pitchFamily="34" charset="0"/>
                <a:cs typeface="Calibri" panose="020F0502020204030204" pitchFamily="34" charset="0"/>
              </a:rPr>
              <a:t>Formal query languages can be used depending on the structure.</a:t>
            </a:r>
          </a:p>
          <a:p>
            <a:r>
              <a:rPr lang="en-US" dirty="0">
                <a:latin typeface="Calibri" panose="020F0502020204030204" pitchFamily="34" charset="0"/>
                <a:ea typeface="Calibri" panose="020F0502020204030204" pitchFamily="34" charset="0"/>
                <a:cs typeface="Calibri" panose="020F0502020204030204" pitchFamily="34" charset="0"/>
              </a:rPr>
              <a:t>Example: SQL</a:t>
            </a:r>
          </a:p>
        </p:txBody>
      </p:sp>
      <p:pic>
        <p:nvPicPr>
          <p:cNvPr id="5" name="Google Shape;459;p63">
            <a:extLst>
              <a:ext uri="{FF2B5EF4-FFF2-40B4-BE49-F238E27FC236}">
                <a16:creationId xmlns:a16="http://schemas.microsoft.com/office/drawing/2014/main" id="{5F4E1073-5593-B08C-0E5C-3537788658DD}"/>
              </a:ext>
            </a:extLst>
          </p:cNvPr>
          <p:cNvPicPr preferRelativeResize="0"/>
          <p:nvPr/>
        </p:nvPicPr>
        <p:blipFill rotWithShape="1">
          <a:blip r:embed="rId2">
            <a:alphaModFix/>
          </a:blip>
          <a:srcRect r="20901"/>
          <a:stretch/>
        </p:blipFill>
        <p:spPr>
          <a:xfrm>
            <a:off x="7725304" y="2651760"/>
            <a:ext cx="4197456" cy="1823797"/>
          </a:xfrm>
          <a:prstGeom prst="rect">
            <a:avLst/>
          </a:prstGeom>
          <a:noFill/>
          <a:ln>
            <a:noFill/>
          </a:ln>
        </p:spPr>
      </p:pic>
    </p:spTree>
    <p:extLst>
      <p:ext uri="{BB962C8B-B14F-4D97-AF65-F5344CB8AC3E}">
        <p14:creationId xmlns:p14="http://schemas.microsoft.com/office/powerpoint/2010/main" val="1974335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455"/>
        <p:cNvGrpSpPr/>
        <p:nvPr/>
      </p:nvGrpSpPr>
      <p:grpSpPr>
        <a:xfrm>
          <a:off x="0" y="0"/>
          <a:ext cx="0" cy="0"/>
          <a:chOff x="0" y="0"/>
          <a:chExt cx="0" cy="0"/>
        </a:xfrm>
      </p:grpSpPr>
      <p:sp>
        <p:nvSpPr>
          <p:cNvPr id="456" name="Google Shape;456;p63"/>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Contoh model data: Tabular</a:t>
            </a:r>
            <a:endParaRPr/>
          </a:p>
        </p:txBody>
      </p:sp>
      <p:sp>
        <p:nvSpPr>
          <p:cNvPr id="457" name="Google Shape;457;p63"/>
          <p:cNvSpPr txBox="1">
            <a:spLocks noGrp="1"/>
          </p:cNvSpPr>
          <p:nvPr>
            <p:ph type="body" idx="1"/>
          </p:nvPr>
        </p:nvSpPr>
        <p:spPr>
          <a:xfrm>
            <a:off x="415600" y="1536633"/>
            <a:ext cx="6995017" cy="4555200"/>
          </a:xfrm>
          <a:prstGeom prst="rect">
            <a:avLst/>
          </a:prstGeom>
          <a:noFill/>
          <a:ln>
            <a:noFill/>
          </a:ln>
        </p:spPr>
        <p:txBody>
          <a:bodyPr spcFirstLastPara="1" vert="horz" wrap="square" lIns="121900" tIns="121900" rIns="121900" bIns="121900" rtlCol="0" anchor="t" anchorCtr="0">
            <a:normAutofit fontScale="92500" lnSpcReduction="10000"/>
          </a:bodyPr>
          <a:lstStyle/>
          <a:p>
            <a:pPr indent="-432933">
              <a:buSzPct val="102297"/>
            </a:pPr>
            <a:r>
              <a:rPr lang="id"/>
              <a:t>Terdiri dari N buah rekord (</a:t>
            </a:r>
            <a:r>
              <a:rPr lang="id" i="1"/>
              <a:t>record</a:t>
            </a:r>
            <a:r>
              <a:rPr lang="id"/>
              <a:t>)</a:t>
            </a:r>
            <a:endParaRPr/>
          </a:p>
          <a:p>
            <a:pPr indent="-432933">
              <a:buSzPct val="102297"/>
            </a:pPr>
            <a:r>
              <a:rPr lang="id"/>
              <a:t>Masing-masing record mengandung D buah atribut</a:t>
            </a:r>
            <a:endParaRPr/>
          </a:p>
          <a:p>
            <a:pPr indent="-432933">
              <a:buSzPct val="102297"/>
            </a:pPr>
            <a:r>
              <a:rPr lang="id"/>
              <a:t>Record = baris, </a:t>
            </a:r>
            <a:r>
              <a:rPr lang="id" i="1"/>
              <a:t>data point</a:t>
            </a:r>
            <a:r>
              <a:rPr lang="id"/>
              <a:t>, instans, </a:t>
            </a:r>
            <a:r>
              <a:rPr lang="id" i="1"/>
              <a:t>example</a:t>
            </a:r>
            <a:r>
              <a:rPr lang="id"/>
              <a:t>, transaksi, tupel, entitas, objek, vector fitur.</a:t>
            </a:r>
            <a:endParaRPr/>
          </a:p>
          <a:p>
            <a:pPr indent="-432933">
              <a:buSzPct val="102297"/>
            </a:pPr>
            <a:r>
              <a:rPr lang="id"/>
              <a:t>Atribut = kolom, </a:t>
            </a:r>
            <a:r>
              <a:rPr lang="id" i="1"/>
              <a:t>field</a:t>
            </a:r>
            <a:r>
              <a:rPr lang="id"/>
              <a:t>, dimensi, fitur.</a:t>
            </a:r>
            <a:endParaRPr/>
          </a:p>
          <a:p>
            <a:pPr indent="-432933">
              <a:buSzPct val="102297"/>
            </a:pPr>
            <a:r>
              <a:rPr lang="id"/>
              <a:t>Atribut yang sama untuk setiap record biasanya diasumsikan memiliki tipe butir data yang sama.</a:t>
            </a:r>
            <a:endParaRPr/>
          </a:p>
          <a:p>
            <a:pPr indent="-432933">
              <a:buSzPct val="102297"/>
            </a:pPr>
            <a:r>
              <a:rPr lang="id"/>
              <a:t>Struktur dapat bersifat ketat/strict (contoh: basis data relasional) atau longgar/loose (contoh: Excel </a:t>
            </a:r>
            <a:r>
              <a:rPr lang="id" i="1"/>
              <a:t>spreadsheet</a:t>
            </a:r>
            <a:r>
              <a:rPr lang="id"/>
              <a:t>).</a:t>
            </a:r>
            <a:endParaRPr/>
          </a:p>
          <a:p>
            <a:pPr indent="-432933">
              <a:buSzPct val="102297"/>
            </a:pPr>
            <a:r>
              <a:rPr lang="id"/>
              <a:t>Tergantung keketatan strukturnya, bisa ada bahasa kueri formal untuk mengakses butir-butir data di dalamnya (contoh: SQL).</a:t>
            </a:r>
            <a:endParaRPr/>
          </a:p>
        </p:txBody>
      </p:sp>
      <p:sp>
        <p:nvSpPr>
          <p:cNvPr id="458" name="Google Shape;458;p63"/>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36</a:t>
            </a:fld>
            <a:endParaRPr/>
          </a:p>
        </p:txBody>
      </p:sp>
      <p:pic>
        <p:nvPicPr>
          <p:cNvPr id="459" name="Google Shape;459;p63"/>
          <p:cNvPicPr preferRelativeResize="0"/>
          <p:nvPr/>
        </p:nvPicPr>
        <p:blipFill rotWithShape="1">
          <a:blip r:embed="rId3">
            <a:alphaModFix/>
          </a:blip>
          <a:srcRect r="20901"/>
          <a:stretch/>
        </p:blipFill>
        <p:spPr>
          <a:xfrm>
            <a:off x="7523339" y="1995615"/>
            <a:ext cx="4253061" cy="166886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9C1CB-D51A-C0D8-5AA6-489EEA5F8EB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D29BD739-A32D-3890-4837-3547AD572B03}"/>
              </a:ext>
            </a:extLst>
          </p:cNvPr>
          <p:cNvSpPr/>
          <p:nvPr/>
        </p:nvSpPr>
        <p:spPr>
          <a:xfrm>
            <a:off x="7132320" y="4259714"/>
            <a:ext cx="4866640" cy="2435726"/>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CFD08-CC9B-3512-98F0-3C3A02650DA3}"/>
              </a:ext>
            </a:extLst>
          </p:cNvPr>
          <p:cNvSpPr>
            <a:spLocks noGrp="1"/>
          </p:cNvSpPr>
          <p:nvPr>
            <p:ph type="title"/>
          </p:nvPr>
        </p:nvSpPr>
        <p:spPr>
          <a:xfrm>
            <a:off x="838200" y="365125"/>
            <a:ext cx="10515600" cy="915035"/>
          </a:xfrm>
        </p:spPr>
        <p:txBody>
          <a:bodyPr/>
          <a:lstStyle/>
          <a:p>
            <a:r>
              <a:rPr lang="en-US" dirty="0"/>
              <a:t>Data Model Example: Graph / Network</a:t>
            </a:r>
          </a:p>
        </p:txBody>
      </p:sp>
      <p:sp>
        <p:nvSpPr>
          <p:cNvPr id="3" name="Content Placeholder 2">
            <a:extLst>
              <a:ext uri="{FF2B5EF4-FFF2-40B4-BE49-F238E27FC236}">
                <a16:creationId xmlns:a16="http://schemas.microsoft.com/office/drawing/2014/main" id="{47FD0D13-5B04-1081-69D3-8AECA4B6AF44}"/>
              </a:ext>
            </a:extLst>
          </p:cNvPr>
          <p:cNvSpPr>
            <a:spLocks noGrp="1"/>
          </p:cNvSpPr>
          <p:nvPr>
            <p:ph idx="1"/>
          </p:nvPr>
        </p:nvSpPr>
        <p:spPr>
          <a:xfrm>
            <a:off x="269240" y="1378584"/>
            <a:ext cx="6863080" cy="4819015"/>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Consists of nodes and edges/connections. </a:t>
            </a:r>
          </a:p>
          <a:p>
            <a:r>
              <a:rPr lang="en-US" dirty="0">
                <a:latin typeface="Calibri" panose="020F0502020204030204" pitchFamily="34" charset="0"/>
                <a:ea typeface="Calibri" panose="020F0502020204030204" pitchFamily="34" charset="0"/>
                <a:cs typeface="Calibri" panose="020F0502020204030204" pitchFamily="34" charset="0"/>
              </a:rPr>
              <a:t>One node usually represents one record. </a:t>
            </a:r>
          </a:p>
          <a:p>
            <a:r>
              <a:rPr lang="en-US" dirty="0">
                <a:latin typeface="Calibri" panose="020F0502020204030204" pitchFamily="34" charset="0"/>
                <a:ea typeface="Calibri" panose="020F0502020204030204" pitchFamily="34" charset="0"/>
                <a:cs typeface="Calibri" panose="020F0502020204030204" pitchFamily="34" charset="0"/>
              </a:rPr>
              <a:t>Can explicitly represent relationships between records. </a:t>
            </a:r>
          </a:p>
          <a:p>
            <a:r>
              <a:rPr lang="en-US" dirty="0">
                <a:latin typeface="Calibri" panose="020F0502020204030204" pitchFamily="34" charset="0"/>
                <a:ea typeface="Calibri" panose="020F0502020204030204" pitchFamily="34" charset="0"/>
                <a:cs typeface="Calibri" panose="020F0502020204030204" pitchFamily="34" charset="0"/>
              </a:rPr>
              <a:t>Includes: </a:t>
            </a:r>
          </a:p>
          <a:p>
            <a:pPr lvl="1"/>
            <a:r>
              <a:rPr lang="en-US" dirty="0">
                <a:latin typeface="Calibri" panose="020F0502020204030204" pitchFamily="34" charset="0"/>
                <a:ea typeface="Calibri" panose="020F0502020204030204" pitchFamily="34" charset="0"/>
                <a:cs typeface="Calibri" panose="020F0502020204030204" pitchFamily="34" charset="0"/>
              </a:rPr>
              <a:t>Hierarchical/tree data models </a:t>
            </a:r>
          </a:p>
          <a:p>
            <a:pPr lvl="1"/>
            <a:r>
              <a:rPr lang="en-US" dirty="0">
                <a:latin typeface="Calibri" panose="020F0502020204030204" pitchFamily="34" charset="0"/>
                <a:ea typeface="Calibri" panose="020F0502020204030204" pitchFamily="34" charset="0"/>
                <a:cs typeface="Calibri" panose="020F0502020204030204" pitchFamily="34" charset="0"/>
              </a:rPr>
              <a:t>Object-oriented data models </a:t>
            </a:r>
          </a:p>
          <a:p>
            <a:r>
              <a:rPr lang="en-US" dirty="0">
                <a:latin typeface="Calibri" panose="020F0502020204030204" pitchFamily="34" charset="0"/>
                <a:ea typeface="Calibri" panose="020F0502020204030204" pitchFamily="34" charset="0"/>
                <a:cs typeface="Calibri" panose="020F0502020204030204" pitchFamily="34" charset="0"/>
              </a:rPr>
              <a:t>Modern graph data models include: </a:t>
            </a:r>
          </a:p>
          <a:p>
            <a:pPr lvl="1"/>
            <a:r>
              <a:rPr lang="en-US" dirty="0">
                <a:latin typeface="Calibri" panose="020F0502020204030204" pitchFamily="34" charset="0"/>
                <a:ea typeface="Calibri" panose="020F0502020204030204" pitchFamily="34" charset="0"/>
                <a:cs typeface="Calibri" panose="020F0502020204030204" pitchFamily="34" charset="0"/>
              </a:rPr>
              <a:t>Property Graph </a:t>
            </a:r>
          </a:p>
          <a:p>
            <a:pPr lvl="1"/>
            <a:r>
              <a:rPr lang="en-US" dirty="0">
                <a:latin typeface="Calibri" panose="020F0502020204030204" pitchFamily="34" charset="0"/>
                <a:ea typeface="Calibri" panose="020F0502020204030204" pitchFamily="34" charset="0"/>
                <a:cs typeface="Calibri" panose="020F0502020204030204" pitchFamily="34" charset="0"/>
              </a:rPr>
              <a:t>Resource Description Framework (RDF)</a:t>
            </a:r>
          </a:p>
        </p:txBody>
      </p:sp>
      <p:pic>
        <p:nvPicPr>
          <p:cNvPr id="6" name="Google Shape;467;p64">
            <a:extLst>
              <a:ext uri="{FF2B5EF4-FFF2-40B4-BE49-F238E27FC236}">
                <a16:creationId xmlns:a16="http://schemas.microsoft.com/office/drawing/2014/main" id="{F40C9597-9CAB-7015-62A6-644A5C94325F}"/>
              </a:ext>
            </a:extLst>
          </p:cNvPr>
          <p:cNvPicPr preferRelativeResize="0"/>
          <p:nvPr/>
        </p:nvPicPr>
        <p:blipFill rotWithShape="1">
          <a:blip r:embed="rId2">
            <a:alphaModFix/>
          </a:blip>
          <a:srcRect t="20573"/>
          <a:stretch/>
        </p:blipFill>
        <p:spPr>
          <a:xfrm>
            <a:off x="6878680" y="1139243"/>
            <a:ext cx="5081803" cy="3043690"/>
          </a:xfrm>
          <a:prstGeom prst="rect">
            <a:avLst/>
          </a:prstGeom>
          <a:noFill/>
          <a:ln>
            <a:noFill/>
          </a:ln>
          <a:effectLst>
            <a:outerShdw blurRad="63500" sx="102000" sy="102000" algn="ctr" rotWithShape="0">
              <a:prstClr val="black">
                <a:alpha val="40000"/>
              </a:prstClr>
            </a:outerShdw>
          </a:effectLst>
        </p:spPr>
      </p:pic>
      <p:pic>
        <p:nvPicPr>
          <p:cNvPr id="8" name="Google Shape;468;p64">
            <a:extLst>
              <a:ext uri="{FF2B5EF4-FFF2-40B4-BE49-F238E27FC236}">
                <a16:creationId xmlns:a16="http://schemas.microsoft.com/office/drawing/2014/main" id="{6C0808A7-D8AC-A530-AD1C-921F95B71D16}"/>
              </a:ext>
            </a:extLst>
          </p:cNvPr>
          <p:cNvPicPr preferRelativeResize="0"/>
          <p:nvPr/>
        </p:nvPicPr>
        <p:blipFill rotWithShape="1">
          <a:blip r:embed="rId3">
            <a:alphaModFix/>
          </a:blip>
          <a:srcRect/>
          <a:stretch/>
        </p:blipFill>
        <p:spPr>
          <a:xfrm>
            <a:off x="7377926" y="4259714"/>
            <a:ext cx="4544834" cy="2478984"/>
          </a:xfrm>
          <a:prstGeom prst="rect">
            <a:avLst/>
          </a:prstGeom>
          <a:noFill/>
          <a:ln>
            <a:noFill/>
          </a:ln>
        </p:spPr>
      </p:pic>
      <p:sp>
        <p:nvSpPr>
          <p:cNvPr id="10" name="Google Shape;469;p64">
            <a:extLst>
              <a:ext uri="{FF2B5EF4-FFF2-40B4-BE49-F238E27FC236}">
                <a16:creationId xmlns:a16="http://schemas.microsoft.com/office/drawing/2014/main" id="{04670284-FCDC-D961-2C99-9509DA57802C}"/>
              </a:ext>
            </a:extLst>
          </p:cNvPr>
          <p:cNvSpPr txBox="1"/>
          <p:nvPr/>
        </p:nvSpPr>
        <p:spPr>
          <a:xfrm>
            <a:off x="7020290" y="5571685"/>
            <a:ext cx="126133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d" sz="1400" b="0" i="0" u="none" strike="noStrike" cap="none" dirty="0">
                <a:solidFill>
                  <a:srgbClr val="FF0000"/>
                </a:solidFill>
                <a:latin typeface="Arial"/>
                <a:ea typeface="Arial"/>
                <a:cs typeface="Arial"/>
                <a:sym typeface="Arial"/>
              </a:rPr>
              <a:t>RDF graph</a:t>
            </a:r>
            <a:endParaRPr sz="1400" b="0" i="0" u="none" strike="noStrike" cap="none" dirty="0">
              <a:solidFill>
                <a:srgbClr val="000000"/>
              </a:solidFill>
              <a:latin typeface="Arial"/>
              <a:ea typeface="Arial"/>
              <a:cs typeface="Arial"/>
              <a:sym typeface="Arial"/>
            </a:endParaRPr>
          </a:p>
        </p:txBody>
      </p:sp>
      <p:sp>
        <p:nvSpPr>
          <p:cNvPr id="12" name="Google Shape;470;p64">
            <a:extLst>
              <a:ext uri="{FF2B5EF4-FFF2-40B4-BE49-F238E27FC236}">
                <a16:creationId xmlns:a16="http://schemas.microsoft.com/office/drawing/2014/main" id="{89C6D46B-BA14-2ED1-8854-6EE5BB4F8921}"/>
              </a:ext>
            </a:extLst>
          </p:cNvPr>
          <p:cNvSpPr txBox="1"/>
          <p:nvPr/>
        </p:nvSpPr>
        <p:spPr>
          <a:xfrm>
            <a:off x="7557445" y="2375794"/>
            <a:ext cx="160690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d" sz="1400" b="0" i="0" u="none" strike="noStrike" cap="none" dirty="0">
                <a:solidFill>
                  <a:srgbClr val="FF0000"/>
                </a:solidFill>
                <a:latin typeface="Arial"/>
                <a:ea typeface="Arial"/>
                <a:cs typeface="Arial"/>
                <a:sym typeface="Arial"/>
              </a:rPr>
              <a:t>Property graph</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83262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463"/>
        <p:cNvGrpSpPr/>
        <p:nvPr/>
      </p:nvGrpSpPr>
      <p:grpSpPr>
        <a:xfrm>
          <a:off x="0" y="0"/>
          <a:ext cx="0" cy="0"/>
          <a:chOff x="0" y="0"/>
          <a:chExt cx="0" cy="0"/>
        </a:xfrm>
      </p:grpSpPr>
      <p:sp>
        <p:nvSpPr>
          <p:cNvPr id="464" name="Google Shape;464;p64"/>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a:bodyPr>
          <a:lstStyle/>
          <a:p>
            <a:r>
              <a:rPr lang="id" sz="2667"/>
              <a:t>Contoh model data: Graf/Jejaring</a:t>
            </a:r>
            <a:endParaRPr sz="2667"/>
          </a:p>
        </p:txBody>
      </p:sp>
      <p:sp>
        <p:nvSpPr>
          <p:cNvPr id="465" name="Google Shape;465;p64"/>
          <p:cNvSpPr txBox="1">
            <a:spLocks noGrp="1"/>
          </p:cNvSpPr>
          <p:nvPr>
            <p:ph type="body" idx="1"/>
          </p:nvPr>
        </p:nvSpPr>
        <p:spPr>
          <a:xfrm>
            <a:off x="415600" y="1536633"/>
            <a:ext cx="4980685" cy="4555200"/>
          </a:xfrm>
          <a:prstGeom prst="rect">
            <a:avLst/>
          </a:prstGeom>
          <a:noFill/>
          <a:ln>
            <a:noFill/>
          </a:ln>
        </p:spPr>
        <p:txBody>
          <a:bodyPr spcFirstLastPara="1" vert="horz" wrap="square" lIns="121900" tIns="121900" rIns="121900" bIns="121900" rtlCol="0" anchor="t" anchorCtr="0">
            <a:normAutofit fontScale="92500" lnSpcReduction="10000"/>
          </a:bodyPr>
          <a:lstStyle/>
          <a:p>
            <a:pPr indent="-432933">
              <a:buSzPct val="102297"/>
            </a:pPr>
            <a:r>
              <a:rPr lang="id"/>
              <a:t>Tersusun dari simpul-simpul (</a:t>
            </a:r>
            <a:r>
              <a:rPr lang="id" i="1"/>
              <a:t>nodes</a:t>
            </a:r>
            <a:r>
              <a:rPr lang="id"/>
              <a:t>) dan sisi/koneksi antar simpul (</a:t>
            </a:r>
            <a:r>
              <a:rPr lang="id" i="1"/>
              <a:t>edges</a:t>
            </a:r>
            <a:r>
              <a:rPr lang="id"/>
              <a:t>)</a:t>
            </a:r>
            <a:endParaRPr/>
          </a:p>
          <a:p>
            <a:pPr indent="-432933">
              <a:buSzPct val="102297"/>
            </a:pPr>
            <a:r>
              <a:rPr lang="id"/>
              <a:t>Satu node (biasanya) mewakili satu record</a:t>
            </a:r>
            <a:endParaRPr/>
          </a:p>
          <a:p>
            <a:pPr indent="-432933">
              <a:buSzPct val="102297"/>
            </a:pPr>
            <a:r>
              <a:rPr lang="id"/>
              <a:t>Dapat mengekspresikan relasi antar record secara eksplisit.</a:t>
            </a:r>
            <a:endParaRPr/>
          </a:p>
          <a:p>
            <a:pPr indent="-432933">
              <a:buSzPct val="102297"/>
            </a:pPr>
            <a:r>
              <a:rPr lang="id"/>
              <a:t>Termasuk model data graf adalah model data hierarkii/pohon, model data berorientasi objek (</a:t>
            </a:r>
            <a:r>
              <a:rPr lang="id" i="1"/>
              <a:t>object-oriented data model</a:t>
            </a:r>
            <a:r>
              <a:rPr lang="id"/>
              <a:t>).</a:t>
            </a:r>
            <a:endParaRPr/>
          </a:p>
          <a:p>
            <a:pPr indent="-432933">
              <a:buSzPct val="102297"/>
            </a:pPr>
            <a:r>
              <a:rPr lang="id"/>
              <a:t>Model data graf modern:</a:t>
            </a:r>
            <a:endParaRPr/>
          </a:p>
          <a:p>
            <a:pPr lvl="1" indent="-414627">
              <a:buSzPct val="100153"/>
            </a:pPr>
            <a:r>
              <a:rPr lang="id" i="1"/>
              <a:t>Property graph</a:t>
            </a:r>
            <a:endParaRPr/>
          </a:p>
          <a:p>
            <a:pPr lvl="1" indent="-414627">
              <a:buSzPct val="100153"/>
            </a:pPr>
            <a:r>
              <a:rPr lang="id" i="1"/>
              <a:t>Resource description framework (RDF)</a:t>
            </a:r>
            <a:endParaRPr/>
          </a:p>
        </p:txBody>
      </p:sp>
      <p:sp>
        <p:nvSpPr>
          <p:cNvPr id="466" name="Google Shape;466;p64"/>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38</a:t>
            </a:fld>
            <a:endParaRPr/>
          </a:p>
        </p:txBody>
      </p:sp>
      <p:pic>
        <p:nvPicPr>
          <p:cNvPr id="467" name="Google Shape;467;p64"/>
          <p:cNvPicPr preferRelativeResize="0"/>
          <p:nvPr/>
        </p:nvPicPr>
        <p:blipFill rotWithShape="1">
          <a:blip r:embed="rId3">
            <a:alphaModFix/>
          </a:blip>
          <a:srcRect t="20573"/>
          <a:stretch/>
        </p:blipFill>
        <p:spPr>
          <a:xfrm>
            <a:off x="5540227" y="487625"/>
            <a:ext cx="6236173" cy="3222940"/>
          </a:xfrm>
          <a:prstGeom prst="rect">
            <a:avLst/>
          </a:prstGeom>
          <a:noFill/>
          <a:ln>
            <a:noFill/>
          </a:ln>
        </p:spPr>
      </p:pic>
      <p:pic>
        <p:nvPicPr>
          <p:cNvPr id="468" name="Google Shape;468;p64"/>
          <p:cNvPicPr preferRelativeResize="0"/>
          <p:nvPr/>
        </p:nvPicPr>
        <p:blipFill rotWithShape="1">
          <a:blip r:embed="rId4">
            <a:alphaModFix/>
          </a:blip>
          <a:srcRect/>
          <a:stretch/>
        </p:blipFill>
        <p:spPr>
          <a:xfrm>
            <a:off x="6233822" y="3905694"/>
            <a:ext cx="5577228" cy="2624977"/>
          </a:xfrm>
          <a:prstGeom prst="rect">
            <a:avLst/>
          </a:prstGeom>
          <a:noFill/>
          <a:ln>
            <a:noFill/>
          </a:ln>
        </p:spPr>
      </p:pic>
      <p:sp>
        <p:nvSpPr>
          <p:cNvPr id="469" name="Google Shape;469;p64"/>
          <p:cNvSpPr txBox="1"/>
          <p:nvPr/>
        </p:nvSpPr>
        <p:spPr>
          <a:xfrm>
            <a:off x="5540228" y="5378128"/>
            <a:ext cx="1547857" cy="410379"/>
          </a:xfrm>
          <a:prstGeom prst="rect">
            <a:avLst/>
          </a:prstGeom>
          <a:noFill/>
          <a:ln>
            <a:noFill/>
          </a:ln>
        </p:spPr>
        <p:txBody>
          <a:bodyPr spcFirstLastPara="1" wrap="square" lIns="121900" tIns="60933" rIns="121900" bIns="60933" anchor="t" anchorCtr="0">
            <a:spAutoFit/>
          </a:bodyPr>
          <a:lstStyle/>
          <a:p>
            <a:pPr>
              <a:buClr>
                <a:srgbClr val="000000"/>
              </a:buClr>
              <a:buSzPts val="1400"/>
            </a:pPr>
            <a:r>
              <a:rPr lang="id" sz="1867">
                <a:solidFill>
                  <a:srgbClr val="FF0000"/>
                </a:solidFill>
                <a:latin typeface="Arial"/>
                <a:ea typeface="Arial"/>
                <a:cs typeface="Arial"/>
                <a:sym typeface="Arial"/>
              </a:rPr>
              <a:t>RDF graph</a:t>
            </a:r>
            <a:endParaRPr sz="1867">
              <a:solidFill>
                <a:srgbClr val="000000"/>
              </a:solidFill>
              <a:latin typeface="Arial"/>
              <a:ea typeface="Arial"/>
              <a:cs typeface="Arial"/>
              <a:sym typeface="Arial"/>
            </a:endParaRPr>
          </a:p>
        </p:txBody>
      </p:sp>
      <p:sp>
        <p:nvSpPr>
          <p:cNvPr id="470" name="Google Shape;470;p64"/>
          <p:cNvSpPr txBox="1"/>
          <p:nvPr/>
        </p:nvSpPr>
        <p:spPr>
          <a:xfrm>
            <a:off x="6473180" y="1912065"/>
            <a:ext cx="1971923" cy="410379"/>
          </a:xfrm>
          <a:prstGeom prst="rect">
            <a:avLst/>
          </a:prstGeom>
          <a:noFill/>
          <a:ln>
            <a:noFill/>
          </a:ln>
        </p:spPr>
        <p:txBody>
          <a:bodyPr spcFirstLastPara="1" wrap="square" lIns="121900" tIns="60933" rIns="121900" bIns="60933" anchor="t" anchorCtr="0">
            <a:spAutoFit/>
          </a:bodyPr>
          <a:lstStyle/>
          <a:p>
            <a:pPr>
              <a:buClr>
                <a:srgbClr val="000000"/>
              </a:buClr>
              <a:buSzPts val="1400"/>
            </a:pPr>
            <a:r>
              <a:rPr lang="id" sz="1867">
                <a:solidFill>
                  <a:srgbClr val="FF0000"/>
                </a:solidFill>
                <a:latin typeface="Arial"/>
                <a:ea typeface="Arial"/>
                <a:cs typeface="Arial"/>
                <a:sym typeface="Arial"/>
              </a:rPr>
              <a:t>Property graph</a:t>
            </a:r>
            <a:endParaRPr sz="1867">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7FEA-7CC9-716B-F842-D8847CBDE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8E6BF-881A-2A32-2FA2-0C2C1E57AEBD}"/>
              </a:ext>
            </a:extLst>
          </p:cNvPr>
          <p:cNvSpPr>
            <a:spLocks noGrp="1"/>
          </p:cNvSpPr>
          <p:nvPr>
            <p:ph type="title"/>
          </p:nvPr>
        </p:nvSpPr>
        <p:spPr>
          <a:xfrm>
            <a:off x="838200" y="365125"/>
            <a:ext cx="10515600" cy="915035"/>
          </a:xfrm>
        </p:spPr>
        <p:txBody>
          <a:bodyPr/>
          <a:lstStyle/>
          <a:p>
            <a:r>
              <a:rPr lang="en-US" dirty="0"/>
              <a:t>Data Model Example: Sequence</a:t>
            </a:r>
          </a:p>
        </p:txBody>
      </p:sp>
      <p:sp>
        <p:nvSpPr>
          <p:cNvPr id="3" name="Content Placeholder 2">
            <a:extLst>
              <a:ext uri="{FF2B5EF4-FFF2-40B4-BE49-F238E27FC236}">
                <a16:creationId xmlns:a16="http://schemas.microsoft.com/office/drawing/2014/main" id="{88E765FF-2DFC-61B5-8454-DFFD9B569B23}"/>
              </a:ext>
            </a:extLst>
          </p:cNvPr>
          <p:cNvSpPr>
            <a:spLocks noGrp="1"/>
          </p:cNvSpPr>
          <p:nvPr>
            <p:ph idx="1"/>
          </p:nvPr>
        </p:nvSpPr>
        <p:spPr>
          <a:xfrm>
            <a:off x="269240" y="1378584"/>
            <a:ext cx="6863080" cy="4819015"/>
          </a:xfrm>
        </p:spPr>
        <p:txBody>
          <a:bodyPr>
            <a:normAutofit fontScale="92500" lnSpcReduction="20000"/>
          </a:bodyPr>
          <a:lstStyle/>
          <a:p>
            <a:r>
              <a:rPr lang="en-US" dirty="0">
                <a:latin typeface="Calibri" panose="020F0502020204030204" pitchFamily="34" charset="0"/>
                <a:ea typeface="Calibri" panose="020F0502020204030204" pitchFamily="34" charset="0"/>
                <a:cs typeface="Calibri" panose="020F0502020204030204" pitchFamily="34" charset="0"/>
              </a:rPr>
              <a:t>Consists of records connected in a sequence. </a:t>
            </a:r>
          </a:p>
          <a:p>
            <a:r>
              <a:rPr lang="en-US" dirty="0">
                <a:latin typeface="Calibri" panose="020F0502020204030204" pitchFamily="34" charset="0"/>
                <a:ea typeface="Calibri" panose="020F0502020204030204" pitchFamily="34" charset="0"/>
                <a:cs typeface="Calibri" panose="020F0502020204030204" pitchFamily="34" charset="0"/>
              </a:rPr>
              <a:t>Example: Temperature sensor readings over a period of time. </a:t>
            </a:r>
          </a:p>
          <a:p>
            <a:r>
              <a:rPr lang="en-US" dirty="0">
                <a:latin typeface="Calibri" panose="020F0502020204030204" pitchFamily="34" charset="0"/>
                <a:ea typeface="Calibri" panose="020F0502020204030204" pitchFamily="34" charset="0"/>
                <a:cs typeface="Calibri" panose="020F0502020204030204" pitchFamily="34" charset="0"/>
              </a:rPr>
              <a:t>The structure is defined by the order of the records. </a:t>
            </a:r>
          </a:p>
          <a:p>
            <a:r>
              <a:rPr lang="en-US" dirty="0">
                <a:latin typeface="Calibri" panose="020F0502020204030204" pitchFamily="34" charset="0"/>
                <a:ea typeface="Calibri" panose="020F0502020204030204" pitchFamily="34" charset="0"/>
                <a:cs typeface="Calibri" panose="020F0502020204030204" pitchFamily="34" charset="0"/>
              </a:rPr>
              <a:t>Audio and video can be viewed as sequence data, although each record may be unstructured. </a:t>
            </a:r>
          </a:p>
          <a:p>
            <a:r>
              <a:rPr lang="en-US" dirty="0">
                <a:latin typeface="Calibri" panose="020F0502020204030204" pitchFamily="34" charset="0"/>
                <a:ea typeface="Calibri" panose="020F0502020204030204" pitchFamily="34" charset="0"/>
                <a:cs typeface="Calibri" panose="020F0502020204030204" pitchFamily="34" charset="0"/>
              </a:rPr>
              <a:t>Contextual attributes define the implicit dependency. Example: Timestamp </a:t>
            </a:r>
          </a:p>
          <a:p>
            <a:r>
              <a:rPr lang="en-US" dirty="0">
                <a:latin typeface="Calibri" panose="020F0502020204030204" pitchFamily="34" charset="0"/>
                <a:ea typeface="Calibri" panose="020F0502020204030204" pitchFamily="34" charset="0"/>
                <a:cs typeface="Calibri" panose="020F0502020204030204" pitchFamily="34" charset="0"/>
              </a:rPr>
              <a:t>Behavioral attributes are values recorded within a specific context. Example: Temperature </a:t>
            </a:r>
          </a:p>
          <a:p>
            <a:r>
              <a:rPr lang="en-US" dirty="0">
                <a:latin typeface="Calibri" panose="020F0502020204030204" pitchFamily="34" charset="0"/>
                <a:ea typeface="Calibri" panose="020F0502020204030204" pitchFamily="34" charset="0"/>
                <a:cs typeface="Calibri" panose="020F0502020204030204" pitchFamily="34" charset="0"/>
              </a:rPr>
              <a:t>If the contextual attribute is time/timestamp, the sequence data is called time-series data.</a:t>
            </a:r>
          </a:p>
        </p:txBody>
      </p:sp>
      <p:pic>
        <p:nvPicPr>
          <p:cNvPr id="5" name="Google Shape;475;p65">
            <a:extLst>
              <a:ext uri="{FF2B5EF4-FFF2-40B4-BE49-F238E27FC236}">
                <a16:creationId xmlns:a16="http://schemas.microsoft.com/office/drawing/2014/main" id="{2D4AE0D3-4DC3-C77F-DB8D-EAE3B7CA6D5C}"/>
              </a:ext>
            </a:extLst>
          </p:cNvPr>
          <p:cNvPicPr preferRelativeResize="0"/>
          <p:nvPr/>
        </p:nvPicPr>
        <p:blipFill rotWithShape="1">
          <a:blip r:embed="rId2">
            <a:alphaModFix/>
          </a:blip>
          <a:srcRect/>
          <a:stretch/>
        </p:blipFill>
        <p:spPr>
          <a:xfrm>
            <a:off x="7132320" y="1518894"/>
            <a:ext cx="4790440" cy="3960521"/>
          </a:xfrm>
          <a:prstGeom prst="rect">
            <a:avLst/>
          </a:prstGeom>
          <a:noFill/>
          <a:ln>
            <a:noFill/>
          </a:ln>
        </p:spPr>
      </p:pic>
    </p:spTree>
    <p:extLst>
      <p:ext uri="{BB962C8B-B14F-4D97-AF65-F5344CB8AC3E}">
        <p14:creationId xmlns:p14="http://schemas.microsoft.com/office/powerpoint/2010/main" val="4157284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474"/>
        <p:cNvGrpSpPr/>
        <p:nvPr/>
      </p:nvGrpSpPr>
      <p:grpSpPr>
        <a:xfrm>
          <a:off x="0" y="0"/>
          <a:ext cx="0" cy="0"/>
          <a:chOff x="0" y="0"/>
          <a:chExt cx="0" cy="0"/>
        </a:xfrm>
      </p:grpSpPr>
      <p:pic>
        <p:nvPicPr>
          <p:cNvPr id="475" name="Google Shape;475;p65"/>
          <p:cNvPicPr preferRelativeResize="0"/>
          <p:nvPr/>
        </p:nvPicPr>
        <p:blipFill rotWithShape="1">
          <a:blip r:embed="rId3">
            <a:alphaModFix/>
          </a:blip>
          <a:srcRect/>
          <a:stretch/>
        </p:blipFill>
        <p:spPr>
          <a:xfrm>
            <a:off x="6793267" y="1219133"/>
            <a:ext cx="5398733" cy="4345267"/>
          </a:xfrm>
          <a:prstGeom prst="rect">
            <a:avLst/>
          </a:prstGeom>
          <a:noFill/>
          <a:ln>
            <a:noFill/>
          </a:ln>
        </p:spPr>
      </p:pic>
      <p:sp>
        <p:nvSpPr>
          <p:cNvPr id="476" name="Google Shape;476;p65"/>
          <p:cNvSpPr txBox="1">
            <a:spLocks noGrp="1"/>
          </p:cNvSpPr>
          <p:nvPr>
            <p:ph type="title"/>
          </p:nvPr>
        </p:nvSpPr>
        <p:spPr>
          <a:xfrm>
            <a:off x="415600" y="593367"/>
            <a:ext cx="11360800" cy="763600"/>
          </a:xfrm>
          <a:prstGeom prst="rect">
            <a:avLst/>
          </a:prstGeom>
          <a:noFill/>
          <a:ln>
            <a:noFill/>
          </a:ln>
        </p:spPr>
        <p:txBody>
          <a:bodyPr spcFirstLastPara="1" vert="horz" wrap="square" lIns="121900" tIns="121900" rIns="121900" bIns="121900" rtlCol="0" anchor="t" anchorCtr="0">
            <a:normAutofit fontScale="90000"/>
          </a:bodyPr>
          <a:lstStyle/>
          <a:p>
            <a:pPr>
              <a:buSzPct val="115225"/>
            </a:pPr>
            <a:r>
              <a:rPr lang="id"/>
              <a:t>Contoh model data: Sekuens</a:t>
            </a:r>
            <a:endParaRPr/>
          </a:p>
        </p:txBody>
      </p:sp>
      <p:sp>
        <p:nvSpPr>
          <p:cNvPr id="477" name="Google Shape;477;p65"/>
          <p:cNvSpPr txBox="1">
            <a:spLocks noGrp="1"/>
          </p:cNvSpPr>
          <p:nvPr>
            <p:ph type="body" idx="1"/>
          </p:nvPr>
        </p:nvSpPr>
        <p:spPr>
          <a:xfrm>
            <a:off x="415598" y="1536634"/>
            <a:ext cx="6560345" cy="4958341"/>
          </a:xfrm>
          <a:prstGeom prst="rect">
            <a:avLst/>
          </a:prstGeom>
          <a:noFill/>
          <a:ln>
            <a:noFill/>
          </a:ln>
        </p:spPr>
        <p:txBody>
          <a:bodyPr spcFirstLastPara="1" vert="horz" wrap="square" lIns="121900" tIns="121900" rIns="121900" bIns="121900" rtlCol="0" anchor="t" anchorCtr="0">
            <a:noAutofit/>
          </a:bodyPr>
          <a:lstStyle/>
          <a:p>
            <a:pPr indent="-431365">
              <a:lnSpc>
                <a:spcPct val="105000"/>
              </a:lnSpc>
              <a:buSzPts val="1495"/>
            </a:pPr>
            <a:r>
              <a:rPr lang="id" sz="1993"/>
              <a:t>Tersusun dari rekord-rekord yang terhubung secara sekuensial.</a:t>
            </a:r>
            <a:endParaRPr sz="2239"/>
          </a:p>
          <a:p>
            <a:pPr indent="-431365">
              <a:lnSpc>
                <a:spcPct val="105000"/>
              </a:lnSpc>
              <a:buSzPts val="1495"/>
            </a:pPr>
            <a:r>
              <a:rPr lang="id" sz="1993"/>
              <a:t>Contoh: data dari sensor suhu selama suatu rentang waktu.</a:t>
            </a:r>
            <a:endParaRPr sz="2239"/>
          </a:p>
          <a:p>
            <a:pPr indent="-431365">
              <a:lnSpc>
                <a:spcPct val="105000"/>
              </a:lnSpc>
              <a:buSzPts val="1495"/>
            </a:pPr>
            <a:r>
              <a:rPr lang="id" sz="1993"/>
              <a:t>Struktur tersirat dari urutan kemunculan rekord</a:t>
            </a:r>
            <a:endParaRPr sz="1993"/>
          </a:p>
          <a:p>
            <a:pPr indent="-431365">
              <a:lnSpc>
                <a:spcPct val="105000"/>
              </a:lnSpc>
              <a:buSzPts val="1495"/>
            </a:pPr>
            <a:r>
              <a:rPr lang="id" sz="1993"/>
              <a:t>Rekaman audio dan video dapat dipandang sebagai data sekuens, namun setiap recordnya sendiri bersifat tidak terstruktur.</a:t>
            </a:r>
            <a:endParaRPr sz="2239"/>
          </a:p>
          <a:p>
            <a:pPr indent="-431365">
              <a:lnSpc>
                <a:spcPct val="105000"/>
              </a:lnSpc>
              <a:buSzPts val="1495"/>
            </a:pPr>
            <a:r>
              <a:rPr lang="id" sz="1993"/>
              <a:t>Atribut kontekstual mendefinisikan basis dependensi tersirat. (Contoh: time stamp pada sensor suhu)</a:t>
            </a:r>
            <a:endParaRPr sz="2239"/>
          </a:p>
          <a:p>
            <a:pPr indent="-431365">
              <a:lnSpc>
                <a:spcPct val="105000"/>
              </a:lnSpc>
              <a:buSzPts val="1495"/>
            </a:pPr>
            <a:r>
              <a:rPr lang="id" sz="1993"/>
              <a:t>Atribut behavioral: butir-butir data yang nilainya diperoleh dalam suatu konteks tertentu (Contoh: besarnya suhu).</a:t>
            </a:r>
            <a:endParaRPr sz="2239"/>
          </a:p>
          <a:p>
            <a:pPr indent="-431365">
              <a:lnSpc>
                <a:spcPct val="105000"/>
              </a:lnSpc>
              <a:buSzPts val="1495"/>
            </a:pPr>
            <a:r>
              <a:rPr lang="id" sz="1993"/>
              <a:t>Jika atribut kontekstualnya adalah waktu/time stamp, maka data sekuens disebut </a:t>
            </a:r>
            <a:r>
              <a:rPr lang="id" sz="1993" i="1"/>
              <a:t>time series</a:t>
            </a:r>
            <a:r>
              <a:rPr lang="id" sz="1993"/>
              <a:t>.</a:t>
            </a:r>
            <a:endParaRPr sz="1993"/>
          </a:p>
          <a:p>
            <a:pPr indent="-304792">
              <a:lnSpc>
                <a:spcPct val="105000"/>
              </a:lnSpc>
              <a:buSzPts val="1295"/>
              <a:buNone/>
            </a:pPr>
            <a:endParaRPr sz="1860"/>
          </a:p>
        </p:txBody>
      </p:sp>
      <p:sp>
        <p:nvSpPr>
          <p:cNvPr id="478" name="Google Shape;478;p65"/>
          <p:cNvSpPr txBox="1">
            <a:spLocks noGrp="1"/>
          </p:cNvSpPr>
          <p:nvPr>
            <p:ph type="sldNum" idx="12"/>
          </p:nvPr>
        </p:nvSpPr>
        <p:spPr>
          <a:xfrm>
            <a:off x="-1" y="6425364"/>
            <a:ext cx="609200" cy="365200"/>
          </a:xfrm>
          <a:prstGeom prst="rect">
            <a:avLst/>
          </a:prstGeom>
          <a:noFill/>
          <a:ln>
            <a:noFill/>
          </a:ln>
        </p:spPr>
        <p:txBody>
          <a:bodyPr spcFirstLastPara="1" vert="horz" wrap="square" lIns="121900" tIns="60933" rIns="121900" bIns="60933" rtlCol="0" anchor="ctr" anchorCtr="0">
            <a:normAutofit/>
          </a:bodyPr>
          <a:lstStyle/>
          <a:p>
            <a:fld id="{00000000-1234-1234-1234-123412341234}" type="slidenum">
              <a:rPr lang="id"/>
              <a:pPr/>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3ABD2-BCD1-ADD9-A765-EABC33BA0743}"/>
              </a:ext>
            </a:extLst>
          </p:cNvPr>
          <p:cNvSpPr>
            <a:spLocks noGrp="1"/>
          </p:cNvSpPr>
          <p:nvPr>
            <p:ph type="title"/>
          </p:nvPr>
        </p:nvSpPr>
        <p:spPr>
          <a:xfrm>
            <a:off x="838200" y="365125"/>
            <a:ext cx="10515600" cy="1460500"/>
          </a:xfrm>
        </p:spPr>
        <p:txBody>
          <a:bodyPr>
            <a:normAutofit/>
          </a:bodyPr>
          <a:lstStyle/>
          <a:p>
            <a:r>
              <a:rPr lang="id" dirty="0"/>
              <a:t>Telaah Data</a:t>
            </a:r>
            <a:r>
              <a:rPr lang="en-US" dirty="0"/>
              <a:t> </a:t>
            </a:r>
            <a:r>
              <a:rPr lang="en-US" sz="2800" dirty="0"/>
              <a:t>(Teknis)</a:t>
            </a:r>
            <a:br>
              <a:rPr lang="en-US" sz="2800" dirty="0"/>
            </a:br>
            <a:r>
              <a:rPr lang="en-US" sz="2800" dirty="0">
                <a:solidFill>
                  <a:srgbClr val="00B0F0"/>
                </a:solidFill>
              </a:rPr>
              <a:t>“Data yang </a:t>
            </a:r>
            <a:r>
              <a:rPr lang="en-US" sz="2800" dirty="0" err="1">
                <a:solidFill>
                  <a:srgbClr val="00B0F0"/>
                </a:solidFill>
              </a:rPr>
              <a:t>kita</a:t>
            </a:r>
            <a:r>
              <a:rPr lang="en-US" sz="2800" dirty="0">
                <a:solidFill>
                  <a:srgbClr val="00B0F0"/>
                </a:solidFill>
              </a:rPr>
              <a:t> </a:t>
            </a:r>
            <a:r>
              <a:rPr lang="en-US" sz="2800" dirty="0" err="1">
                <a:solidFill>
                  <a:srgbClr val="00B0F0"/>
                </a:solidFill>
              </a:rPr>
              <a:t>miliki</a:t>
            </a:r>
            <a:r>
              <a:rPr lang="en-US" sz="2800" dirty="0">
                <a:solidFill>
                  <a:srgbClr val="00B0F0"/>
                </a:solidFill>
              </a:rPr>
              <a:t> </a:t>
            </a:r>
            <a:r>
              <a:rPr lang="en-US" sz="2800" dirty="0" err="1">
                <a:solidFill>
                  <a:srgbClr val="00B0F0"/>
                </a:solidFill>
              </a:rPr>
              <a:t>ini</a:t>
            </a:r>
            <a:r>
              <a:rPr lang="en-US" sz="2800" dirty="0">
                <a:solidFill>
                  <a:srgbClr val="00B0F0"/>
                </a:solidFill>
              </a:rPr>
              <a:t> </a:t>
            </a:r>
            <a:r>
              <a:rPr lang="en-US" sz="2800" dirty="0" err="1">
                <a:solidFill>
                  <a:srgbClr val="00B0F0"/>
                </a:solidFill>
              </a:rPr>
              <a:t>sebenarnya</a:t>
            </a:r>
            <a:r>
              <a:rPr lang="en-US" sz="2800" dirty="0">
                <a:solidFill>
                  <a:srgbClr val="00B0F0"/>
                </a:solidFill>
              </a:rPr>
              <a:t> </a:t>
            </a:r>
            <a:r>
              <a:rPr lang="en-US" sz="2800" dirty="0" err="1">
                <a:solidFill>
                  <a:srgbClr val="00B0F0"/>
                </a:solidFill>
              </a:rPr>
              <a:t>seperti</a:t>
            </a:r>
            <a:r>
              <a:rPr lang="en-US" sz="2800" dirty="0">
                <a:solidFill>
                  <a:srgbClr val="00B0F0"/>
                </a:solidFill>
              </a:rPr>
              <a:t> </a:t>
            </a:r>
            <a:r>
              <a:rPr lang="en-US" sz="2800" dirty="0" err="1">
                <a:solidFill>
                  <a:srgbClr val="00B0F0"/>
                </a:solidFill>
              </a:rPr>
              <a:t>apa</a:t>
            </a:r>
            <a:r>
              <a:rPr lang="en-US" sz="2800" dirty="0">
                <a:solidFill>
                  <a:srgbClr val="00B0F0"/>
                </a:solidFill>
              </a:rPr>
              <a:t>?”</a:t>
            </a:r>
            <a:endParaRPr lang="en-US" dirty="0">
              <a:solidFill>
                <a:srgbClr val="00B0F0"/>
              </a:solidFill>
            </a:endParaRPr>
          </a:p>
        </p:txBody>
      </p:sp>
      <p:sp>
        <p:nvSpPr>
          <p:cNvPr id="3" name="Content Placeholder 2">
            <a:extLst>
              <a:ext uri="{FF2B5EF4-FFF2-40B4-BE49-F238E27FC236}">
                <a16:creationId xmlns:a16="http://schemas.microsoft.com/office/drawing/2014/main" id="{0A24CF10-6514-6002-4F5E-83AB00BEBC35}"/>
              </a:ext>
            </a:extLst>
          </p:cNvPr>
          <p:cNvSpPr>
            <a:spLocks noGrp="1"/>
          </p:cNvSpPr>
          <p:nvPr>
            <p:ph idx="1"/>
          </p:nvPr>
        </p:nvSpPr>
        <p:spPr/>
        <p:txBody>
          <a:bodyPr/>
          <a:lstStyle/>
          <a:p>
            <a:r>
              <a:rPr lang="id" dirty="0"/>
              <a:t>Mengungkap tipe-tipe data dari setiap kolom</a:t>
            </a:r>
            <a:endParaRPr lang="en-US" dirty="0"/>
          </a:p>
          <a:p>
            <a:pPr lvl="1"/>
            <a:r>
              <a:rPr lang="en-US" b="1" dirty="0" err="1"/>
              <a:t>mengetahui</a:t>
            </a:r>
            <a:r>
              <a:rPr lang="en-US" b="1" dirty="0"/>
              <a:t> </a:t>
            </a:r>
            <a:r>
              <a:rPr lang="en-US" b="1" dirty="0" err="1"/>
              <a:t>karakteristik</a:t>
            </a:r>
            <a:r>
              <a:rPr lang="en-US" b="1" dirty="0"/>
              <a:t> </a:t>
            </a:r>
            <a:r>
              <a:rPr lang="en-US" b="1" dirty="0" err="1"/>
              <a:t>setiap</a:t>
            </a:r>
            <a:r>
              <a:rPr lang="en-US" b="1" dirty="0"/>
              <a:t> </a:t>
            </a:r>
            <a:r>
              <a:rPr lang="en-US" b="1" dirty="0" err="1"/>
              <a:t>variabel</a:t>
            </a:r>
            <a:r>
              <a:rPr lang="en-US" b="1" dirty="0"/>
              <a:t> </a:t>
            </a:r>
            <a:r>
              <a:rPr lang="en-US" b="1" dirty="0" err="1"/>
              <a:t>sebelum</a:t>
            </a:r>
            <a:r>
              <a:rPr lang="en-US" b="1" dirty="0"/>
              <a:t> </a:t>
            </a:r>
            <a:r>
              <a:rPr lang="en-US" b="1" dirty="0" err="1"/>
              <a:t>dianalisis</a:t>
            </a:r>
            <a:r>
              <a:rPr lang="en-US" b="1" dirty="0"/>
              <a:t> </a:t>
            </a:r>
            <a:r>
              <a:rPr lang="en-US" b="1" dirty="0" err="1"/>
              <a:t>lebih</a:t>
            </a:r>
            <a:r>
              <a:rPr lang="en-US" b="1" dirty="0"/>
              <a:t> </a:t>
            </a:r>
            <a:r>
              <a:rPr lang="en-US" b="1" dirty="0" err="1"/>
              <a:t>lanjut</a:t>
            </a:r>
            <a:r>
              <a:rPr lang="en-US" dirty="0"/>
              <a:t>.</a:t>
            </a:r>
          </a:p>
        </p:txBody>
      </p:sp>
      <p:pic>
        <p:nvPicPr>
          <p:cNvPr id="5" name="Google Shape;712;p91">
            <a:extLst>
              <a:ext uri="{FF2B5EF4-FFF2-40B4-BE49-F238E27FC236}">
                <a16:creationId xmlns:a16="http://schemas.microsoft.com/office/drawing/2014/main" id="{9FD343BB-654E-E803-566A-71B1BDF88216}"/>
              </a:ext>
            </a:extLst>
          </p:cNvPr>
          <p:cNvPicPr preferRelativeResize="0"/>
          <p:nvPr/>
        </p:nvPicPr>
        <p:blipFill rotWithShape="1">
          <a:blip r:embed="rId2">
            <a:alphaModFix/>
          </a:blip>
          <a:srcRect l="21172"/>
          <a:stretch/>
        </p:blipFill>
        <p:spPr>
          <a:xfrm>
            <a:off x="3169445" y="2619105"/>
            <a:ext cx="1952353" cy="3673158"/>
          </a:xfrm>
          <a:prstGeom prst="rect">
            <a:avLst/>
          </a:prstGeom>
          <a:noFill/>
          <a:ln>
            <a:noFill/>
          </a:ln>
        </p:spPr>
      </p:pic>
      <p:pic>
        <p:nvPicPr>
          <p:cNvPr id="7" name="Google Shape;716;p91">
            <a:extLst>
              <a:ext uri="{FF2B5EF4-FFF2-40B4-BE49-F238E27FC236}">
                <a16:creationId xmlns:a16="http://schemas.microsoft.com/office/drawing/2014/main" id="{7B207F63-285A-9368-D8C7-5E39723B19BF}"/>
              </a:ext>
            </a:extLst>
          </p:cNvPr>
          <p:cNvPicPr preferRelativeResize="0"/>
          <p:nvPr/>
        </p:nvPicPr>
        <p:blipFill rotWithShape="1">
          <a:blip r:embed="rId3">
            <a:alphaModFix/>
          </a:blip>
          <a:srcRect l="6228" r="51140" b="16235"/>
          <a:stretch/>
        </p:blipFill>
        <p:spPr>
          <a:xfrm>
            <a:off x="5545069" y="2619105"/>
            <a:ext cx="3608957" cy="3673158"/>
          </a:xfrm>
          <a:prstGeom prst="rect">
            <a:avLst/>
          </a:prstGeom>
          <a:noFill/>
          <a:ln>
            <a:noFill/>
          </a:ln>
        </p:spPr>
      </p:pic>
    </p:spTree>
    <p:extLst>
      <p:ext uri="{BB962C8B-B14F-4D97-AF65-F5344CB8AC3E}">
        <p14:creationId xmlns:p14="http://schemas.microsoft.com/office/powerpoint/2010/main" val="8861183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2D1DC-D93A-D07B-4F0A-F15D2A2B5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97983-D7DF-5650-E471-62E4D753BA52}"/>
              </a:ext>
            </a:extLst>
          </p:cNvPr>
          <p:cNvSpPr>
            <a:spLocks noGrp="1"/>
          </p:cNvSpPr>
          <p:nvPr>
            <p:ph type="title"/>
          </p:nvPr>
        </p:nvSpPr>
        <p:spPr>
          <a:xfrm>
            <a:off x="838200" y="365125"/>
            <a:ext cx="10515600" cy="1460500"/>
          </a:xfrm>
        </p:spPr>
        <p:txBody>
          <a:bodyPr>
            <a:normAutofit/>
          </a:bodyPr>
          <a:lstStyle/>
          <a:p>
            <a:r>
              <a:rPr lang="id" dirty="0"/>
              <a:t>Telaah Data</a:t>
            </a:r>
            <a:r>
              <a:rPr lang="en-US" dirty="0"/>
              <a:t> </a:t>
            </a:r>
            <a:r>
              <a:rPr lang="en-US" sz="2800" dirty="0"/>
              <a:t>(Teknis)</a:t>
            </a:r>
            <a:br>
              <a:rPr lang="en-US" sz="2800" dirty="0"/>
            </a:br>
            <a:r>
              <a:rPr lang="en-US" sz="2800" dirty="0">
                <a:solidFill>
                  <a:srgbClr val="00B0F0"/>
                </a:solidFill>
              </a:rPr>
              <a:t>“Data yang </a:t>
            </a:r>
            <a:r>
              <a:rPr lang="en-US" sz="2800" dirty="0" err="1">
                <a:solidFill>
                  <a:srgbClr val="00B0F0"/>
                </a:solidFill>
              </a:rPr>
              <a:t>kita</a:t>
            </a:r>
            <a:r>
              <a:rPr lang="en-US" sz="2800" dirty="0">
                <a:solidFill>
                  <a:srgbClr val="00B0F0"/>
                </a:solidFill>
              </a:rPr>
              <a:t> </a:t>
            </a:r>
            <a:r>
              <a:rPr lang="en-US" sz="2800" dirty="0" err="1">
                <a:solidFill>
                  <a:srgbClr val="00B0F0"/>
                </a:solidFill>
              </a:rPr>
              <a:t>miliki</a:t>
            </a:r>
            <a:r>
              <a:rPr lang="en-US" sz="2800" dirty="0">
                <a:solidFill>
                  <a:srgbClr val="00B0F0"/>
                </a:solidFill>
              </a:rPr>
              <a:t> </a:t>
            </a:r>
            <a:r>
              <a:rPr lang="en-US" sz="2800" dirty="0" err="1">
                <a:solidFill>
                  <a:srgbClr val="00B0F0"/>
                </a:solidFill>
              </a:rPr>
              <a:t>ini</a:t>
            </a:r>
            <a:r>
              <a:rPr lang="en-US" sz="2800" dirty="0">
                <a:solidFill>
                  <a:srgbClr val="00B0F0"/>
                </a:solidFill>
              </a:rPr>
              <a:t> </a:t>
            </a:r>
            <a:r>
              <a:rPr lang="en-US" sz="2800" dirty="0" err="1">
                <a:solidFill>
                  <a:srgbClr val="00B0F0"/>
                </a:solidFill>
              </a:rPr>
              <a:t>sebenarnya</a:t>
            </a:r>
            <a:r>
              <a:rPr lang="en-US" sz="2800" dirty="0">
                <a:solidFill>
                  <a:srgbClr val="00B0F0"/>
                </a:solidFill>
              </a:rPr>
              <a:t> </a:t>
            </a:r>
            <a:r>
              <a:rPr lang="en-US" sz="2800" dirty="0" err="1">
                <a:solidFill>
                  <a:srgbClr val="00B0F0"/>
                </a:solidFill>
              </a:rPr>
              <a:t>seperti</a:t>
            </a:r>
            <a:r>
              <a:rPr lang="en-US" sz="2800" dirty="0">
                <a:solidFill>
                  <a:srgbClr val="00B0F0"/>
                </a:solidFill>
              </a:rPr>
              <a:t> </a:t>
            </a:r>
            <a:r>
              <a:rPr lang="en-US" sz="2800" dirty="0" err="1">
                <a:solidFill>
                  <a:srgbClr val="00B0F0"/>
                </a:solidFill>
              </a:rPr>
              <a:t>apa</a:t>
            </a:r>
            <a:r>
              <a:rPr lang="en-US" sz="2800" dirty="0">
                <a:solidFill>
                  <a:srgbClr val="00B0F0"/>
                </a:solidFill>
              </a:rPr>
              <a:t>?”</a:t>
            </a:r>
            <a:endParaRPr lang="en-US" dirty="0">
              <a:solidFill>
                <a:srgbClr val="00B0F0"/>
              </a:solidFill>
            </a:endParaRPr>
          </a:p>
        </p:txBody>
      </p:sp>
      <p:sp>
        <p:nvSpPr>
          <p:cNvPr id="3" name="Content Placeholder 2">
            <a:extLst>
              <a:ext uri="{FF2B5EF4-FFF2-40B4-BE49-F238E27FC236}">
                <a16:creationId xmlns:a16="http://schemas.microsoft.com/office/drawing/2014/main" id="{175AEF8B-6E5E-21FA-2889-13B5D2A3BC24}"/>
              </a:ext>
            </a:extLst>
          </p:cNvPr>
          <p:cNvSpPr>
            <a:spLocks noGrp="1"/>
          </p:cNvSpPr>
          <p:nvPr>
            <p:ph idx="1"/>
          </p:nvPr>
        </p:nvSpPr>
        <p:spPr>
          <a:xfrm>
            <a:off x="438911" y="1825625"/>
            <a:ext cx="5056695" cy="4351338"/>
          </a:xfrm>
        </p:spPr>
        <p:txBody>
          <a:bodyPr/>
          <a:lstStyle/>
          <a:p>
            <a:r>
              <a:rPr lang="id" dirty="0"/>
              <a:t>Mengungkap tipe-tipe data dari setiap kolom</a:t>
            </a:r>
            <a:endParaRPr lang="en-US" dirty="0"/>
          </a:p>
          <a:p>
            <a:pPr lvl="1"/>
            <a:r>
              <a:rPr lang="en-US" dirty="0" err="1"/>
              <a:t>mengetahui</a:t>
            </a:r>
            <a:r>
              <a:rPr lang="en-US" dirty="0"/>
              <a:t> </a:t>
            </a:r>
            <a:r>
              <a:rPr lang="en-US" dirty="0" err="1"/>
              <a:t>karakteristik</a:t>
            </a:r>
            <a:r>
              <a:rPr lang="en-US" dirty="0"/>
              <a:t> </a:t>
            </a:r>
            <a:r>
              <a:rPr lang="en-US" dirty="0" err="1"/>
              <a:t>setiap</a:t>
            </a:r>
            <a:r>
              <a:rPr lang="en-US" dirty="0"/>
              <a:t> </a:t>
            </a:r>
            <a:r>
              <a:rPr lang="en-US" dirty="0" err="1"/>
              <a:t>variabel</a:t>
            </a:r>
            <a:r>
              <a:rPr lang="en-US" dirty="0"/>
              <a:t> </a:t>
            </a:r>
            <a:r>
              <a:rPr lang="en-US" dirty="0" err="1"/>
              <a:t>sebelum</a:t>
            </a:r>
            <a:r>
              <a:rPr lang="en-US" dirty="0"/>
              <a:t> </a:t>
            </a:r>
            <a:r>
              <a:rPr lang="en-US" dirty="0" err="1"/>
              <a:t>dianalisis</a:t>
            </a:r>
            <a:r>
              <a:rPr lang="en-US" dirty="0"/>
              <a:t> </a:t>
            </a:r>
            <a:r>
              <a:rPr lang="en-US" dirty="0" err="1"/>
              <a:t>lebih</a:t>
            </a:r>
            <a:r>
              <a:rPr lang="en-US" dirty="0"/>
              <a:t> </a:t>
            </a:r>
            <a:r>
              <a:rPr lang="en-US" dirty="0" err="1"/>
              <a:t>lanjut</a:t>
            </a:r>
            <a:r>
              <a:rPr lang="en-US" dirty="0"/>
              <a:t>.</a:t>
            </a:r>
          </a:p>
          <a:p>
            <a:pPr lvl="1"/>
            <a:r>
              <a:rPr lang="en-US" strike="sngStrike" dirty="0">
                <a:solidFill>
                  <a:srgbClr val="FF0000"/>
                </a:solidFill>
              </a:rPr>
              <a:t>“</a:t>
            </a:r>
            <a:r>
              <a:rPr lang="en-US" strike="sngStrike" dirty="0" err="1">
                <a:solidFill>
                  <a:srgbClr val="FF0000"/>
                </a:solidFill>
              </a:rPr>
              <a:t>Kolomnya</a:t>
            </a:r>
            <a:r>
              <a:rPr lang="en-US" strike="sngStrike" dirty="0">
                <a:solidFill>
                  <a:srgbClr val="FF0000"/>
                </a:solidFill>
              </a:rPr>
              <a:t> </a:t>
            </a:r>
            <a:r>
              <a:rPr lang="en-US" strike="sngStrike" dirty="0" err="1">
                <a:solidFill>
                  <a:srgbClr val="FF0000"/>
                </a:solidFill>
              </a:rPr>
              <a:t>apa</a:t>
            </a:r>
            <a:r>
              <a:rPr lang="en-US" strike="sngStrike" dirty="0">
                <a:solidFill>
                  <a:srgbClr val="FF0000"/>
                </a:solidFill>
              </a:rPr>
              <a:t> </a:t>
            </a:r>
            <a:r>
              <a:rPr lang="en-US" strike="sngStrike" dirty="0" err="1">
                <a:solidFill>
                  <a:srgbClr val="FF0000"/>
                </a:solidFill>
              </a:rPr>
              <a:t>saja</a:t>
            </a:r>
            <a:r>
              <a:rPr lang="en-US" strike="sngStrike" dirty="0">
                <a:solidFill>
                  <a:srgbClr val="FF0000"/>
                </a:solidFill>
              </a:rPr>
              <a:t>?”</a:t>
            </a:r>
          </a:p>
          <a:p>
            <a:pPr lvl="1"/>
            <a:r>
              <a:rPr lang="en-US" dirty="0">
                <a:solidFill>
                  <a:srgbClr val="00B050"/>
                </a:solidFill>
              </a:rPr>
              <a:t>“Kolom </a:t>
            </a:r>
            <a:r>
              <a:rPr lang="en-US" dirty="0" err="1">
                <a:solidFill>
                  <a:srgbClr val="00B050"/>
                </a:solidFill>
              </a:rPr>
              <a:t>ini</a:t>
            </a:r>
            <a:r>
              <a:rPr lang="en-US" dirty="0">
                <a:solidFill>
                  <a:srgbClr val="00B050"/>
                </a:solidFill>
              </a:rPr>
              <a:t> </a:t>
            </a:r>
            <a:r>
              <a:rPr lang="en-US" dirty="0" err="1">
                <a:solidFill>
                  <a:srgbClr val="00B050"/>
                </a:solidFill>
              </a:rPr>
              <a:t>merepresentasikan</a:t>
            </a:r>
            <a:r>
              <a:rPr lang="en-US" dirty="0">
                <a:solidFill>
                  <a:srgbClr val="00B050"/>
                </a:solidFill>
              </a:rPr>
              <a:t> </a:t>
            </a:r>
            <a:r>
              <a:rPr lang="en-US" dirty="0" err="1">
                <a:solidFill>
                  <a:srgbClr val="00B050"/>
                </a:solidFill>
              </a:rPr>
              <a:t>apa</a:t>
            </a:r>
            <a:r>
              <a:rPr lang="en-US" dirty="0">
                <a:solidFill>
                  <a:srgbClr val="00B050"/>
                </a:solidFill>
              </a:rPr>
              <a:t> </a:t>
            </a:r>
            <a:r>
              <a:rPr lang="en-US" dirty="0"/>
              <a:t>dan </a:t>
            </a:r>
            <a:r>
              <a:rPr lang="en-US" dirty="0" err="1"/>
              <a:t>termasuk</a:t>
            </a:r>
            <a:r>
              <a:rPr lang="en-US" dirty="0"/>
              <a:t> </a:t>
            </a:r>
            <a:r>
              <a:rPr lang="en-US" dirty="0" err="1"/>
              <a:t>tipe</a:t>
            </a:r>
            <a:r>
              <a:rPr lang="en-US" dirty="0"/>
              <a:t> data </a:t>
            </a:r>
            <a:r>
              <a:rPr lang="en-US" dirty="0" err="1"/>
              <a:t>apa</a:t>
            </a:r>
            <a:r>
              <a:rPr lang="en-US" dirty="0"/>
              <a:t>?”</a:t>
            </a:r>
          </a:p>
        </p:txBody>
      </p:sp>
      <p:pic>
        <p:nvPicPr>
          <p:cNvPr id="5" name="Google Shape;712;p91">
            <a:extLst>
              <a:ext uri="{FF2B5EF4-FFF2-40B4-BE49-F238E27FC236}">
                <a16:creationId xmlns:a16="http://schemas.microsoft.com/office/drawing/2014/main" id="{ADF51DA6-4BFF-D65F-8018-9878229B7192}"/>
              </a:ext>
            </a:extLst>
          </p:cNvPr>
          <p:cNvPicPr preferRelativeResize="0"/>
          <p:nvPr/>
        </p:nvPicPr>
        <p:blipFill rotWithShape="1">
          <a:blip r:embed="rId3">
            <a:alphaModFix/>
          </a:blip>
          <a:srcRect l="21172"/>
          <a:stretch/>
        </p:blipFill>
        <p:spPr>
          <a:xfrm>
            <a:off x="5766341" y="2164715"/>
            <a:ext cx="1952353" cy="3673158"/>
          </a:xfrm>
          <a:prstGeom prst="rect">
            <a:avLst/>
          </a:prstGeom>
          <a:noFill/>
          <a:ln>
            <a:noFill/>
          </a:ln>
        </p:spPr>
      </p:pic>
      <p:pic>
        <p:nvPicPr>
          <p:cNvPr id="7" name="Google Shape;716;p91">
            <a:extLst>
              <a:ext uri="{FF2B5EF4-FFF2-40B4-BE49-F238E27FC236}">
                <a16:creationId xmlns:a16="http://schemas.microsoft.com/office/drawing/2014/main" id="{1F854407-DBF2-E10F-488F-A7A270A4BA1A}"/>
              </a:ext>
            </a:extLst>
          </p:cNvPr>
          <p:cNvPicPr preferRelativeResize="0"/>
          <p:nvPr/>
        </p:nvPicPr>
        <p:blipFill rotWithShape="1">
          <a:blip r:embed="rId4">
            <a:alphaModFix/>
          </a:blip>
          <a:srcRect l="6228" r="51140" b="16235"/>
          <a:stretch/>
        </p:blipFill>
        <p:spPr>
          <a:xfrm>
            <a:off x="7989428" y="2164715"/>
            <a:ext cx="3608957" cy="3673158"/>
          </a:xfrm>
          <a:prstGeom prst="rect">
            <a:avLst/>
          </a:prstGeom>
          <a:noFill/>
          <a:ln>
            <a:noFill/>
          </a:ln>
        </p:spPr>
      </p:pic>
    </p:spTree>
    <p:extLst>
      <p:ext uri="{BB962C8B-B14F-4D97-AF65-F5344CB8AC3E}">
        <p14:creationId xmlns:p14="http://schemas.microsoft.com/office/powerpoint/2010/main" val="19205047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9EDEF-E7D1-7CD2-8BE0-372E5F2947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519499-6E86-2B21-A7ED-B89FFB4618E7}"/>
              </a:ext>
            </a:extLst>
          </p:cNvPr>
          <p:cNvSpPr>
            <a:spLocks noGrp="1"/>
          </p:cNvSpPr>
          <p:nvPr>
            <p:ph idx="1"/>
          </p:nvPr>
        </p:nvSpPr>
        <p:spPr>
          <a:xfrm>
            <a:off x="402336" y="1825625"/>
            <a:ext cx="11509248" cy="4351338"/>
          </a:xfrm>
        </p:spPr>
        <p:txBody>
          <a:bodyPr/>
          <a:lstStyle/>
          <a:p>
            <a:r>
              <a:rPr lang="id" dirty="0"/>
              <a:t>Deskripsi statistik data</a:t>
            </a:r>
            <a:endParaRPr lang="en-US" dirty="0"/>
          </a:p>
          <a:p>
            <a:pPr lvl="1"/>
            <a:r>
              <a:rPr lang="en-US" b="1" dirty="0" err="1"/>
              <a:t>mendapatkan</a:t>
            </a:r>
            <a:r>
              <a:rPr lang="en-US" b="1" dirty="0"/>
              <a:t> </a:t>
            </a:r>
            <a:r>
              <a:rPr lang="en-US" b="1" dirty="0" err="1"/>
              <a:t>gambaran</a:t>
            </a:r>
            <a:r>
              <a:rPr lang="en-US" b="1" dirty="0"/>
              <a:t> </a:t>
            </a:r>
            <a:r>
              <a:rPr lang="en-US" b="1" dirty="0" err="1"/>
              <a:t>umum</a:t>
            </a:r>
            <a:r>
              <a:rPr lang="en-US" b="1" dirty="0"/>
              <a:t> </a:t>
            </a:r>
            <a:r>
              <a:rPr lang="en-US" b="1" dirty="0" err="1"/>
              <a:t>tentang</a:t>
            </a:r>
            <a:r>
              <a:rPr lang="en-US" b="1" dirty="0"/>
              <a:t> </a:t>
            </a:r>
            <a:r>
              <a:rPr lang="en-US" b="1" dirty="0" err="1"/>
              <a:t>distribusi</a:t>
            </a:r>
            <a:r>
              <a:rPr lang="en-US" b="1" dirty="0"/>
              <a:t> dan </a:t>
            </a:r>
            <a:r>
              <a:rPr lang="en-US" b="1" dirty="0" err="1"/>
              <a:t>karakteristik</a:t>
            </a:r>
            <a:r>
              <a:rPr lang="en-US" b="1" dirty="0"/>
              <a:t> data </a:t>
            </a:r>
            <a:r>
              <a:rPr lang="en-US" b="1" dirty="0" err="1"/>
              <a:t>numerik</a:t>
            </a:r>
            <a:r>
              <a:rPr lang="en-US" dirty="0"/>
              <a:t>.</a:t>
            </a:r>
          </a:p>
          <a:p>
            <a:pPr lvl="1"/>
            <a:r>
              <a:rPr lang="en-US" dirty="0" err="1"/>
              <a:t>menemukan</a:t>
            </a:r>
            <a:r>
              <a:rPr lang="en-US" dirty="0"/>
              <a:t> </a:t>
            </a:r>
            <a:r>
              <a:rPr lang="en-US" b="1" dirty="0" err="1"/>
              <a:t>indikasi</a:t>
            </a:r>
            <a:r>
              <a:rPr lang="en-US" b="1" dirty="0"/>
              <a:t> </a:t>
            </a:r>
            <a:r>
              <a:rPr lang="en-US" b="1" dirty="0" err="1"/>
              <a:t>awal</a:t>
            </a:r>
            <a:r>
              <a:rPr lang="en-US" b="1" dirty="0"/>
              <a:t> </a:t>
            </a:r>
            <a:r>
              <a:rPr lang="en-US" b="1" dirty="0" err="1"/>
              <a:t>masalah</a:t>
            </a:r>
            <a:r>
              <a:rPr lang="en-US" b="1" dirty="0"/>
              <a:t> </a:t>
            </a:r>
            <a:r>
              <a:rPr lang="en-US" b="1" dirty="0" err="1"/>
              <a:t>dalam</a:t>
            </a:r>
            <a:r>
              <a:rPr lang="en-US" b="1" dirty="0"/>
              <a:t> data</a:t>
            </a:r>
            <a:r>
              <a:rPr lang="en-US" dirty="0"/>
              <a:t>.</a:t>
            </a:r>
          </a:p>
        </p:txBody>
      </p:sp>
      <p:pic>
        <p:nvPicPr>
          <p:cNvPr id="6" name="Google Shape;724;p92">
            <a:extLst>
              <a:ext uri="{FF2B5EF4-FFF2-40B4-BE49-F238E27FC236}">
                <a16:creationId xmlns:a16="http://schemas.microsoft.com/office/drawing/2014/main" id="{D5010776-A198-4054-79B8-09B2B5BDD1DA}"/>
              </a:ext>
            </a:extLst>
          </p:cNvPr>
          <p:cNvPicPr preferRelativeResize="0"/>
          <p:nvPr/>
        </p:nvPicPr>
        <p:blipFill rotWithShape="1">
          <a:blip r:embed="rId3">
            <a:alphaModFix/>
          </a:blip>
          <a:srcRect r="5962"/>
          <a:stretch/>
        </p:blipFill>
        <p:spPr>
          <a:xfrm>
            <a:off x="1237568" y="3075916"/>
            <a:ext cx="9381664" cy="3239540"/>
          </a:xfrm>
          <a:prstGeom prst="rect">
            <a:avLst/>
          </a:prstGeom>
          <a:noFill/>
          <a:ln>
            <a:noFill/>
          </a:ln>
        </p:spPr>
      </p:pic>
      <p:sp>
        <p:nvSpPr>
          <p:cNvPr id="11" name="Title 1">
            <a:extLst>
              <a:ext uri="{FF2B5EF4-FFF2-40B4-BE49-F238E27FC236}">
                <a16:creationId xmlns:a16="http://schemas.microsoft.com/office/drawing/2014/main" id="{5AAD15A8-D27C-6A90-957C-0C1602CD2442}"/>
              </a:ext>
            </a:extLst>
          </p:cNvPr>
          <p:cNvSpPr>
            <a:spLocks noGrp="1"/>
          </p:cNvSpPr>
          <p:nvPr>
            <p:ph type="title"/>
          </p:nvPr>
        </p:nvSpPr>
        <p:spPr>
          <a:xfrm>
            <a:off x="838200" y="365125"/>
            <a:ext cx="10515600" cy="1460500"/>
          </a:xfrm>
        </p:spPr>
        <p:txBody>
          <a:bodyPr>
            <a:normAutofit/>
          </a:bodyPr>
          <a:lstStyle/>
          <a:p>
            <a:r>
              <a:rPr lang="id" dirty="0"/>
              <a:t>Telaah Data</a:t>
            </a:r>
            <a:r>
              <a:rPr lang="en-US" dirty="0"/>
              <a:t> </a:t>
            </a:r>
            <a:r>
              <a:rPr lang="en-US" sz="2800" dirty="0"/>
              <a:t>(Teknis)</a:t>
            </a:r>
            <a:br>
              <a:rPr lang="en-US" sz="2800" dirty="0"/>
            </a:br>
            <a:r>
              <a:rPr lang="en-US" sz="2800" dirty="0">
                <a:solidFill>
                  <a:srgbClr val="00B0F0"/>
                </a:solidFill>
              </a:rPr>
              <a:t>“Data yang </a:t>
            </a:r>
            <a:r>
              <a:rPr lang="en-US" sz="2800" dirty="0" err="1">
                <a:solidFill>
                  <a:srgbClr val="00B0F0"/>
                </a:solidFill>
              </a:rPr>
              <a:t>kita</a:t>
            </a:r>
            <a:r>
              <a:rPr lang="en-US" sz="2800" dirty="0">
                <a:solidFill>
                  <a:srgbClr val="00B0F0"/>
                </a:solidFill>
              </a:rPr>
              <a:t> </a:t>
            </a:r>
            <a:r>
              <a:rPr lang="en-US" sz="2800" dirty="0" err="1">
                <a:solidFill>
                  <a:srgbClr val="00B0F0"/>
                </a:solidFill>
              </a:rPr>
              <a:t>miliki</a:t>
            </a:r>
            <a:r>
              <a:rPr lang="en-US" sz="2800" dirty="0">
                <a:solidFill>
                  <a:srgbClr val="00B0F0"/>
                </a:solidFill>
              </a:rPr>
              <a:t> </a:t>
            </a:r>
            <a:r>
              <a:rPr lang="en-US" sz="2800" dirty="0" err="1">
                <a:solidFill>
                  <a:srgbClr val="00B0F0"/>
                </a:solidFill>
              </a:rPr>
              <a:t>ini</a:t>
            </a:r>
            <a:r>
              <a:rPr lang="en-US" sz="2800" dirty="0">
                <a:solidFill>
                  <a:srgbClr val="00B0F0"/>
                </a:solidFill>
              </a:rPr>
              <a:t> </a:t>
            </a:r>
            <a:r>
              <a:rPr lang="en-US" sz="2800" dirty="0" err="1">
                <a:solidFill>
                  <a:srgbClr val="00B0F0"/>
                </a:solidFill>
              </a:rPr>
              <a:t>sebenarnya</a:t>
            </a:r>
            <a:r>
              <a:rPr lang="en-US" sz="2800" dirty="0">
                <a:solidFill>
                  <a:srgbClr val="00B0F0"/>
                </a:solidFill>
              </a:rPr>
              <a:t> </a:t>
            </a:r>
            <a:r>
              <a:rPr lang="en-US" sz="2800" dirty="0" err="1">
                <a:solidFill>
                  <a:srgbClr val="00B0F0"/>
                </a:solidFill>
              </a:rPr>
              <a:t>seperti</a:t>
            </a:r>
            <a:r>
              <a:rPr lang="en-US" sz="2800" dirty="0">
                <a:solidFill>
                  <a:srgbClr val="00B0F0"/>
                </a:solidFill>
              </a:rPr>
              <a:t> </a:t>
            </a:r>
            <a:r>
              <a:rPr lang="en-US" sz="2800" dirty="0" err="1">
                <a:solidFill>
                  <a:srgbClr val="00B0F0"/>
                </a:solidFill>
              </a:rPr>
              <a:t>apa</a:t>
            </a:r>
            <a:r>
              <a:rPr lang="en-US" sz="2800" dirty="0">
                <a:solidFill>
                  <a:srgbClr val="00B0F0"/>
                </a:solidFill>
              </a:rPr>
              <a:t>?”</a:t>
            </a:r>
            <a:endParaRPr lang="en-US" dirty="0">
              <a:solidFill>
                <a:srgbClr val="00B0F0"/>
              </a:solidFill>
            </a:endParaRPr>
          </a:p>
        </p:txBody>
      </p:sp>
    </p:spTree>
    <p:extLst>
      <p:ext uri="{BB962C8B-B14F-4D97-AF65-F5344CB8AC3E}">
        <p14:creationId xmlns:p14="http://schemas.microsoft.com/office/powerpoint/2010/main" val="3435611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3CED8-6B14-1379-E704-DF79F525B1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1867BB-B2D7-F28B-05AE-9B5544F17A9A}"/>
              </a:ext>
            </a:extLst>
          </p:cNvPr>
          <p:cNvSpPr>
            <a:spLocks noGrp="1"/>
          </p:cNvSpPr>
          <p:nvPr>
            <p:ph idx="1"/>
          </p:nvPr>
        </p:nvSpPr>
        <p:spPr/>
        <p:txBody>
          <a:bodyPr/>
          <a:lstStyle/>
          <a:p>
            <a:r>
              <a:rPr lang="id" dirty="0"/>
              <a:t>Korelasi Pearson antara kolom-kolom numerik</a:t>
            </a:r>
            <a:endParaRPr lang="en-US" dirty="0"/>
          </a:p>
          <a:p>
            <a:pPr lvl="1"/>
            <a:r>
              <a:rPr lang="en-US" dirty="0"/>
              <a:t>“</a:t>
            </a:r>
            <a:r>
              <a:rPr lang="en-US" dirty="0" err="1"/>
              <a:t>Apakah</a:t>
            </a:r>
            <a:r>
              <a:rPr lang="en-US" dirty="0"/>
              <a:t> </a:t>
            </a:r>
            <a:r>
              <a:rPr lang="en-US" dirty="0" err="1"/>
              <a:t>ada</a:t>
            </a:r>
            <a:r>
              <a:rPr lang="en-US" dirty="0"/>
              <a:t> </a:t>
            </a:r>
            <a:r>
              <a:rPr lang="en-US" dirty="0" err="1"/>
              <a:t>hubungan</a:t>
            </a:r>
            <a:r>
              <a:rPr lang="en-US" dirty="0"/>
              <a:t> </a:t>
            </a:r>
            <a:r>
              <a:rPr lang="en-US" dirty="0" err="1"/>
              <a:t>antara</a:t>
            </a:r>
            <a:r>
              <a:rPr lang="en-US" dirty="0"/>
              <a:t> </a:t>
            </a:r>
            <a:r>
              <a:rPr lang="en-US" dirty="0" err="1"/>
              <a:t>satu</a:t>
            </a:r>
            <a:r>
              <a:rPr lang="en-US" dirty="0"/>
              <a:t> </a:t>
            </a:r>
            <a:r>
              <a:rPr lang="en-US" dirty="0" err="1"/>
              <a:t>variabel</a:t>
            </a:r>
            <a:r>
              <a:rPr lang="en-US" dirty="0"/>
              <a:t> </a:t>
            </a:r>
            <a:r>
              <a:rPr lang="en-US" dirty="0" err="1"/>
              <a:t>dengan</a:t>
            </a:r>
            <a:r>
              <a:rPr lang="en-US" dirty="0"/>
              <a:t> </a:t>
            </a:r>
            <a:r>
              <a:rPr lang="en-US" dirty="0" err="1"/>
              <a:t>variabel</a:t>
            </a:r>
            <a:r>
              <a:rPr lang="en-US" dirty="0"/>
              <a:t> </a:t>
            </a:r>
            <a:r>
              <a:rPr lang="en-US" dirty="0" err="1"/>
              <a:t>lainnya</a:t>
            </a:r>
            <a:r>
              <a:rPr lang="en-US" dirty="0"/>
              <a:t>?”</a:t>
            </a:r>
          </a:p>
        </p:txBody>
      </p:sp>
      <p:pic>
        <p:nvPicPr>
          <p:cNvPr id="5" name="Google Shape;844;p107">
            <a:extLst>
              <a:ext uri="{FF2B5EF4-FFF2-40B4-BE49-F238E27FC236}">
                <a16:creationId xmlns:a16="http://schemas.microsoft.com/office/drawing/2014/main" id="{76BDAB54-C3A9-8CD6-498C-4EFAD16756CC}"/>
              </a:ext>
            </a:extLst>
          </p:cNvPr>
          <p:cNvPicPr preferRelativeResize="0"/>
          <p:nvPr/>
        </p:nvPicPr>
        <p:blipFill rotWithShape="1">
          <a:blip r:embed="rId3">
            <a:alphaModFix/>
          </a:blip>
          <a:srcRect/>
          <a:stretch/>
        </p:blipFill>
        <p:spPr>
          <a:xfrm>
            <a:off x="231648" y="2823549"/>
            <a:ext cx="8761820" cy="3648149"/>
          </a:xfrm>
          <a:prstGeom prst="rect">
            <a:avLst/>
          </a:prstGeom>
          <a:noFill/>
          <a:ln>
            <a:noFill/>
          </a:ln>
        </p:spPr>
      </p:pic>
      <p:sp>
        <p:nvSpPr>
          <p:cNvPr id="8" name="Title 1">
            <a:extLst>
              <a:ext uri="{FF2B5EF4-FFF2-40B4-BE49-F238E27FC236}">
                <a16:creationId xmlns:a16="http://schemas.microsoft.com/office/drawing/2014/main" id="{D8C76DD1-2E0F-9201-2F67-9827C1240475}"/>
              </a:ext>
            </a:extLst>
          </p:cNvPr>
          <p:cNvSpPr>
            <a:spLocks noGrp="1"/>
          </p:cNvSpPr>
          <p:nvPr>
            <p:ph type="title"/>
          </p:nvPr>
        </p:nvSpPr>
        <p:spPr>
          <a:xfrm>
            <a:off x="838200" y="365125"/>
            <a:ext cx="10515600" cy="1460500"/>
          </a:xfrm>
        </p:spPr>
        <p:txBody>
          <a:bodyPr>
            <a:normAutofit/>
          </a:bodyPr>
          <a:lstStyle/>
          <a:p>
            <a:r>
              <a:rPr lang="id" dirty="0"/>
              <a:t>Telaah Data</a:t>
            </a:r>
            <a:r>
              <a:rPr lang="en-US" dirty="0"/>
              <a:t> </a:t>
            </a:r>
            <a:r>
              <a:rPr lang="en-US" sz="2800" dirty="0"/>
              <a:t>(Teknis)</a:t>
            </a:r>
            <a:br>
              <a:rPr lang="en-US" sz="2800" dirty="0"/>
            </a:br>
            <a:r>
              <a:rPr lang="en-US" sz="2800" dirty="0">
                <a:solidFill>
                  <a:srgbClr val="00B0F0"/>
                </a:solidFill>
              </a:rPr>
              <a:t>“Data yang </a:t>
            </a:r>
            <a:r>
              <a:rPr lang="en-US" sz="2800" dirty="0" err="1">
                <a:solidFill>
                  <a:srgbClr val="00B0F0"/>
                </a:solidFill>
              </a:rPr>
              <a:t>kita</a:t>
            </a:r>
            <a:r>
              <a:rPr lang="en-US" sz="2800" dirty="0">
                <a:solidFill>
                  <a:srgbClr val="00B0F0"/>
                </a:solidFill>
              </a:rPr>
              <a:t> </a:t>
            </a:r>
            <a:r>
              <a:rPr lang="en-US" sz="2800" dirty="0" err="1">
                <a:solidFill>
                  <a:srgbClr val="00B0F0"/>
                </a:solidFill>
              </a:rPr>
              <a:t>miliki</a:t>
            </a:r>
            <a:r>
              <a:rPr lang="en-US" sz="2800" dirty="0">
                <a:solidFill>
                  <a:srgbClr val="00B0F0"/>
                </a:solidFill>
              </a:rPr>
              <a:t> </a:t>
            </a:r>
            <a:r>
              <a:rPr lang="en-US" sz="2800" dirty="0" err="1">
                <a:solidFill>
                  <a:srgbClr val="00B0F0"/>
                </a:solidFill>
              </a:rPr>
              <a:t>ini</a:t>
            </a:r>
            <a:r>
              <a:rPr lang="en-US" sz="2800" dirty="0">
                <a:solidFill>
                  <a:srgbClr val="00B0F0"/>
                </a:solidFill>
              </a:rPr>
              <a:t> </a:t>
            </a:r>
            <a:r>
              <a:rPr lang="en-US" sz="2800" dirty="0" err="1">
                <a:solidFill>
                  <a:srgbClr val="00B0F0"/>
                </a:solidFill>
              </a:rPr>
              <a:t>sebenarnya</a:t>
            </a:r>
            <a:r>
              <a:rPr lang="en-US" sz="2800" dirty="0">
                <a:solidFill>
                  <a:srgbClr val="00B0F0"/>
                </a:solidFill>
              </a:rPr>
              <a:t> </a:t>
            </a:r>
            <a:r>
              <a:rPr lang="en-US" sz="2800" dirty="0" err="1">
                <a:solidFill>
                  <a:srgbClr val="00B0F0"/>
                </a:solidFill>
              </a:rPr>
              <a:t>seperti</a:t>
            </a:r>
            <a:r>
              <a:rPr lang="en-US" sz="2800" dirty="0">
                <a:solidFill>
                  <a:srgbClr val="00B0F0"/>
                </a:solidFill>
              </a:rPr>
              <a:t> </a:t>
            </a:r>
            <a:r>
              <a:rPr lang="en-US" sz="2800" dirty="0" err="1">
                <a:solidFill>
                  <a:srgbClr val="00B0F0"/>
                </a:solidFill>
              </a:rPr>
              <a:t>apa</a:t>
            </a:r>
            <a:r>
              <a:rPr lang="en-US" sz="2800" dirty="0">
                <a:solidFill>
                  <a:srgbClr val="00B0F0"/>
                </a:solidFill>
              </a:rPr>
              <a:t>?”</a:t>
            </a:r>
            <a:endParaRPr lang="en-US" dirty="0">
              <a:solidFill>
                <a:srgbClr val="00B0F0"/>
              </a:solidFill>
            </a:endParaRPr>
          </a:p>
        </p:txBody>
      </p:sp>
      <p:sp>
        <p:nvSpPr>
          <p:cNvPr id="10" name="TextBox 9">
            <a:extLst>
              <a:ext uri="{FF2B5EF4-FFF2-40B4-BE49-F238E27FC236}">
                <a16:creationId xmlns:a16="http://schemas.microsoft.com/office/drawing/2014/main" id="{E2221F62-ABBE-C117-E95A-668E550CBBBD}"/>
              </a:ext>
            </a:extLst>
          </p:cNvPr>
          <p:cNvSpPr txBox="1"/>
          <p:nvPr/>
        </p:nvSpPr>
        <p:spPr>
          <a:xfrm>
            <a:off x="8993468" y="3585794"/>
            <a:ext cx="3198532" cy="2123658"/>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en-US" b="1" dirty="0" err="1"/>
              <a:t>Mendekati</a:t>
            </a:r>
            <a:r>
              <a:rPr lang="en-US" b="1" dirty="0"/>
              <a:t> +1 : </a:t>
            </a:r>
          </a:p>
          <a:p>
            <a:pPr marL="742950" lvl="1" indent="-285750">
              <a:buFont typeface="Arial" panose="020B0604020202020204" pitchFamily="34" charset="0"/>
              <a:buChar char="•"/>
            </a:pPr>
            <a:r>
              <a:rPr lang="en-US" sz="1400" dirty="0" err="1"/>
              <a:t>Hubungan</a:t>
            </a:r>
            <a:r>
              <a:rPr lang="en-US" sz="1400" dirty="0"/>
              <a:t> linear KUAT </a:t>
            </a:r>
            <a:r>
              <a:rPr lang="en-US" sz="1400" dirty="0" err="1"/>
              <a:t>positif</a:t>
            </a:r>
            <a:endParaRPr lang="en-US" sz="1400"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Mendekati</a:t>
            </a:r>
            <a:r>
              <a:rPr lang="en-US" b="1" dirty="0"/>
              <a:t> 0	 :</a:t>
            </a:r>
            <a:r>
              <a:rPr lang="en-US" dirty="0"/>
              <a:t> </a:t>
            </a:r>
          </a:p>
          <a:p>
            <a:pPr marL="742950" lvl="1" indent="-285750">
              <a:buFont typeface="Arial" panose="020B0604020202020204" pitchFamily="34" charset="0"/>
              <a:buChar char="•"/>
            </a:pPr>
            <a:r>
              <a:rPr lang="en-US" sz="1400" dirty="0" err="1"/>
              <a:t>Hubungan</a:t>
            </a:r>
            <a:r>
              <a:rPr lang="en-US" sz="1400" dirty="0"/>
              <a:t> linear LEMAH</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Mendekati</a:t>
            </a:r>
            <a:r>
              <a:rPr lang="en-US" b="1" dirty="0"/>
              <a:t> -1 : </a:t>
            </a:r>
          </a:p>
          <a:p>
            <a:pPr marL="742950" lvl="1" indent="-285750">
              <a:buFont typeface="Arial" panose="020B0604020202020204" pitchFamily="34" charset="0"/>
              <a:buChar char="•"/>
            </a:pPr>
            <a:r>
              <a:rPr lang="en-US" sz="1400" dirty="0" err="1"/>
              <a:t>Hubungan</a:t>
            </a:r>
            <a:r>
              <a:rPr lang="en-US" sz="1400" dirty="0"/>
              <a:t> linear KUAT </a:t>
            </a:r>
            <a:r>
              <a:rPr lang="en-US" sz="1400" dirty="0" err="1"/>
              <a:t>negatif</a:t>
            </a:r>
            <a:endParaRPr lang="en-US" sz="1400" dirty="0"/>
          </a:p>
        </p:txBody>
      </p:sp>
      <p:sp>
        <p:nvSpPr>
          <p:cNvPr id="11" name="Rectangle 10">
            <a:extLst>
              <a:ext uri="{FF2B5EF4-FFF2-40B4-BE49-F238E27FC236}">
                <a16:creationId xmlns:a16="http://schemas.microsoft.com/office/drawing/2014/main" id="{3CE50BA5-4EC1-3B02-D26C-3624243816CD}"/>
              </a:ext>
            </a:extLst>
          </p:cNvPr>
          <p:cNvSpPr/>
          <p:nvPr/>
        </p:nvSpPr>
        <p:spPr>
          <a:xfrm>
            <a:off x="2633472" y="4647623"/>
            <a:ext cx="512064" cy="290137"/>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7638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6451-28FB-FC8C-724F-AB3FCAFC22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A9A2C3-BBCF-1C60-6BB1-D79B488B5129}"/>
              </a:ext>
            </a:extLst>
          </p:cNvPr>
          <p:cNvSpPr>
            <a:spLocks noGrp="1"/>
          </p:cNvSpPr>
          <p:nvPr>
            <p:ph idx="1"/>
          </p:nvPr>
        </p:nvSpPr>
        <p:spPr>
          <a:xfrm>
            <a:off x="838200" y="1938527"/>
            <a:ext cx="10515600" cy="4238435"/>
          </a:xfrm>
        </p:spPr>
        <p:txBody>
          <a:bodyPr>
            <a:normAutofit fontScale="92500" lnSpcReduction="10000"/>
          </a:bodyPr>
          <a:lstStyle/>
          <a:p>
            <a:r>
              <a:rPr lang="en-US" b="1" dirty="0" err="1"/>
              <a:t>Menelaah</a:t>
            </a:r>
            <a:r>
              <a:rPr lang="en-US" b="1" dirty="0"/>
              <a:t> data </a:t>
            </a:r>
            <a:r>
              <a:rPr lang="en-US" b="1" dirty="0" err="1"/>
              <a:t>bukan</a:t>
            </a:r>
            <a:r>
              <a:rPr lang="en-US" b="1" dirty="0"/>
              <a:t> </a:t>
            </a:r>
            <a:r>
              <a:rPr lang="en-US" b="1" dirty="0" err="1"/>
              <a:t>sekadar</a:t>
            </a:r>
            <a:r>
              <a:rPr lang="en-US" b="1" dirty="0"/>
              <a:t> </a:t>
            </a:r>
            <a:r>
              <a:rPr lang="en-US" b="1" dirty="0" err="1"/>
              <a:t>melihat</a:t>
            </a:r>
            <a:r>
              <a:rPr lang="en-US" b="1" dirty="0"/>
              <a:t> </a:t>
            </a:r>
            <a:r>
              <a:rPr lang="en-US" b="1" dirty="0" err="1"/>
              <a:t>isi</a:t>
            </a:r>
            <a:r>
              <a:rPr lang="en-US" b="1" dirty="0"/>
              <a:t> </a:t>
            </a:r>
            <a:r>
              <a:rPr lang="en-US" b="1" dirty="0" err="1"/>
              <a:t>tabel</a:t>
            </a:r>
            <a:r>
              <a:rPr lang="en-US" b="1" dirty="0"/>
              <a:t>.</a:t>
            </a:r>
            <a:endParaRPr lang="en-US" dirty="0"/>
          </a:p>
          <a:p>
            <a:r>
              <a:rPr lang="en-US" dirty="0"/>
              <a:t>Kita </a:t>
            </a:r>
            <a:r>
              <a:rPr lang="en-US" dirty="0" err="1"/>
              <a:t>perlu</a:t>
            </a:r>
            <a:r>
              <a:rPr lang="en-US" dirty="0"/>
              <a:t> </a:t>
            </a:r>
            <a:r>
              <a:rPr lang="en-US" dirty="0" err="1"/>
              <a:t>mengetahui</a:t>
            </a:r>
            <a:r>
              <a:rPr lang="en-US" dirty="0"/>
              <a:t> </a:t>
            </a:r>
          </a:p>
          <a:p>
            <a:pPr lvl="1"/>
            <a:r>
              <a:rPr lang="en-US" b="1" dirty="0" err="1"/>
              <a:t>apa</a:t>
            </a:r>
            <a:r>
              <a:rPr lang="en-US" b="1" dirty="0"/>
              <a:t> </a:t>
            </a:r>
            <a:r>
              <a:rPr lang="en-US" b="1" dirty="0" err="1"/>
              <a:t>isi</a:t>
            </a:r>
            <a:r>
              <a:rPr lang="en-US" b="1" dirty="0"/>
              <a:t> data, </a:t>
            </a:r>
          </a:p>
          <a:p>
            <a:pPr lvl="1"/>
            <a:r>
              <a:rPr lang="en-US" b="1" dirty="0" err="1"/>
              <a:t>bagaimana</a:t>
            </a:r>
            <a:r>
              <a:rPr lang="en-US" b="1" dirty="0"/>
              <a:t> </a:t>
            </a:r>
            <a:r>
              <a:rPr lang="en-US" b="1" dirty="0" err="1"/>
              <a:t>karakteristiknya</a:t>
            </a:r>
            <a:r>
              <a:rPr lang="en-US" b="1" dirty="0"/>
              <a:t>, </a:t>
            </a:r>
          </a:p>
          <a:p>
            <a:pPr lvl="1"/>
            <a:r>
              <a:rPr lang="en-US" b="1" dirty="0" err="1"/>
              <a:t>bagaimana</a:t>
            </a:r>
            <a:r>
              <a:rPr lang="en-US" b="1" dirty="0"/>
              <a:t> </a:t>
            </a:r>
            <a:r>
              <a:rPr lang="en-US" b="1" dirty="0" err="1"/>
              <a:t>distribusinya</a:t>
            </a:r>
            <a:r>
              <a:rPr lang="en-US" b="1" dirty="0"/>
              <a:t>, </a:t>
            </a:r>
          </a:p>
          <a:p>
            <a:pPr lvl="1"/>
            <a:r>
              <a:rPr lang="en-US" b="1" dirty="0" err="1"/>
              <a:t>bagaimana</a:t>
            </a:r>
            <a:r>
              <a:rPr lang="en-US" b="1" dirty="0"/>
              <a:t> </a:t>
            </a:r>
            <a:r>
              <a:rPr lang="en-US" b="1" dirty="0" err="1"/>
              <a:t>hubungan</a:t>
            </a:r>
            <a:r>
              <a:rPr lang="en-US" b="1" dirty="0"/>
              <a:t> </a:t>
            </a:r>
            <a:r>
              <a:rPr lang="en-US" b="1" dirty="0" err="1"/>
              <a:t>antarvariabel</a:t>
            </a:r>
            <a:r>
              <a:rPr lang="en-US" b="1" dirty="0"/>
              <a:t>, dan </a:t>
            </a:r>
          </a:p>
          <a:p>
            <a:pPr lvl="1"/>
            <a:r>
              <a:rPr lang="en-US" b="1" dirty="0" err="1"/>
              <a:t>apakah</a:t>
            </a:r>
            <a:r>
              <a:rPr lang="en-US" b="1" dirty="0"/>
              <a:t> </a:t>
            </a:r>
            <a:r>
              <a:rPr lang="en-US" b="1" dirty="0" err="1"/>
              <a:t>terdapat</a:t>
            </a:r>
            <a:r>
              <a:rPr lang="en-US" b="1" dirty="0"/>
              <a:t> </a:t>
            </a:r>
            <a:r>
              <a:rPr lang="en-US" b="1" dirty="0" err="1"/>
              <a:t>masalah</a:t>
            </a:r>
            <a:r>
              <a:rPr lang="en-US" b="1" dirty="0"/>
              <a:t> pada data.</a:t>
            </a:r>
          </a:p>
          <a:p>
            <a:pPr lvl="2"/>
            <a:r>
              <a:rPr lang="en-US" dirty="0"/>
              <a:t>Missing value </a:t>
            </a:r>
          </a:p>
          <a:p>
            <a:pPr lvl="2"/>
            <a:r>
              <a:rPr lang="en-US" dirty="0" err="1"/>
              <a:t>Duplikasi</a:t>
            </a:r>
            <a:r>
              <a:rPr lang="en-US" dirty="0"/>
              <a:t> </a:t>
            </a:r>
          </a:p>
          <a:p>
            <a:pPr lvl="2"/>
            <a:r>
              <a:rPr lang="en-US" dirty="0"/>
              <a:t>Outlier </a:t>
            </a:r>
          </a:p>
          <a:p>
            <a:pPr lvl="2"/>
            <a:r>
              <a:rPr lang="en-US" dirty="0" err="1"/>
              <a:t>Ketidakseimbangan</a:t>
            </a:r>
            <a:r>
              <a:rPr lang="en-US" dirty="0"/>
              <a:t> </a:t>
            </a:r>
            <a:r>
              <a:rPr lang="en-US" dirty="0" err="1"/>
              <a:t>kelas</a:t>
            </a:r>
            <a:r>
              <a:rPr lang="en-US" dirty="0"/>
              <a:t> </a:t>
            </a:r>
          </a:p>
          <a:p>
            <a:pPr lvl="2"/>
            <a:r>
              <a:rPr lang="en-US" dirty="0"/>
              <a:t>Data </a:t>
            </a:r>
            <a:r>
              <a:rPr lang="en-US" dirty="0" err="1"/>
              <a:t>tidak</a:t>
            </a:r>
            <a:r>
              <a:rPr lang="en-US" dirty="0"/>
              <a:t> </a:t>
            </a:r>
            <a:r>
              <a:rPr lang="en-US" dirty="0" err="1"/>
              <a:t>konsisten</a:t>
            </a:r>
            <a:endParaRPr lang="en-US" dirty="0"/>
          </a:p>
          <a:p>
            <a:pPr lvl="2"/>
            <a:endParaRPr lang="en-US" b="1" dirty="0"/>
          </a:p>
          <a:p>
            <a:endParaRPr lang="en-US" dirty="0"/>
          </a:p>
        </p:txBody>
      </p:sp>
      <p:sp>
        <p:nvSpPr>
          <p:cNvPr id="6" name="Title 1">
            <a:extLst>
              <a:ext uri="{FF2B5EF4-FFF2-40B4-BE49-F238E27FC236}">
                <a16:creationId xmlns:a16="http://schemas.microsoft.com/office/drawing/2014/main" id="{2FABDAB2-43A5-0C25-409D-89C8538EC35F}"/>
              </a:ext>
            </a:extLst>
          </p:cNvPr>
          <p:cNvSpPr>
            <a:spLocks noGrp="1"/>
          </p:cNvSpPr>
          <p:nvPr>
            <p:ph type="title"/>
          </p:nvPr>
        </p:nvSpPr>
        <p:spPr>
          <a:xfrm>
            <a:off x="838200" y="365125"/>
            <a:ext cx="10515600" cy="1460500"/>
          </a:xfrm>
        </p:spPr>
        <p:txBody>
          <a:bodyPr>
            <a:normAutofit/>
          </a:bodyPr>
          <a:lstStyle/>
          <a:p>
            <a:r>
              <a:rPr lang="id" dirty="0"/>
              <a:t>Telaah Data</a:t>
            </a:r>
            <a:r>
              <a:rPr lang="en-US" dirty="0"/>
              <a:t> </a:t>
            </a:r>
            <a:r>
              <a:rPr lang="en-US" sz="2800" dirty="0"/>
              <a:t>(Teknis)</a:t>
            </a:r>
            <a:br>
              <a:rPr lang="en-US" sz="2800" dirty="0"/>
            </a:br>
            <a:r>
              <a:rPr lang="en-US" sz="2800" dirty="0">
                <a:solidFill>
                  <a:srgbClr val="00B0F0"/>
                </a:solidFill>
              </a:rPr>
              <a:t>“Data yang </a:t>
            </a:r>
            <a:r>
              <a:rPr lang="en-US" sz="2800" dirty="0" err="1">
                <a:solidFill>
                  <a:srgbClr val="00B0F0"/>
                </a:solidFill>
              </a:rPr>
              <a:t>kita</a:t>
            </a:r>
            <a:r>
              <a:rPr lang="en-US" sz="2800" dirty="0">
                <a:solidFill>
                  <a:srgbClr val="00B0F0"/>
                </a:solidFill>
              </a:rPr>
              <a:t> </a:t>
            </a:r>
            <a:r>
              <a:rPr lang="en-US" sz="2800" dirty="0" err="1">
                <a:solidFill>
                  <a:srgbClr val="00B0F0"/>
                </a:solidFill>
              </a:rPr>
              <a:t>miliki</a:t>
            </a:r>
            <a:r>
              <a:rPr lang="en-US" sz="2800" dirty="0">
                <a:solidFill>
                  <a:srgbClr val="00B0F0"/>
                </a:solidFill>
              </a:rPr>
              <a:t> </a:t>
            </a:r>
            <a:r>
              <a:rPr lang="en-US" sz="2800" dirty="0" err="1">
                <a:solidFill>
                  <a:srgbClr val="00B0F0"/>
                </a:solidFill>
              </a:rPr>
              <a:t>ini</a:t>
            </a:r>
            <a:r>
              <a:rPr lang="en-US" sz="2800" dirty="0">
                <a:solidFill>
                  <a:srgbClr val="00B0F0"/>
                </a:solidFill>
              </a:rPr>
              <a:t> </a:t>
            </a:r>
            <a:r>
              <a:rPr lang="en-US" sz="2800" dirty="0" err="1">
                <a:solidFill>
                  <a:srgbClr val="00B0F0"/>
                </a:solidFill>
              </a:rPr>
              <a:t>sebenarnya</a:t>
            </a:r>
            <a:r>
              <a:rPr lang="en-US" sz="2800" dirty="0">
                <a:solidFill>
                  <a:srgbClr val="00B0F0"/>
                </a:solidFill>
              </a:rPr>
              <a:t> </a:t>
            </a:r>
            <a:r>
              <a:rPr lang="en-US" sz="2800" dirty="0" err="1">
                <a:solidFill>
                  <a:srgbClr val="00B0F0"/>
                </a:solidFill>
              </a:rPr>
              <a:t>seperti</a:t>
            </a:r>
            <a:r>
              <a:rPr lang="en-US" sz="2800" dirty="0">
                <a:solidFill>
                  <a:srgbClr val="00B0F0"/>
                </a:solidFill>
              </a:rPr>
              <a:t> </a:t>
            </a:r>
            <a:r>
              <a:rPr lang="en-US" sz="2800" dirty="0" err="1">
                <a:solidFill>
                  <a:srgbClr val="00B0F0"/>
                </a:solidFill>
              </a:rPr>
              <a:t>apa</a:t>
            </a:r>
            <a:r>
              <a:rPr lang="en-US" sz="2800" dirty="0">
                <a:solidFill>
                  <a:srgbClr val="00B0F0"/>
                </a:solidFill>
              </a:rPr>
              <a:t>?”</a:t>
            </a:r>
            <a:endParaRPr lang="en-US" dirty="0">
              <a:solidFill>
                <a:srgbClr val="00B0F0"/>
              </a:solidFill>
            </a:endParaRPr>
          </a:p>
        </p:txBody>
      </p:sp>
    </p:spTree>
    <p:extLst>
      <p:ext uri="{BB962C8B-B14F-4D97-AF65-F5344CB8AC3E}">
        <p14:creationId xmlns:p14="http://schemas.microsoft.com/office/powerpoint/2010/main" val="4007592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92548" y="1475233"/>
            <a:ext cx="6996700" cy="3413760"/>
          </a:xfrm>
        </p:spPr>
        <p:txBody>
          <a:bodyPr>
            <a:normAutofit/>
          </a:bodyPr>
          <a:lstStyle/>
          <a:p>
            <a:r>
              <a:rPr lang="en-US" dirty="0"/>
              <a:t>Thank you</a:t>
            </a:r>
            <a:br>
              <a:rPr lang="en-US" dirty="0"/>
            </a:br>
            <a:r>
              <a:rPr lang="en-US" dirty="0"/>
              <a:t>Next : </a:t>
            </a:r>
            <a:r>
              <a:rPr lang="en-US" dirty="0" err="1"/>
              <a:t>Telaah</a:t>
            </a:r>
            <a:r>
              <a:rPr lang="en-US" dirty="0"/>
              <a:t> Data</a:t>
            </a:r>
            <a:br>
              <a:rPr lang="en-US" dirty="0"/>
            </a:br>
            <a:br>
              <a:rPr lang="en-US" dirty="0"/>
            </a:br>
            <a:br>
              <a:rPr lang="en-US" dirty="0"/>
            </a:br>
            <a:r>
              <a:rPr lang="en-US" dirty="0"/>
              <a:t>Any questions?</a:t>
            </a:r>
            <a:endParaRPr lang="en-US" dirty="0">
              <a:solidFill>
                <a:srgbClr val="0070C0"/>
              </a:solidFill>
            </a:endParaRPr>
          </a:p>
        </p:txBody>
      </p:sp>
    </p:spTree>
    <p:extLst>
      <p:ext uri="{BB962C8B-B14F-4D97-AF65-F5344CB8AC3E}">
        <p14:creationId xmlns:p14="http://schemas.microsoft.com/office/powerpoint/2010/main" val="4066692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egoe UI"/>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20763</TotalTime>
  <Words>4211</Words>
  <Application>Microsoft Office PowerPoint</Application>
  <PresentationFormat>Widescreen</PresentationFormat>
  <Paragraphs>487</Paragraphs>
  <Slides>46</Slides>
  <Notes>19</Notes>
  <HiddenSlides>14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Calibri</vt:lpstr>
      <vt:lpstr>Corbel</vt:lpstr>
      <vt:lpstr>Lato</vt:lpstr>
      <vt:lpstr>Overlock</vt:lpstr>
      <vt:lpstr>Segoe UI</vt:lpstr>
      <vt:lpstr>Segoe UI Light</vt:lpstr>
      <vt:lpstr>Times New Roman</vt:lpstr>
      <vt:lpstr>Wingdings</vt:lpstr>
      <vt:lpstr>Office Theme</vt:lpstr>
      <vt:lpstr>Applied Data Science – Week 3 Data Understanding</vt:lpstr>
      <vt:lpstr>Outline</vt:lpstr>
      <vt:lpstr>What is data understanding</vt:lpstr>
      <vt:lpstr>Apa itu telaah data (data understanding)?</vt:lpstr>
      <vt:lpstr>Why data understanding is necessary</vt:lpstr>
      <vt:lpstr>Mengapa perlu data understanding?</vt:lpstr>
      <vt:lpstr>Data review process</vt:lpstr>
      <vt:lpstr>Data review process</vt:lpstr>
      <vt:lpstr>Data understanding</vt:lpstr>
      <vt:lpstr>Data understanding documentation</vt:lpstr>
      <vt:lpstr>Data understanding documentation</vt:lpstr>
      <vt:lpstr>Data Type Map</vt:lpstr>
      <vt:lpstr>Data source</vt:lpstr>
      <vt:lpstr>PowerPoint Presentation</vt:lpstr>
      <vt:lpstr>Online data source</vt:lpstr>
      <vt:lpstr>Online data source</vt:lpstr>
      <vt:lpstr>Pengambilan Data</vt:lpstr>
      <vt:lpstr>Data Structure</vt:lpstr>
      <vt:lpstr>Susunan data</vt:lpstr>
      <vt:lpstr>Structured vs unstructured</vt:lpstr>
      <vt:lpstr>Data Types Based on Structure</vt:lpstr>
      <vt:lpstr>Tipe data berdasarkan susunannya</vt:lpstr>
      <vt:lpstr>Semi-structured data</vt:lpstr>
      <vt:lpstr>Unstructured data examples</vt:lpstr>
      <vt:lpstr>Data Types Based on Collection Method</vt:lpstr>
      <vt:lpstr>Tipe data berdasarkan Cara Pengumpulan</vt:lpstr>
      <vt:lpstr>Data Types Based on Their Properties</vt:lpstr>
      <vt:lpstr>Tipe data berdasarkan Sifatnya</vt:lpstr>
      <vt:lpstr>Data Item Types</vt:lpstr>
      <vt:lpstr>Tipe butir data (1)</vt:lpstr>
      <vt:lpstr>Data Item Types (cont.)</vt:lpstr>
      <vt:lpstr>Tipe butir data (2)</vt:lpstr>
      <vt:lpstr>Data Types Based on Time</vt:lpstr>
      <vt:lpstr>Tipe data berdasarkan Waktunya</vt:lpstr>
      <vt:lpstr>Data Model Example: Tabular Data</vt:lpstr>
      <vt:lpstr>Contoh model data: Tabular</vt:lpstr>
      <vt:lpstr>Data Model Example: Graph / Network</vt:lpstr>
      <vt:lpstr>Contoh model data: Graf/Jejaring</vt:lpstr>
      <vt:lpstr>Data Model Example: Sequence</vt:lpstr>
      <vt:lpstr>Contoh model data: Sekuens</vt:lpstr>
      <vt:lpstr>Telaah Data (Teknis) “Data yang kita miliki ini sebenarnya seperti apa?”</vt:lpstr>
      <vt:lpstr>Telaah Data (Teknis) “Data yang kita miliki ini sebenarnya seperti apa?”</vt:lpstr>
      <vt:lpstr>Telaah Data (Teknis) “Data yang kita miliki ini sebenarnya seperti apa?”</vt:lpstr>
      <vt:lpstr>Telaah Data (Teknis) “Data yang kita miliki ini sebenarnya seperti apa?”</vt:lpstr>
      <vt:lpstr>Telaah Data (Teknis) “Data yang kita miliki ini sebenarnya seperti apa?”</vt:lpstr>
      <vt:lpstr>Thank you Next : Telaah Data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 Windows</dc:creator>
  <cp:lastModifiedBy>Muhammad Fakhrurrifqi</cp:lastModifiedBy>
  <cp:revision>81</cp:revision>
  <dcterms:created xsi:type="dcterms:W3CDTF">2018-05-08T06:50:11Z</dcterms:created>
  <dcterms:modified xsi:type="dcterms:W3CDTF">2026-09-09T03:36:52Z</dcterms:modified>
</cp:coreProperties>
</file>