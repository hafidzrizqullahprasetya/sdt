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491" r:id="rId3"/>
    <p:sldId id="492" r:id="rId4"/>
    <p:sldId id="612" r:id="rId5"/>
    <p:sldId id="497" r:id="rId6"/>
    <p:sldId id="536" r:id="rId7"/>
    <p:sldId id="518" r:id="rId8"/>
    <p:sldId id="519" r:id="rId9"/>
    <p:sldId id="538" r:id="rId10"/>
    <p:sldId id="610" r:id="rId11"/>
    <p:sldId id="495" r:id="rId12"/>
    <p:sldId id="602" r:id="rId13"/>
    <p:sldId id="269" r:id="rId14"/>
    <p:sldId id="270" r:id="rId15"/>
    <p:sldId id="271" r:id="rId16"/>
    <p:sldId id="532" r:id="rId17"/>
    <p:sldId id="529" r:id="rId18"/>
    <p:sldId id="539" r:id="rId19"/>
    <p:sldId id="541" r:id="rId20"/>
    <p:sldId id="574" r:id="rId21"/>
    <p:sldId id="603" r:id="rId22"/>
    <p:sldId id="609" r:id="rId23"/>
    <p:sldId id="604" r:id="rId24"/>
    <p:sldId id="605" r:id="rId25"/>
    <p:sldId id="606" r:id="rId26"/>
    <p:sldId id="607" r:id="rId27"/>
    <p:sldId id="611" r:id="rId28"/>
    <p:sldId id="608" r:id="rId29"/>
    <p:sldId id="36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76340" autoAdjust="0"/>
  </p:normalViewPr>
  <p:slideViewPr>
    <p:cSldViewPr snapToGrid="0">
      <p:cViewPr varScale="1">
        <p:scale>
          <a:sx n="63" d="100"/>
          <a:sy n="63" d="100"/>
        </p:scale>
        <p:origin x="14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D5B8C-23F7-4E91-B259-614B167A5F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030B7-44DA-4342-8AD0-73CA5C2F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8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Kita orang IT punya </a:t>
            </a:r>
            <a:r>
              <a:rPr lang="en-US" dirty="0" err="1"/>
              <a:t>peran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berkolaborasi</a:t>
            </a:r>
            <a:r>
              <a:rPr lang="en-US" dirty="0"/>
              <a:t> </a:t>
            </a:r>
            <a:r>
              <a:rPr lang="en-US" dirty="0" err="1"/>
              <a:t>multidisiplin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64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https://ugm.ac.id/id/berita/aplikasi-skrining-gigi-mandiri-senyumin-raih-inovasi-terbaik-jia-2023/</a:t>
            </a:r>
          </a:p>
          <a:p>
            <a:r>
              <a:rPr lang="en-US" b="0" i="0" dirty="0" err="1">
                <a:solidFill>
                  <a:srgbClr val="141729"/>
                </a:solidFill>
                <a:effectLst/>
                <a:latin typeface="Albert Sans"/>
              </a:rPr>
              <a:t>penghargaan</a:t>
            </a:r>
            <a:r>
              <a:rPr lang="en-US" b="0" i="0" dirty="0">
                <a:solidFill>
                  <a:srgbClr val="141729"/>
                </a:solidFill>
                <a:effectLst/>
                <a:latin typeface="Albert Sans"/>
              </a:rPr>
              <a:t> Diamond : </a:t>
            </a:r>
            <a:r>
              <a:rPr lang="en-US" b="1" i="0" dirty="0">
                <a:solidFill>
                  <a:srgbClr val="141729"/>
                </a:solidFill>
                <a:effectLst/>
                <a:latin typeface="Albert Sans"/>
              </a:rPr>
              <a:t>Indonesia Health </a:t>
            </a:r>
            <a:r>
              <a:rPr lang="en-US" b="1" i="0" dirty="0" err="1">
                <a:solidFill>
                  <a:srgbClr val="141729"/>
                </a:solidFill>
                <a:effectLst/>
                <a:latin typeface="Albert Sans"/>
              </a:rPr>
              <a:t>Inovation</a:t>
            </a:r>
            <a:r>
              <a:rPr lang="en-US" b="1" i="0" dirty="0">
                <a:solidFill>
                  <a:srgbClr val="141729"/>
                </a:solidFill>
                <a:effectLst/>
                <a:latin typeface="Albert Sans"/>
              </a:rPr>
              <a:t> award (IHIA) </a:t>
            </a:r>
            <a:r>
              <a:rPr lang="en-US" b="1" i="0" dirty="0" err="1">
                <a:solidFill>
                  <a:srgbClr val="141729"/>
                </a:solidFill>
                <a:effectLst/>
                <a:latin typeface="Albert Sans"/>
              </a:rPr>
              <a:t>tahun</a:t>
            </a:r>
            <a:r>
              <a:rPr lang="en-US" b="1" i="0" dirty="0">
                <a:solidFill>
                  <a:srgbClr val="141729"/>
                </a:solidFill>
                <a:effectLst/>
                <a:latin typeface="Albert Sans"/>
              </a:rPr>
              <a:t> 2022</a:t>
            </a:r>
            <a:r>
              <a:rPr lang="en-US" b="0" i="0" dirty="0">
                <a:solidFill>
                  <a:srgbClr val="141729"/>
                </a:solidFill>
                <a:effectLst/>
                <a:latin typeface="Albert Sans"/>
              </a:rPr>
              <a:t> </a:t>
            </a:r>
            <a:r>
              <a:rPr lang="en-US" b="0" i="0" dirty="0" err="1">
                <a:solidFill>
                  <a:srgbClr val="141729"/>
                </a:solidFill>
                <a:effectLst/>
                <a:latin typeface="Albert Sans"/>
              </a:rPr>
              <a:t>untuk</a:t>
            </a:r>
            <a:r>
              <a:rPr lang="en-US" b="0" i="0" dirty="0">
                <a:solidFill>
                  <a:srgbClr val="141729"/>
                </a:solidFill>
                <a:effectLst/>
                <a:latin typeface="Albert Sans"/>
              </a:rPr>
              <a:t> </a:t>
            </a:r>
            <a:r>
              <a:rPr lang="en-US" b="0" i="0" dirty="0" err="1">
                <a:solidFill>
                  <a:srgbClr val="141729"/>
                </a:solidFill>
                <a:effectLst/>
                <a:latin typeface="Albert Sans"/>
              </a:rPr>
              <a:t>kategori</a:t>
            </a:r>
            <a:r>
              <a:rPr lang="en-US" b="0" i="0" dirty="0">
                <a:solidFill>
                  <a:srgbClr val="141729"/>
                </a:solidFill>
                <a:effectLst/>
                <a:latin typeface="Albert Sans"/>
              </a:rPr>
              <a:t> </a:t>
            </a:r>
            <a:r>
              <a:rPr lang="en-US" b="0" i="0" dirty="0" err="1">
                <a:solidFill>
                  <a:srgbClr val="141729"/>
                </a:solidFill>
                <a:effectLst/>
                <a:latin typeface="Albert Sans"/>
              </a:rPr>
              <a:t>mutu</a:t>
            </a:r>
            <a:r>
              <a:rPr lang="en-US" b="0" i="0" dirty="0">
                <a:solidFill>
                  <a:srgbClr val="141729"/>
                </a:solidFill>
                <a:effectLst/>
                <a:latin typeface="Albert Sans"/>
              </a:rPr>
              <a:t> </a:t>
            </a:r>
            <a:r>
              <a:rPr lang="en-US" b="0" i="0" dirty="0" err="1">
                <a:solidFill>
                  <a:srgbClr val="141729"/>
                </a:solidFill>
                <a:effectLst/>
                <a:latin typeface="Albert Sans"/>
              </a:rPr>
              <a:t>pelayanan</a:t>
            </a:r>
            <a:r>
              <a:rPr lang="en-US" b="0" i="0" dirty="0">
                <a:solidFill>
                  <a:srgbClr val="141729"/>
                </a:solidFill>
                <a:effectLst/>
                <a:latin typeface="Albert Sans"/>
              </a:rPr>
              <a:t> </a:t>
            </a:r>
            <a:r>
              <a:rPr lang="en-US" b="0" i="0" dirty="0" err="1">
                <a:solidFill>
                  <a:srgbClr val="141729"/>
                </a:solidFill>
                <a:effectLst/>
                <a:latin typeface="Albert Sans"/>
              </a:rPr>
              <a:t>kesehatan</a:t>
            </a:r>
            <a:r>
              <a:rPr lang="en-US" b="0" i="0" dirty="0">
                <a:solidFill>
                  <a:srgbClr val="141729"/>
                </a:solidFill>
                <a:effectLst/>
                <a:latin typeface="Albert Sans"/>
              </a:rPr>
              <a:t>, </a:t>
            </a:r>
          </a:p>
          <a:p>
            <a:r>
              <a:rPr lang="en-US" b="0" i="0" dirty="0" err="1">
                <a:solidFill>
                  <a:srgbClr val="141729"/>
                </a:solidFill>
                <a:effectLst/>
                <a:latin typeface="Albert Sans"/>
              </a:rPr>
              <a:t>Juara</a:t>
            </a:r>
            <a:r>
              <a:rPr lang="en-US" b="0" i="0" dirty="0">
                <a:solidFill>
                  <a:srgbClr val="141729"/>
                </a:solidFill>
                <a:effectLst/>
                <a:latin typeface="Albert Sans"/>
              </a:rPr>
              <a:t> 1 </a:t>
            </a:r>
            <a:r>
              <a:rPr lang="en-US" b="1" i="0" dirty="0" err="1">
                <a:solidFill>
                  <a:srgbClr val="141729"/>
                </a:solidFill>
                <a:effectLst/>
                <a:latin typeface="Albert Sans"/>
              </a:rPr>
              <a:t>Konvensi</a:t>
            </a:r>
            <a:r>
              <a:rPr lang="en-US" b="1" i="0" dirty="0">
                <a:solidFill>
                  <a:srgbClr val="141729"/>
                </a:solidFill>
                <a:effectLst/>
                <a:latin typeface="Albert Sans"/>
              </a:rPr>
              <a:t> </a:t>
            </a:r>
            <a:r>
              <a:rPr lang="en-US" b="1" i="0" dirty="0" err="1">
                <a:solidFill>
                  <a:srgbClr val="141729"/>
                </a:solidFill>
                <a:effectLst/>
                <a:latin typeface="Albert Sans"/>
              </a:rPr>
              <a:t>Mutu</a:t>
            </a:r>
            <a:r>
              <a:rPr lang="en-US" b="1" i="0" dirty="0">
                <a:solidFill>
                  <a:srgbClr val="141729"/>
                </a:solidFill>
                <a:effectLst/>
                <a:latin typeface="Albert Sans"/>
              </a:rPr>
              <a:t> Tingkat </a:t>
            </a:r>
            <a:r>
              <a:rPr lang="en-US" b="1" i="0" dirty="0" err="1">
                <a:solidFill>
                  <a:srgbClr val="141729"/>
                </a:solidFill>
                <a:effectLst/>
                <a:latin typeface="Albert Sans"/>
              </a:rPr>
              <a:t>Provinsi</a:t>
            </a:r>
            <a:r>
              <a:rPr lang="en-US" b="1" i="0" dirty="0">
                <a:solidFill>
                  <a:srgbClr val="141729"/>
                </a:solidFill>
                <a:effectLst/>
                <a:latin typeface="Albert Sans"/>
              </a:rPr>
              <a:t> DKI Jakarta 2022</a:t>
            </a:r>
            <a:r>
              <a:rPr lang="en-US" b="0" i="0" dirty="0">
                <a:solidFill>
                  <a:srgbClr val="141729"/>
                </a:solidFill>
                <a:effectLst/>
                <a:latin typeface="Albert Sans"/>
              </a:rPr>
              <a:t> </a:t>
            </a:r>
          </a:p>
          <a:p>
            <a:r>
              <a:rPr lang="en-US" b="0" i="0" dirty="0">
                <a:solidFill>
                  <a:srgbClr val="141729"/>
                </a:solidFill>
                <a:effectLst/>
                <a:latin typeface="Albert Sans"/>
              </a:rPr>
              <a:t>Diamond Award pada acara </a:t>
            </a:r>
            <a:r>
              <a:rPr lang="en-US" b="1" i="0" dirty="0" err="1">
                <a:solidFill>
                  <a:srgbClr val="141729"/>
                </a:solidFill>
                <a:effectLst/>
                <a:latin typeface="Albert Sans"/>
              </a:rPr>
              <a:t>Temu</a:t>
            </a:r>
            <a:r>
              <a:rPr lang="en-US" b="1" i="0" dirty="0">
                <a:solidFill>
                  <a:srgbClr val="141729"/>
                </a:solidFill>
                <a:effectLst/>
                <a:latin typeface="Albert Sans"/>
              </a:rPr>
              <a:t> </a:t>
            </a:r>
            <a:r>
              <a:rPr lang="en-US" b="1" i="0" dirty="0" err="1">
                <a:solidFill>
                  <a:srgbClr val="141729"/>
                </a:solidFill>
                <a:effectLst/>
                <a:latin typeface="Albert Sans"/>
              </a:rPr>
              <a:t>Karya</a:t>
            </a:r>
            <a:r>
              <a:rPr lang="en-US" b="1" i="0" dirty="0">
                <a:solidFill>
                  <a:srgbClr val="141729"/>
                </a:solidFill>
                <a:effectLst/>
                <a:latin typeface="Albert Sans"/>
              </a:rPr>
              <a:t> </a:t>
            </a:r>
            <a:r>
              <a:rPr lang="en-US" b="1" i="0" dirty="0" err="1">
                <a:solidFill>
                  <a:srgbClr val="141729"/>
                </a:solidFill>
                <a:effectLst/>
                <a:latin typeface="Albert Sans"/>
              </a:rPr>
              <a:t>Mutu</a:t>
            </a:r>
            <a:r>
              <a:rPr lang="en-US" b="1" i="0" dirty="0">
                <a:solidFill>
                  <a:srgbClr val="141729"/>
                </a:solidFill>
                <a:effectLst/>
                <a:latin typeface="Albert Sans"/>
              </a:rPr>
              <a:t> dan </a:t>
            </a:r>
            <a:r>
              <a:rPr lang="en-US" b="1" i="0" dirty="0" err="1">
                <a:solidFill>
                  <a:srgbClr val="141729"/>
                </a:solidFill>
                <a:effectLst/>
                <a:latin typeface="Albert Sans"/>
              </a:rPr>
              <a:t>Produktivitas</a:t>
            </a:r>
            <a:r>
              <a:rPr lang="en-US" b="1" i="0" dirty="0">
                <a:solidFill>
                  <a:srgbClr val="141729"/>
                </a:solidFill>
                <a:effectLst/>
                <a:latin typeface="Albert Sans"/>
              </a:rPr>
              <a:t> Nasional XXVI 2022</a:t>
            </a:r>
            <a:r>
              <a:rPr lang="en-US" b="0" i="0" dirty="0">
                <a:solidFill>
                  <a:srgbClr val="141729"/>
                </a:solidFill>
                <a:effectLst/>
                <a:latin typeface="Albert Sans"/>
              </a:rPr>
              <a:t> di Lombok.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89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TRON (1982):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manusia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yang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terjebak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dalam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dunia game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dengan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kecanggihan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teknologi</a:t>
            </a: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Terminator </a:t>
            </a:r>
            <a:r>
              <a:rPr lang="en-US" dirty="0"/>
              <a:t>(1984)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manusia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yang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ditugaskan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untuk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menghentikan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mesin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pembunuh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cyborg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Ex Machina </a:t>
            </a:r>
            <a:r>
              <a:rPr lang="en-US" dirty="0"/>
              <a:t>(2014/2015)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: Aca (Alicia Vikander)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merupakan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robot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cantik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yang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ternyata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memiliki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kesadaran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diri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yang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lebih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besar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dan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berhasil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keluar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dari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Lab</a:t>
            </a:r>
          </a:p>
          <a:p>
            <a:r>
              <a:rPr lang="en-US" dirty="0"/>
              <a:t>Wall E (2008)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AI (2001) 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seorang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robot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dalam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bentuk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anak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kecil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, yang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diprogram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untuk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mencintai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dan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diadopsi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sebagai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kasus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uji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coba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oleh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seorang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karyawan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Cybertronics dan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istrinya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.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Her (2013):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seseorang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sedang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patah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hati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-FF"/>
              </a:rPr>
              <a:t>kemudian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-FF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jatuh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cinta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 pada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sebuah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kecerdasan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buatan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16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Game, AI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kali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mengalahkan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pemain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manusia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permainan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kompleks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strategis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permainan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Catur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StarCraft II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Bagus</a:t>
            </a:r>
            <a:r>
              <a:rPr lang="en-US" dirty="0"/>
              <a:t>,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menakutkan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949F0-5662-48F4-A061-34FE6A99936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49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Sebagai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contohnya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,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sektor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media,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hiburan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, dan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olahraga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diprediksi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akan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mengalami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penurunan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pekerjaan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hingga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32% pada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tahun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2027.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Sedangkan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sektor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akomodasi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dan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makanan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diperkirakan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hanya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akan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mengalami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penurunan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sebesar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16%.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07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Tapi juga </a:t>
            </a:r>
            <a:r>
              <a:rPr lang="en-US" dirty="0" err="1"/>
              <a:t>sebagai</a:t>
            </a:r>
            <a:r>
              <a:rPr lang="en-US" dirty="0"/>
              <a:t> media </a:t>
            </a:r>
            <a:r>
              <a:rPr lang="en-US" dirty="0" err="1"/>
              <a:t>kecurangan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ujian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.</a:t>
            </a:r>
          </a:p>
          <a:p>
            <a:r>
              <a:rPr lang="en-US" dirty="0" err="1"/>
              <a:t>Pisau</a:t>
            </a:r>
            <a:r>
              <a:rPr lang="en-US" dirty="0"/>
              <a:t> </a:t>
            </a:r>
            <a:r>
              <a:rPr lang="en-US" dirty="0" err="1"/>
              <a:t>bermata</a:t>
            </a:r>
            <a:r>
              <a:rPr lang="en-US" dirty="0"/>
              <a:t> dua.</a:t>
            </a:r>
          </a:p>
          <a:p>
            <a:endParaRPr lang="en-US" dirty="0"/>
          </a:p>
          <a:p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pengajar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juga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melarang</a:t>
            </a:r>
            <a:r>
              <a:rPr lang="en-US" dirty="0"/>
              <a:t>. Ya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diri</a:t>
            </a:r>
            <a:r>
              <a:rPr lang="en-US" dirty="0"/>
              <a:t>.</a:t>
            </a:r>
          </a:p>
          <a:p>
            <a:r>
              <a:rPr lang="en-US" dirty="0" err="1"/>
              <a:t>Misal</a:t>
            </a:r>
            <a:r>
              <a:rPr lang="en-US" dirty="0"/>
              <a:t> format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ujian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terjun</a:t>
            </a:r>
            <a:r>
              <a:rPr lang="en-US" dirty="0"/>
              <a:t> </a:t>
            </a:r>
            <a:r>
              <a:rPr lang="en-US" dirty="0" err="1"/>
              <a:t>kemasyarakat</a:t>
            </a:r>
            <a:r>
              <a:rPr lang="en-US" dirty="0"/>
              <a:t> </a:t>
            </a:r>
            <a:r>
              <a:rPr lang="en-US" dirty="0" err="1"/>
              <a:t>dll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74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sedikitnya</a:t>
            </a:r>
            <a:r>
              <a:rPr lang="en-US" dirty="0"/>
              <a:t> data, </a:t>
            </a:r>
            <a:r>
              <a:rPr lang="en-US" dirty="0" err="1"/>
              <a:t>tapi</a:t>
            </a:r>
            <a:r>
              <a:rPr lang="en-US" dirty="0"/>
              <a:t> …</a:t>
            </a:r>
          </a:p>
          <a:p>
            <a:r>
              <a:rPr lang="en-US" sz="12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Bagaimana</a:t>
            </a:r>
            <a:r>
              <a:rPr lang="en-US" sz="12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kondisi</a:t>
            </a:r>
            <a:r>
              <a:rPr lang="en-US" sz="12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kemacetan</a:t>
            </a:r>
            <a:r>
              <a:rPr lang="en-US" sz="12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luar</a:t>
            </a:r>
            <a:r>
              <a:rPr lang="en-US" sz="12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biasa</a:t>
            </a:r>
            <a:r>
              <a:rPr lang="en-US" sz="12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kondisi</a:t>
            </a:r>
            <a:r>
              <a:rPr lang="en-US" sz="12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perubahan</a:t>
            </a:r>
            <a:r>
              <a:rPr lang="en-US" sz="12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jalanan</a:t>
            </a:r>
            <a:r>
              <a:rPr lang="en-US" sz="12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sz="1200" dirty="0">
              <a:solidFill>
                <a:schemeClr val="dk2"/>
              </a:solidFill>
              <a:latin typeface="Arial"/>
              <a:cs typeface="Arial"/>
              <a:sym typeface="Arial"/>
            </a:endParaRPr>
          </a:p>
          <a:p>
            <a:r>
              <a:rPr lang="en-US" b="1" dirty="0"/>
              <a:t>✅ 1. </a:t>
            </a:r>
            <a:r>
              <a:rPr lang="en-US" b="1" dirty="0" err="1"/>
              <a:t>Kualitas</a:t>
            </a:r>
            <a:r>
              <a:rPr lang="en-US" b="1" dirty="0"/>
              <a:t> Data (Quality over Quantity)</a:t>
            </a:r>
          </a:p>
          <a:p>
            <a:r>
              <a:rPr lang="en-US" dirty="0"/>
              <a:t>Model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dilatih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/>
              <a:t>data yang </a:t>
            </a:r>
            <a:r>
              <a:rPr lang="en-US" b="1" dirty="0" err="1"/>
              <a:t>bersih</a:t>
            </a:r>
            <a:r>
              <a:rPr lang="en-US" b="1" dirty="0"/>
              <a:t>, </a:t>
            </a:r>
            <a:r>
              <a:rPr lang="en-US" b="1" dirty="0" err="1"/>
              <a:t>jelas</a:t>
            </a:r>
            <a:r>
              <a:rPr lang="en-US" b="1" dirty="0"/>
              <a:t>, dan </a:t>
            </a:r>
            <a:r>
              <a:rPr lang="en-US" b="1" dirty="0" err="1"/>
              <a:t>relevan</a:t>
            </a:r>
            <a:r>
              <a:rPr lang="en-US" dirty="0"/>
              <a:t> </a:t>
            </a:r>
            <a:r>
              <a:rPr lang="en-US" dirty="0" err="1"/>
              <a:t>daripada</a:t>
            </a:r>
            <a:r>
              <a:rPr lang="en-US" dirty="0"/>
              <a:t> </a:t>
            </a:r>
            <a:r>
              <a:rPr lang="en-US" dirty="0" err="1"/>
              <a:t>ribuan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yang </a:t>
            </a:r>
            <a:r>
              <a:rPr lang="en-US" dirty="0" err="1"/>
              <a:t>buram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konsisten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Kualitas</a:t>
            </a:r>
            <a:r>
              <a:rPr lang="en-US" dirty="0"/>
              <a:t> </a:t>
            </a:r>
            <a:r>
              <a:rPr lang="en-US" dirty="0" err="1"/>
              <a:t>mencakup</a:t>
            </a:r>
            <a:r>
              <a:rPr lang="en-US" dirty="0"/>
              <a:t>:</a:t>
            </a:r>
          </a:p>
          <a:p>
            <a:r>
              <a:rPr lang="en-US" dirty="0" err="1"/>
              <a:t>resolusi</a:t>
            </a:r>
            <a:r>
              <a:rPr lang="en-US" dirty="0"/>
              <a:t> </a:t>
            </a:r>
            <a:r>
              <a:rPr lang="en-US" dirty="0" err="1"/>
              <a:t>jelas</a:t>
            </a:r>
            <a:endParaRPr lang="en-US" dirty="0"/>
          </a:p>
          <a:p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tertutup</a:t>
            </a:r>
            <a:endParaRPr lang="en-US" dirty="0"/>
          </a:p>
          <a:p>
            <a:r>
              <a:rPr lang="en-US" dirty="0" err="1"/>
              <a:t>pencahayaan</a:t>
            </a:r>
            <a:r>
              <a:rPr lang="en-US" dirty="0"/>
              <a:t> </a:t>
            </a:r>
            <a:r>
              <a:rPr lang="en-US" dirty="0" err="1"/>
              <a:t>memadai</a:t>
            </a:r>
            <a:endParaRPr lang="en-US" dirty="0"/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noise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✅ 2. </a:t>
            </a:r>
            <a:r>
              <a:rPr lang="en-US" b="1" dirty="0" err="1"/>
              <a:t>Keberagaman</a:t>
            </a:r>
            <a:r>
              <a:rPr lang="en-US" b="1" dirty="0"/>
              <a:t> Data (Data Diversity)</a:t>
            </a:r>
          </a:p>
          <a:p>
            <a:r>
              <a:rPr lang="en-US" dirty="0"/>
              <a:t>Model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b="1" dirty="0" err="1"/>
              <a:t>berbagai</a:t>
            </a:r>
            <a:r>
              <a:rPr lang="en-US" b="1" dirty="0"/>
              <a:t> </a:t>
            </a:r>
            <a:r>
              <a:rPr lang="en-US" b="1" dirty="0" err="1"/>
              <a:t>variasi</a:t>
            </a:r>
            <a:r>
              <a:rPr lang="en-US" b="1" dirty="0"/>
              <a:t> </a:t>
            </a:r>
            <a:r>
              <a:rPr lang="en-US" b="1" dirty="0" err="1"/>
              <a:t>kondisi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:</a:t>
            </a:r>
          </a:p>
          <a:p>
            <a:r>
              <a:rPr lang="en-US" dirty="0" err="1"/>
              <a:t>sudut</a:t>
            </a:r>
            <a:r>
              <a:rPr lang="en-US" dirty="0"/>
              <a:t> </a:t>
            </a:r>
            <a:r>
              <a:rPr lang="en-US" dirty="0" err="1"/>
              <a:t>pandang</a:t>
            </a:r>
            <a:r>
              <a:rPr lang="en-US" dirty="0"/>
              <a:t> </a:t>
            </a:r>
            <a:r>
              <a:rPr lang="en-US" dirty="0" err="1"/>
              <a:t>berbeda</a:t>
            </a:r>
            <a:endParaRPr lang="en-US" dirty="0"/>
          </a:p>
          <a:p>
            <a:r>
              <a:rPr lang="en-US" dirty="0" err="1"/>
              <a:t>pencahayaan</a:t>
            </a:r>
            <a:r>
              <a:rPr lang="en-US" dirty="0"/>
              <a:t> </a:t>
            </a:r>
            <a:r>
              <a:rPr lang="en-US" dirty="0" err="1"/>
              <a:t>berbeda</a:t>
            </a:r>
            <a:endParaRPr lang="en-US" dirty="0"/>
          </a:p>
          <a:p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r>
              <a:rPr lang="en-US" dirty="0"/>
              <a:t> </a:t>
            </a:r>
            <a:r>
              <a:rPr lang="en-US" dirty="0" err="1"/>
              <a:t>berbeda</a:t>
            </a:r>
            <a:endParaRPr lang="en-US" dirty="0"/>
          </a:p>
          <a:p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berbeda</a:t>
            </a:r>
            <a:endParaRPr lang="en-US" dirty="0"/>
          </a:p>
          <a:p>
            <a:r>
              <a:rPr lang="en-US" dirty="0" err="1"/>
              <a:t>warna</a:t>
            </a:r>
            <a:r>
              <a:rPr lang="en-US" dirty="0"/>
              <a:t>, </a:t>
            </a:r>
            <a:r>
              <a:rPr lang="en-US" dirty="0" err="1"/>
              <a:t>rotasi</a:t>
            </a:r>
            <a:r>
              <a:rPr lang="en-US" dirty="0"/>
              <a:t>, </a:t>
            </a:r>
            <a:r>
              <a:rPr lang="en-US" dirty="0" err="1"/>
              <a:t>skala</a:t>
            </a:r>
            <a:r>
              <a:rPr lang="en-US" dirty="0"/>
              <a:t>, occlusion</a:t>
            </a:r>
          </a:p>
          <a:p>
            <a:r>
              <a:rPr lang="en-US" dirty="0"/>
              <a:t>Data yang </a:t>
            </a:r>
            <a:r>
              <a:rPr lang="en-US" dirty="0" err="1"/>
              <a:t>beragam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model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b="1" dirty="0"/>
              <a:t>generalizable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22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Produsen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pengembang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perangkat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lunak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kecelakaan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disebabkan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oleh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desain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malfungsi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perangkat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perangkat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kendaraan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1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Contohnya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gagal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mendeteksi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bahaya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perangkat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keputusan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salah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perusahaan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gagal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pengujian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memadai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gagal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memberikan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pembaruan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perangkat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diperlukan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Pemilik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kendaraan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perusahaan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memiliki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armada: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pemilik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kendaraan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operatornya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mereka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bertanggung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jawab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kecelakaan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terjadi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pPr lvl="1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Misalnya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perusahaan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Uber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menggunakan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armada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perusahaan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bertanggung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jawab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cedera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kerugian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terjadi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Pihak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ketiga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pengguna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jalan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lain: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Terkadang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juga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kesalahan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bersama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(joint liability)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pihak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lain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berkontribusi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terhadap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kecelakaan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Contohnya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pengendara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lain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mengebut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melanggar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aturan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lintas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Law Place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28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1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37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92548" y="1787703"/>
            <a:ext cx="6996700" cy="1722260"/>
          </a:xfrm>
        </p:spPr>
        <p:txBody>
          <a:bodyPr anchor="b">
            <a:normAutofit/>
          </a:bodyPr>
          <a:lstStyle>
            <a:lvl1pPr algn="ctr">
              <a:defRPr sz="400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92548" y="3602038"/>
            <a:ext cx="6996700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46631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</a:t>
            </a:r>
          </a:p>
        </p:txBody>
      </p:sp>
    </p:spTree>
    <p:extLst>
      <p:ext uri="{BB962C8B-B14F-4D97-AF65-F5344CB8AC3E}">
        <p14:creationId xmlns:p14="http://schemas.microsoft.com/office/powerpoint/2010/main" val="348790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8030" y="2414427"/>
            <a:ext cx="6549419" cy="2148048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6947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63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3pPr marL="1257300" indent="-34290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13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61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8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4C207-7A81-4737-8BB1-F773A1644F8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jp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125267a9021dabf7&amp;q=LiDAR&amp;source=lnms&amp;fbs=AIIjpHxadxaWB3ZPnq8z5NgI6CX-VRm_GBTGIa0Xb3ciZ33wFaUhK1fOLEBI_KndE2o4wh3JMc4dFFGDK6jUNRMGDTeCkLWSBc9k1I68pDb6YeieyWGhRS4RHOzKl2X1SA2jJ6rd_wVk0fKrAkFa9RwaVPm1uXiLLBpdD-YwnHF5ZyApkLZR6RdzF9ho93iRp89rta2p8lXgvP1eiFY4EouCyc2aIo-svafuxj9Jkx4ggAiVDLLdmHc&amp;sa=X&amp;ved=2ahUKEwi3_c_GhqaRAxUVzjgGHT3LNWMQgK4QegQIAxAC&amp;biw=1396&amp;bih=663&amp;dpr=1.38&amp;mstk=AUtExfDY_5l4jNXPIYSW5Z2qqO6ZGeferarBsAqqNH1nOw--mWMBZQtK6nGlit5uGfCq1WDk1LVzXStUN9Nz7NE7LKKp0fMm6HSYrTviJN5v_uTVcxUgBBlSfOWV5k5CMk9VuUyirIM47l2VF7tuaGUD_RYbkumCatcPDi4BMK5NJS9-CsqOuADCFQu_vNdcksbLHMhq&amp;csui=3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40772" y="1553787"/>
            <a:ext cx="6996700" cy="2123658"/>
          </a:xfrm>
        </p:spPr>
        <p:txBody>
          <a:bodyPr>
            <a:normAutofit/>
          </a:bodyPr>
          <a:lstStyle/>
          <a:p>
            <a:pPr algn="r"/>
            <a:r>
              <a:rPr lang="en-US" kern="50" dirty="0">
                <a:latin typeface="Times New Roman" panose="02020603050405020304" pitchFamily="18" charset="0"/>
                <a:ea typeface="Lucida Sans Unicode" panose="020B0602030504020204" pitchFamily="34" charset="0"/>
              </a:rPr>
              <a:t>Data Science – </a:t>
            </a:r>
            <a:r>
              <a:rPr lang="en-US" kern="50" dirty="0" err="1">
                <a:latin typeface="Times New Roman" panose="02020603050405020304" pitchFamily="18" charset="0"/>
                <a:ea typeface="Lucida Sans Unicode" panose="020B0602030504020204" pitchFamily="34" charset="0"/>
              </a:rPr>
              <a:t>Terapan</a:t>
            </a:r>
            <a:br>
              <a:rPr lang="en-US" kern="50" dirty="0">
                <a:latin typeface="Times New Roman" panose="02020603050405020304" pitchFamily="18" charset="0"/>
                <a:ea typeface="Lucida Sans Unicode" panose="020B0602030504020204" pitchFamily="34" charset="0"/>
              </a:rPr>
            </a:br>
            <a:r>
              <a:rPr lang="en-US" kern="50" dirty="0" err="1">
                <a:latin typeface="Times New Roman" panose="02020603050405020304" pitchFamily="18" charset="0"/>
                <a:ea typeface="Lucida Sans Unicode" panose="020B0602030504020204" pitchFamily="34" charset="0"/>
              </a:rPr>
              <a:t>Pendahuluan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19929-5D50-4E5F-EB5C-5C6FAB814C4B}"/>
              </a:ext>
            </a:extLst>
          </p:cNvPr>
          <p:cNvSpPr txBox="1"/>
          <p:nvPr/>
        </p:nvSpPr>
        <p:spPr>
          <a:xfrm>
            <a:off x="7249886" y="4734342"/>
            <a:ext cx="48705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Muhammad Fakhrurrifqi</a:t>
            </a:r>
            <a:endParaRPr lang="en-US" sz="3600" dirty="0"/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44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940C-1694-401C-AC9B-EE75FBA8A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553" y="331985"/>
            <a:ext cx="7234370" cy="52453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Muhammad Fakhrurrifqi, M.Cs.</a:t>
            </a: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07BEE2E-0402-44C2-A95B-04D87F008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829" y="1393646"/>
            <a:ext cx="8085095" cy="4547867"/>
          </a:xfr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037223F-7EE3-4B5A-8E4E-074F58E54214}"/>
              </a:ext>
            </a:extLst>
          </p:cNvPr>
          <p:cNvSpPr txBox="1">
            <a:spLocks/>
          </p:cNvSpPr>
          <p:nvPr/>
        </p:nvSpPr>
        <p:spPr>
          <a:xfrm>
            <a:off x="224999" y="1423275"/>
            <a:ext cx="8369204" cy="484047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b="1" dirty="0" err="1"/>
              <a:t>Sertifikasi</a:t>
            </a:r>
            <a:r>
              <a:rPr lang="en-US" sz="2400" b="1" dirty="0"/>
              <a:t> </a:t>
            </a:r>
            <a:r>
              <a:rPr lang="en-US" sz="2400" b="1" dirty="0" err="1"/>
              <a:t>Keahlian</a:t>
            </a:r>
            <a:endParaRPr lang="en-US" sz="2400" b="1" dirty="0"/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ASESOR (BNSP)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Programmer (ORACLE)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Science </a:t>
            </a: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(BNSP)</a:t>
            </a:r>
            <a:endParaRPr lang="en-US" sz="19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Analis </a:t>
            </a:r>
            <a:r>
              <a:rPr lang="en-US" sz="19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en-US" sz="19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(BNSP)</a:t>
            </a:r>
            <a:endParaRPr lang="en-US" sz="44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4ADB53B-E17D-4B0A-8655-1083E6684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99" y="266470"/>
            <a:ext cx="1213300" cy="1004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9F6B1E-8226-847B-86E5-C5E230E0D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3254" y="5159169"/>
            <a:ext cx="2109587" cy="12054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8142FF-EE43-EB15-AF51-E1C73F9B6604}"/>
              </a:ext>
            </a:extLst>
          </p:cNvPr>
          <p:cNvSpPr txBox="1"/>
          <p:nvPr/>
        </p:nvSpPr>
        <p:spPr>
          <a:xfrm>
            <a:off x="150423" y="869106"/>
            <a:ext cx="6097554" cy="31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rbe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rifqi_ilkom@mail.ugm.ac.id</a:t>
            </a:r>
            <a:endParaRPr lang="en-US"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4A958EF0-A435-684E-F85D-CED6967B98CB}"/>
              </a:ext>
              <a:ext uri="{4AF125F8-A802-45E7-B46F-C43F16AF22A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B1786B-FA3F-4A05-9F5B-CBF2A7AD8E18}"/>
              </a:ext>
            </a:extLst>
          </p:cNvPr>
          <p:cNvSpPr/>
          <p:nvPr/>
        </p:nvSpPr>
        <p:spPr>
          <a:xfrm>
            <a:off x="84650" y="4417894"/>
            <a:ext cx="3437861" cy="1016831"/>
          </a:xfrm>
          <a:custGeom>
            <a:avLst/>
            <a:gdLst/>
            <a:ahLst/>
            <a:cxnLst/>
            <a:rect l="0" t="0" r="r" b="b"/>
            <a:pathLst>
              <a:path w="4067785" h="934297">
                <a:moveTo>
                  <a:pt x="0" y="0"/>
                </a:moveTo>
                <a:lnTo>
                  <a:pt x="4067785" y="0"/>
                </a:lnTo>
                <a:lnTo>
                  <a:pt x="4067785" y="934297"/>
                </a:lnTo>
                <a:lnTo>
                  <a:pt x="0" y="93429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25F4D4-AF01-77BD-FFEC-3B318B2D55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875" y="5159167"/>
            <a:ext cx="1772379" cy="12054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3BA865-20CA-69E0-C250-A88057B325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9543" y="5143612"/>
            <a:ext cx="1211332" cy="12054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92440C-3E80-62FB-1E80-FE12453710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0115" y="5150856"/>
            <a:ext cx="2900138" cy="1221110"/>
          </a:xfrm>
          <a:prstGeom prst="rect">
            <a:avLst/>
          </a:prstGeom>
        </p:spPr>
      </p:pic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59D0998E-0CA0-7E85-788E-571542B0A17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28" y="1471427"/>
            <a:ext cx="1330898" cy="133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26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18AE-D800-9B77-5448-539E3BB2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 trophy on a table&#10;&#10;Description automatically generated">
            <a:extLst>
              <a:ext uri="{FF2B5EF4-FFF2-40B4-BE49-F238E27FC236}">
                <a16:creationId xmlns:a16="http://schemas.microsoft.com/office/drawing/2014/main" id="{53827EA0-D6A5-5A54-E57A-5704B2C227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052" y="3408298"/>
            <a:ext cx="2589425" cy="3449692"/>
          </a:xfrm>
          <a:prstGeom prst="rect">
            <a:avLst/>
          </a:prstGeom>
        </p:spPr>
      </p:pic>
      <p:pic>
        <p:nvPicPr>
          <p:cNvPr id="8" name="Content Placeholder 10" descr="A collage of a person's face&#10;&#10;Description automatically generated with medium confidence">
            <a:extLst>
              <a:ext uri="{FF2B5EF4-FFF2-40B4-BE49-F238E27FC236}">
                <a16:creationId xmlns:a16="http://schemas.microsoft.com/office/drawing/2014/main" id="{D3CE89B7-8D46-11A3-65D1-6C96A6D1EB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5" r="8299"/>
          <a:stretch/>
        </p:blipFill>
        <p:spPr>
          <a:xfrm>
            <a:off x="7145078" y="10"/>
            <a:ext cx="5046921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5" name="Content Placeholder 4" descr="Several trophies on display in a room&#10;&#10;Description automatically generated">
            <a:extLst>
              <a:ext uri="{FF2B5EF4-FFF2-40B4-BE49-F238E27FC236}">
                <a16:creationId xmlns:a16="http://schemas.microsoft.com/office/drawing/2014/main" id="{0C751D60-79FB-3368-C4EB-6CAAF3819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939" y="-20"/>
            <a:ext cx="4540654" cy="3408328"/>
          </a:xfrm>
        </p:spPr>
      </p:pic>
      <p:pic>
        <p:nvPicPr>
          <p:cNvPr id="7" name="Picture 6" descr="A group of people with their hands up&#10;&#10;Description automatically generated">
            <a:extLst>
              <a:ext uri="{FF2B5EF4-FFF2-40B4-BE49-F238E27FC236}">
                <a16:creationId xmlns:a16="http://schemas.microsoft.com/office/drawing/2014/main" id="{8D31DE8C-1F4F-36CF-10ED-0369D9CCE8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"/>
            <a:ext cx="5485061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6A04C1-3B21-6EF7-2C92-468AFCD7A4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3330" y="99703"/>
            <a:ext cx="1530803" cy="5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07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77B2-2DF0-7A9D-FB22-9DBBF83D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4FD1A-620B-EA2B-7AEB-DDA7F81DC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DE439D-282D-BCB9-0D0E-A78697F8F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795"/>
            <a:ext cx="12192000" cy="624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32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713391-4AFD-A936-A6C6-1CDFDECE4B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663" r="9091" b="31167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36E68-299B-C019-F838-F1F5557F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AI 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411D3-0BC8-5C14-C665-A61FDCA01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753799" cy="3767806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400" b="0" i="0" dirty="0" err="1">
                <a:solidFill>
                  <a:schemeClr val="bg1"/>
                </a:solidFill>
                <a:effectLst/>
                <a:latin typeface="Söhne"/>
              </a:rPr>
              <a:t>Meniru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Söhne"/>
              </a:rPr>
              <a:t>kecerdasan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Söhne"/>
              </a:rPr>
              <a:t>manusia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Söhne"/>
              </a:rPr>
              <a:t>. </a:t>
            </a:r>
          </a:p>
          <a:p>
            <a:r>
              <a:rPr lang="en-US" sz="2400" b="1" dirty="0">
                <a:solidFill>
                  <a:schemeClr val="bg1"/>
                </a:solidFill>
                <a:latin typeface="Söhne"/>
              </a:rPr>
              <a:t>A</a:t>
            </a:r>
            <a:r>
              <a:rPr lang="en-US" sz="2400" dirty="0">
                <a:solidFill>
                  <a:schemeClr val="bg1"/>
                </a:solidFill>
                <a:latin typeface="Söhne"/>
              </a:rPr>
              <a:t>rtificial </a:t>
            </a:r>
            <a:r>
              <a:rPr lang="en-US" sz="2400" b="1" dirty="0">
                <a:solidFill>
                  <a:schemeClr val="bg1"/>
                </a:solidFill>
                <a:latin typeface="Söhne"/>
              </a:rPr>
              <a:t>I</a:t>
            </a:r>
            <a:r>
              <a:rPr lang="en-US" sz="2400" dirty="0">
                <a:solidFill>
                  <a:schemeClr val="bg1"/>
                </a:solidFill>
                <a:latin typeface="Söhne"/>
              </a:rPr>
              <a:t>ntelligence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solidFill>
                  <a:schemeClr val="bg1"/>
                </a:solidFill>
                <a:latin typeface="Söhne"/>
                <a:cs typeface="Times New Roman" panose="02020603050405020304" pitchFamily="18" charset="0"/>
              </a:rPr>
              <a:t>K</a:t>
            </a:r>
            <a:r>
              <a:rPr lang="en-US" sz="2400" dirty="0" err="1">
                <a:solidFill>
                  <a:schemeClr val="bg1"/>
                </a:solidFill>
                <a:latin typeface="Söhne"/>
              </a:rPr>
              <a:t>ecerdasan</a:t>
            </a:r>
            <a:r>
              <a:rPr lang="en-US" sz="2400" dirty="0">
                <a:solidFill>
                  <a:schemeClr val="bg1"/>
                </a:solidFill>
                <a:latin typeface="Söhne"/>
              </a:rPr>
              <a:t> </a:t>
            </a:r>
            <a:r>
              <a:rPr lang="en-US" sz="2400" strike="sngStrike" dirty="0" err="1">
                <a:solidFill>
                  <a:schemeClr val="bg1"/>
                </a:solidFill>
                <a:latin typeface="Söhne"/>
              </a:rPr>
              <a:t>buatan</a:t>
            </a:r>
            <a:r>
              <a:rPr lang="en-US" sz="2400" dirty="0">
                <a:solidFill>
                  <a:schemeClr val="bg1"/>
                </a:solidFill>
                <a:latin typeface="Söhne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öhne"/>
              </a:rPr>
              <a:t>Artifisial</a:t>
            </a:r>
            <a:endParaRPr lang="en-US" sz="2400" dirty="0">
              <a:solidFill>
                <a:schemeClr val="bg1"/>
              </a:solidFill>
              <a:latin typeface="Söhne"/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latin typeface="Söhne"/>
            </a:endParaRPr>
          </a:p>
          <a:p>
            <a:r>
              <a:rPr lang="en-US" sz="2400" b="0" i="0" dirty="0" err="1">
                <a:solidFill>
                  <a:schemeClr val="bg1"/>
                </a:solidFill>
                <a:effectLst/>
                <a:latin typeface="Söhne"/>
              </a:rPr>
              <a:t>Melakukan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Söhne"/>
              </a:rPr>
              <a:t>tugas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Söhne"/>
              </a:rPr>
              <a:t> yang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Söhne"/>
              </a:rPr>
              <a:t>membutuhkan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Söhne"/>
              </a:rPr>
              <a:t>kecerdasan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</a:p>
          <a:p>
            <a:pPr lvl="1"/>
            <a:r>
              <a:rPr lang="en-US" b="0" i="0" dirty="0" err="1">
                <a:solidFill>
                  <a:schemeClr val="bg1"/>
                </a:solidFill>
                <a:effectLst/>
                <a:latin typeface="Söhne"/>
              </a:rPr>
              <a:t>pemecahan</a:t>
            </a:r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Söhne"/>
              </a:rPr>
              <a:t>masalah</a:t>
            </a:r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, </a:t>
            </a:r>
          </a:p>
          <a:p>
            <a:pPr lvl="1"/>
            <a:r>
              <a:rPr lang="en-US" b="0" i="0" dirty="0" err="1">
                <a:solidFill>
                  <a:schemeClr val="bg1"/>
                </a:solidFill>
                <a:effectLst/>
                <a:latin typeface="Söhne"/>
              </a:rPr>
              <a:t>pengambilan</a:t>
            </a:r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Söhne"/>
              </a:rPr>
              <a:t>keputusan</a:t>
            </a:r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, </a:t>
            </a:r>
          </a:p>
          <a:p>
            <a:pPr lvl="1"/>
            <a:r>
              <a:rPr lang="en-US" b="0" i="0" dirty="0" err="1">
                <a:solidFill>
                  <a:schemeClr val="bg1"/>
                </a:solidFill>
                <a:effectLst/>
                <a:latin typeface="Söhne"/>
              </a:rPr>
              <a:t>pengenalan</a:t>
            </a:r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Söhne"/>
              </a:rPr>
              <a:t>pola</a:t>
            </a:r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, </a:t>
            </a:r>
          </a:p>
          <a:p>
            <a:pPr lvl="1"/>
            <a:r>
              <a:rPr lang="en-US" b="0" i="0" dirty="0" err="1">
                <a:solidFill>
                  <a:schemeClr val="bg1"/>
                </a:solidFill>
                <a:effectLst/>
                <a:latin typeface="Söhne"/>
              </a:rPr>
              <a:t>Deteksi</a:t>
            </a:r>
            <a:endParaRPr lang="en-US" b="0" i="0" dirty="0">
              <a:solidFill>
                <a:schemeClr val="bg1"/>
              </a:solidFill>
              <a:effectLst/>
              <a:latin typeface="Söhne"/>
            </a:endParaRPr>
          </a:p>
          <a:p>
            <a:pPr lvl="1"/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dan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Söhne"/>
              </a:rPr>
              <a:t>lainnya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226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CB593EA-2F98-479F-B4C4-F366571FA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C663DC-693E-2DED-4D6F-584B6B2892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257" r="13576" b="1"/>
          <a:stretch/>
        </p:blipFill>
        <p:spPr>
          <a:xfrm>
            <a:off x="20" y="10"/>
            <a:ext cx="2970445" cy="3383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C5C403-B7A5-671F-7729-9A95343A72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833" b="1"/>
          <a:stretch/>
        </p:blipFill>
        <p:spPr>
          <a:xfrm>
            <a:off x="3072956" y="10"/>
            <a:ext cx="2970465" cy="3383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D1DBB7-102B-DAEF-37DF-DE8B5FADE1A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246" r="29247" b="1"/>
          <a:stretch/>
        </p:blipFill>
        <p:spPr>
          <a:xfrm>
            <a:off x="6145909" y="10"/>
            <a:ext cx="2971800" cy="33832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94B4F9-FB8C-F586-EACE-2DE688D1CDC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4863" r="4" b="8406"/>
          <a:stretch/>
        </p:blipFill>
        <p:spPr>
          <a:xfrm>
            <a:off x="9220200" y="10"/>
            <a:ext cx="2971800" cy="33832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C432B4-7398-7308-2863-137C794D3DF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986" r="-1" b="-1"/>
          <a:stretch/>
        </p:blipFill>
        <p:spPr>
          <a:xfrm>
            <a:off x="-1018" y="3474720"/>
            <a:ext cx="6044438" cy="338328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9BEB6D0-9E4E-4221-93D1-74ABECEE9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5910" y="3474720"/>
            <a:ext cx="6046090" cy="3383281"/>
          </a:xfrm>
          <a:prstGeom prst="rect">
            <a:avLst/>
          </a:prstGeom>
          <a:solidFill>
            <a:srgbClr val="2B2E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72455-EE62-F7F3-CE86-2FA20E859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1653" y="3799272"/>
            <a:ext cx="5193748" cy="637124"/>
          </a:xfrm>
        </p:spPr>
        <p:txBody>
          <a:bodyPr>
            <a:normAutofit/>
          </a:bodyPr>
          <a:lstStyle/>
          <a:p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DBF98-76F9-50AE-FEED-C93BE1B87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9648" y="4510585"/>
            <a:ext cx="5366610" cy="1758732"/>
          </a:xfrm>
        </p:spPr>
        <p:txBody>
          <a:bodyPr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7333DF-C387-E082-72C5-537EA4564F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240" y="3492945"/>
            <a:ext cx="6046090" cy="341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96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6B503D9-3F1E-0651-764D-01F3C3D1249E}"/>
              </a:ext>
            </a:extLst>
          </p:cNvPr>
          <p:cNvGrpSpPr/>
          <p:nvPr/>
        </p:nvGrpSpPr>
        <p:grpSpPr>
          <a:xfrm>
            <a:off x="218546" y="184371"/>
            <a:ext cx="5990867" cy="3951694"/>
            <a:chOff x="250445" y="365125"/>
            <a:chExt cx="5544300" cy="357803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659AC90-4041-642E-1164-DB8BCDB99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445" y="365125"/>
              <a:ext cx="5544299" cy="357803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8B1A76-994C-406F-4E53-902ADE56248A}"/>
                </a:ext>
              </a:extLst>
            </p:cNvPr>
            <p:cNvSpPr/>
            <p:nvPr/>
          </p:nvSpPr>
          <p:spPr>
            <a:xfrm>
              <a:off x="4274288" y="861238"/>
              <a:ext cx="1520457" cy="30819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A29FE14-0AFA-FEC2-D1CA-FE9667F6FF3C}"/>
              </a:ext>
            </a:extLst>
          </p:cNvPr>
          <p:cNvSpPr/>
          <p:nvPr/>
        </p:nvSpPr>
        <p:spPr>
          <a:xfrm flipH="1">
            <a:off x="4359665" y="1129553"/>
            <a:ext cx="6599688" cy="212463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4052F-AA9F-87BE-83DE-A17535B12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5228" y="365125"/>
            <a:ext cx="4878572" cy="954107"/>
          </a:xfrm>
        </p:spPr>
        <p:txBody>
          <a:bodyPr/>
          <a:lstStyle/>
          <a:p>
            <a:r>
              <a:rPr lang="en-US" dirty="0"/>
              <a:t>AI vs Human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289583-31D5-AFA0-AF1B-BBA7CD423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888" y="2541181"/>
            <a:ext cx="4754112" cy="39516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729F12-E724-1F23-EAF8-BFAFA67AFB10}"/>
              </a:ext>
            </a:extLst>
          </p:cNvPr>
          <p:cNvSpPr txBox="1"/>
          <p:nvPr/>
        </p:nvSpPr>
        <p:spPr>
          <a:xfrm>
            <a:off x="4694275" y="1576442"/>
            <a:ext cx="59908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Blue </a:t>
            </a:r>
            <a:r>
              <a:rPr lang="en-US" sz="28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mengalahkan</a:t>
            </a:r>
            <a:r>
              <a:rPr lang="en-US" sz="2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Kasparov sang </a:t>
            </a:r>
            <a:r>
              <a:rPr lang="en-US" sz="28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juara</a:t>
            </a:r>
            <a:r>
              <a:rPr lang="en-US" sz="2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dunia </a:t>
            </a:r>
            <a:r>
              <a:rPr lang="en-US" sz="28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Catur</a:t>
            </a:r>
            <a:r>
              <a:rPr lang="en-US" sz="2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1997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EE2D80C-339B-BE9E-16EE-D5B16FA7CB5B}"/>
              </a:ext>
            </a:extLst>
          </p:cNvPr>
          <p:cNvSpPr/>
          <p:nvPr/>
        </p:nvSpPr>
        <p:spPr>
          <a:xfrm>
            <a:off x="775992" y="3191298"/>
            <a:ext cx="7305689" cy="395169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F7E45-11ED-DE08-F376-D95AF5FC5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57329"/>
            <a:ext cx="6599688" cy="2019633"/>
          </a:xfrm>
        </p:spPr>
        <p:txBody>
          <a:bodyPr/>
          <a:lstStyle/>
          <a:p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permainan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Go, program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AlphaGo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Google DeepMind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mengalahkan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pemain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profesional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terkemuka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termasuk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juara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dunia Lee Sedol, 3 – 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669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F2942-FDFD-C105-F432-DED0650E1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Perjalanan</a:t>
            </a:r>
            <a:r>
              <a:rPr lang="en-US" dirty="0"/>
              <a:t> AlphaGo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3443F-609F-452E-FACC-3D59D6119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Saat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awal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dikembangkan</a:t>
            </a:r>
            <a:endParaRPr lang="en-US" b="0" i="0" dirty="0">
              <a:solidFill>
                <a:srgbClr val="555555"/>
              </a:solidFill>
              <a:effectLst/>
              <a:latin typeface="Source Sans Pro" panose="020B0503030403020204" pitchFamily="34" charset="0"/>
            </a:endParaRPr>
          </a:p>
          <a:p>
            <a:pPr lvl="1"/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diberi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100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ribu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data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pertandingan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Go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untuk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dipelajari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. </a:t>
            </a:r>
          </a:p>
          <a:p>
            <a:pPr lvl="1"/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Kemudian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, AlphaGo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akan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bermain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Go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bersama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dengan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dirinya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sendiri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</a:p>
          <a:p>
            <a:pPr lvl="1"/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setiap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dia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kalah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dia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akan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memperbaiki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cara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ia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bermain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dan proses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bermain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ini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akan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diulang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sampai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jutaan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kali.</a:t>
            </a:r>
          </a:p>
          <a:p>
            <a:pPr algn="l"/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Kelebihan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AI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dibanding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manusia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</a:p>
          <a:p>
            <a:pPr lvl="1"/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AI yang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dimiliki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oleh AlphaGo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tadi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adalah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</a:p>
          <a:p>
            <a:pPr lvl="1"/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manusia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hanya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dapat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bermain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satu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kali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dalam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satu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waktu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. </a:t>
            </a:r>
          </a:p>
          <a:p>
            <a:pPr lvl="1"/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Sedangkan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AI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bisa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mensimulasikan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beberapa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pertandingan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pada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satu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waktu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secara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bersamaan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. </a:t>
            </a:r>
          </a:p>
          <a:p>
            <a:pPr lvl="1"/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Sehingga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proses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belajar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dan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pengalamannya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juga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bisa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lebih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banyak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dibanding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manusia</a:t>
            </a:r>
            <a:r>
              <a:rPr lang="en-US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77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C120-5423-165A-924C-B224F419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Perkembangan Teknologi AI</a:t>
            </a:r>
          </a:p>
        </p:txBody>
      </p:sp>
      <p:pic>
        <p:nvPicPr>
          <p:cNvPr id="4" name="Google Shape;671;p100">
            <a:extLst>
              <a:ext uri="{FF2B5EF4-FFF2-40B4-BE49-F238E27FC236}">
                <a16:creationId xmlns:a16="http://schemas.microsoft.com/office/drawing/2014/main" id="{3DCD9594-2E66-BCB3-F356-AE089A4D4497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838200" y="2086210"/>
            <a:ext cx="10515599" cy="39959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83665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0F60-AC86-25A2-CB57-356AC4C4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1274"/>
          </a:xfrm>
        </p:spPr>
        <p:txBody>
          <a:bodyPr/>
          <a:lstStyle/>
          <a:p>
            <a:r>
              <a:rPr lang="en-US" dirty="0" err="1"/>
              <a:t>Resiko</a:t>
            </a:r>
            <a:r>
              <a:rPr lang="en-US" dirty="0"/>
              <a:t> AI</a:t>
            </a:r>
          </a:p>
        </p:txBody>
      </p:sp>
      <p:sp>
        <p:nvSpPr>
          <p:cNvPr id="4" name="Google Shape;832;p112">
            <a:extLst>
              <a:ext uri="{FF2B5EF4-FFF2-40B4-BE49-F238E27FC236}">
                <a16:creationId xmlns:a16="http://schemas.microsoft.com/office/drawing/2014/main" id="{6B53EE52-FD29-D435-48C3-185EF3795B3D}"/>
              </a:ext>
            </a:extLst>
          </p:cNvPr>
          <p:cNvSpPr txBox="1"/>
          <p:nvPr/>
        </p:nvSpPr>
        <p:spPr>
          <a:xfrm>
            <a:off x="5871991" y="1474801"/>
            <a:ext cx="3565783" cy="32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“Will a machine take away my job?”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837;p112">
            <a:extLst>
              <a:ext uri="{FF2B5EF4-FFF2-40B4-BE49-F238E27FC236}">
                <a16:creationId xmlns:a16="http://schemas.microsoft.com/office/drawing/2014/main" id="{A9D2492E-5237-6A97-B3D8-B03681593E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3193" y="1912598"/>
            <a:ext cx="4552740" cy="249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38;p112">
            <a:extLst>
              <a:ext uri="{FF2B5EF4-FFF2-40B4-BE49-F238E27FC236}">
                <a16:creationId xmlns:a16="http://schemas.microsoft.com/office/drawing/2014/main" id="{12C63F24-9524-4803-7E9F-6171AD5078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55057" b="60804"/>
          <a:stretch/>
        </p:blipFill>
        <p:spPr>
          <a:xfrm>
            <a:off x="462134" y="1493914"/>
            <a:ext cx="5033791" cy="29158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25;p111">
            <a:extLst>
              <a:ext uri="{FF2B5EF4-FFF2-40B4-BE49-F238E27FC236}">
                <a16:creationId xmlns:a16="http://schemas.microsoft.com/office/drawing/2014/main" id="{C06EEB17-86F2-EF39-50A5-86B8A3A5D964}"/>
              </a:ext>
            </a:extLst>
          </p:cNvPr>
          <p:cNvSpPr txBox="1"/>
          <p:nvPr/>
        </p:nvSpPr>
        <p:spPr>
          <a:xfrm>
            <a:off x="670560" y="4618175"/>
            <a:ext cx="10683240" cy="18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mulai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banyak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menseleksi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pegawai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bagaimana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data-training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menjadikan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AI “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rasis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30"/>
              <a:buFont typeface="Arial"/>
              <a:buChar char="•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Bagaimana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melakukan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profiling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mengungkapkan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beberapa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“personal” dan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benar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3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Ethics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 Ethics pada AI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menjadi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perlu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pertimbangan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851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494DC-885B-8B08-0314-501FFF856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Potentially Large Effects </a:t>
            </a:r>
            <a:br>
              <a:rPr lang="en-US" dirty="0"/>
            </a:br>
            <a:r>
              <a:rPr lang="en-US" dirty="0"/>
              <a:t>of 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3FB6B-7A31-FE5B-FBFF-B55975FEC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7023"/>
            <a:ext cx="10927976" cy="420994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diperkirakan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1" i="0" dirty="0">
                <a:solidFill>
                  <a:srgbClr val="FF0000"/>
                </a:solidFill>
                <a:effectLst/>
                <a:latin typeface="Allianz Neo"/>
              </a:rPr>
              <a:t>AI </a:t>
            </a:r>
            <a:r>
              <a:rPr lang="en-US" b="1" i="0" dirty="0" err="1">
                <a:solidFill>
                  <a:srgbClr val="FF0000"/>
                </a:solidFill>
                <a:effectLst/>
                <a:latin typeface="Allianz Neo"/>
              </a:rPr>
              <a:t>akan</a:t>
            </a:r>
            <a:r>
              <a:rPr lang="en-US" b="1" i="0" dirty="0">
                <a:solidFill>
                  <a:srgbClr val="FF0000"/>
                </a:solidFill>
                <a:effectLst/>
                <a:latin typeface="Allianz Neo"/>
              </a:rPr>
              <a:t> </a:t>
            </a:r>
            <a:r>
              <a:rPr lang="en-US" b="1" i="0" dirty="0" err="1">
                <a:solidFill>
                  <a:srgbClr val="FF0000"/>
                </a:solidFill>
                <a:effectLst/>
                <a:latin typeface="Allianz Neo"/>
              </a:rPr>
              <a:t>berdampak</a:t>
            </a:r>
            <a:r>
              <a:rPr lang="en-US" b="1" i="0" dirty="0">
                <a:solidFill>
                  <a:srgbClr val="FF0000"/>
                </a:solidFill>
                <a:effectLst/>
                <a:latin typeface="Allianz Neo"/>
              </a:rPr>
              <a:t> pada 300 </a:t>
            </a:r>
            <a:r>
              <a:rPr lang="en-US" b="1" i="0" dirty="0" err="1">
                <a:solidFill>
                  <a:srgbClr val="FF0000"/>
                </a:solidFill>
                <a:effectLst/>
                <a:latin typeface="Allianz Neo"/>
              </a:rPr>
              <a:t>juta</a:t>
            </a:r>
            <a:r>
              <a:rPr lang="en-US" b="1" i="0" dirty="0">
                <a:solidFill>
                  <a:srgbClr val="FF0000"/>
                </a:solidFill>
                <a:effectLst/>
                <a:latin typeface="Allianz Neo"/>
              </a:rPr>
              <a:t> </a:t>
            </a:r>
            <a:r>
              <a:rPr lang="en-US" b="1" i="0" dirty="0" err="1">
                <a:solidFill>
                  <a:srgbClr val="FF0000"/>
                </a:solidFill>
                <a:effectLst/>
                <a:latin typeface="Allianz Neo"/>
              </a:rPr>
              <a:t>pekerjaan</a:t>
            </a:r>
            <a:r>
              <a:rPr lang="en-US" b="1" i="0" dirty="0">
                <a:solidFill>
                  <a:srgbClr val="FF0000"/>
                </a:solidFill>
                <a:effectLst/>
                <a:latin typeface="Allianz Neo"/>
              </a:rPr>
              <a:t> 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di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seluruh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dunia (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Goldman Sachs , 2023)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.</a:t>
            </a:r>
          </a:p>
          <a:p>
            <a:pPr>
              <a:spcBef>
                <a:spcPts val="1800"/>
              </a:spcBef>
            </a:pP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beberapa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industri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akan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mengalami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penurunan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jumlah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pekerjaan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yang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signifikan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dalam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beberapa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tahun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ke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depan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. </a:t>
            </a:r>
          </a:p>
          <a:p>
            <a:pPr>
              <a:spcBef>
                <a:spcPts val="1800"/>
              </a:spcBef>
            </a:pP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Dua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Pertiga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Pekerjaan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Saat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Ini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Dapat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Diotomatisasi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Secara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i="0" dirty="0" err="1">
                <a:solidFill>
                  <a:srgbClr val="414141"/>
                </a:solidFill>
                <a:effectLst/>
                <a:latin typeface="Allianz Neo"/>
              </a:rPr>
              <a:t>Parsial</a:t>
            </a:r>
            <a:r>
              <a:rPr lang="en-US" i="0" dirty="0">
                <a:solidFill>
                  <a:srgbClr val="414141"/>
                </a:solidFill>
                <a:effectLst/>
                <a:latin typeface="Allianz Neo"/>
              </a:rPr>
              <a:t> oleh AI</a:t>
            </a:r>
          </a:p>
          <a:p>
            <a:pPr lvl="1">
              <a:spcBef>
                <a:spcPts val="1800"/>
              </a:spcBef>
            </a:pPr>
            <a:r>
              <a:rPr lang="sv-SE" b="0" i="0" dirty="0">
                <a:solidFill>
                  <a:srgbClr val="374151"/>
                </a:solidFill>
                <a:effectLst/>
                <a:latin typeface="Söhne"/>
              </a:rPr>
              <a:t>Penggantian di Bidang Hukum dan Administrasi, </a:t>
            </a:r>
          </a:p>
          <a:p>
            <a:pPr lvl="1">
              <a:spcBef>
                <a:spcPts val="1800"/>
              </a:spcBef>
            </a:pPr>
            <a:r>
              <a:rPr lang="sv-SE" b="0" i="0" dirty="0">
                <a:solidFill>
                  <a:srgbClr val="374151"/>
                </a:solidFill>
                <a:effectLst/>
                <a:latin typeface="Söhne"/>
              </a:rPr>
              <a:t>Dampak Sedikit pada Pekerjaan Manual dan di Luar Ruangan, </a:t>
            </a:r>
          </a:p>
          <a:p>
            <a:pPr lvl="1">
              <a:spcBef>
                <a:spcPts val="1800"/>
              </a:spcBef>
            </a:pPr>
            <a:r>
              <a:rPr lang="sv-SE" b="0" i="0" dirty="0">
                <a:solidFill>
                  <a:srgbClr val="374151"/>
                </a:solidFill>
                <a:effectLst/>
                <a:latin typeface="Söhne"/>
              </a:rPr>
              <a:t>Peningkatan Produktivitas di Semua Tempat</a:t>
            </a:r>
            <a:endParaRPr lang="en-US" i="0" dirty="0">
              <a:solidFill>
                <a:srgbClr val="414141"/>
              </a:solidFill>
              <a:effectLst/>
              <a:latin typeface="Allianz Neo"/>
            </a:endParaRPr>
          </a:p>
          <a:p>
            <a:pPr>
              <a:spcBef>
                <a:spcPts val="18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380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F712C-A7A0-7EA8-5829-4729B968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897D0-C372-98E7-9CFE-C43925814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BB74F-9475-98AD-51C3-B6E268D41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8" y="365125"/>
            <a:ext cx="9267952" cy="599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69E11-ADA3-6890-488E-F2E5A1529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Fastest-growing and fastest-declining jobs, 2025-2030 </a:t>
            </a:r>
            <a:r>
              <a:rPr lang="en-US" sz="2400" dirty="0"/>
              <a:t>(World Economic Forum, Future of Jobs Survey 2024)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6208E-4717-4BFB-9B0B-570B06375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D7C6D-D698-FDB2-A211-787F45150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1" y="1923603"/>
            <a:ext cx="7867868" cy="4351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0DAD3B-321D-2F5F-8530-AFE32159C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797" y="1923603"/>
            <a:ext cx="46162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31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BF69B-632A-935B-0F2E-13DAD6CB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D6BE2-3CBD-C941-8910-DD283115C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F38F1-6FA0-E94D-A213-D70D122C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31" b="17804"/>
          <a:stretch>
            <a:fillRect/>
          </a:stretch>
        </p:blipFill>
        <p:spPr>
          <a:xfrm>
            <a:off x="838200" y="313669"/>
            <a:ext cx="10305828" cy="6544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037AF7-5FCA-3ED4-A980-53E90AC0E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886" y="5481637"/>
            <a:ext cx="6637862" cy="690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B6D705-2EC7-C832-D54A-37FE43A0A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563" y="2636985"/>
            <a:ext cx="3006938" cy="59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87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91E2-ECB4-ECFA-298F-73410B680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89CC5-3604-BB85-D8B4-C5E8389E5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FB6E47-1A1D-8CBD-D991-594299B74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106" y="351559"/>
            <a:ext cx="9094694" cy="65064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C914DF-5F2B-AF2E-F5BC-6DD5CE368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9489"/>
            <a:ext cx="3698966" cy="4183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E7BBA1-BC54-23A7-24A6-7910B9569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93" y="60321"/>
            <a:ext cx="4055969" cy="53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12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6B33-89F1-796B-7CE4-86F38366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7157"/>
          </a:xfrm>
        </p:spPr>
        <p:txBody>
          <a:bodyPr/>
          <a:lstStyle/>
          <a:p>
            <a:r>
              <a:rPr lang="en-US" dirty="0"/>
              <a:t>Jadi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bagaimana</a:t>
            </a:r>
            <a:r>
              <a:rPr lang="en-US" dirty="0"/>
              <a:t>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B850-5722-5426-E2F5-C050B1760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Inovatif</a:t>
            </a:r>
            <a:r>
              <a:rPr 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US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Kreatif</a:t>
            </a:r>
            <a:endParaRPr lang="en-US" b="1" i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Manfaatkan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AI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meningkatkan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efisiensi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menghasilkan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inovasi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menciptakan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peluang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baru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US" b="1" dirty="0">
              <a:solidFill>
                <a:srgbClr val="414141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57CCB-82BD-3FF7-B321-24F7D10CB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165" y="1825625"/>
            <a:ext cx="4281166" cy="3758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E96A21-B3D6-DD19-A769-44AE79DACE76}"/>
              </a:ext>
            </a:extLst>
          </p:cNvPr>
          <p:cNvSpPr txBox="1"/>
          <p:nvPr/>
        </p:nvSpPr>
        <p:spPr>
          <a:xfrm>
            <a:off x="413498" y="4853954"/>
            <a:ext cx="72916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“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Kecerdasan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kita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adalah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apa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 yang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menjadikan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kita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manusia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, dan AI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adalah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perpanjangan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dari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kualitas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itu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.” (Yann LeCun)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955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6B33-89F1-796B-7CE4-86F38366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7157"/>
          </a:xfrm>
        </p:spPr>
        <p:txBody>
          <a:bodyPr/>
          <a:lstStyle/>
          <a:p>
            <a:r>
              <a:rPr lang="en-US" dirty="0"/>
              <a:t>Jadi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bagaimana</a:t>
            </a:r>
            <a:r>
              <a:rPr lang="en-US" dirty="0"/>
              <a:t>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B850-5722-5426-E2F5-C050B1760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42794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Terus </a:t>
            </a:r>
            <a:r>
              <a:rPr lang="en-US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Belajar</a:t>
            </a:r>
            <a:r>
              <a:rPr 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dan </a:t>
            </a:r>
            <a:r>
              <a:rPr lang="en-US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Beradaptasi</a:t>
            </a:r>
            <a:endParaRPr lang="en-US" b="1" i="0" dirty="0">
              <a:solidFill>
                <a:srgbClr val="0070C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Pahami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bagaimana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AI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akan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mempengaruhi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tugas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/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pekerjaanmu</a:t>
            </a:r>
            <a:endParaRPr lang="en-US" b="0" i="0" dirty="0">
              <a:solidFill>
                <a:srgbClr val="414141"/>
              </a:solidFill>
              <a:effectLst/>
              <a:latin typeface="Allianz Neo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pelajari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keterampilan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baru</a:t>
            </a:r>
            <a:endParaRPr lang="en-US" b="0" i="0" dirty="0">
              <a:solidFill>
                <a:srgbClr val="414141"/>
              </a:solidFill>
              <a:effectLst/>
              <a:latin typeface="Allianz Neo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Kendati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beberapa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pekerjaan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mungkin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akan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tergantikan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oleh AI,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tetapi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peluang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profesi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baru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juga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akan</a:t>
            </a:r>
            <a:r>
              <a:rPr lang="en-US" b="0" i="0" dirty="0">
                <a:solidFill>
                  <a:srgbClr val="414141"/>
                </a:solidFill>
                <a:effectLst/>
                <a:latin typeface="Allianz Neo"/>
              </a:rPr>
              <a:t> </a:t>
            </a:r>
            <a:r>
              <a:rPr lang="en-US" b="0" i="0" dirty="0" err="1">
                <a:solidFill>
                  <a:srgbClr val="414141"/>
                </a:solidFill>
                <a:effectLst/>
                <a:latin typeface="Allianz Neo"/>
              </a:rPr>
              <a:t>muncul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" name="Google Shape;238;p59">
            <a:extLst>
              <a:ext uri="{FF2B5EF4-FFF2-40B4-BE49-F238E27FC236}">
                <a16:creationId xmlns:a16="http://schemas.microsoft.com/office/drawing/2014/main" id="{7252E08C-AF48-0E6C-654F-2D4139A558BF}"/>
              </a:ext>
            </a:extLst>
          </p:cNvPr>
          <p:cNvGrpSpPr/>
          <p:nvPr/>
        </p:nvGrpSpPr>
        <p:grpSpPr>
          <a:xfrm>
            <a:off x="9171740" y="1825625"/>
            <a:ext cx="2791900" cy="4276031"/>
            <a:chOff x="8164326" y="1384339"/>
            <a:chExt cx="2724337" cy="3761463"/>
          </a:xfrm>
        </p:grpSpPr>
        <p:pic>
          <p:nvPicPr>
            <p:cNvPr id="5" name="Google Shape;239;p59">
              <a:extLst>
                <a:ext uri="{FF2B5EF4-FFF2-40B4-BE49-F238E27FC236}">
                  <a16:creationId xmlns:a16="http://schemas.microsoft.com/office/drawing/2014/main" id="{66E41838-9387-4327-C177-B6B151D2D5E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876" b="5835"/>
            <a:stretch/>
          </p:blipFill>
          <p:spPr>
            <a:xfrm>
              <a:off x="8164326" y="2007315"/>
              <a:ext cx="2724337" cy="31384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240;p59">
              <a:extLst>
                <a:ext uri="{FF2B5EF4-FFF2-40B4-BE49-F238E27FC236}">
                  <a16:creationId xmlns:a16="http://schemas.microsoft.com/office/drawing/2014/main" id="{A9B33911-CA01-10C7-6FC1-B220EC769899}"/>
                </a:ext>
              </a:extLst>
            </p:cNvPr>
            <p:cNvSpPr txBox="1"/>
            <p:nvPr/>
          </p:nvSpPr>
          <p:spPr>
            <a:xfrm>
              <a:off x="8447953" y="1384339"/>
              <a:ext cx="2157000" cy="64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McKinsey: Sept 2019</a:t>
              </a: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Automation Effect in Indonesia: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999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B5A5D-9432-3F66-BFE8-EE530C542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Penerapan</a:t>
            </a:r>
            <a:r>
              <a:rPr lang="en-US" dirty="0"/>
              <a:t> AI: </a:t>
            </a:r>
            <a:br>
              <a:rPr lang="en-US" dirty="0"/>
            </a:br>
            <a:r>
              <a:rPr lang="en-US" dirty="0"/>
              <a:t>Verification &amp; Identification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C3F94CDD-D78D-B845-83F2-DB1E2F8C2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73" y="1618431"/>
            <a:ext cx="5925912" cy="3989381"/>
          </a:xfrm>
          <a:prstGeom prst="rect">
            <a:avLst/>
          </a:prstGeom>
        </p:spPr>
      </p:pic>
      <p:sp>
        <p:nvSpPr>
          <p:cNvPr id="6" name="Google Shape;709;p104">
            <a:extLst>
              <a:ext uri="{FF2B5EF4-FFF2-40B4-BE49-F238E27FC236}">
                <a16:creationId xmlns:a16="http://schemas.microsoft.com/office/drawing/2014/main" id="{CA00A356-5C1A-2B70-BDC9-35360977A1BE}"/>
              </a:ext>
            </a:extLst>
          </p:cNvPr>
          <p:cNvSpPr txBox="1"/>
          <p:nvPr/>
        </p:nvSpPr>
        <p:spPr>
          <a:xfrm>
            <a:off x="9099978" y="3321608"/>
            <a:ext cx="2133900" cy="36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32A"/>
              </a:buClr>
              <a:buSzPts val="1950"/>
              <a:buFont typeface="Titillium Web"/>
              <a:buNone/>
            </a:pPr>
            <a:r>
              <a:rPr lang="en-US" sz="1950" b="1" i="0" u="none" strike="noStrike" cap="none" dirty="0">
                <a:solidFill>
                  <a:srgbClr val="11532A"/>
                </a:solidFill>
                <a:latin typeface="Titillium Web"/>
                <a:ea typeface="Titillium Web"/>
                <a:cs typeface="Titillium Web"/>
                <a:sym typeface="Titillium Web"/>
              </a:rPr>
              <a:t>Voice Biometrics</a:t>
            </a:r>
            <a:endParaRPr sz="1950" b="0" i="0" u="none" strike="noStrike" cap="none" dirty="0">
              <a:solidFill>
                <a:srgbClr val="11532A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7" name="Google Shape;710;p104">
            <a:extLst>
              <a:ext uri="{FF2B5EF4-FFF2-40B4-BE49-F238E27FC236}">
                <a16:creationId xmlns:a16="http://schemas.microsoft.com/office/drawing/2014/main" id="{3D357266-D742-4392-1E97-E8A9637D2D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6873" r="16879"/>
          <a:stretch/>
        </p:blipFill>
        <p:spPr>
          <a:xfrm>
            <a:off x="788249" y="1825621"/>
            <a:ext cx="1528839" cy="15654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oogle Shape;711;p104">
            <a:extLst>
              <a:ext uri="{FF2B5EF4-FFF2-40B4-BE49-F238E27FC236}">
                <a16:creationId xmlns:a16="http://schemas.microsoft.com/office/drawing/2014/main" id="{3C72A23C-D166-F67A-B41E-7A011A37FC38}"/>
              </a:ext>
            </a:extLst>
          </p:cNvPr>
          <p:cNvGrpSpPr/>
          <p:nvPr/>
        </p:nvGrpSpPr>
        <p:grpSpPr>
          <a:xfrm>
            <a:off x="8791590" y="1813568"/>
            <a:ext cx="2755812" cy="1177275"/>
            <a:chOff x="628100" y="1227675"/>
            <a:chExt cx="3674414" cy="1569700"/>
          </a:xfrm>
        </p:grpSpPr>
        <p:pic>
          <p:nvPicPr>
            <p:cNvPr id="19" name="Google Shape;712;p104">
              <a:extLst>
                <a:ext uri="{FF2B5EF4-FFF2-40B4-BE49-F238E27FC236}">
                  <a16:creationId xmlns:a16="http://schemas.microsoft.com/office/drawing/2014/main" id="{E4AA462C-5714-226B-9BC7-68BEC8B9A55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24405" r="35332"/>
            <a:stretch/>
          </p:blipFill>
          <p:spPr>
            <a:xfrm>
              <a:off x="788817" y="1227675"/>
              <a:ext cx="2985738" cy="156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713;p104">
              <a:extLst>
                <a:ext uri="{FF2B5EF4-FFF2-40B4-BE49-F238E27FC236}">
                  <a16:creationId xmlns:a16="http://schemas.microsoft.com/office/drawing/2014/main" id="{1A9843F7-AE4C-0523-36BF-6EBB823F202E}"/>
                </a:ext>
              </a:extLst>
            </p:cNvPr>
            <p:cNvSpPr/>
            <p:nvPr/>
          </p:nvSpPr>
          <p:spPr>
            <a:xfrm>
              <a:off x="3675233" y="1978949"/>
              <a:ext cx="305100" cy="396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455F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50" tIns="68550" rIns="68550" bIns="6855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Corbel"/>
                <a:buNone/>
              </a:pPr>
              <a:endPara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" name="Google Shape;714;p104">
              <a:extLst>
                <a:ext uri="{FF2B5EF4-FFF2-40B4-BE49-F238E27FC236}">
                  <a16:creationId xmlns:a16="http://schemas.microsoft.com/office/drawing/2014/main" id="{10B19521-D638-F794-640D-BC5E3A71964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8100" y="1319045"/>
              <a:ext cx="1478343" cy="14783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" name="Google Shape;715;p104">
              <a:extLst>
                <a:ext uri="{FF2B5EF4-FFF2-40B4-BE49-F238E27FC236}">
                  <a16:creationId xmlns:a16="http://schemas.microsoft.com/office/drawing/2014/main" id="{754B612F-D603-2439-3179-F8C27B606D04}"/>
                </a:ext>
              </a:extLst>
            </p:cNvPr>
            <p:cNvGrpSpPr/>
            <p:nvPr/>
          </p:nvGrpSpPr>
          <p:grpSpPr>
            <a:xfrm>
              <a:off x="3353231" y="1537929"/>
              <a:ext cx="949283" cy="949283"/>
              <a:chOff x="4319163" y="2163913"/>
              <a:chExt cx="1232675" cy="1232675"/>
            </a:xfrm>
          </p:grpSpPr>
          <p:pic>
            <p:nvPicPr>
              <p:cNvPr id="24" name="Google Shape;716;p104">
                <a:extLst>
                  <a:ext uri="{FF2B5EF4-FFF2-40B4-BE49-F238E27FC236}">
                    <a16:creationId xmlns:a16="http://schemas.microsoft.com/office/drawing/2014/main" id="{3651B4C3-40CC-B906-FB3A-F31331A5AFC2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4319163" y="2163913"/>
                <a:ext cx="1232675" cy="12326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" name="Google Shape;717;p104">
                <a:extLst>
                  <a:ext uri="{FF2B5EF4-FFF2-40B4-BE49-F238E27FC236}">
                    <a16:creationId xmlns:a16="http://schemas.microsoft.com/office/drawing/2014/main" id="{428BB987-53A7-57CC-668D-218E237CDC00}"/>
                  </a:ext>
                </a:extLst>
              </p:cNvPr>
              <p:cNvSpPr/>
              <p:nvPr/>
            </p:nvSpPr>
            <p:spPr>
              <a:xfrm>
                <a:off x="4400394" y="2512336"/>
                <a:ext cx="465900" cy="112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50" tIns="68550" rIns="68550" bIns="6855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Corbel"/>
                  <a:buNone/>
                </a:pPr>
                <a:endPara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" name="Google Shape;718;p104">
              <a:extLst>
                <a:ext uri="{FF2B5EF4-FFF2-40B4-BE49-F238E27FC236}">
                  <a16:creationId xmlns:a16="http://schemas.microsoft.com/office/drawing/2014/main" id="{D3899F8E-3510-FCDB-12D2-E5874C320018}"/>
                </a:ext>
              </a:extLst>
            </p:cNvPr>
            <p:cNvSpPr/>
            <p:nvPr/>
          </p:nvSpPr>
          <p:spPr>
            <a:xfrm>
              <a:off x="1755108" y="1537903"/>
              <a:ext cx="832200" cy="492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dist="9525" algn="bl" rotWithShape="0">
                <a:srgbClr val="000000">
                  <a:alpha val="47843"/>
                </a:srgbClr>
              </a:outerShdw>
            </a:effectLst>
          </p:spPr>
          <p:txBody>
            <a:bodyPr spcFirstLastPara="1" wrap="square" lIns="68550" tIns="68550" rIns="68550" bIns="6855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Open Sans"/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Halo</a:t>
              </a:r>
              <a:endParaRPr sz="9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" name="Google Shape;719;p104">
            <a:extLst>
              <a:ext uri="{FF2B5EF4-FFF2-40B4-BE49-F238E27FC236}">
                <a16:creationId xmlns:a16="http://schemas.microsoft.com/office/drawing/2014/main" id="{463C8414-8762-7B79-0D68-DBB73B31E413}"/>
              </a:ext>
            </a:extLst>
          </p:cNvPr>
          <p:cNvSpPr/>
          <p:nvPr/>
        </p:nvSpPr>
        <p:spPr>
          <a:xfrm>
            <a:off x="343207" y="5625238"/>
            <a:ext cx="2787750" cy="533475"/>
          </a:xfrm>
          <a:prstGeom prst="roundRect">
            <a:avLst>
              <a:gd name="adj" fmla="val 7152"/>
            </a:avLst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A40"/>
              </a:buClr>
              <a:buSzPts val="975"/>
              <a:buFont typeface="Open Sans"/>
              <a:buNone/>
            </a:pPr>
            <a:r>
              <a:rPr lang="en-US" sz="975" b="0" i="1" u="none" strike="noStrike" cap="none" dirty="0">
                <a:solidFill>
                  <a:srgbClr val="1F4A40"/>
                </a:solidFill>
                <a:latin typeface="Open Sans"/>
                <a:ea typeface="Open Sans"/>
                <a:cs typeface="Open Sans"/>
                <a:sym typeface="Open Sans"/>
              </a:rPr>
              <a:t>Up to 10 times faster than traditional authentication methods*</a:t>
            </a:r>
            <a:endParaRPr sz="975" b="0" i="1" u="none" strike="noStrike" cap="none" dirty="0">
              <a:solidFill>
                <a:srgbClr val="1F4A4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720;p104">
            <a:extLst>
              <a:ext uri="{FF2B5EF4-FFF2-40B4-BE49-F238E27FC236}">
                <a16:creationId xmlns:a16="http://schemas.microsoft.com/office/drawing/2014/main" id="{92DC89C5-7F71-2362-A5FA-9EE2805A887B}"/>
              </a:ext>
            </a:extLst>
          </p:cNvPr>
          <p:cNvSpPr txBox="1"/>
          <p:nvPr/>
        </p:nvSpPr>
        <p:spPr>
          <a:xfrm>
            <a:off x="233333" y="5380499"/>
            <a:ext cx="2954162" cy="36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32A"/>
              </a:buClr>
              <a:buSzPts val="1950"/>
              <a:buFont typeface="Titillium Web"/>
              <a:buNone/>
            </a:pPr>
            <a:r>
              <a:rPr lang="en-US" sz="1950" b="1" i="0" u="none" strike="noStrike" cap="none" dirty="0">
                <a:solidFill>
                  <a:srgbClr val="11532A"/>
                </a:solidFill>
                <a:latin typeface="Titillium Web"/>
                <a:ea typeface="Titillium Web"/>
                <a:cs typeface="Titillium Web"/>
                <a:sym typeface="Titillium Web"/>
              </a:rPr>
              <a:t>Faster Authentication</a:t>
            </a:r>
            <a:endParaRPr sz="1950" b="0" i="0" u="none" strike="noStrike" cap="none" dirty="0">
              <a:solidFill>
                <a:srgbClr val="11532A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" name="Google Shape;721;p104">
            <a:extLst>
              <a:ext uri="{FF2B5EF4-FFF2-40B4-BE49-F238E27FC236}">
                <a16:creationId xmlns:a16="http://schemas.microsoft.com/office/drawing/2014/main" id="{39270BAF-1B33-6682-D110-B87B0E848485}"/>
              </a:ext>
            </a:extLst>
          </p:cNvPr>
          <p:cNvSpPr/>
          <p:nvPr/>
        </p:nvSpPr>
        <p:spPr>
          <a:xfrm>
            <a:off x="4248929" y="5625238"/>
            <a:ext cx="2787750" cy="533475"/>
          </a:xfrm>
          <a:prstGeom prst="roundRect">
            <a:avLst>
              <a:gd name="adj" fmla="val 7152"/>
            </a:avLst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A40"/>
              </a:buClr>
              <a:buSzPts val="975"/>
              <a:buFont typeface="Open Sans"/>
              <a:buNone/>
            </a:pPr>
            <a:r>
              <a:rPr lang="en-US" sz="975" b="0" i="1" u="none" strike="noStrike" cap="none" dirty="0">
                <a:solidFill>
                  <a:srgbClr val="1F4A40"/>
                </a:solidFill>
                <a:latin typeface="Open Sans"/>
                <a:ea typeface="Open Sans"/>
                <a:cs typeface="Open Sans"/>
                <a:sym typeface="Open Sans"/>
              </a:rPr>
              <a:t>Using state-of-the-art AI technology to achieve real-time result with guaranteed high accuracy</a:t>
            </a:r>
            <a:endParaRPr sz="975" b="0" i="1" u="none" strike="noStrike" cap="none" dirty="0">
              <a:solidFill>
                <a:srgbClr val="1F4A4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Google Shape;722;p104">
            <a:extLst>
              <a:ext uri="{FF2B5EF4-FFF2-40B4-BE49-F238E27FC236}">
                <a16:creationId xmlns:a16="http://schemas.microsoft.com/office/drawing/2014/main" id="{4CF13EFC-7971-4BD9-B97D-B2DD140C26C5}"/>
              </a:ext>
            </a:extLst>
          </p:cNvPr>
          <p:cNvSpPr txBox="1"/>
          <p:nvPr/>
        </p:nvSpPr>
        <p:spPr>
          <a:xfrm>
            <a:off x="4511166" y="5381434"/>
            <a:ext cx="2396925" cy="36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32A"/>
              </a:buClr>
              <a:buSzPts val="1950"/>
              <a:buFont typeface="Titillium Web"/>
              <a:buNone/>
            </a:pPr>
            <a:r>
              <a:rPr lang="en-US" sz="1950" b="1" i="0" u="none" strike="noStrike" cap="none" dirty="0">
                <a:solidFill>
                  <a:srgbClr val="11532A"/>
                </a:solidFill>
                <a:latin typeface="Titillium Web"/>
                <a:ea typeface="Titillium Web"/>
                <a:cs typeface="Titillium Web"/>
                <a:sym typeface="Titillium Web"/>
              </a:rPr>
              <a:t>Accurate &amp; Secure</a:t>
            </a:r>
            <a:endParaRPr sz="1950" b="0" i="0" u="none" strike="noStrike" cap="none" dirty="0">
              <a:solidFill>
                <a:srgbClr val="11532A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" name="Google Shape;723;p104">
            <a:extLst>
              <a:ext uri="{FF2B5EF4-FFF2-40B4-BE49-F238E27FC236}">
                <a16:creationId xmlns:a16="http://schemas.microsoft.com/office/drawing/2014/main" id="{BCA6320F-821F-1C1D-4035-E0BB31A8D98A}"/>
              </a:ext>
            </a:extLst>
          </p:cNvPr>
          <p:cNvSpPr/>
          <p:nvPr/>
        </p:nvSpPr>
        <p:spPr>
          <a:xfrm>
            <a:off x="8026063" y="5505217"/>
            <a:ext cx="2787750" cy="533475"/>
          </a:xfrm>
          <a:prstGeom prst="roundRect">
            <a:avLst>
              <a:gd name="adj" fmla="val 7152"/>
            </a:avLst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A40"/>
              </a:buClr>
              <a:buSzPts val="975"/>
              <a:buFont typeface="Open Sans"/>
              <a:buNone/>
            </a:pPr>
            <a:r>
              <a:rPr lang="en-US" sz="975" b="0" i="1" u="none" strike="noStrike" cap="none" dirty="0">
                <a:solidFill>
                  <a:srgbClr val="1F4A40"/>
                </a:solidFill>
                <a:latin typeface="Open Sans"/>
                <a:ea typeface="Open Sans"/>
                <a:cs typeface="Open Sans"/>
                <a:sym typeface="Open Sans"/>
              </a:rPr>
              <a:t>Applicable to banking, financial services, </a:t>
            </a:r>
            <a:br>
              <a:rPr lang="en-US" sz="975" b="0" i="1" u="none" strike="noStrike" cap="none" dirty="0">
                <a:solidFill>
                  <a:srgbClr val="1F4A4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975" b="0" i="1" u="none" strike="noStrike" cap="none" dirty="0">
                <a:solidFill>
                  <a:srgbClr val="1F4A40"/>
                </a:solidFill>
                <a:latin typeface="Open Sans"/>
                <a:ea typeface="Open Sans"/>
                <a:cs typeface="Open Sans"/>
                <a:sym typeface="Open Sans"/>
              </a:rPr>
              <a:t>insurance &amp; healthcare, and other industries</a:t>
            </a:r>
            <a:endParaRPr sz="975" b="0" i="1" u="none" strike="noStrike" cap="none" dirty="0">
              <a:solidFill>
                <a:srgbClr val="1F4A4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724;p104">
            <a:extLst>
              <a:ext uri="{FF2B5EF4-FFF2-40B4-BE49-F238E27FC236}">
                <a16:creationId xmlns:a16="http://schemas.microsoft.com/office/drawing/2014/main" id="{9F270818-3B99-50F7-18A7-96EE200FCF26}"/>
              </a:ext>
            </a:extLst>
          </p:cNvPr>
          <p:cNvSpPr txBox="1"/>
          <p:nvPr/>
        </p:nvSpPr>
        <p:spPr>
          <a:xfrm>
            <a:off x="8231150" y="5261413"/>
            <a:ext cx="2396925" cy="36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32A"/>
              </a:buClr>
              <a:buSzPts val="1950"/>
              <a:buFont typeface="Titillium Web"/>
              <a:buNone/>
            </a:pPr>
            <a:r>
              <a:rPr lang="en-US" sz="1950" b="1" i="0" u="none" strike="noStrike" cap="none">
                <a:solidFill>
                  <a:srgbClr val="11532A"/>
                </a:solidFill>
                <a:latin typeface="Titillium Web"/>
                <a:ea typeface="Titillium Web"/>
                <a:cs typeface="Titillium Web"/>
                <a:sym typeface="Titillium Web"/>
              </a:rPr>
              <a:t>Wide Application</a:t>
            </a:r>
            <a:endParaRPr sz="1950" b="0" i="0" u="none" strike="noStrike" cap="none">
              <a:solidFill>
                <a:srgbClr val="11532A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5" name="Google Shape;725;p104">
            <a:extLst>
              <a:ext uri="{FF2B5EF4-FFF2-40B4-BE49-F238E27FC236}">
                <a16:creationId xmlns:a16="http://schemas.microsoft.com/office/drawing/2014/main" id="{46ED6A0B-46D6-F0CB-2854-6B375E83DF6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65369" y="4601010"/>
            <a:ext cx="683325" cy="68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726;p104">
            <a:extLst>
              <a:ext uri="{FF2B5EF4-FFF2-40B4-BE49-F238E27FC236}">
                <a16:creationId xmlns:a16="http://schemas.microsoft.com/office/drawing/2014/main" id="{8ED9BAE4-EAD8-F11E-7881-94DF9A358C1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57226" y="4699350"/>
            <a:ext cx="683325" cy="68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727;p104">
            <a:extLst>
              <a:ext uri="{FF2B5EF4-FFF2-40B4-BE49-F238E27FC236}">
                <a16:creationId xmlns:a16="http://schemas.microsoft.com/office/drawing/2014/main" id="{029246CC-4045-2258-BF80-8CC03F729DA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87814" y="4726096"/>
            <a:ext cx="683325" cy="68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728;p104">
            <a:extLst>
              <a:ext uri="{FF2B5EF4-FFF2-40B4-BE49-F238E27FC236}">
                <a16:creationId xmlns:a16="http://schemas.microsoft.com/office/drawing/2014/main" id="{5F715C7E-5956-59D0-D397-FD5169651727}"/>
              </a:ext>
            </a:extLst>
          </p:cNvPr>
          <p:cNvSpPr txBox="1"/>
          <p:nvPr/>
        </p:nvSpPr>
        <p:spPr>
          <a:xfrm>
            <a:off x="4843548" y="6038692"/>
            <a:ext cx="2813554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Sumber</a:t>
            </a:r>
            <a:r>
              <a:rPr lang="en-US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prosa.ai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5142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AE3F0C0-EFCB-CE2E-6B5A-3A867BA8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Mobil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Supir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04F40-AEC8-449C-3274-9DDA00EAD1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912" y="1548384"/>
            <a:ext cx="5580888" cy="4628579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1600" b="1" dirty="0" err="1"/>
              <a:t>Persepsi</a:t>
            </a:r>
            <a:r>
              <a:rPr lang="en-US" sz="1600" b="1" dirty="0"/>
              <a:t> (</a:t>
            </a:r>
            <a:r>
              <a:rPr lang="en-US" sz="1600" b="1" dirty="0" err="1"/>
              <a:t>Melihat</a:t>
            </a:r>
            <a:r>
              <a:rPr lang="en-US" sz="1600" b="1" dirty="0"/>
              <a:t> &amp; </a:t>
            </a:r>
            <a:r>
              <a:rPr lang="en-US" sz="1600" b="1" dirty="0" err="1"/>
              <a:t>Merasakan</a:t>
            </a:r>
            <a:r>
              <a:rPr lang="en-US" sz="1600" b="1" dirty="0"/>
              <a:t>):</a:t>
            </a:r>
            <a:endParaRPr lang="en-US" sz="1600" dirty="0"/>
          </a:p>
          <a:p>
            <a:pPr lvl="1">
              <a:lnSpc>
                <a:spcPct val="100000"/>
              </a:lnSpc>
            </a:pPr>
            <a:r>
              <a:rPr lang="en-US" sz="1600" b="1" u="sng" dirty="0">
                <a:hlinkClick r:id="rId3"/>
              </a:rPr>
              <a:t>LiDAR</a:t>
            </a:r>
            <a:r>
              <a:rPr lang="en-US" sz="1600" b="1" dirty="0"/>
              <a:t>:</a:t>
            </a:r>
            <a:r>
              <a:rPr lang="en-US" sz="1600" dirty="0"/>
              <a:t> </a:t>
            </a:r>
            <a:r>
              <a:rPr lang="en-US" sz="1600" dirty="0" err="1"/>
              <a:t>Memancarkan</a:t>
            </a:r>
            <a:r>
              <a:rPr lang="en-US" sz="1600" dirty="0"/>
              <a:t> laser.</a:t>
            </a:r>
          </a:p>
          <a:p>
            <a:pPr lvl="1">
              <a:lnSpc>
                <a:spcPct val="100000"/>
              </a:lnSpc>
            </a:pPr>
            <a:r>
              <a:rPr lang="nl-NL" sz="1600" b="1" dirty="0"/>
              <a:t>Radar:</a:t>
            </a:r>
            <a:r>
              <a:rPr lang="nl-NL" sz="1600" dirty="0"/>
              <a:t> </a:t>
            </a:r>
            <a:r>
              <a:rPr lang="nl-NL" sz="1600" dirty="0" err="1"/>
              <a:t>Mendeteksi</a:t>
            </a:r>
            <a:r>
              <a:rPr lang="nl-NL" sz="1600" dirty="0"/>
              <a:t> </a:t>
            </a:r>
            <a:r>
              <a:rPr lang="nl-NL" sz="1600" dirty="0" err="1"/>
              <a:t>objek</a:t>
            </a:r>
            <a:r>
              <a:rPr lang="nl-NL" sz="1600" dirty="0"/>
              <a:t> dan </a:t>
            </a:r>
            <a:r>
              <a:rPr lang="nl-NL" sz="1600" dirty="0" err="1"/>
              <a:t>jarak</a:t>
            </a:r>
            <a:r>
              <a:rPr lang="nl-NL" sz="1600" dirty="0"/>
              <a:t> </a:t>
            </a:r>
            <a:r>
              <a:rPr lang="nl-NL" sz="1600" b="1" dirty="0" err="1"/>
              <a:t>Kamera</a:t>
            </a:r>
            <a:r>
              <a:rPr lang="nl-NL" sz="1600" b="1" dirty="0"/>
              <a:t>:</a:t>
            </a:r>
            <a:r>
              <a:rPr lang="nl-NL" sz="1600" dirty="0"/>
              <a:t> </a:t>
            </a:r>
            <a:r>
              <a:rPr lang="nl-NL" sz="1600" dirty="0" err="1"/>
              <a:t>Mengidentifikasi</a:t>
            </a:r>
            <a:r>
              <a:rPr lang="nl-NL" sz="1600" dirty="0"/>
              <a:t> </a:t>
            </a:r>
            <a:r>
              <a:rPr lang="nl-NL" sz="1600" dirty="0" err="1"/>
              <a:t>rambu</a:t>
            </a:r>
            <a:r>
              <a:rPr lang="nl-NL" sz="1600" dirty="0"/>
              <a:t> </a:t>
            </a:r>
            <a:r>
              <a:rPr lang="nl-NL" sz="1600" dirty="0" err="1"/>
              <a:t>lalu</a:t>
            </a:r>
            <a:r>
              <a:rPr lang="nl-NL" sz="1600" dirty="0"/>
              <a:t> </a:t>
            </a:r>
            <a:r>
              <a:rPr lang="nl-NL" sz="1600" dirty="0" err="1"/>
              <a:t>lintas</a:t>
            </a:r>
            <a:r>
              <a:rPr lang="nl-NL" sz="1600" dirty="0"/>
              <a:t> dan </a:t>
            </a:r>
            <a:r>
              <a:rPr lang="nl-NL" sz="1600" dirty="0" err="1"/>
              <a:t>kendaraan</a:t>
            </a:r>
            <a:endParaRPr lang="en-US" sz="1600" dirty="0"/>
          </a:p>
          <a:p>
            <a:pPr lvl="1">
              <a:lnSpc>
                <a:spcPct val="100000"/>
              </a:lnSpc>
            </a:pPr>
            <a:r>
              <a:rPr lang="en-US" sz="1600" b="1" dirty="0"/>
              <a:t>Sensor </a:t>
            </a:r>
            <a:r>
              <a:rPr lang="en-US" sz="1600" b="1" dirty="0" err="1"/>
              <a:t>Ultrasonik</a:t>
            </a:r>
            <a:r>
              <a:rPr lang="en-US" sz="1600" b="1" dirty="0"/>
              <a:t>:</a:t>
            </a:r>
            <a:r>
              <a:rPr lang="en-US" sz="1600" dirty="0"/>
              <a:t> 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jarak</a:t>
            </a:r>
            <a:r>
              <a:rPr lang="en-US" sz="1600" dirty="0"/>
              <a:t> sangat </a:t>
            </a:r>
            <a:r>
              <a:rPr lang="en-US" sz="1600" dirty="0" err="1"/>
              <a:t>dekat</a:t>
            </a:r>
            <a:endParaRPr lang="en-US" sz="1600" dirty="0"/>
          </a:p>
          <a:p>
            <a:pPr lvl="1">
              <a:lnSpc>
                <a:spcPct val="100000"/>
              </a:lnSpc>
            </a:pPr>
            <a:r>
              <a:rPr lang="en-US" sz="1600" b="1" dirty="0"/>
              <a:t>GPS &amp; Peta HD:</a:t>
            </a:r>
            <a:r>
              <a:rPr lang="en-US" sz="1600" dirty="0"/>
              <a:t> </a:t>
            </a:r>
            <a:r>
              <a:rPr lang="en-US" sz="1600" dirty="0" err="1"/>
              <a:t>Memberi</a:t>
            </a:r>
            <a:r>
              <a:rPr lang="en-US" sz="1600" dirty="0"/>
              <a:t> </a:t>
            </a:r>
            <a:r>
              <a:rPr lang="en-US" sz="1600" dirty="0" err="1"/>
              <a:t>lokasi</a:t>
            </a:r>
            <a:r>
              <a:rPr lang="en-US" sz="1600" dirty="0"/>
              <a:t> </a:t>
            </a:r>
            <a:r>
              <a:rPr lang="en-US" sz="1600" dirty="0" err="1"/>
              <a:t>pasti</a:t>
            </a:r>
            <a:r>
              <a:rPr lang="en-US" sz="1600" dirty="0"/>
              <a:t> dan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rute</a:t>
            </a:r>
            <a:endParaRPr lang="en-US" sz="1600" dirty="0"/>
          </a:p>
          <a:p>
            <a:pPr lvl="0">
              <a:lnSpc>
                <a:spcPct val="100000"/>
              </a:lnSpc>
            </a:pPr>
            <a:r>
              <a:rPr lang="en-US" sz="1600" b="1" dirty="0" err="1"/>
              <a:t>Pemrosesan</a:t>
            </a:r>
            <a:r>
              <a:rPr lang="en-US" sz="1600" b="1" dirty="0"/>
              <a:t> (</a:t>
            </a:r>
            <a:r>
              <a:rPr lang="en-US" sz="1600" b="1" dirty="0" err="1"/>
              <a:t>Berpikir</a:t>
            </a:r>
            <a:r>
              <a:rPr lang="en-US" sz="1600" b="1" dirty="0"/>
              <a:t> &amp; </a:t>
            </a:r>
            <a:r>
              <a:rPr lang="en-US" sz="1600" b="1" dirty="0" err="1"/>
              <a:t>Membuat</a:t>
            </a:r>
            <a:r>
              <a:rPr lang="en-US" sz="1600" b="1" dirty="0"/>
              <a:t> Keputusan):</a:t>
            </a:r>
            <a:endParaRPr lang="en-US" sz="1600" dirty="0"/>
          </a:p>
          <a:p>
            <a:pPr lvl="1">
              <a:lnSpc>
                <a:spcPct val="100000"/>
              </a:lnSpc>
            </a:pPr>
            <a:r>
              <a:rPr lang="en-US" sz="1600" b="1" dirty="0"/>
              <a:t>AI &amp; </a:t>
            </a:r>
            <a:r>
              <a:rPr lang="en-US" sz="1600" b="1" dirty="0" err="1"/>
              <a:t>Pembelajaran</a:t>
            </a:r>
            <a:r>
              <a:rPr lang="en-US" sz="1600" b="1" dirty="0"/>
              <a:t> </a:t>
            </a:r>
            <a:r>
              <a:rPr lang="en-US" sz="1600" b="1" dirty="0" err="1"/>
              <a:t>Mesin</a:t>
            </a:r>
            <a:r>
              <a:rPr lang="en-US" sz="1600" b="1" dirty="0"/>
              <a:t>: </a:t>
            </a:r>
            <a:r>
              <a:rPr lang="en-US" sz="1600" dirty="0" err="1"/>
              <a:t>mengidentifikasi</a:t>
            </a:r>
            <a:r>
              <a:rPr lang="en-US" sz="1600" dirty="0"/>
              <a:t> </a:t>
            </a:r>
            <a:r>
              <a:rPr lang="en-US" sz="1600" dirty="0" err="1"/>
              <a:t>pejalan</a:t>
            </a:r>
            <a:r>
              <a:rPr lang="en-US" sz="1600" dirty="0"/>
              <a:t> kaki, </a:t>
            </a:r>
            <a:r>
              <a:rPr lang="en-US" sz="1600" dirty="0" err="1"/>
              <a:t>mobil</a:t>
            </a:r>
            <a:r>
              <a:rPr lang="en-US" sz="1600" dirty="0"/>
              <a:t> lain, </a:t>
            </a:r>
            <a:r>
              <a:rPr lang="en-US" sz="1600" dirty="0" err="1"/>
              <a:t>memprediksi</a:t>
            </a:r>
            <a:r>
              <a:rPr lang="en-US" sz="1600" dirty="0"/>
              <a:t> </a:t>
            </a:r>
            <a:r>
              <a:rPr lang="en-US" sz="1600" dirty="0" err="1"/>
              <a:t>gerakan</a:t>
            </a:r>
            <a:r>
              <a:rPr lang="en-US" sz="1600" dirty="0"/>
              <a:t> </a:t>
            </a:r>
            <a:r>
              <a:rPr lang="en-US" sz="1600" dirty="0" err="1"/>
              <a:t>objek</a:t>
            </a:r>
            <a:r>
              <a:rPr lang="en-US" sz="1600" dirty="0"/>
              <a:t> lain</a:t>
            </a:r>
          </a:p>
          <a:p>
            <a:pPr lvl="1">
              <a:lnSpc>
                <a:spcPct val="100000"/>
              </a:lnSpc>
            </a:pPr>
            <a:r>
              <a:rPr lang="nl-NL" sz="1600" b="1" dirty="0" err="1"/>
              <a:t>Algoritma</a:t>
            </a:r>
            <a:r>
              <a:rPr lang="nl-NL" sz="1600" b="1" dirty="0"/>
              <a:t> </a:t>
            </a:r>
            <a:r>
              <a:rPr lang="nl-NL" sz="1600" b="1" dirty="0" err="1"/>
              <a:t>Terstruktur</a:t>
            </a:r>
            <a:r>
              <a:rPr lang="nl-NL" sz="1600" b="1" dirty="0"/>
              <a:t> </a:t>
            </a:r>
            <a:r>
              <a:rPr lang="nl-NL" sz="1600" b="1" dirty="0" err="1"/>
              <a:t>Lain</a:t>
            </a:r>
            <a:r>
              <a:rPr lang="nl-NL" sz="1600" b="1" dirty="0"/>
              <a:t>:</a:t>
            </a:r>
            <a:r>
              <a:rPr lang="nl-NL" sz="1600" dirty="0"/>
              <a:t> </a:t>
            </a:r>
            <a:r>
              <a:rPr lang="nl-NL" sz="1600" dirty="0" err="1"/>
              <a:t>merencanakan</a:t>
            </a:r>
            <a:r>
              <a:rPr lang="nl-NL" sz="1600" dirty="0"/>
              <a:t> </a:t>
            </a:r>
            <a:r>
              <a:rPr lang="nl-NL" sz="1600" dirty="0" err="1"/>
              <a:t>jalur</a:t>
            </a:r>
            <a:r>
              <a:rPr lang="nl-NL" sz="1600" dirty="0"/>
              <a:t>,</a:t>
            </a:r>
            <a:endParaRPr lang="en-US" sz="1600" dirty="0"/>
          </a:p>
          <a:p>
            <a:pPr lvl="0">
              <a:lnSpc>
                <a:spcPct val="100000"/>
              </a:lnSpc>
            </a:pPr>
            <a:r>
              <a:rPr lang="en-US" sz="1600" b="1" dirty="0"/>
              <a:t>Aksi (</a:t>
            </a:r>
            <a:r>
              <a:rPr lang="en-US" sz="1600" b="1" dirty="0" err="1"/>
              <a:t>Mengemudi</a:t>
            </a:r>
            <a:r>
              <a:rPr lang="en-US" sz="1600" b="1" dirty="0"/>
              <a:t>):</a:t>
            </a:r>
            <a:endParaRPr lang="en-US" sz="1600" dirty="0"/>
          </a:p>
          <a:p>
            <a:pPr lvl="1">
              <a:lnSpc>
                <a:spcPct val="100000"/>
              </a:lnSpc>
            </a:pPr>
            <a:r>
              <a:rPr lang="nl-NL" sz="1600" b="1" dirty="0" err="1"/>
              <a:t>Aktuator</a:t>
            </a:r>
            <a:r>
              <a:rPr lang="nl-NL" sz="1600" b="1" dirty="0"/>
              <a:t>:</a:t>
            </a:r>
            <a:r>
              <a:rPr lang="nl-NL" sz="1600" dirty="0"/>
              <a:t> </a:t>
            </a:r>
            <a:r>
              <a:rPr lang="nl-NL" sz="1600" dirty="0" err="1"/>
              <a:t>mengontrol</a:t>
            </a:r>
            <a:r>
              <a:rPr lang="nl-NL" sz="1600" dirty="0"/>
              <a:t> </a:t>
            </a:r>
            <a:r>
              <a:rPr lang="nl-NL" sz="1600" dirty="0" err="1"/>
              <a:t>kemudi</a:t>
            </a:r>
            <a:r>
              <a:rPr lang="nl-NL" sz="1600" dirty="0"/>
              <a:t>, </a:t>
            </a:r>
            <a:r>
              <a:rPr lang="nl-NL" sz="1600" dirty="0" err="1"/>
              <a:t>akselerasi</a:t>
            </a:r>
            <a:r>
              <a:rPr lang="nl-NL" sz="1600" dirty="0"/>
              <a:t> (gas), dan </a:t>
            </a:r>
            <a:r>
              <a:rPr lang="nl-NL" sz="1600" dirty="0" err="1"/>
              <a:t>pengereman</a:t>
            </a:r>
            <a:r>
              <a:rPr lang="nl-NL" sz="1600" dirty="0"/>
              <a:t> </a:t>
            </a:r>
            <a:r>
              <a:rPr lang="nl-NL" sz="1600" dirty="0" err="1"/>
              <a:t>secara</a:t>
            </a:r>
            <a:r>
              <a:rPr lang="nl-NL" sz="1600" dirty="0"/>
              <a:t> </a:t>
            </a:r>
            <a:r>
              <a:rPr lang="nl-NL" sz="1600" dirty="0" err="1"/>
              <a:t>elektronik</a:t>
            </a:r>
            <a:r>
              <a:rPr lang="nl-NL" sz="1600" dirty="0"/>
              <a:t>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52589-B3D5-E4B2-8145-FBC40B7392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715" b="3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92488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C151-87B7-767D-6D51-DDEFF78BC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Salah </a:t>
            </a:r>
            <a:r>
              <a:rPr lang="en-US" dirty="0" err="1"/>
              <a:t>Siapa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72685-0B5A-48F1-8162-73096B199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688" y="1825625"/>
            <a:ext cx="4401312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lphaUcPeriod"/>
            </a:pPr>
            <a:r>
              <a:rPr lang="en-US" sz="2400" dirty="0" err="1">
                <a:latin typeface="+mj-lt"/>
              </a:rPr>
              <a:t>Produsen</a:t>
            </a:r>
            <a:r>
              <a:rPr lang="en-US" sz="2400" dirty="0">
                <a:latin typeface="+mj-lt"/>
              </a:rPr>
              <a:t>/</a:t>
            </a:r>
            <a:r>
              <a:rPr lang="en-US" sz="2400" dirty="0" err="1">
                <a:latin typeface="+mj-lt"/>
              </a:rPr>
              <a:t>pengembang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perangkat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lunak</a:t>
            </a:r>
            <a:endParaRPr lang="en-US" sz="2400" dirty="0">
              <a:latin typeface="+mj-lt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lphaUcPeriod"/>
            </a:pPr>
            <a:r>
              <a:rPr lang="en-US" sz="2400" dirty="0" err="1">
                <a:latin typeface="+mj-lt"/>
              </a:rPr>
              <a:t>Pemilik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kendaraan</a:t>
            </a:r>
            <a:endParaRPr lang="en-US" sz="2400" dirty="0">
              <a:latin typeface="+mj-lt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lphaUcPeriod"/>
            </a:pPr>
            <a:r>
              <a:rPr lang="en-US" sz="2400" dirty="0" err="1">
                <a:latin typeface="+mj-lt"/>
              </a:rPr>
              <a:t>pengguna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jalan</a:t>
            </a:r>
            <a:r>
              <a:rPr lang="en-US" sz="2400" dirty="0">
                <a:latin typeface="+mj-lt"/>
              </a:rPr>
              <a:t> lain</a:t>
            </a:r>
          </a:p>
          <a:p>
            <a:pPr marL="457200" indent="-457200">
              <a:lnSpc>
                <a:spcPct val="200000"/>
              </a:lnSpc>
              <a:buFont typeface="+mj-lt"/>
              <a:buAutoNum type="alphaUcPeriod"/>
            </a:pPr>
            <a:r>
              <a:rPr lang="en-US" sz="2400" dirty="0" err="1">
                <a:latin typeface="+mj-lt"/>
              </a:rPr>
              <a:t>Pemerintah</a:t>
            </a:r>
            <a:r>
              <a:rPr lang="en-US" sz="2400" dirty="0">
                <a:latin typeface="+mj-lt"/>
              </a:rPr>
              <a:t>/Polisi/</a:t>
            </a:r>
            <a:r>
              <a:rPr lang="en-US" sz="2400" dirty="0" err="1">
                <a:latin typeface="+mj-lt"/>
              </a:rPr>
              <a:t>Lainnya</a:t>
            </a:r>
            <a:endParaRPr lang="en-US" sz="24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E17327-9966-DF79-85B2-CD996B0B4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6564186" cy="458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51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813F-C12C-CA19-0D6C-9C3827CB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Science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3DFD0-E2CF-18E1-6208-95EFF9A2A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4" y="1825625"/>
            <a:ext cx="7050024" cy="4351338"/>
          </a:xfrm>
        </p:spPr>
        <p:txBody>
          <a:bodyPr/>
          <a:lstStyle/>
          <a:p>
            <a:pPr marL="432000" lvl="0" indent="-324042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Science, Big Data dan Artificial Intelligence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merupakan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bidang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saling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terkait</a:t>
            </a: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lvl="0" indent="-324042">
              <a:lnSpc>
                <a:spcPct val="100000"/>
              </a:lnSpc>
              <a:spcBef>
                <a:spcPts val="1063"/>
              </a:spcBef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Penguasaan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terhadap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 Science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dibutuhkan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dapat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menguasai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Artificial Intelligence</a:t>
            </a: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lvl="0" indent="-324042">
              <a:lnSpc>
                <a:spcPct val="100000"/>
              </a:lnSpc>
              <a:spcBef>
                <a:spcPts val="1063"/>
              </a:spcBef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Dibutuhkan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landasan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 Science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pengembangan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AI</a:t>
            </a: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dirty="0"/>
          </a:p>
        </p:txBody>
      </p:sp>
      <p:pic>
        <p:nvPicPr>
          <p:cNvPr id="5" name="Google Shape;157;p58">
            <a:extLst>
              <a:ext uri="{FF2B5EF4-FFF2-40B4-BE49-F238E27FC236}">
                <a16:creationId xmlns:a16="http://schemas.microsoft.com/office/drawing/2014/main" id="{69176775-5F7B-A268-3B35-C53CDEC6FC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17280" y="1958040"/>
            <a:ext cx="3474720" cy="285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7040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C7B68-AE9D-ABFE-37FE-7A081CD6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F09DF-B474-CA99-F1E4-85C687973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oogle Shape;131;p55">
            <a:extLst>
              <a:ext uri="{FF2B5EF4-FFF2-40B4-BE49-F238E27FC236}">
                <a16:creationId xmlns:a16="http://schemas.microsoft.com/office/drawing/2014/main" id="{9FEEACFE-88AA-8562-C700-698A4DB6B55A}"/>
              </a:ext>
            </a:extLst>
          </p:cNvPr>
          <p:cNvPicPr preferRelativeResize="0">
            <a:picLocks noGrp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07008" y="536448"/>
            <a:ext cx="8692896" cy="5640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4159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6406-E403-77F7-9C42-0AEEAFA8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SDM  Data Science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F8D9F-5A2D-49EC-8491-8D0BFCA7C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C6282CF-D7B3-EA74-E28D-A572A09EEEA5}"/>
              </a:ext>
            </a:extLst>
          </p:cNvPr>
          <p:cNvGrpSpPr/>
          <p:nvPr/>
        </p:nvGrpSpPr>
        <p:grpSpPr>
          <a:xfrm>
            <a:off x="6053016" y="1690688"/>
            <a:ext cx="6138984" cy="4661533"/>
            <a:chOff x="4865400" y="1073328"/>
            <a:chExt cx="4175280" cy="3533290"/>
          </a:xfrm>
        </p:grpSpPr>
        <p:grpSp>
          <p:nvGrpSpPr>
            <p:cNvPr id="4" name="Google Shape;220;p60">
              <a:extLst>
                <a:ext uri="{FF2B5EF4-FFF2-40B4-BE49-F238E27FC236}">
                  <a16:creationId xmlns:a16="http://schemas.microsoft.com/office/drawing/2014/main" id="{81AFD406-55E1-7C9C-B7D1-8BB541E75A2E}"/>
                </a:ext>
              </a:extLst>
            </p:cNvPr>
            <p:cNvGrpSpPr/>
            <p:nvPr/>
          </p:nvGrpSpPr>
          <p:grpSpPr>
            <a:xfrm>
              <a:off x="4865400" y="1208520"/>
              <a:ext cx="426600" cy="371520"/>
              <a:chOff x="4865400" y="1208520"/>
              <a:chExt cx="426600" cy="371520"/>
            </a:xfrm>
          </p:grpSpPr>
          <p:sp>
            <p:nvSpPr>
              <p:cNvPr id="5" name="Google Shape;221;p60">
                <a:extLst>
                  <a:ext uri="{FF2B5EF4-FFF2-40B4-BE49-F238E27FC236}">
                    <a16:creationId xmlns:a16="http://schemas.microsoft.com/office/drawing/2014/main" id="{F2DAA6E2-37C9-F18D-A866-475D4C83D002}"/>
                  </a:ext>
                </a:extLst>
              </p:cNvPr>
              <p:cNvSpPr/>
              <p:nvPr/>
            </p:nvSpPr>
            <p:spPr>
              <a:xfrm flipH="1">
                <a:off x="4865400" y="1208520"/>
                <a:ext cx="426600" cy="37152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" name="Google Shape;222;p60">
                <a:extLst>
                  <a:ext uri="{FF2B5EF4-FFF2-40B4-BE49-F238E27FC236}">
                    <a16:creationId xmlns:a16="http://schemas.microsoft.com/office/drawing/2014/main" id="{37475364-722E-372C-C545-0DACEF173D9B}"/>
                  </a:ext>
                </a:extLst>
              </p:cNvPr>
              <p:cNvSpPr/>
              <p:nvPr/>
            </p:nvSpPr>
            <p:spPr>
              <a:xfrm flipH="1">
                <a:off x="4865400" y="1254681"/>
                <a:ext cx="426600" cy="278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" name="Google Shape;223;p60">
              <a:extLst>
                <a:ext uri="{FF2B5EF4-FFF2-40B4-BE49-F238E27FC236}">
                  <a16:creationId xmlns:a16="http://schemas.microsoft.com/office/drawing/2014/main" id="{D03B1ED8-14C2-A416-A7D3-2DD5EDF36076}"/>
                </a:ext>
              </a:extLst>
            </p:cNvPr>
            <p:cNvSpPr/>
            <p:nvPr/>
          </p:nvSpPr>
          <p:spPr>
            <a:xfrm>
              <a:off x="5388120" y="1073328"/>
              <a:ext cx="3652560" cy="605438"/>
            </a:xfrm>
            <a:prstGeom prst="rect">
              <a:avLst/>
            </a:prstGeom>
            <a:solidFill>
              <a:srgbClr val="FFB66C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i="0" u="none" strike="noStrike" cap="none">
                  <a:solidFill>
                    <a:srgbClr val="0D5BDC"/>
                  </a:solidFill>
                  <a:latin typeface="Lato"/>
                  <a:ea typeface="Lato"/>
                  <a:cs typeface="Lato"/>
                  <a:sym typeface="Lato"/>
                </a:rPr>
                <a:t>Data Scientist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Mengembangkan model terbaik dari data untuk menjawab permasalahan bisnis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224;p60">
              <a:extLst>
                <a:ext uri="{FF2B5EF4-FFF2-40B4-BE49-F238E27FC236}">
                  <a16:creationId xmlns:a16="http://schemas.microsoft.com/office/drawing/2014/main" id="{BE296E3B-F05E-A132-8B98-CBDC999DB8E2}"/>
                </a:ext>
              </a:extLst>
            </p:cNvPr>
            <p:cNvSpPr/>
            <p:nvPr/>
          </p:nvSpPr>
          <p:spPr>
            <a:xfrm>
              <a:off x="5388120" y="4164480"/>
              <a:ext cx="3652560" cy="44213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i="0" u="none" strike="noStrike" cap="none" dirty="0">
                  <a:solidFill>
                    <a:srgbClr val="0D5BDC"/>
                  </a:solidFill>
                  <a:latin typeface="Lato"/>
                  <a:ea typeface="Lato"/>
                  <a:cs typeface="Lato"/>
                  <a:sym typeface="Lato"/>
                </a:rPr>
                <a:t>IT People</a:t>
              </a:r>
              <a:endParaRPr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 dirty="0" err="1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Menyiapkan</a:t>
              </a:r>
              <a:r>
                <a:rPr lang="en-US" sz="1400" b="0" i="0" u="none" strike="noStrike" cap="none" dirty="0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400" b="0" i="0" u="none" strike="noStrike" cap="none" dirty="0" err="1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infrastruktur</a:t>
              </a:r>
              <a:r>
                <a:rPr lang="en-US" sz="1400" b="0" i="0" u="none" strike="noStrike" cap="none" dirty="0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 IT (</a:t>
              </a:r>
              <a:r>
                <a:rPr lang="en-US" sz="1400" b="0" i="0" u="none" strike="noStrike" cap="none" dirty="0" err="1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terutama</a:t>
              </a:r>
              <a:r>
                <a:rPr lang="en-US" sz="1400" b="0" i="0" u="none" strike="noStrike" cap="none" dirty="0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 deployment)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25;p60">
              <a:extLst>
                <a:ext uri="{FF2B5EF4-FFF2-40B4-BE49-F238E27FC236}">
                  <a16:creationId xmlns:a16="http://schemas.microsoft.com/office/drawing/2014/main" id="{BDD48599-7AF7-2A2F-85C5-C1BEFC666B6F}"/>
                </a:ext>
              </a:extLst>
            </p:cNvPr>
            <p:cNvSpPr/>
            <p:nvPr/>
          </p:nvSpPr>
          <p:spPr>
            <a:xfrm>
              <a:off x="5388120" y="1774468"/>
              <a:ext cx="3652560" cy="44213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i="0" u="none" strike="noStrike" cap="none">
                  <a:solidFill>
                    <a:srgbClr val="0D5BDC"/>
                  </a:solidFill>
                  <a:latin typeface="Lato"/>
                  <a:ea typeface="Lato"/>
                  <a:cs typeface="Lato"/>
                  <a:sym typeface="Lato"/>
                </a:rPr>
                <a:t>Data Engineer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Menyiapkan (big) data untuk diolah/ dimodelkan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226;p60">
              <a:extLst>
                <a:ext uri="{FF2B5EF4-FFF2-40B4-BE49-F238E27FC236}">
                  <a16:creationId xmlns:a16="http://schemas.microsoft.com/office/drawing/2014/main" id="{0F3BE0A5-06B4-6B0A-2FAA-EEC12F4292C0}"/>
                </a:ext>
              </a:extLst>
            </p:cNvPr>
            <p:cNvSpPr/>
            <p:nvPr/>
          </p:nvSpPr>
          <p:spPr>
            <a:xfrm>
              <a:off x="5381886" y="2309660"/>
              <a:ext cx="3652560" cy="60543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i="0" u="none" strike="noStrike" cap="none" dirty="0">
                  <a:solidFill>
                    <a:srgbClr val="0D5BDC"/>
                  </a:solidFill>
                  <a:latin typeface="Lato"/>
                  <a:ea typeface="Lato"/>
                  <a:cs typeface="Lato"/>
                  <a:sym typeface="Lato"/>
                </a:rPr>
                <a:t>Data Analyst</a:t>
              </a:r>
              <a:endParaRPr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 dirty="0" err="1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Menganalisis</a:t>
              </a:r>
              <a:r>
                <a:rPr lang="en-US" sz="1400" b="0" i="0" u="none" strike="noStrike" cap="none" dirty="0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/ </a:t>
              </a:r>
              <a:r>
                <a:rPr lang="en-US" sz="1400" b="0" i="0" u="none" strike="noStrike" cap="none" dirty="0" err="1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mencari</a:t>
              </a:r>
              <a:r>
                <a:rPr lang="en-US" sz="1400" b="0" i="0" u="none" strike="noStrike" cap="none" dirty="0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 insight </a:t>
              </a:r>
              <a:r>
                <a:rPr lang="en-US" sz="1400" b="0" i="0" u="none" strike="noStrike" cap="none" dirty="0" err="1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dari</a:t>
              </a:r>
              <a:r>
                <a:rPr lang="en-US" sz="1400" b="0" i="0" u="none" strike="noStrike" cap="none" dirty="0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 data (dan </a:t>
              </a:r>
              <a:r>
                <a:rPr lang="en-US" sz="1400" b="0" i="0" u="none" strike="noStrike" cap="none" dirty="0" err="1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menampilkannya</a:t>
              </a:r>
              <a:r>
                <a:rPr lang="en-US" sz="1400" b="0" i="0" u="none" strike="noStrike" cap="none" dirty="0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400" b="0" i="0" u="none" strike="noStrike" cap="none" dirty="0" err="1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dalam</a:t>
              </a:r>
              <a:r>
                <a:rPr lang="en-US" sz="1400" b="0" i="0" u="none" strike="noStrike" cap="none" dirty="0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 dashboard)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227;p60">
              <a:extLst>
                <a:ext uri="{FF2B5EF4-FFF2-40B4-BE49-F238E27FC236}">
                  <a16:creationId xmlns:a16="http://schemas.microsoft.com/office/drawing/2014/main" id="{828A9C81-F214-C201-8D3F-26749E2DB4EE}"/>
                </a:ext>
              </a:extLst>
            </p:cNvPr>
            <p:cNvSpPr/>
            <p:nvPr/>
          </p:nvSpPr>
          <p:spPr>
            <a:xfrm>
              <a:off x="5381886" y="3020190"/>
              <a:ext cx="3652560" cy="48879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i="0" u="none" strike="noStrike" cap="none">
                  <a:solidFill>
                    <a:srgbClr val="0D5BDC"/>
                  </a:solidFill>
                  <a:latin typeface="Lato"/>
                  <a:ea typeface="Lato"/>
                  <a:cs typeface="Lato"/>
                  <a:sym typeface="Lato"/>
                </a:rPr>
                <a:t>Project/ Product Manager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Mengelola projek/ produk berbasis data</a:t>
              </a:r>
              <a:r>
                <a:rPr lang="en-US" b="0" i="0" u="none" strike="noStrike" cap="none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228;p60">
              <a:extLst>
                <a:ext uri="{FF2B5EF4-FFF2-40B4-BE49-F238E27FC236}">
                  <a16:creationId xmlns:a16="http://schemas.microsoft.com/office/drawing/2014/main" id="{747235D4-65C2-9A21-4ECD-2740C474661F}"/>
                </a:ext>
              </a:extLst>
            </p:cNvPr>
            <p:cNvGrpSpPr/>
            <p:nvPr/>
          </p:nvGrpSpPr>
          <p:grpSpPr>
            <a:xfrm>
              <a:off x="4865400" y="1808749"/>
              <a:ext cx="426600" cy="371880"/>
              <a:chOff x="4865400" y="1909440"/>
              <a:chExt cx="426600" cy="371880"/>
            </a:xfrm>
          </p:grpSpPr>
          <p:sp>
            <p:nvSpPr>
              <p:cNvPr id="13" name="Google Shape;229;p60">
                <a:extLst>
                  <a:ext uri="{FF2B5EF4-FFF2-40B4-BE49-F238E27FC236}">
                    <a16:creationId xmlns:a16="http://schemas.microsoft.com/office/drawing/2014/main" id="{83051074-1348-8611-05A1-1F5AA8D70437}"/>
                  </a:ext>
                </a:extLst>
              </p:cNvPr>
              <p:cNvSpPr/>
              <p:nvPr/>
            </p:nvSpPr>
            <p:spPr>
              <a:xfrm flipH="1">
                <a:off x="4865400" y="1909440"/>
                <a:ext cx="426600" cy="37188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30;p60">
                <a:extLst>
                  <a:ext uri="{FF2B5EF4-FFF2-40B4-BE49-F238E27FC236}">
                    <a16:creationId xmlns:a16="http://schemas.microsoft.com/office/drawing/2014/main" id="{0DB7BC45-2414-7239-07AD-14995F071346}"/>
                  </a:ext>
                </a:extLst>
              </p:cNvPr>
              <p:cNvSpPr/>
              <p:nvPr/>
            </p:nvSpPr>
            <p:spPr>
              <a:xfrm flipH="1">
                <a:off x="4865400" y="1955961"/>
                <a:ext cx="426600" cy="278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" name="Google Shape;231;p60">
              <a:extLst>
                <a:ext uri="{FF2B5EF4-FFF2-40B4-BE49-F238E27FC236}">
                  <a16:creationId xmlns:a16="http://schemas.microsoft.com/office/drawing/2014/main" id="{28BD77DD-F8A9-2EAA-B06B-A00209548CCF}"/>
                </a:ext>
              </a:extLst>
            </p:cNvPr>
            <p:cNvGrpSpPr/>
            <p:nvPr/>
          </p:nvGrpSpPr>
          <p:grpSpPr>
            <a:xfrm>
              <a:off x="4865400" y="2446158"/>
              <a:ext cx="426600" cy="371880"/>
              <a:chOff x="4865400" y="2462400"/>
              <a:chExt cx="426600" cy="371880"/>
            </a:xfrm>
          </p:grpSpPr>
          <p:sp>
            <p:nvSpPr>
              <p:cNvPr id="16" name="Google Shape;232;p60">
                <a:extLst>
                  <a:ext uri="{FF2B5EF4-FFF2-40B4-BE49-F238E27FC236}">
                    <a16:creationId xmlns:a16="http://schemas.microsoft.com/office/drawing/2014/main" id="{174B8641-CA53-4B7B-9281-4652905CC145}"/>
                  </a:ext>
                </a:extLst>
              </p:cNvPr>
              <p:cNvSpPr/>
              <p:nvPr/>
            </p:nvSpPr>
            <p:spPr>
              <a:xfrm flipH="1">
                <a:off x="4865400" y="2462400"/>
                <a:ext cx="426600" cy="37188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33;p60">
                <a:extLst>
                  <a:ext uri="{FF2B5EF4-FFF2-40B4-BE49-F238E27FC236}">
                    <a16:creationId xmlns:a16="http://schemas.microsoft.com/office/drawing/2014/main" id="{B8F64EEA-9A24-416A-D1EF-10C2CBB1F580}"/>
                  </a:ext>
                </a:extLst>
              </p:cNvPr>
              <p:cNvSpPr/>
              <p:nvPr/>
            </p:nvSpPr>
            <p:spPr>
              <a:xfrm flipH="1">
                <a:off x="4865400" y="2509280"/>
                <a:ext cx="426600" cy="278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234;p60">
              <a:extLst>
                <a:ext uri="{FF2B5EF4-FFF2-40B4-BE49-F238E27FC236}">
                  <a16:creationId xmlns:a16="http://schemas.microsoft.com/office/drawing/2014/main" id="{5821F411-F090-897B-7E5E-B26B9F8CFEBB}"/>
                </a:ext>
              </a:extLst>
            </p:cNvPr>
            <p:cNvGrpSpPr/>
            <p:nvPr/>
          </p:nvGrpSpPr>
          <p:grpSpPr>
            <a:xfrm>
              <a:off x="4865400" y="3095313"/>
              <a:ext cx="426600" cy="371520"/>
              <a:chOff x="4865400" y="3149280"/>
              <a:chExt cx="426600" cy="371520"/>
            </a:xfrm>
          </p:grpSpPr>
          <p:sp>
            <p:nvSpPr>
              <p:cNvPr id="19" name="Google Shape;235;p60">
                <a:extLst>
                  <a:ext uri="{FF2B5EF4-FFF2-40B4-BE49-F238E27FC236}">
                    <a16:creationId xmlns:a16="http://schemas.microsoft.com/office/drawing/2014/main" id="{3E336235-62A0-C987-8C69-F8F8565D5358}"/>
                  </a:ext>
                </a:extLst>
              </p:cNvPr>
              <p:cNvSpPr/>
              <p:nvPr/>
            </p:nvSpPr>
            <p:spPr>
              <a:xfrm flipH="1">
                <a:off x="4865400" y="3149280"/>
                <a:ext cx="426600" cy="37152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36;p60">
                <a:extLst>
                  <a:ext uri="{FF2B5EF4-FFF2-40B4-BE49-F238E27FC236}">
                    <a16:creationId xmlns:a16="http://schemas.microsoft.com/office/drawing/2014/main" id="{10D7BFE9-A2FF-C696-8079-2D6B841F0440}"/>
                  </a:ext>
                </a:extLst>
              </p:cNvPr>
              <p:cNvSpPr/>
              <p:nvPr/>
            </p:nvSpPr>
            <p:spPr>
              <a:xfrm flipH="1">
                <a:off x="4865400" y="3195801"/>
                <a:ext cx="426600" cy="278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b="1" i="0" u="none" strike="noStrike" cap="none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37;p60">
              <a:extLst>
                <a:ext uri="{FF2B5EF4-FFF2-40B4-BE49-F238E27FC236}">
                  <a16:creationId xmlns:a16="http://schemas.microsoft.com/office/drawing/2014/main" id="{A49C5F83-E7A0-C620-0E56-55B8685A117D}"/>
                </a:ext>
              </a:extLst>
            </p:cNvPr>
            <p:cNvGrpSpPr/>
            <p:nvPr/>
          </p:nvGrpSpPr>
          <p:grpSpPr>
            <a:xfrm>
              <a:off x="4865400" y="3669842"/>
              <a:ext cx="426600" cy="371880"/>
              <a:chOff x="4865400" y="3633840"/>
              <a:chExt cx="426600" cy="371880"/>
            </a:xfrm>
          </p:grpSpPr>
          <p:sp>
            <p:nvSpPr>
              <p:cNvPr id="22" name="Google Shape;238;p60">
                <a:extLst>
                  <a:ext uri="{FF2B5EF4-FFF2-40B4-BE49-F238E27FC236}">
                    <a16:creationId xmlns:a16="http://schemas.microsoft.com/office/drawing/2014/main" id="{D6707E0B-48ED-6BB5-39FD-E269BB7D9505}"/>
                  </a:ext>
                </a:extLst>
              </p:cNvPr>
              <p:cNvSpPr/>
              <p:nvPr/>
            </p:nvSpPr>
            <p:spPr>
              <a:xfrm flipH="1">
                <a:off x="4865400" y="3633840"/>
                <a:ext cx="426600" cy="37188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9;p60">
                <a:extLst>
                  <a:ext uri="{FF2B5EF4-FFF2-40B4-BE49-F238E27FC236}">
                    <a16:creationId xmlns:a16="http://schemas.microsoft.com/office/drawing/2014/main" id="{E167586B-88B0-5099-1246-1605A698F84B}"/>
                  </a:ext>
                </a:extLst>
              </p:cNvPr>
              <p:cNvSpPr/>
              <p:nvPr/>
            </p:nvSpPr>
            <p:spPr>
              <a:xfrm flipH="1">
                <a:off x="4865400" y="3680361"/>
                <a:ext cx="426600" cy="278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05</a:t>
                </a:r>
                <a:endParaRPr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" name="Google Shape;240;p60">
              <a:extLst>
                <a:ext uri="{FF2B5EF4-FFF2-40B4-BE49-F238E27FC236}">
                  <a16:creationId xmlns:a16="http://schemas.microsoft.com/office/drawing/2014/main" id="{8B22BFB4-2DB1-0B86-F4F9-2596ABC07DB7}"/>
                </a:ext>
              </a:extLst>
            </p:cNvPr>
            <p:cNvSpPr/>
            <p:nvPr/>
          </p:nvSpPr>
          <p:spPr>
            <a:xfrm>
              <a:off x="5377566" y="3617982"/>
              <a:ext cx="3652560" cy="442138"/>
            </a:xfrm>
            <a:prstGeom prst="rect">
              <a:avLst/>
            </a:prstGeom>
            <a:solidFill>
              <a:srgbClr val="FFB66C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i="0" u="none" strike="noStrike" cap="none" dirty="0">
                  <a:solidFill>
                    <a:srgbClr val="0D5BDC"/>
                  </a:solidFill>
                  <a:latin typeface="Lato"/>
                  <a:ea typeface="Lato"/>
                  <a:cs typeface="Lato"/>
                  <a:sym typeface="Lato"/>
                </a:rPr>
                <a:t>Domain Expert</a:t>
              </a:r>
              <a:endParaRPr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 dirty="0" err="1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Memberi</a:t>
              </a:r>
              <a:r>
                <a:rPr lang="en-US" sz="1400" b="0" i="0" u="none" strike="noStrike" cap="none" dirty="0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400" b="0" i="0" u="none" strike="noStrike" cap="none" dirty="0" err="1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arahan</a:t>
              </a:r>
              <a:r>
                <a:rPr lang="en-US" sz="1400" b="0" i="0" u="none" strike="noStrike" cap="none" dirty="0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400" b="0" i="0" u="none" strike="noStrike" cap="none" dirty="0" err="1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tentang</a:t>
              </a:r>
              <a:r>
                <a:rPr lang="en-US" sz="1400" b="0" i="0" u="none" strike="noStrike" cap="none" dirty="0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 domain </a:t>
              </a:r>
              <a:r>
                <a:rPr lang="en-US" sz="1400" b="0" i="0" u="none" strike="noStrike" cap="none" dirty="0" err="1">
                  <a:solidFill>
                    <a:srgbClr val="4C4C4C"/>
                  </a:solidFill>
                  <a:latin typeface="Lato"/>
                  <a:ea typeface="Lato"/>
                  <a:cs typeface="Lato"/>
                  <a:sym typeface="Lato"/>
                </a:rPr>
                <a:t>permasalahan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" name="Google Shape;241;p60">
              <a:extLst>
                <a:ext uri="{FF2B5EF4-FFF2-40B4-BE49-F238E27FC236}">
                  <a16:creationId xmlns:a16="http://schemas.microsoft.com/office/drawing/2014/main" id="{DE8CE9CA-7E3E-14C8-7FEC-2C72109C954A}"/>
                </a:ext>
              </a:extLst>
            </p:cNvPr>
            <p:cNvGrpSpPr/>
            <p:nvPr/>
          </p:nvGrpSpPr>
          <p:grpSpPr>
            <a:xfrm>
              <a:off x="4865400" y="4227949"/>
              <a:ext cx="426600" cy="371880"/>
              <a:chOff x="4865400" y="4262760"/>
              <a:chExt cx="426600" cy="371880"/>
            </a:xfrm>
          </p:grpSpPr>
          <p:sp>
            <p:nvSpPr>
              <p:cNvPr id="26" name="Google Shape;242;p60">
                <a:extLst>
                  <a:ext uri="{FF2B5EF4-FFF2-40B4-BE49-F238E27FC236}">
                    <a16:creationId xmlns:a16="http://schemas.microsoft.com/office/drawing/2014/main" id="{D84F7743-FFA4-8FCB-2019-5D2FA08F9765}"/>
                  </a:ext>
                </a:extLst>
              </p:cNvPr>
              <p:cNvSpPr/>
              <p:nvPr/>
            </p:nvSpPr>
            <p:spPr>
              <a:xfrm flipH="1">
                <a:off x="4865400" y="4262760"/>
                <a:ext cx="426600" cy="37188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43;p60">
                <a:extLst>
                  <a:ext uri="{FF2B5EF4-FFF2-40B4-BE49-F238E27FC236}">
                    <a16:creationId xmlns:a16="http://schemas.microsoft.com/office/drawing/2014/main" id="{FC999BDC-742F-16F7-54F4-487F72C38B84}"/>
                  </a:ext>
                </a:extLst>
              </p:cNvPr>
              <p:cNvSpPr/>
              <p:nvPr/>
            </p:nvSpPr>
            <p:spPr>
              <a:xfrm flipH="1">
                <a:off x="4865400" y="4309281"/>
                <a:ext cx="426600" cy="278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5000" rIns="90000" bIns="450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06</a:t>
                </a:r>
                <a:endParaRPr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30" name="Google Shape;219;p60">
            <a:extLst>
              <a:ext uri="{FF2B5EF4-FFF2-40B4-BE49-F238E27FC236}">
                <a16:creationId xmlns:a16="http://schemas.microsoft.com/office/drawing/2014/main" id="{76818DB5-B100-4D50-D93E-A625128523A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1865141"/>
            <a:ext cx="4811739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6031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A7E63-51BE-DE02-8E28-84B882C8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Acuan Data Scientist di Indonesia </a:t>
            </a:r>
            <a:endParaRPr lang="en-US" dirty="0"/>
          </a:p>
        </p:txBody>
      </p:sp>
      <p:pic>
        <p:nvPicPr>
          <p:cNvPr id="5" name="Google Shape;252;p61">
            <a:extLst>
              <a:ext uri="{FF2B5EF4-FFF2-40B4-BE49-F238E27FC236}">
                <a16:creationId xmlns:a16="http://schemas.microsoft.com/office/drawing/2014/main" id="{467D500E-F669-075A-23C0-A5F3D3136AF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20" y="2090880"/>
            <a:ext cx="4293120" cy="2956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53;p61">
            <a:extLst>
              <a:ext uri="{FF2B5EF4-FFF2-40B4-BE49-F238E27FC236}">
                <a16:creationId xmlns:a16="http://schemas.microsoft.com/office/drawing/2014/main" id="{3E5D6E11-C39F-F8C7-D8C2-E2AA2F1FC4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9840" y="1426560"/>
            <a:ext cx="7709280" cy="4978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9479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72CE-66E0-3DD6-59F3-78FCF6601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Rencana</a:t>
            </a:r>
            <a:r>
              <a:rPr lang="en-US" dirty="0"/>
              <a:t> Materi </a:t>
            </a:r>
            <a:r>
              <a:rPr lang="en-US" dirty="0" err="1"/>
              <a:t>Pembelajaran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2C57E-F773-2383-14DE-2D58E5A83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Metodologi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Pengembangan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AI </a:t>
            </a:r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menggunakan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data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Data Understanding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Mengumpulkan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Data dan </a:t>
            </a:r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Menelaah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Data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lvl="1"/>
            <a:r>
              <a:rPr lang="nn-NO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Menelaah Data dengan Visualisasi</a:t>
            </a:r>
            <a:endParaRPr lang="nn-NO" dirty="0">
              <a:latin typeface="Arial"/>
              <a:ea typeface="Arial"/>
              <a:cs typeface="Arial"/>
              <a:sym typeface="Arial"/>
            </a:endParaRPr>
          </a:p>
          <a:p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Data Preparation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Menentukan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Objek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atau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Memilih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Data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Membersihkan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Data, </a:t>
            </a:r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Memvalidasi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Data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Penyeimbangan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Data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Mengkonstruksi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Data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524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88964-575A-4B7B-0FA6-57044D91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Rencana</a:t>
            </a:r>
            <a:r>
              <a:rPr lang="en-US" dirty="0"/>
              <a:t> Materi </a:t>
            </a:r>
            <a:r>
              <a:rPr lang="en-US" dirty="0" err="1"/>
              <a:t>Pembelajaran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A8F2A-F72B-0388-4DDC-B0836A03F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Membangun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Model 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Regresi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Clustering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Deep Learning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Computer Vision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Evaluasi</a:t>
            </a:r>
            <a:endParaRPr lang="en-US" dirty="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Deployment Model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835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02287-2B48-814F-2B49-62E364AF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FD9C4-6F3A-0E1E-DB8F-76B1FE21A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04544-F40F-1F73-A67D-E3F41534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9534144" cy="641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7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96006-416F-3FE6-1E4F-C5A33F3F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Penilaian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4D227-FBCE-D6C9-0025-30494499F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3C78D3-78E7-517A-ED4C-7F5431A07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582559"/>
            <a:ext cx="6318669" cy="438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60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92548" y="1475233"/>
            <a:ext cx="6996700" cy="3413760"/>
          </a:xfrm>
        </p:spPr>
        <p:txBody>
          <a:bodyPr>
            <a:normAutofit/>
          </a:bodyPr>
          <a:lstStyle/>
          <a:p>
            <a:r>
              <a:rPr lang="en-US" dirty="0" err="1"/>
              <a:t>Terima</a:t>
            </a:r>
            <a:r>
              <a:rPr lang="en-US" dirty="0"/>
              <a:t> Kasih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Ada </a:t>
            </a:r>
            <a:r>
              <a:rPr lang="en-US" dirty="0" err="1"/>
              <a:t>Pertanyaan</a:t>
            </a:r>
            <a:r>
              <a:rPr lang="en-US" dirty="0"/>
              <a:t>?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692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19119</TotalTime>
  <Words>1313</Words>
  <Application>Microsoft Office PowerPoint</Application>
  <PresentationFormat>Widescreen</PresentationFormat>
  <Paragraphs>188</Paragraphs>
  <Slides>29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50" baseType="lpstr">
      <vt:lpstr>Albert Sans</vt:lpstr>
      <vt:lpstr>Allianz Neo</vt:lpstr>
      <vt:lpstr>Arial</vt:lpstr>
      <vt:lpstr>Calibri</vt:lpstr>
      <vt:lpstr>Corbel</vt:lpstr>
      <vt:lpstr>Courier New</vt:lpstr>
      <vt:lpstr>Helvetica-FF</vt:lpstr>
      <vt:lpstr>Lato</vt:lpstr>
      <vt:lpstr>Lato Black</vt:lpstr>
      <vt:lpstr>Noto Sans Symbols</vt:lpstr>
      <vt:lpstr>Open Sans</vt:lpstr>
      <vt:lpstr>Roboto</vt:lpstr>
      <vt:lpstr>Segoe UI</vt:lpstr>
      <vt:lpstr>Segoe UI Light</vt:lpstr>
      <vt:lpstr>Söhne</vt:lpstr>
      <vt:lpstr>Source Sans Pro</vt:lpstr>
      <vt:lpstr>Tahoma</vt:lpstr>
      <vt:lpstr>Times New Roman</vt:lpstr>
      <vt:lpstr>Titillium Web</vt:lpstr>
      <vt:lpstr>Wingdings</vt:lpstr>
      <vt:lpstr>Office Theme</vt:lpstr>
      <vt:lpstr>Data Science – Terapan Pendahuluan</vt:lpstr>
      <vt:lpstr>Muhammad Fakhrurrifqi, M.Cs.</vt:lpstr>
      <vt:lpstr>PowerPoint Presentation</vt:lpstr>
      <vt:lpstr>PowerPoint Presentation</vt:lpstr>
      <vt:lpstr>AI ?</vt:lpstr>
      <vt:lpstr>PowerPoint Presentation</vt:lpstr>
      <vt:lpstr>AI vs Human</vt:lpstr>
      <vt:lpstr>Perjalanan AlphaGo</vt:lpstr>
      <vt:lpstr>Perkembangan Teknologi AI</vt:lpstr>
      <vt:lpstr>Resiko AI</vt:lpstr>
      <vt:lpstr>The Potentially Large Effects  of Artificial Intelligence</vt:lpstr>
      <vt:lpstr>PowerPoint Presentation</vt:lpstr>
      <vt:lpstr>Fastest-growing and fastest-declining jobs, 2025-2030 (World Economic Forum, Future of Jobs Survey 2024)</vt:lpstr>
      <vt:lpstr>PowerPoint Presentation</vt:lpstr>
      <vt:lpstr>PowerPoint Presentation</vt:lpstr>
      <vt:lpstr>Jadi kita harus bagaimana??</vt:lpstr>
      <vt:lpstr>Jadi kita harus bagaimana??</vt:lpstr>
      <vt:lpstr>Penerapan AI:  Verification &amp; Identification</vt:lpstr>
      <vt:lpstr>Mobil Tanpa Supir</vt:lpstr>
      <vt:lpstr>Salah Siapa?</vt:lpstr>
      <vt:lpstr>Data Science</vt:lpstr>
      <vt:lpstr>PowerPoint Presentation</vt:lpstr>
      <vt:lpstr>SDM  Data Science</vt:lpstr>
      <vt:lpstr>Acuan Data Scientist di Indonesia </vt:lpstr>
      <vt:lpstr>Rencana Materi Pembelajaran</vt:lpstr>
      <vt:lpstr>Rencana Materi Pembelajaran</vt:lpstr>
      <vt:lpstr>PowerPoint Presentation</vt:lpstr>
      <vt:lpstr>Penilaian</vt:lpstr>
      <vt:lpstr>Terima Kasih   Ada Pertanyaan?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 Windows</dc:creator>
  <cp:lastModifiedBy>Muhammad Fakhrurrifqi</cp:lastModifiedBy>
  <cp:revision>57</cp:revision>
  <dcterms:created xsi:type="dcterms:W3CDTF">2018-05-08T06:50:11Z</dcterms:created>
  <dcterms:modified xsi:type="dcterms:W3CDTF">2026-08-19T07:33:45Z</dcterms:modified>
</cp:coreProperties>
</file>