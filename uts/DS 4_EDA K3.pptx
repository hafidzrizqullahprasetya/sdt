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687" r:id="rId4"/>
    <p:sldId id="688" r:id="rId5"/>
    <p:sldId id="259" r:id="rId6"/>
    <p:sldId id="689" r:id="rId7"/>
    <p:sldId id="699" r:id="rId8"/>
    <p:sldId id="700" r:id="rId9"/>
    <p:sldId id="703" r:id="rId10"/>
    <p:sldId id="701" r:id="rId11"/>
    <p:sldId id="702" r:id="rId12"/>
    <p:sldId id="269" r:id="rId13"/>
    <p:sldId id="683" r:id="rId14"/>
    <p:sldId id="681" r:id="rId15"/>
    <p:sldId id="682" r:id="rId16"/>
    <p:sldId id="684" r:id="rId17"/>
    <p:sldId id="270" r:id="rId18"/>
    <p:sldId id="261" r:id="rId19"/>
    <p:sldId id="262" r:id="rId20"/>
    <p:sldId id="686" r:id="rId21"/>
    <p:sldId id="272" r:id="rId22"/>
    <p:sldId id="273" r:id="rId23"/>
    <p:sldId id="274" r:id="rId24"/>
    <p:sldId id="275" r:id="rId25"/>
    <p:sldId id="276" r:id="rId26"/>
    <p:sldId id="277" r:id="rId27"/>
    <p:sldId id="263" r:id="rId28"/>
    <p:sldId id="264" r:id="rId29"/>
    <p:sldId id="267" r:id="rId30"/>
    <p:sldId id="268"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snapToObjects="1">
      <p:cViewPr varScale="1">
        <p:scale>
          <a:sx n="82" d="100"/>
          <a:sy n="82" d="100"/>
        </p:scale>
        <p:origin x="6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3428E6-8718-4B10-A7DC-5A17064C7688}" type="doc">
      <dgm:prSet loTypeId="urn:microsoft.com/office/officeart/2005/8/layout/hierarchy1" loCatId="hierarchy" qsTypeId="urn:microsoft.com/office/officeart/2005/8/quickstyle/simple2#2" qsCatId="simple" csTypeId="urn:microsoft.com/office/officeart/2005/8/colors/accent1_2#2" csCatId="accent1" phldr="1"/>
      <dgm:spPr/>
      <dgm:t>
        <a:bodyPr/>
        <a:lstStyle/>
        <a:p>
          <a:endParaRPr lang="en-US"/>
        </a:p>
      </dgm:t>
    </dgm:pt>
    <dgm:pt modelId="{FFACE09F-96E6-4A77-92E4-C0CAE3D68418}">
      <dgm:prSet/>
      <dgm:spPr/>
      <dgm:t>
        <a:bodyPr/>
        <a:lstStyle/>
        <a:p>
          <a:r>
            <a:rPr lang="id-ID"/>
            <a:t>Representasi grafis dari data</a:t>
          </a:r>
          <a:endParaRPr lang="en-US"/>
        </a:p>
      </dgm:t>
    </dgm:pt>
    <dgm:pt modelId="{15F72D28-F652-46D8-BA81-085EFA1ADAD7}" type="parTrans" cxnId="{31CF4FCE-509C-4F60-9648-F40BA04EAB3F}">
      <dgm:prSet/>
      <dgm:spPr/>
      <dgm:t>
        <a:bodyPr/>
        <a:lstStyle/>
        <a:p>
          <a:endParaRPr lang="en-US"/>
        </a:p>
      </dgm:t>
    </dgm:pt>
    <dgm:pt modelId="{17810EDC-1175-469B-9B86-8214E277BE56}" type="sibTrans" cxnId="{31CF4FCE-509C-4F60-9648-F40BA04EAB3F}">
      <dgm:prSet/>
      <dgm:spPr/>
      <dgm:t>
        <a:bodyPr/>
        <a:lstStyle/>
        <a:p>
          <a:endParaRPr lang="en-US"/>
        </a:p>
      </dgm:t>
    </dgm:pt>
    <dgm:pt modelId="{AE12D033-5376-47FE-ACFC-8CBF6EDF17E2}">
      <dgm:prSet/>
      <dgm:spPr/>
      <dgm:t>
        <a:bodyPr/>
        <a:lstStyle/>
        <a:p>
          <a:r>
            <a:rPr lang="id-ID" dirty="0"/>
            <a:t>Grafis tersebut dapat “menceritakan” hubungan antar data</a:t>
          </a:r>
          <a:endParaRPr lang="en-US" dirty="0"/>
        </a:p>
      </dgm:t>
    </dgm:pt>
    <dgm:pt modelId="{1C5D9725-A243-431B-BAF4-55D428598AFB}" type="parTrans" cxnId="{DEA4E4D6-6CDA-40F6-AB5C-31F5C4477E09}">
      <dgm:prSet/>
      <dgm:spPr/>
      <dgm:t>
        <a:bodyPr/>
        <a:lstStyle/>
        <a:p>
          <a:endParaRPr lang="en-US"/>
        </a:p>
      </dgm:t>
    </dgm:pt>
    <dgm:pt modelId="{044A82B0-27F0-46B3-8854-DF6466BD913C}" type="sibTrans" cxnId="{DEA4E4D6-6CDA-40F6-AB5C-31F5C4477E09}">
      <dgm:prSet/>
      <dgm:spPr/>
      <dgm:t>
        <a:bodyPr/>
        <a:lstStyle/>
        <a:p>
          <a:endParaRPr lang="en-US"/>
        </a:p>
      </dgm:t>
    </dgm:pt>
    <dgm:pt modelId="{4F14D461-CA27-4C7A-BDFF-7A32C3534A51}">
      <dgm:prSet/>
      <dgm:spPr/>
      <dgm:t>
        <a:bodyPr/>
        <a:lstStyle/>
        <a:p>
          <a:r>
            <a:rPr lang="id-ID" dirty="0"/>
            <a:t>Bertujuan untuk mendapatkan informasi secara cepat</a:t>
          </a:r>
          <a:endParaRPr lang="en-US" dirty="0"/>
        </a:p>
      </dgm:t>
    </dgm:pt>
    <dgm:pt modelId="{85771023-E9F9-4038-B123-43E3A24713FB}" type="parTrans" cxnId="{0F3D0CAD-0959-461E-8AEE-2E4D76A52F33}">
      <dgm:prSet/>
      <dgm:spPr/>
      <dgm:t>
        <a:bodyPr/>
        <a:lstStyle/>
        <a:p>
          <a:endParaRPr lang="en-GB"/>
        </a:p>
      </dgm:t>
    </dgm:pt>
    <dgm:pt modelId="{A5B54956-0067-447D-9C19-93F34AA50E56}" type="sibTrans" cxnId="{0F3D0CAD-0959-461E-8AEE-2E4D76A52F33}">
      <dgm:prSet/>
      <dgm:spPr/>
      <dgm:t>
        <a:bodyPr/>
        <a:lstStyle/>
        <a:p>
          <a:endParaRPr lang="en-GB"/>
        </a:p>
      </dgm:t>
    </dgm:pt>
    <dgm:pt modelId="{4C93202A-457C-4E6B-8504-9923F67319A3}" type="pres">
      <dgm:prSet presAssocID="{753428E6-8718-4B10-A7DC-5A17064C7688}" presName="hierChild1" presStyleCnt="0">
        <dgm:presLayoutVars>
          <dgm:chPref val="1"/>
          <dgm:dir/>
          <dgm:animOne val="branch"/>
          <dgm:animLvl val="lvl"/>
          <dgm:resizeHandles/>
        </dgm:presLayoutVars>
      </dgm:prSet>
      <dgm:spPr/>
    </dgm:pt>
    <dgm:pt modelId="{A4FFF5AA-CD51-45C1-A0A2-5F9CD622FEDE}" type="pres">
      <dgm:prSet presAssocID="{FFACE09F-96E6-4A77-92E4-C0CAE3D68418}" presName="hierRoot1" presStyleCnt="0"/>
      <dgm:spPr/>
    </dgm:pt>
    <dgm:pt modelId="{1A7C07B5-E87F-4AA2-BDDE-07255BF9D550}" type="pres">
      <dgm:prSet presAssocID="{FFACE09F-96E6-4A77-92E4-C0CAE3D68418}" presName="composite" presStyleCnt="0"/>
      <dgm:spPr/>
    </dgm:pt>
    <dgm:pt modelId="{0DD8F4E6-75E3-463B-8812-5215178FD86A}" type="pres">
      <dgm:prSet presAssocID="{FFACE09F-96E6-4A77-92E4-C0CAE3D68418}" presName="background" presStyleLbl="node0" presStyleIdx="0" presStyleCnt="3"/>
      <dgm:spPr/>
    </dgm:pt>
    <dgm:pt modelId="{C0B9EC11-1FBA-47E0-921F-C496CC04AEF3}" type="pres">
      <dgm:prSet presAssocID="{FFACE09F-96E6-4A77-92E4-C0CAE3D68418}" presName="text" presStyleLbl="fgAcc0" presStyleIdx="0" presStyleCnt="3">
        <dgm:presLayoutVars>
          <dgm:chPref val="3"/>
        </dgm:presLayoutVars>
      </dgm:prSet>
      <dgm:spPr/>
    </dgm:pt>
    <dgm:pt modelId="{F1CE83EB-B287-45CB-9390-B3E2DDF319FC}" type="pres">
      <dgm:prSet presAssocID="{FFACE09F-96E6-4A77-92E4-C0CAE3D68418}" presName="hierChild2" presStyleCnt="0"/>
      <dgm:spPr/>
    </dgm:pt>
    <dgm:pt modelId="{574DE553-732A-426B-87C6-D5C551CBE3CE}" type="pres">
      <dgm:prSet presAssocID="{AE12D033-5376-47FE-ACFC-8CBF6EDF17E2}" presName="hierRoot1" presStyleCnt="0"/>
      <dgm:spPr/>
    </dgm:pt>
    <dgm:pt modelId="{38B33069-5BDE-4622-B633-580ABD8A73C5}" type="pres">
      <dgm:prSet presAssocID="{AE12D033-5376-47FE-ACFC-8CBF6EDF17E2}" presName="composite" presStyleCnt="0"/>
      <dgm:spPr/>
    </dgm:pt>
    <dgm:pt modelId="{B9852939-2694-4B47-A1CB-455073FD9A58}" type="pres">
      <dgm:prSet presAssocID="{AE12D033-5376-47FE-ACFC-8CBF6EDF17E2}" presName="background" presStyleLbl="node0" presStyleIdx="1" presStyleCnt="3"/>
      <dgm:spPr/>
    </dgm:pt>
    <dgm:pt modelId="{936DAD2A-A290-491E-BEA3-3EC0E252FABF}" type="pres">
      <dgm:prSet presAssocID="{AE12D033-5376-47FE-ACFC-8CBF6EDF17E2}" presName="text" presStyleLbl="fgAcc0" presStyleIdx="1" presStyleCnt="3">
        <dgm:presLayoutVars>
          <dgm:chPref val="3"/>
        </dgm:presLayoutVars>
      </dgm:prSet>
      <dgm:spPr/>
    </dgm:pt>
    <dgm:pt modelId="{18370BE5-FF82-43D2-ACE8-963754DBCC43}" type="pres">
      <dgm:prSet presAssocID="{AE12D033-5376-47FE-ACFC-8CBF6EDF17E2}" presName="hierChild2" presStyleCnt="0"/>
      <dgm:spPr/>
    </dgm:pt>
    <dgm:pt modelId="{07A6DBF2-4DE6-4666-8FC5-90DE5975AE33}" type="pres">
      <dgm:prSet presAssocID="{4F14D461-CA27-4C7A-BDFF-7A32C3534A51}" presName="hierRoot1" presStyleCnt="0"/>
      <dgm:spPr/>
    </dgm:pt>
    <dgm:pt modelId="{A7F8D5C3-6C57-4F8E-8081-7FE30AB7E701}" type="pres">
      <dgm:prSet presAssocID="{4F14D461-CA27-4C7A-BDFF-7A32C3534A51}" presName="composite" presStyleCnt="0"/>
      <dgm:spPr/>
    </dgm:pt>
    <dgm:pt modelId="{7713A02B-2497-4E38-BF4D-977EC1446E94}" type="pres">
      <dgm:prSet presAssocID="{4F14D461-CA27-4C7A-BDFF-7A32C3534A51}" presName="background" presStyleLbl="node0" presStyleIdx="2" presStyleCnt="3"/>
      <dgm:spPr/>
    </dgm:pt>
    <dgm:pt modelId="{4FDFAE4F-D601-4FE5-B9AD-61EB4A992F71}" type="pres">
      <dgm:prSet presAssocID="{4F14D461-CA27-4C7A-BDFF-7A32C3534A51}" presName="text" presStyleLbl="fgAcc0" presStyleIdx="2" presStyleCnt="3">
        <dgm:presLayoutVars>
          <dgm:chPref val="3"/>
        </dgm:presLayoutVars>
      </dgm:prSet>
      <dgm:spPr/>
    </dgm:pt>
    <dgm:pt modelId="{5B90DC71-B6BA-4A67-949A-AEDBC827A451}" type="pres">
      <dgm:prSet presAssocID="{4F14D461-CA27-4C7A-BDFF-7A32C3534A51}" presName="hierChild2" presStyleCnt="0"/>
      <dgm:spPr/>
    </dgm:pt>
  </dgm:ptLst>
  <dgm:cxnLst>
    <dgm:cxn modelId="{9DE20612-B750-4D1E-998E-678F1E70B124}" type="presOf" srcId="{753428E6-8718-4B10-A7DC-5A17064C7688}" destId="{4C93202A-457C-4E6B-8504-9923F67319A3}" srcOrd="0" destOrd="0" presId="urn:microsoft.com/office/officeart/2005/8/layout/hierarchy1"/>
    <dgm:cxn modelId="{7F9FE41F-A4CA-473D-986A-30995D3BB871}" type="presOf" srcId="{AE12D033-5376-47FE-ACFC-8CBF6EDF17E2}" destId="{936DAD2A-A290-491E-BEA3-3EC0E252FABF}" srcOrd="0" destOrd="0" presId="urn:microsoft.com/office/officeart/2005/8/layout/hierarchy1"/>
    <dgm:cxn modelId="{19A57691-C4AE-4D18-8BA9-56594DB864A8}" type="presOf" srcId="{4F14D461-CA27-4C7A-BDFF-7A32C3534A51}" destId="{4FDFAE4F-D601-4FE5-B9AD-61EB4A992F71}" srcOrd="0" destOrd="0" presId="urn:microsoft.com/office/officeart/2005/8/layout/hierarchy1"/>
    <dgm:cxn modelId="{0F3D0CAD-0959-461E-8AEE-2E4D76A52F33}" srcId="{753428E6-8718-4B10-A7DC-5A17064C7688}" destId="{4F14D461-CA27-4C7A-BDFF-7A32C3534A51}" srcOrd="2" destOrd="0" parTransId="{85771023-E9F9-4038-B123-43E3A24713FB}" sibTransId="{A5B54956-0067-447D-9C19-93F34AA50E56}"/>
    <dgm:cxn modelId="{EC70C4B6-1348-4804-A82D-174AAA7BC9BB}" type="presOf" srcId="{FFACE09F-96E6-4A77-92E4-C0CAE3D68418}" destId="{C0B9EC11-1FBA-47E0-921F-C496CC04AEF3}" srcOrd="0" destOrd="0" presId="urn:microsoft.com/office/officeart/2005/8/layout/hierarchy1"/>
    <dgm:cxn modelId="{31CF4FCE-509C-4F60-9648-F40BA04EAB3F}" srcId="{753428E6-8718-4B10-A7DC-5A17064C7688}" destId="{FFACE09F-96E6-4A77-92E4-C0CAE3D68418}" srcOrd="0" destOrd="0" parTransId="{15F72D28-F652-46D8-BA81-085EFA1ADAD7}" sibTransId="{17810EDC-1175-469B-9B86-8214E277BE56}"/>
    <dgm:cxn modelId="{DEA4E4D6-6CDA-40F6-AB5C-31F5C4477E09}" srcId="{753428E6-8718-4B10-A7DC-5A17064C7688}" destId="{AE12D033-5376-47FE-ACFC-8CBF6EDF17E2}" srcOrd="1" destOrd="0" parTransId="{1C5D9725-A243-431B-BAF4-55D428598AFB}" sibTransId="{044A82B0-27F0-46B3-8854-DF6466BD913C}"/>
    <dgm:cxn modelId="{CE452D4C-6013-41CB-9A5B-2E8085DA3A20}" type="presParOf" srcId="{4C93202A-457C-4E6B-8504-9923F67319A3}" destId="{A4FFF5AA-CD51-45C1-A0A2-5F9CD622FEDE}" srcOrd="0" destOrd="0" presId="urn:microsoft.com/office/officeart/2005/8/layout/hierarchy1"/>
    <dgm:cxn modelId="{4E3CC39A-ADB2-4B7F-A402-83EEB0E25437}" type="presParOf" srcId="{A4FFF5AA-CD51-45C1-A0A2-5F9CD622FEDE}" destId="{1A7C07B5-E87F-4AA2-BDDE-07255BF9D550}" srcOrd="0" destOrd="0" presId="urn:microsoft.com/office/officeart/2005/8/layout/hierarchy1"/>
    <dgm:cxn modelId="{97495A48-1C31-44C8-BA34-DB70EA88C01D}" type="presParOf" srcId="{1A7C07B5-E87F-4AA2-BDDE-07255BF9D550}" destId="{0DD8F4E6-75E3-463B-8812-5215178FD86A}" srcOrd="0" destOrd="0" presId="urn:microsoft.com/office/officeart/2005/8/layout/hierarchy1"/>
    <dgm:cxn modelId="{5112D1BF-72E9-4C27-B7CF-07FCB0EB0429}" type="presParOf" srcId="{1A7C07B5-E87F-4AA2-BDDE-07255BF9D550}" destId="{C0B9EC11-1FBA-47E0-921F-C496CC04AEF3}" srcOrd="1" destOrd="0" presId="urn:microsoft.com/office/officeart/2005/8/layout/hierarchy1"/>
    <dgm:cxn modelId="{A2B1AB20-6B66-4E62-A12E-F20874DE4783}" type="presParOf" srcId="{A4FFF5AA-CD51-45C1-A0A2-5F9CD622FEDE}" destId="{F1CE83EB-B287-45CB-9390-B3E2DDF319FC}" srcOrd="1" destOrd="0" presId="urn:microsoft.com/office/officeart/2005/8/layout/hierarchy1"/>
    <dgm:cxn modelId="{A76C1219-99B3-4012-A565-2919ABB9262D}" type="presParOf" srcId="{4C93202A-457C-4E6B-8504-9923F67319A3}" destId="{574DE553-732A-426B-87C6-D5C551CBE3CE}" srcOrd="1" destOrd="0" presId="urn:microsoft.com/office/officeart/2005/8/layout/hierarchy1"/>
    <dgm:cxn modelId="{453E19D2-189F-42F1-9415-AEC46162560B}" type="presParOf" srcId="{574DE553-732A-426B-87C6-D5C551CBE3CE}" destId="{38B33069-5BDE-4622-B633-580ABD8A73C5}" srcOrd="0" destOrd="0" presId="urn:microsoft.com/office/officeart/2005/8/layout/hierarchy1"/>
    <dgm:cxn modelId="{C0D97976-D940-4262-9B91-A090D05A62A6}" type="presParOf" srcId="{38B33069-5BDE-4622-B633-580ABD8A73C5}" destId="{B9852939-2694-4B47-A1CB-455073FD9A58}" srcOrd="0" destOrd="0" presId="urn:microsoft.com/office/officeart/2005/8/layout/hierarchy1"/>
    <dgm:cxn modelId="{DA1D81DC-95DB-4D84-A880-7275270A2C6A}" type="presParOf" srcId="{38B33069-5BDE-4622-B633-580ABD8A73C5}" destId="{936DAD2A-A290-491E-BEA3-3EC0E252FABF}" srcOrd="1" destOrd="0" presId="urn:microsoft.com/office/officeart/2005/8/layout/hierarchy1"/>
    <dgm:cxn modelId="{2D338A5C-7E71-4F6D-9C3E-7AD060A27B63}" type="presParOf" srcId="{574DE553-732A-426B-87C6-D5C551CBE3CE}" destId="{18370BE5-FF82-43D2-ACE8-963754DBCC43}" srcOrd="1" destOrd="0" presId="urn:microsoft.com/office/officeart/2005/8/layout/hierarchy1"/>
    <dgm:cxn modelId="{0E3D608A-D6C8-4985-9FB1-4F167A2C3FD9}" type="presParOf" srcId="{4C93202A-457C-4E6B-8504-9923F67319A3}" destId="{07A6DBF2-4DE6-4666-8FC5-90DE5975AE33}" srcOrd="2" destOrd="0" presId="urn:microsoft.com/office/officeart/2005/8/layout/hierarchy1"/>
    <dgm:cxn modelId="{5550A8B4-7F06-4E06-8475-327B038BF35C}" type="presParOf" srcId="{07A6DBF2-4DE6-4666-8FC5-90DE5975AE33}" destId="{A7F8D5C3-6C57-4F8E-8081-7FE30AB7E701}" srcOrd="0" destOrd="0" presId="urn:microsoft.com/office/officeart/2005/8/layout/hierarchy1"/>
    <dgm:cxn modelId="{2506F9D4-42E0-4B10-8CF8-FF26FEE02AFC}" type="presParOf" srcId="{A7F8D5C3-6C57-4F8E-8081-7FE30AB7E701}" destId="{7713A02B-2497-4E38-BF4D-977EC1446E94}" srcOrd="0" destOrd="0" presId="urn:microsoft.com/office/officeart/2005/8/layout/hierarchy1"/>
    <dgm:cxn modelId="{A0B154A8-3EC9-4E94-BAB3-A6601D6B1EDC}" type="presParOf" srcId="{A7F8D5C3-6C57-4F8E-8081-7FE30AB7E701}" destId="{4FDFAE4F-D601-4FE5-B9AD-61EB4A992F71}" srcOrd="1" destOrd="0" presId="urn:microsoft.com/office/officeart/2005/8/layout/hierarchy1"/>
    <dgm:cxn modelId="{0B1762CB-319A-498C-A9D5-BF6A369F079B}" type="presParOf" srcId="{07A6DBF2-4DE6-4666-8FC5-90DE5975AE33}" destId="{5B90DC71-B6BA-4A67-949A-AEDBC827A45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D8F4E6-75E3-463B-8812-5215178FD86A}">
      <dsp:nvSpPr>
        <dsp:cNvPr id="0" name=""/>
        <dsp:cNvSpPr/>
      </dsp:nvSpPr>
      <dsp:spPr>
        <a:xfrm>
          <a:off x="0" y="1405114"/>
          <a:ext cx="2957512" cy="187802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C0B9EC11-1FBA-47E0-921F-C496CC04AEF3}">
      <dsp:nvSpPr>
        <dsp:cNvPr id="0" name=""/>
        <dsp:cNvSpPr/>
      </dsp:nvSpPr>
      <dsp:spPr>
        <a:xfrm>
          <a:off x="328612" y="1717296"/>
          <a:ext cx="2957512" cy="187802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a:t>Representasi grafis dari data</a:t>
          </a:r>
          <a:endParaRPr lang="en-US" sz="2400" kern="1200"/>
        </a:p>
      </dsp:txBody>
      <dsp:txXfrm>
        <a:off x="383617" y="1772301"/>
        <a:ext cx="2847502" cy="1768010"/>
      </dsp:txXfrm>
    </dsp:sp>
    <dsp:sp modelId="{B9852939-2694-4B47-A1CB-455073FD9A58}">
      <dsp:nvSpPr>
        <dsp:cNvPr id="0" name=""/>
        <dsp:cNvSpPr/>
      </dsp:nvSpPr>
      <dsp:spPr>
        <a:xfrm>
          <a:off x="3614737" y="1405114"/>
          <a:ext cx="2957512" cy="187802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36DAD2A-A290-491E-BEA3-3EC0E252FABF}">
      <dsp:nvSpPr>
        <dsp:cNvPr id="0" name=""/>
        <dsp:cNvSpPr/>
      </dsp:nvSpPr>
      <dsp:spPr>
        <a:xfrm>
          <a:off x="3943350" y="1717296"/>
          <a:ext cx="2957512" cy="187802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t>Grafis tersebut dapat “menceritakan” hubungan antar data</a:t>
          </a:r>
          <a:endParaRPr lang="en-US" sz="2400" kern="1200" dirty="0"/>
        </a:p>
      </dsp:txBody>
      <dsp:txXfrm>
        <a:off x="3998355" y="1772301"/>
        <a:ext cx="2847502" cy="1768010"/>
      </dsp:txXfrm>
    </dsp:sp>
    <dsp:sp modelId="{7713A02B-2497-4E38-BF4D-977EC1446E94}">
      <dsp:nvSpPr>
        <dsp:cNvPr id="0" name=""/>
        <dsp:cNvSpPr/>
      </dsp:nvSpPr>
      <dsp:spPr>
        <a:xfrm>
          <a:off x="7229475" y="1405114"/>
          <a:ext cx="2957512" cy="187802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4FDFAE4F-D601-4FE5-B9AD-61EB4A992F71}">
      <dsp:nvSpPr>
        <dsp:cNvPr id="0" name=""/>
        <dsp:cNvSpPr/>
      </dsp:nvSpPr>
      <dsp:spPr>
        <a:xfrm>
          <a:off x="7558087" y="1717296"/>
          <a:ext cx="2957512" cy="187802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t>Bertujuan untuk mendapatkan informasi secara cepat</a:t>
          </a:r>
          <a:endParaRPr lang="en-US" sz="2400" kern="1200" dirty="0"/>
        </a:p>
      </dsp:txBody>
      <dsp:txXfrm>
        <a:off x="7613092" y="1772301"/>
        <a:ext cx="2847502" cy="176801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B9F7A5-966C-41ED-A3B0-DB57C0B2C5A1}"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C079F6-E359-4800-AC41-F8DD44B4FD4C}" type="slidenum">
              <a:rPr lang="en-US" smtClean="0"/>
              <a:t>‹#›</a:t>
            </a:fld>
            <a:endParaRPr lang="en-US"/>
          </a:p>
        </p:txBody>
      </p:sp>
    </p:spTree>
    <p:extLst>
      <p:ext uri="{BB962C8B-B14F-4D97-AF65-F5344CB8AC3E}">
        <p14:creationId xmlns:p14="http://schemas.microsoft.com/office/powerpoint/2010/main" val="77885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Apa itu Visualisasi Data? Visualisasi data adalah representasi grafis dari data, yang ditujukan untuk memberikan informasi atau cerita dari kumpulan data, yang terkadang kumpulan data tersebut kalau kita baca langsung dari tabel, ataupun bentuk teks lainnya itu sulit untuk dipahami ataupun didapatkan pola yang menarik. Secara natural, manusia lebih cepat mendapatkan dan mengingat informasi ketika disajikan dalam warna dan pola yang menarik. Contohnya saja petunjuk jalan raya, gambaran persebaran penyakit </a:t>
            </a:r>
            <a:r>
              <a:rPr lang="id-ID" dirty="0" err="1"/>
              <a:t>covid</a:t>
            </a:r>
            <a:r>
              <a:rPr lang="id-ID" dirty="0"/>
              <a:t>, dan lain sebagainya.</a:t>
            </a:r>
            <a:endParaRPr lang="en-US" dirty="0"/>
          </a:p>
        </p:txBody>
      </p:sp>
      <p:sp>
        <p:nvSpPr>
          <p:cNvPr id="4" name="Slide Number Placeholder 3"/>
          <p:cNvSpPr>
            <a:spLocks noGrp="1"/>
          </p:cNvSpPr>
          <p:nvPr>
            <p:ph type="sldNum" sz="quarter" idx="5"/>
          </p:nvPr>
        </p:nvSpPr>
        <p:spPr/>
        <p:txBody>
          <a:bodyPr/>
          <a:lstStyle/>
          <a:p>
            <a:fld id="{D3E18EDD-70F2-4A31-ADC7-B06373641216}" type="slidenum">
              <a:rPr lang="en-US" smtClean="0"/>
              <a:t>13</a:t>
            </a:fld>
            <a:endParaRPr lang="en-US"/>
          </a:p>
        </p:txBody>
      </p:sp>
    </p:spTree>
    <p:extLst>
      <p:ext uri="{BB962C8B-B14F-4D97-AF65-F5344CB8AC3E}">
        <p14:creationId xmlns:p14="http://schemas.microsoft.com/office/powerpoint/2010/main" val="74013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latin typeface="Arial"/>
                <a:ea typeface="Arial"/>
                <a:cs typeface="Arial"/>
                <a:sym typeface="Arial"/>
              </a:rPr>
              <a:t>Visualisasi</a:t>
            </a:r>
            <a:r>
              <a:rPr lang="en-US" b="1" dirty="0">
                <a:latin typeface="Arial"/>
                <a:ea typeface="Arial"/>
                <a:cs typeface="Arial"/>
                <a:sym typeface="Arial"/>
              </a:rPr>
              <a:t> </a:t>
            </a:r>
            <a:r>
              <a:rPr lang="en-US" dirty="0" err="1">
                <a:latin typeface="Arial"/>
                <a:ea typeface="Arial"/>
                <a:cs typeface="Arial"/>
                <a:sym typeface="Arial"/>
              </a:rPr>
              <a:t>berperan</a:t>
            </a:r>
            <a:r>
              <a:rPr lang="en-US" dirty="0">
                <a:latin typeface="Arial"/>
                <a:ea typeface="Arial"/>
                <a:cs typeface="Arial"/>
                <a:sym typeface="Arial"/>
              </a:rPr>
              <a:t> </a:t>
            </a:r>
            <a:r>
              <a:rPr lang="en-US" dirty="0" err="1">
                <a:latin typeface="Arial"/>
                <a:ea typeface="Arial"/>
                <a:cs typeface="Arial"/>
                <a:sym typeface="Arial"/>
              </a:rPr>
              <a:t>peran</a:t>
            </a:r>
            <a:r>
              <a:rPr lang="en-US" dirty="0">
                <a:latin typeface="Arial"/>
                <a:ea typeface="Arial"/>
                <a:cs typeface="Arial"/>
                <a:sym typeface="Arial"/>
              </a:rPr>
              <a:t> </a:t>
            </a:r>
            <a:r>
              <a:rPr lang="en-US" dirty="0" err="1">
                <a:latin typeface="Arial"/>
                <a:ea typeface="Arial"/>
                <a:cs typeface="Arial"/>
                <a:sym typeface="Arial"/>
              </a:rPr>
              <a:t>penting</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bidang</a:t>
            </a:r>
            <a:r>
              <a:rPr lang="en-US" dirty="0">
                <a:latin typeface="Arial"/>
                <a:ea typeface="Arial"/>
                <a:cs typeface="Arial"/>
                <a:sym typeface="Arial"/>
              </a:rPr>
              <a:t> machine learning  dan data science. </a:t>
            </a:r>
            <a:r>
              <a:rPr lang="en-US" dirty="0" err="1">
                <a:latin typeface="Arial"/>
                <a:ea typeface="Arial"/>
                <a:cs typeface="Arial"/>
                <a:sym typeface="Arial"/>
              </a:rPr>
              <a:t>Seringkali</a:t>
            </a:r>
            <a:r>
              <a:rPr lang="en-US" dirty="0">
                <a:latin typeface="Arial"/>
                <a:ea typeface="Arial"/>
                <a:cs typeface="Arial"/>
                <a:sym typeface="Arial"/>
              </a:rPr>
              <a:t> </a:t>
            </a:r>
            <a:r>
              <a:rPr lang="en-US" dirty="0" err="1">
                <a:latin typeface="Arial"/>
                <a:ea typeface="Arial"/>
                <a:cs typeface="Arial"/>
                <a:sym typeface="Arial"/>
              </a:rPr>
              <a:t>kita</a:t>
            </a:r>
            <a:r>
              <a:rPr lang="en-US" dirty="0">
                <a:latin typeface="Arial"/>
                <a:ea typeface="Arial"/>
                <a:cs typeface="Arial"/>
                <a:sym typeface="Arial"/>
              </a:rPr>
              <a:t> </a:t>
            </a:r>
            <a:r>
              <a:rPr lang="en-US" dirty="0" err="1">
                <a:latin typeface="Arial"/>
                <a:ea typeface="Arial"/>
                <a:cs typeface="Arial"/>
                <a:sym typeface="Arial"/>
              </a:rPr>
              <a:t>perlu</a:t>
            </a:r>
            <a:r>
              <a:rPr lang="en-US" dirty="0">
                <a:latin typeface="Arial"/>
                <a:ea typeface="Arial"/>
                <a:cs typeface="Arial"/>
                <a:sym typeface="Arial"/>
              </a:rPr>
              <a:t> </a:t>
            </a:r>
            <a:r>
              <a:rPr lang="en-US" dirty="0" err="1">
                <a:latin typeface="Arial"/>
                <a:ea typeface="Arial"/>
                <a:cs typeface="Arial"/>
                <a:sym typeface="Arial"/>
              </a:rPr>
              <a:t>menyaring</a:t>
            </a:r>
            <a:r>
              <a:rPr lang="en-US" dirty="0">
                <a:latin typeface="Arial"/>
                <a:ea typeface="Arial"/>
                <a:cs typeface="Arial"/>
                <a:sym typeface="Arial"/>
              </a:rPr>
              <a:t> </a:t>
            </a:r>
            <a:r>
              <a:rPr lang="en-US" dirty="0" err="1">
                <a:latin typeface="Arial"/>
                <a:ea typeface="Arial"/>
                <a:cs typeface="Arial"/>
                <a:sym typeface="Arial"/>
              </a:rPr>
              <a:t>informasi</a:t>
            </a:r>
            <a:r>
              <a:rPr lang="en-US" dirty="0">
                <a:latin typeface="Arial"/>
                <a:ea typeface="Arial"/>
                <a:cs typeface="Arial"/>
                <a:sym typeface="Arial"/>
              </a:rPr>
              <a:t> </a:t>
            </a:r>
            <a:r>
              <a:rPr lang="en-US" dirty="0" err="1">
                <a:latin typeface="Arial"/>
                <a:ea typeface="Arial"/>
                <a:cs typeface="Arial"/>
                <a:sym typeface="Arial"/>
              </a:rPr>
              <a:t>kunci</a:t>
            </a:r>
            <a:r>
              <a:rPr lang="en-US" dirty="0">
                <a:latin typeface="Arial"/>
                <a:ea typeface="Arial"/>
                <a:cs typeface="Arial"/>
                <a:sym typeface="Arial"/>
              </a:rPr>
              <a:t> yang </a:t>
            </a:r>
            <a:r>
              <a:rPr lang="en-US" dirty="0" err="1">
                <a:latin typeface="Arial"/>
                <a:ea typeface="Arial"/>
                <a:cs typeface="Arial"/>
                <a:sym typeface="Arial"/>
              </a:rPr>
              <a:t>ditemukan</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sejumlah</a:t>
            </a:r>
            <a:r>
              <a:rPr lang="en-US" dirty="0">
                <a:latin typeface="Arial"/>
                <a:ea typeface="Arial"/>
                <a:cs typeface="Arial"/>
                <a:sym typeface="Arial"/>
              </a:rPr>
              <a:t> data </a:t>
            </a:r>
            <a:r>
              <a:rPr lang="en-US" dirty="0" err="1">
                <a:latin typeface="Arial"/>
                <a:ea typeface="Arial"/>
                <a:cs typeface="Arial"/>
                <a:sym typeface="Arial"/>
              </a:rPr>
              <a:t>data</a:t>
            </a:r>
            <a:r>
              <a:rPr lang="en-US" dirty="0">
                <a:latin typeface="Arial"/>
                <a:ea typeface="Arial"/>
                <a:cs typeface="Arial"/>
                <a:sym typeface="Arial"/>
              </a:rPr>
              <a:t> </a:t>
            </a:r>
            <a:r>
              <a:rPr lang="en-US" dirty="0" err="1">
                <a:latin typeface="Arial"/>
                <a:ea typeface="Arial"/>
                <a:cs typeface="Arial"/>
                <a:sym typeface="Arial"/>
              </a:rPr>
              <a:t>menjadi</a:t>
            </a:r>
            <a:r>
              <a:rPr lang="en-US" dirty="0">
                <a:latin typeface="Arial"/>
                <a:ea typeface="Arial"/>
                <a:cs typeface="Arial"/>
                <a:sym typeface="Arial"/>
              </a:rPr>
              <a:t> </a:t>
            </a:r>
            <a:r>
              <a:rPr lang="en-US" dirty="0" err="1">
                <a:latin typeface="Arial"/>
                <a:ea typeface="Arial"/>
                <a:cs typeface="Arial"/>
                <a:sym typeface="Arial"/>
              </a:rPr>
              <a:t>bentuk</a:t>
            </a:r>
            <a:r>
              <a:rPr lang="en-US" dirty="0">
                <a:latin typeface="Arial"/>
                <a:ea typeface="Arial"/>
                <a:cs typeface="Arial"/>
                <a:sym typeface="Arial"/>
              </a:rPr>
              <a:t> yang </a:t>
            </a:r>
            <a:r>
              <a:rPr lang="en-US" dirty="0" err="1">
                <a:latin typeface="Arial"/>
                <a:ea typeface="Arial"/>
                <a:cs typeface="Arial"/>
                <a:sym typeface="Arial"/>
              </a:rPr>
              <a:t>bermakna</a:t>
            </a:r>
            <a:r>
              <a:rPr lang="en-US" dirty="0">
                <a:latin typeface="Arial"/>
                <a:ea typeface="Arial"/>
                <a:cs typeface="Arial"/>
                <a:sym typeface="Arial"/>
              </a:rPr>
              <a:t> dan </a:t>
            </a:r>
            <a:r>
              <a:rPr lang="en-US" dirty="0" err="1">
                <a:latin typeface="Arial"/>
                <a:ea typeface="Arial"/>
                <a:cs typeface="Arial"/>
                <a:sym typeface="Arial"/>
              </a:rPr>
              <a:t>mudah</a:t>
            </a:r>
            <a:r>
              <a:rPr lang="en-US" dirty="0">
                <a:latin typeface="Arial"/>
                <a:ea typeface="Arial"/>
                <a:cs typeface="Arial"/>
                <a:sym typeface="Arial"/>
              </a:rPr>
              <a:t> </a:t>
            </a:r>
            <a:r>
              <a:rPr lang="en-US" dirty="0" err="1">
                <a:latin typeface="Arial"/>
                <a:ea typeface="Arial"/>
                <a:cs typeface="Arial"/>
                <a:sym typeface="Arial"/>
              </a:rPr>
              <a:t>dicerna</a:t>
            </a:r>
            <a:r>
              <a:rPr lang="en-US" dirty="0">
                <a:latin typeface="Arial"/>
                <a:ea typeface="Arial"/>
                <a:cs typeface="Arial"/>
                <a:sym typeface="Arial"/>
              </a:rPr>
              <a:t>. </a:t>
            </a:r>
          </a:p>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14</a:t>
            </a:fld>
            <a:endParaRPr lang="en-US"/>
          </a:p>
        </p:txBody>
      </p:sp>
    </p:spTree>
    <p:extLst>
      <p:ext uri="{BB962C8B-B14F-4D97-AF65-F5344CB8AC3E}">
        <p14:creationId xmlns:p14="http://schemas.microsoft.com/office/powerpoint/2010/main" val="2549397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18</a:t>
            </a:fld>
            <a:endParaRPr lang="en-US"/>
          </a:p>
        </p:txBody>
      </p:sp>
    </p:spTree>
    <p:extLst>
      <p:ext uri="{BB962C8B-B14F-4D97-AF65-F5344CB8AC3E}">
        <p14:creationId xmlns:p14="http://schemas.microsoft.com/office/powerpoint/2010/main" val="302785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19</a:t>
            </a:fld>
            <a:endParaRPr lang="en-US"/>
          </a:p>
        </p:txBody>
      </p:sp>
    </p:spTree>
    <p:extLst>
      <p:ext uri="{BB962C8B-B14F-4D97-AF65-F5344CB8AC3E}">
        <p14:creationId xmlns:p14="http://schemas.microsoft.com/office/powerpoint/2010/main" val="2208497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0FCC-B2DE-7426-CB00-62C55F8FD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F64B2-379A-0719-717B-94D97CB2D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C996B-540B-E2FB-8A41-CA8DE20CB665}"/>
              </a:ext>
            </a:extLst>
          </p:cNvPr>
          <p:cNvSpPr>
            <a:spLocks noGrp="1"/>
          </p:cNvSpPr>
          <p:nvPr>
            <p:ph type="body" idx="1"/>
          </p:nvPr>
        </p:nvSpPr>
        <p:spPr/>
        <p:txBody>
          <a:bodyPr/>
          <a:lstStyle/>
          <a:p>
            <a:r>
              <a:rPr lang="en-US" dirty="0" err="1"/>
              <a:t>Contoh</a:t>
            </a:r>
            <a:r>
              <a:rPr lang="en-US" dirty="0"/>
              <a:t> </a:t>
            </a:r>
            <a:r>
              <a:rPr lang="en-US" dirty="0" err="1"/>
              <a:t>dari</a:t>
            </a:r>
            <a:r>
              <a:rPr lang="en-US" dirty="0"/>
              <a:t> </a:t>
            </a:r>
            <a:r>
              <a:rPr lang="en-US" sz="1200" kern="1200" dirty="0">
                <a:solidFill>
                  <a:schemeClr val="tx1"/>
                </a:solidFill>
                <a:latin typeface="+mn-lt"/>
                <a:ea typeface="+mn-ea"/>
                <a:cs typeface="+mn-cs"/>
              </a:rPr>
              <a:t>goals</a:t>
            </a:r>
            <a:r>
              <a:rPr lang="en-US" dirty="0"/>
              <a:t>:</a:t>
            </a:r>
          </a:p>
          <a:p>
            <a:pPr lvl="0"/>
            <a:r>
              <a:rPr lang="en-US" sz="1200" kern="1200" dirty="0">
                <a:solidFill>
                  <a:schemeClr val="tx1"/>
                </a:solidFill>
                <a:latin typeface="+mn-lt"/>
                <a:ea typeface="+mn-ea"/>
                <a:cs typeface="+mn-cs"/>
              </a:rPr>
              <a:t>mean</a:t>
            </a:r>
            <a:r>
              <a:rPr lang="en-US" dirty="0"/>
              <a:t> ≈ 1,86 </a:t>
            </a:r>
          </a:p>
          <a:p>
            <a:pPr lvl="0"/>
            <a:r>
              <a:rPr lang="en-US" sz="1200" kern="1200" dirty="0">
                <a:solidFill>
                  <a:schemeClr val="tx1"/>
                </a:solidFill>
                <a:latin typeface="+mn-lt"/>
                <a:ea typeface="+mn-ea"/>
                <a:cs typeface="+mn-cs"/>
              </a:rPr>
              <a:t>min</a:t>
            </a:r>
            <a:r>
              <a:rPr lang="en-US" dirty="0"/>
              <a:t> = 0 </a:t>
            </a:r>
          </a:p>
          <a:p>
            <a:pPr lvl="0"/>
            <a:r>
              <a:rPr lang="en-US" sz="1200" kern="1200" dirty="0">
                <a:solidFill>
                  <a:schemeClr val="tx1"/>
                </a:solidFill>
                <a:latin typeface="+mn-lt"/>
                <a:ea typeface="+mn-ea"/>
                <a:cs typeface="+mn-cs"/>
              </a:rPr>
              <a:t>median</a:t>
            </a:r>
            <a:r>
              <a:rPr lang="en-US" dirty="0"/>
              <a:t> = 1 </a:t>
            </a:r>
          </a:p>
          <a:p>
            <a:pPr lvl="0"/>
            <a:r>
              <a:rPr lang="en-US" sz="1200" kern="1200" dirty="0">
                <a:solidFill>
                  <a:schemeClr val="tx1"/>
                </a:solidFill>
                <a:latin typeface="+mn-lt"/>
                <a:ea typeface="+mn-ea"/>
                <a:cs typeface="+mn-cs"/>
              </a:rPr>
              <a:t>max</a:t>
            </a:r>
            <a:r>
              <a:rPr lang="en-US" dirty="0"/>
              <a:t> = 23 </a:t>
            </a:r>
          </a:p>
          <a:p>
            <a:r>
              <a:rPr lang="en-US" dirty="0"/>
              <a:t>Artinya </a:t>
            </a:r>
            <a:r>
              <a:rPr lang="en-US" dirty="0" err="1"/>
              <a:t>secara</a:t>
            </a:r>
            <a:r>
              <a:rPr lang="en-US" dirty="0"/>
              <a:t> </a:t>
            </a:r>
            <a:r>
              <a:rPr lang="en-US" dirty="0" err="1"/>
              <a:t>sederhana</a:t>
            </a:r>
            <a:r>
              <a:rPr lang="en-US" dirty="0"/>
              <a:t>:</a:t>
            </a:r>
          </a:p>
          <a:p>
            <a:r>
              <a:rPr lang="en-US" dirty="0"/>
              <a:t>Rata-rata </a:t>
            </a:r>
            <a:r>
              <a:rPr lang="en-US" dirty="0" err="1"/>
              <a:t>pemain</a:t>
            </a:r>
            <a:r>
              <a:rPr lang="en-US" dirty="0"/>
              <a:t> </a:t>
            </a:r>
            <a:r>
              <a:rPr lang="en-US" dirty="0" err="1"/>
              <a:t>mencetak</a:t>
            </a:r>
            <a:r>
              <a:rPr lang="en-US" dirty="0"/>
              <a:t> </a:t>
            </a:r>
            <a:r>
              <a:rPr lang="en-US" dirty="0" err="1"/>
              <a:t>sekitar</a:t>
            </a:r>
            <a:r>
              <a:rPr lang="en-US" dirty="0"/>
              <a:t> </a:t>
            </a:r>
            <a:r>
              <a:rPr lang="en-US" b="1" dirty="0"/>
              <a:t>1,86 </a:t>
            </a:r>
            <a:r>
              <a:rPr lang="en-US" b="1" dirty="0" err="1"/>
              <a:t>gol</a:t>
            </a:r>
            <a:r>
              <a:rPr lang="en-US" dirty="0"/>
              <a:t>, </a:t>
            </a:r>
            <a:r>
              <a:rPr lang="en-US" dirty="0" err="1"/>
              <a:t>tetapi</a:t>
            </a:r>
            <a:r>
              <a:rPr lang="en-US" dirty="0"/>
              <a:t> </a:t>
            </a:r>
            <a:r>
              <a:rPr lang="en-US" dirty="0" err="1"/>
              <a:t>ada</a:t>
            </a:r>
            <a:r>
              <a:rPr lang="en-US" dirty="0"/>
              <a:t> </a:t>
            </a:r>
            <a:r>
              <a:rPr lang="en-US" dirty="0" err="1"/>
              <a:t>pemain</a:t>
            </a:r>
            <a:r>
              <a:rPr lang="en-US" dirty="0"/>
              <a:t> yang </a:t>
            </a:r>
            <a:r>
              <a:rPr lang="en-US" dirty="0" err="1"/>
              <a:t>mencetak</a:t>
            </a:r>
            <a:r>
              <a:rPr lang="en-US" dirty="0"/>
              <a:t> </a:t>
            </a:r>
            <a:r>
              <a:rPr lang="en-US" dirty="0" err="1"/>
              <a:t>hingga</a:t>
            </a:r>
            <a:r>
              <a:rPr lang="en-US" dirty="0"/>
              <a:t> </a:t>
            </a:r>
            <a:r>
              <a:rPr lang="en-US" b="1" dirty="0"/>
              <a:t>23 </a:t>
            </a:r>
            <a:r>
              <a:rPr lang="en-US" b="1" dirty="0" err="1"/>
              <a:t>gol</a:t>
            </a:r>
            <a:r>
              <a:rPr lang="en-US" dirty="0"/>
              <a:t>.</a:t>
            </a:r>
          </a:p>
          <a:p>
            <a:endParaRPr lang="en-US" dirty="0"/>
          </a:p>
          <a:p>
            <a:r>
              <a:rPr lang="en-US" dirty="0" err="1"/>
              <a:t>Mengapa</a:t>
            </a:r>
            <a:r>
              <a:rPr lang="en-US" dirty="0"/>
              <a:t> </a:t>
            </a:r>
            <a:r>
              <a:rPr lang="en-US" dirty="0" err="1"/>
              <a:t>nilai</a:t>
            </a:r>
            <a:r>
              <a:rPr lang="en-US" dirty="0"/>
              <a:t> </a:t>
            </a:r>
            <a:r>
              <a:rPr lang="en-US" dirty="0" err="1"/>
              <a:t>maksimum</a:t>
            </a:r>
            <a:r>
              <a:rPr lang="en-US" dirty="0"/>
              <a:t> </a:t>
            </a:r>
            <a:r>
              <a:rPr lang="en-US" dirty="0" err="1"/>
              <a:t>jauh</a:t>
            </a:r>
            <a:r>
              <a:rPr lang="en-US" dirty="0"/>
              <a:t> </a:t>
            </a:r>
            <a:r>
              <a:rPr lang="en-US" dirty="0" err="1"/>
              <a:t>lebih</a:t>
            </a:r>
            <a:r>
              <a:rPr lang="en-US" dirty="0"/>
              <a:t> </a:t>
            </a:r>
            <a:r>
              <a:rPr lang="en-US" dirty="0" err="1"/>
              <a:t>besar</a:t>
            </a:r>
            <a:r>
              <a:rPr lang="en-US" dirty="0"/>
              <a:t> </a:t>
            </a:r>
            <a:r>
              <a:rPr lang="en-US" dirty="0" err="1"/>
              <a:t>daripada</a:t>
            </a:r>
            <a:r>
              <a:rPr lang="en-US" dirty="0"/>
              <a:t> </a:t>
            </a:r>
            <a:r>
              <a:rPr lang="en-US" dirty="0" err="1"/>
              <a:t>sebagian</a:t>
            </a:r>
            <a:r>
              <a:rPr lang="en-US" dirty="0"/>
              <a:t> </a:t>
            </a:r>
            <a:r>
              <a:rPr lang="en-US" dirty="0" err="1"/>
              <a:t>besar</a:t>
            </a:r>
            <a:r>
              <a:rPr lang="en-US" dirty="0"/>
              <a:t> data?</a:t>
            </a:r>
          </a:p>
          <a:p>
            <a:r>
              <a:rPr lang="en-US" dirty="0" err="1"/>
              <a:t>Mungkin</a:t>
            </a:r>
            <a:r>
              <a:rPr lang="en-US" dirty="0"/>
              <a:t>:</a:t>
            </a:r>
          </a:p>
          <a:p>
            <a:pPr lvl="0"/>
            <a:r>
              <a:rPr lang="en-US" dirty="0"/>
              <a:t>- </a:t>
            </a:r>
            <a:r>
              <a:rPr lang="en-US" dirty="0" err="1"/>
              <a:t>memang</a:t>
            </a:r>
            <a:r>
              <a:rPr lang="en-US" dirty="0"/>
              <a:t> </a:t>
            </a:r>
            <a:r>
              <a:rPr lang="en-US" dirty="0" err="1"/>
              <a:t>ada</a:t>
            </a:r>
            <a:r>
              <a:rPr lang="en-US" dirty="0"/>
              <a:t> </a:t>
            </a:r>
            <a:r>
              <a:rPr lang="en-US" dirty="0" err="1"/>
              <a:t>pemain</a:t>
            </a:r>
            <a:r>
              <a:rPr lang="en-US" dirty="0"/>
              <a:t> yang sangat </a:t>
            </a:r>
            <a:r>
              <a:rPr lang="en-US" dirty="0" err="1"/>
              <a:t>produktif</a:t>
            </a:r>
            <a:r>
              <a:rPr lang="en-US" dirty="0"/>
              <a:t>; </a:t>
            </a:r>
          </a:p>
          <a:p>
            <a:pPr lvl="0"/>
            <a:r>
              <a:rPr lang="en-US" dirty="0"/>
              <a:t>- </a:t>
            </a:r>
            <a:r>
              <a:rPr lang="en-US" dirty="0" err="1"/>
              <a:t>terdapat</a:t>
            </a:r>
            <a:r>
              <a:rPr lang="en-US" dirty="0"/>
              <a:t> outlier; </a:t>
            </a:r>
          </a:p>
          <a:p>
            <a:pPr lvl="0"/>
            <a:r>
              <a:rPr lang="en-US" dirty="0"/>
              <a:t>- </a:t>
            </a:r>
            <a:r>
              <a:rPr lang="en-US" dirty="0" err="1"/>
              <a:t>atau</a:t>
            </a:r>
            <a:r>
              <a:rPr lang="en-US" dirty="0"/>
              <a:t> </a:t>
            </a:r>
            <a:r>
              <a:rPr lang="en-US" dirty="0" err="1"/>
              <a:t>ada</a:t>
            </a:r>
            <a:r>
              <a:rPr lang="en-US" dirty="0"/>
              <a:t> </a:t>
            </a:r>
            <a:r>
              <a:rPr lang="en-US" dirty="0" err="1"/>
              <a:t>kesalahan</a:t>
            </a:r>
            <a:r>
              <a:rPr lang="en-US" dirty="0"/>
              <a:t> </a:t>
            </a:r>
            <a:r>
              <a:rPr lang="en-US" dirty="0" err="1"/>
              <a:t>pencatatan</a:t>
            </a:r>
            <a:r>
              <a:rPr lang="en-US" dirty="0"/>
              <a:t>.</a:t>
            </a:r>
          </a:p>
          <a:p>
            <a:endParaRPr lang="en-US" dirty="0"/>
          </a:p>
          <a:p>
            <a:endParaRPr lang="en-US" dirty="0"/>
          </a:p>
        </p:txBody>
      </p:sp>
      <p:sp>
        <p:nvSpPr>
          <p:cNvPr id="4" name="Slide Number Placeholder 3">
            <a:extLst>
              <a:ext uri="{FF2B5EF4-FFF2-40B4-BE49-F238E27FC236}">
                <a16:creationId xmlns:a16="http://schemas.microsoft.com/office/drawing/2014/main" id="{675F3522-E881-BB35-6C31-186C49504E8C}"/>
              </a:ext>
            </a:extLst>
          </p:cNvPr>
          <p:cNvSpPr>
            <a:spLocks noGrp="1"/>
          </p:cNvSpPr>
          <p:nvPr>
            <p:ph type="sldNum" sz="quarter" idx="5"/>
          </p:nvPr>
        </p:nvSpPr>
        <p:spPr/>
        <p:txBody>
          <a:bodyPr/>
          <a:lstStyle/>
          <a:p>
            <a:fld id="{A8C079F6-E359-4800-AC41-F8DD44B4FD4C}" type="slidenum">
              <a:rPr lang="en-US" smtClean="0"/>
              <a:t>20</a:t>
            </a:fld>
            <a:endParaRPr lang="en-US"/>
          </a:p>
        </p:txBody>
      </p:sp>
    </p:spTree>
    <p:extLst>
      <p:ext uri="{BB962C8B-B14F-4D97-AF65-F5344CB8AC3E}">
        <p14:creationId xmlns:p14="http://schemas.microsoft.com/office/powerpoint/2010/main" val="2443192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dirty="0">
                <a:solidFill>
                  <a:srgbClr val="0F172A"/>
                </a:solidFill>
                <a:latin typeface="Poppins"/>
              </a:rPr>
              <a:t>Near Miss = </a:t>
            </a:r>
            <a:r>
              <a:rPr lang="en-US" sz="1200" b="1" i="0" u="none" dirty="0" err="1">
                <a:solidFill>
                  <a:srgbClr val="0F172A"/>
                </a:solidFill>
                <a:latin typeface="Poppins"/>
              </a:rPr>
              <a:t>nyaris</a:t>
            </a:r>
            <a:r>
              <a:rPr lang="en-US" sz="1200" b="1" i="0" u="none" dirty="0">
                <a:solidFill>
                  <a:srgbClr val="0F172A"/>
                </a:solidFill>
                <a:latin typeface="Poppins"/>
              </a:rPr>
              <a:t> </a:t>
            </a:r>
            <a:r>
              <a:rPr lang="en-US" sz="1200" b="1" i="0" u="none" dirty="0" err="1">
                <a:solidFill>
                  <a:srgbClr val="0F172A"/>
                </a:solidFill>
                <a:latin typeface="Poppins"/>
              </a:rPr>
              <a:t>celaka</a:t>
            </a:r>
            <a:endParaRPr lang="en-US" dirty="0"/>
          </a:p>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27</a:t>
            </a:fld>
            <a:endParaRPr lang="en-US"/>
          </a:p>
        </p:txBody>
      </p:sp>
    </p:spTree>
    <p:extLst>
      <p:ext uri="{BB962C8B-B14F-4D97-AF65-F5344CB8AC3E}">
        <p14:creationId xmlns:p14="http://schemas.microsoft.com/office/powerpoint/2010/main" val="4243736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3.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2.png"/><Relationship Id="rId2" Type="http://schemas.openxmlformats.org/officeDocument/2006/relationships/image" Target="../media/image12.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26.png"/><Relationship Id="rId19" Type="http://schemas.openxmlformats.org/officeDocument/2006/relationships/image" Target="../media/image3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15.png"/><Relationship Id="rId4" Type="http://schemas.openxmlformats.org/officeDocument/2006/relationships/image" Target="../media/image4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8.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15.png"/><Relationship Id="rId4" Type="http://schemas.openxmlformats.org/officeDocument/2006/relationships/image" Target="../media/image6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7.png"/><Relationship Id="rId7" Type="http://schemas.openxmlformats.org/officeDocument/2006/relationships/image" Target="../media/image70.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69.png"/><Relationship Id="rId10" Type="http://schemas.openxmlformats.org/officeDocument/2006/relationships/image" Target="../media/image73.png"/><Relationship Id="rId4" Type="http://schemas.openxmlformats.org/officeDocument/2006/relationships/image" Target="../media/image68.png"/><Relationship Id="rId9" Type="http://schemas.openxmlformats.org/officeDocument/2006/relationships/image" Target="../media/image72.png"/></Relationships>
</file>

<file path=ppt/slides/_rels/slide13.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1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5.png"/><Relationship Id="rId7" Type="http://schemas.openxmlformats.org/officeDocument/2006/relationships/image" Target="../media/image8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2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99.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5.png"/><Relationship Id="rId4" Type="http://schemas.openxmlformats.org/officeDocument/2006/relationships/image" Target="../media/image101.png"/></Relationships>
</file>

<file path=ppt/slides/_rels/slide24.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1.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06.png"/><Relationship Id="rId11" Type="http://schemas.openxmlformats.org/officeDocument/2006/relationships/image" Target="../media/image110.png"/><Relationship Id="rId5" Type="http://schemas.openxmlformats.org/officeDocument/2006/relationships/image" Target="../media/image105.png"/><Relationship Id="rId10" Type="http://schemas.openxmlformats.org/officeDocument/2006/relationships/image" Target="../media/image109.png"/><Relationship Id="rId4" Type="http://schemas.openxmlformats.org/officeDocument/2006/relationships/image" Target="../media/image104.png"/><Relationship Id="rId9"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15.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14.png"/><Relationship Id="rId4" Type="http://schemas.openxmlformats.org/officeDocument/2006/relationships/image" Target="../media/image113.png"/></Relationships>
</file>

<file path=ppt/slides/_rels/slide26.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4.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19.png"/><Relationship Id="rId11" Type="http://schemas.openxmlformats.org/officeDocument/2006/relationships/image" Target="../media/image123.png"/><Relationship Id="rId5" Type="http://schemas.openxmlformats.org/officeDocument/2006/relationships/image" Target="../media/image118.png"/><Relationship Id="rId10" Type="http://schemas.openxmlformats.org/officeDocument/2006/relationships/image" Target="../media/image122.png"/><Relationship Id="rId4" Type="http://schemas.openxmlformats.org/officeDocument/2006/relationships/image" Target="../media/image117.png"/><Relationship Id="rId9"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2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2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30.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4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700212" y="4278510"/>
            <a:ext cx="8791575" cy="428625"/>
          </a:xfrm>
          <a:prstGeom prst="rect">
            <a:avLst/>
          </a:prstGeom>
        </p:spPr>
      </p:pic>
      <p:sp>
        <p:nvSpPr>
          <p:cNvPr id="5" name="TextBox 4"/>
          <p:cNvSpPr txBox="1"/>
          <p:nvPr/>
        </p:nvSpPr>
        <p:spPr>
          <a:xfrm>
            <a:off x="1480423" y="2531715"/>
            <a:ext cx="9231153" cy="594270"/>
          </a:xfrm>
          <a:prstGeom prst="rect">
            <a:avLst/>
          </a:prstGeom>
          <a:noFill/>
        </p:spPr>
        <p:txBody>
          <a:bodyPr wrap="square" lIns="0" tIns="0" rIns="0" bIns="0" anchor="t">
            <a:spAutoFit/>
          </a:bodyPr>
          <a:lstStyle/>
          <a:p>
            <a:pPr algn="ctr">
              <a:lnSpc>
                <a:spcPts val="4680"/>
              </a:lnSpc>
            </a:pPr>
            <a:r>
              <a:rPr sz="3900" b="1" i="0" u="none" dirty="0">
                <a:solidFill>
                  <a:srgbClr val="FFFFFF"/>
                </a:solidFill>
                <a:latin typeface="Poppins"/>
              </a:rPr>
              <a:t>EDA : Risiko </a:t>
            </a:r>
            <a:r>
              <a:rPr sz="3900" b="1" i="0" u="none" dirty="0" err="1">
                <a:solidFill>
                  <a:srgbClr val="FFFFFF"/>
                </a:solidFill>
                <a:latin typeface="Poppins"/>
              </a:rPr>
              <a:t>Keselamatan</a:t>
            </a:r>
            <a:endParaRPr sz="3900" b="1" i="0" u="none" dirty="0">
              <a:solidFill>
                <a:srgbClr val="FFFFFF"/>
              </a:solidFill>
              <a:latin typeface="Poppins"/>
            </a:endParaRPr>
          </a:p>
        </p:txBody>
      </p:sp>
      <p:sp>
        <p:nvSpPr>
          <p:cNvPr id="6" name="TextBox 5"/>
          <p:cNvSpPr txBox="1"/>
          <p:nvPr/>
        </p:nvSpPr>
        <p:spPr>
          <a:xfrm>
            <a:off x="2286000" y="3268860"/>
            <a:ext cx="7620000" cy="628650"/>
          </a:xfrm>
          <a:prstGeom prst="rect">
            <a:avLst/>
          </a:prstGeom>
          <a:noFill/>
        </p:spPr>
        <p:txBody>
          <a:bodyPr wrap="square" lIns="0" tIns="0" rIns="0" bIns="0" anchor="t">
            <a:spAutoFit/>
          </a:bodyPr>
          <a:lstStyle/>
          <a:p>
            <a:pPr algn="ctr">
              <a:lnSpc>
                <a:spcPts val="2475"/>
              </a:lnSpc>
            </a:pPr>
            <a:r>
              <a:rPr sz="1650" b="0" i="0" u="none">
                <a:solidFill>
                  <a:srgbClr val="94A3B8"/>
                </a:solidFill>
                <a:latin typeface="Inter"/>
              </a:rPr>
              <a:t>Memahami Risiko Keselamatan dan Kesehatan Kerja dari Perspektif Manusia Menggunakan Exploratory Data Analysis</a:t>
            </a:r>
          </a:p>
        </p:txBody>
      </p:sp>
      <p:pic>
        <p:nvPicPr>
          <p:cNvPr id="9" name="Picture 8" descr="image.png"/>
          <p:cNvPicPr>
            <a:picLocks noChangeAspect="1"/>
          </p:cNvPicPr>
          <p:nvPr/>
        </p:nvPicPr>
        <p:blipFill>
          <a:blip r:embed="rId4"/>
          <a:stretch>
            <a:fillRect/>
          </a:stretch>
        </p:blipFill>
        <p:spPr>
          <a:xfrm>
            <a:off x="3224212" y="4545210"/>
            <a:ext cx="180975" cy="142875"/>
          </a:xfrm>
          <a:prstGeom prst="rect">
            <a:avLst/>
          </a:prstGeom>
        </p:spPr>
      </p:pic>
      <p:pic>
        <p:nvPicPr>
          <p:cNvPr id="10" name="Picture 9" descr="image.png"/>
          <p:cNvPicPr>
            <a:picLocks noChangeAspect="1"/>
          </p:cNvPicPr>
          <p:nvPr/>
        </p:nvPicPr>
        <p:blipFill>
          <a:blip r:embed="rId5"/>
          <a:stretch>
            <a:fillRect/>
          </a:stretch>
        </p:blipFill>
        <p:spPr>
          <a:xfrm>
            <a:off x="6319837" y="4545210"/>
            <a:ext cx="180975" cy="142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631977"/>
            <a:ext cx="5143500" cy="923925"/>
          </a:xfrm>
          <a:prstGeom prst="rect">
            <a:avLst/>
          </a:prstGeom>
        </p:spPr>
      </p:pic>
      <p:pic>
        <p:nvPicPr>
          <p:cNvPr id="4" name="Picture 3" descr="image.png"/>
          <p:cNvPicPr>
            <a:picLocks noChangeAspect="1"/>
          </p:cNvPicPr>
          <p:nvPr/>
        </p:nvPicPr>
        <p:blipFill>
          <a:blip r:embed="rId4"/>
          <a:stretch>
            <a:fillRect/>
          </a:stretch>
        </p:blipFill>
        <p:spPr>
          <a:xfrm>
            <a:off x="476250" y="2965102"/>
            <a:ext cx="2500312" cy="642937"/>
          </a:xfrm>
          <a:prstGeom prst="rect">
            <a:avLst/>
          </a:prstGeom>
        </p:spPr>
      </p:pic>
      <p:pic>
        <p:nvPicPr>
          <p:cNvPr id="5" name="Picture 4" descr="image.png"/>
          <p:cNvPicPr>
            <a:picLocks noChangeAspect="1"/>
          </p:cNvPicPr>
          <p:nvPr/>
        </p:nvPicPr>
        <p:blipFill>
          <a:blip r:embed="rId5"/>
          <a:stretch>
            <a:fillRect/>
          </a:stretch>
        </p:blipFill>
        <p:spPr>
          <a:xfrm>
            <a:off x="3119437" y="2965102"/>
            <a:ext cx="2500312" cy="642937"/>
          </a:xfrm>
          <a:prstGeom prst="rect">
            <a:avLst/>
          </a:prstGeom>
        </p:spPr>
      </p:pic>
      <p:pic>
        <p:nvPicPr>
          <p:cNvPr id="6" name="Picture 5" descr="image.png"/>
          <p:cNvPicPr>
            <a:picLocks noChangeAspect="1"/>
          </p:cNvPicPr>
          <p:nvPr/>
        </p:nvPicPr>
        <p:blipFill>
          <a:blip r:embed="rId6"/>
          <a:stretch>
            <a:fillRect/>
          </a:stretch>
        </p:blipFill>
        <p:spPr>
          <a:xfrm>
            <a:off x="476250" y="3750915"/>
            <a:ext cx="2500312" cy="642937"/>
          </a:xfrm>
          <a:prstGeom prst="rect">
            <a:avLst/>
          </a:prstGeom>
        </p:spPr>
      </p:pic>
      <p:pic>
        <p:nvPicPr>
          <p:cNvPr id="7" name="Picture 6" descr="image.png"/>
          <p:cNvPicPr>
            <a:picLocks noChangeAspect="1"/>
          </p:cNvPicPr>
          <p:nvPr/>
        </p:nvPicPr>
        <p:blipFill>
          <a:blip r:embed="rId7"/>
          <a:stretch>
            <a:fillRect/>
          </a:stretch>
        </p:blipFill>
        <p:spPr>
          <a:xfrm>
            <a:off x="3119437" y="3750915"/>
            <a:ext cx="2500312" cy="642937"/>
          </a:xfrm>
          <a:prstGeom prst="rect">
            <a:avLst/>
          </a:prstGeom>
        </p:spPr>
      </p:pic>
      <p:sp>
        <p:nvSpPr>
          <p:cNvPr id="8" name="TextBox 7"/>
          <p:cNvSpPr txBox="1"/>
          <p:nvPr/>
        </p:nvSpPr>
        <p:spPr>
          <a:xfrm>
            <a:off x="619125" y="476250"/>
            <a:ext cx="5250656" cy="787267"/>
          </a:xfrm>
          <a:prstGeom prst="rect">
            <a:avLst/>
          </a:prstGeom>
          <a:noFill/>
        </p:spPr>
        <p:txBody>
          <a:bodyPr wrap="square" lIns="0" tIns="0" rIns="0" bIns="0" anchor="t">
            <a:spAutoFit/>
          </a:bodyPr>
          <a:lstStyle/>
          <a:p>
            <a:pPr algn="l">
              <a:lnSpc>
                <a:spcPts val="3060"/>
              </a:lnSpc>
            </a:pPr>
            <a:r>
              <a:rPr sz="2550" b="1" i="0" u="none" dirty="0" err="1">
                <a:solidFill>
                  <a:srgbClr val="0F172A"/>
                </a:solidFill>
                <a:latin typeface="Poppins"/>
              </a:rPr>
              <a:t>Mengapa</a:t>
            </a:r>
            <a:r>
              <a:rPr sz="2550" b="1" i="0" u="none" dirty="0">
                <a:solidFill>
                  <a:srgbClr val="0F172A"/>
                </a:solidFill>
                <a:latin typeface="Poppins"/>
              </a:rPr>
              <a:t> </a:t>
            </a:r>
            <a:endParaRPr lang="en-US" sz="2550" b="1" i="0" u="none" dirty="0">
              <a:solidFill>
                <a:srgbClr val="0F172A"/>
              </a:solidFill>
              <a:latin typeface="Poppins"/>
            </a:endParaRPr>
          </a:p>
          <a:p>
            <a:pPr algn="l">
              <a:lnSpc>
                <a:spcPts val="3060"/>
              </a:lnSpc>
            </a:pPr>
            <a:r>
              <a:rPr sz="2550" b="1" i="0" u="none" dirty="0" err="1">
                <a:solidFill>
                  <a:srgbClr val="0F172A"/>
                </a:solidFill>
                <a:latin typeface="Poppins"/>
              </a:rPr>
              <a:t>Membutuhkan</a:t>
            </a:r>
            <a:r>
              <a:rPr sz="2550" b="1" i="0" u="none" dirty="0">
                <a:solidFill>
                  <a:srgbClr val="0F172A"/>
                </a:solidFill>
                <a:latin typeface="Poppins"/>
              </a:rPr>
              <a:t> EDA?</a:t>
            </a:r>
          </a:p>
        </p:txBody>
      </p:sp>
      <p:sp>
        <p:nvSpPr>
          <p:cNvPr id="9" name="Rectangle 8"/>
          <p:cNvSpPr/>
          <p:nvPr/>
        </p:nvSpPr>
        <p:spPr>
          <a:xfrm>
            <a:off x="476250" y="476250"/>
            <a:ext cx="47625" cy="77718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8"/>
          <a:stretch>
            <a:fillRect/>
          </a:stretch>
        </p:blipFill>
        <p:spPr>
          <a:xfrm>
            <a:off x="6096000" y="0"/>
            <a:ext cx="6096000" cy="6858000"/>
          </a:xfrm>
          <a:prstGeom prst="rect">
            <a:avLst/>
          </a:prstGeom>
        </p:spPr>
      </p:pic>
      <p:sp>
        <p:nvSpPr>
          <p:cNvPr id="11" name="TextBox 10"/>
          <p:cNvSpPr txBox="1"/>
          <p:nvPr/>
        </p:nvSpPr>
        <p:spPr>
          <a:xfrm>
            <a:off x="476250" y="2317402"/>
            <a:ext cx="5143500" cy="4572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Bayangkan perusahaan memiliki akumulasi ribuan catatan keselamatan kerja:</a:t>
            </a:r>
          </a:p>
        </p:txBody>
      </p:sp>
      <p:sp>
        <p:nvSpPr>
          <p:cNvPr id="12" name="TextBox 11"/>
          <p:cNvSpPr txBox="1"/>
          <p:nvPr/>
        </p:nvSpPr>
        <p:spPr>
          <a:xfrm>
            <a:off x="657225" y="4784377"/>
            <a:ext cx="3895725" cy="180975"/>
          </a:xfrm>
          <a:prstGeom prst="rect">
            <a:avLst/>
          </a:prstGeom>
          <a:noFill/>
        </p:spPr>
        <p:txBody>
          <a:bodyPr wrap="square" lIns="0" tIns="0" rIns="0" bIns="0" anchor="t">
            <a:spAutoFit/>
          </a:bodyPr>
          <a:lstStyle/>
          <a:p>
            <a:pPr algn="l"/>
            <a:r>
              <a:rPr sz="1125" b="1" i="0" u="none">
                <a:solidFill>
                  <a:srgbClr val="1E40AF"/>
                </a:solidFill>
                <a:latin typeface="Inter"/>
              </a:rPr>
              <a:t>Apakah data ini otomatis menunjuk siapa yang berisiko?</a:t>
            </a:r>
          </a:p>
        </p:txBody>
      </p:sp>
      <p:sp>
        <p:nvSpPr>
          <p:cNvPr id="13" name="TextBox 12"/>
          <p:cNvSpPr txBox="1"/>
          <p:nvPr/>
        </p:nvSpPr>
        <p:spPr>
          <a:xfrm>
            <a:off x="657225" y="5012977"/>
            <a:ext cx="4819650" cy="400050"/>
          </a:xfrm>
          <a:prstGeom prst="rect">
            <a:avLst/>
          </a:prstGeom>
          <a:noFill/>
        </p:spPr>
        <p:txBody>
          <a:bodyPr wrap="square" lIns="0" tIns="0" rIns="0" bIns="0" anchor="t">
            <a:spAutoFit/>
          </a:bodyPr>
          <a:lstStyle/>
          <a:p>
            <a:pPr algn="l">
              <a:lnSpc>
                <a:spcPts val="1575"/>
              </a:lnSpc>
            </a:pPr>
            <a:r>
              <a:rPr sz="1050" b="0" i="0" u="none">
                <a:solidFill>
                  <a:srgbClr val="1E3A8A"/>
                </a:solidFill>
                <a:latin typeface="Inter"/>
              </a:rPr>
              <a:t>Belum tentu. Data mentah tidak dapat langsung berbicara tanpa eksplorasi awal. EDA adalah fondasi wajib sebelum pembuatan model prediksi.</a:t>
            </a:r>
          </a:p>
        </p:txBody>
      </p:sp>
      <p:sp>
        <p:nvSpPr>
          <p:cNvPr id="14" name="TextBox 13"/>
          <p:cNvSpPr txBox="1"/>
          <p:nvPr/>
        </p:nvSpPr>
        <p:spPr>
          <a:xfrm>
            <a:off x="628650" y="3079402"/>
            <a:ext cx="361950" cy="228600"/>
          </a:xfrm>
          <a:prstGeom prst="rect">
            <a:avLst/>
          </a:prstGeom>
          <a:noFill/>
        </p:spPr>
        <p:txBody>
          <a:bodyPr wrap="square" lIns="0" tIns="0" rIns="0" bIns="0" anchor="t">
            <a:spAutoFit/>
          </a:bodyPr>
          <a:lstStyle/>
          <a:p>
            <a:pPr algn="l"/>
            <a:r>
              <a:rPr sz="1500" b="1" i="0" u="none">
                <a:solidFill>
                  <a:srgbClr val="0284C7"/>
                </a:solidFill>
                <a:latin typeface="Inter"/>
              </a:rPr>
              <a:t>500</a:t>
            </a:r>
          </a:p>
        </p:txBody>
      </p:sp>
      <p:sp>
        <p:nvSpPr>
          <p:cNvPr id="15" name="TextBox 14"/>
          <p:cNvSpPr txBox="1"/>
          <p:nvPr/>
        </p:nvSpPr>
        <p:spPr>
          <a:xfrm>
            <a:off x="628650" y="3308002"/>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Pekerja Aktif</a:t>
            </a:r>
          </a:p>
        </p:txBody>
      </p:sp>
      <p:sp>
        <p:nvSpPr>
          <p:cNvPr id="16" name="TextBox 15"/>
          <p:cNvSpPr txBox="1"/>
          <p:nvPr/>
        </p:nvSpPr>
        <p:spPr>
          <a:xfrm>
            <a:off x="3271837" y="3079402"/>
            <a:ext cx="533400" cy="228600"/>
          </a:xfrm>
          <a:prstGeom prst="rect">
            <a:avLst/>
          </a:prstGeom>
          <a:noFill/>
        </p:spPr>
        <p:txBody>
          <a:bodyPr wrap="square" lIns="0" tIns="0" rIns="0" bIns="0" anchor="t">
            <a:spAutoFit/>
          </a:bodyPr>
          <a:lstStyle/>
          <a:p>
            <a:pPr algn="l"/>
            <a:r>
              <a:rPr sz="1500" b="1" i="0" u="none">
                <a:solidFill>
                  <a:srgbClr val="0284C7"/>
                </a:solidFill>
                <a:latin typeface="Inter"/>
              </a:rPr>
              <a:t>2.000</a:t>
            </a:r>
          </a:p>
        </p:txBody>
      </p:sp>
      <p:sp>
        <p:nvSpPr>
          <p:cNvPr id="17" name="TextBox 16"/>
          <p:cNvSpPr txBox="1"/>
          <p:nvPr/>
        </p:nvSpPr>
        <p:spPr>
          <a:xfrm>
            <a:off x="3271837" y="3308002"/>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Laporan Aktivitas</a:t>
            </a:r>
          </a:p>
        </p:txBody>
      </p:sp>
      <p:sp>
        <p:nvSpPr>
          <p:cNvPr id="18" name="TextBox 17"/>
          <p:cNvSpPr txBox="1"/>
          <p:nvPr/>
        </p:nvSpPr>
        <p:spPr>
          <a:xfrm>
            <a:off x="628650" y="3865215"/>
            <a:ext cx="371475" cy="228600"/>
          </a:xfrm>
          <a:prstGeom prst="rect">
            <a:avLst/>
          </a:prstGeom>
          <a:noFill/>
        </p:spPr>
        <p:txBody>
          <a:bodyPr wrap="square" lIns="0" tIns="0" rIns="0" bIns="0" anchor="t">
            <a:spAutoFit/>
          </a:bodyPr>
          <a:lstStyle/>
          <a:p>
            <a:pPr algn="l"/>
            <a:r>
              <a:rPr sz="1500" b="1" i="0" u="none">
                <a:solidFill>
                  <a:srgbClr val="EAB308"/>
                </a:solidFill>
                <a:latin typeface="Inter"/>
              </a:rPr>
              <a:t>300</a:t>
            </a:r>
          </a:p>
        </p:txBody>
      </p:sp>
      <p:sp>
        <p:nvSpPr>
          <p:cNvPr id="19" name="TextBox 18"/>
          <p:cNvSpPr txBox="1"/>
          <p:nvPr/>
        </p:nvSpPr>
        <p:spPr>
          <a:xfrm>
            <a:off x="628650" y="4093815"/>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Kejadian Near Miss</a:t>
            </a:r>
          </a:p>
        </p:txBody>
      </p:sp>
      <p:sp>
        <p:nvSpPr>
          <p:cNvPr id="20" name="TextBox 19"/>
          <p:cNvSpPr txBox="1"/>
          <p:nvPr/>
        </p:nvSpPr>
        <p:spPr>
          <a:xfrm>
            <a:off x="3271837" y="3865215"/>
            <a:ext cx="247650" cy="228600"/>
          </a:xfrm>
          <a:prstGeom prst="rect">
            <a:avLst/>
          </a:prstGeom>
          <a:noFill/>
        </p:spPr>
        <p:txBody>
          <a:bodyPr wrap="square" lIns="0" tIns="0" rIns="0" bIns="0" anchor="t">
            <a:spAutoFit/>
          </a:bodyPr>
          <a:lstStyle/>
          <a:p>
            <a:pPr algn="l"/>
            <a:r>
              <a:rPr sz="1500" b="1" i="0" u="none">
                <a:solidFill>
                  <a:srgbClr val="EF4444"/>
                </a:solidFill>
                <a:latin typeface="Inter"/>
              </a:rPr>
              <a:t>80</a:t>
            </a:r>
          </a:p>
        </p:txBody>
      </p:sp>
      <p:sp>
        <p:nvSpPr>
          <p:cNvPr id="21" name="TextBox 20"/>
          <p:cNvSpPr txBox="1"/>
          <p:nvPr/>
        </p:nvSpPr>
        <p:spPr>
          <a:xfrm>
            <a:off x="3271837" y="4093815"/>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Kecelakaan Kerja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308770"/>
            <a:ext cx="5476875" cy="2857500"/>
          </a:xfrm>
          <a:prstGeom prst="rect">
            <a:avLst/>
          </a:prstGeom>
        </p:spPr>
      </p:pic>
      <p:pic>
        <p:nvPicPr>
          <p:cNvPr id="4" name="Picture 3" descr="image.png"/>
          <p:cNvPicPr>
            <a:picLocks noChangeAspect="1"/>
          </p:cNvPicPr>
          <p:nvPr/>
        </p:nvPicPr>
        <p:blipFill>
          <a:blip r:embed="rId4"/>
          <a:stretch>
            <a:fillRect/>
          </a:stretch>
        </p:blipFill>
        <p:spPr>
          <a:xfrm>
            <a:off x="6238875" y="2308770"/>
            <a:ext cx="5476875" cy="2857500"/>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261937" cy="266700"/>
          </a:xfrm>
          <a:prstGeom prst="rect">
            <a:avLst/>
          </a:prstGeom>
        </p:spPr>
      </p:pic>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3 / 38</a:t>
            </a:r>
          </a:p>
        </p:txBody>
      </p:sp>
      <p:sp>
        <p:nvSpPr>
          <p:cNvPr id="9" name="TextBox 8"/>
          <p:cNvSpPr txBox="1"/>
          <p:nvPr/>
        </p:nvSpPr>
        <p:spPr>
          <a:xfrm>
            <a:off x="752475" y="2546895"/>
            <a:ext cx="5210651" cy="238125"/>
          </a:xfrm>
          <a:prstGeom prst="rect">
            <a:avLst/>
          </a:prstGeom>
          <a:noFill/>
        </p:spPr>
        <p:txBody>
          <a:bodyPr wrap="square" lIns="0" tIns="0" rIns="0" bIns="0" anchor="t">
            <a:spAutoFit/>
          </a:bodyPr>
          <a:lstStyle/>
          <a:p>
            <a:pPr algn="l"/>
            <a:r>
              <a:rPr sz="1500" b="1" i="0" u="none">
                <a:solidFill>
                  <a:srgbClr val="0F172A"/>
                </a:solidFill>
                <a:latin typeface="Plus Jakarta Sans"/>
              </a:rPr>
              <a:t>Definisi Eksplorasi</a:t>
            </a:r>
          </a:p>
        </p:txBody>
      </p:sp>
      <p:sp>
        <p:nvSpPr>
          <p:cNvPr id="10" name="TextBox 9"/>
          <p:cNvSpPr txBox="1"/>
          <p:nvPr/>
        </p:nvSpPr>
        <p:spPr>
          <a:xfrm>
            <a:off x="752475" y="2880270"/>
            <a:ext cx="496252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Exploratory Data Analysis (EDA) adalah proses mengeksplorasi dan memahami data untuk menemukan:</a:t>
            </a:r>
          </a:p>
        </p:txBody>
      </p:sp>
      <p:pic>
        <p:nvPicPr>
          <p:cNvPr id="11" name="Picture 10" descr="image.png"/>
          <p:cNvPicPr>
            <a:picLocks noChangeAspect="1"/>
          </p:cNvPicPr>
          <p:nvPr/>
        </p:nvPicPr>
        <p:blipFill>
          <a:blip r:embed="rId7"/>
          <a:stretch>
            <a:fillRect/>
          </a:stretch>
        </p:blipFill>
        <p:spPr>
          <a:xfrm>
            <a:off x="8815387" y="2756445"/>
            <a:ext cx="361950" cy="476250"/>
          </a:xfrm>
          <a:prstGeom prst="rect">
            <a:avLst/>
          </a:prstGeom>
        </p:spPr>
      </p:pic>
      <p:sp>
        <p:nvSpPr>
          <p:cNvPr id="12" name="TextBox 11"/>
          <p:cNvSpPr txBox="1"/>
          <p:nvPr/>
        </p:nvSpPr>
        <p:spPr>
          <a:xfrm>
            <a:off x="8086248" y="3385095"/>
            <a:ext cx="1820227" cy="285750"/>
          </a:xfrm>
          <a:prstGeom prst="rect">
            <a:avLst/>
          </a:prstGeom>
          <a:noFill/>
        </p:spPr>
        <p:txBody>
          <a:bodyPr wrap="square" lIns="0" tIns="0" rIns="0" bIns="0" anchor="t">
            <a:spAutoFit/>
          </a:bodyPr>
          <a:lstStyle/>
          <a:p>
            <a:pPr algn="ctr"/>
            <a:r>
              <a:rPr sz="1800" b="1" i="0" u="none">
                <a:solidFill>
                  <a:srgbClr val="6366F1"/>
                </a:solidFill>
                <a:latin typeface="Plus Jakarta Sans"/>
              </a:rPr>
              <a:t>Inti Konsep EDA</a:t>
            </a:r>
          </a:p>
        </p:txBody>
      </p:sp>
      <p:sp>
        <p:nvSpPr>
          <p:cNvPr id="13" name="TextBox 12"/>
          <p:cNvSpPr txBox="1"/>
          <p:nvPr/>
        </p:nvSpPr>
        <p:spPr>
          <a:xfrm>
            <a:off x="6515100" y="3861345"/>
            <a:ext cx="4962525" cy="857250"/>
          </a:xfrm>
          <a:prstGeom prst="rect">
            <a:avLst/>
          </a:prstGeom>
          <a:noFill/>
        </p:spPr>
        <p:txBody>
          <a:bodyPr wrap="square" lIns="0" tIns="0" rIns="0" bIns="0" anchor="t">
            <a:spAutoFit/>
          </a:bodyPr>
          <a:lstStyle/>
          <a:p>
            <a:pPr algn="ctr">
              <a:lnSpc>
                <a:spcPts val="2250"/>
              </a:lnSpc>
            </a:pPr>
            <a:r>
              <a:rPr sz="1500" b="0" i="0" u="none">
                <a:solidFill>
                  <a:srgbClr val="3B0764"/>
                </a:solidFill>
                <a:latin typeface="Inter SemiBold"/>
              </a:rPr>
              <a:t>"EDA adalah proses 'mengenal data' sebelum kita meminta data tersebut menjawab pertanyaan kompleks."</a:t>
            </a:r>
          </a:p>
        </p:txBody>
      </p:sp>
      <p:sp>
        <p:nvSpPr>
          <p:cNvPr id="14" name="TextBox 13"/>
          <p:cNvSpPr txBox="1"/>
          <p:nvPr/>
        </p:nvSpPr>
        <p:spPr>
          <a:xfrm>
            <a:off x="1019175" y="3499395"/>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Karakteristik &amp; pola tersembunyi</a:t>
            </a:r>
          </a:p>
        </p:txBody>
      </p:sp>
      <p:sp>
        <p:nvSpPr>
          <p:cNvPr id="15" name="TextBox 14"/>
          <p:cNvSpPr txBox="1"/>
          <p:nvPr/>
        </p:nvSpPr>
        <p:spPr>
          <a:xfrm>
            <a:off x="1019175" y="3856583"/>
            <a:ext cx="4695825" cy="225896"/>
          </a:xfrm>
          <a:prstGeom prst="rect">
            <a:avLst/>
          </a:prstGeom>
          <a:noFill/>
        </p:spPr>
        <p:txBody>
          <a:bodyPr wrap="square" lIns="0" tIns="0" rIns="0" bIns="0" anchor="t">
            <a:spAutoFit/>
          </a:bodyPr>
          <a:lstStyle/>
          <a:p>
            <a:pPr algn="l">
              <a:lnSpc>
                <a:spcPts val="1912"/>
              </a:lnSpc>
            </a:pPr>
            <a:r>
              <a:rPr sz="1275" b="0" i="0" u="none" dirty="0" err="1">
                <a:solidFill>
                  <a:srgbClr val="334155"/>
                </a:solidFill>
                <a:latin typeface="Inter"/>
              </a:rPr>
              <a:t>Hubungan</a:t>
            </a:r>
            <a:r>
              <a:rPr sz="1275" b="0" i="0" u="none" dirty="0">
                <a:solidFill>
                  <a:srgbClr val="334155"/>
                </a:solidFill>
                <a:latin typeface="Inter"/>
              </a:rPr>
              <a:t> </a:t>
            </a:r>
            <a:r>
              <a:rPr sz="1275" b="0" i="0" u="none" dirty="0" err="1">
                <a:solidFill>
                  <a:srgbClr val="334155"/>
                </a:solidFill>
                <a:latin typeface="Inter"/>
              </a:rPr>
              <a:t>antarvariabel</a:t>
            </a:r>
            <a:endParaRPr sz="1275" b="0" i="0" u="none" dirty="0">
              <a:solidFill>
                <a:srgbClr val="334155"/>
              </a:solidFill>
              <a:latin typeface="Inter"/>
            </a:endParaRPr>
          </a:p>
        </p:txBody>
      </p:sp>
      <p:sp>
        <p:nvSpPr>
          <p:cNvPr id="16" name="TextBox 15"/>
          <p:cNvSpPr txBox="1"/>
          <p:nvPr/>
        </p:nvSpPr>
        <p:spPr>
          <a:xfrm>
            <a:off x="1019175" y="4213770"/>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Anomali &amp; data tidak konsisten</a:t>
            </a:r>
          </a:p>
        </p:txBody>
      </p:sp>
      <p:sp>
        <p:nvSpPr>
          <p:cNvPr id="17" name="TextBox 16"/>
          <p:cNvSpPr txBox="1"/>
          <p:nvPr/>
        </p:nvSpPr>
        <p:spPr>
          <a:xfrm>
            <a:off x="1019175" y="4570958"/>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Informasi berharga untuk analisis lanjutan</a:t>
            </a:r>
          </a:p>
        </p:txBody>
      </p:sp>
      <p:sp>
        <p:nvSpPr>
          <p:cNvPr id="18" name="TextBox 17"/>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Apa Itu EDA?</a:t>
            </a:r>
          </a:p>
        </p:txBody>
      </p:sp>
      <p:pic>
        <p:nvPicPr>
          <p:cNvPr id="19" name="Picture 18" descr="image.png"/>
          <p:cNvPicPr>
            <a:picLocks noChangeAspect="1"/>
          </p:cNvPicPr>
          <p:nvPr/>
        </p:nvPicPr>
        <p:blipFill>
          <a:blip r:embed="rId8"/>
          <a:stretch>
            <a:fillRect/>
          </a:stretch>
        </p:blipFill>
        <p:spPr>
          <a:xfrm>
            <a:off x="752475" y="3518445"/>
            <a:ext cx="171450" cy="180975"/>
          </a:xfrm>
          <a:prstGeom prst="rect">
            <a:avLst/>
          </a:prstGeom>
        </p:spPr>
      </p:pic>
      <p:pic>
        <p:nvPicPr>
          <p:cNvPr id="20" name="Picture 19" descr="image.png"/>
          <p:cNvPicPr>
            <a:picLocks noChangeAspect="1"/>
          </p:cNvPicPr>
          <p:nvPr/>
        </p:nvPicPr>
        <p:blipFill>
          <a:blip r:embed="rId8"/>
          <a:stretch>
            <a:fillRect/>
          </a:stretch>
        </p:blipFill>
        <p:spPr>
          <a:xfrm>
            <a:off x="752475" y="3875633"/>
            <a:ext cx="171450" cy="180975"/>
          </a:xfrm>
          <a:prstGeom prst="rect">
            <a:avLst/>
          </a:prstGeom>
        </p:spPr>
      </p:pic>
      <p:pic>
        <p:nvPicPr>
          <p:cNvPr id="21" name="Picture 20" descr="image.png"/>
          <p:cNvPicPr>
            <a:picLocks noChangeAspect="1"/>
          </p:cNvPicPr>
          <p:nvPr/>
        </p:nvPicPr>
        <p:blipFill>
          <a:blip r:embed="rId8"/>
          <a:stretch>
            <a:fillRect/>
          </a:stretch>
        </p:blipFill>
        <p:spPr>
          <a:xfrm>
            <a:off x="752475" y="4232820"/>
            <a:ext cx="171450" cy="180975"/>
          </a:xfrm>
          <a:prstGeom prst="rect">
            <a:avLst/>
          </a:prstGeom>
        </p:spPr>
      </p:pic>
      <p:pic>
        <p:nvPicPr>
          <p:cNvPr id="22" name="Picture 21" descr="image.png"/>
          <p:cNvPicPr>
            <a:picLocks noChangeAspect="1"/>
          </p:cNvPicPr>
          <p:nvPr/>
        </p:nvPicPr>
        <p:blipFill>
          <a:blip r:embed="rId8"/>
          <a:stretch>
            <a:fillRect/>
          </a:stretch>
        </p:blipFill>
        <p:spPr>
          <a:xfrm>
            <a:off x="752475" y="4590008"/>
            <a:ext cx="171450" cy="1809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3813720"/>
            <a:ext cx="11239500" cy="1614487"/>
          </a:xfrm>
          <a:prstGeom prst="rect">
            <a:avLst/>
          </a:prstGeom>
        </p:spPr>
      </p:pic>
      <p:pic>
        <p:nvPicPr>
          <p:cNvPr id="4" name="Picture 3" descr="image.png"/>
          <p:cNvPicPr>
            <a:picLocks noChangeAspect="1"/>
          </p:cNvPicPr>
          <p:nvPr/>
        </p:nvPicPr>
        <p:blipFill>
          <a:blip r:embed="rId4"/>
          <a:stretch>
            <a:fillRect/>
          </a:stretch>
        </p:blipFill>
        <p:spPr>
          <a:xfrm>
            <a:off x="476250" y="2046833"/>
            <a:ext cx="5476875" cy="1538287"/>
          </a:xfrm>
          <a:prstGeom prst="rect">
            <a:avLst/>
          </a:prstGeom>
        </p:spPr>
      </p:pic>
      <p:pic>
        <p:nvPicPr>
          <p:cNvPr id="5" name="Picture 4" descr="image.png"/>
          <p:cNvPicPr>
            <a:picLocks noChangeAspect="1"/>
          </p:cNvPicPr>
          <p:nvPr/>
        </p:nvPicPr>
        <p:blipFill>
          <a:blip r:embed="rId5"/>
          <a:stretch>
            <a:fillRect/>
          </a:stretch>
        </p:blipFill>
        <p:spPr>
          <a:xfrm>
            <a:off x="6238875" y="2046833"/>
            <a:ext cx="5476875" cy="1538287"/>
          </a:xfrm>
          <a:prstGeom prst="rect">
            <a:avLst/>
          </a:prstGeom>
        </p:spPr>
      </p:pic>
      <p:pic>
        <p:nvPicPr>
          <p:cNvPr id="6" name="Picture 5" descr="image.png"/>
          <p:cNvPicPr>
            <a:picLocks noChangeAspect="1"/>
          </p:cNvPicPr>
          <p:nvPr/>
        </p:nvPicPr>
        <p:blipFill>
          <a:blip r:embed="rId6"/>
          <a:stretch>
            <a:fillRect/>
          </a:stretch>
        </p:blipFill>
        <p:spPr>
          <a:xfrm>
            <a:off x="676275" y="4370933"/>
            <a:ext cx="2438400" cy="857250"/>
          </a:xfrm>
          <a:prstGeom prst="rect">
            <a:avLst/>
          </a:prstGeom>
        </p:spPr>
      </p:pic>
      <p:pic>
        <p:nvPicPr>
          <p:cNvPr id="7" name="Picture 6" descr="image.png"/>
          <p:cNvPicPr>
            <a:picLocks noChangeAspect="1"/>
          </p:cNvPicPr>
          <p:nvPr/>
        </p:nvPicPr>
        <p:blipFill>
          <a:blip r:embed="rId7"/>
          <a:stretch>
            <a:fillRect/>
          </a:stretch>
        </p:blipFill>
        <p:spPr>
          <a:xfrm>
            <a:off x="3476625" y="4370933"/>
            <a:ext cx="2438400" cy="857250"/>
          </a:xfrm>
          <a:prstGeom prst="rect">
            <a:avLst/>
          </a:prstGeom>
        </p:spPr>
      </p:pic>
      <p:pic>
        <p:nvPicPr>
          <p:cNvPr id="8" name="Picture 7" descr="image.png"/>
          <p:cNvPicPr>
            <a:picLocks noChangeAspect="1"/>
          </p:cNvPicPr>
          <p:nvPr/>
        </p:nvPicPr>
        <p:blipFill>
          <a:blip r:embed="rId8"/>
          <a:stretch>
            <a:fillRect/>
          </a:stretch>
        </p:blipFill>
        <p:spPr>
          <a:xfrm>
            <a:off x="6276975" y="4370933"/>
            <a:ext cx="2438400" cy="857250"/>
          </a:xfrm>
          <a:prstGeom prst="rect">
            <a:avLst/>
          </a:prstGeom>
        </p:spPr>
      </p:pic>
      <p:pic>
        <p:nvPicPr>
          <p:cNvPr id="9" name="Picture 8" descr="image.png"/>
          <p:cNvPicPr>
            <a:picLocks noChangeAspect="1"/>
          </p:cNvPicPr>
          <p:nvPr/>
        </p:nvPicPr>
        <p:blipFill>
          <a:blip r:embed="rId9"/>
          <a:stretch>
            <a:fillRect/>
          </a:stretch>
        </p:blipFill>
        <p:spPr>
          <a:xfrm>
            <a:off x="9077325" y="4370933"/>
            <a:ext cx="2438400" cy="857250"/>
          </a:xfrm>
          <a:prstGeom prst="rect">
            <a:avLst/>
          </a:prstGeom>
        </p:spPr>
      </p:pic>
      <p:pic>
        <p:nvPicPr>
          <p:cNvPr id="10" name="Picture 9" descr="image.png"/>
          <p:cNvPicPr>
            <a:picLocks noChangeAspect="1"/>
          </p:cNvPicPr>
          <p:nvPr/>
        </p:nvPicPr>
        <p:blipFill>
          <a:blip r:embed="rId10"/>
          <a:stretch>
            <a:fillRect/>
          </a:stretch>
        </p:blipFill>
        <p:spPr>
          <a:xfrm>
            <a:off x="1762125" y="4532858"/>
            <a:ext cx="266700" cy="266700"/>
          </a:xfrm>
          <a:prstGeom prst="rect">
            <a:avLst/>
          </a:prstGeom>
        </p:spPr>
      </p:pic>
      <p:pic>
        <p:nvPicPr>
          <p:cNvPr id="11" name="Picture 10" descr="image.png"/>
          <p:cNvPicPr>
            <a:picLocks noChangeAspect="1"/>
          </p:cNvPicPr>
          <p:nvPr/>
        </p:nvPicPr>
        <p:blipFill>
          <a:blip r:embed="rId11"/>
          <a:stretch>
            <a:fillRect/>
          </a:stretch>
        </p:blipFill>
        <p:spPr>
          <a:xfrm>
            <a:off x="4562475" y="4532858"/>
            <a:ext cx="266700" cy="266700"/>
          </a:xfrm>
          <a:prstGeom prst="rect">
            <a:avLst/>
          </a:prstGeom>
        </p:spPr>
      </p:pic>
      <p:pic>
        <p:nvPicPr>
          <p:cNvPr id="12" name="Picture 11" descr="image.png"/>
          <p:cNvPicPr>
            <a:picLocks noChangeAspect="1"/>
          </p:cNvPicPr>
          <p:nvPr/>
        </p:nvPicPr>
        <p:blipFill>
          <a:blip r:embed="rId12"/>
          <a:stretch>
            <a:fillRect/>
          </a:stretch>
        </p:blipFill>
        <p:spPr>
          <a:xfrm>
            <a:off x="7362825" y="4532858"/>
            <a:ext cx="266700" cy="266700"/>
          </a:xfrm>
          <a:prstGeom prst="rect">
            <a:avLst/>
          </a:prstGeom>
        </p:spPr>
      </p:pic>
      <p:pic>
        <p:nvPicPr>
          <p:cNvPr id="13" name="Picture 12" descr="image.png"/>
          <p:cNvPicPr>
            <a:picLocks noChangeAspect="1"/>
          </p:cNvPicPr>
          <p:nvPr/>
        </p:nvPicPr>
        <p:blipFill>
          <a:blip r:embed="rId13"/>
          <a:stretch>
            <a:fillRect/>
          </a:stretch>
        </p:blipFill>
        <p:spPr>
          <a:xfrm>
            <a:off x="10163175" y="4532858"/>
            <a:ext cx="266700" cy="266700"/>
          </a:xfrm>
          <a:prstGeom prst="rect">
            <a:avLst/>
          </a:prstGeom>
        </p:spPr>
      </p:pic>
      <p:pic>
        <p:nvPicPr>
          <p:cNvPr id="14" name="Picture 13" descr="image.png"/>
          <p:cNvPicPr>
            <a:picLocks noChangeAspect="1"/>
          </p:cNvPicPr>
          <p:nvPr/>
        </p:nvPicPr>
        <p:blipFill>
          <a:blip r:embed="rId14"/>
          <a:stretch>
            <a:fillRect/>
          </a:stretch>
        </p:blipFill>
        <p:spPr>
          <a:xfrm>
            <a:off x="476250" y="6410325"/>
            <a:ext cx="11239500" cy="257175"/>
          </a:xfrm>
          <a:prstGeom prst="rect">
            <a:avLst/>
          </a:prstGeom>
        </p:spPr>
      </p:pic>
      <p:pic>
        <p:nvPicPr>
          <p:cNvPr id="15" name="Picture 14" descr="image.png"/>
          <p:cNvPicPr>
            <a:picLocks noChangeAspect="1"/>
          </p:cNvPicPr>
          <p:nvPr/>
        </p:nvPicPr>
        <p:blipFill>
          <a:blip r:embed="rId15"/>
          <a:stretch>
            <a:fillRect/>
          </a:stretch>
        </p:blipFill>
        <p:spPr>
          <a:xfrm>
            <a:off x="476250" y="479970"/>
            <a:ext cx="233362" cy="266700"/>
          </a:xfrm>
          <a:prstGeom prst="rect">
            <a:avLst/>
          </a:prstGeom>
        </p:spPr>
      </p:pic>
      <p:sp>
        <p:nvSpPr>
          <p:cNvPr id="16" name="TextBox 1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7" name="TextBox 16"/>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4 / 38</a:t>
            </a:r>
          </a:p>
        </p:txBody>
      </p:sp>
      <p:sp>
        <p:nvSpPr>
          <p:cNvPr id="18" name="TextBox 17"/>
          <p:cNvSpPr txBox="1"/>
          <p:nvPr/>
        </p:nvSpPr>
        <p:spPr>
          <a:xfrm>
            <a:off x="676275" y="4013745"/>
            <a:ext cx="10839450" cy="242887"/>
          </a:xfrm>
          <a:prstGeom prst="rect">
            <a:avLst/>
          </a:prstGeom>
          <a:noFill/>
        </p:spPr>
        <p:txBody>
          <a:bodyPr wrap="square" lIns="0" tIns="0" rIns="0" bIns="0" anchor="t">
            <a:spAutoFit/>
          </a:bodyPr>
          <a:lstStyle/>
          <a:p>
            <a:pPr algn="ctr">
              <a:lnSpc>
                <a:spcPts val="1912"/>
              </a:lnSpc>
            </a:pPr>
            <a:r>
              <a:rPr sz="1275" b="1" i="0" u="none">
                <a:solidFill>
                  <a:srgbClr val="0F172A"/>
                </a:solidFill>
                <a:latin typeface="Inter"/>
              </a:rPr>
              <a:t>Alur Kerja Data Mining yang Benar:</a:t>
            </a:r>
          </a:p>
        </p:txBody>
      </p:sp>
      <p:sp>
        <p:nvSpPr>
          <p:cNvPr id="19" name="TextBox 18"/>
          <p:cNvSpPr txBox="1"/>
          <p:nvPr/>
        </p:nvSpPr>
        <p:spPr>
          <a:xfrm>
            <a:off x="714375" y="2284958"/>
            <a:ext cx="5250656" cy="238125"/>
          </a:xfrm>
          <a:prstGeom prst="rect">
            <a:avLst/>
          </a:prstGeom>
          <a:noFill/>
        </p:spPr>
        <p:txBody>
          <a:bodyPr wrap="square" lIns="295275" tIns="0" rIns="0" bIns="0" anchor="t">
            <a:spAutoFit/>
          </a:bodyPr>
          <a:lstStyle/>
          <a:p>
            <a:pPr algn="l"/>
            <a:r>
              <a:rPr sz="1500" b="1" i="0" u="none">
                <a:solidFill>
                  <a:srgbClr val="0F172A"/>
                </a:solidFill>
                <a:latin typeface="Plus Jakarta Sans"/>
              </a:rPr>
              <a:t>Dokter &amp; Pasien</a:t>
            </a:r>
          </a:p>
        </p:txBody>
      </p:sp>
      <p:sp>
        <p:nvSpPr>
          <p:cNvPr id="20" name="TextBox 19"/>
          <p:cNvSpPr txBox="1"/>
          <p:nvPr/>
        </p:nvSpPr>
        <p:spPr>
          <a:xfrm>
            <a:off x="714375" y="2618333"/>
            <a:ext cx="5000625"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Dokter tidak langsung memberikan diagnosis berat hanya dari satu angka tekanan darah. Dokter akan mengecek usia, riwayat, gejala, gaya hidup, dan tes lab tambahan.</a:t>
            </a:r>
          </a:p>
        </p:txBody>
      </p:sp>
      <p:sp>
        <p:nvSpPr>
          <p:cNvPr id="21" name="TextBox 20"/>
          <p:cNvSpPr txBox="1"/>
          <p:nvPr/>
        </p:nvSpPr>
        <p:spPr>
          <a:xfrm>
            <a:off x="6477000" y="2284958"/>
            <a:ext cx="5250656" cy="238125"/>
          </a:xfrm>
          <a:prstGeom prst="rect">
            <a:avLst/>
          </a:prstGeom>
          <a:noFill/>
        </p:spPr>
        <p:txBody>
          <a:bodyPr wrap="square" lIns="266700" tIns="0" rIns="0" bIns="0" anchor="t">
            <a:spAutoFit/>
          </a:bodyPr>
          <a:lstStyle/>
          <a:p>
            <a:pPr algn="l"/>
            <a:r>
              <a:rPr sz="1500" b="1" i="0" u="none" dirty="0">
                <a:solidFill>
                  <a:srgbClr val="0F172A"/>
                </a:solidFill>
                <a:latin typeface="Plus Jakarta Sans"/>
              </a:rPr>
              <a:t>Analis &amp; Data </a:t>
            </a:r>
          </a:p>
        </p:txBody>
      </p:sp>
      <p:sp>
        <p:nvSpPr>
          <p:cNvPr id="22" name="TextBox 21"/>
          <p:cNvSpPr txBox="1"/>
          <p:nvPr/>
        </p:nvSpPr>
        <p:spPr>
          <a:xfrm>
            <a:off x="6477000" y="2618333"/>
            <a:ext cx="5000625" cy="728662"/>
          </a:xfrm>
          <a:prstGeom prst="rect">
            <a:avLst/>
          </a:prstGeom>
          <a:noFill/>
        </p:spPr>
        <p:txBody>
          <a:bodyPr wrap="square" lIns="0" tIns="0" rIns="0" bIns="0" anchor="t">
            <a:spAutoFit/>
          </a:bodyPr>
          <a:lstStyle/>
          <a:p>
            <a:pPr algn="l">
              <a:lnSpc>
                <a:spcPts val="1912"/>
              </a:lnSpc>
            </a:pPr>
            <a:r>
              <a:rPr sz="1275" b="0" i="0" u="none" dirty="0">
                <a:solidFill>
                  <a:srgbClr val="334155"/>
                </a:solidFill>
                <a:latin typeface="Inter"/>
              </a:rPr>
              <a:t>Analis  </a:t>
            </a:r>
            <a:r>
              <a:rPr sz="1275" b="0" i="0" u="none" dirty="0" err="1">
                <a:solidFill>
                  <a:srgbClr val="334155"/>
                </a:solidFill>
                <a:latin typeface="Inter"/>
              </a:rPr>
              <a:t>tidak</a:t>
            </a:r>
            <a:r>
              <a:rPr sz="1275" b="0" i="0" u="none" dirty="0">
                <a:solidFill>
                  <a:srgbClr val="334155"/>
                </a:solidFill>
                <a:latin typeface="Inter"/>
              </a:rPr>
              <a:t> </a:t>
            </a:r>
            <a:r>
              <a:rPr sz="1275" b="0" i="0" u="none" dirty="0" err="1">
                <a:solidFill>
                  <a:srgbClr val="334155"/>
                </a:solidFill>
                <a:latin typeface="Inter"/>
              </a:rPr>
              <a:t>langsung</a:t>
            </a:r>
            <a:r>
              <a:rPr sz="1275" b="0" i="0" u="none" dirty="0">
                <a:solidFill>
                  <a:srgbClr val="334155"/>
                </a:solidFill>
                <a:latin typeface="Inter"/>
              </a:rPr>
              <a:t> </a:t>
            </a:r>
            <a:r>
              <a:rPr sz="1275" b="0" i="0" u="none" dirty="0" err="1">
                <a:solidFill>
                  <a:srgbClr val="334155"/>
                </a:solidFill>
                <a:latin typeface="Inter"/>
              </a:rPr>
              <a:t>membuat</a:t>
            </a:r>
            <a:r>
              <a:rPr sz="1275" b="0" i="0" u="none" dirty="0">
                <a:solidFill>
                  <a:srgbClr val="334155"/>
                </a:solidFill>
                <a:latin typeface="Inter"/>
              </a:rPr>
              <a:t> model </a:t>
            </a:r>
            <a:r>
              <a:rPr sz="1275" b="0" i="0" u="none" dirty="0" err="1">
                <a:solidFill>
                  <a:srgbClr val="334155"/>
                </a:solidFill>
                <a:latin typeface="Inter"/>
              </a:rPr>
              <a:t>prediksi</a:t>
            </a:r>
            <a:r>
              <a:rPr sz="1275" b="0" i="0" u="none" dirty="0">
                <a:solidFill>
                  <a:srgbClr val="334155"/>
                </a:solidFill>
                <a:latin typeface="Inter"/>
              </a:rPr>
              <a:t> </a:t>
            </a:r>
            <a:r>
              <a:rPr sz="1275" b="0" i="0" u="none" dirty="0" err="1">
                <a:solidFill>
                  <a:srgbClr val="334155"/>
                </a:solidFill>
                <a:latin typeface="Inter"/>
              </a:rPr>
              <a:t>kecelakaan</a:t>
            </a:r>
            <a:r>
              <a:rPr sz="1275" b="0" i="0" u="none" dirty="0">
                <a:solidFill>
                  <a:srgbClr val="334155"/>
                </a:solidFill>
                <a:latin typeface="Inter"/>
              </a:rPr>
              <a:t>. Analis </a:t>
            </a:r>
            <a:r>
              <a:rPr sz="1275" b="0" i="0" u="none" dirty="0" err="1">
                <a:solidFill>
                  <a:srgbClr val="334155"/>
                </a:solidFill>
                <a:latin typeface="Inter"/>
              </a:rPr>
              <a:t>harus</a:t>
            </a:r>
            <a:r>
              <a:rPr sz="1275" b="0" i="0" u="none" dirty="0">
                <a:solidFill>
                  <a:srgbClr val="334155"/>
                </a:solidFill>
                <a:latin typeface="Inter"/>
              </a:rPr>
              <a:t> </a:t>
            </a:r>
            <a:r>
              <a:rPr sz="1275" b="0" i="0" u="none" dirty="0" err="1">
                <a:solidFill>
                  <a:srgbClr val="334155"/>
                </a:solidFill>
                <a:latin typeface="Inter"/>
              </a:rPr>
              <a:t>memeriksa</a:t>
            </a:r>
            <a:r>
              <a:rPr sz="1275" b="0" i="0" u="none" dirty="0">
                <a:solidFill>
                  <a:srgbClr val="334155"/>
                </a:solidFill>
                <a:latin typeface="Inter"/>
              </a:rPr>
              <a:t> jam </a:t>
            </a:r>
            <a:r>
              <a:rPr sz="1275" b="0" i="0" u="none" dirty="0" err="1">
                <a:solidFill>
                  <a:srgbClr val="334155"/>
                </a:solidFill>
                <a:latin typeface="Inter"/>
              </a:rPr>
              <a:t>kerja</a:t>
            </a:r>
            <a:r>
              <a:rPr sz="1275" b="0" i="0" u="none" dirty="0">
                <a:solidFill>
                  <a:srgbClr val="334155"/>
                </a:solidFill>
                <a:latin typeface="Inter"/>
              </a:rPr>
              <a:t>, </a:t>
            </a:r>
            <a:r>
              <a:rPr sz="1275" b="0" i="0" u="none" dirty="0" err="1">
                <a:solidFill>
                  <a:srgbClr val="334155"/>
                </a:solidFill>
                <a:latin typeface="Inter"/>
              </a:rPr>
              <a:t>tingkat</a:t>
            </a:r>
            <a:r>
              <a:rPr sz="1275" b="0" i="0" u="none" dirty="0">
                <a:solidFill>
                  <a:srgbClr val="334155"/>
                </a:solidFill>
                <a:latin typeface="Inter"/>
              </a:rPr>
              <a:t> </a:t>
            </a:r>
            <a:r>
              <a:rPr sz="1275" b="0" i="0" u="none" dirty="0" err="1">
                <a:solidFill>
                  <a:srgbClr val="334155"/>
                </a:solidFill>
                <a:latin typeface="Inter"/>
              </a:rPr>
              <a:t>stres</a:t>
            </a:r>
            <a:r>
              <a:rPr sz="1275" b="0" i="0" u="none" dirty="0">
                <a:solidFill>
                  <a:srgbClr val="334155"/>
                </a:solidFill>
                <a:latin typeface="Inter"/>
              </a:rPr>
              <a:t>, shift, </a:t>
            </a:r>
            <a:r>
              <a:rPr sz="1275" b="0" i="0" u="none" dirty="0" err="1">
                <a:solidFill>
                  <a:srgbClr val="334155"/>
                </a:solidFill>
                <a:latin typeface="Inter"/>
              </a:rPr>
              <a:t>kepatuhan</a:t>
            </a:r>
            <a:r>
              <a:rPr sz="1275" b="0" i="0" u="none" dirty="0">
                <a:solidFill>
                  <a:srgbClr val="334155"/>
                </a:solidFill>
                <a:latin typeface="Inter"/>
              </a:rPr>
              <a:t> APD, dan </a:t>
            </a:r>
            <a:r>
              <a:rPr sz="1275" b="0" i="0" u="none" dirty="0" err="1">
                <a:solidFill>
                  <a:srgbClr val="334155"/>
                </a:solidFill>
                <a:latin typeface="Inter"/>
              </a:rPr>
              <a:t>riwayat</a:t>
            </a:r>
            <a:r>
              <a:rPr sz="1275" b="0" i="0" u="none" dirty="0">
                <a:solidFill>
                  <a:srgbClr val="334155"/>
                </a:solidFill>
                <a:latin typeface="Inter"/>
              </a:rPr>
              <a:t> </a:t>
            </a:r>
            <a:r>
              <a:rPr sz="1275" b="0" i="0" u="none" dirty="0" err="1">
                <a:solidFill>
                  <a:srgbClr val="334155"/>
                </a:solidFill>
                <a:latin typeface="Inter"/>
              </a:rPr>
              <a:t>kesehatan</a:t>
            </a:r>
            <a:r>
              <a:rPr sz="1275" b="0" i="0" u="none" dirty="0">
                <a:solidFill>
                  <a:srgbClr val="334155"/>
                </a:solidFill>
                <a:latin typeface="Inter"/>
              </a:rPr>
              <a:t> </a:t>
            </a:r>
            <a:r>
              <a:rPr sz="1275" b="0" i="0" u="none" dirty="0" err="1">
                <a:solidFill>
                  <a:srgbClr val="334155"/>
                </a:solidFill>
                <a:latin typeface="Inter"/>
              </a:rPr>
              <a:t>pekerja</a:t>
            </a:r>
            <a:r>
              <a:rPr sz="1275" b="0" i="0" u="none" dirty="0">
                <a:solidFill>
                  <a:srgbClr val="334155"/>
                </a:solidFill>
                <a:latin typeface="Inter"/>
              </a:rPr>
              <a:t>.</a:t>
            </a:r>
          </a:p>
        </p:txBody>
      </p:sp>
      <p:pic>
        <p:nvPicPr>
          <p:cNvPr id="23" name="Picture 22" descr="image.png"/>
          <p:cNvPicPr>
            <a:picLocks noChangeAspect="1"/>
          </p:cNvPicPr>
          <p:nvPr/>
        </p:nvPicPr>
        <p:blipFill>
          <a:blip r:embed="rId16"/>
          <a:stretch>
            <a:fillRect/>
          </a:stretch>
        </p:blipFill>
        <p:spPr>
          <a:xfrm>
            <a:off x="714375" y="2323058"/>
            <a:ext cx="219075" cy="190500"/>
          </a:xfrm>
          <a:prstGeom prst="rect">
            <a:avLst/>
          </a:prstGeom>
        </p:spPr>
      </p:pic>
      <p:pic>
        <p:nvPicPr>
          <p:cNvPr id="24" name="Picture 23" descr="image.png"/>
          <p:cNvPicPr>
            <a:picLocks noChangeAspect="1"/>
          </p:cNvPicPr>
          <p:nvPr/>
        </p:nvPicPr>
        <p:blipFill>
          <a:blip r:embed="rId17"/>
          <a:stretch>
            <a:fillRect/>
          </a:stretch>
        </p:blipFill>
        <p:spPr>
          <a:xfrm>
            <a:off x="6477000" y="2323058"/>
            <a:ext cx="190500" cy="190500"/>
          </a:xfrm>
          <a:prstGeom prst="rect">
            <a:avLst/>
          </a:prstGeom>
        </p:spPr>
      </p:pic>
      <p:sp>
        <p:nvSpPr>
          <p:cNvPr id="25" name="TextBox 24"/>
          <p:cNvSpPr txBox="1"/>
          <p:nvPr/>
        </p:nvSpPr>
        <p:spPr>
          <a:xfrm>
            <a:off x="1419225" y="4875758"/>
            <a:ext cx="952500" cy="190500"/>
          </a:xfrm>
          <a:prstGeom prst="rect">
            <a:avLst/>
          </a:prstGeom>
          <a:noFill/>
        </p:spPr>
        <p:txBody>
          <a:bodyPr wrap="square" lIns="0" tIns="0" rIns="0" bIns="0" anchor="t">
            <a:spAutoFit/>
          </a:bodyPr>
          <a:lstStyle/>
          <a:p>
            <a:pPr algn="ctr"/>
            <a:r>
              <a:rPr sz="1200" b="1" i="0" u="none">
                <a:solidFill>
                  <a:srgbClr val="334155"/>
                </a:solidFill>
                <a:latin typeface="Inter"/>
              </a:rPr>
              <a:t>Data Mentah</a:t>
            </a:r>
          </a:p>
        </p:txBody>
      </p:sp>
      <p:pic>
        <p:nvPicPr>
          <p:cNvPr id="26" name="Picture 25" descr="image.png"/>
          <p:cNvPicPr>
            <a:picLocks noChangeAspect="1"/>
          </p:cNvPicPr>
          <p:nvPr/>
        </p:nvPicPr>
        <p:blipFill>
          <a:blip r:embed="rId18"/>
          <a:stretch>
            <a:fillRect/>
          </a:stretch>
        </p:blipFill>
        <p:spPr>
          <a:xfrm>
            <a:off x="3209925" y="4704308"/>
            <a:ext cx="171450" cy="190500"/>
          </a:xfrm>
          <a:prstGeom prst="rect">
            <a:avLst/>
          </a:prstGeom>
        </p:spPr>
      </p:pic>
      <p:sp>
        <p:nvSpPr>
          <p:cNvPr id="27" name="TextBox 26"/>
          <p:cNvSpPr txBox="1"/>
          <p:nvPr/>
        </p:nvSpPr>
        <p:spPr>
          <a:xfrm>
            <a:off x="4000500" y="4875758"/>
            <a:ext cx="1390650" cy="190500"/>
          </a:xfrm>
          <a:prstGeom prst="rect">
            <a:avLst/>
          </a:prstGeom>
          <a:noFill/>
        </p:spPr>
        <p:txBody>
          <a:bodyPr wrap="square" lIns="0" tIns="0" rIns="0" bIns="0" anchor="t">
            <a:spAutoFit/>
          </a:bodyPr>
          <a:lstStyle/>
          <a:p>
            <a:pPr algn="ctr"/>
            <a:r>
              <a:rPr sz="1200" b="1" i="0" u="none">
                <a:solidFill>
                  <a:srgbClr val="334155"/>
                </a:solidFill>
                <a:latin typeface="Inter"/>
              </a:rPr>
              <a:t>EDA (Pemahaman)</a:t>
            </a:r>
          </a:p>
        </p:txBody>
      </p:sp>
      <p:pic>
        <p:nvPicPr>
          <p:cNvPr id="28" name="Picture 27" descr="image.png"/>
          <p:cNvPicPr>
            <a:picLocks noChangeAspect="1"/>
          </p:cNvPicPr>
          <p:nvPr/>
        </p:nvPicPr>
        <p:blipFill>
          <a:blip r:embed="rId19"/>
          <a:stretch>
            <a:fillRect/>
          </a:stretch>
        </p:blipFill>
        <p:spPr>
          <a:xfrm>
            <a:off x="6010275" y="4704308"/>
            <a:ext cx="171450" cy="190500"/>
          </a:xfrm>
          <a:prstGeom prst="rect">
            <a:avLst/>
          </a:prstGeom>
        </p:spPr>
      </p:pic>
      <p:sp>
        <p:nvSpPr>
          <p:cNvPr id="29" name="TextBox 28"/>
          <p:cNvSpPr txBox="1"/>
          <p:nvPr/>
        </p:nvSpPr>
        <p:spPr>
          <a:xfrm>
            <a:off x="7148512" y="4875758"/>
            <a:ext cx="695325" cy="190500"/>
          </a:xfrm>
          <a:prstGeom prst="rect">
            <a:avLst/>
          </a:prstGeom>
          <a:noFill/>
        </p:spPr>
        <p:txBody>
          <a:bodyPr wrap="square" lIns="0" tIns="0" rIns="0" bIns="0" anchor="t">
            <a:spAutoFit/>
          </a:bodyPr>
          <a:lstStyle/>
          <a:p>
            <a:pPr algn="ctr"/>
            <a:r>
              <a:rPr sz="1200" b="1" i="0" u="none">
                <a:solidFill>
                  <a:srgbClr val="334155"/>
                </a:solidFill>
                <a:latin typeface="Inter"/>
              </a:rPr>
              <a:t>Modeling</a:t>
            </a:r>
          </a:p>
        </p:txBody>
      </p:sp>
      <p:pic>
        <p:nvPicPr>
          <p:cNvPr id="30" name="Picture 29" descr="image.png"/>
          <p:cNvPicPr>
            <a:picLocks noChangeAspect="1"/>
          </p:cNvPicPr>
          <p:nvPr/>
        </p:nvPicPr>
        <p:blipFill>
          <a:blip r:embed="rId18"/>
          <a:stretch>
            <a:fillRect/>
          </a:stretch>
        </p:blipFill>
        <p:spPr>
          <a:xfrm>
            <a:off x="8810625" y="4704308"/>
            <a:ext cx="171450" cy="190500"/>
          </a:xfrm>
          <a:prstGeom prst="rect">
            <a:avLst/>
          </a:prstGeom>
        </p:spPr>
      </p:pic>
      <p:sp>
        <p:nvSpPr>
          <p:cNvPr id="31" name="TextBox 30"/>
          <p:cNvSpPr txBox="1"/>
          <p:nvPr/>
        </p:nvSpPr>
        <p:spPr>
          <a:xfrm>
            <a:off x="9672637" y="4875758"/>
            <a:ext cx="1247775" cy="190500"/>
          </a:xfrm>
          <a:prstGeom prst="rect">
            <a:avLst/>
          </a:prstGeom>
          <a:noFill/>
        </p:spPr>
        <p:txBody>
          <a:bodyPr wrap="square" lIns="0" tIns="0" rIns="0" bIns="0" anchor="t">
            <a:spAutoFit/>
          </a:bodyPr>
          <a:lstStyle/>
          <a:p>
            <a:pPr algn="ctr"/>
            <a:r>
              <a:rPr sz="1200" b="1" i="0" u="none">
                <a:solidFill>
                  <a:srgbClr val="334155"/>
                </a:solidFill>
                <a:latin typeface="Inter"/>
              </a:rPr>
              <a:t>Insight / Prediksi</a:t>
            </a:r>
          </a:p>
        </p:txBody>
      </p:sp>
      <p:sp>
        <p:nvSpPr>
          <p:cNvPr id="32" name="TextBox 31"/>
          <p:cNvSpPr txBox="1"/>
          <p:nvPr/>
        </p:nvSpPr>
        <p:spPr>
          <a:xfrm>
            <a:off x="823912" y="419100"/>
            <a:ext cx="113680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Analogi Sederhana EDA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56420"/>
            <a:ext cx="5334000" cy="2790825"/>
          </a:xfrm>
          <a:prstGeom prst="rect">
            <a:avLst/>
          </a:prstGeom>
        </p:spPr>
      </p:pic>
      <p:pic>
        <p:nvPicPr>
          <p:cNvPr id="4" name="Picture 3" descr="image.png"/>
          <p:cNvPicPr>
            <a:picLocks noChangeAspect="1"/>
          </p:cNvPicPr>
          <p:nvPr/>
        </p:nvPicPr>
        <p:blipFill>
          <a:blip r:embed="rId4"/>
          <a:stretch>
            <a:fillRect/>
          </a:stretch>
        </p:blipFill>
        <p:spPr>
          <a:xfrm>
            <a:off x="6286500" y="2556420"/>
            <a:ext cx="5334000" cy="2790825"/>
          </a:xfrm>
          <a:prstGeom prst="rect">
            <a:avLst/>
          </a:prstGeom>
        </p:spPr>
      </p:pic>
      <p:sp>
        <p:nvSpPr>
          <p:cNvPr id="5" name="TextBox 4"/>
          <p:cNvSpPr txBox="1"/>
          <p:nvPr/>
        </p:nvSpPr>
        <p:spPr>
          <a:xfrm>
            <a:off x="571500" y="2137320"/>
            <a:ext cx="11049000" cy="228600"/>
          </a:xfrm>
          <a:prstGeom prst="rect">
            <a:avLst/>
          </a:prstGeom>
          <a:noFill/>
        </p:spPr>
        <p:txBody>
          <a:bodyPr wrap="square" lIns="0" tIns="0" rIns="0" bIns="0" anchor="t">
            <a:spAutoFit/>
          </a:bodyPr>
          <a:lstStyle/>
          <a:p>
            <a:pPr algn="l">
              <a:lnSpc>
                <a:spcPts val="1800"/>
              </a:lnSpc>
            </a:pPr>
            <a:r>
              <a:rPr sz="1400" b="0" i="0" u="none" dirty="0" err="1">
                <a:solidFill>
                  <a:srgbClr val="475569"/>
                </a:solidFill>
                <a:latin typeface="Inter"/>
              </a:rPr>
              <a:t>Dalam</a:t>
            </a:r>
            <a:r>
              <a:rPr sz="1400" b="0" i="0" u="none" dirty="0">
                <a:solidFill>
                  <a:srgbClr val="475569"/>
                </a:solidFill>
                <a:latin typeface="Inter"/>
              </a:rPr>
              <a:t> </a:t>
            </a:r>
            <a:r>
              <a:rPr sz="1400" b="0" i="0" u="none" dirty="0" err="1">
                <a:solidFill>
                  <a:srgbClr val="475569"/>
                </a:solidFill>
                <a:latin typeface="Inter"/>
              </a:rPr>
              <a:t>analisis</a:t>
            </a:r>
            <a:r>
              <a:rPr sz="1400" b="0" i="0" u="none" dirty="0">
                <a:solidFill>
                  <a:srgbClr val="475569"/>
                </a:solidFill>
                <a:latin typeface="Inter"/>
              </a:rPr>
              <a:t>  modern, </a:t>
            </a:r>
            <a:r>
              <a:rPr sz="1400" b="0" i="0" u="none" dirty="0" err="1">
                <a:solidFill>
                  <a:srgbClr val="475569"/>
                </a:solidFill>
                <a:latin typeface="Inter"/>
              </a:rPr>
              <a:t>fokus</a:t>
            </a:r>
            <a:r>
              <a:rPr sz="1400" b="0" i="0" u="none" dirty="0">
                <a:solidFill>
                  <a:srgbClr val="475569"/>
                </a:solidFill>
                <a:latin typeface="Inter"/>
              </a:rPr>
              <a:t> </a:t>
            </a:r>
            <a:r>
              <a:rPr sz="1400" b="0" i="0" u="none" dirty="0" err="1">
                <a:solidFill>
                  <a:srgbClr val="475569"/>
                </a:solidFill>
                <a:latin typeface="Inter"/>
              </a:rPr>
              <a:t>tidak</a:t>
            </a:r>
            <a:r>
              <a:rPr sz="1400" b="0" i="0" u="none" dirty="0">
                <a:solidFill>
                  <a:srgbClr val="475569"/>
                </a:solidFill>
                <a:latin typeface="Inter"/>
              </a:rPr>
              <a:t> </a:t>
            </a:r>
            <a:r>
              <a:rPr sz="1400" b="0" i="0" u="none" dirty="0" err="1">
                <a:solidFill>
                  <a:srgbClr val="475569"/>
                </a:solidFill>
                <a:latin typeface="Inter"/>
              </a:rPr>
              <a:t>hanya</a:t>
            </a:r>
            <a:r>
              <a:rPr sz="1400" b="0" i="0" u="none" dirty="0">
                <a:solidFill>
                  <a:srgbClr val="475569"/>
                </a:solidFill>
                <a:latin typeface="Inter"/>
              </a:rPr>
              <a:t> </a:t>
            </a:r>
            <a:r>
              <a:rPr sz="1400" b="0" i="0" u="none" dirty="0" err="1">
                <a:solidFill>
                  <a:srgbClr val="475569"/>
                </a:solidFill>
                <a:latin typeface="Inter"/>
              </a:rPr>
              <a:t>bertumpu</a:t>
            </a:r>
            <a:r>
              <a:rPr sz="1400" b="0" i="0" u="none" dirty="0">
                <a:solidFill>
                  <a:srgbClr val="475569"/>
                </a:solidFill>
                <a:latin typeface="Inter"/>
              </a:rPr>
              <a:t> pada </a:t>
            </a:r>
            <a:r>
              <a:rPr sz="1400" b="0" i="0" u="none" dirty="0" err="1">
                <a:solidFill>
                  <a:srgbClr val="475569"/>
                </a:solidFill>
                <a:latin typeface="Inter"/>
              </a:rPr>
              <a:t>kegagalan</a:t>
            </a:r>
            <a:r>
              <a:rPr sz="1400" b="0" i="0" u="none" dirty="0">
                <a:solidFill>
                  <a:srgbClr val="475569"/>
                </a:solidFill>
                <a:latin typeface="Inter"/>
              </a:rPr>
              <a:t> </a:t>
            </a:r>
            <a:r>
              <a:rPr sz="1400" b="0" i="0" u="none" dirty="0" err="1">
                <a:solidFill>
                  <a:srgbClr val="475569"/>
                </a:solidFill>
                <a:latin typeface="Inter"/>
              </a:rPr>
              <a:t>mekanis</a:t>
            </a:r>
            <a:r>
              <a:rPr sz="1400" b="0" i="0" u="none" dirty="0">
                <a:solidFill>
                  <a:srgbClr val="475569"/>
                </a:solidFill>
                <a:latin typeface="Inter"/>
              </a:rPr>
              <a:t> </a:t>
            </a:r>
            <a:r>
              <a:rPr sz="1400" b="0" i="0" u="none" dirty="0" err="1">
                <a:solidFill>
                  <a:srgbClr val="475569"/>
                </a:solidFill>
                <a:latin typeface="Inter"/>
              </a:rPr>
              <a:t>mesin</a:t>
            </a:r>
            <a:r>
              <a:rPr sz="1400" b="0" i="0" u="none" dirty="0">
                <a:solidFill>
                  <a:srgbClr val="475569"/>
                </a:solidFill>
                <a:latin typeface="Inter"/>
              </a:rPr>
              <a:t>, </a:t>
            </a:r>
            <a:r>
              <a:rPr sz="1400" b="0" i="0" u="none" dirty="0" err="1">
                <a:solidFill>
                  <a:srgbClr val="475569"/>
                </a:solidFill>
                <a:latin typeface="Inter"/>
              </a:rPr>
              <a:t>tetapi</a:t>
            </a:r>
            <a:r>
              <a:rPr sz="1400" b="0" i="0" u="none" dirty="0">
                <a:solidFill>
                  <a:srgbClr val="475569"/>
                </a:solidFill>
                <a:latin typeface="Inter"/>
              </a:rPr>
              <a:t> pada </a:t>
            </a:r>
            <a:r>
              <a:rPr sz="1400" b="0" i="0" u="none" dirty="0" err="1">
                <a:solidFill>
                  <a:srgbClr val="475569"/>
                </a:solidFill>
                <a:latin typeface="Inter"/>
              </a:rPr>
              <a:t>interaksi</a:t>
            </a:r>
            <a:r>
              <a:rPr sz="1400" b="0" i="0" u="none" dirty="0">
                <a:solidFill>
                  <a:srgbClr val="475569"/>
                </a:solidFill>
                <a:latin typeface="Inter"/>
              </a:rPr>
              <a:t> </a:t>
            </a:r>
            <a:r>
              <a:rPr sz="1400" b="0" i="0" u="none" dirty="0" err="1">
                <a:solidFill>
                  <a:srgbClr val="475569"/>
                </a:solidFill>
                <a:latin typeface="Inter"/>
              </a:rPr>
              <a:t>faktor</a:t>
            </a:r>
            <a:r>
              <a:rPr sz="1400" b="0" i="0" u="none" dirty="0">
                <a:solidFill>
                  <a:srgbClr val="475569"/>
                </a:solidFill>
                <a:latin typeface="Inter"/>
              </a:rPr>
              <a:t> </a:t>
            </a:r>
            <a:r>
              <a:rPr sz="1400" b="0" i="0" u="none" dirty="0" err="1">
                <a:solidFill>
                  <a:srgbClr val="475569"/>
                </a:solidFill>
                <a:latin typeface="Inter"/>
              </a:rPr>
              <a:t>manusia</a:t>
            </a:r>
            <a:r>
              <a:rPr sz="1400" b="0" i="0" u="none" dirty="0">
                <a:solidFill>
                  <a:srgbClr val="475569"/>
                </a:solidFill>
                <a:latin typeface="Inter"/>
              </a:rPr>
              <a:t> </a:t>
            </a:r>
            <a:r>
              <a:rPr sz="1400" b="0" i="0" u="none" dirty="0" err="1">
                <a:solidFill>
                  <a:srgbClr val="475569"/>
                </a:solidFill>
                <a:latin typeface="Inter"/>
              </a:rPr>
              <a:t>terhadap</a:t>
            </a:r>
            <a:r>
              <a:rPr sz="1400" b="0" i="0" u="none" dirty="0">
                <a:solidFill>
                  <a:srgbClr val="475569"/>
                </a:solidFill>
                <a:latin typeface="Inter"/>
              </a:rPr>
              <a:t> </a:t>
            </a:r>
            <a:r>
              <a:rPr sz="1400" b="0" i="0" u="none" dirty="0" err="1">
                <a:solidFill>
                  <a:srgbClr val="475569"/>
                </a:solidFill>
                <a:latin typeface="Inter"/>
              </a:rPr>
              <a:t>lingkungan</a:t>
            </a:r>
            <a:r>
              <a:rPr sz="1400" b="0" i="0" u="none" dirty="0">
                <a:solidFill>
                  <a:srgbClr val="475569"/>
                </a:solidFill>
                <a:latin typeface="Inter"/>
              </a:rPr>
              <a:t> </a:t>
            </a:r>
            <a:r>
              <a:rPr sz="1400" b="0" i="0" u="none" dirty="0" err="1">
                <a:solidFill>
                  <a:srgbClr val="475569"/>
                </a:solidFill>
                <a:latin typeface="Inter"/>
              </a:rPr>
              <a:t>kerja</a:t>
            </a:r>
            <a:r>
              <a:rPr sz="1400" b="0" i="0" u="none" dirty="0">
                <a:solidFill>
                  <a:srgbClr val="475569"/>
                </a:solidFill>
                <a:latin typeface="Inter"/>
              </a:rPr>
              <a:t>.</a:t>
            </a:r>
          </a:p>
        </p:txBody>
      </p:sp>
      <p:sp>
        <p:nvSpPr>
          <p:cNvPr id="6" name="TextBox 5"/>
          <p:cNvSpPr txBox="1"/>
          <p:nvPr/>
        </p:nvSpPr>
        <p:spPr>
          <a:xfrm>
            <a:off x="866775" y="2851695"/>
            <a:ext cx="4980622" cy="246221"/>
          </a:xfrm>
          <a:prstGeom prst="rect">
            <a:avLst/>
          </a:prstGeom>
          <a:noFill/>
        </p:spPr>
        <p:txBody>
          <a:bodyPr wrap="square" lIns="314325" tIns="0" rIns="0" bIns="0" anchor="t">
            <a:spAutoFit/>
          </a:bodyPr>
          <a:lstStyle/>
          <a:p>
            <a:pPr algn="l"/>
            <a:r>
              <a:rPr sz="1600" b="1" i="0" u="none">
                <a:solidFill>
                  <a:srgbClr val="0284C7"/>
                </a:solidFill>
                <a:latin typeface="Poppins"/>
              </a:rPr>
              <a:t>Faktor Individu &amp; Psikologis</a:t>
            </a:r>
          </a:p>
        </p:txBody>
      </p:sp>
      <p:sp>
        <p:nvSpPr>
          <p:cNvPr id="7" name="TextBox 6"/>
          <p:cNvSpPr txBox="1"/>
          <p:nvPr/>
        </p:nvSpPr>
        <p:spPr>
          <a:xfrm>
            <a:off x="6581775" y="2851695"/>
            <a:ext cx="4980622" cy="246221"/>
          </a:xfrm>
          <a:prstGeom prst="rect">
            <a:avLst/>
          </a:prstGeom>
          <a:noFill/>
        </p:spPr>
        <p:txBody>
          <a:bodyPr wrap="square" lIns="266700" tIns="0" rIns="0" bIns="0" anchor="t">
            <a:spAutoFit/>
          </a:bodyPr>
          <a:lstStyle/>
          <a:p>
            <a:pPr algn="l"/>
            <a:r>
              <a:rPr sz="1600" b="1" i="0" u="none">
                <a:solidFill>
                  <a:srgbClr val="0F172A"/>
                </a:solidFill>
                <a:latin typeface="Poppins"/>
              </a:rPr>
              <a:t>Faktor Pekerjaan &amp; Lingkungan</a:t>
            </a:r>
          </a:p>
        </p:txBody>
      </p:sp>
      <p:pic>
        <p:nvPicPr>
          <p:cNvPr id="8" name="Picture 7" descr="image.png"/>
          <p:cNvPicPr>
            <a:picLocks noChangeAspect="1"/>
          </p:cNvPicPr>
          <p:nvPr/>
        </p:nvPicPr>
        <p:blipFill>
          <a:blip r:embed="rId5"/>
          <a:stretch>
            <a:fillRect/>
          </a:stretch>
        </p:blipFill>
        <p:spPr>
          <a:xfrm>
            <a:off x="866775" y="2899320"/>
            <a:ext cx="238125" cy="190500"/>
          </a:xfrm>
          <a:prstGeom prst="rect">
            <a:avLst/>
          </a:prstGeom>
        </p:spPr>
      </p:pic>
      <p:sp>
        <p:nvSpPr>
          <p:cNvPr id="9" name="TextBox 8"/>
          <p:cNvSpPr txBox="1"/>
          <p:nvPr/>
        </p:nvSpPr>
        <p:spPr>
          <a:xfrm>
            <a:off x="1152525" y="32803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Kondisi Fisik:</a:t>
            </a:r>
            <a:r>
              <a:rPr sz="1400" b="0" i="0" u="none">
                <a:solidFill>
                  <a:srgbClr val="475569"/>
                </a:solidFill>
                <a:latin typeface="Inter"/>
              </a:rPr>
              <a:t> Usia, masa kerja, durasi tidur, tingkat kelelahan fisik.</a:t>
            </a:r>
          </a:p>
        </p:txBody>
      </p:sp>
      <p:sp>
        <p:nvSpPr>
          <p:cNvPr id="10" name="TextBox 9"/>
          <p:cNvSpPr txBox="1"/>
          <p:nvPr/>
        </p:nvSpPr>
        <p:spPr>
          <a:xfrm>
            <a:off x="1152525" y="387087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Psikologis &amp; Stres:</a:t>
            </a:r>
            <a:r>
              <a:rPr sz="1400" b="0" i="0" u="none">
                <a:solidFill>
                  <a:srgbClr val="475569"/>
                </a:solidFill>
                <a:latin typeface="Inter"/>
              </a:rPr>
              <a:t> Beban mental, tingkat stres kerja, serta penurunan fokus.</a:t>
            </a:r>
          </a:p>
        </p:txBody>
      </p:sp>
      <p:sp>
        <p:nvSpPr>
          <p:cNvPr id="11" name="TextBox 10"/>
          <p:cNvSpPr txBox="1"/>
          <p:nvPr/>
        </p:nvSpPr>
        <p:spPr>
          <a:xfrm>
            <a:off x="1152525" y="44614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Perilaku:</a:t>
            </a:r>
            <a:r>
              <a:rPr sz="1400" b="0" i="0" u="none">
                <a:solidFill>
                  <a:srgbClr val="475569"/>
                </a:solidFill>
                <a:latin typeface="Inter"/>
              </a:rPr>
              <a:t> Kepatuhan APD, tingkat kesadaran SOP, dan transparansi laporan near miss.</a:t>
            </a:r>
          </a:p>
        </p:txBody>
      </p:sp>
      <p:pic>
        <p:nvPicPr>
          <p:cNvPr id="12" name="Picture 11" descr="image.png"/>
          <p:cNvPicPr>
            <a:picLocks noChangeAspect="1"/>
          </p:cNvPicPr>
          <p:nvPr/>
        </p:nvPicPr>
        <p:blipFill>
          <a:blip r:embed="rId6"/>
          <a:stretch>
            <a:fillRect/>
          </a:stretch>
        </p:blipFill>
        <p:spPr>
          <a:xfrm>
            <a:off x="6581775" y="2899320"/>
            <a:ext cx="190500" cy="190500"/>
          </a:xfrm>
          <a:prstGeom prst="rect">
            <a:avLst/>
          </a:prstGeom>
        </p:spPr>
      </p:pic>
      <p:sp>
        <p:nvSpPr>
          <p:cNvPr id="13" name="TextBox 12"/>
          <p:cNvSpPr txBox="1"/>
          <p:nvPr/>
        </p:nvSpPr>
        <p:spPr>
          <a:xfrm>
            <a:off x="6867525" y="32803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Jadwal Kerja:</a:t>
            </a:r>
            <a:r>
              <a:rPr sz="1400" b="0" i="0" u="none">
                <a:solidFill>
                  <a:srgbClr val="475569"/>
                </a:solidFill>
                <a:latin typeface="Inter"/>
              </a:rPr>
              <a:t> Total jam kerja per hari, lembur ekstrem, serta rotasi shift malam.</a:t>
            </a:r>
          </a:p>
        </p:txBody>
      </p:sp>
      <p:sp>
        <p:nvSpPr>
          <p:cNvPr id="14" name="TextBox 13"/>
          <p:cNvSpPr txBox="1"/>
          <p:nvPr/>
        </p:nvSpPr>
        <p:spPr>
          <a:xfrm>
            <a:off x="6867525" y="387087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Lingkungan Fisik:</a:t>
            </a:r>
            <a:r>
              <a:rPr sz="1400" b="0" i="0" u="none">
                <a:solidFill>
                  <a:srgbClr val="475569"/>
                </a:solidFill>
                <a:latin typeface="Inter"/>
              </a:rPr>
              <a:t> Kebisingan area, suhu temperatur ekstrem, dan kualitas pencahayaan.</a:t>
            </a:r>
          </a:p>
        </p:txBody>
      </p:sp>
      <p:sp>
        <p:nvSpPr>
          <p:cNvPr id="15" name="TextBox 14"/>
          <p:cNvSpPr txBox="1"/>
          <p:nvPr/>
        </p:nvSpPr>
        <p:spPr>
          <a:xfrm>
            <a:off x="6867525" y="44614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Desain Tugas:</a:t>
            </a:r>
            <a:r>
              <a:rPr sz="1400" b="0" i="0" u="none">
                <a:solidFill>
                  <a:srgbClr val="475569"/>
                </a:solidFill>
                <a:latin typeface="Inter"/>
              </a:rPr>
              <a:t> Pekerjaan berulang (repetitif) dan tekanan target waktu.</a:t>
            </a:r>
          </a:p>
        </p:txBody>
      </p:sp>
      <p:pic>
        <p:nvPicPr>
          <p:cNvPr id="16" name="Picture 15" descr="image.png"/>
          <p:cNvPicPr>
            <a:picLocks noChangeAspect="1"/>
          </p:cNvPicPr>
          <p:nvPr/>
        </p:nvPicPr>
        <p:blipFill>
          <a:blip r:embed="rId7"/>
          <a:stretch>
            <a:fillRect/>
          </a:stretch>
        </p:blipFill>
        <p:spPr>
          <a:xfrm>
            <a:off x="866775" y="3308895"/>
            <a:ext cx="152400" cy="152400"/>
          </a:xfrm>
          <a:prstGeom prst="rect">
            <a:avLst/>
          </a:prstGeom>
        </p:spPr>
      </p:pic>
      <p:pic>
        <p:nvPicPr>
          <p:cNvPr id="17" name="Picture 16" descr="image.png"/>
          <p:cNvPicPr>
            <a:picLocks noChangeAspect="1"/>
          </p:cNvPicPr>
          <p:nvPr/>
        </p:nvPicPr>
        <p:blipFill>
          <a:blip r:embed="rId7"/>
          <a:stretch>
            <a:fillRect/>
          </a:stretch>
        </p:blipFill>
        <p:spPr>
          <a:xfrm>
            <a:off x="866775" y="3899445"/>
            <a:ext cx="152400" cy="152400"/>
          </a:xfrm>
          <a:prstGeom prst="rect">
            <a:avLst/>
          </a:prstGeom>
        </p:spPr>
      </p:pic>
      <p:pic>
        <p:nvPicPr>
          <p:cNvPr id="18" name="Picture 17" descr="image.png"/>
          <p:cNvPicPr>
            <a:picLocks noChangeAspect="1"/>
          </p:cNvPicPr>
          <p:nvPr/>
        </p:nvPicPr>
        <p:blipFill>
          <a:blip r:embed="rId7"/>
          <a:stretch>
            <a:fillRect/>
          </a:stretch>
        </p:blipFill>
        <p:spPr>
          <a:xfrm>
            <a:off x="866775" y="4489995"/>
            <a:ext cx="152400" cy="152400"/>
          </a:xfrm>
          <a:prstGeom prst="rect">
            <a:avLst/>
          </a:prstGeom>
        </p:spPr>
      </p:pic>
      <p:pic>
        <p:nvPicPr>
          <p:cNvPr id="19" name="Picture 18" descr="image.png"/>
          <p:cNvPicPr>
            <a:picLocks noChangeAspect="1"/>
          </p:cNvPicPr>
          <p:nvPr/>
        </p:nvPicPr>
        <p:blipFill>
          <a:blip r:embed="rId7"/>
          <a:stretch>
            <a:fillRect/>
          </a:stretch>
        </p:blipFill>
        <p:spPr>
          <a:xfrm>
            <a:off x="6581775" y="3308895"/>
            <a:ext cx="152400" cy="152400"/>
          </a:xfrm>
          <a:prstGeom prst="rect">
            <a:avLst/>
          </a:prstGeom>
        </p:spPr>
      </p:pic>
      <p:pic>
        <p:nvPicPr>
          <p:cNvPr id="20" name="Picture 19" descr="image.png"/>
          <p:cNvPicPr>
            <a:picLocks noChangeAspect="1"/>
          </p:cNvPicPr>
          <p:nvPr/>
        </p:nvPicPr>
        <p:blipFill>
          <a:blip r:embed="rId7"/>
          <a:stretch>
            <a:fillRect/>
          </a:stretch>
        </p:blipFill>
        <p:spPr>
          <a:xfrm>
            <a:off x="6581775" y="3899445"/>
            <a:ext cx="152400" cy="152400"/>
          </a:xfrm>
          <a:prstGeom prst="rect">
            <a:avLst/>
          </a:prstGeom>
        </p:spPr>
      </p:pic>
      <p:pic>
        <p:nvPicPr>
          <p:cNvPr id="21" name="Picture 20" descr="image.png"/>
          <p:cNvPicPr>
            <a:picLocks noChangeAspect="1"/>
          </p:cNvPicPr>
          <p:nvPr/>
        </p:nvPicPr>
        <p:blipFill>
          <a:blip r:embed="rId7"/>
          <a:stretch>
            <a:fillRect/>
          </a:stretch>
        </p:blipFill>
        <p:spPr>
          <a:xfrm>
            <a:off x="6581775" y="4489995"/>
            <a:ext cx="152400" cy="152400"/>
          </a:xfrm>
          <a:prstGeom prst="rect">
            <a:avLst/>
          </a:prstGeom>
        </p:spPr>
      </p:pic>
      <p:sp>
        <p:nvSpPr>
          <p:cNvPr id="22" name="TextBox 21"/>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dirty="0" err="1">
                <a:solidFill>
                  <a:srgbClr val="0F172A"/>
                </a:solidFill>
                <a:latin typeface="Poppins"/>
              </a:rPr>
              <a:t>Perspektif</a:t>
            </a:r>
            <a:r>
              <a:rPr sz="2550" b="1" i="0" u="none" dirty="0">
                <a:solidFill>
                  <a:srgbClr val="0F172A"/>
                </a:solidFill>
                <a:latin typeface="Poppins"/>
              </a:rPr>
              <a:t> </a:t>
            </a:r>
            <a:r>
              <a:rPr sz="2550" b="1" i="0" u="none" dirty="0" err="1">
                <a:solidFill>
                  <a:srgbClr val="0F172A"/>
                </a:solidFill>
                <a:latin typeface="Poppins"/>
              </a:rPr>
              <a:t>Manusia</a:t>
            </a:r>
            <a:endParaRPr sz="2550" b="1" i="0" u="none" dirty="0">
              <a:solidFill>
                <a:srgbClr val="0F172A"/>
              </a:solidFill>
              <a:latin typeface="Poppins"/>
            </a:endParaRPr>
          </a:p>
        </p:txBody>
      </p:sp>
      <p:sp>
        <p:nvSpPr>
          <p:cNvPr id="23" name="Rectangle 22"/>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287339"/>
            <a:ext cx="11239500" cy="942975"/>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261937" cy="266700"/>
          </a:xfrm>
          <a:prstGeom prst="rect">
            <a:avLst/>
          </a:prstGeom>
        </p:spPr>
      </p:pic>
      <p:sp>
        <p:nvSpPr>
          <p:cNvPr id="6" name="TextBox 5"/>
          <p:cNvSpPr txBox="1"/>
          <p:nvPr/>
        </p:nvSpPr>
        <p:spPr>
          <a:xfrm>
            <a:off x="476250" y="3420814"/>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SemiBold"/>
              </a:rPr>
              <a:t>Sampel Dataset (500 Pekerja):</a:t>
            </a:r>
          </a:p>
        </p:txBody>
      </p:sp>
      <p:sp>
        <p:nvSpPr>
          <p:cNvPr id="7" name="Rounded Rectangle 6"/>
          <p:cNvSpPr/>
          <p:nvPr/>
        </p:nvSpPr>
        <p:spPr>
          <a:xfrm>
            <a:off x="476250" y="3778001"/>
            <a:ext cx="11239500" cy="14097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476250" y="3778001"/>
          <a:ext cx="11229970" cy="1409700"/>
        </p:xfrm>
        <a:graphic>
          <a:graphicData uri="http://schemas.openxmlformats.org/drawingml/2006/table">
            <a:tbl>
              <a:tblPr firstRow="1" bandRow="1">
                <a:tableStyleId>{5C22544A-7EE6-4342-B048-85BDC9FD1C3A}</a:tableStyleId>
              </a:tblPr>
              <a:tblGrid>
                <a:gridCol w="1145083">
                  <a:extLst>
                    <a:ext uri="{9D8B030D-6E8A-4147-A177-3AD203B41FA5}">
                      <a16:colId xmlns:a16="http://schemas.microsoft.com/office/drawing/2014/main" val="20000"/>
                    </a:ext>
                  </a:extLst>
                </a:gridCol>
                <a:gridCol w="1665684">
                  <a:extLst>
                    <a:ext uri="{9D8B030D-6E8A-4147-A177-3AD203B41FA5}">
                      <a16:colId xmlns:a16="http://schemas.microsoft.com/office/drawing/2014/main" val="20001"/>
                    </a:ext>
                  </a:extLst>
                </a:gridCol>
                <a:gridCol w="2040433">
                  <a:extLst>
                    <a:ext uri="{9D8B030D-6E8A-4147-A177-3AD203B41FA5}">
                      <a16:colId xmlns:a16="http://schemas.microsoft.com/office/drawing/2014/main" val="20002"/>
                    </a:ext>
                  </a:extLst>
                </a:gridCol>
                <a:gridCol w="1152078">
                  <a:extLst>
                    <a:ext uri="{9D8B030D-6E8A-4147-A177-3AD203B41FA5}">
                      <a16:colId xmlns:a16="http://schemas.microsoft.com/office/drawing/2014/main" val="20003"/>
                    </a:ext>
                  </a:extLst>
                </a:gridCol>
                <a:gridCol w="1068734">
                  <a:extLst>
                    <a:ext uri="{9D8B030D-6E8A-4147-A177-3AD203B41FA5}">
                      <a16:colId xmlns:a16="http://schemas.microsoft.com/office/drawing/2014/main" val="20004"/>
                    </a:ext>
                  </a:extLst>
                </a:gridCol>
                <a:gridCol w="1526827">
                  <a:extLst>
                    <a:ext uri="{9D8B030D-6E8A-4147-A177-3AD203B41FA5}">
                      <a16:colId xmlns:a16="http://schemas.microsoft.com/office/drawing/2014/main" val="20005"/>
                    </a:ext>
                  </a:extLst>
                </a:gridCol>
                <a:gridCol w="1054893">
                  <a:extLst>
                    <a:ext uri="{9D8B030D-6E8A-4147-A177-3AD203B41FA5}">
                      <a16:colId xmlns:a16="http://schemas.microsoft.com/office/drawing/2014/main" val="20006"/>
                    </a:ext>
                  </a:extLst>
                </a:gridCol>
                <a:gridCol w="1576238">
                  <a:extLst>
                    <a:ext uri="{9D8B030D-6E8A-4147-A177-3AD203B41FA5}">
                      <a16:colId xmlns:a16="http://schemas.microsoft.com/office/drawing/2014/main" val="20007"/>
                    </a:ext>
                  </a:extLst>
                </a:gridCol>
              </a:tblGrid>
              <a:tr h="469900">
                <a:tc>
                  <a:txBody>
                    <a:bodyPr/>
                    <a:lstStyle/>
                    <a:p>
                      <a:pPr algn="l"/>
                      <a:r>
                        <a:rPr sz="1200" b="0" i="0" u="none">
                          <a:solidFill>
                            <a:srgbClr val="FFFFFF"/>
                          </a:solidFill>
                          <a:latin typeface="Inter SemiBold"/>
                        </a:rPr>
                        <a:t>Usia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Masa 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Jam Kerja/Hari</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Shift</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Tidur</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Kelelahan</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Stres</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Near Miss</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9900">
                <a:tc>
                  <a:txBody>
                    <a:bodyPr/>
                    <a:lstStyle/>
                    <a:p>
                      <a:pPr algn="l"/>
                      <a:r>
                        <a:rPr sz="1125" b="0" i="0" u="none">
                          <a:solidFill>
                            <a:srgbClr val="334155"/>
                          </a:solidFill>
                          <a:latin typeface="Inter"/>
                        </a:rPr>
                        <a:t>24 thn</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2.5 thn</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10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5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8 / 10</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7 / 10</a:t>
                      </a:r>
                    </a:p>
                  </a:txBody>
                  <a:tcPr marL="63500" marR="63500" marT="25400" marB="25400" anchor="ctr">
                    <a:lnL>
                      <a:noFill/>
                    </a:lnL>
                    <a:lnR>
                      <a:noFill/>
                    </a:lnR>
                    <a:lnT>
                      <a:noFill/>
                    </a:lnT>
                    <a:lnB>
                      <a:noFill/>
                    </a:lnB>
                    <a:noFill/>
                  </a:tcPr>
                </a:tc>
                <a:tc>
                  <a:txBody>
                    <a:bodyPr/>
                    <a:lstStyle/>
                    <a:p>
                      <a:pPr algn="l"/>
                      <a:r>
                        <a:rPr sz="1125" b="1" i="0" u="none">
                          <a:latin typeface="Inter"/>
                        </a:rPr>
                        <a:t>Ya</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9900">
                <a:tc>
                  <a:txBody>
                    <a:bodyPr/>
                    <a:lstStyle/>
                    <a:p>
                      <a:pPr algn="l"/>
                      <a:r>
                        <a:rPr sz="1125" b="0" i="0" u="none">
                          <a:solidFill>
                            <a:srgbClr val="334155"/>
                          </a:solidFill>
                          <a:latin typeface="Inter"/>
                        </a:rPr>
                        <a:t>42 thn</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8.0 thn</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8 jam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7 jam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3 / 10</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4 / 10</a:t>
                      </a:r>
                    </a:p>
                  </a:txBody>
                  <a:tcPr marL="63500" marR="63500" marT="25400" marB="25400" anchor="ctr">
                    <a:lnL>
                      <a:noFill/>
                    </a:lnL>
                    <a:lnR>
                      <a:noFill/>
                    </a:lnR>
                    <a:lnT>
                      <a:noFill/>
                    </a:lnT>
                    <a:lnB>
                      <a:noFill/>
                    </a:lnB>
                    <a:solidFill>
                      <a:srgbClr val="F8FAFC"/>
                    </a:solidFill>
                  </a:tcPr>
                </a:tc>
                <a:tc>
                  <a:txBody>
                    <a:bodyPr/>
                    <a:lstStyle/>
                    <a:p>
                      <a:pPr algn="l"/>
                      <a:r>
                        <a:rPr sz="1125" b="1" i="0" u="none">
                          <a:latin typeface="Inter"/>
                        </a:rPr>
                        <a:t>Tidak</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0" name="TextBox 9"/>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5 / 38</a:t>
            </a:r>
          </a:p>
        </p:txBody>
      </p:sp>
      <p:sp>
        <p:nvSpPr>
          <p:cNvPr id="11" name="TextBox 10"/>
          <p:cNvSpPr txBox="1"/>
          <p:nvPr/>
        </p:nvSpPr>
        <p:spPr>
          <a:xfrm>
            <a:off x="723900" y="2477839"/>
            <a:ext cx="11341417" cy="219075"/>
          </a:xfrm>
          <a:prstGeom prst="rect">
            <a:avLst/>
          </a:prstGeom>
          <a:noFill/>
        </p:spPr>
        <p:txBody>
          <a:bodyPr wrap="square" lIns="0" tIns="0" rIns="0" bIns="0" anchor="t">
            <a:spAutoFit/>
          </a:bodyPr>
          <a:lstStyle/>
          <a:p>
            <a:pPr algn="l"/>
            <a:r>
              <a:rPr sz="1404" b="1" i="0" u="none">
                <a:solidFill>
                  <a:srgbClr val="1E3A8A"/>
                </a:solidFill>
                <a:latin typeface="Plus Jakarta Sans"/>
              </a:rPr>
              <a:t>Pertanyaan Utama Perusahaan:</a:t>
            </a:r>
          </a:p>
        </p:txBody>
      </p:sp>
      <p:sp>
        <p:nvSpPr>
          <p:cNvPr id="12" name="TextBox 11"/>
          <p:cNvSpPr txBox="1"/>
          <p:nvPr/>
        </p:nvSpPr>
        <p:spPr>
          <a:xfrm>
            <a:off x="723900" y="2754064"/>
            <a:ext cx="10801350" cy="285750"/>
          </a:xfrm>
          <a:prstGeom prst="rect">
            <a:avLst/>
          </a:prstGeom>
          <a:noFill/>
        </p:spPr>
        <p:txBody>
          <a:bodyPr wrap="square" lIns="0" tIns="0" rIns="0" bIns="0" anchor="t">
            <a:spAutoFit/>
          </a:bodyPr>
          <a:lstStyle/>
          <a:p>
            <a:pPr algn="l">
              <a:lnSpc>
                <a:spcPts val="2250"/>
              </a:lnSpc>
            </a:pPr>
            <a:r>
              <a:rPr sz="1500" b="1" i="0" u="none">
                <a:solidFill>
                  <a:srgbClr val="1E3A8A"/>
                </a:solidFill>
                <a:latin typeface="Inter"/>
              </a:rPr>
              <a:t>“Mengapa sebagian pekerja lebih sering mengalami near miss (hampir celaka)?”</a:t>
            </a:r>
          </a:p>
        </p:txBody>
      </p:sp>
      <p:sp>
        <p:nvSpPr>
          <p:cNvPr id="13" name="Rectangle 12"/>
          <p:cNvSpPr/>
          <p:nvPr/>
        </p:nvSpPr>
        <p:spPr>
          <a:xfrm>
            <a:off x="481012" y="4720976"/>
            <a:ext cx="114508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26096" y="4720976"/>
            <a:ext cx="166568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91780" y="4720976"/>
            <a:ext cx="20404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332214" y="4720976"/>
            <a:ext cx="115207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84292" y="4720976"/>
            <a:ext cx="10687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3027" y="4720976"/>
            <a:ext cx="15268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79855" y="4720976"/>
            <a:ext cx="10548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134748" y="4720976"/>
            <a:ext cx="157623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Kasus</a:t>
            </a:r>
            <a:r>
              <a:rPr sz="2550" b="1" i="0" u="none" dirty="0">
                <a:solidFill>
                  <a:srgbClr val="0F172A"/>
                </a:solidFill>
                <a:latin typeface="Plus Jakarta Sans"/>
              </a:rPr>
              <a:t> Utama Near Miss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38875" y="2580233"/>
            <a:ext cx="5476875" cy="2314575"/>
          </a:xfrm>
          <a:prstGeom prst="rect">
            <a:avLst/>
          </a:prstGeom>
        </p:spPr>
      </p:pic>
      <p:pic>
        <p:nvPicPr>
          <p:cNvPr id="4" name="Picture 3" descr="image.png"/>
          <p:cNvPicPr>
            <a:picLocks noChangeAspect="1"/>
          </p:cNvPicPr>
          <p:nvPr/>
        </p:nvPicPr>
        <p:blipFill>
          <a:blip r:embed="rId4"/>
          <a:stretch>
            <a:fillRect/>
          </a:stretch>
        </p:blipFill>
        <p:spPr>
          <a:xfrm>
            <a:off x="6515100" y="3642270"/>
            <a:ext cx="4962525" cy="881062"/>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261937" cy="266700"/>
          </a:xfrm>
          <a:prstGeom prst="rect">
            <a:avLst/>
          </a:prstGeom>
        </p:spPr>
      </p:pic>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8 / 38</a:t>
            </a:r>
          </a:p>
        </p:txBody>
      </p:sp>
      <p:sp>
        <p:nvSpPr>
          <p:cNvPr id="9" name="Rounded Rectangle 8"/>
          <p:cNvSpPr/>
          <p:nvPr/>
        </p:nvSpPr>
        <p:spPr>
          <a:xfrm>
            <a:off x="476250" y="2580233"/>
            <a:ext cx="5476875" cy="23145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76250" y="2580233"/>
          <a:ext cx="5467348" cy="2314575"/>
        </p:xfrm>
        <a:graphic>
          <a:graphicData uri="http://schemas.openxmlformats.org/drawingml/2006/table">
            <a:tbl>
              <a:tblPr firstRow="1" bandRow="1">
                <a:tableStyleId>{5C22544A-7EE6-4342-B048-85BDC9FD1C3A}</a:tableStyleId>
              </a:tblPr>
              <a:tblGrid>
                <a:gridCol w="1205954">
                  <a:extLst>
                    <a:ext uri="{9D8B030D-6E8A-4147-A177-3AD203B41FA5}">
                      <a16:colId xmlns:a16="http://schemas.microsoft.com/office/drawing/2014/main" val="20000"/>
                    </a:ext>
                  </a:extLst>
                </a:gridCol>
                <a:gridCol w="750391">
                  <a:extLst>
                    <a:ext uri="{9D8B030D-6E8A-4147-A177-3AD203B41FA5}">
                      <a16:colId xmlns:a16="http://schemas.microsoft.com/office/drawing/2014/main" val="20001"/>
                    </a:ext>
                  </a:extLst>
                </a:gridCol>
                <a:gridCol w="889694">
                  <a:extLst>
                    <a:ext uri="{9D8B030D-6E8A-4147-A177-3AD203B41FA5}">
                      <a16:colId xmlns:a16="http://schemas.microsoft.com/office/drawing/2014/main" val="20002"/>
                    </a:ext>
                  </a:extLst>
                </a:gridCol>
                <a:gridCol w="1404342">
                  <a:extLst>
                    <a:ext uri="{9D8B030D-6E8A-4147-A177-3AD203B41FA5}">
                      <a16:colId xmlns:a16="http://schemas.microsoft.com/office/drawing/2014/main" val="20003"/>
                    </a:ext>
                  </a:extLst>
                </a:gridCol>
                <a:gridCol w="1216967">
                  <a:extLst>
                    <a:ext uri="{9D8B030D-6E8A-4147-A177-3AD203B41FA5}">
                      <a16:colId xmlns:a16="http://schemas.microsoft.com/office/drawing/2014/main" val="20004"/>
                    </a:ext>
                  </a:extLst>
                </a:gridCol>
              </a:tblGrid>
              <a:tr h="462915">
                <a:tc>
                  <a:txBody>
                    <a:bodyPr/>
                    <a:lstStyle/>
                    <a:p>
                      <a:pPr algn="l"/>
                      <a:r>
                        <a:rPr sz="1200" b="0" i="0" u="none">
                          <a:solidFill>
                            <a:srgbClr val="FFFFFF"/>
                          </a:solidFill>
                          <a:latin typeface="Inter SemiBold"/>
                        </a:rPr>
                        <a:t>ID Pekerja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Usia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Shift</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Durasi Tidur</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Near Miss</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2915">
                <a:tc>
                  <a:txBody>
                    <a:bodyPr/>
                    <a:lstStyle/>
                    <a:p>
                      <a:pPr algn="l"/>
                      <a:r>
                        <a:rPr sz="1125" b="0" i="0" u="none">
                          <a:solidFill>
                            <a:srgbClr val="334155"/>
                          </a:solidFill>
                          <a:latin typeface="Inter"/>
                        </a:rPr>
                        <a:t>P001</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24</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7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Tidak</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2915">
                <a:tc>
                  <a:txBody>
                    <a:bodyPr/>
                    <a:lstStyle/>
                    <a:p>
                      <a:pPr algn="l"/>
                      <a:r>
                        <a:rPr sz="1125" b="0" i="0" u="none">
                          <a:solidFill>
                            <a:srgbClr val="334155"/>
                          </a:solidFill>
                          <a:latin typeface="Inter"/>
                        </a:rPr>
                        <a:t>P002</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45</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5 jam</a:t>
                      </a:r>
                    </a:p>
                  </a:txBody>
                  <a:tcPr marL="63500" marR="63500" marT="25400" marB="25400" anchor="ctr">
                    <a:lnL>
                      <a:noFill/>
                    </a:lnL>
                    <a:lnR>
                      <a:noFill/>
                    </a:lnR>
                    <a:lnT>
                      <a:noFill/>
                    </a:lnT>
                    <a:lnB>
                      <a:noFill/>
                    </a:lnB>
                    <a:solidFill>
                      <a:srgbClr val="F8FAFC"/>
                    </a:solidFill>
                  </a:tcPr>
                </a:tc>
                <a:tc>
                  <a:txBody>
                    <a:bodyPr/>
                    <a:lstStyle/>
                    <a:p>
                      <a:pPr algn="l"/>
                      <a:r>
                        <a:rPr sz="1125" b="1" i="0" u="none">
                          <a:latin typeface="Inter"/>
                        </a:rPr>
                        <a:t>Ya</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2915">
                <a:tc>
                  <a:txBody>
                    <a:bodyPr/>
                    <a:lstStyle/>
                    <a:p>
                      <a:pPr algn="l"/>
                      <a:r>
                        <a:rPr sz="1125" b="0" i="0" u="none">
                          <a:solidFill>
                            <a:srgbClr val="334155"/>
                          </a:solidFill>
                          <a:latin typeface="Inter"/>
                        </a:rPr>
                        <a:t>P003</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31</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6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Tidak</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462915">
                <a:tc>
                  <a:txBody>
                    <a:bodyPr/>
                    <a:lstStyle/>
                    <a:p>
                      <a:pPr algn="l"/>
                      <a:r>
                        <a:rPr sz="1125" b="0" i="0" u="none">
                          <a:solidFill>
                            <a:srgbClr val="334155"/>
                          </a:solidFill>
                          <a:latin typeface="Inter"/>
                        </a:rPr>
                        <a:t>P004</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52</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4 jam</a:t>
                      </a:r>
                    </a:p>
                  </a:txBody>
                  <a:tcPr marL="63500" marR="63500" marT="25400" marB="25400" anchor="ctr">
                    <a:lnL>
                      <a:noFill/>
                    </a:lnL>
                    <a:lnR>
                      <a:noFill/>
                    </a:lnR>
                    <a:lnT>
                      <a:noFill/>
                    </a:lnT>
                    <a:lnB>
                      <a:noFill/>
                    </a:lnB>
                    <a:solidFill>
                      <a:srgbClr val="F8FAFC"/>
                    </a:solidFill>
                  </a:tcPr>
                </a:tc>
                <a:tc>
                  <a:txBody>
                    <a:bodyPr/>
                    <a:lstStyle/>
                    <a:p>
                      <a:pPr algn="l"/>
                      <a:r>
                        <a:rPr sz="1125" b="1" i="0" u="none">
                          <a:latin typeface="Inter"/>
                        </a:rPr>
                        <a:t>Ya</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515100" y="2951708"/>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Dimensi Dataset</a:t>
            </a:r>
          </a:p>
        </p:txBody>
      </p:sp>
      <p:sp>
        <p:nvSpPr>
          <p:cNvPr id="12" name="TextBox 11"/>
          <p:cNvSpPr txBox="1"/>
          <p:nvPr/>
        </p:nvSpPr>
        <p:spPr>
          <a:xfrm>
            <a:off x="6515100" y="3285083"/>
            <a:ext cx="4962525" cy="242887"/>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500 Baris × 15 Variabel</a:t>
            </a:r>
          </a:p>
        </p:txBody>
      </p:sp>
      <p:pic>
        <p:nvPicPr>
          <p:cNvPr id="13" name="Picture 12" descr="image.png"/>
          <p:cNvPicPr>
            <a:picLocks noChangeAspect="1"/>
          </p:cNvPicPr>
          <p:nvPr/>
        </p:nvPicPr>
        <p:blipFill>
          <a:blip r:embed="rId7"/>
          <a:stretch>
            <a:fillRect/>
          </a:stretch>
        </p:blipFill>
        <p:spPr>
          <a:xfrm>
            <a:off x="6515100" y="2989808"/>
            <a:ext cx="190500" cy="190500"/>
          </a:xfrm>
          <a:prstGeom prst="rect">
            <a:avLst/>
          </a:prstGeom>
        </p:spPr>
      </p:pic>
      <p:sp>
        <p:nvSpPr>
          <p:cNvPr id="14" name="TextBox 13"/>
          <p:cNvSpPr txBox="1"/>
          <p:nvPr/>
        </p:nvSpPr>
        <p:spPr>
          <a:xfrm>
            <a:off x="6648450" y="3775620"/>
            <a:ext cx="4695825" cy="214312"/>
          </a:xfrm>
          <a:prstGeom prst="rect">
            <a:avLst/>
          </a:prstGeom>
          <a:noFill/>
        </p:spPr>
        <p:txBody>
          <a:bodyPr wrap="square" lIns="0" tIns="0" rIns="0" bIns="0" anchor="t">
            <a:spAutoFit/>
          </a:bodyPr>
          <a:lstStyle/>
          <a:p>
            <a:pPr algn="l">
              <a:lnSpc>
                <a:spcPts val="1687"/>
              </a:lnSpc>
            </a:pPr>
            <a:r>
              <a:rPr sz="1125" b="0" i="0" u="none">
                <a:solidFill>
                  <a:srgbClr val="0F172A"/>
                </a:solidFill>
                <a:latin typeface="Inter SemiBold"/>
              </a:rPr>
              <a:t>Konsep Penting:</a:t>
            </a:r>
          </a:p>
        </p:txBody>
      </p:sp>
      <p:sp>
        <p:nvSpPr>
          <p:cNvPr id="15" name="TextBox 14"/>
          <p:cNvSpPr txBox="1"/>
          <p:nvPr/>
        </p:nvSpPr>
        <p:spPr>
          <a:xfrm>
            <a:off x="6648450" y="3989933"/>
            <a:ext cx="4695825" cy="400050"/>
          </a:xfrm>
          <a:prstGeom prst="rect">
            <a:avLst/>
          </a:prstGeom>
          <a:noFill/>
        </p:spPr>
        <p:txBody>
          <a:bodyPr wrap="square" lIns="0" tIns="0" rIns="0" bIns="0" anchor="t">
            <a:spAutoFit/>
          </a:bodyPr>
          <a:lstStyle/>
          <a:p>
            <a:pPr algn="l">
              <a:lnSpc>
                <a:spcPts val="1575"/>
              </a:lnSpc>
            </a:pPr>
            <a:r>
              <a:rPr sz="1050" b="0" i="0" u="none" dirty="0">
                <a:solidFill>
                  <a:srgbClr val="64748B"/>
                </a:solidFill>
                <a:latin typeface="Inter"/>
              </a:rPr>
              <a:t>"Satu baris </a:t>
            </a:r>
            <a:r>
              <a:rPr sz="1050" b="0" i="0" u="none" dirty="0" err="1">
                <a:solidFill>
                  <a:srgbClr val="64748B"/>
                </a:solidFill>
                <a:latin typeface="Inter"/>
              </a:rPr>
              <a:t>merepresentasikan</a:t>
            </a:r>
            <a:r>
              <a:rPr sz="1050" b="0" i="0" u="none" dirty="0">
                <a:solidFill>
                  <a:srgbClr val="64748B"/>
                </a:solidFill>
                <a:latin typeface="Inter"/>
              </a:rPr>
              <a:t> unit </a:t>
            </a:r>
            <a:r>
              <a:rPr sz="1050" b="0" i="0" u="none" dirty="0" err="1">
                <a:solidFill>
                  <a:srgbClr val="64748B"/>
                </a:solidFill>
                <a:latin typeface="Inter"/>
              </a:rPr>
              <a:t>analisis</a:t>
            </a:r>
            <a:r>
              <a:rPr sz="1050" b="0" i="0" u="none" dirty="0">
                <a:solidFill>
                  <a:srgbClr val="64748B"/>
                </a:solidFill>
                <a:latin typeface="Inter"/>
              </a:rPr>
              <a:t> (</a:t>
            </a:r>
            <a:r>
              <a:rPr sz="1050" b="0" i="0" u="none" dirty="0" err="1">
                <a:solidFill>
                  <a:srgbClr val="64748B"/>
                </a:solidFill>
                <a:latin typeface="Inter"/>
              </a:rPr>
              <a:t>pekerja</a:t>
            </a:r>
            <a:r>
              <a:rPr sz="1050" b="0" i="0" u="none" dirty="0">
                <a:solidFill>
                  <a:srgbClr val="64748B"/>
                </a:solidFill>
                <a:latin typeface="Inter"/>
              </a:rPr>
              <a:t>/</a:t>
            </a:r>
            <a:r>
              <a:rPr sz="1050" b="0" i="0" u="none" dirty="0" err="1">
                <a:solidFill>
                  <a:srgbClr val="64748B"/>
                </a:solidFill>
                <a:latin typeface="Inter"/>
              </a:rPr>
              <a:t>kejadian</a:t>
            </a:r>
            <a:r>
              <a:rPr sz="1050" b="0" i="0" u="none" dirty="0">
                <a:solidFill>
                  <a:srgbClr val="64748B"/>
                </a:solidFill>
                <a:latin typeface="Inter"/>
              </a:rPr>
              <a:t>/</a:t>
            </a:r>
            <a:r>
              <a:rPr sz="1050" b="0" i="0" u="none" dirty="0" err="1">
                <a:solidFill>
                  <a:srgbClr val="64748B"/>
                </a:solidFill>
                <a:latin typeface="Inter"/>
              </a:rPr>
              <a:t>aktivitas</a:t>
            </a:r>
            <a:r>
              <a:rPr sz="1050" b="0" i="0" u="none" dirty="0">
                <a:solidFill>
                  <a:srgbClr val="64748B"/>
                </a:solidFill>
                <a:latin typeface="Inter"/>
              </a:rPr>
              <a:t>) </a:t>
            </a:r>
            <a:r>
              <a:rPr sz="1050" b="0" i="0" u="none" dirty="0" err="1">
                <a:solidFill>
                  <a:srgbClr val="64748B"/>
                </a:solidFill>
                <a:latin typeface="Inter"/>
              </a:rPr>
              <a:t>sesuai</a:t>
            </a:r>
            <a:r>
              <a:rPr sz="1050" b="0" i="0" u="none" dirty="0">
                <a:solidFill>
                  <a:srgbClr val="64748B"/>
                </a:solidFill>
                <a:latin typeface="Inter"/>
              </a:rPr>
              <a:t> </a:t>
            </a:r>
            <a:r>
              <a:rPr sz="1050" b="0" i="0" u="none" dirty="0" err="1">
                <a:solidFill>
                  <a:srgbClr val="64748B"/>
                </a:solidFill>
                <a:latin typeface="Inter"/>
              </a:rPr>
              <a:t>dengan</a:t>
            </a:r>
            <a:r>
              <a:rPr sz="1050" b="0" i="0" u="none" dirty="0">
                <a:solidFill>
                  <a:srgbClr val="64748B"/>
                </a:solidFill>
                <a:latin typeface="Inter"/>
              </a:rPr>
              <a:t> </a:t>
            </a:r>
            <a:r>
              <a:rPr sz="1050" b="0" i="0" u="none" dirty="0" err="1">
                <a:solidFill>
                  <a:srgbClr val="64748B"/>
                </a:solidFill>
                <a:latin typeface="Inter"/>
              </a:rPr>
              <a:t>konteks</a:t>
            </a:r>
            <a:r>
              <a:rPr sz="1050" b="0" i="0" u="none" dirty="0">
                <a:solidFill>
                  <a:srgbClr val="64748B"/>
                </a:solidFill>
                <a:latin typeface="Inter"/>
              </a:rPr>
              <a:t> </a:t>
            </a:r>
            <a:r>
              <a:rPr sz="1050" b="0" i="0" u="none" dirty="0" err="1">
                <a:solidFill>
                  <a:srgbClr val="64748B"/>
                </a:solidFill>
                <a:latin typeface="Inter"/>
              </a:rPr>
              <a:t>pengumpulan</a:t>
            </a:r>
            <a:r>
              <a:rPr sz="1050" b="0" i="0" u="none" dirty="0">
                <a:solidFill>
                  <a:srgbClr val="64748B"/>
                </a:solidFill>
                <a:latin typeface="Inter"/>
              </a:rPr>
              <a:t> data ."</a:t>
            </a:r>
          </a:p>
        </p:txBody>
      </p:sp>
      <p:sp>
        <p:nvSpPr>
          <p:cNvPr id="16" name="Rectangle 15"/>
          <p:cNvSpPr/>
          <p:nvPr/>
        </p:nvSpPr>
        <p:spPr>
          <a:xfrm>
            <a:off x="481012" y="3523208"/>
            <a:ext cx="12059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686966" y="3523208"/>
            <a:ext cx="75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437358" y="3523208"/>
            <a:ext cx="8896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327052" y="3523208"/>
            <a:ext cx="140434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31394" y="3523208"/>
            <a:ext cx="12169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81012" y="3975645"/>
            <a:ext cx="12059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686966" y="3975645"/>
            <a:ext cx="75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437358" y="3975645"/>
            <a:ext cx="8896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27052" y="3975645"/>
            <a:ext cx="140434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31394" y="3975645"/>
            <a:ext cx="12169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81012" y="4428083"/>
            <a:ext cx="12059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86966" y="4428083"/>
            <a:ext cx="75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437358" y="4428083"/>
            <a:ext cx="8896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327052" y="4428083"/>
            <a:ext cx="140434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731394" y="4428083"/>
            <a:ext cx="12169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Step 1: Memahami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6410325"/>
            <a:ext cx="11239500" cy="257175"/>
          </a:xfrm>
          <a:prstGeom prst="rect">
            <a:avLst/>
          </a:prstGeom>
        </p:spPr>
      </p:pic>
      <p:pic>
        <p:nvPicPr>
          <p:cNvPr id="4" name="Picture 3" descr="image.png"/>
          <p:cNvPicPr>
            <a:picLocks noChangeAspect="1"/>
          </p:cNvPicPr>
          <p:nvPr/>
        </p:nvPicPr>
        <p:blipFill>
          <a:blip r:embed="rId4"/>
          <a:stretch>
            <a:fillRect/>
          </a:stretch>
        </p:blipFill>
        <p:spPr>
          <a:xfrm>
            <a:off x="476250" y="479970"/>
            <a:ext cx="261937" cy="266700"/>
          </a:xfrm>
          <a:prstGeom prst="rect">
            <a:avLst/>
          </a:prstGeom>
        </p:spPr>
      </p:pic>
      <p:sp>
        <p:nvSpPr>
          <p:cNvPr id="5" name="Rounded Rectangle 4"/>
          <p:cNvSpPr/>
          <p:nvPr/>
        </p:nvSpPr>
        <p:spPr>
          <a:xfrm>
            <a:off x="476250" y="2580233"/>
            <a:ext cx="11239500" cy="23145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76250" y="2580233"/>
          <a:ext cx="11229972" cy="2314575"/>
        </p:xfrm>
        <a:graphic>
          <a:graphicData uri="http://schemas.openxmlformats.org/drawingml/2006/table">
            <a:tbl>
              <a:tblPr firstRow="1" bandRow="1">
                <a:tableStyleId>{5C22544A-7EE6-4342-B048-85BDC9FD1C3A}</a:tableStyleId>
              </a:tblPr>
              <a:tblGrid>
                <a:gridCol w="2247304">
                  <a:extLst>
                    <a:ext uri="{9D8B030D-6E8A-4147-A177-3AD203B41FA5}">
                      <a16:colId xmlns:a16="http://schemas.microsoft.com/office/drawing/2014/main" val="20000"/>
                    </a:ext>
                  </a:extLst>
                </a:gridCol>
                <a:gridCol w="2143571">
                  <a:extLst>
                    <a:ext uri="{9D8B030D-6E8A-4147-A177-3AD203B41FA5}">
                      <a16:colId xmlns:a16="http://schemas.microsoft.com/office/drawing/2014/main" val="20001"/>
                    </a:ext>
                  </a:extLst>
                </a:gridCol>
                <a:gridCol w="3333005">
                  <a:extLst>
                    <a:ext uri="{9D8B030D-6E8A-4147-A177-3AD203B41FA5}">
                      <a16:colId xmlns:a16="http://schemas.microsoft.com/office/drawing/2014/main" val="20002"/>
                    </a:ext>
                  </a:extLst>
                </a:gridCol>
                <a:gridCol w="3506092">
                  <a:extLst>
                    <a:ext uri="{9D8B030D-6E8A-4147-A177-3AD203B41FA5}">
                      <a16:colId xmlns:a16="http://schemas.microsoft.com/office/drawing/2014/main" val="20003"/>
                    </a:ext>
                  </a:extLst>
                </a:gridCol>
              </a:tblGrid>
              <a:tr h="462915">
                <a:tc>
                  <a:txBody>
                    <a:bodyPr/>
                    <a:lstStyle/>
                    <a:p>
                      <a:pPr algn="l"/>
                      <a:r>
                        <a:rPr sz="1200" b="0" i="0" u="none">
                          <a:solidFill>
                            <a:srgbClr val="FFFFFF"/>
                          </a:solidFill>
                          <a:latin typeface="Inter SemiBold"/>
                        </a:rPr>
                        <a:t>Nama Variabel</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Tipe Skala Data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Contoh Nilai Data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Metode Analisis EDA</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2915">
                <a:tc>
                  <a:txBody>
                    <a:bodyPr/>
                    <a:lstStyle/>
                    <a:p>
                      <a:pPr algn="l"/>
                      <a:r>
                        <a:rPr sz="1125" b="0" i="0" u="none">
                          <a:solidFill>
                            <a:srgbClr val="334155"/>
                          </a:solidFill>
                          <a:latin typeface="Inter"/>
                        </a:rPr>
                        <a:t>ID Pekerja / Shift</a:t>
                      </a:r>
                    </a:p>
                  </a:txBody>
                  <a:tcPr marL="63500" marR="63500" marT="25400" marB="25400" anchor="ctr">
                    <a:lnL>
                      <a:noFill/>
                    </a:lnL>
                    <a:lnR>
                      <a:noFill/>
                    </a:lnR>
                    <a:lnT>
                      <a:noFill/>
                    </a:lnT>
                    <a:lnB>
                      <a:noFill/>
                    </a:lnB>
                    <a:noFill/>
                  </a:tcPr>
                </a:tc>
                <a:tc>
                  <a:txBody>
                    <a:bodyPr/>
                    <a:lstStyle/>
                    <a:p>
                      <a:pPr algn="l"/>
                      <a:r>
                        <a:rPr sz="1125" b="1" i="0" u="none">
                          <a:solidFill>
                            <a:srgbClr val="334155"/>
                          </a:solidFill>
                          <a:latin typeface="Inter"/>
                        </a:rPr>
                        <a:t>Nominal</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P001, Shift Malam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Frekuensi, Modus, Bar Chart</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2915">
                <a:tc>
                  <a:txBody>
                    <a:bodyPr/>
                    <a:lstStyle/>
                    <a:p>
                      <a:pPr algn="l"/>
                      <a:r>
                        <a:rPr sz="1125" b="0" i="0" u="none">
                          <a:solidFill>
                            <a:srgbClr val="334155"/>
                          </a:solidFill>
                          <a:latin typeface="Inter"/>
                        </a:rPr>
                        <a:t>Tingkat Kelelahan</a:t>
                      </a:r>
                    </a:p>
                  </a:txBody>
                  <a:tcPr marL="63500" marR="63500" marT="25400" marB="25400" anchor="ctr">
                    <a:lnL>
                      <a:noFill/>
                    </a:lnL>
                    <a:lnR>
                      <a:noFill/>
                    </a:lnR>
                    <a:lnT>
                      <a:noFill/>
                    </a:lnT>
                    <a:lnB>
                      <a:noFill/>
                    </a:lnB>
                    <a:solidFill>
                      <a:srgbClr val="F8FAFC"/>
                    </a:solidFill>
                  </a:tcPr>
                </a:tc>
                <a:tc>
                  <a:txBody>
                    <a:bodyPr/>
                    <a:lstStyle/>
                    <a:p>
                      <a:pPr algn="l"/>
                      <a:r>
                        <a:rPr sz="1125" b="1" i="0" u="none">
                          <a:solidFill>
                            <a:srgbClr val="334155"/>
                          </a:solidFill>
                          <a:latin typeface="Inter"/>
                        </a:rPr>
                        <a:t>Ordinal</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Skala 1 (Rendah) - 10 (Tinggi)</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Median, Persentil, Boxplot</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2915">
                <a:tc>
                  <a:txBody>
                    <a:bodyPr/>
                    <a:lstStyle/>
                    <a:p>
                      <a:pPr algn="l"/>
                      <a:r>
                        <a:rPr sz="1125" b="0" i="0" u="none">
                          <a:solidFill>
                            <a:srgbClr val="334155"/>
                          </a:solidFill>
                          <a:latin typeface="Inter"/>
                        </a:rPr>
                        <a:t>Usia / Jam Kerja</a:t>
                      </a:r>
                    </a:p>
                  </a:txBody>
                  <a:tcPr marL="63500" marR="63500" marT="25400" marB="25400" anchor="ctr">
                    <a:lnL>
                      <a:noFill/>
                    </a:lnL>
                    <a:lnR>
                      <a:noFill/>
                    </a:lnR>
                    <a:lnT>
                      <a:noFill/>
                    </a:lnT>
                    <a:lnB>
                      <a:noFill/>
                    </a:lnB>
                    <a:noFill/>
                  </a:tcPr>
                </a:tc>
                <a:tc>
                  <a:txBody>
                    <a:bodyPr/>
                    <a:lstStyle/>
                    <a:p>
                      <a:pPr algn="l"/>
                      <a:r>
                        <a:rPr sz="1125" b="1" i="0" u="none">
                          <a:solidFill>
                            <a:srgbClr val="334155"/>
                          </a:solidFill>
                          <a:latin typeface="Inter"/>
                        </a:rPr>
                        <a:t>Ratio</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24 tahun, 10.5 jam/hari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Mean, Std Dev, Histogram</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462915">
                <a:tc>
                  <a:txBody>
                    <a:bodyPr/>
                    <a:lstStyle/>
                    <a:p>
                      <a:pPr algn="l"/>
                      <a:r>
                        <a:rPr sz="1125" b="0" i="0" u="none">
                          <a:solidFill>
                            <a:srgbClr val="334155"/>
                          </a:solidFill>
                          <a:latin typeface="Inter"/>
                        </a:rPr>
                        <a:t>Near Miss</a:t>
                      </a:r>
                    </a:p>
                  </a:txBody>
                  <a:tcPr marL="63500" marR="63500" marT="25400" marB="25400" anchor="ctr">
                    <a:lnL>
                      <a:noFill/>
                    </a:lnL>
                    <a:lnR>
                      <a:noFill/>
                    </a:lnR>
                    <a:lnT>
                      <a:noFill/>
                    </a:lnT>
                    <a:lnB>
                      <a:noFill/>
                    </a:lnB>
                    <a:solidFill>
                      <a:srgbClr val="F8FAFC"/>
                    </a:solidFill>
                  </a:tcPr>
                </a:tc>
                <a:tc>
                  <a:txBody>
                    <a:bodyPr/>
                    <a:lstStyle/>
                    <a:p>
                      <a:pPr algn="l"/>
                      <a:r>
                        <a:rPr sz="1125" b="1" i="0" u="none">
                          <a:solidFill>
                            <a:srgbClr val="334155"/>
                          </a:solidFill>
                          <a:latin typeface="Inter"/>
                        </a:rPr>
                        <a:t>Nominal / Biner</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0 (Tidak), 1 (Ya)</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Proporsi (%), Cross-tabulation</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9 / 38</a:t>
            </a:r>
          </a:p>
        </p:txBody>
      </p:sp>
      <p:sp>
        <p:nvSpPr>
          <p:cNvPr id="9" name="Rectangle 8"/>
          <p:cNvSpPr/>
          <p:nvPr/>
        </p:nvSpPr>
        <p:spPr>
          <a:xfrm>
            <a:off x="481012" y="3523208"/>
            <a:ext cx="224730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8317" y="3523208"/>
            <a:ext cx="2143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871888" y="3523208"/>
            <a:ext cx="33330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04894" y="3523208"/>
            <a:ext cx="35060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81012" y="3975645"/>
            <a:ext cx="224730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28317" y="3975645"/>
            <a:ext cx="2143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71888" y="3975645"/>
            <a:ext cx="33330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04894" y="3975645"/>
            <a:ext cx="35060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81012" y="4428083"/>
            <a:ext cx="224730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28317" y="4428083"/>
            <a:ext cx="2143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871888" y="4428083"/>
            <a:ext cx="33330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04894" y="4428083"/>
            <a:ext cx="35060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Step 2: Memahami Tipe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356645"/>
            <a:ext cx="11239500" cy="714375"/>
          </a:xfrm>
          <a:prstGeom prst="rect">
            <a:avLst/>
          </a:prstGeom>
        </p:spPr>
      </p:pic>
      <p:pic>
        <p:nvPicPr>
          <p:cNvPr id="4" name="Picture 3" descr="image.png"/>
          <p:cNvPicPr>
            <a:picLocks noChangeAspect="1"/>
          </p:cNvPicPr>
          <p:nvPr/>
        </p:nvPicPr>
        <p:blipFill>
          <a:blip r:embed="rId4"/>
          <a:stretch>
            <a:fillRect/>
          </a:stretch>
        </p:blipFill>
        <p:spPr>
          <a:xfrm>
            <a:off x="476250" y="2404020"/>
            <a:ext cx="5476875" cy="1762125"/>
          </a:xfrm>
          <a:prstGeom prst="rect">
            <a:avLst/>
          </a:prstGeom>
        </p:spPr>
      </p:pic>
      <p:pic>
        <p:nvPicPr>
          <p:cNvPr id="5" name="Picture 4" descr="image.png"/>
          <p:cNvPicPr>
            <a:picLocks noChangeAspect="1"/>
          </p:cNvPicPr>
          <p:nvPr/>
        </p:nvPicPr>
        <p:blipFill>
          <a:blip r:embed="rId5"/>
          <a:stretch>
            <a:fillRect/>
          </a:stretch>
        </p:blipFill>
        <p:spPr>
          <a:xfrm>
            <a:off x="6238875" y="2404020"/>
            <a:ext cx="5476875" cy="1762125"/>
          </a:xfrm>
          <a:prstGeom prst="rect">
            <a:avLst/>
          </a:prstGeom>
        </p:spPr>
      </p:pic>
      <p:pic>
        <p:nvPicPr>
          <p:cNvPr id="6" name="Picture 5" descr="image.png"/>
          <p:cNvPicPr>
            <a:picLocks noChangeAspect="1"/>
          </p:cNvPicPr>
          <p:nvPr/>
        </p:nvPicPr>
        <p:blipFill>
          <a:blip r:embed="rId6"/>
          <a:stretch>
            <a:fillRect/>
          </a:stretch>
        </p:blipFill>
        <p:spPr>
          <a:xfrm>
            <a:off x="752475" y="3070770"/>
            <a:ext cx="2433637" cy="381000"/>
          </a:xfrm>
          <a:prstGeom prst="rect">
            <a:avLst/>
          </a:prstGeom>
        </p:spPr>
      </p:pic>
      <p:pic>
        <p:nvPicPr>
          <p:cNvPr id="7" name="Picture 6" descr="image.png"/>
          <p:cNvPicPr>
            <a:picLocks noChangeAspect="1"/>
          </p:cNvPicPr>
          <p:nvPr/>
        </p:nvPicPr>
        <p:blipFill>
          <a:blip r:embed="rId7"/>
          <a:stretch>
            <a:fillRect/>
          </a:stretch>
        </p:blipFill>
        <p:spPr>
          <a:xfrm>
            <a:off x="3281362" y="3070770"/>
            <a:ext cx="2433637" cy="381000"/>
          </a:xfrm>
          <a:prstGeom prst="rect">
            <a:avLst/>
          </a:prstGeom>
        </p:spPr>
      </p:pic>
      <p:pic>
        <p:nvPicPr>
          <p:cNvPr id="8" name="Picture 7" descr="image.png"/>
          <p:cNvPicPr>
            <a:picLocks noChangeAspect="1"/>
          </p:cNvPicPr>
          <p:nvPr/>
        </p:nvPicPr>
        <p:blipFill>
          <a:blip r:embed="rId8"/>
          <a:stretch>
            <a:fillRect/>
          </a:stretch>
        </p:blipFill>
        <p:spPr>
          <a:xfrm>
            <a:off x="752475" y="3547020"/>
            <a:ext cx="2433637" cy="381000"/>
          </a:xfrm>
          <a:prstGeom prst="rect">
            <a:avLst/>
          </a:prstGeom>
        </p:spPr>
      </p:pic>
      <p:pic>
        <p:nvPicPr>
          <p:cNvPr id="9" name="Picture 8" descr="image.png"/>
          <p:cNvPicPr>
            <a:picLocks noChangeAspect="1"/>
          </p:cNvPicPr>
          <p:nvPr/>
        </p:nvPicPr>
        <p:blipFill>
          <a:blip r:embed="rId9"/>
          <a:stretch>
            <a:fillRect/>
          </a:stretch>
        </p:blipFill>
        <p:spPr>
          <a:xfrm>
            <a:off x="3281362" y="3547020"/>
            <a:ext cx="2433637" cy="381000"/>
          </a:xfrm>
          <a:prstGeom prst="rect">
            <a:avLst/>
          </a:prstGeom>
        </p:spPr>
      </p:pic>
      <p:pic>
        <p:nvPicPr>
          <p:cNvPr id="10" name="Picture 9" descr="image.png"/>
          <p:cNvPicPr>
            <a:picLocks noChangeAspect="1"/>
          </p:cNvPicPr>
          <p:nvPr/>
        </p:nvPicPr>
        <p:blipFill>
          <a:blip r:embed="rId10"/>
          <a:stretch>
            <a:fillRect/>
          </a:stretch>
        </p:blipFill>
        <p:spPr>
          <a:xfrm>
            <a:off x="6515100" y="3070770"/>
            <a:ext cx="2433637" cy="381000"/>
          </a:xfrm>
          <a:prstGeom prst="rect">
            <a:avLst/>
          </a:prstGeom>
        </p:spPr>
      </p:pic>
      <p:pic>
        <p:nvPicPr>
          <p:cNvPr id="11" name="Picture 10" descr="image.png"/>
          <p:cNvPicPr>
            <a:picLocks noChangeAspect="1"/>
          </p:cNvPicPr>
          <p:nvPr/>
        </p:nvPicPr>
        <p:blipFill>
          <a:blip r:embed="rId11"/>
          <a:stretch>
            <a:fillRect/>
          </a:stretch>
        </p:blipFill>
        <p:spPr>
          <a:xfrm>
            <a:off x="9043987" y="3070770"/>
            <a:ext cx="2433637" cy="381000"/>
          </a:xfrm>
          <a:prstGeom prst="rect">
            <a:avLst/>
          </a:prstGeom>
        </p:spPr>
      </p:pic>
      <p:pic>
        <p:nvPicPr>
          <p:cNvPr id="12" name="Picture 11" descr="image.png"/>
          <p:cNvPicPr>
            <a:picLocks noChangeAspect="1"/>
          </p:cNvPicPr>
          <p:nvPr/>
        </p:nvPicPr>
        <p:blipFill>
          <a:blip r:embed="rId12"/>
          <a:stretch>
            <a:fillRect/>
          </a:stretch>
        </p:blipFill>
        <p:spPr>
          <a:xfrm>
            <a:off x="6515100" y="3547020"/>
            <a:ext cx="2433637" cy="381000"/>
          </a:xfrm>
          <a:prstGeom prst="rect">
            <a:avLst/>
          </a:prstGeom>
        </p:spPr>
      </p:pic>
      <p:pic>
        <p:nvPicPr>
          <p:cNvPr id="13" name="Picture 12" descr="image.png"/>
          <p:cNvPicPr>
            <a:picLocks noChangeAspect="1"/>
          </p:cNvPicPr>
          <p:nvPr/>
        </p:nvPicPr>
        <p:blipFill>
          <a:blip r:embed="rId13"/>
          <a:stretch>
            <a:fillRect/>
          </a:stretch>
        </p:blipFill>
        <p:spPr>
          <a:xfrm>
            <a:off x="9043987" y="3547020"/>
            <a:ext cx="2433637" cy="381000"/>
          </a:xfrm>
          <a:prstGeom prst="rect">
            <a:avLst/>
          </a:prstGeom>
        </p:spPr>
      </p:pic>
      <p:pic>
        <p:nvPicPr>
          <p:cNvPr id="14" name="Picture 13" descr="image.png"/>
          <p:cNvPicPr>
            <a:picLocks noChangeAspect="1"/>
          </p:cNvPicPr>
          <p:nvPr/>
        </p:nvPicPr>
        <p:blipFill>
          <a:blip r:embed="rId14"/>
          <a:stretch>
            <a:fillRect/>
          </a:stretch>
        </p:blipFill>
        <p:spPr>
          <a:xfrm>
            <a:off x="476250" y="6410325"/>
            <a:ext cx="11239500" cy="257175"/>
          </a:xfrm>
          <a:prstGeom prst="rect">
            <a:avLst/>
          </a:prstGeom>
        </p:spPr>
      </p:pic>
      <p:pic>
        <p:nvPicPr>
          <p:cNvPr id="15" name="Picture 14" descr="image.png"/>
          <p:cNvPicPr>
            <a:picLocks noChangeAspect="1"/>
          </p:cNvPicPr>
          <p:nvPr/>
        </p:nvPicPr>
        <p:blipFill>
          <a:blip r:embed="rId15"/>
          <a:stretch>
            <a:fillRect/>
          </a:stretch>
        </p:blipFill>
        <p:spPr>
          <a:xfrm>
            <a:off x="476250" y="479970"/>
            <a:ext cx="195262" cy="266700"/>
          </a:xfrm>
          <a:prstGeom prst="rect">
            <a:avLst/>
          </a:prstGeom>
        </p:spPr>
      </p:pic>
      <p:sp>
        <p:nvSpPr>
          <p:cNvPr id="16" name="TextBox 1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7" name="TextBox 16"/>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12 / 38</a:t>
            </a:r>
          </a:p>
        </p:txBody>
      </p:sp>
      <p:sp>
        <p:nvSpPr>
          <p:cNvPr id="18" name="TextBox 17"/>
          <p:cNvSpPr txBox="1"/>
          <p:nvPr/>
        </p:nvSpPr>
        <p:spPr>
          <a:xfrm>
            <a:off x="619125" y="4499520"/>
            <a:ext cx="10953750" cy="201594"/>
          </a:xfrm>
          <a:prstGeom prst="rect">
            <a:avLst/>
          </a:prstGeom>
          <a:noFill/>
        </p:spPr>
        <p:txBody>
          <a:bodyPr wrap="square" lIns="0" tIns="0" rIns="0" bIns="0" anchor="t">
            <a:spAutoFit/>
          </a:bodyPr>
          <a:lstStyle/>
          <a:p>
            <a:pPr algn="l">
              <a:lnSpc>
                <a:spcPts val="1687"/>
              </a:lnSpc>
            </a:pPr>
            <a:r>
              <a:rPr sz="1125" b="1" i="0" u="none" dirty="0" err="1">
                <a:solidFill>
                  <a:srgbClr val="856404"/>
                </a:solidFill>
                <a:latin typeface="Inter"/>
              </a:rPr>
              <a:t>Catatan</a:t>
            </a:r>
            <a:r>
              <a:rPr sz="1125" b="1" i="0" u="none" dirty="0">
                <a:solidFill>
                  <a:srgbClr val="856404"/>
                </a:solidFill>
                <a:latin typeface="Inter"/>
              </a:rPr>
              <a:t> :</a:t>
            </a:r>
            <a:r>
              <a:rPr sz="1125" b="0" i="0" u="none" dirty="0">
                <a:solidFill>
                  <a:srgbClr val="856404"/>
                </a:solidFill>
                <a:latin typeface="Inter"/>
              </a:rPr>
              <a:t> Nilai rata-rata 9.2 jam </a:t>
            </a:r>
            <a:r>
              <a:rPr sz="1125" b="0" i="0" u="none" dirty="0" err="1">
                <a:solidFill>
                  <a:srgbClr val="856404"/>
                </a:solidFill>
                <a:latin typeface="Inter"/>
              </a:rPr>
              <a:t>tidak</a:t>
            </a:r>
            <a:r>
              <a:rPr sz="1125" b="0" i="0" u="none" dirty="0">
                <a:solidFill>
                  <a:srgbClr val="856404"/>
                </a:solidFill>
                <a:latin typeface="Inter"/>
              </a:rPr>
              <a:t> </a:t>
            </a:r>
            <a:r>
              <a:rPr sz="1125" b="0" i="0" u="none" dirty="0" err="1">
                <a:solidFill>
                  <a:srgbClr val="856404"/>
                </a:solidFill>
                <a:latin typeface="Inter"/>
              </a:rPr>
              <a:t>berarti</a:t>
            </a:r>
            <a:r>
              <a:rPr sz="1125" b="0" i="0" u="none" dirty="0">
                <a:solidFill>
                  <a:srgbClr val="856404"/>
                </a:solidFill>
                <a:latin typeface="Inter"/>
              </a:rPr>
              <a:t> </a:t>
            </a:r>
            <a:r>
              <a:rPr sz="1125" b="0" i="0" u="none" dirty="0" err="1">
                <a:solidFill>
                  <a:srgbClr val="856404"/>
                </a:solidFill>
                <a:latin typeface="Inter"/>
              </a:rPr>
              <a:t>seluruh</a:t>
            </a:r>
            <a:r>
              <a:rPr sz="1125" b="0" i="0" u="none" dirty="0">
                <a:solidFill>
                  <a:srgbClr val="856404"/>
                </a:solidFill>
                <a:latin typeface="Inter"/>
              </a:rPr>
              <a:t> </a:t>
            </a:r>
            <a:r>
              <a:rPr sz="1125" b="0" i="0" u="none" dirty="0" err="1">
                <a:solidFill>
                  <a:srgbClr val="856404"/>
                </a:solidFill>
                <a:latin typeface="Inter"/>
              </a:rPr>
              <a:t>pekerja</a:t>
            </a:r>
            <a:r>
              <a:rPr sz="1125" b="0" i="0" u="none" dirty="0">
                <a:solidFill>
                  <a:srgbClr val="856404"/>
                </a:solidFill>
                <a:latin typeface="Inter"/>
              </a:rPr>
              <a:t> </a:t>
            </a:r>
            <a:r>
              <a:rPr sz="1125" b="0" i="0" u="none" dirty="0" err="1">
                <a:solidFill>
                  <a:srgbClr val="856404"/>
                </a:solidFill>
                <a:latin typeface="Inter"/>
              </a:rPr>
              <a:t>aman</a:t>
            </a:r>
            <a:r>
              <a:rPr sz="1125" b="0" i="0" u="none" dirty="0">
                <a:solidFill>
                  <a:srgbClr val="856404"/>
                </a:solidFill>
                <a:latin typeface="Inter"/>
              </a:rPr>
              <a:t>. Kita </a:t>
            </a:r>
            <a:r>
              <a:rPr sz="1125" b="0" i="0" u="none" dirty="0" err="1">
                <a:solidFill>
                  <a:srgbClr val="856404"/>
                </a:solidFill>
                <a:latin typeface="Inter"/>
              </a:rPr>
              <a:t>wajib</a:t>
            </a:r>
            <a:r>
              <a:rPr sz="1125" b="0" i="0" u="none" dirty="0">
                <a:solidFill>
                  <a:srgbClr val="856404"/>
                </a:solidFill>
                <a:latin typeface="Inter"/>
              </a:rPr>
              <a:t> </a:t>
            </a:r>
            <a:r>
              <a:rPr sz="1125" b="0" i="0" u="none" dirty="0" err="1">
                <a:solidFill>
                  <a:srgbClr val="856404"/>
                </a:solidFill>
                <a:latin typeface="Inter"/>
              </a:rPr>
              <a:t>melihat</a:t>
            </a:r>
            <a:r>
              <a:rPr sz="1125" b="0" i="0" u="none" dirty="0">
                <a:solidFill>
                  <a:srgbClr val="856404"/>
                </a:solidFill>
                <a:latin typeface="Inter"/>
              </a:rPr>
              <a:t> </a:t>
            </a:r>
            <a:r>
              <a:rPr sz="1125" b="0" i="0" u="none" dirty="0" err="1">
                <a:solidFill>
                  <a:srgbClr val="856404"/>
                </a:solidFill>
                <a:latin typeface="Inter"/>
              </a:rPr>
              <a:t>penyebaran</a:t>
            </a:r>
            <a:r>
              <a:rPr sz="1125" b="0" i="0" u="none" dirty="0">
                <a:solidFill>
                  <a:srgbClr val="856404"/>
                </a:solidFill>
                <a:latin typeface="Inter"/>
              </a:rPr>
              <a:t> </a:t>
            </a:r>
            <a:r>
              <a:rPr sz="1125" b="0" i="0" u="none" dirty="0" err="1">
                <a:solidFill>
                  <a:srgbClr val="856404"/>
                </a:solidFill>
                <a:latin typeface="Inter"/>
              </a:rPr>
              <a:t>untuk</a:t>
            </a:r>
            <a:r>
              <a:rPr sz="1125" b="0" i="0" u="none" dirty="0">
                <a:solidFill>
                  <a:srgbClr val="856404"/>
                </a:solidFill>
                <a:latin typeface="Inter"/>
              </a:rPr>
              <a:t> </a:t>
            </a:r>
            <a:r>
              <a:rPr sz="1125" b="0" i="0" u="none" dirty="0" err="1">
                <a:solidFill>
                  <a:srgbClr val="856404"/>
                </a:solidFill>
                <a:latin typeface="Inter"/>
              </a:rPr>
              <a:t>menemukan</a:t>
            </a:r>
            <a:r>
              <a:rPr sz="1125" b="0" i="0" u="none" dirty="0">
                <a:solidFill>
                  <a:srgbClr val="856404"/>
                </a:solidFill>
                <a:latin typeface="Inter"/>
              </a:rPr>
              <a:t> </a:t>
            </a:r>
            <a:r>
              <a:rPr sz="1125" b="0" i="0" u="none" dirty="0" err="1">
                <a:solidFill>
                  <a:srgbClr val="856404"/>
                </a:solidFill>
                <a:latin typeface="Inter"/>
              </a:rPr>
              <a:t>kelompok</a:t>
            </a:r>
            <a:r>
              <a:rPr sz="1125" b="0" i="0" u="none" dirty="0">
                <a:solidFill>
                  <a:srgbClr val="856404"/>
                </a:solidFill>
                <a:latin typeface="Inter"/>
              </a:rPr>
              <a:t> </a:t>
            </a:r>
            <a:r>
              <a:rPr sz="1125" b="0" i="0" u="none" dirty="0" err="1">
                <a:solidFill>
                  <a:srgbClr val="856404"/>
                </a:solidFill>
                <a:latin typeface="Inter"/>
              </a:rPr>
              <a:t>pekerja</a:t>
            </a:r>
            <a:r>
              <a:rPr sz="1125" b="0" i="0" u="none" dirty="0">
                <a:solidFill>
                  <a:srgbClr val="856404"/>
                </a:solidFill>
                <a:latin typeface="Inter"/>
              </a:rPr>
              <a:t> yang </a:t>
            </a:r>
            <a:r>
              <a:rPr sz="1125" b="0" i="0" u="none" dirty="0" err="1">
                <a:solidFill>
                  <a:srgbClr val="856404"/>
                </a:solidFill>
                <a:latin typeface="Inter"/>
              </a:rPr>
              <a:t>bekerja</a:t>
            </a:r>
            <a:r>
              <a:rPr sz="1125" b="0" i="0" u="none" dirty="0">
                <a:solidFill>
                  <a:srgbClr val="856404"/>
                </a:solidFill>
                <a:latin typeface="Inter"/>
              </a:rPr>
              <a:t> </a:t>
            </a:r>
            <a:r>
              <a:rPr sz="1125" b="0" i="0" u="none" dirty="0" err="1">
                <a:solidFill>
                  <a:srgbClr val="856404"/>
                </a:solidFill>
                <a:latin typeface="Inter"/>
              </a:rPr>
              <a:t>hingga</a:t>
            </a:r>
            <a:r>
              <a:rPr sz="1125" b="0" i="0" u="none" dirty="0">
                <a:solidFill>
                  <a:srgbClr val="856404"/>
                </a:solidFill>
                <a:latin typeface="Inter"/>
              </a:rPr>
              <a:t> 15 jam per </a:t>
            </a:r>
            <a:r>
              <a:rPr sz="1125" b="0" i="0" u="none" dirty="0" err="1">
                <a:solidFill>
                  <a:srgbClr val="856404"/>
                </a:solidFill>
                <a:latin typeface="Inter"/>
              </a:rPr>
              <a:t>hari</a:t>
            </a:r>
            <a:r>
              <a:rPr sz="1125" b="0" i="0" u="none" dirty="0">
                <a:solidFill>
                  <a:srgbClr val="856404"/>
                </a:solidFill>
                <a:latin typeface="Inter"/>
              </a:rPr>
              <a:t>!</a:t>
            </a:r>
          </a:p>
        </p:txBody>
      </p:sp>
      <p:sp>
        <p:nvSpPr>
          <p:cNvPr id="19" name="TextBox 18"/>
          <p:cNvSpPr txBox="1"/>
          <p:nvPr/>
        </p:nvSpPr>
        <p:spPr>
          <a:xfrm>
            <a:off x="752475" y="2642145"/>
            <a:ext cx="5210651" cy="238125"/>
          </a:xfrm>
          <a:prstGeom prst="rect">
            <a:avLst/>
          </a:prstGeom>
          <a:noFill/>
        </p:spPr>
        <p:txBody>
          <a:bodyPr wrap="square" lIns="0" tIns="0" rIns="0" bIns="0" anchor="t">
            <a:spAutoFit/>
          </a:bodyPr>
          <a:lstStyle/>
          <a:p>
            <a:pPr algn="l"/>
            <a:r>
              <a:rPr sz="1500" b="1" i="0" u="none">
                <a:solidFill>
                  <a:srgbClr val="0F172A"/>
                </a:solidFill>
                <a:latin typeface="Plus Jakarta Sans"/>
              </a:rPr>
              <a:t>Durasi Kerja (Jam/Hari)</a:t>
            </a:r>
          </a:p>
        </p:txBody>
      </p:sp>
      <p:sp>
        <p:nvSpPr>
          <p:cNvPr id="20" name="TextBox 19"/>
          <p:cNvSpPr txBox="1"/>
          <p:nvPr/>
        </p:nvSpPr>
        <p:spPr>
          <a:xfrm>
            <a:off x="6515100" y="2642145"/>
            <a:ext cx="5210651" cy="238125"/>
          </a:xfrm>
          <a:prstGeom prst="rect">
            <a:avLst/>
          </a:prstGeom>
          <a:noFill/>
        </p:spPr>
        <p:txBody>
          <a:bodyPr wrap="square" lIns="0" tIns="0" rIns="0" bIns="0" anchor="t">
            <a:spAutoFit/>
          </a:bodyPr>
          <a:lstStyle/>
          <a:p>
            <a:pPr algn="l"/>
            <a:r>
              <a:rPr sz="1500" b="1" i="0" u="none">
                <a:solidFill>
                  <a:srgbClr val="0F172A"/>
                </a:solidFill>
                <a:latin typeface="Plus Jakarta Sans"/>
              </a:rPr>
              <a:t>Durasi Tidur (Jam/Malam)</a:t>
            </a:r>
          </a:p>
        </p:txBody>
      </p:sp>
      <p:sp>
        <p:nvSpPr>
          <p:cNvPr id="21" name="TextBox 20"/>
          <p:cNvSpPr txBox="1"/>
          <p:nvPr/>
        </p:nvSpPr>
        <p:spPr>
          <a:xfrm>
            <a:off x="785812" y="419100"/>
            <a:ext cx="11406187"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Statistik</a:t>
            </a:r>
            <a:r>
              <a:rPr sz="2550" b="1" i="0" u="none" dirty="0">
                <a:solidFill>
                  <a:srgbClr val="0F172A"/>
                </a:solidFill>
                <a:latin typeface="Plus Jakarta Sans"/>
              </a:rPr>
              <a:t> </a:t>
            </a:r>
            <a:r>
              <a:rPr sz="2550" b="1" i="0" u="none" dirty="0" err="1">
                <a:solidFill>
                  <a:srgbClr val="0F172A"/>
                </a:solidFill>
                <a:latin typeface="Plus Jakarta Sans"/>
              </a:rPr>
              <a:t>Deskriptif</a:t>
            </a:r>
            <a:endParaRPr sz="2550" b="1" i="0" u="none" dirty="0">
              <a:solidFill>
                <a:srgbClr val="0F172A"/>
              </a:solidFill>
              <a:latin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38875" y="2563564"/>
            <a:ext cx="5476875" cy="2347912"/>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300037" cy="266700"/>
          </a:xfrm>
          <a:prstGeom prst="rect">
            <a:avLst/>
          </a:prstGeom>
        </p:spPr>
      </p:pic>
      <p:sp>
        <p:nvSpPr>
          <p:cNvPr id="6" name="TextBox 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7" name="TextBox 6"/>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10 / 38</a:t>
            </a:r>
          </a:p>
        </p:txBody>
      </p:sp>
      <p:sp>
        <p:nvSpPr>
          <p:cNvPr id="8" name="TextBox 7"/>
          <p:cNvSpPr txBox="1"/>
          <p:nvPr/>
        </p:nvSpPr>
        <p:spPr>
          <a:xfrm>
            <a:off x="476250" y="2563564"/>
            <a:ext cx="5750718" cy="219075"/>
          </a:xfrm>
          <a:prstGeom prst="rect">
            <a:avLst/>
          </a:prstGeom>
          <a:noFill/>
        </p:spPr>
        <p:txBody>
          <a:bodyPr wrap="square" lIns="0" tIns="0" rIns="0" bIns="0" anchor="t">
            <a:spAutoFit/>
          </a:bodyPr>
          <a:lstStyle/>
          <a:p>
            <a:pPr algn="l"/>
            <a:r>
              <a:rPr sz="1404" b="1" i="0" u="none">
                <a:solidFill>
                  <a:srgbClr val="334155"/>
                </a:solidFill>
                <a:latin typeface="Plus Jakarta Sans"/>
              </a:rPr>
              <a:t>Laporan Nilai Hilang (Missing):</a:t>
            </a:r>
          </a:p>
        </p:txBody>
      </p:sp>
      <p:sp>
        <p:nvSpPr>
          <p:cNvPr id="9" name="Rounded Rectangle 8"/>
          <p:cNvSpPr/>
          <p:nvPr/>
        </p:nvSpPr>
        <p:spPr>
          <a:xfrm>
            <a:off x="476250" y="2896939"/>
            <a:ext cx="5476875" cy="1862137"/>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76250" y="2896939"/>
          <a:ext cx="5467348" cy="1862137"/>
        </p:xfrm>
        <a:graphic>
          <a:graphicData uri="http://schemas.openxmlformats.org/drawingml/2006/table">
            <a:tbl>
              <a:tblPr firstRow="1" bandRow="1">
                <a:tableStyleId>{5C22544A-7EE6-4342-B048-85BDC9FD1C3A}</a:tableStyleId>
              </a:tblPr>
              <a:tblGrid>
                <a:gridCol w="1705867">
                  <a:extLst>
                    <a:ext uri="{9D8B030D-6E8A-4147-A177-3AD203B41FA5}">
                      <a16:colId xmlns:a16="http://schemas.microsoft.com/office/drawing/2014/main" val="20000"/>
                    </a:ext>
                  </a:extLst>
                </a:gridCol>
                <a:gridCol w="2151310">
                  <a:extLst>
                    <a:ext uri="{9D8B030D-6E8A-4147-A177-3AD203B41FA5}">
                      <a16:colId xmlns:a16="http://schemas.microsoft.com/office/drawing/2014/main" val="20001"/>
                    </a:ext>
                  </a:extLst>
                </a:gridCol>
                <a:gridCol w="1610171">
                  <a:extLst>
                    <a:ext uri="{9D8B030D-6E8A-4147-A177-3AD203B41FA5}">
                      <a16:colId xmlns:a16="http://schemas.microsoft.com/office/drawing/2014/main" val="20002"/>
                    </a:ext>
                  </a:extLst>
                </a:gridCol>
              </a:tblGrid>
              <a:tr h="465534">
                <a:tc>
                  <a:txBody>
                    <a:bodyPr/>
                    <a:lstStyle/>
                    <a:p>
                      <a:pPr algn="l"/>
                      <a:r>
                        <a:rPr sz="1200" b="0" i="0" u="none">
                          <a:solidFill>
                            <a:srgbClr val="FFFFFF"/>
                          </a:solidFill>
                          <a:latin typeface="Inter SemiBold"/>
                        </a:rPr>
                        <a:t>Variabel</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Missing</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 Missing</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5534">
                <a:tc>
                  <a:txBody>
                    <a:bodyPr/>
                    <a:lstStyle/>
                    <a:p>
                      <a:pPr algn="l"/>
                      <a:r>
                        <a:rPr sz="1125" b="0" i="0" u="none">
                          <a:solidFill>
                            <a:srgbClr val="334155"/>
                          </a:solidFill>
                          <a:latin typeface="Inter"/>
                        </a:rPr>
                        <a:t>Usia</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0.4%</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5534">
                <a:tc>
                  <a:txBody>
                    <a:bodyPr/>
                    <a:lstStyle/>
                    <a:p>
                      <a:pPr algn="l"/>
                      <a:r>
                        <a:rPr sz="1125" b="0" i="0" u="none">
                          <a:solidFill>
                            <a:srgbClr val="334155"/>
                          </a:solidFill>
                          <a:latin typeface="Inter"/>
                        </a:rPr>
                        <a:t>Durasi Tidur</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18</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3.6%</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5535">
                <a:tc>
                  <a:txBody>
                    <a:bodyPr/>
                    <a:lstStyle/>
                    <a:p>
                      <a:pPr algn="l"/>
                      <a:r>
                        <a:rPr sz="1125" b="0" i="0" u="none">
                          <a:solidFill>
                            <a:srgbClr val="334155"/>
                          </a:solidFill>
                          <a:latin typeface="Inter"/>
                        </a:rPr>
                        <a:t>Stres Kerja</a:t>
                      </a:r>
                    </a:p>
                  </a:txBody>
                  <a:tcPr marL="63500" marR="63500" marT="25400" marB="25400" anchor="ctr">
                    <a:lnL>
                      <a:noFill/>
                    </a:lnL>
                    <a:lnR>
                      <a:noFill/>
                    </a:lnR>
                    <a:lnT>
                      <a:noFill/>
                    </a:lnT>
                    <a:lnB>
                      <a:noFill/>
                    </a:lnB>
                    <a:noFill/>
                  </a:tcPr>
                </a:tc>
                <a:tc>
                  <a:txBody>
                    <a:bodyPr/>
                    <a:lstStyle/>
                    <a:p>
                      <a:pPr algn="l"/>
                      <a:r>
                        <a:rPr sz="1125" b="1" i="0" u="none">
                          <a:latin typeface="Inter"/>
                        </a:rPr>
                        <a:t>23</a:t>
                      </a:r>
                    </a:p>
                  </a:txBody>
                  <a:tcPr marL="63500" marR="63500" marT="25400" marB="25400" anchor="ctr">
                    <a:lnL>
                      <a:noFill/>
                    </a:lnL>
                    <a:lnR>
                      <a:noFill/>
                    </a:lnR>
                    <a:lnT>
                      <a:noFill/>
                    </a:lnT>
                    <a:lnB>
                      <a:noFill/>
                    </a:lnB>
                    <a:noFill/>
                  </a:tcPr>
                </a:tc>
                <a:tc>
                  <a:txBody>
                    <a:bodyPr/>
                    <a:lstStyle/>
                    <a:p>
                      <a:pPr algn="l"/>
                      <a:r>
                        <a:rPr sz="1125" b="1" i="0" u="none">
                          <a:latin typeface="Inter"/>
                        </a:rPr>
                        <a:t>4.6%</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515100" y="2801689"/>
            <a:ext cx="5210651" cy="238125"/>
          </a:xfrm>
          <a:prstGeom prst="rect">
            <a:avLst/>
          </a:prstGeom>
          <a:noFill/>
        </p:spPr>
        <p:txBody>
          <a:bodyPr wrap="square" lIns="238125" tIns="0" rIns="0" bIns="0" anchor="t">
            <a:spAutoFit/>
          </a:bodyPr>
          <a:lstStyle/>
          <a:p>
            <a:pPr algn="l"/>
            <a:r>
              <a:rPr sz="1500" b="1" i="0" u="none" dirty="0" err="1">
                <a:solidFill>
                  <a:srgbClr val="0F172A"/>
                </a:solidFill>
                <a:latin typeface="Plus Jakarta Sans"/>
              </a:rPr>
              <a:t>Perspektif</a:t>
            </a:r>
            <a:r>
              <a:rPr sz="1500" b="1" i="0" u="none" dirty="0">
                <a:solidFill>
                  <a:srgbClr val="0F172A"/>
                </a:solidFill>
                <a:latin typeface="Plus Jakarta Sans"/>
              </a:rPr>
              <a:t>  pada Missing Value</a:t>
            </a:r>
          </a:p>
        </p:txBody>
      </p:sp>
      <p:sp>
        <p:nvSpPr>
          <p:cNvPr id="12" name="TextBox 11"/>
          <p:cNvSpPr txBox="1"/>
          <p:nvPr/>
        </p:nvSpPr>
        <p:spPr>
          <a:xfrm>
            <a:off x="6515100" y="3135064"/>
            <a:ext cx="49625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Missing value bukan sekadar kesalahan teknis yang dibuang.</a:t>
            </a:r>
          </a:p>
        </p:txBody>
      </p:sp>
      <p:pic>
        <p:nvPicPr>
          <p:cNvPr id="13" name="Picture 12" descr="image.png"/>
          <p:cNvPicPr>
            <a:picLocks noChangeAspect="1"/>
          </p:cNvPicPr>
          <p:nvPr/>
        </p:nvPicPr>
        <p:blipFill>
          <a:blip r:embed="rId6"/>
          <a:stretch>
            <a:fillRect/>
          </a:stretch>
        </p:blipFill>
        <p:spPr>
          <a:xfrm>
            <a:off x="6515100" y="2839789"/>
            <a:ext cx="238125" cy="190500"/>
          </a:xfrm>
          <a:prstGeom prst="rect">
            <a:avLst/>
          </a:prstGeom>
        </p:spPr>
      </p:pic>
      <p:sp>
        <p:nvSpPr>
          <p:cNvPr id="14" name="TextBox 13"/>
          <p:cNvSpPr txBox="1"/>
          <p:nvPr/>
        </p:nvSpPr>
        <p:spPr>
          <a:xfrm>
            <a:off x="6781800" y="3473201"/>
            <a:ext cx="4695825"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Stres tidak diisi:</a:t>
            </a:r>
            <a:r>
              <a:rPr sz="1275" b="0" i="0" u="none">
                <a:solidFill>
                  <a:srgbClr val="334155"/>
                </a:solidFill>
                <a:latin typeface="Inter"/>
              </a:rPr>
              <a:t> Pekerja ragu/takut dinilai negatif oleh manajemen.</a:t>
            </a:r>
          </a:p>
        </p:txBody>
      </p:sp>
      <p:sp>
        <p:nvSpPr>
          <p:cNvPr id="15" name="TextBox 14"/>
          <p:cNvSpPr txBox="1"/>
          <p:nvPr/>
        </p:nvSpPr>
        <p:spPr>
          <a:xfrm>
            <a:off x="6781800" y="4073276"/>
            <a:ext cx="4695825"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Survei terburu-buru:</a:t>
            </a:r>
            <a:r>
              <a:rPr sz="1275" b="0" i="0" u="none">
                <a:solidFill>
                  <a:srgbClr val="334155"/>
                </a:solidFill>
                <a:latin typeface="Inter"/>
              </a:rPr>
              <a:t> Beban kerja terlalu tinggi sehingga survei diabaikan.</a:t>
            </a:r>
          </a:p>
        </p:txBody>
      </p:sp>
      <p:sp>
        <p:nvSpPr>
          <p:cNvPr id="16" name="Rectangle 15"/>
          <p:cNvSpPr/>
          <p:nvPr/>
        </p:nvSpPr>
        <p:spPr>
          <a:xfrm>
            <a:off x="481012" y="3839914"/>
            <a:ext cx="1705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86880" y="3839914"/>
            <a:ext cx="21513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8191" y="3839914"/>
            <a:ext cx="16101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81012" y="4292351"/>
            <a:ext cx="1705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86880" y="4292351"/>
            <a:ext cx="21513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38191" y="4292351"/>
            <a:ext cx="16101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Memeriksa</a:t>
            </a:r>
            <a:r>
              <a:rPr sz="2550" b="1" i="0" u="none" dirty="0">
                <a:solidFill>
                  <a:srgbClr val="0F172A"/>
                </a:solidFill>
                <a:latin typeface="Plus Jakarta Sans"/>
              </a:rPr>
              <a:t> Missing Value</a:t>
            </a:r>
          </a:p>
        </p:txBody>
      </p:sp>
      <p:pic>
        <p:nvPicPr>
          <p:cNvPr id="23" name="Picture 22" descr="image.png"/>
          <p:cNvPicPr>
            <a:picLocks noChangeAspect="1"/>
          </p:cNvPicPr>
          <p:nvPr/>
        </p:nvPicPr>
        <p:blipFill>
          <a:blip r:embed="rId7"/>
          <a:stretch>
            <a:fillRect/>
          </a:stretch>
        </p:blipFill>
        <p:spPr>
          <a:xfrm>
            <a:off x="6515100" y="3492251"/>
            <a:ext cx="171450" cy="180975"/>
          </a:xfrm>
          <a:prstGeom prst="rect">
            <a:avLst/>
          </a:prstGeom>
        </p:spPr>
      </p:pic>
      <p:pic>
        <p:nvPicPr>
          <p:cNvPr id="24" name="Picture 23" descr="image.png"/>
          <p:cNvPicPr>
            <a:picLocks noChangeAspect="1"/>
          </p:cNvPicPr>
          <p:nvPr/>
        </p:nvPicPr>
        <p:blipFill>
          <a:blip r:embed="rId7"/>
          <a:stretch>
            <a:fillRect/>
          </a:stretch>
        </p:blipFill>
        <p:spPr>
          <a:xfrm>
            <a:off x="6515100" y="4092326"/>
            <a:ext cx="171450" cy="1809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618333"/>
            <a:ext cx="5476875" cy="2238375"/>
          </a:xfrm>
          <a:prstGeom prst="rect">
            <a:avLst/>
          </a:prstGeom>
        </p:spPr>
      </p:pic>
      <p:pic>
        <p:nvPicPr>
          <p:cNvPr id="4" name="Picture 3" descr="image.png"/>
          <p:cNvPicPr>
            <a:picLocks noChangeAspect="1"/>
          </p:cNvPicPr>
          <p:nvPr/>
        </p:nvPicPr>
        <p:blipFill>
          <a:blip r:embed="rId4"/>
          <a:stretch>
            <a:fillRect/>
          </a:stretch>
        </p:blipFill>
        <p:spPr>
          <a:xfrm>
            <a:off x="6238875" y="2618333"/>
            <a:ext cx="5476875" cy="2238375"/>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261937" cy="266700"/>
          </a:xfrm>
          <a:prstGeom prst="rect">
            <a:avLst/>
          </a:prstGeom>
        </p:spPr>
      </p:pic>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20425" y="6515100"/>
            <a:ext cx="695325" cy="152400"/>
          </a:xfrm>
          <a:prstGeom prst="rect">
            <a:avLst/>
          </a:prstGeom>
          <a:noFill/>
        </p:spPr>
        <p:txBody>
          <a:bodyPr wrap="square" lIns="0" tIns="0" rIns="0" bIns="0" anchor="t">
            <a:spAutoFit/>
          </a:bodyPr>
          <a:lstStyle/>
          <a:p>
            <a:pPr algn="l"/>
            <a:r>
              <a:rPr sz="975" b="0" i="0" u="none">
                <a:solidFill>
                  <a:srgbClr val="64748B"/>
                </a:solidFill>
                <a:latin typeface="Inter"/>
              </a:rPr>
              <a:t>Slide 11 / 38</a:t>
            </a:r>
          </a:p>
        </p:txBody>
      </p:sp>
      <p:sp>
        <p:nvSpPr>
          <p:cNvPr id="9" name="TextBox 8"/>
          <p:cNvSpPr txBox="1"/>
          <p:nvPr/>
        </p:nvSpPr>
        <p:spPr>
          <a:xfrm>
            <a:off x="752475" y="2856458"/>
            <a:ext cx="5210651" cy="238125"/>
          </a:xfrm>
          <a:prstGeom prst="rect">
            <a:avLst/>
          </a:prstGeom>
          <a:noFill/>
        </p:spPr>
        <p:txBody>
          <a:bodyPr wrap="square" lIns="190500" tIns="0" rIns="0" bIns="0" anchor="t">
            <a:spAutoFit/>
          </a:bodyPr>
          <a:lstStyle/>
          <a:p>
            <a:pPr algn="l"/>
            <a:r>
              <a:rPr sz="1500" b="1" i="0" u="none">
                <a:solidFill>
                  <a:srgbClr val="EF4444"/>
                </a:solidFill>
                <a:latin typeface="Plus Jakarta Sans"/>
              </a:rPr>
              <a:t>Temuan Nilai Tidak Wajar</a:t>
            </a:r>
          </a:p>
        </p:txBody>
      </p:sp>
      <p:sp>
        <p:nvSpPr>
          <p:cNvPr id="10" name="TextBox 9"/>
          <p:cNvSpPr txBox="1"/>
          <p:nvPr/>
        </p:nvSpPr>
        <p:spPr>
          <a:xfrm>
            <a:off x="6515100" y="2856458"/>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Tindakan Analis</a:t>
            </a:r>
          </a:p>
        </p:txBody>
      </p:sp>
      <p:sp>
        <p:nvSpPr>
          <p:cNvPr id="11" name="TextBox 10"/>
          <p:cNvSpPr txBox="1"/>
          <p:nvPr/>
        </p:nvSpPr>
        <p:spPr>
          <a:xfrm>
            <a:off x="6515100" y="3189833"/>
            <a:ext cx="49625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Data Error ≠ Kondisi Fisik Pekerja Asli.</a:t>
            </a:r>
          </a:p>
        </p:txBody>
      </p:sp>
      <p:sp>
        <p:nvSpPr>
          <p:cNvPr id="12" name="TextBox 11"/>
          <p:cNvSpPr txBox="1"/>
          <p:nvPr/>
        </p:nvSpPr>
        <p:spPr>
          <a:xfrm>
            <a:off x="6515100" y="3527970"/>
            <a:ext cx="4962525" cy="242887"/>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Langkah:</a:t>
            </a:r>
          </a:p>
        </p:txBody>
      </p:sp>
      <p:pic>
        <p:nvPicPr>
          <p:cNvPr id="13" name="Picture 12" descr="image.png"/>
          <p:cNvPicPr>
            <a:picLocks noChangeAspect="1"/>
          </p:cNvPicPr>
          <p:nvPr/>
        </p:nvPicPr>
        <p:blipFill>
          <a:blip r:embed="rId7"/>
          <a:stretch>
            <a:fillRect/>
          </a:stretch>
        </p:blipFill>
        <p:spPr>
          <a:xfrm>
            <a:off x="752475" y="2894558"/>
            <a:ext cx="190500" cy="190500"/>
          </a:xfrm>
          <a:prstGeom prst="rect">
            <a:avLst/>
          </a:prstGeom>
        </p:spPr>
      </p:pic>
      <p:sp>
        <p:nvSpPr>
          <p:cNvPr id="14" name="TextBox 13"/>
          <p:cNvSpPr txBox="1"/>
          <p:nvPr/>
        </p:nvSpPr>
        <p:spPr>
          <a:xfrm>
            <a:off x="1019175" y="3189833"/>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Usia = 5 tahun (Tidak wajar)</a:t>
            </a:r>
          </a:p>
        </p:txBody>
      </p:sp>
      <p:sp>
        <p:nvSpPr>
          <p:cNvPr id="15" name="TextBox 14"/>
          <p:cNvSpPr txBox="1"/>
          <p:nvPr/>
        </p:nvSpPr>
        <p:spPr>
          <a:xfrm>
            <a:off x="1019175" y="3547020"/>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Jam Kerja = 30 jam/hari (Melewati rentang 24 jam)</a:t>
            </a:r>
          </a:p>
        </p:txBody>
      </p:sp>
      <p:sp>
        <p:nvSpPr>
          <p:cNvPr id="16" name="TextBox 15"/>
          <p:cNvSpPr txBox="1"/>
          <p:nvPr/>
        </p:nvSpPr>
        <p:spPr>
          <a:xfrm>
            <a:off x="1019175" y="3904208"/>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Durasi Tidur = 25 jam (Input error)</a:t>
            </a:r>
          </a:p>
        </p:txBody>
      </p:sp>
      <p:sp>
        <p:nvSpPr>
          <p:cNvPr id="17" name="TextBox 16"/>
          <p:cNvSpPr txBox="1"/>
          <p:nvPr/>
        </p:nvSpPr>
        <p:spPr>
          <a:xfrm>
            <a:off x="1019175" y="4261395"/>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Tingkat Kelelahan = 15 / 10 (Skala terlewati)</a:t>
            </a:r>
          </a:p>
        </p:txBody>
      </p:sp>
      <p:pic>
        <p:nvPicPr>
          <p:cNvPr id="18" name="Picture 17" descr="image.png"/>
          <p:cNvPicPr>
            <a:picLocks noChangeAspect="1"/>
          </p:cNvPicPr>
          <p:nvPr/>
        </p:nvPicPr>
        <p:blipFill>
          <a:blip r:embed="rId8"/>
          <a:stretch>
            <a:fillRect/>
          </a:stretch>
        </p:blipFill>
        <p:spPr>
          <a:xfrm>
            <a:off x="6515100" y="2894558"/>
            <a:ext cx="190500" cy="190500"/>
          </a:xfrm>
          <a:prstGeom prst="rect">
            <a:avLst/>
          </a:prstGeom>
        </p:spPr>
      </p:pic>
      <p:sp>
        <p:nvSpPr>
          <p:cNvPr id="19" name="TextBox 18"/>
          <p:cNvSpPr txBox="1"/>
          <p:nvPr/>
        </p:nvSpPr>
        <p:spPr>
          <a:xfrm>
            <a:off x="6591300" y="3768476"/>
            <a:ext cx="114300" cy="247650"/>
          </a:xfrm>
          <a:prstGeom prst="rect">
            <a:avLst/>
          </a:prstGeom>
          <a:noFill/>
        </p:spPr>
        <p:txBody>
          <a:bodyPr wrap="square" lIns="0" tIns="0" rIns="0" bIns="0" anchor="t">
            <a:spAutoFit/>
          </a:bodyPr>
          <a:lstStyle/>
          <a:p>
            <a:pPr algn="l"/>
            <a:r>
              <a:rPr sz="1275" b="0" i="0" u="none">
                <a:solidFill>
                  <a:srgbClr val="334155"/>
                </a:solidFill>
                <a:latin typeface="Inter"/>
              </a:rPr>
              <a:t>1.</a:t>
            </a:r>
          </a:p>
        </p:txBody>
      </p:sp>
      <p:sp>
        <p:nvSpPr>
          <p:cNvPr id="20" name="TextBox 19"/>
          <p:cNvSpPr txBox="1"/>
          <p:nvPr/>
        </p:nvSpPr>
        <p:spPr>
          <a:xfrm>
            <a:off x="6705600" y="3770858"/>
            <a:ext cx="4772025" cy="242887"/>
          </a:xfrm>
          <a:prstGeom prst="rect">
            <a:avLst/>
          </a:prstGeom>
          <a:noFill/>
        </p:spPr>
        <p:txBody>
          <a:bodyPr wrap="square" lIns="114300" tIns="0" rIns="0" bIns="0" anchor="t">
            <a:spAutoFit/>
          </a:bodyPr>
          <a:lstStyle/>
          <a:p>
            <a:pPr algn="l">
              <a:lnSpc>
                <a:spcPts val="1912"/>
              </a:lnSpc>
            </a:pPr>
            <a:r>
              <a:rPr sz="1275" b="0" i="0" u="none">
                <a:solidFill>
                  <a:srgbClr val="334155"/>
                </a:solidFill>
                <a:latin typeface="Inter"/>
              </a:rPr>
              <a:t>Identifikasi sumber (kesalahan entri / sensor / unit)</a:t>
            </a:r>
          </a:p>
        </p:txBody>
      </p:sp>
      <p:sp>
        <p:nvSpPr>
          <p:cNvPr id="21" name="TextBox 20"/>
          <p:cNvSpPr txBox="1"/>
          <p:nvPr/>
        </p:nvSpPr>
        <p:spPr>
          <a:xfrm>
            <a:off x="6562725" y="4011364"/>
            <a:ext cx="142875" cy="247650"/>
          </a:xfrm>
          <a:prstGeom prst="rect">
            <a:avLst/>
          </a:prstGeom>
          <a:noFill/>
        </p:spPr>
        <p:txBody>
          <a:bodyPr wrap="square" lIns="0" tIns="0" rIns="0" bIns="0" anchor="t">
            <a:spAutoFit/>
          </a:bodyPr>
          <a:lstStyle/>
          <a:p>
            <a:pPr algn="l"/>
            <a:r>
              <a:rPr sz="1275" b="0" i="0" u="none">
                <a:solidFill>
                  <a:srgbClr val="334155"/>
                </a:solidFill>
                <a:latin typeface="Inter"/>
              </a:rPr>
              <a:t>2.</a:t>
            </a:r>
          </a:p>
        </p:txBody>
      </p:sp>
      <p:sp>
        <p:nvSpPr>
          <p:cNvPr id="22" name="TextBox 21"/>
          <p:cNvSpPr txBox="1"/>
          <p:nvPr/>
        </p:nvSpPr>
        <p:spPr>
          <a:xfrm>
            <a:off x="6705600" y="4013745"/>
            <a:ext cx="4772025" cy="242887"/>
          </a:xfrm>
          <a:prstGeom prst="rect">
            <a:avLst/>
          </a:prstGeom>
          <a:noFill/>
        </p:spPr>
        <p:txBody>
          <a:bodyPr wrap="square" lIns="142875" tIns="0" rIns="0" bIns="0" anchor="t">
            <a:spAutoFit/>
          </a:bodyPr>
          <a:lstStyle/>
          <a:p>
            <a:pPr algn="l">
              <a:lnSpc>
                <a:spcPts val="1912"/>
              </a:lnSpc>
            </a:pPr>
            <a:r>
              <a:rPr sz="1275" b="0" i="0" u="none">
                <a:solidFill>
                  <a:srgbClr val="334155"/>
                </a:solidFill>
                <a:latin typeface="Inter"/>
              </a:rPr>
              <a:t>Verifikasi dengan dokumen presensi/log kerja</a:t>
            </a:r>
          </a:p>
        </p:txBody>
      </p:sp>
      <p:sp>
        <p:nvSpPr>
          <p:cNvPr id="23" name="TextBox 22"/>
          <p:cNvSpPr txBox="1"/>
          <p:nvPr/>
        </p:nvSpPr>
        <p:spPr>
          <a:xfrm>
            <a:off x="6553200" y="4254251"/>
            <a:ext cx="152400" cy="247650"/>
          </a:xfrm>
          <a:prstGeom prst="rect">
            <a:avLst/>
          </a:prstGeom>
          <a:noFill/>
        </p:spPr>
        <p:txBody>
          <a:bodyPr wrap="square" lIns="0" tIns="0" rIns="0" bIns="0" anchor="t">
            <a:spAutoFit/>
          </a:bodyPr>
          <a:lstStyle/>
          <a:p>
            <a:pPr algn="l"/>
            <a:r>
              <a:rPr sz="1275" b="0" i="0" u="none">
                <a:solidFill>
                  <a:srgbClr val="334155"/>
                </a:solidFill>
                <a:latin typeface="Inter"/>
              </a:rPr>
              <a:t>3.</a:t>
            </a:r>
          </a:p>
        </p:txBody>
      </p:sp>
      <p:sp>
        <p:nvSpPr>
          <p:cNvPr id="24" name="TextBox 23"/>
          <p:cNvSpPr txBox="1"/>
          <p:nvPr/>
        </p:nvSpPr>
        <p:spPr>
          <a:xfrm>
            <a:off x="6705600" y="4256633"/>
            <a:ext cx="4772025" cy="242887"/>
          </a:xfrm>
          <a:prstGeom prst="rect">
            <a:avLst/>
          </a:prstGeom>
          <a:noFill/>
        </p:spPr>
        <p:txBody>
          <a:bodyPr wrap="square" lIns="152400" tIns="0" rIns="0" bIns="0" anchor="t">
            <a:spAutoFit/>
          </a:bodyPr>
          <a:lstStyle/>
          <a:p>
            <a:pPr algn="l">
              <a:lnSpc>
                <a:spcPts val="1912"/>
              </a:lnSpc>
            </a:pPr>
            <a:r>
              <a:rPr sz="1275" b="0" i="0" u="none">
                <a:solidFill>
                  <a:srgbClr val="334155"/>
                </a:solidFill>
                <a:latin typeface="Inter"/>
              </a:rPr>
              <a:t>Lakukan pembersihan data secara obyektif</a:t>
            </a:r>
          </a:p>
        </p:txBody>
      </p:sp>
      <p:sp>
        <p:nvSpPr>
          <p:cNvPr id="25" name="TextBox 24"/>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Memeriksa</a:t>
            </a:r>
            <a:r>
              <a:rPr sz="2550" b="1" i="0" u="none" dirty="0">
                <a:solidFill>
                  <a:srgbClr val="0F172A"/>
                </a:solidFill>
                <a:latin typeface="Plus Jakarta Sans"/>
              </a:rPr>
              <a:t> Data Anomali</a:t>
            </a:r>
          </a:p>
        </p:txBody>
      </p:sp>
      <p:pic>
        <p:nvPicPr>
          <p:cNvPr id="26" name="Picture 25" descr="image.png"/>
          <p:cNvPicPr>
            <a:picLocks noChangeAspect="1"/>
          </p:cNvPicPr>
          <p:nvPr/>
        </p:nvPicPr>
        <p:blipFill>
          <a:blip r:embed="rId9"/>
          <a:stretch>
            <a:fillRect/>
          </a:stretch>
        </p:blipFill>
        <p:spPr>
          <a:xfrm>
            <a:off x="752475" y="3208883"/>
            <a:ext cx="171450" cy="180975"/>
          </a:xfrm>
          <a:prstGeom prst="rect">
            <a:avLst/>
          </a:prstGeom>
        </p:spPr>
      </p:pic>
      <p:pic>
        <p:nvPicPr>
          <p:cNvPr id="27" name="Picture 26" descr="image.png"/>
          <p:cNvPicPr>
            <a:picLocks noChangeAspect="1"/>
          </p:cNvPicPr>
          <p:nvPr/>
        </p:nvPicPr>
        <p:blipFill>
          <a:blip r:embed="rId9"/>
          <a:stretch>
            <a:fillRect/>
          </a:stretch>
        </p:blipFill>
        <p:spPr>
          <a:xfrm>
            <a:off x="752475" y="3566070"/>
            <a:ext cx="171450" cy="180975"/>
          </a:xfrm>
          <a:prstGeom prst="rect">
            <a:avLst/>
          </a:prstGeom>
        </p:spPr>
      </p:pic>
      <p:pic>
        <p:nvPicPr>
          <p:cNvPr id="28" name="Picture 27" descr="image.png"/>
          <p:cNvPicPr>
            <a:picLocks noChangeAspect="1"/>
          </p:cNvPicPr>
          <p:nvPr/>
        </p:nvPicPr>
        <p:blipFill>
          <a:blip r:embed="rId9"/>
          <a:stretch>
            <a:fillRect/>
          </a:stretch>
        </p:blipFill>
        <p:spPr>
          <a:xfrm>
            <a:off x="752475" y="3923258"/>
            <a:ext cx="171450" cy="180975"/>
          </a:xfrm>
          <a:prstGeom prst="rect">
            <a:avLst/>
          </a:prstGeom>
        </p:spPr>
      </p:pic>
      <p:pic>
        <p:nvPicPr>
          <p:cNvPr id="29" name="Picture 28" descr="image.png"/>
          <p:cNvPicPr>
            <a:picLocks noChangeAspect="1"/>
          </p:cNvPicPr>
          <p:nvPr/>
        </p:nvPicPr>
        <p:blipFill>
          <a:blip r:embed="rId9"/>
          <a:stretch>
            <a:fillRect/>
          </a:stretch>
        </p:blipFill>
        <p:spPr>
          <a:xfrm>
            <a:off x="752475" y="4280445"/>
            <a:ext cx="171450" cy="1809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715964"/>
            <a:ext cx="3594050" cy="2043112"/>
          </a:xfrm>
          <a:prstGeom prst="rect">
            <a:avLst/>
          </a:prstGeom>
        </p:spPr>
      </p:pic>
      <p:pic>
        <p:nvPicPr>
          <p:cNvPr id="4" name="Picture 3" descr="image.png"/>
          <p:cNvPicPr>
            <a:picLocks noChangeAspect="1"/>
          </p:cNvPicPr>
          <p:nvPr/>
        </p:nvPicPr>
        <p:blipFill>
          <a:blip r:embed="rId4"/>
          <a:stretch>
            <a:fillRect/>
          </a:stretch>
        </p:blipFill>
        <p:spPr>
          <a:xfrm>
            <a:off x="4298900" y="2715964"/>
            <a:ext cx="3594050" cy="2043112"/>
          </a:xfrm>
          <a:prstGeom prst="rect">
            <a:avLst/>
          </a:prstGeom>
        </p:spPr>
      </p:pic>
      <p:pic>
        <p:nvPicPr>
          <p:cNvPr id="5" name="Picture 4" descr="image.png"/>
          <p:cNvPicPr>
            <a:picLocks noChangeAspect="1"/>
          </p:cNvPicPr>
          <p:nvPr/>
        </p:nvPicPr>
        <p:blipFill>
          <a:blip r:embed="rId5"/>
          <a:stretch>
            <a:fillRect/>
          </a:stretch>
        </p:blipFill>
        <p:spPr>
          <a:xfrm>
            <a:off x="8121550" y="2715964"/>
            <a:ext cx="3594199" cy="2043112"/>
          </a:xfrm>
          <a:prstGeom prst="rect">
            <a:avLst/>
          </a:prstGeom>
        </p:spPr>
      </p:pic>
      <p:pic>
        <p:nvPicPr>
          <p:cNvPr id="6" name="Picture 5" descr="image.png"/>
          <p:cNvPicPr>
            <a:picLocks noChangeAspect="1"/>
          </p:cNvPicPr>
          <p:nvPr/>
        </p:nvPicPr>
        <p:blipFill>
          <a:blip r:embed="rId6"/>
          <a:stretch>
            <a:fillRect/>
          </a:stretch>
        </p:blipFill>
        <p:spPr>
          <a:xfrm>
            <a:off x="476250" y="6410325"/>
            <a:ext cx="11239500" cy="257175"/>
          </a:xfrm>
          <a:prstGeom prst="rect">
            <a:avLst/>
          </a:prstGeom>
        </p:spPr>
      </p:pic>
      <p:pic>
        <p:nvPicPr>
          <p:cNvPr id="7" name="Picture 6" descr="image.png"/>
          <p:cNvPicPr>
            <a:picLocks noChangeAspect="1"/>
          </p:cNvPicPr>
          <p:nvPr/>
        </p:nvPicPr>
        <p:blipFill>
          <a:blip r:embed="rId7"/>
          <a:stretch>
            <a:fillRect/>
          </a:stretch>
        </p:blipFill>
        <p:spPr>
          <a:xfrm>
            <a:off x="476250" y="479970"/>
            <a:ext cx="233362" cy="266700"/>
          </a:xfrm>
          <a:prstGeom prst="rect">
            <a:avLst/>
          </a:prstGeom>
        </p:spPr>
      </p:pic>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13 / 38</a:t>
            </a:r>
          </a:p>
        </p:txBody>
      </p:sp>
      <p:sp>
        <p:nvSpPr>
          <p:cNvPr id="10" name="TextBox 9"/>
          <p:cNvSpPr txBox="1"/>
          <p:nvPr/>
        </p:nvSpPr>
        <p:spPr>
          <a:xfrm>
            <a:off x="752475" y="3458914"/>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Histogram</a:t>
            </a:r>
          </a:p>
        </p:txBody>
      </p:sp>
      <p:sp>
        <p:nvSpPr>
          <p:cNvPr id="11" name="TextBox 10"/>
          <p:cNvSpPr txBox="1"/>
          <p:nvPr/>
        </p:nvSpPr>
        <p:spPr>
          <a:xfrm>
            <a:off x="752475" y="3792289"/>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Memahami sebaran nilai variabel kontinu seperti jam kerja, usia, dan durasi tidur.</a:t>
            </a:r>
          </a:p>
        </p:txBody>
      </p:sp>
      <p:sp>
        <p:nvSpPr>
          <p:cNvPr id="12" name="TextBox 11"/>
          <p:cNvSpPr txBox="1"/>
          <p:nvPr/>
        </p:nvSpPr>
        <p:spPr>
          <a:xfrm>
            <a:off x="4575125" y="3458914"/>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Boxplot</a:t>
            </a:r>
          </a:p>
        </p:txBody>
      </p:sp>
      <p:sp>
        <p:nvSpPr>
          <p:cNvPr id="13" name="TextBox 12"/>
          <p:cNvSpPr txBox="1"/>
          <p:nvPr/>
        </p:nvSpPr>
        <p:spPr>
          <a:xfrm>
            <a:off x="4575125" y="3792289"/>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Mendeteksi pencilan (outlier), nilai ekstrem, serta rentang kuartil kelelahan kerja.</a:t>
            </a:r>
          </a:p>
        </p:txBody>
      </p:sp>
      <p:sp>
        <p:nvSpPr>
          <p:cNvPr id="14" name="TextBox 13"/>
          <p:cNvSpPr txBox="1"/>
          <p:nvPr/>
        </p:nvSpPr>
        <p:spPr>
          <a:xfrm>
            <a:off x="8397775" y="3458914"/>
            <a:ext cx="3233841" cy="238125"/>
          </a:xfrm>
          <a:prstGeom prst="rect">
            <a:avLst/>
          </a:prstGeom>
          <a:noFill/>
        </p:spPr>
        <p:txBody>
          <a:bodyPr wrap="square" lIns="0" tIns="0" rIns="0" bIns="0" anchor="t">
            <a:spAutoFit/>
          </a:bodyPr>
          <a:lstStyle/>
          <a:p>
            <a:pPr algn="l"/>
            <a:r>
              <a:rPr sz="1500" b="1" i="0" u="none">
                <a:solidFill>
                  <a:srgbClr val="0F172A"/>
                </a:solidFill>
                <a:latin typeface="Plus Jakarta Sans"/>
              </a:rPr>
              <a:t>Bar Chart</a:t>
            </a:r>
          </a:p>
        </p:txBody>
      </p:sp>
      <p:sp>
        <p:nvSpPr>
          <p:cNvPr id="15" name="TextBox 14"/>
          <p:cNvSpPr txBox="1"/>
          <p:nvPr/>
        </p:nvSpPr>
        <p:spPr>
          <a:xfrm>
            <a:off x="8397775" y="3792289"/>
            <a:ext cx="3079849"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Menganalisis frekuensi kategori seperti shift kerja, jenis kelamin, dan angka near miss.</a:t>
            </a:r>
          </a:p>
        </p:txBody>
      </p:sp>
      <p:pic>
        <p:nvPicPr>
          <p:cNvPr id="16" name="Picture 15" descr="image.png"/>
          <p:cNvPicPr>
            <a:picLocks noChangeAspect="1"/>
          </p:cNvPicPr>
          <p:nvPr/>
        </p:nvPicPr>
        <p:blipFill>
          <a:blip r:embed="rId8"/>
          <a:stretch>
            <a:fillRect/>
          </a:stretch>
        </p:blipFill>
        <p:spPr>
          <a:xfrm>
            <a:off x="752475" y="2982664"/>
            <a:ext cx="304800" cy="304800"/>
          </a:xfrm>
          <a:prstGeom prst="rect">
            <a:avLst/>
          </a:prstGeom>
        </p:spPr>
      </p:pic>
      <p:pic>
        <p:nvPicPr>
          <p:cNvPr id="17" name="Picture 16" descr="image.png"/>
          <p:cNvPicPr>
            <a:picLocks noChangeAspect="1"/>
          </p:cNvPicPr>
          <p:nvPr/>
        </p:nvPicPr>
        <p:blipFill>
          <a:blip r:embed="rId9"/>
          <a:stretch>
            <a:fillRect/>
          </a:stretch>
        </p:blipFill>
        <p:spPr>
          <a:xfrm>
            <a:off x="4575125" y="2982664"/>
            <a:ext cx="304800" cy="304800"/>
          </a:xfrm>
          <a:prstGeom prst="rect">
            <a:avLst/>
          </a:prstGeom>
        </p:spPr>
      </p:pic>
      <p:pic>
        <p:nvPicPr>
          <p:cNvPr id="18" name="Picture 17" descr="image.png"/>
          <p:cNvPicPr>
            <a:picLocks noChangeAspect="1"/>
          </p:cNvPicPr>
          <p:nvPr/>
        </p:nvPicPr>
        <p:blipFill>
          <a:blip r:embed="rId10"/>
          <a:stretch>
            <a:fillRect/>
          </a:stretch>
        </p:blipFill>
        <p:spPr>
          <a:xfrm>
            <a:off x="8397775" y="2982664"/>
            <a:ext cx="304800" cy="304800"/>
          </a:xfrm>
          <a:prstGeom prst="rect">
            <a:avLst/>
          </a:prstGeom>
        </p:spPr>
      </p:pic>
      <p:sp>
        <p:nvSpPr>
          <p:cNvPr id="19" name="TextBox 18"/>
          <p:cNvSpPr txBox="1"/>
          <p:nvPr/>
        </p:nvSpPr>
        <p:spPr>
          <a:xfrm>
            <a:off x="823912" y="419100"/>
            <a:ext cx="113680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Visualisasi Distribusi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E426-CF17-4864-9066-52776C24923C}"/>
              </a:ext>
            </a:extLst>
          </p:cNvPr>
          <p:cNvSpPr>
            <a:spLocks noGrp="1"/>
          </p:cNvSpPr>
          <p:nvPr>
            <p:ph type="title"/>
          </p:nvPr>
        </p:nvSpPr>
        <p:spPr>
          <a:xfrm>
            <a:off x="838200" y="681037"/>
            <a:ext cx="10515600" cy="791571"/>
          </a:xfrm>
        </p:spPr>
        <p:txBody>
          <a:bodyPr anchor="ctr">
            <a:normAutofit/>
          </a:bodyPr>
          <a:lstStyle/>
          <a:p>
            <a:r>
              <a:rPr lang="id-ID" dirty="0"/>
              <a:t>Visualisasi Data</a:t>
            </a:r>
            <a:endParaRPr lang="en-US" dirty="0"/>
          </a:p>
        </p:txBody>
      </p:sp>
      <p:graphicFrame>
        <p:nvGraphicFramePr>
          <p:cNvPr id="5" name="Content Placeholder 2">
            <a:extLst>
              <a:ext uri="{FF2B5EF4-FFF2-40B4-BE49-F238E27FC236}">
                <a16:creationId xmlns:a16="http://schemas.microsoft.com/office/drawing/2014/main" id="{22EB6173-1D57-405B-81CF-7CE271A1BFA0}"/>
              </a:ext>
            </a:extLst>
          </p:cNvPr>
          <p:cNvGraphicFramePr>
            <a:graphicFrameLocks noGrp="1"/>
          </p:cNvGraphicFramePr>
          <p:nvPr>
            <p:ph idx="1"/>
          </p:nvPr>
        </p:nvGraphicFramePr>
        <p:xfrm>
          <a:off x="838200" y="1176532"/>
          <a:ext cx="10515600" cy="5000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a:extLst>
              <a:ext uri="{FF2B5EF4-FFF2-40B4-BE49-F238E27FC236}">
                <a16:creationId xmlns:a16="http://schemas.microsoft.com/office/drawing/2014/main" id="{9B8567D4-3357-4B1E-A74C-5BF8791B3F7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46600" y="1281390"/>
            <a:ext cx="2698799" cy="13734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ACE3C4B-1517-8953-0CDD-F45C59AAB268}"/>
              </a:ext>
            </a:extLst>
          </p:cNvPr>
          <p:cNvSpPr txBox="1"/>
          <p:nvPr/>
        </p:nvSpPr>
        <p:spPr>
          <a:xfrm>
            <a:off x="838200" y="5275719"/>
            <a:ext cx="10655299" cy="954107"/>
          </a:xfrm>
          <a:prstGeom prst="rect">
            <a:avLst/>
          </a:prstGeom>
          <a:noFill/>
        </p:spPr>
        <p:txBody>
          <a:bodyPr wrap="square">
            <a:spAutoFit/>
          </a:bodyPr>
          <a:lstStyle/>
          <a:p>
            <a:pPr algn="ctr"/>
            <a:r>
              <a:rPr lang="en-AT" sz="2800" dirty="0"/>
              <a:t>Visualisasi data adalah salah satu teknik yang paling penting dan menarik untuk eksplorasi data</a:t>
            </a:r>
          </a:p>
        </p:txBody>
      </p:sp>
    </p:spTree>
    <p:extLst>
      <p:ext uri="{BB962C8B-B14F-4D97-AF65-F5344CB8AC3E}">
        <p14:creationId xmlns:p14="http://schemas.microsoft.com/office/powerpoint/2010/main" val="101399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5D5E3-8A38-FF0B-C7F0-301E584D9A42}"/>
              </a:ext>
            </a:extLst>
          </p:cNvPr>
          <p:cNvSpPr>
            <a:spLocks noGrp="1"/>
          </p:cNvSpPr>
          <p:nvPr>
            <p:ph type="title"/>
          </p:nvPr>
        </p:nvSpPr>
        <p:spPr>
          <a:xfrm>
            <a:off x="457200" y="274638"/>
            <a:ext cx="8229600" cy="824648"/>
          </a:xfrm>
        </p:spPr>
        <p:txBody>
          <a:bodyPr/>
          <a:lstStyle/>
          <a:p>
            <a:r>
              <a:rPr lang="id" dirty="0"/>
              <a:t>Visualisasi</a:t>
            </a:r>
            <a:endParaRPr lang="en-US" dirty="0"/>
          </a:p>
        </p:txBody>
      </p:sp>
      <p:sp>
        <p:nvSpPr>
          <p:cNvPr id="3" name="Content Placeholder 2">
            <a:extLst>
              <a:ext uri="{FF2B5EF4-FFF2-40B4-BE49-F238E27FC236}">
                <a16:creationId xmlns:a16="http://schemas.microsoft.com/office/drawing/2014/main" id="{4E673C55-2CFA-25E5-1735-CCEECA204CD4}"/>
              </a:ext>
            </a:extLst>
          </p:cNvPr>
          <p:cNvSpPr>
            <a:spLocks noGrp="1"/>
          </p:cNvSpPr>
          <p:nvPr>
            <p:ph idx="1"/>
          </p:nvPr>
        </p:nvSpPr>
        <p:spPr>
          <a:xfrm>
            <a:off x="457200" y="4507323"/>
            <a:ext cx="3033252" cy="1785324"/>
          </a:xfrm>
        </p:spPr>
        <p:txBody>
          <a:bodyPr>
            <a:normAutofit/>
          </a:bodyPr>
          <a:lstStyle/>
          <a:p>
            <a:r>
              <a:rPr lang="en-US" sz="1600" b="1" dirty="0">
                <a:latin typeface="Arial"/>
                <a:ea typeface="Arial"/>
                <a:cs typeface="Arial"/>
                <a:sym typeface="Arial"/>
              </a:rPr>
              <a:t>Pie chart</a:t>
            </a:r>
            <a:r>
              <a:rPr lang="en-US" sz="1600" dirty="0">
                <a:latin typeface="Arial"/>
                <a:ea typeface="Arial"/>
                <a:cs typeface="Arial"/>
                <a:sym typeface="Arial"/>
              </a:rPr>
              <a:t> </a:t>
            </a:r>
            <a:r>
              <a:rPr lang="en-US" sz="1600" dirty="0" err="1">
                <a:latin typeface="Arial"/>
                <a:ea typeface="Arial"/>
                <a:cs typeface="Arial"/>
                <a:sym typeface="Arial"/>
              </a:rPr>
              <a:t>digunakan</a:t>
            </a:r>
            <a:r>
              <a:rPr lang="en-US" sz="1600" dirty="0">
                <a:latin typeface="Arial"/>
                <a:ea typeface="Arial"/>
                <a:cs typeface="Arial"/>
                <a:sym typeface="Arial"/>
              </a:rPr>
              <a:t> </a:t>
            </a:r>
            <a:r>
              <a:rPr lang="en-US" sz="1600" dirty="0" err="1">
                <a:latin typeface="Arial"/>
                <a:ea typeface="Arial"/>
                <a:cs typeface="Arial"/>
                <a:sym typeface="Arial"/>
              </a:rPr>
              <a:t>untuk</a:t>
            </a:r>
            <a:r>
              <a:rPr lang="en-US" sz="1600" dirty="0">
                <a:latin typeface="Arial"/>
                <a:ea typeface="Arial"/>
                <a:cs typeface="Arial"/>
                <a:sym typeface="Arial"/>
              </a:rPr>
              <a:t> </a:t>
            </a:r>
            <a:r>
              <a:rPr lang="en-US" sz="1600" dirty="0" err="1">
                <a:latin typeface="Arial"/>
                <a:ea typeface="Arial"/>
                <a:cs typeface="Arial"/>
                <a:sym typeface="Arial"/>
              </a:rPr>
              <a:t>menunjukkan</a:t>
            </a:r>
            <a:r>
              <a:rPr lang="en-US" sz="1600" dirty="0">
                <a:latin typeface="Arial"/>
                <a:ea typeface="Arial"/>
                <a:cs typeface="Arial"/>
                <a:sym typeface="Arial"/>
              </a:rPr>
              <a:t> </a:t>
            </a:r>
            <a:r>
              <a:rPr lang="en-US" sz="1600" dirty="0" err="1">
                <a:latin typeface="Arial"/>
                <a:ea typeface="Arial"/>
                <a:cs typeface="Arial"/>
                <a:sym typeface="Arial"/>
              </a:rPr>
              <a:t>seberapa</a:t>
            </a:r>
            <a:r>
              <a:rPr lang="en-US" sz="1600" dirty="0">
                <a:latin typeface="Arial"/>
                <a:ea typeface="Arial"/>
                <a:cs typeface="Arial"/>
                <a:sym typeface="Arial"/>
              </a:rPr>
              <a:t> </a:t>
            </a:r>
            <a:r>
              <a:rPr lang="en-US" sz="1600" dirty="0" err="1">
                <a:latin typeface="Arial"/>
                <a:ea typeface="Arial"/>
                <a:cs typeface="Arial"/>
                <a:sym typeface="Arial"/>
              </a:rPr>
              <a:t>banyak</a:t>
            </a:r>
            <a:r>
              <a:rPr lang="en-US" sz="1600" dirty="0">
                <a:latin typeface="Arial"/>
                <a:ea typeface="Arial"/>
                <a:cs typeface="Arial"/>
                <a:sym typeface="Arial"/>
              </a:rPr>
              <a:t> </a:t>
            </a:r>
            <a:r>
              <a:rPr lang="en-US" sz="1600" dirty="0" err="1">
                <a:latin typeface="Arial"/>
                <a:ea typeface="Arial"/>
                <a:cs typeface="Arial"/>
                <a:sym typeface="Arial"/>
              </a:rPr>
              <a:t>dari</a:t>
            </a:r>
            <a:r>
              <a:rPr lang="en-US" sz="1600" dirty="0">
                <a:latin typeface="Arial"/>
                <a:ea typeface="Arial"/>
                <a:cs typeface="Arial"/>
                <a:sym typeface="Arial"/>
              </a:rPr>
              <a:t> </a:t>
            </a:r>
            <a:r>
              <a:rPr lang="en-US" sz="1600" dirty="0" err="1">
                <a:latin typeface="Arial"/>
                <a:ea typeface="Arial"/>
                <a:cs typeface="Arial"/>
                <a:sym typeface="Arial"/>
              </a:rPr>
              <a:t>setiap</a:t>
            </a:r>
            <a:r>
              <a:rPr lang="en-US" sz="1600" dirty="0">
                <a:latin typeface="Arial"/>
                <a:ea typeface="Arial"/>
                <a:cs typeface="Arial"/>
                <a:sym typeface="Arial"/>
              </a:rPr>
              <a:t> </a:t>
            </a:r>
            <a:r>
              <a:rPr lang="en-US" sz="1600" dirty="0" err="1">
                <a:latin typeface="Arial"/>
                <a:ea typeface="Arial"/>
                <a:cs typeface="Arial"/>
                <a:sym typeface="Arial"/>
              </a:rPr>
              <a:t>jenis</a:t>
            </a:r>
            <a:r>
              <a:rPr lang="en-US" sz="1600" dirty="0">
                <a:latin typeface="Arial"/>
                <a:ea typeface="Arial"/>
                <a:cs typeface="Arial"/>
                <a:sym typeface="Arial"/>
              </a:rPr>
              <a:t> </a:t>
            </a:r>
            <a:r>
              <a:rPr lang="en-US" sz="1600" dirty="0" err="1">
                <a:latin typeface="Arial"/>
                <a:ea typeface="Arial"/>
                <a:cs typeface="Arial"/>
                <a:sym typeface="Arial"/>
              </a:rPr>
              <a:t>kategori</a:t>
            </a:r>
            <a:r>
              <a:rPr lang="en-US" sz="1600" dirty="0">
                <a:latin typeface="Arial"/>
                <a:ea typeface="Arial"/>
                <a:cs typeface="Arial"/>
                <a:sym typeface="Arial"/>
              </a:rPr>
              <a:t> </a:t>
            </a:r>
            <a:r>
              <a:rPr lang="en-US" sz="1600" dirty="0" err="1">
                <a:latin typeface="Arial"/>
                <a:ea typeface="Arial"/>
                <a:cs typeface="Arial"/>
                <a:sym typeface="Arial"/>
              </a:rPr>
              <a:t>dalam</a:t>
            </a:r>
            <a:r>
              <a:rPr lang="en-US" sz="1600" dirty="0">
                <a:latin typeface="Arial"/>
                <a:ea typeface="Arial"/>
                <a:cs typeface="Arial"/>
                <a:sym typeface="Arial"/>
              </a:rPr>
              <a:t> dataset </a:t>
            </a:r>
            <a:r>
              <a:rPr lang="en-US" sz="1600" dirty="0" err="1">
                <a:latin typeface="Arial"/>
                <a:ea typeface="Arial"/>
                <a:cs typeface="Arial"/>
                <a:sym typeface="Arial"/>
              </a:rPr>
              <a:t>berbanding</a:t>
            </a:r>
            <a:r>
              <a:rPr lang="en-US" sz="1600" dirty="0">
                <a:latin typeface="Arial"/>
                <a:ea typeface="Arial"/>
                <a:cs typeface="Arial"/>
                <a:sym typeface="Arial"/>
              </a:rPr>
              <a:t> </a:t>
            </a:r>
            <a:r>
              <a:rPr lang="en-US" sz="1600" dirty="0" err="1">
                <a:latin typeface="Arial"/>
                <a:ea typeface="Arial"/>
                <a:cs typeface="Arial"/>
                <a:sym typeface="Arial"/>
              </a:rPr>
              <a:t>dengan</a:t>
            </a:r>
            <a:r>
              <a:rPr lang="en-US" sz="1600" dirty="0">
                <a:latin typeface="Arial"/>
                <a:ea typeface="Arial"/>
                <a:cs typeface="Arial"/>
                <a:sym typeface="Arial"/>
              </a:rPr>
              <a:t> </a:t>
            </a:r>
            <a:r>
              <a:rPr lang="en-US" sz="1600" dirty="0" err="1">
                <a:latin typeface="Arial"/>
                <a:ea typeface="Arial"/>
                <a:cs typeface="Arial"/>
                <a:sym typeface="Arial"/>
              </a:rPr>
              <a:t>keseluruhan</a:t>
            </a:r>
            <a:r>
              <a:rPr lang="en-US" sz="1600" dirty="0">
                <a:latin typeface="Arial"/>
                <a:ea typeface="Arial"/>
                <a:cs typeface="Arial"/>
                <a:sym typeface="Arial"/>
              </a:rPr>
              <a:t>. </a:t>
            </a:r>
          </a:p>
        </p:txBody>
      </p:sp>
      <p:pic>
        <p:nvPicPr>
          <p:cNvPr id="4" name="Google Shape;218;p43">
            <a:extLst>
              <a:ext uri="{FF2B5EF4-FFF2-40B4-BE49-F238E27FC236}">
                <a16:creationId xmlns:a16="http://schemas.microsoft.com/office/drawing/2014/main" id="{B5745133-FC95-862A-598D-A6E8B75FD3C3}"/>
              </a:ext>
            </a:extLst>
          </p:cNvPr>
          <p:cNvPicPr preferRelativeResize="0"/>
          <p:nvPr/>
        </p:nvPicPr>
        <p:blipFill rotWithShape="1">
          <a:blip r:embed="rId3">
            <a:alphaModFix/>
          </a:blip>
          <a:srcRect/>
          <a:stretch/>
        </p:blipFill>
        <p:spPr>
          <a:xfrm>
            <a:off x="381000" y="1210135"/>
            <a:ext cx="3505200" cy="2943225"/>
          </a:xfrm>
          <a:prstGeom prst="rect">
            <a:avLst/>
          </a:prstGeom>
          <a:noFill/>
          <a:ln>
            <a:noFill/>
          </a:ln>
        </p:spPr>
      </p:pic>
      <p:pic>
        <p:nvPicPr>
          <p:cNvPr id="5" name="Google Shape;249;p44" descr="Chart, histogram&#10;&#10;Description automatically generated">
            <a:extLst>
              <a:ext uri="{FF2B5EF4-FFF2-40B4-BE49-F238E27FC236}">
                <a16:creationId xmlns:a16="http://schemas.microsoft.com/office/drawing/2014/main" id="{6956C856-8157-AFC2-464D-EBD03C365E66}"/>
              </a:ext>
            </a:extLst>
          </p:cNvPr>
          <p:cNvPicPr preferRelativeResize="0"/>
          <p:nvPr/>
        </p:nvPicPr>
        <p:blipFill rotWithShape="1">
          <a:blip r:embed="rId4">
            <a:alphaModFix/>
          </a:blip>
          <a:srcRect/>
          <a:stretch/>
        </p:blipFill>
        <p:spPr>
          <a:xfrm>
            <a:off x="4044938" y="1210136"/>
            <a:ext cx="3505200" cy="3297188"/>
          </a:xfrm>
          <a:prstGeom prst="rect">
            <a:avLst/>
          </a:prstGeom>
          <a:noFill/>
          <a:ln>
            <a:noFill/>
          </a:ln>
        </p:spPr>
      </p:pic>
      <p:sp>
        <p:nvSpPr>
          <p:cNvPr id="7" name="TextBox 6">
            <a:extLst>
              <a:ext uri="{FF2B5EF4-FFF2-40B4-BE49-F238E27FC236}">
                <a16:creationId xmlns:a16="http://schemas.microsoft.com/office/drawing/2014/main" id="{748A827B-8D9A-F7C7-4530-8D0056E74872}"/>
              </a:ext>
            </a:extLst>
          </p:cNvPr>
          <p:cNvSpPr txBox="1"/>
          <p:nvPr/>
        </p:nvSpPr>
        <p:spPr>
          <a:xfrm>
            <a:off x="3805083" y="4507324"/>
            <a:ext cx="3745055" cy="1200842"/>
          </a:xfrm>
          <a:prstGeom prst="rect">
            <a:avLst/>
          </a:prstGeom>
          <a:noFill/>
        </p:spPr>
        <p:txBody>
          <a:bodyPr wrap="square">
            <a:spAutoFit/>
          </a:bodyPr>
          <a:lstStyle/>
          <a:p>
            <a:pPr marL="457200" lvl="0" indent="-333661" algn="l" rtl="0">
              <a:lnSpc>
                <a:spcPct val="115000"/>
              </a:lnSpc>
              <a:spcBef>
                <a:spcPts val="0"/>
              </a:spcBef>
              <a:spcAft>
                <a:spcPts val="0"/>
              </a:spcAft>
              <a:buClr>
                <a:schemeClr val="dk1"/>
              </a:buClr>
              <a:buSzPct val="92664"/>
              <a:buChar char="●"/>
            </a:pPr>
            <a:r>
              <a:rPr lang="en-US" sz="1600" b="1" dirty="0">
                <a:latin typeface="Arial"/>
                <a:ea typeface="Arial"/>
                <a:cs typeface="Arial"/>
                <a:sym typeface="Arial"/>
              </a:rPr>
              <a:t>Bar Chart</a:t>
            </a:r>
            <a:r>
              <a:rPr lang="en-US" sz="1600" dirty="0">
                <a:latin typeface="Arial"/>
                <a:ea typeface="Arial"/>
                <a:cs typeface="Arial"/>
                <a:sym typeface="Arial"/>
              </a:rPr>
              <a:t> </a:t>
            </a:r>
            <a:r>
              <a:rPr lang="en-US" sz="1600" dirty="0" err="1">
                <a:latin typeface="Arial"/>
                <a:ea typeface="Arial"/>
                <a:cs typeface="Arial"/>
                <a:sym typeface="Arial"/>
              </a:rPr>
              <a:t>adalah</a:t>
            </a:r>
            <a:r>
              <a:rPr lang="en-US" sz="1600" dirty="0">
                <a:latin typeface="Arial"/>
                <a:ea typeface="Arial"/>
                <a:cs typeface="Arial"/>
                <a:sym typeface="Arial"/>
              </a:rPr>
              <a:t> </a:t>
            </a:r>
            <a:r>
              <a:rPr lang="en-US" sz="1600" dirty="0" err="1">
                <a:latin typeface="Arial"/>
                <a:ea typeface="Arial"/>
                <a:cs typeface="Arial"/>
                <a:sym typeface="Arial"/>
              </a:rPr>
              <a:t>merupakan</a:t>
            </a:r>
            <a:r>
              <a:rPr lang="en-US" sz="1600" dirty="0">
                <a:latin typeface="Arial"/>
                <a:ea typeface="Arial"/>
                <a:cs typeface="Arial"/>
                <a:sym typeface="Arial"/>
              </a:rPr>
              <a:t> tools </a:t>
            </a:r>
            <a:r>
              <a:rPr lang="en-US" sz="1600" dirty="0" err="1">
                <a:latin typeface="Arial"/>
                <a:ea typeface="Arial"/>
                <a:cs typeface="Arial"/>
                <a:sym typeface="Arial"/>
              </a:rPr>
              <a:t>visualisasi</a:t>
            </a:r>
            <a:r>
              <a:rPr lang="en-US" sz="1600" dirty="0">
                <a:latin typeface="Arial"/>
                <a:ea typeface="Arial"/>
                <a:cs typeface="Arial"/>
                <a:sym typeface="Arial"/>
              </a:rPr>
              <a:t> yang </a:t>
            </a:r>
            <a:r>
              <a:rPr lang="en-US" sz="1600" dirty="0" err="1">
                <a:latin typeface="Arial"/>
                <a:ea typeface="Arial"/>
                <a:cs typeface="Arial"/>
                <a:sym typeface="Arial"/>
              </a:rPr>
              <a:t>dapat</a:t>
            </a:r>
            <a:r>
              <a:rPr lang="en-US" sz="1600" dirty="0">
                <a:latin typeface="Arial"/>
                <a:ea typeface="Arial"/>
                <a:cs typeface="Arial"/>
                <a:sym typeface="Arial"/>
              </a:rPr>
              <a:t> </a:t>
            </a:r>
            <a:r>
              <a:rPr lang="en-US" sz="1600" dirty="0" err="1">
                <a:latin typeface="Arial"/>
                <a:ea typeface="Arial"/>
                <a:cs typeface="Arial"/>
                <a:sym typeface="Arial"/>
              </a:rPr>
              <a:t>digunakan</a:t>
            </a:r>
            <a:r>
              <a:rPr lang="en-US" sz="1600" dirty="0">
                <a:latin typeface="Arial"/>
                <a:ea typeface="Arial"/>
                <a:cs typeface="Arial"/>
                <a:sym typeface="Arial"/>
              </a:rPr>
              <a:t> </a:t>
            </a:r>
            <a:r>
              <a:rPr lang="en-US" sz="1600" dirty="0" err="1">
                <a:latin typeface="Arial"/>
                <a:ea typeface="Arial"/>
                <a:cs typeface="Arial"/>
                <a:sym typeface="Arial"/>
              </a:rPr>
              <a:t>untuk</a:t>
            </a:r>
            <a:r>
              <a:rPr lang="en-US" sz="1600" dirty="0">
                <a:latin typeface="Arial"/>
                <a:ea typeface="Arial"/>
                <a:cs typeface="Arial"/>
                <a:sym typeface="Arial"/>
              </a:rPr>
              <a:t> </a:t>
            </a:r>
            <a:r>
              <a:rPr lang="en-US" sz="1600" dirty="0" err="1">
                <a:latin typeface="Arial"/>
                <a:ea typeface="Arial"/>
                <a:cs typeface="Arial"/>
                <a:sym typeface="Arial"/>
              </a:rPr>
              <a:t>membandingkan</a:t>
            </a:r>
            <a:r>
              <a:rPr lang="en-US" sz="1600" dirty="0">
                <a:latin typeface="Arial"/>
                <a:ea typeface="Arial"/>
                <a:cs typeface="Arial"/>
                <a:sym typeface="Arial"/>
              </a:rPr>
              <a:t> data </a:t>
            </a:r>
            <a:r>
              <a:rPr lang="en-US" sz="1600" dirty="0" err="1">
                <a:latin typeface="Arial"/>
                <a:ea typeface="Arial"/>
                <a:cs typeface="Arial"/>
                <a:sym typeface="Arial"/>
              </a:rPr>
              <a:t>kategorikal</a:t>
            </a:r>
            <a:r>
              <a:rPr lang="en-US" sz="1600" dirty="0">
                <a:latin typeface="Arial"/>
                <a:ea typeface="Arial"/>
                <a:cs typeface="Arial"/>
                <a:sym typeface="Arial"/>
              </a:rPr>
              <a:t>. </a:t>
            </a:r>
          </a:p>
        </p:txBody>
      </p:sp>
      <p:pic>
        <p:nvPicPr>
          <p:cNvPr id="8" name="Google Shape;288;p46" descr="Chart, line chart&#10;&#10;Description automatically generated">
            <a:extLst>
              <a:ext uri="{FF2B5EF4-FFF2-40B4-BE49-F238E27FC236}">
                <a16:creationId xmlns:a16="http://schemas.microsoft.com/office/drawing/2014/main" id="{0333D3DC-A9DA-5E8F-CA27-2FBC60C5E984}"/>
              </a:ext>
            </a:extLst>
          </p:cNvPr>
          <p:cNvPicPr preferRelativeResize="0"/>
          <p:nvPr/>
        </p:nvPicPr>
        <p:blipFill rotWithShape="1">
          <a:blip r:embed="rId5">
            <a:alphaModFix/>
          </a:blip>
          <a:srcRect/>
          <a:stretch/>
        </p:blipFill>
        <p:spPr>
          <a:xfrm>
            <a:off x="7625502" y="1099286"/>
            <a:ext cx="4109298" cy="3054074"/>
          </a:xfrm>
          <a:prstGeom prst="rect">
            <a:avLst/>
          </a:prstGeom>
          <a:noFill/>
          <a:ln>
            <a:noFill/>
          </a:ln>
        </p:spPr>
      </p:pic>
      <p:sp>
        <p:nvSpPr>
          <p:cNvPr id="10" name="TextBox 9">
            <a:extLst>
              <a:ext uri="{FF2B5EF4-FFF2-40B4-BE49-F238E27FC236}">
                <a16:creationId xmlns:a16="http://schemas.microsoft.com/office/drawing/2014/main" id="{FC467985-A110-C0E3-4163-7FBB3DEAA950}"/>
              </a:ext>
            </a:extLst>
          </p:cNvPr>
          <p:cNvSpPr txBox="1"/>
          <p:nvPr/>
        </p:nvSpPr>
        <p:spPr>
          <a:xfrm>
            <a:off x="7625502" y="4486458"/>
            <a:ext cx="4394634" cy="923523"/>
          </a:xfrm>
          <a:prstGeom prst="rect">
            <a:avLst/>
          </a:prstGeom>
          <a:noFill/>
        </p:spPr>
        <p:txBody>
          <a:bodyPr wrap="square">
            <a:spAutoFit/>
          </a:bodyPr>
          <a:lstStyle/>
          <a:p>
            <a:pPr marL="457200" lvl="0" indent="-323850" algn="l" rtl="0">
              <a:lnSpc>
                <a:spcPct val="115000"/>
              </a:lnSpc>
              <a:spcBef>
                <a:spcPts val="0"/>
              </a:spcBef>
              <a:spcAft>
                <a:spcPts val="0"/>
              </a:spcAft>
              <a:buClr>
                <a:schemeClr val="dk1"/>
              </a:buClr>
              <a:buSzPts val="1500"/>
              <a:buChar char="●"/>
            </a:pPr>
            <a:r>
              <a:rPr lang="en-US" sz="1600" b="1" dirty="0">
                <a:latin typeface="Arial"/>
                <a:ea typeface="Arial"/>
                <a:cs typeface="Arial"/>
                <a:sym typeface="Arial"/>
              </a:rPr>
              <a:t>Line Graph </a:t>
            </a:r>
            <a:r>
              <a:rPr lang="en-US" sz="1600" dirty="0" err="1">
                <a:latin typeface="Arial"/>
                <a:ea typeface="Arial"/>
                <a:cs typeface="Arial"/>
                <a:sym typeface="Arial"/>
              </a:rPr>
              <a:t>berguna</a:t>
            </a:r>
            <a:r>
              <a:rPr lang="en-US" sz="1600" dirty="0">
                <a:latin typeface="Arial"/>
                <a:ea typeface="Arial"/>
                <a:cs typeface="Arial"/>
                <a:sym typeface="Arial"/>
              </a:rPr>
              <a:t> </a:t>
            </a:r>
            <a:r>
              <a:rPr lang="en-US" sz="1600" dirty="0" err="1">
                <a:latin typeface="Arial"/>
                <a:ea typeface="Arial"/>
                <a:cs typeface="Arial"/>
                <a:sym typeface="Arial"/>
              </a:rPr>
              <a:t>untuk</a:t>
            </a:r>
            <a:r>
              <a:rPr lang="en-US" sz="1600" dirty="0">
                <a:latin typeface="Arial"/>
                <a:ea typeface="Arial"/>
                <a:cs typeface="Arial"/>
                <a:sym typeface="Arial"/>
              </a:rPr>
              <a:t> </a:t>
            </a:r>
            <a:r>
              <a:rPr lang="en-US" sz="1600" dirty="0" err="1">
                <a:latin typeface="Arial"/>
                <a:ea typeface="Arial"/>
                <a:cs typeface="Arial"/>
                <a:sym typeface="Arial"/>
              </a:rPr>
              <a:t>menunjukkan</a:t>
            </a:r>
            <a:r>
              <a:rPr lang="en-US" sz="1600" dirty="0">
                <a:latin typeface="Arial"/>
                <a:ea typeface="Arial"/>
                <a:cs typeface="Arial"/>
                <a:sym typeface="Arial"/>
              </a:rPr>
              <a:t> </a:t>
            </a:r>
            <a:r>
              <a:rPr lang="en-US" sz="1600" dirty="0" err="1">
                <a:latin typeface="Arial"/>
                <a:ea typeface="Arial"/>
                <a:cs typeface="Arial"/>
                <a:sym typeface="Arial"/>
              </a:rPr>
              <a:t>bagaimana</a:t>
            </a:r>
            <a:r>
              <a:rPr lang="en-US" sz="1600" dirty="0">
                <a:latin typeface="Arial"/>
                <a:ea typeface="Arial"/>
                <a:cs typeface="Arial"/>
                <a:sym typeface="Arial"/>
              </a:rPr>
              <a:t> </a:t>
            </a:r>
            <a:r>
              <a:rPr lang="en-US" sz="1600" dirty="0" err="1">
                <a:latin typeface="Arial"/>
                <a:ea typeface="Arial"/>
                <a:cs typeface="Arial"/>
                <a:sym typeface="Arial"/>
              </a:rPr>
              <a:t>kemajuan</a:t>
            </a:r>
            <a:r>
              <a:rPr lang="en-US" sz="1600" dirty="0">
                <a:latin typeface="Arial"/>
                <a:ea typeface="Arial"/>
                <a:cs typeface="Arial"/>
                <a:sym typeface="Arial"/>
              </a:rPr>
              <a:t> data </a:t>
            </a:r>
            <a:r>
              <a:rPr lang="en-US" sz="1600" dirty="0" err="1">
                <a:latin typeface="Arial"/>
                <a:ea typeface="Arial"/>
                <a:cs typeface="Arial"/>
                <a:sym typeface="Arial"/>
              </a:rPr>
              <a:t>selama</a:t>
            </a:r>
            <a:r>
              <a:rPr lang="en-US" sz="1600" dirty="0">
                <a:latin typeface="Arial"/>
                <a:ea typeface="Arial"/>
                <a:cs typeface="Arial"/>
                <a:sym typeface="Arial"/>
              </a:rPr>
              <a:t> </a:t>
            </a:r>
            <a:r>
              <a:rPr lang="en-US" sz="1600" dirty="0" err="1">
                <a:latin typeface="Arial"/>
                <a:ea typeface="Arial"/>
                <a:cs typeface="Arial"/>
                <a:sym typeface="Arial"/>
              </a:rPr>
              <a:t>beberapa</a:t>
            </a:r>
            <a:r>
              <a:rPr lang="en-US" sz="1600" dirty="0">
                <a:latin typeface="Arial"/>
                <a:ea typeface="Arial"/>
                <a:cs typeface="Arial"/>
                <a:sym typeface="Arial"/>
              </a:rPr>
              <a:t> </a:t>
            </a:r>
            <a:r>
              <a:rPr lang="en-US" sz="1600" dirty="0" err="1">
                <a:latin typeface="Arial"/>
                <a:ea typeface="Arial"/>
                <a:cs typeface="Arial"/>
                <a:sym typeface="Arial"/>
              </a:rPr>
              <a:t>periode</a:t>
            </a:r>
            <a:r>
              <a:rPr lang="en-US" sz="1600" dirty="0">
                <a:latin typeface="Arial"/>
                <a:ea typeface="Arial"/>
                <a:cs typeface="Arial"/>
                <a:sym typeface="Arial"/>
              </a:rPr>
              <a:t>. </a:t>
            </a:r>
            <a:endParaRPr lang="en-US" sz="1600" dirty="0"/>
          </a:p>
        </p:txBody>
      </p:sp>
    </p:spTree>
    <p:extLst>
      <p:ext uri="{BB962C8B-B14F-4D97-AF65-F5344CB8AC3E}">
        <p14:creationId xmlns:p14="http://schemas.microsoft.com/office/powerpoint/2010/main" val="202843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413;p52">
            <a:extLst>
              <a:ext uri="{FF2B5EF4-FFF2-40B4-BE49-F238E27FC236}">
                <a16:creationId xmlns:a16="http://schemas.microsoft.com/office/drawing/2014/main" id="{9598A029-36AC-DD93-D8B2-390C3CDED6DB}"/>
              </a:ext>
            </a:extLst>
          </p:cNvPr>
          <p:cNvPicPr preferRelativeResize="0"/>
          <p:nvPr/>
        </p:nvPicPr>
        <p:blipFill rotWithShape="1">
          <a:blip r:embed="rId2">
            <a:alphaModFix/>
          </a:blip>
          <a:srcRect/>
          <a:stretch/>
        </p:blipFill>
        <p:spPr>
          <a:xfrm>
            <a:off x="257964" y="248899"/>
            <a:ext cx="4675505" cy="3351530"/>
          </a:xfrm>
          <a:prstGeom prst="rect">
            <a:avLst/>
          </a:prstGeom>
          <a:noFill/>
          <a:ln>
            <a:noFill/>
          </a:ln>
        </p:spPr>
      </p:pic>
      <p:sp>
        <p:nvSpPr>
          <p:cNvPr id="4" name="TextBox 3">
            <a:extLst>
              <a:ext uri="{FF2B5EF4-FFF2-40B4-BE49-F238E27FC236}">
                <a16:creationId xmlns:a16="http://schemas.microsoft.com/office/drawing/2014/main" id="{EFADABBC-8AC8-3DEE-E717-2E461A7983E4}"/>
              </a:ext>
            </a:extLst>
          </p:cNvPr>
          <p:cNvSpPr txBox="1"/>
          <p:nvPr/>
        </p:nvSpPr>
        <p:spPr>
          <a:xfrm>
            <a:off x="412955" y="4047300"/>
            <a:ext cx="4306529" cy="1754326"/>
          </a:xfrm>
          <a:prstGeom prst="rect">
            <a:avLst/>
          </a:prstGeom>
          <a:noFill/>
        </p:spPr>
        <p:txBody>
          <a:bodyPr wrap="square">
            <a:spAutoFit/>
          </a:bodyPr>
          <a:lstStyle/>
          <a:p>
            <a:r>
              <a:rPr lang="id" b="1" dirty="0">
                <a:latin typeface="Arial"/>
                <a:ea typeface="Arial"/>
                <a:cs typeface="Arial"/>
                <a:sym typeface="Arial"/>
              </a:rPr>
              <a:t>Histogram </a:t>
            </a:r>
            <a:r>
              <a:rPr lang="id" dirty="0">
                <a:latin typeface="Arial"/>
                <a:ea typeface="Arial"/>
                <a:cs typeface="Arial"/>
                <a:sym typeface="Arial"/>
              </a:rPr>
              <a:t>adalah salah satu visualisasi yang cukup penting dalam memahami distribusi pada data kita. Pandas Histogram menyediakan method yang memudahkan kita untuk membuat histogram</a:t>
            </a:r>
            <a:endParaRPr lang="en-US" sz="1400" dirty="0"/>
          </a:p>
        </p:txBody>
      </p:sp>
      <p:pic>
        <p:nvPicPr>
          <p:cNvPr id="5" name="Google Shape;380;p50" descr="Background pattern&#10;&#10;Description automatically generated">
            <a:extLst>
              <a:ext uri="{FF2B5EF4-FFF2-40B4-BE49-F238E27FC236}">
                <a16:creationId xmlns:a16="http://schemas.microsoft.com/office/drawing/2014/main" id="{1AB19A1A-82EF-6244-8931-5F8B22C1BE63}"/>
              </a:ext>
            </a:extLst>
          </p:cNvPr>
          <p:cNvPicPr preferRelativeResize="0"/>
          <p:nvPr/>
        </p:nvPicPr>
        <p:blipFill rotWithShape="1">
          <a:blip r:embed="rId3">
            <a:alphaModFix/>
          </a:blip>
          <a:srcRect/>
          <a:stretch/>
        </p:blipFill>
        <p:spPr>
          <a:xfrm>
            <a:off x="5630965" y="400029"/>
            <a:ext cx="5000625" cy="3200400"/>
          </a:xfrm>
          <a:prstGeom prst="rect">
            <a:avLst/>
          </a:prstGeom>
          <a:noFill/>
          <a:ln>
            <a:noFill/>
          </a:ln>
        </p:spPr>
      </p:pic>
      <p:sp>
        <p:nvSpPr>
          <p:cNvPr id="7" name="TextBox 6">
            <a:extLst>
              <a:ext uri="{FF2B5EF4-FFF2-40B4-BE49-F238E27FC236}">
                <a16:creationId xmlns:a16="http://schemas.microsoft.com/office/drawing/2014/main" id="{1B668054-CF6D-79D7-5925-6801999BECF2}"/>
              </a:ext>
            </a:extLst>
          </p:cNvPr>
          <p:cNvSpPr txBox="1"/>
          <p:nvPr/>
        </p:nvSpPr>
        <p:spPr>
          <a:xfrm>
            <a:off x="5810865" y="4047300"/>
            <a:ext cx="4395019" cy="1339469"/>
          </a:xfrm>
          <a:prstGeom prst="rect">
            <a:avLst/>
          </a:prstGeom>
          <a:noFill/>
        </p:spPr>
        <p:txBody>
          <a:bodyPr wrap="square">
            <a:spAutoFit/>
          </a:bodyPr>
          <a:lstStyle/>
          <a:p>
            <a:pPr marL="457200" lvl="0" indent="-323850" algn="l" rtl="0">
              <a:lnSpc>
                <a:spcPct val="115000"/>
              </a:lnSpc>
              <a:spcBef>
                <a:spcPts val="0"/>
              </a:spcBef>
              <a:spcAft>
                <a:spcPts val="0"/>
              </a:spcAft>
              <a:buClr>
                <a:schemeClr val="dk1"/>
              </a:buClr>
              <a:buSzPts val="1500"/>
              <a:buChar char="●"/>
            </a:pPr>
            <a:r>
              <a:rPr lang="en-US" sz="1800" b="1" dirty="0">
                <a:latin typeface="Arial"/>
                <a:ea typeface="Arial"/>
                <a:cs typeface="Arial"/>
                <a:sym typeface="Arial"/>
              </a:rPr>
              <a:t>Heatmap </a:t>
            </a:r>
            <a:r>
              <a:rPr lang="en-US" sz="1800" dirty="0" err="1">
                <a:latin typeface="Arial"/>
                <a:ea typeface="Arial"/>
                <a:cs typeface="Arial"/>
                <a:sym typeface="Arial"/>
              </a:rPr>
              <a:t>adalah</a:t>
            </a:r>
            <a:r>
              <a:rPr lang="en-US" sz="1800" dirty="0">
                <a:latin typeface="Arial"/>
                <a:ea typeface="Arial"/>
                <a:cs typeface="Arial"/>
                <a:sym typeface="Arial"/>
              </a:rPr>
              <a:t> </a:t>
            </a:r>
            <a:r>
              <a:rPr lang="en-US" sz="1800" dirty="0" err="1">
                <a:latin typeface="Arial"/>
                <a:ea typeface="Arial"/>
                <a:cs typeface="Arial"/>
                <a:sym typeface="Arial"/>
              </a:rPr>
              <a:t>jenis</a:t>
            </a:r>
            <a:r>
              <a:rPr lang="en-US" sz="1800" dirty="0">
                <a:latin typeface="Arial"/>
                <a:ea typeface="Arial"/>
                <a:cs typeface="Arial"/>
                <a:sym typeface="Arial"/>
              </a:rPr>
              <a:t> </a:t>
            </a:r>
            <a:r>
              <a:rPr lang="en-US" sz="1800" dirty="0" err="1">
                <a:latin typeface="Arial"/>
                <a:ea typeface="Arial"/>
                <a:cs typeface="Arial"/>
                <a:sym typeface="Arial"/>
              </a:rPr>
              <a:t>visualisasi</a:t>
            </a:r>
            <a:r>
              <a:rPr lang="en-US" sz="1800" dirty="0">
                <a:latin typeface="Arial"/>
                <a:ea typeface="Arial"/>
                <a:cs typeface="Arial"/>
                <a:sym typeface="Arial"/>
              </a:rPr>
              <a:t> yang </a:t>
            </a:r>
            <a:r>
              <a:rPr lang="en-US" sz="1800" dirty="0" err="1">
                <a:latin typeface="Arial"/>
                <a:ea typeface="Arial"/>
                <a:cs typeface="Arial"/>
                <a:sym typeface="Arial"/>
              </a:rPr>
              <a:t>menggunakan</a:t>
            </a:r>
            <a:r>
              <a:rPr lang="en-US" sz="1800" dirty="0">
                <a:latin typeface="Arial"/>
                <a:ea typeface="Arial"/>
                <a:cs typeface="Arial"/>
                <a:sym typeface="Arial"/>
              </a:rPr>
              <a:t> </a:t>
            </a:r>
            <a:r>
              <a:rPr lang="en-US" sz="1800" dirty="0" err="1">
                <a:latin typeface="Arial"/>
                <a:ea typeface="Arial"/>
                <a:cs typeface="Arial"/>
                <a:sym typeface="Arial"/>
              </a:rPr>
              <a:t>kode</a:t>
            </a:r>
            <a:r>
              <a:rPr lang="en-US" sz="1800" dirty="0">
                <a:latin typeface="Arial"/>
                <a:ea typeface="Arial"/>
                <a:cs typeface="Arial"/>
                <a:sym typeface="Arial"/>
              </a:rPr>
              <a:t> </a:t>
            </a:r>
            <a:r>
              <a:rPr lang="en-US" sz="1800" dirty="0" err="1">
                <a:latin typeface="Arial"/>
                <a:ea typeface="Arial"/>
                <a:cs typeface="Arial"/>
                <a:sym typeface="Arial"/>
              </a:rPr>
              <a:t>warna</a:t>
            </a:r>
            <a:r>
              <a:rPr lang="en-US" sz="1800" dirty="0">
                <a:latin typeface="Arial"/>
                <a:ea typeface="Arial"/>
                <a:cs typeface="Arial"/>
                <a:sym typeface="Arial"/>
              </a:rPr>
              <a:t> </a:t>
            </a:r>
            <a:r>
              <a:rPr lang="en-US" sz="1800" dirty="0" err="1">
                <a:latin typeface="Arial"/>
                <a:ea typeface="Arial"/>
                <a:cs typeface="Arial"/>
                <a:sym typeface="Arial"/>
              </a:rPr>
              <a:t>untuk</a:t>
            </a:r>
            <a:r>
              <a:rPr lang="en-US" sz="1800" dirty="0">
                <a:latin typeface="Arial"/>
                <a:ea typeface="Arial"/>
                <a:cs typeface="Arial"/>
                <a:sym typeface="Arial"/>
              </a:rPr>
              <a:t> </a:t>
            </a:r>
            <a:r>
              <a:rPr lang="en-US" sz="1800" dirty="0" err="1">
                <a:latin typeface="Arial"/>
                <a:ea typeface="Arial"/>
                <a:cs typeface="Arial"/>
                <a:sym typeface="Arial"/>
              </a:rPr>
              <a:t>mewakili</a:t>
            </a:r>
            <a:r>
              <a:rPr lang="en-US" sz="1800" dirty="0">
                <a:latin typeface="Arial"/>
                <a:ea typeface="Arial"/>
                <a:cs typeface="Arial"/>
                <a:sym typeface="Arial"/>
              </a:rPr>
              <a:t> </a:t>
            </a:r>
            <a:r>
              <a:rPr lang="en-US" sz="1800" dirty="0" err="1">
                <a:latin typeface="Arial"/>
                <a:ea typeface="Arial"/>
                <a:cs typeface="Arial"/>
                <a:sym typeface="Arial"/>
              </a:rPr>
              <a:t>nilai</a:t>
            </a:r>
            <a:r>
              <a:rPr lang="en-US" sz="1800" dirty="0">
                <a:latin typeface="Arial"/>
                <a:ea typeface="Arial"/>
                <a:cs typeface="Arial"/>
                <a:sym typeface="Arial"/>
              </a:rPr>
              <a:t> / </a:t>
            </a:r>
            <a:r>
              <a:rPr lang="en-US" sz="1800" dirty="0" err="1">
                <a:latin typeface="Arial"/>
                <a:ea typeface="Arial"/>
                <a:cs typeface="Arial"/>
                <a:sym typeface="Arial"/>
              </a:rPr>
              <a:t>kepadatan</a:t>
            </a:r>
            <a:r>
              <a:rPr lang="en-US" sz="1800" dirty="0">
                <a:latin typeface="Arial"/>
                <a:ea typeface="Arial"/>
                <a:cs typeface="Arial"/>
                <a:sym typeface="Arial"/>
              </a:rPr>
              <a:t> </a:t>
            </a:r>
            <a:r>
              <a:rPr lang="en-US" sz="1800" dirty="0" err="1">
                <a:latin typeface="Arial"/>
                <a:ea typeface="Arial"/>
                <a:cs typeface="Arial"/>
                <a:sym typeface="Arial"/>
              </a:rPr>
              <a:t>relatif</a:t>
            </a:r>
            <a:r>
              <a:rPr lang="en-US" sz="1800" dirty="0">
                <a:latin typeface="Arial"/>
                <a:ea typeface="Arial"/>
                <a:cs typeface="Arial"/>
                <a:sym typeface="Arial"/>
              </a:rPr>
              <a:t> data di </a:t>
            </a:r>
            <a:r>
              <a:rPr lang="en-US" sz="1800" dirty="0" err="1">
                <a:latin typeface="Arial"/>
                <a:ea typeface="Arial"/>
                <a:cs typeface="Arial"/>
                <a:sym typeface="Arial"/>
              </a:rPr>
              <a:t>seluruh</a:t>
            </a:r>
            <a:r>
              <a:rPr lang="en-US" sz="1800" dirty="0">
                <a:latin typeface="Arial"/>
                <a:ea typeface="Arial"/>
                <a:cs typeface="Arial"/>
                <a:sym typeface="Arial"/>
              </a:rPr>
              <a:t> </a:t>
            </a:r>
            <a:r>
              <a:rPr lang="en-US" sz="1800" dirty="0" err="1">
                <a:latin typeface="Arial"/>
                <a:ea typeface="Arial"/>
                <a:cs typeface="Arial"/>
                <a:sym typeface="Arial"/>
              </a:rPr>
              <a:t>permukaan</a:t>
            </a:r>
            <a:r>
              <a:rPr lang="en-US" sz="1800" dirty="0">
                <a:latin typeface="Arial"/>
                <a:ea typeface="Arial"/>
                <a:cs typeface="Arial"/>
                <a:sym typeface="Arial"/>
              </a:rPr>
              <a:t>.</a:t>
            </a:r>
          </a:p>
        </p:txBody>
      </p:sp>
    </p:spTree>
    <p:extLst>
      <p:ext uri="{BB962C8B-B14F-4D97-AF65-F5344CB8AC3E}">
        <p14:creationId xmlns:p14="http://schemas.microsoft.com/office/powerpoint/2010/main" val="40441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descr="A screenshot of a cell phone&#10;&#10;Description automatically generated">
            <a:extLst>
              <a:ext uri="{FF2B5EF4-FFF2-40B4-BE49-F238E27FC236}">
                <a16:creationId xmlns:a16="http://schemas.microsoft.com/office/drawing/2014/main" id="{DD809677-BEF6-4888-8BBB-B612235EB477}"/>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348358" y="287081"/>
            <a:ext cx="8338441" cy="6443342"/>
          </a:xfrm>
          <a:prstGeom prst="rect">
            <a:avLst/>
          </a:prstGeom>
        </p:spPr>
      </p:pic>
      <p:sp>
        <p:nvSpPr>
          <p:cNvPr id="4" name="TextBox 3">
            <a:extLst>
              <a:ext uri="{FF2B5EF4-FFF2-40B4-BE49-F238E27FC236}">
                <a16:creationId xmlns:a16="http://schemas.microsoft.com/office/drawing/2014/main" id="{C133976E-32CE-10E4-6E34-AFE8BD26A67A}"/>
              </a:ext>
            </a:extLst>
          </p:cNvPr>
          <p:cNvSpPr txBox="1"/>
          <p:nvPr/>
        </p:nvSpPr>
        <p:spPr>
          <a:xfrm>
            <a:off x="8686798" y="2475697"/>
            <a:ext cx="3505201" cy="1815882"/>
          </a:xfrm>
          <a:prstGeom prst="rect">
            <a:avLst/>
          </a:prstGeom>
          <a:noFill/>
        </p:spPr>
        <p:txBody>
          <a:bodyPr wrap="square">
            <a:spAutoFit/>
          </a:bodyPr>
          <a:lstStyle/>
          <a:p>
            <a:r>
              <a:rPr lang="id-ID" sz="2800" dirty="0"/>
              <a:t>Memilih bentuk visualisasi yang sesuai dengan hal yang akan diceritakan</a:t>
            </a:r>
            <a:endParaRPr lang="en-US" sz="2800" dirty="0"/>
          </a:p>
        </p:txBody>
      </p:sp>
    </p:spTree>
    <p:extLst>
      <p:ext uri="{BB962C8B-B14F-4D97-AF65-F5344CB8AC3E}">
        <p14:creationId xmlns:p14="http://schemas.microsoft.com/office/powerpoint/2010/main" val="220174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36290"/>
            <a:ext cx="11239500" cy="5402609"/>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261937" cy="266700"/>
          </a:xfrm>
          <a:prstGeom prst="rect">
            <a:avLst/>
          </a:prstGeom>
        </p:spPr>
      </p:pic>
      <p:sp>
        <p:nvSpPr>
          <p:cNvPr id="6" name="TextBox 5"/>
          <p:cNvSpPr txBox="1"/>
          <p:nvPr/>
        </p:nvSpPr>
        <p:spPr>
          <a:xfrm>
            <a:off x="476250" y="2465933"/>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Histogram Visualisasi Jam Kerja Pekerja (500 Pekerja):</a:t>
            </a:r>
          </a:p>
        </p:txBody>
      </p:sp>
      <p:sp>
        <p:nvSpPr>
          <p:cNvPr id="7" name="TextBox 6"/>
          <p:cNvSpPr txBox="1"/>
          <p:nvPr/>
        </p:nvSpPr>
        <p:spPr>
          <a:xfrm>
            <a:off x="476250" y="4766220"/>
            <a:ext cx="11239500" cy="242887"/>
          </a:xfrm>
          <a:prstGeom prst="rect">
            <a:avLst/>
          </a:prstGeom>
          <a:noFill/>
        </p:spPr>
        <p:txBody>
          <a:bodyPr wrap="square" lIns="161925" tIns="0" rIns="0" bIns="0" anchor="t">
            <a:spAutoFit/>
          </a:bodyPr>
          <a:lstStyle/>
          <a:p>
            <a:pPr algn="l">
              <a:lnSpc>
                <a:spcPts val="1912"/>
              </a:lnSpc>
            </a:pPr>
            <a:r>
              <a:rPr sz="1275" b="0" i="0" u="none">
                <a:solidFill>
                  <a:srgbClr val="EF4444"/>
                </a:solidFill>
                <a:latin typeface="Inter SemiBold"/>
              </a:rPr>
              <a:t>Walaupun mayoritas bekerja 8-10 jam, ada kelompok berisiko tinggi yang bekerja 12-15 jam/hari.</a:t>
            </a:r>
          </a:p>
        </p:txBody>
      </p:sp>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14 / 38</a:t>
            </a:r>
          </a:p>
        </p:txBody>
      </p:sp>
      <p:pic>
        <p:nvPicPr>
          <p:cNvPr id="10" name="Picture 9" descr="image.png"/>
          <p:cNvPicPr>
            <a:picLocks noChangeAspect="1"/>
          </p:cNvPicPr>
          <p:nvPr/>
        </p:nvPicPr>
        <p:blipFill>
          <a:blip r:embed="rId6"/>
          <a:stretch>
            <a:fillRect/>
          </a:stretch>
        </p:blipFill>
        <p:spPr>
          <a:xfrm>
            <a:off x="476250" y="4794795"/>
            <a:ext cx="161925" cy="161925"/>
          </a:xfrm>
          <a:prstGeom prst="rect">
            <a:avLst/>
          </a:prstGeom>
        </p:spPr>
      </p:pic>
      <p:sp>
        <p:nvSpPr>
          <p:cNvPr id="11" name="TextBox 1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Distribusi Jam Kerja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6286500" y="1942058"/>
            <a:ext cx="5334000" cy="3600450"/>
          </a:xfrm>
          <a:prstGeom prst="rect">
            <a:avLst/>
          </a:prstGeom>
        </p:spPr>
      </p:pic>
      <p:sp>
        <p:nvSpPr>
          <p:cNvPr id="4" name="TextBox 3"/>
          <p:cNvSpPr txBox="1"/>
          <p:nvPr/>
        </p:nvSpPr>
        <p:spPr>
          <a:xfrm>
            <a:off x="571500" y="1942058"/>
            <a:ext cx="5600700" cy="246221"/>
          </a:xfrm>
          <a:prstGeom prst="rect">
            <a:avLst/>
          </a:prstGeom>
          <a:noFill/>
        </p:spPr>
        <p:txBody>
          <a:bodyPr wrap="square" lIns="0" tIns="0" rIns="0" bIns="0" anchor="t">
            <a:spAutoFit/>
          </a:bodyPr>
          <a:lstStyle/>
          <a:p>
            <a:pPr algn="l"/>
            <a:r>
              <a:rPr sz="1600" b="1" i="0" u="none" dirty="0" err="1">
                <a:solidFill>
                  <a:srgbClr val="0F172A"/>
                </a:solidFill>
                <a:latin typeface="Poppins"/>
              </a:rPr>
              <a:t>Pemeriksaan</a:t>
            </a:r>
            <a:r>
              <a:rPr sz="1600" b="1" i="0" u="none" dirty="0">
                <a:solidFill>
                  <a:srgbClr val="0F172A"/>
                </a:solidFill>
                <a:latin typeface="Poppins"/>
              </a:rPr>
              <a:t> </a:t>
            </a:r>
            <a:r>
              <a:rPr sz="1600" b="1" i="0" u="none" dirty="0" err="1">
                <a:solidFill>
                  <a:srgbClr val="0F172A"/>
                </a:solidFill>
                <a:latin typeface="Poppins"/>
              </a:rPr>
              <a:t>Kualitas</a:t>
            </a:r>
            <a:r>
              <a:rPr sz="1600" b="1" i="0" u="none" dirty="0">
                <a:solidFill>
                  <a:srgbClr val="0F172A"/>
                </a:solidFill>
                <a:latin typeface="Poppins"/>
              </a:rPr>
              <a:t> Data</a:t>
            </a:r>
          </a:p>
        </p:txBody>
      </p:sp>
      <p:sp>
        <p:nvSpPr>
          <p:cNvPr id="5" name="TextBox 4"/>
          <p:cNvSpPr txBox="1"/>
          <p:nvPr/>
        </p:nvSpPr>
        <p:spPr>
          <a:xfrm>
            <a:off x="857250" y="2370683"/>
            <a:ext cx="5048250" cy="6858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Missing Value Berpola:</a:t>
            </a:r>
            <a:r>
              <a:rPr sz="1400" b="0" i="0" u="none">
                <a:solidFill>
                  <a:srgbClr val="475569"/>
                </a:solidFill>
                <a:latin typeface="Inter"/>
              </a:rPr>
              <a:t> Misal variabel </a:t>
            </a:r>
            <a:r>
              <a:rPr sz="1400" b="0" i="1" u="none">
                <a:solidFill>
                  <a:srgbClr val="475569"/>
                </a:solidFill>
                <a:latin typeface="Inter"/>
              </a:rPr>
              <a:t>Stres Kerja</a:t>
            </a:r>
            <a:r>
              <a:rPr sz="1400" b="0" i="0" u="none">
                <a:solidFill>
                  <a:srgbClr val="475569"/>
                </a:solidFill>
                <a:latin typeface="Inter"/>
              </a:rPr>
              <a:t> kosong 23%. Ini bukan sekadar data hilang, pekerja mungkin enggan mengisi karena takut dampaknya pada evaluasi karir.</a:t>
            </a:r>
          </a:p>
        </p:txBody>
      </p:sp>
      <p:sp>
        <p:nvSpPr>
          <p:cNvPr id="6" name="TextBox 5"/>
          <p:cNvSpPr txBox="1"/>
          <p:nvPr/>
        </p:nvSpPr>
        <p:spPr>
          <a:xfrm>
            <a:off x="857250" y="3189833"/>
            <a:ext cx="5048250" cy="457200"/>
          </a:xfrm>
          <a:prstGeom prst="rect">
            <a:avLst/>
          </a:prstGeom>
          <a:noFill/>
        </p:spPr>
        <p:txBody>
          <a:bodyPr wrap="square" lIns="0" tIns="0" rIns="0" bIns="0" anchor="t">
            <a:spAutoFit/>
          </a:bodyPr>
          <a:lstStyle/>
          <a:p>
            <a:pPr algn="l">
              <a:lnSpc>
                <a:spcPts val="1800"/>
              </a:lnSpc>
            </a:pPr>
            <a:r>
              <a:rPr sz="1400" b="1" i="0" u="none" dirty="0">
                <a:solidFill>
                  <a:srgbClr val="475569"/>
                </a:solidFill>
                <a:latin typeface="Inter"/>
              </a:rPr>
              <a:t>Nilai Tidak </a:t>
            </a:r>
            <a:r>
              <a:rPr sz="1400" b="1" i="0" u="none" dirty="0" err="1">
                <a:solidFill>
                  <a:srgbClr val="475569"/>
                </a:solidFill>
                <a:latin typeface="Inter"/>
              </a:rPr>
              <a:t>Wajar</a:t>
            </a:r>
            <a:r>
              <a:rPr sz="1400" b="1" i="0" u="none" dirty="0">
                <a:solidFill>
                  <a:srgbClr val="475569"/>
                </a:solidFill>
                <a:latin typeface="Inter"/>
              </a:rPr>
              <a:t> (Data Error):</a:t>
            </a:r>
            <a:r>
              <a:rPr sz="1400" b="0" i="0" u="none" dirty="0">
                <a:solidFill>
                  <a:srgbClr val="475569"/>
                </a:solidFill>
                <a:latin typeface="Inter"/>
              </a:rPr>
              <a:t> </a:t>
            </a:r>
            <a:r>
              <a:rPr sz="1400" b="0" i="0" u="none" dirty="0" err="1">
                <a:solidFill>
                  <a:srgbClr val="475569"/>
                </a:solidFill>
                <a:latin typeface="Inter"/>
              </a:rPr>
              <a:t>Menemukan</a:t>
            </a:r>
            <a:r>
              <a:rPr sz="1400" b="0" i="0" u="none" dirty="0">
                <a:solidFill>
                  <a:srgbClr val="475569"/>
                </a:solidFill>
                <a:latin typeface="Inter"/>
              </a:rPr>
              <a:t> input </a:t>
            </a:r>
            <a:r>
              <a:rPr sz="1400" b="0" i="0" u="none" dirty="0" err="1">
                <a:solidFill>
                  <a:srgbClr val="475569"/>
                </a:solidFill>
                <a:latin typeface="Inter"/>
              </a:rPr>
              <a:t>Usia</a:t>
            </a:r>
            <a:r>
              <a:rPr sz="1400" b="0" i="0" u="none" dirty="0">
                <a:solidFill>
                  <a:srgbClr val="475569"/>
                </a:solidFill>
                <a:latin typeface="Inter"/>
              </a:rPr>
              <a:t> = 5 </a:t>
            </a:r>
            <a:r>
              <a:rPr sz="1400" b="0" i="0" u="none" dirty="0" err="1">
                <a:solidFill>
                  <a:srgbClr val="475569"/>
                </a:solidFill>
                <a:latin typeface="Inter"/>
              </a:rPr>
              <a:t>tahun</a:t>
            </a:r>
            <a:r>
              <a:rPr sz="1400" b="0" i="0" u="none" dirty="0">
                <a:solidFill>
                  <a:srgbClr val="475569"/>
                </a:solidFill>
                <a:latin typeface="Inter"/>
              </a:rPr>
              <a:t> </a:t>
            </a:r>
            <a:r>
              <a:rPr sz="1400" b="0" i="0" u="none" dirty="0" err="1">
                <a:solidFill>
                  <a:srgbClr val="475569"/>
                </a:solidFill>
                <a:latin typeface="Inter"/>
              </a:rPr>
              <a:t>atau</a:t>
            </a:r>
            <a:r>
              <a:rPr sz="1400" b="0" i="0" u="none" dirty="0">
                <a:solidFill>
                  <a:srgbClr val="475569"/>
                </a:solidFill>
                <a:latin typeface="Inter"/>
              </a:rPr>
              <a:t> Jam </a:t>
            </a:r>
            <a:r>
              <a:rPr sz="1400" b="0" i="0" u="none" dirty="0" err="1">
                <a:solidFill>
                  <a:srgbClr val="475569"/>
                </a:solidFill>
                <a:latin typeface="Inter"/>
              </a:rPr>
              <a:t>Kerja</a:t>
            </a:r>
            <a:r>
              <a:rPr sz="1400" b="0" i="0" u="none" dirty="0">
                <a:solidFill>
                  <a:srgbClr val="475569"/>
                </a:solidFill>
                <a:latin typeface="Inter"/>
              </a:rPr>
              <a:t> = 30 jam/</a:t>
            </a:r>
            <a:r>
              <a:rPr sz="1400" b="0" i="0" u="none" dirty="0" err="1">
                <a:solidFill>
                  <a:srgbClr val="475569"/>
                </a:solidFill>
                <a:latin typeface="Inter"/>
              </a:rPr>
              <a:t>hari</a:t>
            </a:r>
            <a:r>
              <a:rPr sz="1400" b="0" i="0" u="none" dirty="0">
                <a:solidFill>
                  <a:srgbClr val="475569"/>
                </a:solidFill>
                <a:latin typeface="Inter"/>
              </a:rPr>
              <a:t>. Ini </a:t>
            </a:r>
            <a:r>
              <a:rPr sz="1400" b="0" i="0" u="none" dirty="0" err="1">
                <a:solidFill>
                  <a:srgbClr val="475569"/>
                </a:solidFill>
                <a:latin typeface="Inter"/>
              </a:rPr>
              <a:t>murni</a:t>
            </a:r>
            <a:r>
              <a:rPr sz="1400" b="0" i="0" u="none" dirty="0">
                <a:solidFill>
                  <a:srgbClr val="475569"/>
                </a:solidFill>
                <a:latin typeface="Inter"/>
              </a:rPr>
              <a:t> </a:t>
            </a:r>
            <a:r>
              <a:rPr sz="1400" b="0" i="0" u="none" dirty="0" err="1">
                <a:solidFill>
                  <a:srgbClr val="475569"/>
                </a:solidFill>
                <a:latin typeface="Inter"/>
              </a:rPr>
              <a:t>kesalahan</a:t>
            </a:r>
            <a:r>
              <a:rPr sz="1400" b="0" i="0" u="none" dirty="0">
                <a:solidFill>
                  <a:srgbClr val="475569"/>
                </a:solidFill>
                <a:latin typeface="Inter"/>
              </a:rPr>
              <a:t> input </a:t>
            </a:r>
            <a:r>
              <a:rPr sz="1400" b="0" i="0" u="none" dirty="0" err="1">
                <a:solidFill>
                  <a:srgbClr val="475569"/>
                </a:solidFill>
                <a:latin typeface="Inter"/>
              </a:rPr>
              <a:t>atau</a:t>
            </a:r>
            <a:r>
              <a:rPr sz="1400" b="0" i="0" u="none" dirty="0">
                <a:solidFill>
                  <a:srgbClr val="475569"/>
                </a:solidFill>
                <a:latin typeface="Inter"/>
              </a:rPr>
              <a:t> sensor data.</a:t>
            </a:r>
          </a:p>
        </p:txBody>
      </p:sp>
      <p:sp>
        <p:nvSpPr>
          <p:cNvPr id="7" name="TextBox 6"/>
          <p:cNvSpPr txBox="1"/>
          <p:nvPr/>
        </p:nvSpPr>
        <p:spPr>
          <a:xfrm>
            <a:off x="857250" y="3780383"/>
            <a:ext cx="5048250" cy="457200"/>
          </a:xfrm>
          <a:prstGeom prst="rect">
            <a:avLst/>
          </a:prstGeom>
          <a:noFill/>
        </p:spPr>
        <p:txBody>
          <a:bodyPr wrap="square" lIns="0" tIns="0" rIns="0" bIns="0" anchor="t">
            <a:spAutoFit/>
          </a:bodyPr>
          <a:lstStyle/>
          <a:p>
            <a:pPr algn="l">
              <a:lnSpc>
                <a:spcPts val="1800"/>
              </a:lnSpc>
            </a:pPr>
            <a:r>
              <a:rPr sz="1400" b="1" i="0" u="none" dirty="0" err="1">
                <a:solidFill>
                  <a:srgbClr val="475569"/>
                </a:solidFill>
                <a:latin typeface="Inter"/>
              </a:rPr>
              <a:t>Prinsip</a:t>
            </a:r>
            <a:r>
              <a:rPr sz="1400" b="1" i="0" u="none" dirty="0">
                <a:solidFill>
                  <a:srgbClr val="475569"/>
                </a:solidFill>
                <a:latin typeface="Inter"/>
              </a:rPr>
              <a:t> :</a:t>
            </a:r>
            <a:r>
              <a:rPr sz="1400" b="0" i="0" u="none" dirty="0">
                <a:solidFill>
                  <a:srgbClr val="475569"/>
                </a:solidFill>
                <a:latin typeface="Inter"/>
              </a:rPr>
              <a:t> </a:t>
            </a:r>
            <a:r>
              <a:rPr sz="1400" b="0" i="0" u="none" dirty="0" err="1">
                <a:solidFill>
                  <a:srgbClr val="475569"/>
                </a:solidFill>
                <a:latin typeface="Inter"/>
              </a:rPr>
              <a:t>Kebiasaan</a:t>
            </a:r>
            <a:r>
              <a:rPr sz="1400" b="0" i="0" u="none" dirty="0">
                <a:solidFill>
                  <a:srgbClr val="475569"/>
                </a:solidFill>
                <a:latin typeface="Inter"/>
              </a:rPr>
              <a:t> </a:t>
            </a:r>
            <a:r>
              <a:rPr sz="1400" b="0" i="0" u="none" dirty="0" err="1">
                <a:solidFill>
                  <a:srgbClr val="475569"/>
                </a:solidFill>
                <a:latin typeface="Inter"/>
              </a:rPr>
              <a:t>mengisi</a:t>
            </a:r>
            <a:r>
              <a:rPr sz="1400" b="0" i="0" u="none" dirty="0">
                <a:solidFill>
                  <a:srgbClr val="475569"/>
                </a:solidFill>
                <a:latin typeface="Inter"/>
              </a:rPr>
              <a:t> data </a:t>
            </a:r>
            <a:r>
              <a:rPr sz="1400" b="0" i="0" u="none" dirty="0" err="1">
                <a:solidFill>
                  <a:srgbClr val="475569"/>
                </a:solidFill>
                <a:latin typeface="Inter"/>
              </a:rPr>
              <a:t>mencerminkan</a:t>
            </a:r>
            <a:r>
              <a:rPr sz="1400" b="0" i="0" u="none" dirty="0">
                <a:solidFill>
                  <a:srgbClr val="475569"/>
                </a:solidFill>
                <a:latin typeface="Inter"/>
              </a:rPr>
              <a:t> </a:t>
            </a:r>
            <a:r>
              <a:rPr sz="1400" b="0" i="0" u="none" dirty="0" err="1">
                <a:solidFill>
                  <a:srgbClr val="475569"/>
                </a:solidFill>
                <a:latin typeface="Inter"/>
              </a:rPr>
              <a:t>perilaku</a:t>
            </a:r>
            <a:r>
              <a:rPr sz="1400" b="0" i="0" u="none" dirty="0">
                <a:solidFill>
                  <a:srgbClr val="475569"/>
                </a:solidFill>
                <a:latin typeface="Inter"/>
              </a:rPr>
              <a:t> </a:t>
            </a:r>
            <a:r>
              <a:rPr sz="1400" b="0" i="0" u="none" dirty="0" err="1">
                <a:solidFill>
                  <a:srgbClr val="475569"/>
                </a:solidFill>
                <a:latin typeface="Inter"/>
              </a:rPr>
              <a:t>manusia</a:t>
            </a:r>
            <a:r>
              <a:rPr sz="1400" b="0" i="0" u="none" dirty="0">
                <a:solidFill>
                  <a:srgbClr val="475569"/>
                </a:solidFill>
                <a:latin typeface="Inter"/>
              </a:rPr>
              <a:t> dan </a:t>
            </a:r>
            <a:r>
              <a:rPr sz="1400" b="0" i="0" u="none" dirty="0" err="1">
                <a:solidFill>
                  <a:srgbClr val="475569"/>
                </a:solidFill>
                <a:latin typeface="Inter"/>
              </a:rPr>
              <a:t>efektivitas</a:t>
            </a:r>
            <a:r>
              <a:rPr sz="1400" b="0" i="0" u="none" dirty="0">
                <a:solidFill>
                  <a:srgbClr val="475569"/>
                </a:solidFill>
                <a:latin typeface="Inter"/>
              </a:rPr>
              <a:t> </a:t>
            </a:r>
            <a:r>
              <a:rPr sz="1400" b="0" i="0" u="none" dirty="0" err="1">
                <a:solidFill>
                  <a:srgbClr val="475569"/>
                </a:solidFill>
                <a:latin typeface="Inter"/>
              </a:rPr>
              <a:t>sistem</a:t>
            </a:r>
            <a:r>
              <a:rPr sz="1400" b="0" i="0" u="none" dirty="0">
                <a:solidFill>
                  <a:srgbClr val="475569"/>
                </a:solidFill>
                <a:latin typeface="Inter"/>
              </a:rPr>
              <a:t> </a:t>
            </a:r>
            <a:r>
              <a:rPr sz="1400" b="0" i="0" u="none" dirty="0" err="1">
                <a:solidFill>
                  <a:srgbClr val="475569"/>
                </a:solidFill>
                <a:latin typeface="Inter"/>
              </a:rPr>
              <a:t>pengumpulan</a:t>
            </a:r>
            <a:r>
              <a:rPr sz="1400" b="0" i="0" u="none" dirty="0">
                <a:solidFill>
                  <a:srgbClr val="475569"/>
                </a:solidFill>
                <a:latin typeface="Inter"/>
              </a:rPr>
              <a:t> data di </a:t>
            </a:r>
            <a:r>
              <a:rPr sz="1400" b="0" i="0" u="none" dirty="0" err="1">
                <a:solidFill>
                  <a:srgbClr val="475569"/>
                </a:solidFill>
                <a:latin typeface="Inter"/>
              </a:rPr>
              <a:t>lapangan</a:t>
            </a:r>
            <a:r>
              <a:rPr sz="1400" b="0" i="0" u="none" dirty="0">
                <a:solidFill>
                  <a:srgbClr val="475569"/>
                </a:solidFill>
                <a:latin typeface="Inter"/>
              </a:rPr>
              <a:t>.</a:t>
            </a:r>
          </a:p>
        </p:txBody>
      </p:sp>
      <p:pic>
        <p:nvPicPr>
          <p:cNvPr id="8" name="Picture 7" descr="image.png"/>
          <p:cNvPicPr>
            <a:picLocks noChangeAspect="1"/>
          </p:cNvPicPr>
          <p:nvPr/>
        </p:nvPicPr>
        <p:blipFill>
          <a:blip r:embed="rId5"/>
          <a:stretch>
            <a:fillRect/>
          </a:stretch>
        </p:blipFill>
        <p:spPr>
          <a:xfrm>
            <a:off x="6296025" y="1951583"/>
            <a:ext cx="5314950" cy="3581400"/>
          </a:xfrm>
          <a:prstGeom prst="rect">
            <a:avLst/>
          </a:prstGeom>
        </p:spPr>
      </p:pic>
      <p:pic>
        <p:nvPicPr>
          <p:cNvPr id="9" name="Picture 8" descr="image.png"/>
          <p:cNvPicPr>
            <a:picLocks noChangeAspect="1"/>
          </p:cNvPicPr>
          <p:nvPr/>
        </p:nvPicPr>
        <p:blipFill>
          <a:blip r:embed="rId6"/>
          <a:stretch>
            <a:fillRect/>
          </a:stretch>
        </p:blipFill>
        <p:spPr>
          <a:xfrm>
            <a:off x="571500" y="2399258"/>
            <a:ext cx="152400" cy="152400"/>
          </a:xfrm>
          <a:prstGeom prst="rect">
            <a:avLst/>
          </a:prstGeom>
        </p:spPr>
      </p:pic>
      <p:pic>
        <p:nvPicPr>
          <p:cNvPr id="10" name="Picture 9" descr="image.png"/>
          <p:cNvPicPr>
            <a:picLocks noChangeAspect="1"/>
          </p:cNvPicPr>
          <p:nvPr/>
        </p:nvPicPr>
        <p:blipFill>
          <a:blip r:embed="rId7"/>
          <a:stretch>
            <a:fillRect/>
          </a:stretch>
        </p:blipFill>
        <p:spPr>
          <a:xfrm>
            <a:off x="571500" y="3218408"/>
            <a:ext cx="152400" cy="152400"/>
          </a:xfrm>
          <a:prstGeom prst="rect">
            <a:avLst/>
          </a:prstGeom>
        </p:spPr>
      </p:pic>
      <p:pic>
        <p:nvPicPr>
          <p:cNvPr id="11" name="Picture 10" descr="image.png"/>
          <p:cNvPicPr>
            <a:picLocks noChangeAspect="1"/>
          </p:cNvPicPr>
          <p:nvPr/>
        </p:nvPicPr>
        <p:blipFill>
          <a:blip r:embed="rId8"/>
          <a:stretch>
            <a:fillRect/>
          </a:stretch>
        </p:blipFill>
        <p:spPr>
          <a:xfrm>
            <a:off x="571500" y="3808958"/>
            <a:ext cx="152400" cy="152400"/>
          </a:xfrm>
          <a:prstGeom prst="rect">
            <a:avLst/>
          </a:prstGeom>
        </p:spPr>
      </p:pic>
      <p:sp>
        <p:nvSpPr>
          <p:cNvPr id="12" name="TextBox 11"/>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Kualitas Data: Anomali &amp; Missing</a:t>
            </a:r>
          </a:p>
        </p:txBody>
      </p:sp>
      <p:sp>
        <p:nvSpPr>
          <p:cNvPr id="13" name="Rectangle 12"/>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568184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D74BD5DF-7941-82C2-4F76-DACC7CC351F2}"/>
              </a:ext>
            </a:extLst>
          </p:cNvPr>
          <p:cNvGrpSpPr/>
          <p:nvPr/>
        </p:nvGrpSpPr>
        <p:grpSpPr>
          <a:xfrm>
            <a:off x="571500" y="3645990"/>
            <a:ext cx="4410075" cy="2462212"/>
            <a:chOff x="476250" y="2506414"/>
            <a:chExt cx="5476875" cy="2462212"/>
          </a:xfrm>
        </p:grpSpPr>
        <p:pic>
          <p:nvPicPr>
            <p:cNvPr id="27" name="Picture 26" descr="image.png">
              <a:extLst>
                <a:ext uri="{FF2B5EF4-FFF2-40B4-BE49-F238E27FC236}">
                  <a16:creationId xmlns:a16="http://schemas.microsoft.com/office/drawing/2014/main" id="{002BD625-FDE8-E530-FDC6-D982F4D59B48}"/>
                </a:ext>
              </a:extLst>
            </p:cNvPr>
            <p:cNvPicPr>
              <a:picLocks noChangeAspect="1"/>
            </p:cNvPicPr>
            <p:nvPr/>
          </p:nvPicPr>
          <p:blipFill>
            <a:blip r:embed="rId3"/>
            <a:stretch>
              <a:fillRect/>
            </a:stretch>
          </p:blipFill>
          <p:spPr>
            <a:xfrm>
              <a:off x="476250" y="2506414"/>
              <a:ext cx="5476875" cy="2462212"/>
            </a:xfrm>
            <a:prstGeom prst="rect">
              <a:avLst/>
            </a:prstGeom>
          </p:spPr>
        </p:pic>
        <p:sp>
          <p:nvSpPr>
            <p:cNvPr id="28" name="TextBox 27">
              <a:extLst>
                <a:ext uri="{FF2B5EF4-FFF2-40B4-BE49-F238E27FC236}">
                  <a16:creationId xmlns:a16="http://schemas.microsoft.com/office/drawing/2014/main" id="{239FD03E-B339-987A-E559-B89AC4FCAB06}"/>
                </a:ext>
              </a:extLst>
            </p:cNvPr>
            <p:cNvSpPr txBox="1"/>
            <p:nvPr/>
          </p:nvSpPr>
          <p:spPr>
            <a:xfrm>
              <a:off x="628411" y="2973139"/>
              <a:ext cx="5210651" cy="266700"/>
            </a:xfrm>
            <a:prstGeom prst="rect">
              <a:avLst/>
            </a:prstGeom>
            <a:noFill/>
          </p:spPr>
          <p:txBody>
            <a:bodyPr wrap="square" lIns="0" tIns="0" rIns="0" bIns="0" anchor="t">
              <a:spAutoFit/>
            </a:bodyPr>
            <a:lstStyle/>
            <a:p>
              <a:pPr algn="ctr"/>
              <a:r>
                <a:rPr sz="1650" b="1" i="0" u="none" dirty="0">
                  <a:solidFill>
                    <a:srgbClr val="0F172A"/>
                  </a:solidFill>
                  <a:latin typeface="Plus Jakarta Sans"/>
                </a:rPr>
                <a:t>Skor </a:t>
              </a:r>
              <a:r>
                <a:rPr sz="1650" b="1" i="0" u="none" dirty="0" err="1">
                  <a:solidFill>
                    <a:srgbClr val="0F172A"/>
                  </a:solidFill>
                  <a:latin typeface="Plus Jakarta Sans"/>
                </a:rPr>
                <a:t>Kelelahan</a:t>
              </a:r>
              <a:r>
                <a:rPr sz="1650" b="1" i="0" u="none" dirty="0">
                  <a:solidFill>
                    <a:srgbClr val="0F172A"/>
                  </a:solidFill>
                  <a:latin typeface="Plus Jakarta Sans"/>
                </a:rPr>
                <a:t> </a:t>
              </a:r>
              <a:r>
                <a:rPr sz="1650" b="1" i="0" u="none" dirty="0" err="1">
                  <a:solidFill>
                    <a:srgbClr val="0F172A"/>
                  </a:solidFill>
                  <a:latin typeface="Plus Jakarta Sans"/>
                </a:rPr>
                <a:t>Ekstrem</a:t>
              </a:r>
              <a:endParaRPr sz="1650" b="1" i="0" u="none" dirty="0">
                <a:solidFill>
                  <a:srgbClr val="0F172A"/>
                </a:solidFill>
                <a:latin typeface="Plus Jakarta Sans"/>
              </a:endParaRPr>
            </a:p>
          </p:txBody>
        </p:sp>
        <p:sp>
          <p:nvSpPr>
            <p:cNvPr id="29" name="TextBox 28">
              <a:extLst>
                <a:ext uri="{FF2B5EF4-FFF2-40B4-BE49-F238E27FC236}">
                  <a16:creationId xmlns:a16="http://schemas.microsoft.com/office/drawing/2014/main" id="{E7B826AC-B05C-B6B5-1423-A12E71937977}"/>
                </a:ext>
              </a:extLst>
            </p:cNvPr>
            <p:cNvSpPr txBox="1"/>
            <p:nvPr/>
          </p:nvSpPr>
          <p:spPr>
            <a:xfrm>
              <a:off x="752475" y="3430339"/>
              <a:ext cx="4962525" cy="733425"/>
            </a:xfrm>
            <a:prstGeom prst="rect">
              <a:avLst/>
            </a:prstGeom>
            <a:noFill/>
          </p:spPr>
          <p:txBody>
            <a:bodyPr wrap="square" lIns="0" tIns="0" rIns="0" bIns="0" anchor="t">
              <a:spAutoFit/>
            </a:bodyPr>
            <a:lstStyle/>
            <a:p>
              <a:pPr algn="ctr"/>
              <a:r>
                <a:rPr sz="4800" b="0" i="0" u="none">
                  <a:solidFill>
                    <a:srgbClr val="EF4444"/>
                  </a:solidFill>
                  <a:latin typeface="Inter ExtraBold"/>
                </a:rPr>
                <a:t>10 / 10</a:t>
              </a:r>
            </a:p>
          </p:txBody>
        </p:sp>
        <p:sp>
          <p:nvSpPr>
            <p:cNvPr id="30" name="TextBox 29">
              <a:extLst>
                <a:ext uri="{FF2B5EF4-FFF2-40B4-BE49-F238E27FC236}">
                  <a16:creationId xmlns:a16="http://schemas.microsoft.com/office/drawing/2014/main" id="{D2329F6C-8299-BC7E-9E55-506771C65404}"/>
                </a:ext>
              </a:extLst>
            </p:cNvPr>
            <p:cNvSpPr txBox="1"/>
            <p:nvPr/>
          </p:nvSpPr>
          <p:spPr>
            <a:xfrm>
              <a:off x="752475" y="4259014"/>
              <a:ext cx="4962525" cy="242887"/>
            </a:xfrm>
            <a:prstGeom prst="rect">
              <a:avLst/>
            </a:prstGeom>
            <a:noFill/>
          </p:spPr>
          <p:txBody>
            <a:bodyPr wrap="square" lIns="0" tIns="0" rIns="0" bIns="0" anchor="t">
              <a:spAutoFit/>
            </a:bodyPr>
            <a:lstStyle/>
            <a:p>
              <a:pPr algn="ctr">
                <a:lnSpc>
                  <a:spcPts val="1912"/>
                </a:lnSpc>
              </a:pPr>
              <a:r>
                <a:rPr sz="1275" b="0" i="0" u="none">
                  <a:solidFill>
                    <a:srgbClr val="334155"/>
                  </a:solidFill>
                  <a:latin typeface="Inter"/>
                </a:rPr>
                <a:t>Pekerja dengan skor terisolasi di batas maksimum skala.</a:t>
              </a:r>
            </a:p>
          </p:txBody>
        </p:sp>
      </p:grpSp>
      <p:pic>
        <p:nvPicPr>
          <p:cNvPr id="4" name="Picture 3" descr="image.png"/>
          <p:cNvPicPr>
            <a:picLocks noChangeAspect="1"/>
          </p:cNvPicPr>
          <p:nvPr/>
        </p:nvPicPr>
        <p:blipFill>
          <a:blip r:embed="rId4"/>
          <a:stretch>
            <a:fillRect/>
          </a:stretch>
        </p:blipFill>
        <p:spPr>
          <a:xfrm>
            <a:off x="5219700" y="2223045"/>
            <a:ext cx="6400800" cy="1200150"/>
          </a:xfrm>
          <a:prstGeom prst="rect">
            <a:avLst/>
          </a:prstGeom>
        </p:spPr>
      </p:pic>
      <p:grpSp>
        <p:nvGrpSpPr>
          <p:cNvPr id="25" name="Group 24">
            <a:extLst>
              <a:ext uri="{FF2B5EF4-FFF2-40B4-BE49-F238E27FC236}">
                <a16:creationId xmlns:a16="http://schemas.microsoft.com/office/drawing/2014/main" id="{3AD25018-ACBD-AF9A-B653-C6657FD0EEA0}"/>
              </a:ext>
            </a:extLst>
          </p:cNvPr>
          <p:cNvGrpSpPr/>
          <p:nvPr/>
        </p:nvGrpSpPr>
        <p:grpSpPr>
          <a:xfrm>
            <a:off x="595312" y="1227683"/>
            <a:ext cx="4267200" cy="2195512"/>
            <a:chOff x="571500" y="2644526"/>
            <a:chExt cx="4267200" cy="2195512"/>
          </a:xfrm>
        </p:grpSpPr>
        <p:pic>
          <p:nvPicPr>
            <p:cNvPr id="3" name="Picture 2" descr="image.png"/>
            <p:cNvPicPr>
              <a:picLocks noChangeAspect="1"/>
            </p:cNvPicPr>
            <p:nvPr/>
          </p:nvPicPr>
          <p:blipFill>
            <a:blip r:embed="rId5"/>
            <a:stretch>
              <a:fillRect/>
            </a:stretch>
          </p:blipFill>
          <p:spPr>
            <a:xfrm>
              <a:off x="571500" y="2644526"/>
              <a:ext cx="4267200" cy="2195512"/>
            </a:xfrm>
            <a:prstGeom prst="rect">
              <a:avLst/>
            </a:prstGeom>
          </p:spPr>
        </p:pic>
        <p:sp>
          <p:nvSpPr>
            <p:cNvPr id="5" name="TextBox 4"/>
            <p:cNvSpPr txBox="1"/>
            <p:nvPr/>
          </p:nvSpPr>
          <p:spPr>
            <a:xfrm>
              <a:off x="952500" y="3025526"/>
              <a:ext cx="3505200" cy="857250"/>
            </a:xfrm>
            <a:prstGeom prst="rect">
              <a:avLst/>
            </a:prstGeom>
            <a:noFill/>
          </p:spPr>
          <p:txBody>
            <a:bodyPr wrap="square" lIns="0" tIns="0" rIns="0" bIns="0" anchor="t">
              <a:spAutoFit/>
            </a:bodyPr>
            <a:lstStyle/>
            <a:p>
              <a:pPr algn="ctr">
                <a:lnSpc>
                  <a:spcPts val="6750"/>
                </a:lnSpc>
              </a:pPr>
              <a:r>
                <a:rPr sz="6750" b="1" i="0" u="none" dirty="0">
                  <a:solidFill>
                    <a:srgbClr val="38BDF8"/>
                  </a:solidFill>
                  <a:latin typeface="Poppins"/>
                </a:rPr>
                <a:t>15 jam</a:t>
              </a:r>
            </a:p>
          </p:txBody>
        </p:sp>
        <p:sp>
          <p:nvSpPr>
            <p:cNvPr id="6" name="TextBox 5"/>
            <p:cNvSpPr txBox="1"/>
            <p:nvPr/>
          </p:nvSpPr>
          <p:spPr>
            <a:xfrm>
              <a:off x="952500" y="3978026"/>
              <a:ext cx="3505200" cy="200025"/>
            </a:xfrm>
            <a:prstGeom prst="rect">
              <a:avLst/>
            </a:prstGeom>
            <a:noFill/>
          </p:spPr>
          <p:txBody>
            <a:bodyPr wrap="square" lIns="0" tIns="0" rIns="0" bIns="0" anchor="t">
              <a:spAutoFit/>
            </a:bodyPr>
            <a:lstStyle/>
            <a:p>
              <a:pPr algn="ctr"/>
              <a:r>
                <a:rPr sz="1350" b="0" i="0" u="none">
                  <a:solidFill>
                    <a:srgbClr val="E0F2FE"/>
                  </a:solidFill>
                  <a:latin typeface="Inter Medium"/>
                </a:rPr>
                <a:t>Maksimum Jam Kerja/Hari</a:t>
              </a:r>
            </a:p>
          </p:txBody>
        </p:sp>
        <p:sp>
          <p:nvSpPr>
            <p:cNvPr id="7" name="TextBox 6"/>
            <p:cNvSpPr txBox="1"/>
            <p:nvPr/>
          </p:nvSpPr>
          <p:spPr>
            <a:xfrm>
              <a:off x="952500" y="4273301"/>
              <a:ext cx="3505200" cy="185737"/>
            </a:xfrm>
            <a:prstGeom prst="rect">
              <a:avLst/>
            </a:prstGeom>
            <a:noFill/>
          </p:spPr>
          <p:txBody>
            <a:bodyPr wrap="square" lIns="0" tIns="0" rIns="0" bIns="0" anchor="t">
              <a:spAutoFit/>
            </a:bodyPr>
            <a:lstStyle/>
            <a:p>
              <a:pPr algn="ctr">
                <a:lnSpc>
                  <a:spcPts val="1462"/>
                </a:lnSpc>
              </a:pPr>
              <a:r>
                <a:rPr sz="975" b="0" i="0" u="none">
                  <a:solidFill>
                    <a:srgbClr val="93C5FD"/>
                  </a:solidFill>
                  <a:latin typeface="Inter"/>
                </a:rPr>
                <a:t>Rata-rata: 9.2 jam | Median: 9.0 jam</a:t>
              </a:r>
            </a:p>
          </p:txBody>
        </p:sp>
      </p:grpSp>
      <p:sp>
        <p:nvSpPr>
          <p:cNvPr id="8" name="TextBox 7"/>
          <p:cNvSpPr txBox="1"/>
          <p:nvPr/>
        </p:nvSpPr>
        <p:spPr>
          <a:xfrm>
            <a:off x="5219700" y="1165770"/>
            <a:ext cx="6720840" cy="253916"/>
          </a:xfrm>
          <a:prstGeom prst="rect">
            <a:avLst/>
          </a:prstGeom>
          <a:noFill/>
        </p:spPr>
        <p:txBody>
          <a:bodyPr wrap="square" lIns="0" tIns="0" rIns="0" bIns="0" anchor="t">
            <a:spAutoFit/>
          </a:bodyPr>
          <a:lstStyle/>
          <a:p>
            <a:pPr algn="l"/>
            <a:r>
              <a:rPr sz="1650" b="1" i="0" u="none" dirty="0" err="1">
                <a:solidFill>
                  <a:srgbClr val="0F172A"/>
                </a:solidFill>
                <a:latin typeface="Poppins"/>
              </a:rPr>
              <a:t>Memahami</a:t>
            </a:r>
            <a:r>
              <a:rPr sz="1650" b="1" i="0" u="none" dirty="0">
                <a:solidFill>
                  <a:srgbClr val="0F172A"/>
                </a:solidFill>
                <a:latin typeface="Poppins"/>
              </a:rPr>
              <a:t> Outlier </a:t>
            </a:r>
            <a:r>
              <a:rPr sz="1650" b="1" i="0" u="none" dirty="0" err="1">
                <a:solidFill>
                  <a:srgbClr val="0F172A"/>
                </a:solidFill>
                <a:latin typeface="Poppins"/>
              </a:rPr>
              <a:t>dalam</a:t>
            </a:r>
            <a:r>
              <a:rPr sz="1650" b="1" i="0" u="none" dirty="0">
                <a:solidFill>
                  <a:srgbClr val="0F172A"/>
                </a:solidFill>
                <a:latin typeface="Poppins"/>
              </a:rPr>
              <a:t> </a:t>
            </a:r>
            <a:r>
              <a:rPr sz="1650" b="1" i="0" u="none" dirty="0" err="1">
                <a:solidFill>
                  <a:srgbClr val="0F172A"/>
                </a:solidFill>
                <a:latin typeface="Poppins"/>
              </a:rPr>
              <a:t>Perspektif</a:t>
            </a:r>
            <a:r>
              <a:rPr sz="1650" b="1" i="0" u="none" dirty="0">
                <a:solidFill>
                  <a:srgbClr val="0F172A"/>
                </a:solidFill>
                <a:latin typeface="Poppins"/>
              </a:rPr>
              <a:t> </a:t>
            </a:r>
          </a:p>
        </p:txBody>
      </p:sp>
      <p:sp>
        <p:nvSpPr>
          <p:cNvPr id="9" name="TextBox 8"/>
          <p:cNvSpPr txBox="1"/>
          <p:nvPr/>
        </p:nvSpPr>
        <p:spPr>
          <a:xfrm>
            <a:off x="5219700" y="1622970"/>
            <a:ext cx="6400800" cy="4572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Ketika Boxplot menunjukkan angka jam kerja 15 jam/hari atau kelelahan bernilai 10/10 sebagai outlier, </a:t>
            </a:r>
            <a:r>
              <a:rPr sz="1200" b="1" i="0" u="none">
                <a:solidFill>
                  <a:srgbClr val="475569"/>
                </a:solidFill>
                <a:latin typeface="Inter"/>
              </a:rPr>
              <a:t>jangan langsung menghapusnya!</a:t>
            </a:r>
          </a:p>
        </p:txBody>
      </p:sp>
      <p:sp>
        <p:nvSpPr>
          <p:cNvPr id="10" name="TextBox 9"/>
          <p:cNvSpPr txBox="1"/>
          <p:nvPr/>
        </p:nvSpPr>
        <p:spPr>
          <a:xfrm>
            <a:off x="5400675" y="2404020"/>
            <a:ext cx="2790825" cy="190500"/>
          </a:xfrm>
          <a:prstGeom prst="rect">
            <a:avLst/>
          </a:prstGeom>
          <a:noFill/>
        </p:spPr>
        <p:txBody>
          <a:bodyPr wrap="square" lIns="0" tIns="0" rIns="0" bIns="0" anchor="t">
            <a:spAutoFit/>
          </a:bodyPr>
          <a:lstStyle/>
          <a:p>
            <a:pPr algn="l"/>
            <a:r>
              <a:rPr sz="1200" b="1" i="0" u="none" dirty="0" err="1">
                <a:solidFill>
                  <a:srgbClr val="0284C7"/>
                </a:solidFill>
                <a:latin typeface="Inter"/>
              </a:rPr>
              <a:t>Mengapa</a:t>
            </a:r>
            <a:r>
              <a:rPr sz="1200" b="1" i="0" u="none" dirty="0">
                <a:solidFill>
                  <a:srgbClr val="0284C7"/>
                </a:solidFill>
                <a:latin typeface="Inter"/>
              </a:rPr>
              <a:t> Outlier  Sangat </a:t>
            </a:r>
            <a:r>
              <a:rPr sz="1200" b="1" i="0" u="none" dirty="0" err="1">
                <a:solidFill>
                  <a:srgbClr val="0284C7"/>
                </a:solidFill>
                <a:latin typeface="Inter"/>
              </a:rPr>
              <a:t>Berharga</a:t>
            </a:r>
            <a:r>
              <a:rPr sz="1200" b="1" i="0" u="none" dirty="0">
                <a:solidFill>
                  <a:srgbClr val="0284C7"/>
                </a:solidFill>
                <a:latin typeface="Inter"/>
              </a:rPr>
              <a:t>?</a:t>
            </a:r>
          </a:p>
        </p:txBody>
      </p:sp>
      <p:sp>
        <p:nvSpPr>
          <p:cNvPr id="11" name="TextBox 10"/>
          <p:cNvSpPr txBox="1"/>
          <p:nvPr/>
        </p:nvSpPr>
        <p:spPr>
          <a:xfrm>
            <a:off x="5400675" y="2642145"/>
            <a:ext cx="603885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Inter"/>
              </a:rPr>
              <a:t>Outlier dapat mengindikasikan kondisi darurat lapangan, penumpukan lembur yang tidak terdaftar, atau pekerja yang mengalami kelelahan kronis mendesak yang butuh penanganan segera.</a:t>
            </a:r>
          </a:p>
        </p:txBody>
      </p:sp>
      <p:sp>
        <p:nvSpPr>
          <p:cNvPr id="12" name="TextBox 11"/>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Statistik Deskriptif &amp; Outlier</a:t>
            </a:r>
          </a:p>
        </p:txBody>
      </p:sp>
      <p:sp>
        <p:nvSpPr>
          <p:cNvPr id="13" name="Rectangle 12"/>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 name="Group 13">
            <a:extLst>
              <a:ext uri="{FF2B5EF4-FFF2-40B4-BE49-F238E27FC236}">
                <a16:creationId xmlns:a16="http://schemas.microsoft.com/office/drawing/2014/main" id="{4F9EB767-C684-5478-FF1A-159E5E8DE83F}"/>
              </a:ext>
            </a:extLst>
          </p:cNvPr>
          <p:cNvGrpSpPr/>
          <p:nvPr/>
        </p:nvGrpSpPr>
        <p:grpSpPr>
          <a:xfrm>
            <a:off x="5219700" y="3661320"/>
            <a:ext cx="5486876" cy="2462212"/>
            <a:chOff x="6238875" y="2506414"/>
            <a:chExt cx="5486876" cy="2462212"/>
          </a:xfrm>
        </p:grpSpPr>
        <p:pic>
          <p:nvPicPr>
            <p:cNvPr id="15" name="Picture 14" descr="image.png">
              <a:extLst>
                <a:ext uri="{FF2B5EF4-FFF2-40B4-BE49-F238E27FC236}">
                  <a16:creationId xmlns:a16="http://schemas.microsoft.com/office/drawing/2014/main" id="{B7C2A4CE-C1AD-357A-F787-F57E20B6AEEA}"/>
                </a:ext>
              </a:extLst>
            </p:cNvPr>
            <p:cNvPicPr>
              <a:picLocks noChangeAspect="1"/>
            </p:cNvPicPr>
            <p:nvPr/>
          </p:nvPicPr>
          <p:blipFill>
            <a:blip r:embed="rId6"/>
            <a:stretch>
              <a:fillRect/>
            </a:stretch>
          </p:blipFill>
          <p:spPr>
            <a:xfrm>
              <a:off x="6238875" y="2506414"/>
              <a:ext cx="5476875" cy="2462212"/>
            </a:xfrm>
            <a:prstGeom prst="rect">
              <a:avLst/>
            </a:prstGeom>
          </p:spPr>
        </p:pic>
        <p:sp>
          <p:nvSpPr>
            <p:cNvPr id="16" name="TextBox 15">
              <a:extLst>
                <a:ext uri="{FF2B5EF4-FFF2-40B4-BE49-F238E27FC236}">
                  <a16:creationId xmlns:a16="http://schemas.microsoft.com/office/drawing/2014/main" id="{6511A14D-38D4-9336-9A8E-98A760D7B4DB}"/>
                </a:ext>
              </a:extLst>
            </p:cNvPr>
            <p:cNvSpPr txBox="1"/>
            <p:nvPr/>
          </p:nvSpPr>
          <p:spPr>
            <a:xfrm>
              <a:off x="6515100" y="2744539"/>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Jangan Langsung Hapus Outlier!</a:t>
              </a:r>
            </a:p>
          </p:txBody>
        </p:sp>
        <p:sp>
          <p:nvSpPr>
            <p:cNvPr id="17" name="TextBox 16">
              <a:extLst>
                <a:ext uri="{FF2B5EF4-FFF2-40B4-BE49-F238E27FC236}">
                  <a16:creationId xmlns:a16="http://schemas.microsoft.com/office/drawing/2014/main" id="{A4B34853-31CE-1DDD-F603-1EA7F2A7AD2B}"/>
                </a:ext>
              </a:extLst>
            </p:cNvPr>
            <p:cNvSpPr txBox="1"/>
            <p:nvPr/>
          </p:nvSpPr>
          <p:spPr>
            <a:xfrm>
              <a:off x="6515100" y="3077914"/>
              <a:ext cx="4962525" cy="485775"/>
            </a:xfrm>
            <a:prstGeom prst="rect">
              <a:avLst/>
            </a:prstGeom>
            <a:noFill/>
          </p:spPr>
          <p:txBody>
            <a:bodyPr wrap="square" lIns="0" tIns="0" rIns="0" bIns="0" anchor="t">
              <a:spAutoFit/>
            </a:bodyPr>
            <a:lstStyle/>
            <a:p>
              <a:pPr algn="l">
                <a:lnSpc>
                  <a:spcPts val="1912"/>
                </a:lnSpc>
              </a:pPr>
              <a:r>
                <a:rPr sz="1275" b="0" i="0" u="none" dirty="0" err="1">
                  <a:solidFill>
                    <a:srgbClr val="334155"/>
                  </a:solidFill>
                  <a:latin typeface="Inter"/>
                </a:rPr>
                <a:t>Dalam</a:t>
              </a:r>
              <a:r>
                <a:rPr sz="1275" b="0" i="0" u="none" dirty="0">
                  <a:solidFill>
                    <a:srgbClr val="334155"/>
                  </a:solidFill>
                  <a:latin typeface="Inter"/>
                </a:rPr>
                <a:t> , outlier </a:t>
              </a:r>
              <a:r>
                <a:rPr sz="1275" b="0" i="0" u="none" dirty="0" err="1">
                  <a:solidFill>
                    <a:srgbClr val="334155"/>
                  </a:solidFill>
                  <a:latin typeface="Inter"/>
                </a:rPr>
                <a:t>bukan</a:t>
              </a:r>
              <a:r>
                <a:rPr sz="1275" b="0" i="0" u="none" dirty="0">
                  <a:solidFill>
                    <a:srgbClr val="334155"/>
                  </a:solidFill>
                  <a:latin typeface="Inter"/>
                </a:rPr>
                <a:t> </a:t>
              </a:r>
              <a:r>
                <a:rPr sz="1275" b="0" i="0" u="none" dirty="0" err="1">
                  <a:solidFill>
                    <a:srgbClr val="334155"/>
                  </a:solidFill>
                  <a:latin typeface="Inter"/>
                </a:rPr>
                <a:t>selalu</a:t>
              </a:r>
              <a:r>
                <a:rPr sz="1275" b="0" i="0" u="none" dirty="0">
                  <a:solidFill>
                    <a:srgbClr val="334155"/>
                  </a:solidFill>
                  <a:latin typeface="Inter"/>
                </a:rPr>
                <a:t> data yang salah. Outlier </a:t>
              </a:r>
              <a:r>
                <a:rPr sz="1275" b="0" i="0" u="none" dirty="0" err="1">
                  <a:solidFill>
                    <a:srgbClr val="334155"/>
                  </a:solidFill>
                  <a:latin typeface="Inter"/>
                </a:rPr>
                <a:t>bisa</a:t>
              </a:r>
              <a:r>
                <a:rPr sz="1275" b="0" i="0" u="none" dirty="0">
                  <a:solidFill>
                    <a:srgbClr val="334155"/>
                  </a:solidFill>
                  <a:latin typeface="Inter"/>
                </a:rPr>
                <a:t> </a:t>
              </a:r>
              <a:r>
                <a:rPr sz="1275" b="0" i="0" u="none" dirty="0" err="1">
                  <a:solidFill>
                    <a:srgbClr val="334155"/>
                  </a:solidFill>
                  <a:latin typeface="Inter"/>
                </a:rPr>
                <a:t>jadi</a:t>
              </a:r>
              <a:r>
                <a:rPr sz="1275" b="0" i="0" u="none" dirty="0">
                  <a:solidFill>
                    <a:srgbClr val="334155"/>
                  </a:solidFill>
                  <a:latin typeface="Inter"/>
                </a:rPr>
                <a:t> alarm </a:t>
              </a:r>
              <a:r>
                <a:rPr sz="1275" b="0" i="0" u="none" dirty="0" err="1">
                  <a:solidFill>
                    <a:srgbClr val="334155"/>
                  </a:solidFill>
                  <a:latin typeface="Inter"/>
                </a:rPr>
                <a:t>kondisi</a:t>
              </a:r>
              <a:r>
                <a:rPr sz="1275" b="0" i="0" u="none" dirty="0">
                  <a:solidFill>
                    <a:srgbClr val="334155"/>
                  </a:solidFill>
                  <a:latin typeface="Inter"/>
                </a:rPr>
                <a:t> </a:t>
              </a:r>
              <a:r>
                <a:rPr sz="1275" b="0" i="0" u="none" dirty="0" err="1">
                  <a:solidFill>
                    <a:srgbClr val="334155"/>
                  </a:solidFill>
                  <a:latin typeface="Inter"/>
                </a:rPr>
                <a:t>nyata</a:t>
              </a:r>
              <a:r>
                <a:rPr sz="1275" b="0" i="0" u="none" dirty="0">
                  <a:solidFill>
                    <a:srgbClr val="334155"/>
                  </a:solidFill>
                  <a:latin typeface="Inter"/>
                </a:rPr>
                <a:t>:</a:t>
              </a:r>
            </a:p>
          </p:txBody>
        </p:sp>
        <p:pic>
          <p:nvPicPr>
            <p:cNvPr id="18" name="Picture 17" descr="image.png">
              <a:extLst>
                <a:ext uri="{FF2B5EF4-FFF2-40B4-BE49-F238E27FC236}">
                  <a16:creationId xmlns:a16="http://schemas.microsoft.com/office/drawing/2014/main" id="{689FBAD7-829B-4901-96C1-60F99256F498}"/>
                </a:ext>
              </a:extLst>
            </p:cNvPr>
            <p:cNvPicPr>
              <a:picLocks noChangeAspect="1"/>
            </p:cNvPicPr>
            <p:nvPr/>
          </p:nvPicPr>
          <p:blipFill>
            <a:blip r:embed="rId7"/>
            <a:stretch>
              <a:fillRect/>
            </a:stretch>
          </p:blipFill>
          <p:spPr>
            <a:xfrm>
              <a:off x="6515100" y="2782639"/>
              <a:ext cx="190500" cy="190500"/>
            </a:xfrm>
            <a:prstGeom prst="rect">
              <a:avLst/>
            </a:prstGeom>
          </p:spPr>
        </p:pic>
        <p:sp>
          <p:nvSpPr>
            <p:cNvPr id="19" name="TextBox 18">
              <a:extLst>
                <a:ext uri="{FF2B5EF4-FFF2-40B4-BE49-F238E27FC236}">
                  <a16:creationId xmlns:a16="http://schemas.microsoft.com/office/drawing/2014/main" id="{7407E0F9-4AB7-64F7-98C7-6947386E85BB}"/>
                </a:ext>
              </a:extLst>
            </p:cNvPr>
            <p:cNvSpPr txBox="1"/>
            <p:nvPr/>
          </p:nvSpPr>
          <p:spPr>
            <a:xfrm>
              <a:off x="6781800" y="3658939"/>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Lembur berturut-turut tanpa jeda</a:t>
              </a:r>
            </a:p>
          </p:txBody>
        </p:sp>
        <p:sp>
          <p:nvSpPr>
            <p:cNvPr id="20" name="TextBox 19">
              <a:extLst>
                <a:ext uri="{FF2B5EF4-FFF2-40B4-BE49-F238E27FC236}">
                  <a16:creationId xmlns:a16="http://schemas.microsoft.com/office/drawing/2014/main" id="{C6C5BFA9-1353-966E-DBC6-815FEB0DBC42}"/>
                </a:ext>
              </a:extLst>
            </p:cNvPr>
            <p:cNvSpPr txBox="1"/>
            <p:nvPr/>
          </p:nvSpPr>
          <p:spPr>
            <a:xfrm>
              <a:off x="6781800" y="4016126"/>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Beban fisik ekstrem pada shift malam</a:t>
              </a:r>
            </a:p>
          </p:txBody>
        </p:sp>
        <p:sp>
          <p:nvSpPr>
            <p:cNvPr id="21" name="TextBox 20">
              <a:extLst>
                <a:ext uri="{FF2B5EF4-FFF2-40B4-BE49-F238E27FC236}">
                  <a16:creationId xmlns:a16="http://schemas.microsoft.com/office/drawing/2014/main" id="{DFA54C2D-88E0-949D-9C4F-BAFC44DF18F9}"/>
                </a:ext>
              </a:extLst>
            </p:cNvPr>
            <p:cNvSpPr txBox="1"/>
            <p:nvPr/>
          </p:nvSpPr>
          <p:spPr>
            <a:xfrm>
              <a:off x="6781800" y="4373314"/>
              <a:ext cx="4695825" cy="242887"/>
            </a:xfrm>
            <a:prstGeom prst="rect">
              <a:avLst/>
            </a:prstGeom>
            <a:noFill/>
          </p:spPr>
          <p:txBody>
            <a:bodyPr wrap="square" lIns="0" tIns="0" rIns="0" bIns="0" anchor="t">
              <a:spAutoFit/>
            </a:bodyPr>
            <a:lstStyle/>
            <a:p>
              <a:pPr algn="l">
                <a:lnSpc>
                  <a:spcPts val="1912"/>
                </a:lnSpc>
              </a:pPr>
              <a:r>
                <a:rPr sz="1275" b="0" i="0" u="none" dirty="0" err="1">
                  <a:solidFill>
                    <a:srgbClr val="334155"/>
                  </a:solidFill>
                  <a:latin typeface="Inter"/>
                </a:rPr>
                <a:t>Masalah</a:t>
              </a:r>
              <a:r>
                <a:rPr sz="1275" b="0" i="0" u="none" dirty="0">
                  <a:solidFill>
                    <a:srgbClr val="334155"/>
                  </a:solidFill>
                  <a:latin typeface="Inter"/>
                </a:rPr>
                <a:t> personal / insomnia </a:t>
              </a:r>
              <a:r>
                <a:rPr sz="1275" b="0" i="0" u="none" dirty="0" err="1">
                  <a:solidFill>
                    <a:srgbClr val="334155"/>
                  </a:solidFill>
                  <a:latin typeface="Inter"/>
                </a:rPr>
                <a:t>berat</a:t>
              </a:r>
              <a:endParaRPr sz="1275" b="0" i="0" u="none" dirty="0">
                <a:solidFill>
                  <a:srgbClr val="334155"/>
                </a:solidFill>
                <a:latin typeface="Inter"/>
              </a:endParaRPr>
            </a:p>
          </p:txBody>
        </p:sp>
        <p:pic>
          <p:nvPicPr>
            <p:cNvPr id="22" name="Picture 21" descr="image.png">
              <a:extLst>
                <a:ext uri="{FF2B5EF4-FFF2-40B4-BE49-F238E27FC236}">
                  <a16:creationId xmlns:a16="http://schemas.microsoft.com/office/drawing/2014/main" id="{AC7A97B3-5546-1794-CF96-CA304AB3A896}"/>
                </a:ext>
              </a:extLst>
            </p:cNvPr>
            <p:cNvPicPr>
              <a:picLocks noChangeAspect="1"/>
            </p:cNvPicPr>
            <p:nvPr/>
          </p:nvPicPr>
          <p:blipFill>
            <a:blip r:embed="rId8"/>
            <a:stretch>
              <a:fillRect/>
            </a:stretch>
          </p:blipFill>
          <p:spPr>
            <a:xfrm>
              <a:off x="6515100" y="3677989"/>
              <a:ext cx="171450" cy="180975"/>
            </a:xfrm>
            <a:prstGeom prst="rect">
              <a:avLst/>
            </a:prstGeom>
          </p:spPr>
        </p:pic>
        <p:pic>
          <p:nvPicPr>
            <p:cNvPr id="23" name="Picture 22" descr="image.png">
              <a:extLst>
                <a:ext uri="{FF2B5EF4-FFF2-40B4-BE49-F238E27FC236}">
                  <a16:creationId xmlns:a16="http://schemas.microsoft.com/office/drawing/2014/main" id="{F965EB9D-B586-6B5E-79BC-7F229FE01DE1}"/>
                </a:ext>
              </a:extLst>
            </p:cNvPr>
            <p:cNvPicPr>
              <a:picLocks noChangeAspect="1"/>
            </p:cNvPicPr>
            <p:nvPr/>
          </p:nvPicPr>
          <p:blipFill>
            <a:blip r:embed="rId8"/>
            <a:stretch>
              <a:fillRect/>
            </a:stretch>
          </p:blipFill>
          <p:spPr>
            <a:xfrm>
              <a:off x="6515100" y="4035176"/>
              <a:ext cx="171450" cy="180975"/>
            </a:xfrm>
            <a:prstGeom prst="rect">
              <a:avLst/>
            </a:prstGeom>
          </p:spPr>
        </p:pic>
        <p:pic>
          <p:nvPicPr>
            <p:cNvPr id="24" name="Picture 23" descr="image.png">
              <a:extLst>
                <a:ext uri="{FF2B5EF4-FFF2-40B4-BE49-F238E27FC236}">
                  <a16:creationId xmlns:a16="http://schemas.microsoft.com/office/drawing/2014/main" id="{00DCD007-ADE7-551F-E42F-79FDFB2AB4E7}"/>
                </a:ext>
              </a:extLst>
            </p:cNvPr>
            <p:cNvPicPr>
              <a:picLocks noChangeAspect="1"/>
            </p:cNvPicPr>
            <p:nvPr/>
          </p:nvPicPr>
          <p:blipFill>
            <a:blip r:embed="rId8"/>
            <a:stretch>
              <a:fillRect/>
            </a:stretch>
          </p:blipFill>
          <p:spPr>
            <a:xfrm>
              <a:off x="6515100" y="4392364"/>
              <a:ext cx="171450" cy="180975"/>
            </a:xfrm>
            <a:prstGeom prst="rect">
              <a:avLst/>
            </a:prstGeom>
          </p:spPr>
        </p:pic>
      </p:grpSp>
    </p:spTree>
    <p:extLst>
      <p:ext uri="{BB962C8B-B14F-4D97-AF65-F5344CB8AC3E}">
        <p14:creationId xmlns:p14="http://schemas.microsoft.com/office/powerpoint/2010/main" val="1862154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E852A-BCBB-29E2-672E-5D438650FF6C}"/>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4BCFD45D-5BD4-41BA-1A2F-06F3040034C4}"/>
              </a:ext>
            </a:extLst>
          </p:cNvPr>
          <p:cNvPicPr>
            <a:picLocks noChangeAspect="1"/>
          </p:cNvPicPr>
          <p:nvPr/>
        </p:nvPicPr>
        <p:blipFill>
          <a:blip r:embed="rId3"/>
          <a:stretch>
            <a:fillRect/>
          </a:stretch>
        </p:blipFill>
        <p:spPr>
          <a:xfrm>
            <a:off x="0" y="0"/>
            <a:ext cx="12192000" cy="6858000"/>
          </a:xfrm>
          <a:prstGeom prst="rect">
            <a:avLst/>
          </a:prstGeom>
        </p:spPr>
      </p:pic>
      <p:sp>
        <p:nvSpPr>
          <p:cNvPr id="12" name="TextBox 11">
            <a:extLst>
              <a:ext uri="{FF2B5EF4-FFF2-40B4-BE49-F238E27FC236}">
                <a16:creationId xmlns:a16="http://schemas.microsoft.com/office/drawing/2014/main" id="{9499D290-0D20-1507-0B5E-2C1AE1D55214}"/>
              </a:ext>
            </a:extLst>
          </p:cNvPr>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Statistik Deskriptif &amp; Outlier</a:t>
            </a:r>
          </a:p>
        </p:txBody>
      </p:sp>
      <p:sp>
        <p:nvSpPr>
          <p:cNvPr id="13" name="Rectangle 12">
            <a:extLst>
              <a:ext uri="{FF2B5EF4-FFF2-40B4-BE49-F238E27FC236}">
                <a16:creationId xmlns:a16="http://schemas.microsoft.com/office/drawing/2014/main" id="{86C32E9F-ABFF-D884-8DCA-D8B0A44D317C}"/>
              </a:ext>
            </a:extLst>
          </p:cNvPr>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Google Shape;724;p92">
            <a:extLst>
              <a:ext uri="{FF2B5EF4-FFF2-40B4-BE49-F238E27FC236}">
                <a16:creationId xmlns:a16="http://schemas.microsoft.com/office/drawing/2014/main" id="{0A6C3BCE-8338-DC13-4B6D-1EE3841C9DFC}"/>
              </a:ext>
            </a:extLst>
          </p:cNvPr>
          <p:cNvPicPr preferRelativeResize="0"/>
          <p:nvPr/>
        </p:nvPicPr>
        <p:blipFill rotWithShape="1">
          <a:blip r:embed="rId4">
            <a:alphaModFix/>
          </a:blip>
          <a:srcRect r="5962"/>
          <a:stretch/>
        </p:blipFill>
        <p:spPr>
          <a:xfrm>
            <a:off x="714374" y="1590016"/>
            <a:ext cx="10563225" cy="4226584"/>
          </a:xfrm>
          <a:prstGeom prst="rect">
            <a:avLst/>
          </a:prstGeom>
          <a:noFill/>
          <a:ln>
            <a:noFill/>
          </a:ln>
        </p:spPr>
      </p:pic>
      <p:sp>
        <p:nvSpPr>
          <p:cNvPr id="16" name="Rectangle: Rounded Corners 15">
            <a:extLst>
              <a:ext uri="{FF2B5EF4-FFF2-40B4-BE49-F238E27FC236}">
                <a16:creationId xmlns:a16="http://schemas.microsoft.com/office/drawing/2014/main" id="{67085223-B6D3-7AFF-3B1A-7187CF34421A}"/>
              </a:ext>
            </a:extLst>
          </p:cNvPr>
          <p:cNvSpPr/>
          <p:nvPr/>
        </p:nvSpPr>
        <p:spPr>
          <a:xfrm>
            <a:off x="3086100" y="2209800"/>
            <a:ext cx="965200" cy="3505200"/>
          </a:xfrm>
          <a:prstGeom prst="roundRect">
            <a:avLst/>
          </a:prstGeom>
          <a:noFill/>
          <a:ln w="571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49186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38875" y="2639764"/>
            <a:ext cx="5476875" cy="2195512"/>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300037" cy="266700"/>
          </a:xfrm>
          <a:prstGeom prst="rect">
            <a:avLst/>
          </a:prstGeom>
        </p:spPr>
      </p:pic>
      <p:sp>
        <p:nvSpPr>
          <p:cNvPr id="6" name="TextBox 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7" name="TextBox 6"/>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16 / 38</a:t>
            </a:r>
          </a:p>
        </p:txBody>
      </p:sp>
      <p:sp>
        <p:nvSpPr>
          <p:cNvPr id="8" name="TextBox 7"/>
          <p:cNvSpPr txBox="1"/>
          <p:nvPr/>
        </p:nvSpPr>
        <p:spPr>
          <a:xfrm>
            <a:off x="476250" y="2639764"/>
            <a:ext cx="5750718" cy="219075"/>
          </a:xfrm>
          <a:prstGeom prst="rect">
            <a:avLst/>
          </a:prstGeom>
          <a:noFill/>
        </p:spPr>
        <p:txBody>
          <a:bodyPr wrap="square" lIns="0" tIns="0" rIns="0" bIns="0" anchor="t">
            <a:spAutoFit/>
          </a:bodyPr>
          <a:lstStyle/>
          <a:p>
            <a:pPr algn="l"/>
            <a:r>
              <a:rPr sz="1404" b="1" i="0" u="none">
                <a:solidFill>
                  <a:srgbClr val="334155"/>
                </a:solidFill>
                <a:latin typeface="Plus Jakarta Sans"/>
              </a:rPr>
              <a:t>Jumlah Kejadian Near Miss per Shift:</a:t>
            </a:r>
          </a:p>
        </p:txBody>
      </p:sp>
      <p:sp>
        <p:nvSpPr>
          <p:cNvPr id="9" name="Rounded Rectangle 8"/>
          <p:cNvSpPr/>
          <p:nvPr/>
        </p:nvSpPr>
        <p:spPr>
          <a:xfrm>
            <a:off x="476250" y="2973139"/>
            <a:ext cx="5476875" cy="1862137"/>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76250" y="2973139"/>
          <a:ext cx="5467349" cy="1862137"/>
        </p:xfrm>
        <a:graphic>
          <a:graphicData uri="http://schemas.openxmlformats.org/drawingml/2006/table">
            <a:tbl>
              <a:tblPr firstRow="1" bandRow="1">
                <a:tableStyleId>{5C22544A-7EE6-4342-B048-85BDC9FD1C3A}</a:tableStyleId>
              </a:tblPr>
              <a:tblGrid>
                <a:gridCol w="1776263">
                  <a:extLst>
                    <a:ext uri="{9D8B030D-6E8A-4147-A177-3AD203B41FA5}">
                      <a16:colId xmlns:a16="http://schemas.microsoft.com/office/drawing/2014/main" val="20000"/>
                    </a:ext>
                  </a:extLst>
                </a:gridCol>
                <a:gridCol w="3691086">
                  <a:extLst>
                    <a:ext uri="{9D8B030D-6E8A-4147-A177-3AD203B41FA5}">
                      <a16:colId xmlns:a16="http://schemas.microsoft.com/office/drawing/2014/main" val="20001"/>
                    </a:ext>
                  </a:extLst>
                </a:gridCol>
              </a:tblGrid>
              <a:tr h="465534">
                <a:tc>
                  <a:txBody>
                    <a:bodyPr/>
                    <a:lstStyle/>
                    <a:p>
                      <a:pPr algn="l"/>
                      <a:r>
                        <a:rPr sz="1200" b="0" i="0" u="none">
                          <a:solidFill>
                            <a:srgbClr val="FFFFFF"/>
                          </a:solidFill>
                          <a:latin typeface="Inter SemiBold"/>
                        </a:rPr>
                        <a:t>Shift</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Near Miss</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5534">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12 Kejadian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5534">
                <a:tc>
                  <a:txBody>
                    <a:bodyPr/>
                    <a:lstStyle/>
                    <a:p>
                      <a:pPr algn="l"/>
                      <a:r>
                        <a:rPr sz="1125" b="0" i="0" u="none">
                          <a:solidFill>
                            <a:srgbClr val="334155"/>
                          </a:solidFill>
                          <a:latin typeface="Inter"/>
                        </a:rPr>
                        <a:t>Siang</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18 Kejadian</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5535">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noFill/>
                  </a:tcPr>
                </a:tc>
                <a:tc>
                  <a:txBody>
                    <a:bodyPr/>
                    <a:lstStyle/>
                    <a:p>
                      <a:pPr algn="l"/>
                      <a:r>
                        <a:rPr sz="1125" b="1" i="0" u="none">
                          <a:latin typeface="Inter"/>
                        </a:rPr>
                        <a:t>37 Kejadian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515100" y="3158876"/>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Temuan Awal</a:t>
            </a:r>
          </a:p>
        </p:txBody>
      </p:sp>
      <p:sp>
        <p:nvSpPr>
          <p:cNvPr id="12" name="TextBox 11"/>
          <p:cNvSpPr txBox="1"/>
          <p:nvPr/>
        </p:nvSpPr>
        <p:spPr>
          <a:xfrm>
            <a:off x="6515100" y="3492251"/>
            <a:ext cx="496252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Shift malam memiliki jumlah insiden near miss absolut paling banyak (37 kejadian).</a:t>
            </a:r>
          </a:p>
        </p:txBody>
      </p:sp>
      <p:sp>
        <p:nvSpPr>
          <p:cNvPr id="13" name="TextBox 12"/>
          <p:cNvSpPr txBox="1"/>
          <p:nvPr/>
        </p:nvSpPr>
        <p:spPr>
          <a:xfrm>
            <a:off x="6515100" y="4073276"/>
            <a:ext cx="49625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SemiBold"/>
              </a:rPr>
              <a:t>Apakah analisis cukup sampai di sini? </a:t>
            </a:r>
            <a:r>
              <a:rPr sz="1275" b="0" i="0" u="none">
                <a:solidFill>
                  <a:srgbClr val="334155"/>
                </a:solidFill>
                <a:latin typeface="Inter Black"/>
              </a:rPr>
              <a:t>Belum!</a:t>
            </a:r>
          </a:p>
        </p:txBody>
      </p:sp>
      <p:pic>
        <p:nvPicPr>
          <p:cNvPr id="14" name="Picture 13" descr="image.png"/>
          <p:cNvPicPr>
            <a:picLocks noChangeAspect="1"/>
          </p:cNvPicPr>
          <p:nvPr/>
        </p:nvPicPr>
        <p:blipFill>
          <a:blip r:embed="rId6"/>
          <a:stretch>
            <a:fillRect/>
          </a:stretch>
        </p:blipFill>
        <p:spPr>
          <a:xfrm>
            <a:off x="6515100" y="3196976"/>
            <a:ext cx="190500" cy="190500"/>
          </a:xfrm>
          <a:prstGeom prst="rect">
            <a:avLst/>
          </a:prstGeom>
        </p:spPr>
      </p:pic>
      <p:sp>
        <p:nvSpPr>
          <p:cNvPr id="15" name="Rectangle 14"/>
          <p:cNvSpPr/>
          <p:nvPr/>
        </p:nvSpPr>
        <p:spPr>
          <a:xfrm>
            <a:off x="481012" y="3916114"/>
            <a:ext cx="17762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257276" y="3916114"/>
            <a:ext cx="36910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81012" y="4368551"/>
            <a:ext cx="17762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57276" y="4368551"/>
            <a:ext cx="36910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Analisis Data Kategori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247108"/>
            <a:ext cx="11239500" cy="1033462"/>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195262" cy="266700"/>
          </a:xfrm>
          <a:prstGeom prst="rect">
            <a:avLst/>
          </a:prstGeom>
        </p:spPr>
      </p:pic>
      <p:sp>
        <p:nvSpPr>
          <p:cNvPr id="6" name="Rounded Rectangle 5"/>
          <p:cNvSpPr/>
          <p:nvPr/>
        </p:nvSpPr>
        <p:spPr>
          <a:xfrm>
            <a:off x="476250" y="2194470"/>
            <a:ext cx="11239500" cy="1862137"/>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76250" y="2194470"/>
          <a:ext cx="11229973" cy="1862137"/>
        </p:xfrm>
        <a:graphic>
          <a:graphicData uri="http://schemas.openxmlformats.org/drawingml/2006/table">
            <a:tbl>
              <a:tblPr firstRow="1" bandRow="1">
                <a:tableStyleId>{5C22544A-7EE6-4342-B048-85BDC9FD1C3A}</a:tableStyleId>
              </a:tblPr>
              <a:tblGrid>
                <a:gridCol w="1857970">
                  <a:extLst>
                    <a:ext uri="{9D8B030D-6E8A-4147-A177-3AD203B41FA5}">
                      <a16:colId xmlns:a16="http://schemas.microsoft.com/office/drawing/2014/main" val="20000"/>
                    </a:ext>
                  </a:extLst>
                </a:gridCol>
                <a:gridCol w="3192065">
                  <a:extLst>
                    <a:ext uri="{9D8B030D-6E8A-4147-A177-3AD203B41FA5}">
                      <a16:colId xmlns:a16="http://schemas.microsoft.com/office/drawing/2014/main" val="20001"/>
                    </a:ext>
                  </a:extLst>
                </a:gridCol>
                <a:gridCol w="2831901">
                  <a:extLst>
                    <a:ext uri="{9D8B030D-6E8A-4147-A177-3AD203B41FA5}">
                      <a16:colId xmlns:a16="http://schemas.microsoft.com/office/drawing/2014/main" val="20002"/>
                    </a:ext>
                  </a:extLst>
                </a:gridCol>
                <a:gridCol w="3348037">
                  <a:extLst>
                    <a:ext uri="{9D8B030D-6E8A-4147-A177-3AD203B41FA5}">
                      <a16:colId xmlns:a16="http://schemas.microsoft.com/office/drawing/2014/main" val="20003"/>
                    </a:ext>
                  </a:extLst>
                </a:gridCol>
              </a:tblGrid>
              <a:tr h="465534">
                <a:tc>
                  <a:txBody>
                    <a:bodyPr/>
                    <a:lstStyle/>
                    <a:p>
                      <a:pPr algn="l"/>
                      <a:r>
                        <a:rPr sz="1200" b="0" i="0" u="none">
                          <a:solidFill>
                            <a:srgbClr val="FFFFFF"/>
                          </a:solidFill>
                          <a:latin typeface="Inter SemiBold"/>
                        </a:rPr>
                        <a:t>Shift 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Total Pekerja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Near Miss</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Persentase Risiko (%)</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5534">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200 Pekerja</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20</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10.0%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5534">
                <a:tc>
                  <a:txBody>
                    <a:bodyPr/>
                    <a:lstStyle/>
                    <a:p>
                      <a:pPr algn="l"/>
                      <a:r>
                        <a:rPr sz="1125" b="0" i="0" u="none">
                          <a:solidFill>
                            <a:srgbClr val="334155"/>
                          </a:solidFill>
                          <a:latin typeface="Inter"/>
                        </a:rPr>
                        <a:t>Siang</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200 Pekerja</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30</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15.0%</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5535">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noFill/>
                  </a:tcPr>
                </a:tc>
                <a:tc>
                  <a:txBody>
                    <a:bodyPr/>
                    <a:lstStyle/>
                    <a:p>
                      <a:pPr algn="l"/>
                      <a:r>
                        <a:rPr sz="1125" b="1" i="0" u="none">
                          <a:solidFill>
                            <a:srgbClr val="334155"/>
                          </a:solidFill>
                          <a:latin typeface="Inter"/>
                        </a:rPr>
                        <a:t>100 Pekerja</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25</a:t>
                      </a:r>
                    </a:p>
                  </a:txBody>
                  <a:tcPr marL="63500" marR="63500" marT="25400" marB="25400" anchor="ctr">
                    <a:lnL>
                      <a:noFill/>
                    </a:lnL>
                    <a:lnR>
                      <a:noFill/>
                    </a:lnR>
                    <a:lnT>
                      <a:noFill/>
                    </a:lnT>
                    <a:lnB>
                      <a:noFill/>
                    </a:lnB>
                    <a:noFill/>
                  </a:tcPr>
                </a:tc>
                <a:tc>
                  <a:txBody>
                    <a:bodyPr/>
                    <a:lstStyle/>
                    <a:p>
                      <a:pPr algn="l"/>
                      <a:r>
                        <a:rPr sz="1125" b="1" i="0" u="none">
                          <a:latin typeface="Inter"/>
                        </a:rPr>
                        <a:t>25.0%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1001375" y="6515100"/>
            <a:ext cx="714375" cy="152400"/>
          </a:xfrm>
          <a:prstGeom prst="rect">
            <a:avLst/>
          </a:prstGeom>
          <a:noFill/>
        </p:spPr>
        <p:txBody>
          <a:bodyPr wrap="square" lIns="0" tIns="0" rIns="0" bIns="0" anchor="t">
            <a:spAutoFit/>
          </a:bodyPr>
          <a:lstStyle/>
          <a:p>
            <a:pPr algn="l"/>
            <a:r>
              <a:rPr sz="975" b="0" i="0" u="none">
                <a:solidFill>
                  <a:srgbClr val="64748B"/>
                </a:solidFill>
                <a:latin typeface="Inter"/>
              </a:rPr>
              <a:t>Slide 17 / 38</a:t>
            </a:r>
          </a:p>
        </p:txBody>
      </p:sp>
      <p:sp>
        <p:nvSpPr>
          <p:cNvPr id="10" name="TextBox 9"/>
          <p:cNvSpPr txBox="1"/>
          <p:nvPr/>
        </p:nvSpPr>
        <p:spPr>
          <a:xfrm>
            <a:off x="676275" y="4399508"/>
            <a:ext cx="10887075" cy="225896"/>
          </a:xfrm>
          <a:prstGeom prst="rect">
            <a:avLst/>
          </a:prstGeom>
          <a:noFill/>
        </p:spPr>
        <p:txBody>
          <a:bodyPr wrap="square" lIns="0" tIns="0" rIns="0" bIns="0" anchor="t">
            <a:spAutoFit/>
          </a:bodyPr>
          <a:lstStyle/>
          <a:p>
            <a:pPr algn="l">
              <a:lnSpc>
                <a:spcPts val="1912"/>
              </a:lnSpc>
            </a:pPr>
            <a:r>
              <a:rPr sz="1275" b="1" i="0" u="none" dirty="0" err="1">
                <a:solidFill>
                  <a:srgbClr val="1E3A8A"/>
                </a:solidFill>
                <a:latin typeface="Inter"/>
              </a:rPr>
              <a:t>Prinsip</a:t>
            </a:r>
            <a:r>
              <a:rPr sz="1275" b="1" i="0" u="none" dirty="0">
                <a:solidFill>
                  <a:srgbClr val="1E3A8A"/>
                </a:solidFill>
                <a:latin typeface="Inter"/>
              </a:rPr>
              <a:t> Utama EDA :</a:t>
            </a:r>
          </a:p>
        </p:txBody>
      </p:sp>
      <p:sp>
        <p:nvSpPr>
          <p:cNvPr id="11" name="TextBox 10"/>
          <p:cNvSpPr txBox="1"/>
          <p:nvPr/>
        </p:nvSpPr>
        <p:spPr>
          <a:xfrm>
            <a:off x="676275" y="4642395"/>
            <a:ext cx="1088707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Meskipun jumlah absolut insiden siang lebih besar dari malam (30 vs 25), proporsi risiko pekerja shift malam jauh lebih tinggi (25% vs 15%). Selalu kaji rasio dan persentase populasi!</a:t>
            </a:r>
          </a:p>
        </p:txBody>
      </p:sp>
      <p:sp>
        <p:nvSpPr>
          <p:cNvPr id="12" name="Rectangle 11"/>
          <p:cNvSpPr/>
          <p:nvPr/>
        </p:nvSpPr>
        <p:spPr>
          <a:xfrm>
            <a:off x="481012" y="3137445"/>
            <a:ext cx="18579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38982" y="3137445"/>
            <a:ext cx="31920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531048" y="3137445"/>
            <a:ext cx="28319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62950" y="3137445"/>
            <a:ext cx="3348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81012" y="3589883"/>
            <a:ext cx="18579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38982" y="3589883"/>
            <a:ext cx="31920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531048" y="3589883"/>
            <a:ext cx="28319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62950" y="3589883"/>
            <a:ext cx="3348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5812" y="419100"/>
            <a:ext cx="114061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Pentingnya Persentase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294733"/>
            <a:ext cx="11239500" cy="690562"/>
          </a:xfrm>
          <a:prstGeom prst="rect">
            <a:avLst/>
          </a:prstGeom>
        </p:spPr>
      </p:pic>
      <p:pic>
        <p:nvPicPr>
          <p:cNvPr id="4" name="Picture 3" descr="image.png"/>
          <p:cNvPicPr>
            <a:picLocks noChangeAspect="1"/>
          </p:cNvPicPr>
          <p:nvPr/>
        </p:nvPicPr>
        <p:blipFill>
          <a:blip r:embed="rId4"/>
          <a:stretch>
            <a:fillRect/>
          </a:stretch>
        </p:blipFill>
        <p:spPr>
          <a:xfrm>
            <a:off x="476250" y="1036290"/>
            <a:ext cx="11239500" cy="5402609"/>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300037" cy="266700"/>
          </a:xfrm>
          <a:prstGeom prst="rect">
            <a:avLst/>
          </a:prstGeom>
        </p:spPr>
      </p:pic>
      <p:sp>
        <p:nvSpPr>
          <p:cNvPr id="7" name="TextBox 6"/>
          <p:cNvSpPr txBox="1"/>
          <p:nvPr/>
        </p:nvSpPr>
        <p:spPr>
          <a:xfrm>
            <a:off x="476250" y="2489745"/>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Hubungan Tingkat Kelelahan dengan Proporsi Near Miss:</a:t>
            </a:r>
          </a:p>
        </p:txBody>
      </p:sp>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18 / 38</a:t>
            </a:r>
          </a:p>
        </p:txBody>
      </p:sp>
      <p:sp>
        <p:nvSpPr>
          <p:cNvPr id="10" name="TextBox 9"/>
          <p:cNvSpPr txBox="1"/>
          <p:nvPr/>
        </p:nvSpPr>
        <p:spPr>
          <a:xfrm>
            <a:off x="752475" y="4532858"/>
            <a:ext cx="10725150" cy="214312"/>
          </a:xfrm>
          <a:prstGeom prst="rect">
            <a:avLst/>
          </a:prstGeom>
          <a:noFill/>
        </p:spPr>
        <p:txBody>
          <a:bodyPr wrap="square" lIns="0" tIns="0" rIns="0" bIns="0" anchor="t">
            <a:spAutoFit/>
          </a:bodyPr>
          <a:lstStyle/>
          <a:p>
            <a:pPr algn="l">
              <a:lnSpc>
                <a:spcPts val="1687"/>
              </a:lnSpc>
            </a:pPr>
            <a:r>
              <a:rPr sz="1125" b="1" i="0" u="none">
                <a:solidFill>
                  <a:srgbClr val="856404"/>
                </a:solidFill>
                <a:latin typeface="Inter"/>
              </a:rPr>
              <a:t>Pola Terbukti:</a:t>
            </a:r>
            <a:r>
              <a:rPr sz="1125" b="0" i="0" u="none">
                <a:solidFill>
                  <a:srgbClr val="856404"/>
                </a:solidFill>
                <a:latin typeface="Inter"/>
              </a:rPr>
              <a:t> Semakin tinggi tingkat kelelahan, proporsi kejadian near miss meningkat drastis hingga 28%.</a:t>
            </a:r>
          </a:p>
        </p:txBody>
      </p:sp>
      <p:sp>
        <p:nvSpPr>
          <p:cNvPr id="11" name="TextBox 10"/>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Kelelahan vs Near Miss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508795"/>
            <a:ext cx="11239500" cy="809625"/>
          </a:xfrm>
          <a:prstGeom prst="rect">
            <a:avLst/>
          </a:prstGeom>
        </p:spPr>
      </p:pic>
      <p:pic>
        <p:nvPicPr>
          <p:cNvPr id="4" name="Picture 3" descr="image.png"/>
          <p:cNvPicPr>
            <a:picLocks noChangeAspect="1"/>
          </p:cNvPicPr>
          <p:nvPr/>
        </p:nvPicPr>
        <p:blipFill>
          <a:blip r:embed="rId4"/>
          <a:stretch>
            <a:fillRect/>
          </a:stretch>
        </p:blipFill>
        <p:spPr>
          <a:xfrm>
            <a:off x="476250" y="3508920"/>
            <a:ext cx="11239500" cy="1457325"/>
          </a:xfrm>
          <a:prstGeom prst="rect">
            <a:avLst/>
          </a:prstGeom>
        </p:spPr>
      </p:pic>
      <p:pic>
        <p:nvPicPr>
          <p:cNvPr id="5" name="Picture 4" descr="image.png"/>
          <p:cNvPicPr>
            <a:picLocks noChangeAspect="1"/>
          </p:cNvPicPr>
          <p:nvPr/>
        </p:nvPicPr>
        <p:blipFill>
          <a:blip r:embed="rId5"/>
          <a:stretch>
            <a:fillRect/>
          </a:stretch>
        </p:blipFill>
        <p:spPr>
          <a:xfrm>
            <a:off x="752475" y="4213770"/>
            <a:ext cx="2409825" cy="514350"/>
          </a:xfrm>
          <a:prstGeom prst="rect">
            <a:avLst/>
          </a:prstGeom>
        </p:spPr>
      </p:pic>
      <p:pic>
        <p:nvPicPr>
          <p:cNvPr id="6" name="Picture 5" descr="image.png"/>
          <p:cNvPicPr>
            <a:picLocks noChangeAspect="1"/>
          </p:cNvPicPr>
          <p:nvPr/>
        </p:nvPicPr>
        <p:blipFill>
          <a:blip r:embed="rId6"/>
          <a:stretch>
            <a:fillRect/>
          </a:stretch>
        </p:blipFill>
        <p:spPr>
          <a:xfrm>
            <a:off x="3524250" y="4213770"/>
            <a:ext cx="2409825" cy="514350"/>
          </a:xfrm>
          <a:prstGeom prst="rect">
            <a:avLst/>
          </a:prstGeom>
        </p:spPr>
      </p:pic>
      <p:pic>
        <p:nvPicPr>
          <p:cNvPr id="7" name="Picture 6" descr="image.png"/>
          <p:cNvPicPr>
            <a:picLocks noChangeAspect="1"/>
          </p:cNvPicPr>
          <p:nvPr/>
        </p:nvPicPr>
        <p:blipFill>
          <a:blip r:embed="rId7"/>
          <a:stretch>
            <a:fillRect/>
          </a:stretch>
        </p:blipFill>
        <p:spPr>
          <a:xfrm>
            <a:off x="6296025" y="4213770"/>
            <a:ext cx="2409825" cy="514350"/>
          </a:xfrm>
          <a:prstGeom prst="rect">
            <a:avLst/>
          </a:prstGeom>
        </p:spPr>
      </p:pic>
      <p:pic>
        <p:nvPicPr>
          <p:cNvPr id="8" name="Picture 7" descr="image.png"/>
          <p:cNvPicPr>
            <a:picLocks noChangeAspect="1"/>
          </p:cNvPicPr>
          <p:nvPr/>
        </p:nvPicPr>
        <p:blipFill>
          <a:blip r:embed="rId8"/>
          <a:stretch>
            <a:fillRect/>
          </a:stretch>
        </p:blipFill>
        <p:spPr>
          <a:xfrm>
            <a:off x="9067800" y="4213770"/>
            <a:ext cx="2409825" cy="514350"/>
          </a:xfrm>
          <a:prstGeom prst="rect">
            <a:avLst/>
          </a:prstGeom>
        </p:spPr>
      </p:pic>
      <p:pic>
        <p:nvPicPr>
          <p:cNvPr id="9" name="Picture 8" descr="image.png"/>
          <p:cNvPicPr>
            <a:picLocks noChangeAspect="1"/>
          </p:cNvPicPr>
          <p:nvPr/>
        </p:nvPicPr>
        <p:blipFill>
          <a:blip r:embed="rId9"/>
          <a:stretch>
            <a:fillRect/>
          </a:stretch>
        </p:blipFill>
        <p:spPr>
          <a:xfrm>
            <a:off x="476250" y="6410325"/>
            <a:ext cx="11239500" cy="257175"/>
          </a:xfrm>
          <a:prstGeom prst="rect">
            <a:avLst/>
          </a:prstGeom>
        </p:spPr>
      </p:pic>
      <p:pic>
        <p:nvPicPr>
          <p:cNvPr id="10" name="Picture 9" descr="image.png"/>
          <p:cNvPicPr>
            <a:picLocks noChangeAspect="1"/>
          </p:cNvPicPr>
          <p:nvPr/>
        </p:nvPicPr>
        <p:blipFill>
          <a:blip r:embed="rId10"/>
          <a:stretch>
            <a:fillRect/>
          </a:stretch>
        </p:blipFill>
        <p:spPr>
          <a:xfrm>
            <a:off x="476250" y="479970"/>
            <a:ext cx="233362" cy="266700"/>
          </a:xfrm>
          <a:prstGeom prst="rect">
            <a:avLst/>
          </a:prstGeom>
        </p:spPr>
      </p:pic>
      <p:sp>
        <p:nvSpPr>
          <p:cNvPr id="11" name="TextBox 10"/>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2" name="TextBox 11"/>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19 / 38</a:t>
            </a:r>
          </a:p>
        </p:txBody>
      </p:sp>
      <p:sp>
        <p:nvSpPr>
          <p:cNvPr id="13" name="TextBox 12"/>
          <p:cNvSpPr txBox="1"/>
          <p:nvPr/>
        </p:nvSpPr>
        <p:spPr>
          <a:xfrm>
            <a:off x="638175" y="2670720"/>
            <a:ext cx="10915650" cy="224613"/>
          </a:xfrm>
          <a:prstGeom prst="rect">
            <a:avLst/>
          </a:prstGeom>
          <a:noFill/>
        </p:spPr>
        <p:txBody>
          <a:bodyPr wrap="square" lIns="0" tIns="0" rIns="0" bIns="0" anchor="t">
            <a:spAutoFit/>
          </a:bodyPr>
          <a:lstStyle/>
          <a:p>
            <a:pPr algn="l">
              <a:lnSpc>
                <a:spcPts val="1912"/>
              </a:lnSpc>
            </a:pPr>
            <a:r>
              <a:rPr sz="1275" b="1" i="0" u="none" dirty="0">
                <a:solidFill>
                  <a:srgbClr val="991B1B"/>
                </a:solidFill>
                <a:latin typeface="Inter"/>
              </a:rPr>
              <a:t>⚠️ </a:t>
            </a:r>
            <a:r>
              <a:rPr sz="1275" b="1" i="0" u="none" dirty="0" err="1">
                <a:solidFill>
                  <a:srgbClr val="991B1B"/>
                </a:solidFill>
                <a:latin typeface="Inter"/>
              </a:rPr>
              <a:t>Peringatan</a:t>
            </a:r>
            <a:r>
              <a:rPr sz="1275" b="1" i="0" u="none" dirty="0">
                <a:solidFill>
                  <a:srgbClr val="991B1B"/>
                </a:solidFill>
                <a:latin typeface="Inter"/>
              </a:rPr>
              <a:t> </a:t>
            </a:r>
            <a:r>
              <a:rPr sz="1275" b="1" i="0" u="none" dirty="0" err="1">
                <a:solidFill>
                  <a:srgbClr val="991B1B"/>
                </a:solidFill>
                <a:latin typeface="Inter"/>
              </a:rPr>
              <a:t>Penting</a:t>
            </a:r>
            <a:r>
              <a:rPr sz="1275" b="1" i="0" u="none" dirty="0">
                <a:solidFill>
                  <a:srgbClr val="991B1B"/>
                </a:solidFill>
                <a:latin typeface="Inter"/>
              </a:rPr>
              <a:t> </a:t>
            </a:r>
            <a:r>
              <a:rPr sz="1275" b="1" i="0" u="none" dirty="0" err="1">
                <a:solidFill>
                  <a:srgbClr val="991B1B"/>
                </a:solidFill>
                <a:latin typeface="Inter"/>
              </a:rPr>
              <a:t>Analisis</a:t>
            </a:r>
            <a:r>
              <a:rPr sz="1275" b="1" i="0" u="none" dirty="0">
                <a:solidFill>
                  <a:srgbClr val="991B1B"/>
                </a:solidFill>
                <a:latin typeface="Inter"/>
              </a:rPr>
              <a:t> :</a:t>
            </a:r>
          </a:p>
        </p:txBody>
      </p:sp>
      <p:sp>
        <p:nvSpPr>
          <p:cNvPr id="14" name="TextBox 13"/>
          <p:cNvSpPr txBox="1"/>
          <p:nvPr/>
        </p:nvSpPr>
        <p:spPr>
          <a:xfrm>
            <a:off x="638175" y="2913608"/>
            <a:ext cx="10915650" cy="242887"/>
          </a:xfrm>
          <a:prstGeom prst="rect">
            <a:avLst/>
          </a:prstGeom>
          <a:noFill/>
        </p:spPr>
        <p:txBody>
          <a:bodyPr wrap="square" lIns="0" tIns="0" rIns="0" bIns="0" anchor="t">
            <a:spAutoFit/>
          </a:bodyPr>
          <a:lstStyle/>
          <a:p>
            <a:pPr algn="l">
              <a:lnSpc>
                <a:spcPts val="1912"/>
              </a:lnSpc>
            </a:pPr>
            <a:r>
              <a:rPr sz="1275" b="0" i="0" u="none">
                <a:solidFill>
                  <a:srgbClr val="991B1B"/>
                </a:solidFill>
                <a:latin typeface="Inter"/>
              </a:rPr>
              <a:t>Kelelahan bertambah bersamaan dengan Near Miss BUKAN BERARTI kelelahan langsung menyebabkan insiden tanpa variabel perantara.</a:t>
            </a:r>
          </a:p>
        </p:txBody>
      </p:sp>
      <p:sp>
        <p:nvSpPr>
          <p:cNvPr id="15" name="TextBox 14"/>
          <p:cNvSpPr txBox="1"/>
          <p:nvPr/>
        </p:nvSpPr>
        <p:spPr>
          <a:xfrm>
            <a:off x="752475" y="3747045"/>
            <a:ext cx="11261407" cy="238125"/>
          </a:xfrm>
          <a:prstGeom prst="rect">
            <a:avLst/>
          </a:prstGeom>
          <a:noFill/>
        </p:spPr>
        <p:txBody>
          <a:bodyPr wrap="square" lIns="0" tIns="0" rIns="0" bIns="0" anchor="t">
            <a:spAutoFit/>
          </a:bodyPr>
          <a:lstStyle/>
          <a:p>
            <a:pPr algn="l"/>
            <a:r>
              <a:rPr sz="1500" b="1" i="0" u="none">
                <a:solidFill>
                  <a:srgbClr val="0F172A"/>
                </a:solidFill>
                <a:latin typeface="Plus Jakarta Sans"/>
              </a:rPr>
              <a:t>Pola Rantai Jalur Risiko Sebenarnya:</a:t>
            </a:r>
          </a:p>
        </p:txBody>
      </p:sp>
      <p:pic>
        <p:nvPicPr>
          <p:cNvPr id="16" name="Picture 15" descr="image.png"/>
          <p:cNvPicPr>
            <a:picLocks noChangeAspect="1"/>
          </p:cNvPicPr>
          <p:nvPr/>
        </p:nvPicPr>
        <p:blipFill>
          <a:blip r:embed="rId11"/>
          <a:stretch>
            <a:fillRect/>
          </a:stretch>
        </p:blipFill>
        <p:spPr>
          <a:xfrm>
            <a:off x="3257550" y="4375695"/>
            <a:ext cx="171450" cy="190500"/>
          </a:xfrm>
          <a:prstGeom prst="rect">
            <a:avLst/>
          </a:prstGeom>
        </p:spPr>
      </p:pic>
      <p:pic>
        <p:nvPicPr>
          <p:cNvPr id="17" name="Picture 16" descr="image.png"/>
          <p:cNvPicPr>
            <a:picLocks noChangeAspect="1"/>
          </p:cNvPicPr>
          <p:nvPr/>
        </p:nvPicPr>
        <p:blipFill>
          <a:blip r:embed="rId12"/>
          <a:stretch>
            <a:fillRect/>
          </a:stretch>
        </p:blipFill>
        <p:spPr>
          <a:xfrm>
            <a:off x="6029325" y="4375695"/>
            <a:ext cx="171450" cy="190500"/>
          </a:xfrm>
          <a:prstGeom prst="rect">
            <a:avLst/>
          </a:prstGeom>
        </p:spPr>
      </p:pic>
      <p:pic>
        <p:nvPicPr>
          <p:cNvPr id="18" name="Picture 17" descr="image.png"/>
          <p:cNvPicPr>
            <a:picLocks noChangeAspect="1"/>
          </p:cNvPicPr>
          <p:nvPr/>
        </p:nvPicPr>
        <p:blipFill>
          <a:blip r:embed="rId11"/>
          <a:stretch>
            <a:fillRect/>
          </a:stretch>
        </p:blipFill>
        <p:spPr>
          <a:xfrm>
            <a:off x="8801100" y="4375695"/>
            <a:ext cx="171450" cy="190500"/>
          </a:xfrm>
          <a:prstGeom prst="rect">
            <a:avLst/>
          </a:prstGeom>
        </p:spPr>
      </p:pic>
      <p:sp>
        <p:nvSpPr>
          <p:cNvPr id="19" name="TextBox 18"/>
          <p:cNvSpPr txBox="1"/>
          <p:nvPr/>
        </p:nvSpPr>
        <p:spPr>
          <a:xfrm>
            <a:off x="823912" y="419100"/>
            <a:ext cx="113680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Korelasi Bukan Kausalitas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968376"/>
            <a:ext cx="3594050" cy="1538287"/>
          </a:xfrm>
          <a:prstGeom prst="rect">
            <a:avLst/>
          </a:prstGeom>
        </p:spPr>
      </p:pic>
      <p:pic>
        <p:nvPicPr>
          <p:cNvPr id="4" name="Picture 3" descr="image.png"/>
          <p:cNvPicPr>
            <a:picLocks noChangeAspect="1"/>
          </p:cNvPicPr>
          <p:nvPr/>
        </p:nvPicPr>
        <p:blipFill>
          <a:blip r:embed="rId4"/>
          <a:stretch>
            <a:fillRect/>
          </a:stretch>
        </p:blipFill>
        <p:spPr>
          <a:xfrm>
            <a:off x="4298900" y="2968376"/>
            <a:ext cx="3594050" cy="1538287"/>
          </a:xfrm>
          <a:prstGeom prst="rect">
            <a:avLst/>
          </a:prstGeom>
        </p:spPr>
      </p:pic>
      <p:pic>
        <p:nvPicPr>
          <p:cNvPr id="5" name="Picture 4" descr="image.png"/>
          <p:cNvPicPr>
            <a:picLocks noChangeAspect="1"/>
          </p:cNvPicPr>
          <p:nvPr/>
        </p:nvPicPr>
        <p:blipFill>
          <a:blip r:embed="rId5"/>
          <a:stretch>
            <a:fillRect/>
          </a:stretch>
        </p:blipFill>
        <p:spPr>
          <a:xfrm>
            <a:off x="8121550" y="2968376"/>
            <a:ext cx="3594199" cy="1538287"/>
          </a:xfrm>
          <a:prstGeom prst="rect">
            <a:avLst/>
          </a:prstGeom>
        </p:spPr>
      </p:pic>
      <p:pic>
        <p:nvPicPr>
          <p:cNvPr id="6" name="Picture 5" descr="image.png"/>
          <p:cNvPicPr>
            <a:picLocks noChangeAspect="1"/>
          </p:cNvPicPr>
          <p:nvPr/>
        </p:nvPicPr>
        <p:blipFill>
          <a:blip r:embed="rId6"/>
          <a:stretch>
            <a:fillRect/>
          </a:stretch>
        </p:blipFill>
        <p:spPr>
          <a:xfrm>
            <a:off x="476250" y="6410325"/>
            <a:ext cx="11239500" cy="257175"/>
          </a:xfrm>
          <a:prstGeom prst="rect">
            <a:avLst/>
          </a:prstGeom>
        </p:spPr>
      </p:pic>
      <p:pic>
        <p:nvPicPr>
          <p:cNvPr id="7" name="Picture 6" descr="image.png"/>
          <p:cNvPicPr>
            <a:picLocks noChangeAspect="1"/>
          </p:cNvPicPr>
          <p:nvPr/>
        </p:nvPicPr>
        <p:blipFill>
          <a:blip r:embed="rId7"/>
          <a:stretch>
            <a:fillRect/>
          </a:stretch>
        </p:blipFill>
        <p:spPr>
          <a:xfrm>
            <a:off x="476250" y="479970"/>
            <a:ext cx="300037" cy="266700"/>
          </a:xfrm>
          <a:prstGeom prst="rect">
            <a:avLst/>
          </a:prstGeom>
        </p:spPr>
      </p:pic>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63275" y="6515100"/>
            <a:ext cx="752475" cy="152400"/>
          </a:xfrm>
          <a:prstGeom prst="rect">
            <a:avLst/>
          </a:prstGeom>
          <a:noFill/>
        </p:spPr>
        <p:txBody>
          <a:bodyPr wrap="square" lIns="0" tIns="0" rIns="0" bIns="0" anchor="t">
            <a:spAutoFit/>
          </a:bodyPr>
          <a:lstStyle/>
          <a:p>
            <a:pPr algn="l"/>
            <a:r>
              <a:rPr sz="975" b="0" i="0" u="none">
                <a:solidFill>
                  <a:srgbClr val="64748B"/>
                </a:solidFill>
                <a:latin typeface="Inter"/>
              </a:rPr>
              <a:t>Slide 20 / 38</a:t>
            </a:r>
          </a:p>
        </p:txBody>
      </p:sp>
      <p:sp>
        <p:nvSpPr>
          <p:cNvPr id="10" name="TextBox 9"/>
          <p:cNvSpPr txBox="1"/>
          <p:nvPr/>
        </p:nvSpPr>
        <p:spPr>
          <a:xfrm>
            <a:off x="752475" y="3206501"/>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Usia vs Kecelakaan</a:t>
            </a:r>
          </a:p>
        </p:txBody>
      </p:sp>
      <p:sp>
        <p:nvSpPr>
          <p:cNvPr id="11" name="TextBox 10"/>
          <p:cNvSpPr txBox="1"/>
          <p:nvPr/>
        </p:nvSpPr>
        <p:spPr>
          <a:xfrm>
            <a:off x="752475" y="3539876"/>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Apakah pekerja lebih tua memiliki refleks lebih lambat atau pengalaman lebih matang?</a:t>
            </a:r>
          </a:p>
        </p:txBody>
      </p:sp>
      <p:sp>
        <p:nvSpPr>
          <p:cNvPr id="12" name="TextBox 11"/>
          <p:cNvSpPr txBox="1"/>
          <p:nvPr/>
        </p:nvSpPr>
        <p:spPr>
          <a:xfrm>
            <a:off x="4575125" y="3206501"/>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Masa Kerja vs Insiden</a:t>
            </a:r>
          </a:p>
        </p:txBody>
      </p:sp>
      <p:sp>
        <p:nvSpPr>
          <p:cNvPr id="13" name="TextBox 12"/>
          <p:cNvSpPr txBox="1"/>
          <p:nvPr/>
        </p:nvSpPr>
        <p:spPr>
          <a:xfrm>
            <a:off x="4575125" y="3539876"/>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Apakah pekerja baru (&lt;1 thn) lebih berisiko karena belum menguasai medan kerja?</a:t>
            </a:r>
          </a:p>
        </p:txBody>
      </p:sp>
      <p:sp>
        <p:nvSpPr>
          <p:cNvPr id="14" name="TextBox 13"/>
          <p:cNvSpPr txBox="1"/>
          <p:nvPr/>
        </p:nvSpPr>
        <p:spPr>
          <a:xfrm>
            <a:off x="8397775" y="3206501"/>
            <a:ext cx="3233841" cy="238125"/>
          </a:xfrm>
          <a:prstGeom prst="rect">
            <a:avLst/>
          </a:prstGeom>
          <a:noFill/>
        </p:spPr>
        <p:txBody>
          <a:bodyPr wrap="square" lIns="0" tIns="0" rIns="0" bIns="0" anchor="t">
            <a:spAutoFit/>
          </a:bodyPr>
          <a:lstStyle/>
          <a:p>
            <a:pPr algn="l"/>
            <a:r>
              <a:rPr sz="1500" b="1" i="0" u="none">
                <a:solidFill>
                  <a:srgbClr val="0F172A"/>
                </a:solidFill>
                <a:latin typeface="Plus Jakarta Sans"/>
              </a:rPr>
              <a:t>Durasi Tidur vs Error</a:t>
            </a:r>
          </a:p>
        </p:txBody>
      </p:sp>
      <p:sp>
        <p:nvSpPr>
          <p:cNvPr id="15" name="TextBox 14"/>
          <p:cNvSpPr txBox="1"/>
          <p:nvPr/>
        </p:nvSpPr>
        <p:spPr>
          <a:xfrm>
            <a:off x="8397775" y="3539876"/>
            <a:ext cx="3079849"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Apakah kurang tidur (&lt;5 jam) berkorelasi langsung dengan kelalaian penggunaan APD?</a:t>
            </a:r>
          </a:p>
        </p:txBody>
      </p:sp>
      <p:sp>
        <p:nvSpPr>
          <p:cNvPr id="16" name="TextBox 15"/>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Analisis</a:t>
            </a:r>
            <a:r>
              <a:rPr sz="2550" b="1" i="0" u="none" dirty="0">
                <a:solidFill>
                  <a:srgbClr val="0F172A"/>
                </a:solidFill>
                <a:latin typeface="Plus Jakarta Sans"/>
              </a:rPr>
              <a:t> </a:t>
            </a:r>
            <a:r>
              <a:rPr sz="2550" b="1" i="0" u="none" dirty="0" err="1">
                <a:solidFill>
                  <a:srgbClr val="0F172A"/>
                </a:solidFill>
                <a:latin typeface="Plus Jakarta Sans"/>
              </a:rPr>
              <a:t>Bivariat</a:t>
            </a:r>
            <a:r>
              <a:rPr sz="2550" b="1" i="0" u="none" dirty="0">
                <a:solidFill>
                  <a:srgbClr val="0F172A"/>
                </a:solidFill>
                <a:latin typeface="Plus Jakarta Sans"/>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3344614"/>
            <a:ext cx="11239500" cy="1181100"/>
          </a:xfrm>
          <a:prstGeom prst="rect">
            <a:avLst/>
          </a:prstGeom>
        </p:spPr>
      </p:pic>
      <p:pic>
        <p:nvPicPr>
          <p:cNvPr id="4" name="Picture 3" descr="image.png"/>
          <p:cNvPicPr>
            <a:picLocks noChangeAspect="1"/>
          </p:cNvPicPr>
          <p:nvPr/>
        </p:nvPicPr>
        <p:blipFill>
          <a:blip r:embed="rId4"/>
          <a:stretch>
            <a:fillRect/>
          </a:stretch>
        </p:blipFill>
        <p:spPr>
          <a:xfrm>
            <a:off x="714375" y="3677989"/>
            <a:ext cx="1908869" cy="514350"/>
          </a:xfrm>
          <a:prstGeom prst="rect">
            <a:avLst/>
          </a:prstGeom>
        </p:spPr>
      </p:pic>
      <p:pic>
        <p:nvPicPr>
          <p:cNvPr id="5" name="Picture 4" descr="image.png"/>
          <p:cNvPicPr>
            <a:picLocks noChangeAspect="1"/>
          </p:cNvPicPr>
          <p:nvPr/>
        </p:nvPicPr>
        <p:blipFill>
          <a:blip r:embed="rId5"/>
          <a:stretch>
            <a:fillRect/>
          </a:stretch>
        </p:blipFill>
        <p:spPr>
          <a:xfrm>
            <a:off x="2928044" y="3582739"/>
            <a:ext cx="1908869" cy="704850"/>
          </a:xfrm>
          <a:prstGeom prst="rect">
            <a:avLst/>
          </a:prstGeom>
        </p:spPr>
      </p:pic>
      <p:pic>
        <p:nvPicPr>
          <p:cNvPr id="6" name="Picture 5" descr="image.png"/>
          <p:cNvPicPr>
            <a:picLocks noChangeAspect="1"/>
          </p:cNvPicPr>
          <p:nvPr/>
        </p:nvPicPr>
        <p:blipFill>
          <a:blip r:embed="rId6"/>
          <a:stretch>
            <a:fillRect/>
          </a:stretch>
        </p:blipFill>
        <p:spPr>
          <a:xfrm>
            <a:off x="5141714" y="3677989"/>
            <a:ext cx="1908869" cy="514350"/>
          </a:xfrm>
          <a:prstGeom prst="rect">
            <a:avLst/>
          </a:prstGeom>
        </p:spPr>
      </p:pic>
      <p:pic>
        <p:nvPicPr>
          <p:cNvPr id="7" name="Picture 6" descr="image.png"/>
          <p:cNvPicPr>
            <a:picLocks noChangeAspect="1"/>
          </p:cNvPicPr>
          <p:nvPr/>
        </p:nvPicPr>
        <p:blipFill>
          <a:blip r:embed="rId7"/>
          <a:stretch>
            <a:fillRect/>
          </a:stretch>
        </p:blipFill>
        <p:spPr>
          <a:xfrm>
            <a:off x="7355383" y="3582739"/>
            <a:ext cx="1908869" cy="704850"/>
          </a:xfrm>
          <a:prstGeom prst="rect">
            <a:avLst/>
          </a:prstGeom>
        </p:spPr>
      </p:pic>
      <p:pic>
        <p:nvPicPr>
          <p:cNvPr id="8" name="Picture 7" descr="image.png"/>
          <p:cNvPicPr>
            <a:picLocks noChangeAspect="1"/>
          </p:cNvPicPr>
          <p:nvPr/>
        </p:nvPicPr>
        <p:blipFill>
          <a:blip r:embed="rId8"/>
          <a:stretch>
            <a:fillRect/>
          </a:stretch>
        </p:blipFill>
        <p:spPr>
          <a:xfrm>
            <a:off x="9569053" y="3582739"/>
            <a:ext cx="1908869" cy="704850"/>
          </a:xfrm>
          <a:prstGeom prst="rect">
            <a:avLst/>
          </a:prstGeom>
        </p:spPr>
      </p:pic>
      <p:pic>
        <p:nvPicPr>
          <p:cNvPr id="9" name="Picture 8" descr="image.png"/>
          <p:cNvPicPr>
            <a:picLocks noChangeAspect="1"/>
          </p:cNvPicPr>
          <p:nvPr/>
        </p:nvPicPr>
        <p:blipFill>
          <a:blip r:embed="rId9"/>
          <a:stretch>
            <a:fillRect/>
          </a:stretch>
        </p:blipFill>
        <p:spPr>
          <a:xfrm>
            <a:off x="476250" y="6410325"/>
            <a:ext cx="11239500" cy="257175"/>
          </a:xfrm>
          <a:prstGeom prst="rect">
            <a:avLst/>
          </a:prstGeom>
        </p:spPr>
      </p:pic>
      <p:pic>
        <p:nvPicPr>
          <p:cNvPr id="10" name="Picture 9" descr="image.png"/>
          <p:cNvPicPr>
            <a:picLocks noChangeAspect="1"/>
          </p:cNvPicPr>
          <p:nvPr/>
        </p:nvPicPr>
        <p:blipFill>
          <a:blip r:embed="rId10"/>
          <a:stretch>
            <a:fillRect/>
          </a:stretch>
        </p:blipFill>
        <p:spPr>
          <a:xfrm>
            <a:off x="476250" y="479970"/>
            <a:ext cx="261937" cy="266700"/>
          </a:xfrm>
          <a:prstGeom prst="rect">
            <a:avLst/>
          </a:prstGeom>
        </p:spPr>
      </p:pic>
      <p:sp>
        <p:nvSpPr>
          <p:cNvPr id="11" name="TextBox 10"/>
          <p:cNvSpPr txBox="1"/>
          <p:nvPr/>
        </p:nvSpPr>
        <p:spPr>
          <a:xfrm>
            <a:off x="476250" y="2949326"/>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Ubah pertanyaan mendasar dari sekadar kondisi teknis menjadi perjalanan fisik pekerja:</a:t>
            </a:r>
          </a:p>
        </p:txBody>
      </p:sp>
      <p:sp>
        <p:nvSpPr>
          <p:cNvPr id="12" name="TextBox 11"/>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3" name="TextBox 12"/>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21 / 38</a:t>
            </a:r>
          </a:p>
        </p:txBody>
      </p:sp>
      <p:sp>
        <p:nvSpPr>
          <p:cNvPr id="14" name="TextBox 13"/>
          <p:cNvSpPr txBox="1"/>
          <p:nvPr/>
        </p:nvSpPr>
        <p:spPr>
          <a:xfrm>
            <a:off x="1235422" y="3839914"/>
            <a:ext cx="866775" cy="190500"/>
          </a:xfrm>
          <a:prstGeom prst="rect">
            <a:avLst/>
          </a:prstGeom>
          <a:noFill/>
        </p:spPr>
        <p:txBody>
          <a:bodyPr wrap="square" lIns="0" tIns="0" rIns="0" bIns="0" anchor="t">
            <a:spAutoFit/>
          </a:bodyPr>
          <a:lstStyle/>
          <a:p>
            <a:pPr algn="ctr"/>
            <a:r>
              <a:rPr sz="1200" b="1" i="0" u="none">
                <a:solidFill>
                  <a:srgbClr val="334155"/>
                </a:solidFill>
                <a:latin typeface="Inter"/>
              </a:rPr>
              <a:t>Shift Malam</a:t>
            </a:r>
          </a:p>
        </p:txBody>
      </p:sp>
      <p:pic>
        <p:nvPicPr>
          <p:cNvPr id="15" name="Picture 14" descr="image.png"/>
          <p:cNvPicPr>
            <a:picLocks noChangeAspect="1"/>
          </p:cNvPicPr>
          <p:nvPr/>
        </p:nvPicPr>
        <p:blipFill>
          <a:blip r:embed="rId11"/>
          <a:stretch>
            <a:fillRect/>
          </a:stretch>
        </p:blipFill>
        <p:spPr>
          <a:xfrm>
            <a:off x="2718494" y="3839914"/>
            <a:ext cx="114300" cy="190500"/>
          </a:xfrm>
          <a:prstGeom prst="rect">
            <a:avLst/>
          </a:prstGeom>
        </p:spPr>
      </p:pic>
      <p:sp>
        <p:nvSpPr>
          <p:cNvPr id="16" name="TextBox 15"/>
          <p:cNvSpPr txBox="1"/>
          <p:nvPr/>
        </p:nvSpPr>
        <p:spPr>
          <a:xfrm>
            <a:off x="3368129" y="3744664"/>
            <a:ext cx="1028700" cy="381000"/>
          </a:xfrm>
          <a:prstGeom prst="rect">
            <a:avLst/>
          </a:prstGeom>
          <a:noFill/>
        </p:spPr>
        <p:txBody>
          <a:bodyPr wrap="square" lIns="0" tIns="0" rIns="0" bIns="0" anchor="t">
            <a:spAutoFit/>
          </a:bodyPr>
          <a:lstStyle/>
          <a:p>
            <a:pPr algn="ctr"/>
            <a:r>
              <a:rPr sz="1200" b="1" i="0" u="none">
                <a:solidFill>
                  <a:srgbClr val="334155"/>
                </a:solidFill>
                <a:latin typeface="Inter"/>
              </a:rPr>
              <a:t>Tidur Kualitas Rendah</a:t>
            </a:r>
          </a:p>
        </p:txBody>
      </p:sp>
      <p:pic>
        <p:nvPicPr>
          <p:cNvPr id="17" name="Picture 16" descr="image.png"/>
          <p:cNvPicPr>
            <a:picLocks noChangeAspect="1"/>
          </p:cNvPicPr>
          <p:nvPr/>
        </p:nvPicPr>
        <p:blipFill>
          <a:blip r:embed="rId11"/>
          <a:stretch>
            <a:fillRect/>
          </a:stretch>
        </p:blipFill>
        <p:spPr>
          <a:xfrm>
            <a:off x="4932164" y="3839914"/>
            <a:ext cx="114300" cy="190500"/>
          </a:xfrm>
          <a:prstGeom prst="rect">
            <a:avLst/>
          </a:prstGeom>
        </p:spPr>
      </p:pic>
      <p:sp>
        <p:nvSpPr>
          <p:cNvPr id="18" name="TextBox 17"/>
          <p:cNvSpPr txBox="1"/>
          <p:nvPr/>
        </p:nvSpPr>
        <p:spPr>
          <a:xfrm>
            <a:off x="5305573" y="3839914"/>
            <a:ext cx="1581150" cy="190500"/>
          </a:xfrm>
          <a:prstGeom prst="rect">
            <a:avLst/>
          </a:prstGeom>
          <a:noFill/>
        </p:spPr>
        <p:txBody>
          <a:bodyPr wrap="square" lIns="0" tIns="0" rIns="0" bIns="0" anchor="t">
            <a:spAutoFit/>
          </a:bodyPr>
          <a:lstStyle/>
          <a:p>
            <a:pPr algn="ctr"/>
            <a:r>
              <a:rPr sz="1200" b="1" i="0" u="none">
                <a:solidFill>
                  <a:srgbClr val="334155"/>
                </a:solidFill>
                <a:latin typeface="Inter"/>
              </a:rPr>
              <a:t>Kelelahan Akumulatif</a:t>
            </a:r>
          </a:p>
        </p:txBody>
      </p:sp>
      <p:pic>
        <p:nvPicPr>
          <p:cNvPr id="19" name="Picture 18" descr="image.png"/>
          <p:cNvPicPr>
            <a:picLocks noChangeAspect="1"/>
          </p:cNvPicPr>
          <p:nvPr/>
        </p:nvPicPr>
        <p:blipFill>
          <a:blip r:embed="rId12"/>
          <a:stretch>
            <a:fillRect/>
          </a:stretch>
        </p:blipFill>
        <p:spPr>
          <a:xfrm>
            <a:off x="7145833" y="3839914"/>
            <a:ext cx="114300" cy="190500"/>
          </a:xfrm>
          <a:prstGeom prst="rect">
            <a:avLst/>
          </a:prstGeom>
        </p:spPr>
      </p:pic>
      <p:sp>
        <p:nvSpPr>
          <p:cNvPr id="20" name="TextBox 19"/>
          <p:cNvSpPr txBox="1"/>
          <p:nvPr/>
        </p:nvSpPr>
        <p:spPr>
          <a:xfrm>
            <a:off x="7857380" y="3744664"/>
            <a:ext cx="904875" cy="381000"/>
          </a:xfrm>
          <a:prstGeom prst="rect">
            <a:avLst/>
          </a:prstGeom>
          <a:noFill/>
        </p:spPr>
        <p:txBody>
          <a:bodyPr wrap="square" lIns="0" tIns="0" rIns="0" bIns="0" anchor="t">
            <a:spAutoFit/>
          </a:bodyPr>
          <a:lstStyle/>
          <a:p>
            <a:pPr algn="ctr"/>
            <a:r>
              <a:rPr sz="1200" b="1" i="0" u="none">
                <a:solidFill>
                  <a:srgbClr val="334155"/>
                </a:solidFill>
                <a:latin typeface="Inter"/>
              </a:rPr>
              <a:t>Konsentrasi Menurun</a:t>
            </a:r>
          </a:p>
        </p:txBody>
      </p:sp>
      <p:pic>
        <p:nvPicPr>
          <p:cNvPr id="21" name="Picture 20" descr="image.png"/>
          <p:cNvPicPr>
            <a:picLocks noChangeAspect="1"/>
          </p:cNvPicPr>
          <p:nvPr/>
        </p:nvPicPr>
        <p:blipFill>
          <a:blip r:embed="rId12"/>
          <a:stretch>
            <a:fillRect/>
          </a:stretch>
        </p:blipFill>
        <p:spPr>
          <a:xfrm>
            <a:off x="9359503" y="3839914"/>
            <a:ext cx="114300" cy="190500"/>
          </a:xfrm>
          <a:prstGeom prst="rect">
            <a:avLst/>
          </a:prstGeom>
        </p:spPr>
      </p:pic>
      <p:sp>
        <p:nvSpPr>
          <p:cNvPr id="22" name="TextBox 21"/>
          <p:cNvSpPr txBox="1"/>
          <p:nvPr/>
        </p:nvSpPr>
        <p:spPr>
          <a:xfrm>
            <a:off x="9794825" y="3744664"/>
            <a:ext cx="1457325" cy="381000"/>
          </a:xfrm>
          <a:prstGeom prst="rect">
            <a:avLst/>
          </a:prstGeom>
          <a:noFill/>
        </p:spPr>
        <p:txBody>
          <a:bodyPr wrap="square" lIns="0" tIns="0" rIns="0" bIns="0" anchor="t">
            <a:spAutoFit/>
          </a:bodyPr>
          <a:lstStyle/>
          <a:p>
            <a:pPr algn="ctr"/>
            <a:r>
              <a:rPr sz="1200" b="1" i="0" u="none">
                <a:solidFill>
                  <a:srgbClr val="EF4444"/>
                </a:solidFill>
                <a:latin typeface="Inter"/>
              </a:rPr>
              <a:t>Human Error / Near Miss</a:t>
            </a:r>
          </a:p>
        </p:txBody>
      </p:sp>
      <p:sp>
        <p:nvSpPr>
          <p:cNvPr id="23" name="TextBox 22"/>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Analisis Perspektif Manusia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1102965"/>
            <a:ext cx="11049000" cy="5278784"/>
          </a:xfrm>
          <a:prstGeom prst="rect">
            <a:avLst/>
          </a:prstGeom>
        </p:spPr>
      </p:pic>
      <p:sp>
        <p:nvSpPr>
          <p:cNvPr id="4" name="TextBox 3"/>
          <p:cNvSpPr txBox="1"/>
          <p:nvPr/>
        </p:nvSpPr>
        <p:spPr>
          <a:xfrm>
            <a:off x="571500" y="2213520"/>
            <a:ext cx="11049000" cy="2286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Perbandingan Angka Absolut vs Persentase Proporsi Near Miss berdasarkan Shift Kerja:</a:t>
            </a:r>
          </a:p>
        </p:txBody>
      </p:sp>
      <p:pic>
        <p:nvPicPr>
          <p:cNvPr id="5" name="Picture 4" descr="image.png"/>
          <p:cNvPicPr>
            <a:picLocks noChangeAspect="1"/>
          </p:cNvPicPr>
          <p:nvPr/>
        </p:nvPicPr>
        <p:blipFill>
          <a:blip r:embed="rId5"/>
          <a:stretch>
            <a:fillRect/>
          </a:stretch>
        </p:blipFill>
        <p:spPr>
          <a:xfrm>
            <a:off x="571500" y="4585245"/>
            <a:ext cx="11049000" cy="861826"/>
          </a:xfrm>
          <a:prstGeom prst="rect">
            <a:avLst/>
          </a:prstGeom>
        </p:spPr>
      </p:pic>
      <p:sp>
        <p:nvSpPr>
          <p:cNvPr id="6" name="TextBox 5"/>
          <p:cNvSpPr txBox="1"/>
          <p:nvPr/>
        </p:nvSpPr>
        <p:spPr>
          <a:xfrm>
            <a:off x="723900" y="4747170"/>
            <a:ext cx="1590675" cy="180975"/>
          </a:xfrm>
          <a:prstGeom prst="rect">
            <a:avLst/>
          </a:prstGeom>
          <a:noFill/>
        </p:spPr>
        <p:txBody>
          <a:bodyPr wrap="square" lIns="161925" tIns="0" rIns="0" bIns="0" anchor="t">
            <a:spAutoFit/>
          </a:bodyPr>
          <a:lstStyle/>
          <a:p>
            <a:pPr algn="l"/>
            <a:r>
              <a:rPr sz="1125" b="1" i="0" u="none">
                <a:solidFill>
                  <a:srgbClr val="9F1239"/>
                </a:solidFill>
                <a:latin typeface="Inter"/>
              </a:rPr>
              <a:t>Insight Penting EDA:</a:t>
            </a:r>
          </a:p>
        </p:txBody>
      </p:sp>
      <p:sp>
        <p:nvSpPr>
          <p:cNvPr id="7" name="TextBox 6"/>
          <p:cNvSpPr txBox="1"/>
          <p:nvPr/>
        </p:nvSpPr>
        <p:spPr>
          <a:xfrm>
            <a:off x="723900" y="5006068"/>
            <a:ext cx="10544175" cy="352425"/>
          </a:xfrm>
          <a:prstGeom prst="rect">
            <a:avLst/>
          </a:prstGeom>
          <a:noFill/>
        </p:spPr>
        <p:txBody>
          <a:bodyPr wrap="square" lIns="0" tIns="0" rIns="0" bIns="0" anchor="t">
            <a:spAutoFit/>
          </a:bodyPr>
          <a:lstStyle/>
          <a:p>
            <a:pPr algn="l"/>
            <a:r>
              <a:rPr sz="1050" b="0" i="0" u="none" dirty="0" err="1">
                <a:solidFill>
                  <a:srgbClr val="881337"/>
                </a:solidFill>
                <a:latin typeface="Inter"/>
              </a:rPr>
              <a:t>Walaupun</a:t>
            </a:r>
            <a:r>
              <a:rPr sz="1050" b="0" i="0" u="none" dirty="0">
                <a:solidFill>
                  <a:srgbClr val="881337"/>
                </a:solidFill>
                <a:latin typeface="Inter"/>
              </a:rPr>
              <a:t> </a:t>
            </a:r>
            <a:r>
              <a:rPr sz="1050" b="0" i="0" u="none" dirty="0" err="1">
                <a:solidFill>
                  <a:srgbClr val="881337"/>
                </a:solidFill>
                <a:latin typeface="Inter"/>
              </a:rPr>
              <a:t>jumlah</a:t>
            </a:r>
            <a:r>
              <a:rPr sz="1050" b="0" i="0" u="none" dirty="0">
                <a:solidFill>
                  <a:srgbClr val="881337"/>
                </a:solidFill>
                <a:latin typeface="Inter"/>
              </a:rPr>
              <a:t> </a:t>
            </a:r>
            <a:r>
              <a:rPr sz="1050" b="0" i="0" u="none" dirty="0" err="1">
                <a:solidFill>
                  <a:srgbClr val="881337"/>
                </a:solidFill>
                <a:latin typeface="Inter"/>
              </a:rPr>
              <a:t>absolut</a:t>
            </a:r>
            <a:r>
              <a:rPr sz="1050" b="0" i="0" u="none" dirty="0">
                <a:solidFill>
                  <a:srgbClr val="881337"/>
                </a:solidFill>
                <a:latin typeface="Inter"/>
              </a:rPr>
              <a:t> </a:t>
            </a:r>
            <a:r>
              <a:rPr sz="1050" b="0" i="0" u="none" dirty="0" err="1">
                <a:solidFill>
                  <a:srgbClr val="881337"/>
                </a:solidFill>
                <a:latin typeface="Inter"/>
              </a:rPr>
              <a:t>kejadian</a:t>
            </a:r>
            <a:r>
              <a:rPr sz="1050" b="0" i="0" u="none" dirty="0">
                <a:solidFill>
                  <a:srgbClr val="881337"/>
                </a:solidFill>
                <a:latin typeface="Inter"/>
              </a:rPr>
              <a:t> di shift </a:t>
            </a:r>
            <a:r>
              <a:rPr sz="1050" b="0" i="0" u="none" dirty="0" err="1">
                <a:solidFill>
                  <a:srgbClr val="881337"/>
                </a:solidFill>
                <a:latin typeface="Inter"/>
              </a:rPr>
              <a:t>malam</a:t>
            </a:r>
            <a:r>
              <a:rPr sz="1050" b="0" i="0" u="none" dirty="0">
                <a:solidFill>
                  <a:srgbClr val="881337"/>
                </a:solidFill>
                <a:latin typeface="Inter"/>
              </a:rPr>
              <a:t> </a:t>
            </a:r>
            <a:r>
              <a:rPr sz="1050" b="0" i="0" u="none" dirty="0" err="1">
                <a:solidFill>
                  <a:srgbClr val="881337"/>
                </a:solidFill>
                <a:latin typeface="Inter"/>
              </a:rPr>
              <a:t>tampak</a:t>
            </a:r>
            <a:r>
              <a:rPr sz="1050" b="0" i="0" u="none" dirty="0">
                <a:solidFill>
                  <a:srgbClr val="881337"/>
                </a:solidFill>
                <a:latin typeface="Inter"/>
              </a:rPr>
              <a:t> </a:t>
            </a:r>
            <a:r>
              <a:rPr sz="1050" b="0" i="0" u="none" dirty="0" err="1">
                <a:solidFill>
                  <a:srgbClr val="881337"/>
                </a:solidFill>
                <a:latin typeface="Inter"/>
              </a:rPr>
              <a:t>lebih</a:t>
            </a:r>
            <a:r>
              <a:rPr sz="1050" b="0" i="0" u="none" dirty="0">
                <a:solidFill>
                  <a:srgbClr val="881337"/>
                </a:solidFill>
                <a:latin typeface="Inter"/>
              </a:rPr>
              <a:t> </a:t>
            </a:r>
            <a:r>
              <a:rPr sz="1050" b="0" i="0" u="none" dirty="0" err="1">
                <a:solidFill>
                  <a:srgbClr val="881337"/>
                </a:solidFill>
                <a:latin typeface="Inter"/>
              </a:rPr>
              <a:t>sedikit</a:t>
            </a:r>
            <a:r>
              <a:rPr sz="1050" b="0" i="0" u="none" dirty="0">
                <a:solidFill>
                  <a:srgbClr val="881337"/>
                </a:solidFill>
                <a:latin typeface="Inter"/>
              </a:rPr>
              <a:t> (25 </a:t>
            </a:r>
            <a:r>
              <a:rPr sz="1050" b="0" i="0" u="none" dirty="0" err="1">
                <a:solidFill>
                  <a:srgbClr val="881337"/>
                </a:solidFill>
                <a:latin typeface="Inter"/>
              </a:rPr>
              <a:t>kasus</a:t>
            </a:r>
            <a:r>
              <a:rPr sz="1050" b="0" i="0" u="none" dirty="0">
                <a:solidFill>
                  <a:srgbClr val="881337"/>
                </a:solidFill>
                <a:latin typeface="Inter"/>
              </a:rPr>
              <a:t> vs 30 </a:t>
            </a:r>
            <a:r>
              <a:rPr sz="1050" b="0" i="0" u="none" dirty="0" err="1">
                <a:solidFill>
                  <a:srgbClr val="881337"/>
                </a:solidFill>
                <a:latin typeface="Inter"/>
              </a:rPr>
              <a:t>kasus</a:t>
            </a:r>
            <a:r>
              <a:rPr sz="1050" b="0" i="0" u="none" dirty="0">
                <a:solidFill>
                  <a:srgbClr val="881337"/>
                </a:solidFill>
                <a:latin typeface="Inter"/>
              </a:rPr>
              <a:t> di </a:t>
            </a:r>
            <a:r>
              <a:rPr sz="1050" b="0" i="0" u="none" dirty="0" err="1">
                <a:solidFill>
                  <a:srgbClr val="881337"/>
                </a:solidFill>
                <a:latin typeface="Inter"/>
              </a:rPr>
              <a:t>siang</a:t>
            </a:r>
            <a:r>
              <a:rPr sz="1050" b="0" i="0" u="none" dirty="0">
                <a:solidFill>
                  <a:srgbClr val="881337"/>
                </a:solidFill>
                <a:latin typeface="Inter"/>
              </a:rPr>
              <a:t>), </a:t>
            </a:r>
            <a:r>
              <a:rPr sz="1050" b="0" i="0" u="none" dirty="0" err="1">
                <a:solidFill>
                  <a:srgbClr val="881337"/>
                </a:solidFill>
                <a:latin typeface="Inter"/>
              </a:rPr>
              <a:t>secara</a:t>
            </a:r>
            <a:r>
              <a:rPr sz="1050" b="0" i="0" u="none" dirty="0">
                <a:solidFill>
                  <a:srgbClr val="881337"/>
                </a:solidFill>
                <a:latin typeface="Inter"/>
              </a:rPr>
              <a:t> </a:t>
            </a:r>
            <a:r>
              <a:rPr sz="1050" b="1" i="0" u="none" dirty="0" err="1">
                <a:solidFill>
                  <a:srgbClr val="881337"/>
                </a:solidFill>
                <a:latin typeface="Inter"/>
              </a:rPr>
              <a:t>proporsional</a:t>
            </a:r>
            <a:r>
              <a:rPr sz="1050" b="1" i="0" u="none" dirty="0">
                <a:solidFill>
                  <a:srgbClr val="881337"/>
                </a:solidFill>
                <a:latin typeface="Inter"/>
              </a:rPr>
              <a:t> 25% </a:t>
            </a:r>
            <a:r>
              <a:rPr sz="1050" b="1" i="0" u="none" dirty="0" err="1">
                <a:solidFill>
                  <a:srgbClr val="881337"/>
                </a:solidFill>
                <a:latin typeface="Inter"/>
              </a:rPr>
              <a:t>pekerja</a:t>
            </a:r>
            <a:r>
              <a:rPr sz="1050" b="1" i="0" u="none" dirty="0">
                <a:solidFill>
                  <a:srgbClr val="881337"/>
                </a:solidFill>
                <a:latin typeface="Inter"/>
              </a:rPr>
              <a:t> shift </a:t>
            </a:r>
            <a:r>
              <a:rPr sz="1050" b="1" i="0" u="none" dirty="0" err="1">
                <a:solidFill>
                  <a:srgbClr val="881337"/>
                </a:solidFill>
                <a:latin typeface="Inter"/>
              </a:rPr>
              <a:t>malam</a:t>
            </a:r>
            <a:r>
              <a:rPr sz="1050" b="1" i="0" u="none" dirty="0">
                <a:solidFill>
                  <a:srgbClr val="881337"/>
                </a:solidFill>
                <a:latin typeface="Inter"/>
              </a:rPr>
              <a:t> </a:t>
            </a:r>
            <a:r>
              <a:rPr sz="1050" b="1" i="0" u="none" dirty="0" err="1">
                <a:solidFill>
                  <a:srgbClr val="881337"/>
                </a:solidFill>
                <a:latin typeface="Inter"/>
              </a:rPr>
              <a:t>mengalami</a:t>
            </a:r>
            <a:r>
              <a:rPr sz="1050" b="1" i="0" u="none" dirty="0">
                <a:solidFill>
                  <a:srgbClr val="881337"/>
                </a:solidFill>
                <a:latin typeface="Inter"/>
              </a:rPr>
              <a:t> near miss</a:t>
            </a:r>
            <a:r>
              <a:rPr sz="1050" b="0" i="0" u="none" dirty="0">
                <a:solidFill>
                  <a:srgbClr val="881337"/>
                </a:solidFill>
                <a:latin typeface="Inter"/>
              </a:rPr>
              <a:t>. Rasio </a:t>
            </a:r>
            <a:r>
              <a:rPr sz="1050" b="0" i="0" u="none" dirty="0" err="1">
                <a:solidFill>
                  <a:srgbClr val="881337"/>
                </a:solidFill>
                <a:latin typeface="Inter"/>
              </a:rPr>
              <a:t>risiko</a:t>
            </a:r>
            <a:r>
              <a:rPr sz="1050" b="0" i="0" u="none" dirty="0">
                <a:solidFill>
                  <a:srgbClr val="881337"/>
                </a:solidFill>
                <a:latin typeface="Inter"/>
              </a:rPr>
              <a:t> </a:t>
            </a:r>
            <a:r>
              <a:rPr sz="1050" b="0" i="0" u="none" dirty="0" err="1">
                <a:solidFill>
                  <a:srgbClr val="881337"/>
                </a:solidFill>
                <a:latin typeface="Inter"/>
              </a:rPr>
              <a:t>jauh</a:t>
            </a:r>
            <a:r>
              <a:rPr sz="1050" b="0" i="0" u="none" dirty="0">
                <a:solidFill>
                  <a:srgbClr val="881337"/>
                </a:solidFill>
                <a:latin typeface="Inter"/>
              </a:rPr>
              <a:t> </a:t>
            </a:r>
            <a:r>
              <a:rPr sz="1050" b="0" i="0" u="none" dirty="0" err="1">
                <a:solidFill>
                  <a:srgbClr val="881337"/>
                </a:solidFill>
                <a:latin typeface="Inter"/>
              </a:rPr>
              <a:t>lebih</a:t>
            </a:r>
            <a:r>
              <a:rPr sz="1050" b="0" i="0" u="none" dirty="0">
                <a:solidFill>
                  <a:srgbClr val="881337"/>
                </a:solidFill>
                <a:latin typeface="Inter"/>
              </a:rPr>
              <a:t> </a:t>
            </a:r>
            <a:r>
              <a:rPr sz="1050" b="0" i="0" u="none" dirty="0" err="1">
                <a:solidFill>
                  <a:srgbClr val="881337"/>
                </a:solidFill>
                <a:latin typeface="Inter"/>
              </a:rPr>
              <a:t>tinggi</a:t>
            </a:r>
            <a:r>
              <a:rPr sz="1050" b="0" i="0" u="none" dirty="0">
                <a:solidFill>
                  <a:srgbClr val="881337"/>
                </a:solidFill>
                <a:latin typeface="Inter"/>
              </a:rPr>
              <a:t>!</a:t>
            </a:r>
          </a:p>
        </p:txBody>
      </p:sp>
      <p:pic>
        <p:nvPicPr>
          <p:cNvPr id="8" name="Picture 7" descr="image.png"/>
          <p:cNvPicPr>
            <a:picLocks noChangeAspect="1"/>
          </p:cNvPicPr>
          <p:nvPr/>
        </p:nvPicPr>
        <p:blipFill>
          <a:blip r:embed="rId6"/>
          <a:stretch>
            <a:fillRect/>
          </a:stretch>
        </p:blipFill>
        <p:spPr>
          <a:xfrm>
            <a:off x="723900" y="4766220"/>
            <a:ext cx="104775" cy="142875"/>
          </a:xfrm>
          <a:prstGeom prst="rect">
            <a:avLst/>
          </a:prstGeom>
        </p:spPr>
      </p:pic>
      <p:sp>
        <p:nvSpPr>
          <p:cNvPr id="9" name="TextBox 8"/>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dirty="0" err="1">
                <a:solidFill>
                  <a:srgbClr val="0F172A"/>
                </a:solidFill>
                <a:latin typeface="Poppins"/>
              </a:rPr>
              <a:t>Distribusi</a:t>
            </a:r>
            <a:r>
              <a:rPr sz="2550" b="1" i="0" u="none" dirty="0">
                <a:solidFill>
                  <a:srgbClr val="0F172A"/>
                </a:solidFill>
                <a:latin typeface="Poppins"/>
              </a:rPr>
              <a:t> Near Miss Per Shift</a:t>
            </a:r>
          </a:p>
        </p:txBody>
      </p:sp>
      <p:sp>
        <p:nvSpPr>
          <p:cNvPr id="10" name="Rectangle 9"/>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84958"/>
            <a:ext cx="5334000" cy="2914650"/>
          </a:xfrm>
          <a:prstGeom prst="rect">
            <a:avLst/>
          </a:prstGeom>
        </p:spPr>
      </p:pic>
      <p:pic>
        <p:nvPicPr>
          <p:cNvPr id="4" name="Picture 3" descr="image.png"/>
          <p:cNvPicPr>
            <a:picLocks noChangeAspect="1"/>
          </p:cNvPicPr>
          <p:nvPr/>
        </p:nvPicPr>
        <p:blipFill>
          <a:blip r:embed="rId4"/>
          <a:stretch>
            <a:fillRect/>
          </a:stretch>
        </p:blipFill>
        <p:spPr>
          <a:xfrm>
            <a:off x="6286500" y="2818358"/>
            <a:ext cx="5334000" cy="1847850"/>
          </a:xfrm>
          <a:prstGeom prst="rect">
            <a:avLst/>
          </a:prstGeom>
        </p:spPr>
      </p:pic>
      <p:sp>
        <p:nvSpPr>
          <p:cNvPr id="5" name="TextBox 4"/>
          <p:cNvSpPr txBox="1"/>
          <p:nvPr/>
        </p:nvSpPr>
        <p:spPr>
          <a:xfrm>
            <a:off x="571500" y="2284958"/>
            <a:ext cx="5600700" cy="285750"/>
          </a:xfrm>
          <a:prstGeom prst="rect">
            <a:avLst/>
          </a:prstGeom>
          <a:noFill/>
        </p:spPr>
        <p:txBody>
          <a:bodyPr wrap="square" lIns="0" tIns="0" rIns="0" bIns="0" anchor="t">
            <a:spAutoFit/>
          </a:bodyPr>
          <a:lstStyle/>
          <a:p>
            <a:pPr algn="l"/>
            <a:r>
              <a:rPr sz="1500" b="1" i="0" u="none">
                <a:solidFill>
                  <a:srgbClr val="0F172A"/>
                </a:solidFill>
                <a:latin typeface="Poppins"/>
              </a:rPr>
              <a:t>Proporsi Near Miss Menurut Kelelahan</a:t>
            </a:r>
          </a:p>
        </p:txBody>
      </p:sp>
      <p:sp>
        <p:nvSpPr>
          <p:cNvPr id="6" name="TextBox 5"/>
          <p:cNvSpPr txBox="1"/>
          <p:nvPr/>
        </p:nvSpPr>
        <p:spPr>
          <a:xfrm>
            <a:off x="6505575" y="3037433"/>
            <a:ext cx="5140642" cy="238125"/>
          </a:xfrm>
          <a:prstGeom prst="rect">
            <a:avLst/>
          </a:prstGeom>
          <a:noFill/>
        </p:spPr>
        <p:txBody>
          <a:bodyPr wrap="square" lIns="228600" tIns="0" rIns="0" bIns="0" anchor="t">
            <a:spAutoFit/>
          </a:bodyPr>
          <a:lstStyle/>
          <a:p>
            <a:pPr algn="l"/>
            <a:r>
              <a:rPr sz="1200" b="1" i="0" u="none">
                <a:solidFill>
                  <a:srgbClr val="0F172A"/>
                </a:solidFill>
                <a:latin typeface="Poppins"/>
              </a:rPr>
              <a:t>Korelasi Bukan Kausalitas!</a:t>
            </a:r>
          </a:p>
        </p:txBody>
      </p:sp>
      <p:sp>
        <p:nvSpPr>
          <p:cNvPr id="7" name="TextBox 6"/>
          <p:cNvSpPr txBox="1"/>
          <p:nvPr/>
        </p:nvSpPr>
        <p:spPr>
          <a:xfrm>
            <a:off x="6505575" y="3370808"/>
            <a:ext cx="48958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Inter"/>
              </a:rPr>
              <a:t>Meskipun kelelahan tinggi berbanding lurus dengan kecelakaan, terdapat variabel perantara lain:</a:t>
            </a:r>
          </a:p>
        </p:txBody>
      </p:sp>
      <p:pic>
        <p:nvPicPr>
          <p:cNvPr id="8" name="Picture 7" descr="image.png"/>
          <p:cNvPicPr>
            <a:picLocks noChangeAspect="1"/>
          </p:cNvPicPr>
          <p:nvPr/>
        </p:nvPicPr>
        <p:blipFill>
          <a:blip r:embed="rId5"/>
          <a:stretch>
            <a:fillRect/>
          </a:stretch>
        </p:blipFill>
        <p:spPr>
          <a:xfrm>
            <a:off x="6505575" y="3885158"/>
            <a:ext cx="4895850" cy="561975"/>
          </a:xfrm>
          <a:prstGeom prst="rect">
            <a:avLst/>
          </a:prstGeom>
        </p:spPr>
      </p:pic>
      <p:pic>
        <p:nvPicPr>
          <p:cNvPr id="9" name="Picture 8" descr="image.png"/>
          <p:cNvPicPr>
            <a:picLocks noChangeAspect="1"/>
          </p:cNvPicPr>
          <p:nvPr/>
        </p:nvPicPr>
        <p:blipFill>
          <a:blip r:embed="rId6"/>
          <a:stretch>
            <a:fillRect/>
          </a:stretch>
        </p:blipFill>
        <p:spPr>
          <a:xfrm>
            <a:off x="6505575" y="3075533"/>
            <a:ext cx="152400" cy="152400"/>
          </a:xfrm>
          <a:prstGeom prst="rect">
            <a:avLst/>
          </a:prstGeom>
        </p:spPr>
      </p:pic>
      <p:sp>
        <p:nvSpPr>
          <p:cNvPr id="10" name="TextBox 9"/>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Hubungan Kelelahan &amp; Near Miss</a:t>
            </a:r>
          </a:p>
        </p:txBody>
      </p:sp>
      <p:sp>
        <p:nvSpPr>
          <p:cNvPr id="11" name="Rectangle 10"/>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714875" y="2343150"/>
            <a:ext cx="2762250" cy="161925"/>
          </a:xfrm>
          <a:prstGeom prst="rect">
            <a:avLst/>
          </a:prstGeom>
          <a:noFill/>
        </p:spPr>
        <p:txBody>
          <a:bodyPr wrap="square" lIns="0" tIns="0" rIns="0" bIns="0" anchor="t">
            <a:spAutoFit/>
          </a:bodyPr>
          <a:lstStyle/>
          <a:p>
            <a:pPr algn="ctr"/>
            <a:r>
              <a:rPr sz="1050" b="1" i="0" u="none">
                <a:solidFill>
                  <a:srgbClr val="0284C7"/>
                </a:solidFill>
                <a:latin typeface="Inter"/>
              </a:rPr>
              <a:t>KERANGKA BERPIKIR MAHASISWA</a:t>
            </a:r>
          </a:p>
        </p:txBody>
      </p:sp>
      <p:sp>
        <p:nvSpPr>
          <p:cNvPr id="4" name="TextBox 3"/>
          <p:cNvSpPr txBox="1"/>
          <p:nvPr/>
        </p:nvSpPr>
        <p:spPr>
          <a:xfrm>
            <a:off x="2300525" y="2657475"/>
            <a:ext cx="7590948" cy="600075"/>
          </a:xfrm>
          <a:prstGeom prst="rect">
            <a:avLst/>
          </a:prstGeom>
          <a:noFill/>
        </p:spPr>
        <p:txBody>
          <a:bodyPr wrap="square" lIns="0" tIns="0" rIns="0" bIns="0" anchor="t">
            <a:spAutoFit/>
          </a:bodyPr>
          <a:lstStyle/>
          <a:p>
            <a:pPr algn="ctr"/>
            <a:r>
              <a:rPr sz="3150" b="1" i="0" u="none">
                <a:solidFill>
                  <a:srgbClr val="0F172A"/>
                </a:solidFill>
                <a:latin typeface="Poppins"/>
              </a:rPr>
              <a:t>Pertanyaan Analitikus &amp; Tugas</a:t>
            </a:r>
          </a:p>
        </p:txBody>
      </p:sp>
      <p:sp>
        <p:nvSpPr>
          <p:cNvPr id="5" name="TextBox 4"/>
          <p:cNvSpPr txBox="1"/>
          <p:nvPr/>
        </p:nvSpPr>
        <p:spPr>
          <a:xfrm>
            <a:off x="2481262" y="3400425"/>
            <a:ext cx="7229475" cy="257175"/>
          </a:xfrm>
          <a:prstGeom prst="rect">
            <a:avLst/>
          </a:prstGeom>
          <a:noFill/>
        </p:spPr>
        <p:txBody>
          <a:bodyPr wrap="square" lIns="0" tIns="0" rIns="0" bIns="0" anchor="t">
            <a:spAutoFit/>
          </a:bodyPr>
          <a:lstStyle/>
          <a:p>
            <a:pPr algn="ctr">
              <a:lnSpc>
                <a:spcPts val="2025"/>
              </a:lnSpc>
            </a:pPr>
            <a:r>
              <a:rPr sz="1350" b="0" i="0" u="none">
                <a:solidFill>
                  <a:srgbClr val="475569"/>
                </a:solidFill>
                <a:latin typeface="Inter"/>
              </a:rPr>
              <a:t>Gunakan 7 Pertanyaan Utama EDA: </a:t>
            </a:r>
            <a:r>
              <a:rPr sz="1350" b="1" i="0" u="none">
                <a:solidFill>
                  <a:srgbClr val="475569"/>
                </a:solidFill>
                <a:latin typeface="Inter"/>
              </a:rPr>
              <a:t>What, Who, When, Where, How, Why, &amp; What Next?</a:t>
            </a:r>
          </a:p>
        </p:txBody>
      </p:sp>
      <p:pic>
        <p:nvPicPr>
          <p:cNvPr id="6" name="Picture 5" descr="image.png"/>
          <p:cNvPicPr>
            <a:picLocks noChangeAspect="1"/>
          </p:cNvPicPr>
          <p:nvPr/>
        </p:nvPicPr>
        <p:blipFill>
          <a:blip r:embed="rId3"/>
          <a:stretch>
            <a:fillRect/>
          </a:stretch>
        </p:blipFill>
        <p:spPr>
          <a:xfrm>
            <a:off x="3386137" y="3943350"/>
            <a:ext cx="5419725" cy="590550"/>
          </a:xfrm>
          <a:prstGeom prst="rect">
            <a:avLst/>
          </a:prstGeom>
        </p:spPr>
      </p:pic>
      <p:sp>
        <p:nvSpPr>
          <p:cNvPr id="7" name="TextBox 6"/>
          <p:cNvSpPr txBox="1"/>
          <p:nvPr/>
        </p:nvSpPr>
        <p:spPr>
          <a:xfrm>
            <a:off x="3776662" y="4143375"/>
            <a:ext cx="2257425" cy="190500"/>
          </a:xfrm>
          <a:prstGeom prst="rect">
            <a:avLst/>
          </a:prstGeom>
          <a:noFill/>
        </p:spPr>
        <p:txBody>
          <a:bodyPr wrap="square" lIns="247650" tIns="0" rIns="0" bIns="0" anchor="t">
            <a:spAutoFit/>
          </a:bodyPr>
          <a:lstStyle/>
          <a:p>
            <a:pPr algn="ctr"/>
            <a:r>
              <a:rPr sz="1200" b="0" i="0" u="none">
                <a:solidFill>
                  <a:srgbClr val="0284C7"/>
                </a:solidFill>
                <a:latin typeface="Inter SemiBold"/>
              </a:rPr>
              <a:t>Mini Project Class Exercise</a:t>
            </a:r>
          </a:p>
        </p:txBody>
      </p:sp>
      <p:sp>
        <p:nvSpPr>
          <p:cNvPr id="8" name="TextBox 7"/>
          <p:cNvSpPr txBox="1"/>
          <p:nvPr/>
        </p:nvSpPr>
        <p:spPr>
          <a:xfrm>
            <a:off x="6319837" y="4143375"/>
            <a:ext cx="2095500" cy="190500"/>
          </a:xfrm>
          <a:prstGeom prst="rect">
            <a:avLst/>
          </a:prstGeom>
          <a:noFill/>
        </p:spPr>
        <p:txBody>
          <a:bodyPr wrap="square" lIns="266700" tIns="0" rIns="0" bIns="0" anchor="t">
            <a:spAutoFit/>
          </a:bodyPr>
          <a:lstStyle/>
          <a:p>
            <a:pPr algn="ctr"/>
            <a:r>
              <a:rPr sz="1200" b="0" i="0" u="none" dirty="0">
                <a:solidFill>
                  <a:srgbClr val="0284C7"/>
                </a:solidFill>
                <a:latin typeface="Inter SemiBold"/>
              </a:rPr>
              <a:t>Practical Data Mining </a:t>
            </a:r>
          </a:p>
        </p:txBody>
      </p:sp>
      <p:pic>
        <p:nvPicPr>
          <p:cNvPr id="9" name="Picture 8" descr="image.png"/>
          <p:cNvPicPr>
            <a:picLocks noChangeAspect="1"/>
          </p:cNvPicPr>
          <p:nvPr/>
        </p:nvPicPr>
        <p:blipFill>
          <a:blip r:embed="rId4"/>
          <a:stretch>
            <a:fillRect/>
          </a:stretch>
        </p:blipFill>
        <p:spPr>
          <a:xfrm>
            <a:off x="3776662" y="4162425"/>
            <a:ext cx="171450" cy="152400"/>
          </a:xfrm>
          <a:prstGeom prst="rect">
            <a:avLst/>
          </a:prstGeom>
        </p:spPr>
      </p:pic>
      <p:pic>
        <p:nvPicPr>
          <p:cNvPr id="10" name="Picture 9" descr="image.png"/>
          <p:cNvPicPr>
            <a:picLocks noChangeAspect="1"/>
          </p:cNvPicPr>
          <p:nvPr/>
        </p:nvPicPr>
        <p:blipFill>
          <a:blip r:embed="rId5"/>
          <a:stretch>
            <a:fillRect/>
          </a:stretch>
        </p:blipFill>
        <p:spPr>
          <a:xfrm>
            <a:off x="6319837" y="4162425"/>
            <a:ext cx="190500" cy="152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1646783"/>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1500" y="2418308"/>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71500" y="3189833"/>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 y="3961358"/>
            <a:ext cx="11049000" cy="942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71500" y="240878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71500" y="240878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1500" y="318030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71500" y="318030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1500" y="395183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395183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71500" y="489480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71500" y="489480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571500" y="1789658"/>
            <a:ext cx="857250" cy="476250"/>
          </a:xfrm>
          <a:prstGeom prst="rect">
            <a:avLst/>
          </a:prstGeom>
        </p:spPr>
      </p:pic>
      <p:sp>
        <p:nvSpPr>
          <p:cNvPr id="16" name="TextBox 15"/>
          <p:cNvSpPr txBox="1"/>
          <p:nvPr/>
        </p:nvSpPr>
        <p:spPr>
          <a:xfrm>
            <a:off x="1666875" y="1796801"/>
            <a:ext cx="995362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https://riskex.com/wp-content/uploads/2025/05/Untitled-design-20.png</a:t>
            </a:r>
          </a:p>
        </p:txBody>
      </p:sp>
      <p:sp>
        <p:nvSpPr>
          <p:cNvPr id="17" name="TextBox 16"/>
          <p:cNvSpPr txBox="1"/>
          <p:nvPr/>
        </p:nvSpPr>
        <p:spPr>
          <a:xfrm>
            <a:off x="1666875" y="2030164"/>
            <a:ext cx="9953625" cy="2286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Source: </a:t>
            </a:r>
            <a:r>
              <a:rPr sz="1200" b="0" i="0" u="none">
                <a:solidFill>
                  <a:srgbClr val="4F46E5"/>
                </a:solidFill>
                <a:latin typeface="Inter"/>
              </a:rPr>
              <a:t>riskex.com</a:t>
            </a:r>
          </a:p>
        </p:txBody>
      </p:sp>
      <p:pic>
        <p:nvPicPr>
          <p:cNvPr id="18" name="Picture 17" descr="image.png"/>
          <p:cNvPicPr>
            <a:picLocks noChangeAspect="1"/>
          </p:cNvPicPr>
          <p:nvPr/>
        </p:nvPicPr>
        <p:blipFill>
          <a:blip r:embed="rId4"/>
          <a:stretch>
            <a:fillRect/>
          </a:stretch>
        </p:blipFill>
        <p:spPr>
          <a:xfrm>
            <a:off x="571500" y="2561183"/>
            <a:ext cx="857250" cy="476250"/>
          </a:xfrm>
          <a:prstGeom prst="rect">
            <a:avLst/>
          </a:prstGeom>
        </p:spPr>
      </p:pic>
      <p:sp>
        <p:nvSpPr>
          <p:cNvPr id="19" name="TextBox 18"/>
          <p:cNvSpPr txBox="1"/>
          <p:nvPr/>
        </p:nvSpPr>
        <p:spPr>
          <a:xfrm>
            <a:off x="1666875" y="2568326"/>
            <a:ext cx="995362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https://nwegroup.no/wp-content/uploads/elementor/thumbs/inspection-visual-r52pg7xewxbuwhyy4cfhit7g0rc22k0liv8nu854f4.webp</a:t>
            </a:r>
          </a:p>
        </p:txBody>
      </p:sp>
      <p:sp>
        <p:nvSpPr>
          <p:cNvPr id="20" name="TextBox 19"/>
          <p:cNvSpPr txBox="1"/>
          <p:nvPr/>
        </p:nvSpPr>
        <p:spPr>
          <a:xfrm>
            <a:off x="1666875" y="2801689"/>
            <a:ext cx="9953625" cy="2286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Source: </a:t>
            </a:r>
            <a:r>
              <a:rPr sz="1200" b="0" i="0" u="none">
                <a:solidFill>
                  <a:srgbClr val="4F46E5"/>
                </a:solidFill>
                <a:latin typeface="Inter"/>
              </a:rPr>
              <a:t>nwegroup.no</a:t>
            </a:r>
          </a:p>
        </p:txBody>
      </p:sp>
      <p:pic>
        <p:nvPicPr>
          <p:cNvPr id="21" name="Picture 20" descr="image.png"/>
          <p:cNvPicPr>
            <a:picLocks noChangeAspect="1"/>
          </p:cNvPicPr>
          <p:nvPr/>
        </p:nvPicPr>
        <p:blipFill>
          <a:blip r:embed="rId5"/>
          <a:stretch>
            <a:fillRect/>
          </a:stretch>
        </p:blipFill>
        <p:spPr>
          <a:xfrm>
            <a:off x="571500" y="3332708"/>
            <a:ext cx="857250" cy="476250"/>
          </a:xfrm>
          <a:prstGeom prst="rect">
            <a:avLst/>
          </a:prstGeom>
        </p:spPr>
      </p:pic>
      <p:sp>
        <p:nvSpPr>
          <p:cNvPr id="22" name="TextBox 21"/>
          <p:cNvSpPr txBox="1"/>
          <p:nvPr/>
        </p:nvSpPr>
        <p:spPr>
          <a:xfrm>
            <a:off x="1666875" y="3339851"/>
            <a:ext cx="995362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https://drh6hn78z759f.cloudfront.net/userfiles/product/images/rt/r0/48/rtr048-3m-versaflo-heavy-industry-papr-kit-tr-600-hik-7100035755-full-kit-display_large.jpg</a:t>
            </a:r>
          </a:p>
        </p:txBody>
      </p:sp>
      <p:sp>
        <p:nvSpPr>
          <p:cNvPr id="23" name="TextBox 22"/>
          <p:cNvSpPr txBox="1"/>
          <p:nvPr/>
        </p:nvSpPr>
        <p:spPr>
          <a:xfrm>
            <a:off x="1666875" y="3573214"/>
            <a:ext cx="9953625" cy="2286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Source: </a:t>
            </a:r>
            <a:r>
              <a:rPr sz="1200" b="0" i="0" u="none">
                <a:solidFill>
                  <a:srgbClr val="4F46E5"/>
                </a:solidFill>
                <a:latin typeface="Inter"/>
              </a:rPr>
              <a:t>www.spi.com</a:t>
            </a:r>
          </a:p>
        </p:txBody>
      </p:sp>
      <p:pic>
        <p:nvPicPr>
          <p:cNvPr id="24" name="Picture 23" descr="image.png"/>
          <p:cNvPicPr>
            <a:picLocks noChangeAspect="1"/>
          </p:cNvPicPr>
          <p:nvPr/>
        </p:nvPicPr>
        <p:blipFill>
          <a:blip r:embed="rId6"/>
          <a:stretch>
            <a:fillRect/>
          </a:stretch>
        </p:blipFill>
        <p:spPr>
          <a:xfrm>
            <a:off x="571500" y="4189958"/>
            <a:ext cx="857250" cy="476250"/>
          </a:xfrm>
          <a:prstGeom prst="rect">
            <a:avLst/>
          </a:prstGeom>
        </p:spPr>
      </p:pic>
      <p:sp>
        <p:nvSpPr>
          <p:cNvPr id="25" name="TextBox 24"/>
          <p:cNvSpPr txBox="1"/>
          <p:nvPr/>
        </p:nvSpPr>
        <p:spPr>
          <a:xfrm>
            <a:off x="1666875" y="4104233"/>
            <a:ext cx="9953625" cy="371475"/>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https://media.istockphoto.com/id/1464359512/photo/man-wearing-protective-suit-and-mask-opening-tank-at-chemical-plant-or-factory.jpg?s=612x612&amp;w=0&amp;k=20&amp;c=M7g-sW-AUjMYCZg0MzToYuBpNsyORZ4J97Su3CNL0GQ=</a:t>
            </a:r>
          </a:p>
        </p:txBody>
      </p:sp>
      <p:sp>
        <p:nvSpPr>
          <p:cNvPr id="26" name="TextBox 25"/>
          <p:cNvSpPr txBox="1"/>
          <p:nvPr/>
        </p:nvSpPr>
        <p:spPr>
          <a:xfrm>
            <a:off x="1666875" y="4523333"/>
            <a:ext cx="9953625" cy="2286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Source: </a:t>
            </a:r>
            <a:r>
              <a:rPr sz="1200" b="0" i="0" u="none">
                <a:solidFill>
                  <a:srgbClr val="4F46E5"/>
                </a:solidFill>
                <a:latin typeface="Inter"/>
              </a:rPr>
              <a:t>www.istockphoto.com</a:t>
            </a:r>
          </a:p>
        </p:txBody>
      </p:sp>
      <p:pic>
        <p:nvPicPr>
          <p:cNvPr id="27" name="Picture 26" descr="image.png"/>
          <p:cNvPicPr>
            <a:picLocks noChangeAspect="1"/>
          </p:cNvPicPr>
          <p:nvPr/>
        </p:nvPicPr>
        <p:blipFill>
          <a:blip r:embed="rId7"/>
          <a:stretch>
            <a:fillRect/>
          </a:stretch>
        </p:blipFill>
        <p:spPr>
          <a:xfrm>
            <a:off x="571500" y="5132933"/>
            <a:ext cx="857250" cy="476250"/>
          </a:xfrm>
          <a:prstGeom prst="rect">
            <a:avLst/>
          </a:prstGeom>
        </p:spPr>
      </p:pic>
      <p:sp>
        <p:nvSpPr>
          <p:cNvPr id="28" name="TextBox 27"/>
          <p:cNvSpPr txBox="1"/>
          <p:nvPr/>
        </p:nvSpPr>
        <p:spPr>
          <a:xfrm>
            <a:off x="1666875" y="5047208"/>
            <a:ext cx="9953625" cy="371475"/>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https://edit.skanska.com/cdn-cgi/image/width=3840,quality=90,background=transparent,format=auto,onerror=redirect/https://edit.skanska.com/en/us/media/news--foresight/people-showcase/inside-the-internship-spending-a-summer-at-skanska/contentassets/article-inside-the-internship-mobile.jpg?v=2026-05-21T22:06:21Z</a:t>
            </a:r>
          </a:p>
        </p:txBody>
      </p:sp>
      <p:sp>
        <p:nvSpPr>
          <p:cNvPr id="29" name="TextBox 28"/>
          <p:cNvSpPr txBox="1"/>
          <p:nvPr/>
        </p:nvSpPr>
        <p:spPr>
          <a:xfrm>
            <a:off x="1666875" y="5466308"/>
            <a:ext cx="9953625" cy="2286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Source: </a:t>
            </a:r>
            <a:r>
              <a:rPr sz="1200" b="0" i="0" u="none">
                <a:solidFill>
                  <a:srgbClr val="4F46E5"/>
                </a:solidFill>
                <a:latin typeface="Inter"/>
              </a:rPr>
              <a:t>www.skanska.com</a:t>
            </a:r>
          </a:p>
        </p:txBody>
      </p:sp>
      <p:sp>
        <p:nvSpPr>
          <p:cNvPr id="30" name="TextBox 29"/>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Image Sources</a:t>
            </a:r>
          </a:p>
        </p:txBody>
      </p:sp>
      <p:sp>
        <p:nvSpPr>
          <p:cNvPr id="31" name="Rectangle 30"/>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1339</TotalTime>
  <Words>2081</Words>
  <Application>Microsoft Office PowerPoint</Application>
  <PresentationFormat>Widescreen</PresentationFormat>
  <Paragraphs>335</Paragraphs>
  <Slides>30</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Calibri</vt:lpstr>
      <vt:lpstr>Inter</vt:lpstr>
      <vt:lpstr>Inter Black</vt:lpstr>
      <vt:lpstr>Inter ExtraBold</vt:lpstr>
      <vt:lpstr>Inter Medium</vt:lpstr>
      <vt:lpstr>Inter SemiBold</vt:lpstr>
      <vt:lpstr>Plus Jakarta Sans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Visualisasi Data</vt:lpstr>
      <vt:lpstr>Visualisasi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generated using python-pptx</dc:description>
  <cp:lastModifiedBy>Muhammad Fakhrurrifqi</cp:lastModifiedBy>
  <cp:revision>5</cp:revision>
  <dcterms:created xsi:type="dcterms:W3CDTF">2013-01-27T09:14:16Z</dcterms:created>
  <dcterms:modified xsi:type="dcterms:W3CDTF">2026-09-17T00:13:32Z</dcterms:modified>
  <cp:category/>
</cp:coreProperties>
</file>